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563" r:id="rId314"/>
    <p:sldId id="564" r:id="rId315"/>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565" r:id="rId316"/>
    <p:sldId id="566" r:id="rId317"/>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567" r:id="rId318"/>
    <p:sldId id="568" r:id="rId319"/>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569" r:id="rId320"/>
    <p:sldId id="570" r:id="rId321"/>
    <p:sldId id="424" r:id="rId170"/>
    <p:sldId id="425" r:id="rId171"/>
    <p:sldId id="426" r:id="rId172"/>
    <p:sldId id="427" r:id="rId173"/>
    <p:sldId id="428" r:id="rId174"/>
    <p:sldId id="429" r:id="rId175"/>
    <p:sldId id="430" r:id="rId176"/>
    <p:sldId id="431" r:id="rId177"/>
    <p:sldId id="432" r:id="rId178"/>
    <p:sldId id="571" r:id="rId322"/>
    <p:sldId id="572" r:id="rId323"/>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573" r:id="rId324"/>
    <p:sldId id="574" r:id="rId325"/>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575" r:id="rId326"/>
    <p:sldId id="576" r:id="rId327"/>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577" r:id="rId328"/>
    <p:sldId id="578" r:id="rId329"/>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579" r:id="rId330"/>
    <p:sldId id="580" r:id="rId331"/>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81" r:id="rId332"/>
    <p:sldId id="582" r:id="rId333"/>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83" r:id="rId334"/>
    <p:sldId id="584" r:id="rId335"/>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85" r:id="rId336"/>
    <p:sldId id="586" r:id="rId337"/>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87" r:id="rId338"/>
    <p:sldId id="588" r:id="rId3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9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presProps" Target="presProps.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viewProps" Target="viewProp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theme" Target="theme/theme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  <Relationship Id="rId314" Type="http://schemas.openxmlformats.org/officeDocument/2006/relationships/slide" Target="slides/slide308.xml"/>
  <Relationship Id="rId315" Type="http://schemas.openxmlformats.org/officeDocument/2006/relationships/slide" Target="slides/slide309.xml"/>
  <Relationship Id="rId316" Type="http://schemas.openxmlformats.org/officeDocument/2006/relationships/slide" Target="slides/slide310.xml"/>
  <Relationship Id="rId317" Type="http://schemas.openxmlformats.org/officeDocument/2006/relationships/slide" Target="slides/slide311.xml"/>
  <Relationship Id="rId318" Type="http://schemas.openxmlformats.org/officeDocument/2006/relationships/slide" Target="slides/slide312.xml"/>
  <Relationship Id="rId319" Type="http://schemas.openxmlformats.org/officeDocument/2006/relationships/slide" Target="slides/slide313.xml"/>
  <Relationship Id="rId320" Type="http://schemas.openxmlformats.org/officeDocument/2006/relationships/slide" Target="slides/slide314.xml"/>
  <Relationship Id="rId321" Type="http://schemas.openxmlformats.org/officeDocument/2006/relationships/slide" Target="slides/slide315.xml"/>
  <Relationship Id="rId322" Type="http://schemas.openxmlformats.org/officeDocument/2006/relationships/slide" Target="slides/slide316.xml"/>
  <Relationship Id="rId323" Type="http://schemas.openxmlformats.org/officeDocument/2006/relationships/slide" Target="slides/slide317.xml"/>
  <Relationship Id="rId324" Type="http://schemas.openxmlformats.org/officeDocument/2006/relationships/slide" Target="slides/slide318.xml"/>
  <Relationship Id="rId325" Type="http://schemas.openxmlformats.org/officeDocument/2006/relationships/slide" Target="slides/slide319.xml"/>
  <Relationship Id="rId326" Type="http://schemas.openxmlformats.org/officeDocument/2006/relationships/slide" Target="slides/slide320.xml"/>
  <Relationship Id="rId327" Type="http://schemas.openxmlformats.org/officeDocument/2006/relationships/slide" Target="slides/slide321.xml"/>
  <Relationship Id="rId328" Type="http://schemas.openxmlformats.org/officeDocument/2006/relationships/slide" Target="slides/slide322.xml"/>
  <Relationship Id="rId329" Type="http://schemas.openxmlformats.org/officeDocument/2006/relationships/slide" Target="slides/slide323.xml"/>
  <Relationship Id="rId330" Type="http://schemas.openxmlformats.org/officeDocument/2006/relationships/slide" Target="slides/slide324.xml"/>
  <Relationship Id="rId331" Type="http://schemas.openxmlformats.org/officeDocument/2006/relationships/slide" Target="slides/slide325.xml"/>
  <Relationship Id="rId332" Type="http://schemas.openxmlformats.org/officeDocument/2006/relationships/slide" Target="slides/slide326.xml"/>
  <Relationship Id="rId333" Type="http://schemas.openxmlformats.org/officeDocument/2006/relationships/slide" Target="slides/slide327.xml"/>
  <Relationship Id="rId334" Type="http://schemas.openxmlformats.org/officeDocument/2006/relationships/slide" Target="slides/slide328.xml"/>
  <Relationship Id="rId335" Type="http://schemas.openxmlformats.org/officeDocument/2006/relationships/slide" Target="slides/slide329.xml"/>
  <Relationship Id="rId336" Type="http://schemas.openxmlformats.org/officeDocument/2006/relationships/slide" Target="slides/slide330.xml"/>
  <Relationship Id="rId337" Type="http://schemas.openxmlformats.org/officeDocument/2006/relationships/slide" Target="slides/slide331.xml"/>
  <Relationship Id="rId338" Type="http://schemas.openxmlformats.org/officeDocument/2006/relationships/slide" Target="slides/slide332.xml"/>
  <Relationship Id="rId339" Type="http://schemas.openxmlformats.org/officeDocument/2006/relationships/slide" Target="slides/slide33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131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1.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9.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1.xml"/><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65.xml"/><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66.xml"/><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70.xml"/><Relationship Id="rId1" Type="http://schemas.openxmlformats.org/officeDocument/2006/relationships/slideLayout" Target="../slideLayouts/slideLayout1.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71.xml"/><Relationship Id="rId1" Type="http://schemas.openxmlformats.org/officeDocument/2006/relationships/slideLayout" Target="../slideLayouts/slideLayout1.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72.xml"/><Relationship Id="rId1" Type="http://schemas.openxmlformats.org/officeDocument/2006/relationships/slideLayout" Target="../slideLayouts/slideLayout1.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73.xml"/><Relationship Id="rId1" Type="http://schemas.openxmlformats.org/officeDocument/2006/relationships/slideLayout" Target="../slideLayouts/slideLayout1.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74.xml"/><Relationship Id="rId1" Type="http://schemas.openxmlformats.org/officeDocument/2006/relationships/slideLayout" Target="../slideLayouts/slideLayout1.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75.xml"/><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276.xml"/><Relationship Id="rId1" Type="http://schemas.openxmlformats.org/officeDocument/2006/relationships/slideLayout" Target="../slideLayouts/slideLayout1.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1.xml"/></Relationships>
</file>

<file path=ppt/slides/_rels/slide2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8.xml"/><Relationship Id="rId1" Type="http://schemas.openxmlformats.org/officeDocument/2006/relationships/slideLayout" Target="../slideLayouts/slideLayout1.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279.xml"/><Relationship Id="rId1" Type="http://schemas.openxmlformats.org/officeDocument/2006/relationships/slideLayout" Target="../slideLayouts/slideLayout1.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280.xml"/><Relationship Id="rId1" Type="http://schemas.openxmlformats.org/officeDocument/2006/relationships/slideLayout" Target="../slideLayouts/slideLayout1.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1.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1.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1.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1.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285.xml"/><Relationship Id="rId1" Type="http://schemas.openxmlformats.org/officeDocument/2006/relationships/slideLayout" Target="../slideLayouts/slideLayout1.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86.xml"/><Relationship Id="rId1" Type="http://schemas.openxmlformats.org/officeDocument/2006/relationships/slideLayout" Target="../slideLayouts/slideLayout1.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1.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1.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1.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1.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1.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1.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1.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1.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1.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1.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1.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298.xml"/><Relationship Id="rId1" Type="http://schemas.openxmlformats.org/officeDocument/2006/relationships/slideLayout" Target="../slideLayouts/slideLayout1.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1.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1.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301.xml"/><Relationship Id="rId1" Type="http://schemas.openxmlformats.org/officeDocument/2006/relationships/slideLayout" Target="../slideLayouts/slideLayout1.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302.xml"/><Relationship Id="rId1" Type="http://schemas.openxmlformats.org/officeDocument/2006/relationships/slideLayout" Target="../slideLayouts/slideLayout1.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303.xml"/><Relationship Id="rId1" Type="http://schemas.openxmlformats.org/officeDocument/2006/relationships/slideLayout" Target="../slideLayouts/slideLayout1.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304.xml"/><Relationship Id="rId1" Type="http://schemas.openxmlformats.org/officeDocument/2006/relationships/slideLayout" Target="../slideLayouts/slideLayout1.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305.xml"/><Relationship Id="rId1" Type="http://schemas.openxmlformats.org/officeDocument/2006/relationships/slideLayout" Target="../slideLayouts/slideLayout1.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306.xml"/><Relationship Id="rId1" Type="http://schemas.openxmlformats.org/officeDocument/2006/relationships/slideLayout" Target="../slideLayouts/slideLayout1.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307.xml"/><Relationship Id="rId1" Type="http://schemas.openxmlformats.org/officeDocument/2006/relationships/slideLayout" Target="../slideLayouts/slideLayout1.xml"/></Relationships>
</file>

<file path=ppt/slides/_rels/slide30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0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3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3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3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3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686800" y="-1463040"/>
            <a:ext cx="5120640" cy="5120640"/>
          </a:xfrm>
          <a:prstGeom prst="ellipse">
            <a:avLst/>
          </a:prstGeom>
          <a:solidFill>
            <a:srgbClr val="EAF6F4"/>
          </a:solidFill>
          <a:ln/>
        </p:spPr>
      </p:sp>
      <p:sp>
        <p:nvSpPr>
          <p:cNvPr id="3" name="Shape 1"/>
          <p:cNvSpPr/>
          <p:nvPr/>
        </p:nvSpPr>
        <p:spPr>
          <a:xfrm>
            <a:off x="10607040" y="3108960"/>
            <a:ext cx="2194560" cy="2194560"/>
          </a:xfrm>
          <a:prstGeom prst="ellipse">
            <a:avLst/>
          </a:prstGeom>
          <a:solidFill>
            <a:srgbClr val="D7EDE9"/>
          </a:solidFill>
          <a:ln/>
        </p:spPr>
      </p:sp>
      <p:sp>
        <p:nvSpPr>
          <p:cNvPr id="4" name="Shape 2"/>
          <p:cNvSpPr/>
          <p:nvPr/>
        </p:nvSpPr>
        <p:spPr>
          <a:xfrm>
            <a:off x="-822960" y="5120640"/>
            <a:ext cx="2926080" cy="2926080"/>
          </a:xfrm>
          <a:prstGeom prst="ellipse">
            <a:avLst/>
          </a:prstGeom>
          <a:solidFill>
            <a:srgbClr val="EAF6F4"/>
          </a:solidFill>
          <a:ln/>
        </p:spPr>
      </p:sp>
      <p:pic>
        <p:nvPicPr>
          <p:cNvPr id="5" name="Image 0" descr="preencoded.png"/>
          <p:cNvPicPr>
            <a:picLocks noChangeAspect="1"/>
          </p:cNvPicPr>
          <p:nvPr/>
        </p:nvPicPr>
        <p:blipFill>
          <a:blip r:embed="rId3"/>
          <a:stretch>
            <a:fillRect/>
          </a:stretch>
        </p:blipFill>
        <p:spPr>
          <a:xfrm>
            <a:off x="10104120" y="566928"/>
            <a:ext cx="1371600" cy="1371600"/>
          </a:xfrm>
          <a:prstGeom prst="rect">
            <a:avLst/>
          </a:prstGeom>
        </p:spPr>
      </p:pic>
      <p:sp>
        <p:nvSpPr>
          <p:cNvPr id="6" name="Shape 3"/>
          <p:cNvSpPr/>
          <p:nvPr/>
        </p:nvSpPr>
        <p:spPr>
          <a:xfrm>
            <a:off x="548640" y="1371600"/>
            <a:ext cx="2286000" cy="347472"/>
          </a:xfrm>
          <a:prstGeom prst="roundRect">
            <a:avLst>
              <a:gd name="adj" fmla="val 50000"/>
            </a:avLst>
          </a:prstGeom>
          <a:solidFill>
            <a:srgbClr val="D7EDE9"/>
          </a:solidFill>
          <a:ln/>
        </p:spPr>
      </p:sp>
      <p:sp>
        <p:nvSpPr>
          <p:cNvPr id="7" name="Text 4"/>
          <p:cNvSpPr txBox="1"/>
          <p:nvPr/>
        </p:nvSpPr>
        <p:spPr>
          <a:xfrm>
            <a:off x="713232" y="1371600"/>
            <a:ext cx="2011680" cy="347472"/>
          </a:xfrm>
          <a:prstGeom prst="rect">
            <a:avLst/>
          </a:prstGeom>
          <a:noFill/>
          <a:ln/>
        </p:spPr>
        <p:txBody>
          <a:bodyPr wrap="square" lIns="0" tIns="0" rIns="0" bIns="0" rtlCol="0" anchor="ctr"/>
          <a:lstStyle/>
          <a:p>
            <a:pPr marL="0" indent="0">
              <a:buNone/>
            </a:pPr>
            <a:r>
              <a:rPr lang="en-US" sz="1100" b="1" kern="0" spc="100" dirty="0">
                <a:solidFill>
                  <a:srgbClr val="0F766E"/>
                </a:solidFill>
                <a:latin typeface="Calibri" pitchFamily="34" charset="0"/>
                <a:ea typeface="Calibri" pitchFamily="34" charset="-122"/>
                <a:cs typeface="Calibri" pitchFamily="34" charset="-120"/>
              </a:rPr>
              <a:t>DERS NOTLARI</a:t>
            </a:r>
            <a:endParaRPr lang="en-US" sz="1100" dirty="0"/>
          </a:p>
        </p:txBody>
      </p:sp>
      <p:sp>
        <p:nvSpPr>
          <p:cNvPr id="8" name="Text 5"/>
          <p:cNvSpPr txBox="1"/>
          <p:nvPr/>
        </p:nvSpPr>
        <p:spPr>
          <a:xfrm>
            <a:off x="548640" y="1874520"/>
            <a:ext cx="8229600" cy="1005840"/>
          </a:xfrm>
          <a:prstGeom prst="rect">
            <a:avLst/>
          </a:prstGeom>
          <a:noFill/>
          <a:ln/>
        </p:spPr>
        <p:txBody>
          <a:bodyPr wrap="square" lIns="0" tIns="0" rIns="0" bIns="0" rtlCol="0" anchor="ctr"/>
          <a:lstStyle/>
          <a:p>
            <a:pPr marL="0" indent="0">
              <a:buNone/>
            </a:pPr>
            <a:r>
              <a:rPr lang="en-US" sz="5400" b="1" dirty="0">
                <a:solidFill>
                  <a:srgbClr val="1F2937"/>
                </a:solidFill>
                <a:latin typeface="Cambria" pitchFamily="34" charset="0"/>
                <a:ea typeface="Cambria" pitchFamily="34" charset="-122"/>
                <a:cs typeface="Cambria" pitchFamily="34" charset="-120"/>
              </a:rPr>
              <a:t>Tıbbi Terminoloji</a:t>
            </a:r>
            <a:endParaRPr lang="en-US" sz="5400" dirty="0"/>
          </a:p>
        </p:txBody>
      </p:sp>
      <p:sp>
        <p:nvSpPr>
          <p:cNvPr id="9" name="Text 6"/>
          <p:cNvSpPr txBox="1"/>
          <p:nvPr/>
        </p:nvSpPr>
        <p:spPr>
          <a:xfrm>
            <a:off x="548640" y="2880360"/>
            <a:ext cx="7315200" cy="411480"/>
          </a:xfrm>
          <a:prstGeom prst="rect">
            <a:avLst/>
          </a:prstGeom>
          <a:noFill/>
          <a:ln/>
        </p:spPr>
        <p:txBody>
          <a:bodyPr wrap="square" lIns="0" tIns="0" rIns="0" bIns="0" rtlCol="0" anchor="ctr"/>
          <a:lstStyle/>
          <a:p>
            <a:pPr marL="0" indent="0">
              <a:buNone/>
            </a:pPr>
            <a:r>
              <a:rPr lang="en-US" sz="2800" b="1" dirty="0">
                <a:solidFill>
                  <a:schemeClr val="accent5">
                    <a:lumMod val="75000"/>
                  </a:schemeClr>
                </a:solidFill>
                <a:latin typeface="Calibri" pitchFamily="34" charset="0"/>
                <a:ea typeface="Calibri" pitchFamily="34" charset="-122"/>
                <a:cs typeface="Calibri" pitchFamily="34" charset="-120"/>
              </a:rPr>
              <a:t>Doç. Dr. Muammer Kurnaz</a:t>
            </a:r>
            <a:endParaRPr lang="en-US" sz="2800" b="1" dirty="0">
              <a:solidFill>
                <a:schemeClr val="accent5">
                  <a:lumMod val="75000"/>
                </a:schemeClr>
              </a:solidFill>
            </a:endParaRPr>
          </a:p>
        </p:txBody>
      </p:sp>
      <p:sp>
        <p:nvSpPr>
          <p:cNvPr id="10" name="Shape 7"/>
          <p:cNvSpPr/>
          <p:nvPr/>
        </p:nvSpPr>
        <p:spPr>
          <a:xfrm>
            <a:off x="548640" y="3931920"/>
            <a:ext cx="960120" cy="640080"/>
          </a:xfrm>
          <a:prstGeom prst="roundRect">
            <a:avLst>
              <a:gd name="adj" fmla="val 14286"/>
            </a:avLst>
          </a:prstGeom>
          <a:solidFill>
            <a:srgbClr val="EAF6F4"/>
          </a:solidFill>
          <a:ln/>
        </p:spPr>
      </p:sp>
      <p:sp>
        <p:nvSpPr>
          <p:cNvPr id="11" name="Text 8"/>
          <p:cNvSpPr txBox="1"/>
          <p:nvPr/>
        </p:nvSpPr>
        <p:spPr>
          <a:xfrm>
            <a:off x="548640" y="3931920"/>
            <a:ext cx="960120" cy="64008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gastr</a:t>
            </a:r>
            <a:endParaRPr lang="en-US" sz="2000" dirty="0"/>
          </a:p>
        </p:txBody>
      </p:sp>
      <p:sp>
        <p:nvSpPr>
          <p:cNvPr id="12" name="Text 9"/>
          <p:cNvSpPr txBox="1"/>
          <p:nvPr/>
        </p:nvSpPr>
        <p:spPr>
          <a:xfrm>
            <a:off x="548640" y="4617720"/>
            <a:ext cx="960120" cy="274320"/>
          </a:xfrm>
          <a:prstGeom prst="rect">
            <a:avLst/>
          </a:prstGeom>
          <a:noFill/>
          <a:ln/>
        </p:spPr>
        <p:txBody>
          <a:bodyPr wrap="square" lIns="0" tIns="0" rIns="0" bIns="0" rtlCol="0" anchor="ctr"/>
          <a:lstStyle/>
          <a:p>
            <a:pPr marL="0" indent="0" algn="ctr">
              <a:buNone/>
            </a:pPr>
            <a:r>
              <a:rPr lang="en-US" sz="1000" dirty="0">
                <a:solidFill>
                  <a:srgbClr val="9CA3AF"/>
                </a:solidFill>
                <a:latin typeface="Calibri" pitchFamily="34" charset="0"/>
                <a:ea typeface="Calibri" pitchFamily="34" charset="-122"/>
                <a:cs typeface="Calibri" pitchFamily="34" charset="-120"/>
              </a:rPr>
              <a:t>Kök</a:t>
            </a:r>
            <a:endParaRPr lang="en-US" sz="1000" dirty="0"/>
          </a:p>
        </p:txBody>
      </p:sp>
      <p:sp>
        <p:nvSpPr>
          <p:cNvPr id="13" name="Shape 10"/>
          <p:cNvSpPr/>
          <p:nvPr/>
        </p:nvSpPr>
        <p:spPr>
          <a:xfrm>
            <a:off x="1655064" y="3931920"/>
            <a:ext cx="448056" cy="640080"/>
          </a:xfrm>
          <a:prstGeom prst="roundRect">
            <a:avLst>
              <a:gd name="adj" fmla="val 20408"/>
            </a:avLst>
          </a:prstGeom>
          <a:solidFill>
            <a:srgbClr val="FDF0E3"/>
          </a:solidFill>
          <a:ln/>
        </p:spPr>
      </p:sp>
      <p:sp>
        <p:nvSpPr>
          <p:cNvPr id="14" name="Text 11"/>
          <p:cNvSpPr txBox="1"/>
          <p:nvPr/>
        </p:nvSpPr>
        <p:spPr>
          <a:xfrm>
            <a:off x="1655064" y="3931920"/>
            <a:ext cx="448056" cy="640080"/>
          </a:xfrm>
          <a:prstGeom prst="rect">
            <a:avLst/>
          </a:prstGeom>
          <a:noFill/>
          <a:ln/>
        </p:spPr>
        <p:txBody>
          <a:bodyPr wrap="square" lIns="0" tIns="0" rIns="0" bIns="0" rtlCol="0" anchor="ctr"/>
          <a:lstStyle/>
          <a:p>
            <a:pPr marL="0" indent="0" algn="ctr">
              <a:buNone/>
            </a:pPr>
            <a:r>
              <a:rPr lang="en-US" sz="2000" b="1" dirty="0">
                <a:solidFill>
                  <a:srgbClr val="B45309"/>
                </a:solidFill>
                <a:latin typeface="Calibri" pitchFamily="34" charset="0"/>
                <a:ea typeface="Calibri" pitchFamily="34" charset="-122"/>
                <a:cs typeface="Calibri" pitchFamily="34" charset="-120"/>
              </a:rPr>
              <a:t>o</a:t>
            </a:r>
            <a:endParaRPr lang="en-US" sz="2000" dirty="0"/>
          </a:p>
        </p:txBody>
      </p:sp>
      <p:sp>
        <p:nvSpPr>
          <p:cNvPr id="15" name="Text 12"/>
          <p:cNvSpPr txBox="1"/>
          <p:nvPr/>
        </p:nvSpPr>
        <p:spPr>
          <a:xfrm>
            <a:off x="1655064" y="4617720"/>
            <a:ext cx="448056" cy="274320"/>
          </a:xfrm>
          <a:prstGeom prst="rect">
            <a:avLst/>
          </a:prstGeom>
          <a:noFill/>
          <a:ln/>
        </p:spPr>
        <p:txBody>
          <a:bodyPr wrap="square" lIns="0" tIns="0" rIns="0" bIns="0" rtlCol="0" anchor="ctr"/>
          <a:lstStyle/>
          <a:p>
            <a:pPr marL="0" indent="0" algn="ctr">
              <a:buNone/>
            </a:pPr>
            <a:r>
              <a:rPr lang="en-US" sz="1000" dirty="0">
                <a:solidFill>
                  <a:srgbClr val="9CA3AF"/>
                </a:solidFill>
                <a:latin typeface="Calibri" pitchFamily="34" charset="0"/>
                <a:ea typeface="Calibri" pitchFamily="34" charset="-122"/>
                <a:cs typeface="Calibri" pitchFamily="34" charset="-120"/>
              </a:rPr>
              <a:t>K.Ü.</a:t>
            </a:r>
            <a:endParaRPr lang="en-US" sz="1000" dirty="0"/>
          </a:p>
        </p:txBody>
      </p:sp>
      <p:sp>
        <p:nvSpPr>
          <p:cNvPr id="16" name="Shape 13"/>
          <p:cNvSpPr/>
          <p:nvPr/>
        </p:nvSpPr>
        <p:spPr>
          <a:xfrm>
            <a:off x="2249424" y="3931920"/>
            <a:ext cx="960120" cy="640080"/>
          </a:xfrm>
          <a:prstGeom prst="roundRect">
            <a:avLst>
              <a:gd name="adj" fmla="val 14286"/>
            </a:avLst>
          </a:prstGeom>
          <a:solidFill>
            <a:srgbClr val="EAF6F4"/>
          </a:solidFill>
          <a:ln/>
        </p:spPr>
      </p:sp>
      <p:sp>
        <p:nvSpPr>
          <p:cNvPr id="17" name="Text 14"/>
          <p:cNvSpPr txBox="1"/>
          <p:nvPr/>
        </p:nvSpPr>
        <p:spPr>
          <a:xfrm>
            <a:off x="2249424" y="3931920"/>
            <a:ext cx="960120" cy="64008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enter</a:t>
            </a:r>
            <a:endParaRPr lang="en-US" sz="2000" dirty="0"/>
          </a:p>
        </p:txBody>
      </p:sp>
      <p:sp>
        <p:nvSpPr>
          <p:cNvPr id="18" name="Text 15"/>
          <p:cNvSpPr txBox="1"/>
          <p:nvPr/>
        </p:nvSpPr>
        <p:spPr>
          <a:xfrm>
            <a:off x="2249424" y="4617720"/>
            <a:ext cx="960120" cy="274320"/>
          </a:xfrm>
          <a:prstGeom prst="rect">
            <a:avLst/>
          </a:prstGeom>
          <a:noFill/>
          <a:ln/>
        </p:spPr>
        <p:txBody>
          <a:bodyPr wrap="square" lIns="0" tIns="0" rIns="0" bIns="0" rtlCol="0" anchor="ctr"/>
          <a:lstStyle/>
          <a:p>
            <a:pPr marL="0" indent="0" algn="ctr">
              <a:buNone/>
            </a:pPr>
            <a:r>
              <a:rPr lang="en-US" sz="1000" dirty="0">
                <a:solidFill>
                  <a:srgbClr val="9CA3AF"/>
                </a:solidFill>
                <a:latin typeface="Calibri" pitchFamily="34" charset="0"/>
                <a:ea typeface="Calibri" pitchFamily="34" charset="-122"/>
                <a:cs typeface="Calibri" pitchFamily="34" charset="-120"/>
              </a:rPr>
              <a:t>Kök</a:t>
            </a:r>
            <a:endParaRPr lang="en-US" sz="1000" dirty="0"/>
          </a:p>
        </p:txBody>
      </p:sp>
      <p:sp>
        <p:nvSpPr>
          <p:cNvPr id="19" name="Shape 16"/>
          <p:cNvSpPr/>
          <p:nvPr/>
        </p:nvSpPr>
        <p:spPr>
          <a:xfrm>
            <a:off x="3355848" y="3931920"/>
            <a:ext cx="448056" cy="640080"/>
          </a:xfrm>
          <a:prstGeom prst="roundRect">
            <a:avLst>
              <a:gd name="adj" fmla="val 20408"/>
            </a:avLst>
          </a:prstGeom>
          <a:solidFill>
            <a:srgbClr val="FDF0E3"/>
          </a:solidFill>
          <a:ln/>
        </p:spPr>
      </p:sp>
      <p:sp>
        <p:nvSpPr>
          <p:cNvPr id="20" name="Text 17"/>
          <p:cNvSpPr txBox="1"/>
          <p:nvPr/>
        </p:nvSpPr>
        <p:spPr>
          <a:xfrm>
            <a:off x="3355848" y="3931920"/>
            <a:ext cx="448056" cy="640080"/>
          </a:xfrm>
          <a:prstGeom prst="rect">
            <a:avLst/>
          </a:prstGeom>
          <a:noFill/>
          <a:ln/>
        </p:spPr>
        <p:txBody>
          <a:bodyPr wrap="square" lIns="0" tIns="0" rIns="0" bIns="0" rtlCol="0" anchor="ctr"/>
          <a:lstStyle/>
          <a:p>
            <a:pPr marL="0" indent="0" algn="ctr">
              <a:buNone/>
            </a:pPr>
            <a:r>
              <a:rPr lang="en-US" sz="2000" b="1" dirty="0">
                <a:solidFill>
                  <a:srgbClr val="B45309"/>
                </a:solidFill>
                <a:latin typeface="Calibri" pitchFamily="34" charset="0"/>
                <a:ea typeface="Calibri" pitchFamily="34" charset="-122"/>
                <a:cs typeface="Calibri" pitchFamily="34" charset="-120"/>
              </a:rPr>
              <a:t>o</a:t>
            </a:r>
            <a:endParaRPr lang="en-US" sz="2000" dirty="0"/>
          </a:p>
        </p:txBody>
      </p:sp>
      <p:sp>
        <p:nvSpPr>
          <p:cNvPr id="21" name="Text 18"/>
          <p:cNvSpPr txBox="1"/>
          <p:nvPr/>
        </p:nvSpPr>
        <p:spPr>
          <a:xfrm>
            <a:off x="3355848" y="4617720"/>
            <a:ext cx="448056" cy="274320"/>
          </a:xfrm>
          <a:prstGeom prst="rect">
            <a:avLst/>
          </a:prstGeom>
          <a:noFill/>
          <a:ln/>
        </p:spPr>
        <p:txBody>
          <a:bodyPr wrap="square" lIns="0" tIns="0" rIns="0" bIns="0" rtlCol="0" anchor="ctr"/>
          <a:lstStyle/>
          <a:p>
            <a:pPr marL="0" indent="0" algn="ctr">
              <a:buNone/>
            </a:pPr>
            <a:r>
              <a:rPr lang="en-US" sz="1000" dirty="0">
                <a:solidFill>
                  <a:srgbClr val="9CA3AF"/>
                </a:solidFill>
                <a:latin typeface="Calibri" pitchFamily="34" charset="0"/>
                <a:ea typeface="Calibri" pitchFamily="34" charset="-122"/>
                <a:cs typeface="Calibri" pitchFamily="34" charset="-120"/>
              </a:rPr>
              <a:t>K.Ü.</a:t>
            </a:r>
            <a:endParaRPr lang="en-US" sz="1000" dirty="0"/>
          </a:p>
        </p:txBody>
      </p:sp>
      <p:sp>
        <p:nvSpPr>
          <p:cNvPr id="22" name="Shape 19"/>
          <p:cNvSpPr/>
          <p:nvPr/>
        </p:nvSpPr>
        <p:spPr>
          <a:xfrm>
            <a:off x="3950208" y="3931920"/>
            <a:ext cx="960120" cy="640080"/>
          </a:xfrm>
          <a:prstGeom prst="roundRect">
            <a:avLst>
              <a:gd name="adj" fmla="val 14286"/>
            </a:avLst>
          </a:prstGeom>
          <a:solidFill>
            <a:srgbClr val="EAF6F4"/>
          </a:solidFill>
          <a:ln/>
        </p:spPr>
      </p:sp>
      <p:sp>
        <p:nvSpPr>
          <p:cNvPr id="23" name="Text 20"/>
          <p:cNvSpPr txBox="1"/>
          <p:nvPr/>
        </p:nvSpPr>
        <p:spPr>
          <a:xfrm>
            <a:off x="3950208" y="3931920"/>
            <a:ext cx="960120" cy="640080"/>
          </a:xfrm>
          <a:prstGeom prst="rect">
            <a:avLst/>
          </a:prstGeom>
          <a:noFill/>
          <a:ln/>
        </p:spPr>
        <p:txBody>
          <a:bodyPr wrap="square" lIns="0" tIns="0" rIns="0" bIns="0" rtlCol="0" anchor="ctr"/>
          <a:lstStyle/>
          <a:p>
            <a:pPr marL="0" indent="0" algn="ctr">
              <a:buNone/>
            </a:pPr>
            <a:r>
              <a:rPr lang="en-US" sz="2000" b="1" dirty="0">
                <a:solidFill>
                  <a:srgbClr val="0F766E"/>
                </a:solidFill>
                <a:latin typeface="Calibri" pitchFamily="34" charset="0"/>
                <a:ea typeface="Calibri" pitchFamily="34" charset="-122"/>
                <a:cs typeface="Calibri" pitchFamily="34" charset="-120"/>
              </a:rPr>
              <a:t>logia</a:t>
            </a:r>
            <a:endParaRPr lang="en-US" sz="2000" dirty="0"/>
          </a:p>
        </p:txBody>
      </p:sp>
      <p:sp>
        <p:nvSpPr>
          <p:cNvPr id="24" name="Text 21"/>
          <p:cNvSpPr txBox="1"/>
          <p:nvPr/>
        </p:nvSpPr>
        <p:spPr>
          <a:xfrm>
            <a:off x="3950208" y="4617720"/>
            <a:ext cx="960120" cy="274320"/>
          </a:xfrm>
          <a:prstGeom prst="rect">
            <a:avLst/>
          </a:prstGeom>
          <a:noFill/>
          <a:ln/>
        </p:spPr>
        <p:txBody>
          <a:bodyPr wrap="square" lIns="0" tIns="0" rIns="0" bIns="0" rtlCol="0" anchor="ctr"/>
          <a:lstStyle/>
          <a:p>
            <a:pPr marL="0" indent="0" algn="ctr">
              <a:buNone/>
            </a:pPr>
            <a:r>
              <a:rPr lang="en-US" sz="1000" dirty="0">
                <a:solidFill>
                  <a:srgbClr val="9CA3AF"/>
                </a:solidFill>
                <a:latin typeface="Calibri" pitchFamily="34" charset="0"/>
                <a:ea typeface="Calibri" pitchFamily="34" charset="-122"/>
                <a:cs typeface="Calibri" pitchFamily="34" charset="-120"/>
              </a:rPr>
              <a:t>Sonek</a:t>
            </a:r>
            <a:endParaRPr lang="en-US" sz="1000" dirty="0"/>
          </a:p>
        </p:txBody>
      </p:sp>
      <p:sp>
        <p:nvSpPr>
          <p:cNvPr id="25" name="Text 22"/>
          <p:cNvSpPr txBox="1"/>
          <p:nvPr/>
        </p:nvSpPr>
        <p:spPr>
          <a:xfrm>
            <a:off x="548640" y="4983480"/>
            <a:ext cx="8686800" cy="320040"/>
          </a:xfrm>
          <a:prstGeom prst="rect">
            <a:avLst/>
          </a:prstGeom>
          <a:noFill/>
          <a:ln/>
        </p:spPr>
        <p:txBody>
          <a:bodyPr wrap="square" lIns="0" tIns="0" rIns="0" bIns="0"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gastroenterologia  ·  mide ve bağırsak hastalıklarını inceleyen bilim dalı</a:t>
            </a:r>
            <a:endParaRPr lang="en-US" sz="1300" dirty="0"/>
          </a:p>
        </p:txBody>
      </p:sp>
      <p:sp>
        <p:nvSpPr>
          <p:cNvPr id="26" name="Text 23"/>
          <p:cNvSpPr txBox="1"/>
          <p:nvPr/>
        </p:nvSpPr>
        <p:spPr>
          <a:xfrm>
            <a:off x="548640" y="5806440"/>
            <a:ext cx="3657600" cy="320040"/>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13 Bölüm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6F4"/>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D7EDE9"/>
                </a:solidFill>
                <a:latin typeface="Cambria" pitchFamily="34" charset="0"/>
                <a:ea typeface="Cambria" pitchFamily="34" charset="-122"/>
                <a:cs typeface="Cambria" pitchFamily="34" charset="-120"/>
              </a:rPr>
              <a:t>01</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0F766E"/>
                </a:solidFill>
                <a:latin typeface="Calibri" pitchFamily="34" charset="0"/>
                <a:ea typeface="Calibri" pitchFamily="34" charset="-122"/>
                <a:cs typeface="Calibri" pitchFamily="34" charset="-120"/>
              </a:rPr>
              <a:t>BÖLÜM 1</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TERMİNOLOJİYE GİRİŞ</a:t>
            </a:r>
            <a:endParaRPr lang="en-US" sz="3600" dirty="0"/>
          </a:p>
        </p:txBody>
      </p:sp>
      <p:sp>
        <p:nvSpPr>
          <p:cNvPr id="7" name="Shape 5"/>
          <p:cNvSpPr/>
          <p:nvPr/>
        </p:nvSpPr>
        <p:spPr>
          <a:xfrm>
            <a:off x="8503920" y="2331720"/>
            <a:ext cx="2194560" cy="2194560"/>
          </a:xfrm>
          <a:prstGeom prst="ellipse">
            <a:avLst/>
          </a:prstGeom>
          <a:solidFill>
            <a:srgbClr val="EAF6F4"/>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Bu Bölümde Neler Öğreneceğiz?</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3474720"/>
            <a:ext cx="11094415" cy="542239"/>
          </a:xfrm>
          <a:prstGeom prst="roundRect">
            <a:avLst>
              <a:gd name="adj" fmla="val 11804"/>
            </a:avLst>
          </a:prstGeom>
          <a:solidFill>
            <a:srgbClr val="EAF6F4"/>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1.a. Tanım ve Tarih</a:t>
            </a:r>
            <a:endParaRPr lang="en-US" sz="1800" dirty="0"/>
          </a:p>
        </p:txBody>
      </p:sp>
      <p:sp>
        <p:nvSpPr>
          <p:cNvPr id="8" name="Shape 6"/>
          <p:cNvSpPr/>
          <p:nvPr/>
        </p:nvSpPr>
        <p:spPr>
          <a:xfrm>
            <a:off x="548640" y="4108399"/>
            <a:ext cx="11094415" cy="542239"/>
          </a:xfrm>
          <a:prstGeom prst="roundRect">
            <a:avLst>
              <a:gd name="adj" fmla="val 11804"/>
            </a:avLst>
          </a:prstGeom>
          <a:solidFill>
            <a:srgbClr val="EAF6F4"/>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1.b. Terimlerde Söyleyiş</a:t>
            </a:r>
            <a:endParaRPr lang="en-US" sz="1800" dirty="0"/>
          </a:p>
        </p:txBody>
      </p:sp>
      <p:sp>
        <p:nvSpPr>
          <p:cNvPr id="10" name="Shape 8"/>
          <p:cNvSpPr/>
          <p:nvPr/>
        </p:nvSpPr>
        <p:spPr>
          <a:xfrm>
            <a:off x="548640" y="4742078"/>
            <a:ext cx="11094415" cy="542239"/>
          </a:xfrm>
          <a:prstGeom prst="roundRect">
            <a:avLst>
              <a:gd name="adj" fmla="val 11804"/>
            </a:avLst>
          </a:prstGeom>
          <a:solidFill>
            <a:srgbClr val="EAF6F4"/>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1.c. Terimlerde Öğeler</a:t>
            </a:r>
            <a:endParaRPr lang="en-US" sz="1800" dirty="0"/>
          </a:p>
        </p:txBody>
      </p:sp>
      <p:sp>
        <p:nvSpPr>
          <p:cNvPr id="12" name="Shape 10"/>
          <p:cNvSpPr/>
          <p:nvPr/>
        </p:nvSpPr>
        <p:spPr>
          <a:xfrm>
            <a:off x="548640" y="5375758"/>
            <a:ext cx="11094415" cy="542239"/>
          </a:xfrm>
          <a:prstGeom prst="roundRect">
            <a:avLst>
              <a:gd name="adj" fmla="val 11804"/>
            </a:avLst>
          </a:prstGeom>
          <a:solidFill>
            <a:srgbClr val="EAF6F4"/>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1.d. Terimlerde Temel Yapılar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2131314"/>
            <a:ext cx="11094415" cy="821131"/>
          </a:xfrm>
          <a:prstGeom prst="roundRect">
            <a:avLst>
              <a:gd name="adj" fmla="val 7795"/>
            </a:avLst>
          </a:prstGeom>
          <a:solidFill>
            <a:srgbClr val="EAF6F4"/>
          </a:solidFill>
          <a:ln/>
        </p:spPr>
      </p:sp>
      <p:sp>
        <p:nvSpPr>
          <p:cNvPr id="7" name="Text 5"/>
          <p:cNvSpPr txBox="1"/>
          <p:nvPr/>
        </p:nvSpPr>
        <p:spPr>
          <a:xfrm>
            <a:off x="704088" y="2204466"/>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Bilim, sanat, meslek ve iş kolu gibi özel alanlarda belirli bir anlamı ve kavramı olan sözcüklere </a:t>
            </a:r>
            <a:r>
              <a:rPr lang="en-US" sz="1800" b="1" dirty="0">
                <a:solidFill>
                  <a:srgbClr val="1F2937"/>
                </a:solidFill>
                <a:latin typeface="Calibri" pitchFamily="34" charset="0"/>
                <a:ea typeface="Calibri" pitchFamily="34" charset="-122"/>
                <a:cs typeface="Calibri" pitchFamily="34" charset="-120"/>
              </a:rPr>
              <a:t>terim</a:t>
            </a:r>
            <a:r>
              <a:rPr lang="en-US" sz="1800" dirty="0">
                <a:solidFill>
                  <a:srgbClr val="1F2937"/>
                </a:solidFill>
                <a:latin typeface="Calibri" pitchFamily="34" charset="0"/>
                <a:ea typeface="Calibri" pitchFamily="34" charset="-122"/>
                <a:cs typeface="Calibri" pitchFamily="34" charset="-120"/>
              </a:rPr>
              <a:t> denir.</a:t>
            </a:r>
            <a:endParaRPr lang="en-US" sz="1800" dirty="0"/>
          </a:p>
        </p:txBody>
      </p:sp>
      <p:sp>
        <p:nvSpPr>
          <p:cNvPr id="8" name="Shape 6"/>
          <p:cNvSpPr/>
          <p:nvPr/>
        </p:nvSpPr>
        <p:spPr>
          <a:xfrm>
            <a:off x="548640" y="3043885"/>
            <a:ext cx="11094415" cy="542239"/>
          </a:xfrm>
          <a:prstGeom prst="roundRect">
            <a:avLst>
              <a:gd name="adj" fmla="val 11804"/>
            </a:avLst>
          </a:prstGeom>
          <a:solidFill>
            <a:srgbClr val="EAF6F4"/>
          </a:solidFill>
          <a:ln/>
        </p:spPr>
      </p:sp>
      <p:sp>
        <p:nvSpPr>
          <p:cNvPr id="9" name="Text 7"/>
          <p:cNvSpPr txBox="1"/>
          <p:nvPr/>
        </p:nvSpPr>
        <p:spPr>
          <a:xfrm>
            <a:off x="704088" y="3117037"/>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 sözcüğü:</a:t>
            </a:r>
            <a:endParaRPr lang="en-US" sz="1800" dirty="0"/>
          </a:p>
        </p:txBody>
      </p:sp>
      <p:sp>
        <p:nvSpPr>
          <p:cNvPr id="10" name="Shape 8"/>
          <p:cNvSpPr/>
          <p:nvPr/>
        </p:nvSpPr>
        <p:spPr>
          <a:xfrm>
            <a:off x="1316736" y="3677564"/>
            <a:ext cx="10326319" cy="512115"/>
          </a:xfrm>
          <a:prstGeom prst="roundRect">
            <a:avLst>
              <a:gd name="adj" fmla="val 12499"/>
            </a:avLst>
          </a:prstGeom>
          <a:solidFill>
            <a:srgbClr val="F6F8F8"/>
          </a:solidFill>
          <a:ln/>
        </p:spPr>
      </p:sp>
      <p:sp>
        <p:nvSpPr>
          <p:cNvPr id="11" name="Text 9"/>
          <p:cNvSpPr txBox="1"/>
          <p:nvPr/>
        </p:nvSpPr>
        <p:spPr>
          <a:xfrm>
            <a:off x="1472184" y="3750716"/>
            <a:ext cx="10015423" cy="365811"/>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Latince </a:t>
            </a:r>
            <a:r>
              <a:rPr lang="en-US" sz="1700" b="1" dirty="0">
                <a:solidFill>
                  <a:srgbClr val="1F2937"/>
                </a:solidFill>
                <a:latin typeface="Calibri" pitchFamily="34" charset="0"/>
                <a:ea typeface="Calibri" pitchFamily="34" charset="-122"/>
                <a:cs typeface="Calibri" pitchFamily="34" charset="-120"/>
              </a:rPr>
              <a:t>terminus</a:t>
            </a:r>
            <a:endParaRPr lang="en-US" sz="1700" dirty="0"/>
          </a:p>
        </p:txBody>
      </p:sp>
      <p:sp>
        <p:nvSpPr>
          <p:cNvPr id="12" name="Shape 10"/>
          <p:cNvSpPr/>
          <p:nvPr/>
        </p:nvSpPr>
        <p:spPr>
          <a:xfrm>
            <a:off x="1316736" y="4281119"/>
            <a:ext cx="10326319" cy="512115"/>
          </a:xfrm>
          <a:prstGeom prst="roundRect">
            <a:avLst>
              <a:gd name="adj" fmla="val 12499"/>
            </a:avLst>
          </a:prstGeom>
          <a:solidFill>
            <a:srgbClr val="F6F8F8"/>
          </a:solidFill>
          <a:ln/>
        </p:spPr>
      </p:sp>
      <p:sp>
        <p:nvSpPr>
          <p:cNvPr id="13" name="Text 11"/>
          <p:cNvSpPr txBox="1"/>
          <p:nvPr/>
        </p:nvSpPr>
        <p:spPr>
          <a:xfrm>
            <a:off x="1472184" y="4354271"/>
            <a:ext cx="10015423" cy="365811"/>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Arapça</a:t>
            </a:r>
            <a:r>
              <a:rPr lang="en-US" sz="1700" b="1" dirty="0">
                <a:solidFill>
                  <a:srgbClr val="1F2937"/>
                </a:solidFill>
                <a:latin typeface="Calibri" pitchFamily="34" charset="0"/>
                <a:ea typeface="Calibri" pitchFamily="34" charset="-122"/>
                <a:cs typeface="Calibri" pitchFamily="34" charset="-120"/>
              </a:rPr>
              <a:t> ıstılah, tabir</a:t>
            </a:r>
            <a:endParaRPr lang="en-US" sz="1700" dirty="0"/>
          </a:p>
        </p:txBody>
      </p:sp>
      <p:sp>
        <p:nvSpPr>
          <p:cNvPr id="14" name="Shape 12"/>
          <p:cNvSpPr/>
          <p:nvPr/>
        </p:nvSpPr>
        <p:spPr>
          <a:xfrm>
            <a:off x="1316736" y="4884674"/>
            <a:ext cx="10326319" cy="512115"/>
          </a:xfrm>
          <a:prstGeom prst="roundRect">
            <a:avLst>
              <a:gd name="adj" fmla="val 12499"/>
            </a:avLst>
          </a:prstGeom>
          <a:solidFill>
            <a:srgbClr val="F6F8F8"/>
          </a:solidFill>
          <a:ln/>
        </p:spPr>
      </p:sp>
      <p:sp>
        <p:nvSpPr>
          <p:cNvPr id="15" name="Text 13"/>
          <p:cNvSpPr txBox="1"/>
          <p:nvPr/>
        </p:nvSpPr>
        <p:spPr>
          <a:xfrm>
            <a:off x="1472184" y="4957826"/>
            <a:ext cx="10015423" cy="365811"/>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Fransızca</a:t>
            </a:r>
            <a:r>
              <a:rPr lang="en-US" sz="1700" b="1" dirty="0">
                <a:solidFill>
                  <a:srgbClr val="1F2937"/>
                </a:solidFill>
                <a:latin typeface="Calibri" pitchFamily="34" charset="0"/>
                <a:ea typeface="Calibri" pitchFamily="34" charset="-122"/>
                <a:cs typeface="Calibri" pitchFamily="34" charset="-120"/>
              </a:rPr>
              <a:t> termes </a:t>
            </a:r>
            <a:r>
              <a:rPr lang="en-US" sz="1700" dirty="0">
                <a:solidFill>
                  <a:srgbClr val="1F2937"/>
                </a:solidFill>
                <a:latin typeface="Calibri" pitchFamily="34" charset="0"/>
                <a:ea typeface="Calibri" pitchFamily="34" charset="-122"/>
                <a:cs typeface="Calibri" pitchFamily="34" charset="-120"/>
              </a:rPr>
              <a:t>olarak isimlendirilir.</a:t>
            </a:r>
            <a:endParaRPr lang="en-US" sz="1700" dirty="0"/>
          </a:p>
        </p:txBody>
      </p:sp>
      <p:sp>
        <p:nvSpPr>
          <p:cNvPr id="16" name="Shape 14"/>
          <p:cNvSpPr/>
          <p:nvPr/>
        </p:nvSpPr>
        <p:spPr>
          <a:xfrm>
            <a:off x="548640" y="5488229"/>
            <a:ext cx="11094415" cy="821131"/>
          </a:xfrm>
          <a:prstGeom prst="roundRect">
            <a:avLst>
              <a:gd name="adj" fmla="val 7795"/>
            </a:avLst>
          </a:prstGeom>
          <a:solidFill>
            <a:srgbClr val="EAF6F4"/>
          </a:solidFill>
          <a:ln/>
        </p:spPr>
      </p:sp>
      <p:sp>
        <p:nvSpPr>
          <p:cNvPr id="17" name="Text 15"/>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 kendiliğinden oluştukları gibi, o alanın çalışanlarınca düzenlenen ulusal ve uluslararası toplantılarda belirlenirler.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3232404"/>
            <a:ext cx="11094415" cy="542239"/>
          </a:xfrm>
          <a:prstGeom prst="roundRect">
            <a:avLst>
              <a:gd name="adj" fmla="val 11804"/>
            </a:avLst>
          </a:prstGeom>
          <a:solidFill>
            <a:srgbClr val="EAF6F4"/>
          </a:solidFill>
          <a:ln/>
        </p:spPr>
      </p:sp>
      <p:sp>
        <p:nvSpPr>
          <p:cNvPr id="7" name="Text 5"/>
          <p:cNvSpPr txBox="1"/>
          <p:nvPr/>
        </p:nvSpPr>
        <p:spPr>
          <a:xfrm>
            <a:off x="704088" y="3305556"/>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Terimlerin sözcüklerden en önemli farkları tek anlamlı olmalarıdır.</a:t>
            </a:r>
            <a:endParaRPr lang="en-US" sz="1800" dirty="0"/>
          </a:p>
        </p:txBody>
      </p:sp>
      <p:sp>
        <p:nvSpPr>
          <p:cNvPr id="8" name="Shape 6"/>
          <p:cNvSpPr/>
          <p:nvPr/>
        </p:nvSpPr>
        <p:spPr>
          <a:xfrm>
            <a:off x="548640" y="3866083"/>
            <a:ext cx="11094415" cy="542239"/>
          </a:xfrm>
          <a:prstGeom prst="roundRect">
            <a:avLst>
              <a:gd name="adj" fmla="val 11804"/>
            </a:avLst>
          </a:prstGeom>
          <a:solidFill>
            <a:srgbClr val="EAF6F4"/>
          </a:solidFill>
          <a:ln/>
        </p:spPr>
      </p:sp>
      <p:sp>
        <p:nvSpPr>
          <p:cNvPr id="9" name="Text 7"/>
          <p:cNvSpPr txBox="1"/>
          <p:nvPr/>
        </p:nvSpPr>
        <p:spPr>
          <a:xfrm>
            <a:off x="704088" y="3939235"/>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Anlamları kişiye ve ortama göre değişmez.</a:t>
            </a:r>
            <a:endParaRPr lang="en-US" sz="1800" dirty="0"/>
          </a:p>
        </p:txBody>
      </p:sp>
      <p:sp>
        <p:nvSpPr>
          <p:cNvPr id="10" name="Shape 8"/>
          <p:cNvSpPr/>
          <p:nvPr/>
        </p:nvSpPr>
        <p:spPr>
          <a:xfrm>
            <a:off x="548640" y="4499762"/>
            <a:ext cx="11094415" cy="542239"/>
          </a:xfrm>
          <a:prstGeom prst="roundRect">
            <a:avLst>
              <a:gd name="adj" fmla="val 11804"/>
            </a:avLst>
          </a:prstGeom>
          <a:solidFill>
            <a:srgbClr val="EAF6F4"/>
          </a:solidFill>
          <a:ln/>
        </p:spPr>
      </p:sp>
      <p:sp>
        <p:nvSpPr>
          <p:cNvPr id="11" name="Text 9"/>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Terimlerle ilgilenen bilim dalına </a:t>
            </a:r>
            <a:r>
              <a:rPr lang="en-US" sz="1800" b="1" dirty="0">
                <a:solidFill>
                  <a:srgbClr val="1F2937"/>
                </a:solidFill>
                <a:latin typeface="Calibri" pitchFamily="34" charset="0"/>
                <a:ea typeface="Calibri" pitchFamily="34" charset="-122"/>
                <a:cs typeface="Calibri" pitchFamily="34" charset="-120"/>
              </a:rPr>
              <a:t>terminologia (terminoloji) </a:t>
            </a:r>
            <a:r>
              <a:rPr lang="en-US" sz="1800" dirty="0">
                <a:solidFill>
                  <a:srgbClr val="1F2937"/>
                </a:solidFill>
                <a:latin typeface="Calibri" pitchFamily="34" charset="0"/>
                <a:ea typeface="Calibri" pitchFamily="34" charset="-122"/>
                <a:cs typeface="Calibri" pitchFamily="34" charset="-120"/>
              </a:rPr>
              <a:t>denir.</a:t>
            </a:r>
            <a:endParaRPr lang="en-US" sz="1800" dirty="0"/>
          </a:p>
        </p:txBody>
      </p:sp>
      <p:sp>
        <p:nvSpPr>
          <p:cNvPr id="12" name="Shape 10"/>
          <p:cNvSpPr/>
          <p:nvPr/>
        </p:nvSpPr>
        <p:spPr>
          <a:xfrm>
            <a:off x="548640" y="5133442"/>
            <a:ext cx="11094415" cy="542239"/>
          </a:xfrm>
          <a:prstGeom prst="roundRect">
            <a:avLst>
              <a:gd name="adj" fmla="val 11804"/>
            </a:avLst>
          </a:prstGeom>
          <a:solidFill>
            <a:srgbClr val="EAF6F4"/>
          </a:solidFill>
          <a:ln/>
        </p:spPr>
      </p:sp>
      <p:sp>
        <p:nvSpPr>
          <p:cNvPr id="13" name="Text 11"/>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Latince </a:t>
            </a:r>
            <a:r>
              <a:rPr lang="en-US" sz="1800" b="1" dirty="0">
                <a:solidFill>
                  <a:srgbClr val="1F2937"/>
                </a:solidFill>
                <a:latin typeface="Calibri" pitchFamily="34" charset="0"/>
                <a:ea typeface="Calibri" pitchFamily="34" charset="-122"/>
                <a:cs typeface="Calibri" pitchFamily="34" charset="-120"/>
              </a:rPr>
              <a:t>terminus</a:t>
            </a:r>
            <a:r>
              <a:rPr lang="en-US" sz="1800" dirty="0">
                <a:solidFill>
                  <a:srgbClr val="1F2937"/>
                </a:solidFill>
                <a:latin typeface="Calibri" pitchFamily="34" charset="0"/>
                <a:ea typeface="Calibri" pitchFamily="34" charset="-122"/>
                <a:cs typeface="Calibri" pitchFamily="34" charset="-120"/>
              </a:rPr>
              <a:t> ve </a:t>
            </a:r>
            <a:r>
              <a:rPr lang="en-US" sz="1800" b="1" dirty="0">
                <a:solidFill>
                  <a:srgbClr val="1F2937"/>
                </a:solidFill>
                <a:latin typeface="Calibri" pitchFamily="34" charset="0"/>
                <a:ea typeface="Calibri" pitchFamily="34" charset="-122"/>
                <a:cs typeface="Calibri" pitchFamily="34" charset="-120"/>
              </a:rPr>
              <a:t>logia</a:t>
            </a:r>
            <a:r>
              <a:rPr lang="en-US" sz="1800" dirty="0">
                <a:solidFill>
                  <a:srgbClr val="1F2937"/>
                </a:solidFill>
                <a:latin typeface="Calibri" pitchFamily="34" charset="0"/>
                <a:ea typeface="Calibri" pitchFamily="34" charset="-122"/>
                <a:cs typeface="Calibri" pitchFamily="34" charset="-120"/>
              </a:rPr>
              <a:t> (Grekçe logos) sözcüklerinden oluşur.</a:t>
            </a:r>
            <a:endParaRPr lang="en-US" sz="1800" dirty="0"/>
          </a:p>
        </p:txBody>
      </p:sp>
      <p:sp>
        <p:nvSpPr>
          <p:cNvPr id="14" name="Shape 12"/>
          <p:cNvSpPr/>
          <p:nvPr/>
        </p:nvSpPr>
        <p:spPr>
          <a:xfrm>
            <a:off x="548640" y="5767121"/>
            <a:ext cx="11094415" cy="542239"/>
          </a:xfrm>
          <a:prstGeom prst="roundRect">
            <a:avLst>
              <a:gd name="adj" fmla="val 11804"/>
            </a:avLst>
          </a:prstGeom>
          <a:solidFill>
            <a:srgbClr val="EAF6F4"/>
          </a:solidFill>
          <a:ln/>
        </p:spPr>
      </p:sp>
      <p:sp>
        <p:nvSpPr>
          <p:cNvPr id="15" name="Text 13"/>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alanına ait terimlerle ilgilenen bilim dalına ise </a:t>
            </a:r>
            <a:r>
              <a:rPr lang="en-US" sz="1800" b="1" dirty="0">
                <a:solidFill>
                  <a:srgbClr val="1F2937"/>
                </a:solidFill>
                <a:latin typeface="Calibri" pitchFamily="34" charset="0"/>
                <a:ea typeface="Calibri" pitchFamily="34" charset="-122"/>
                <a:cs typeface="Calibri" pitchFamily="34" charset="-120"/>
              </a:rPr>
              <a:t>tıbbi terminoloji </a:t>
            </a:r>
            <a:r>
              <a:rPr lang="en-US" sz="1800" dirty="0">
                <a:solidFill>
                  <a:srgbClr val="1F2937"/>
                </a:solidFill>
                <a:latin typeface="Calibri" pitchFamily="34" charset="0"/>
                <a:ea typeface="Calibri" pitchFamily="34" charset="-122"/>
                <a:cs typeface="Calibri" pitchFamily="34" charset="-120"/>
              </a:rPr>
              <a:t>denir.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12544"/>
            <a:ext cx="11094415" cy="821131"/>
          </a:xfrm>
          <a:prstGeom prst="roundRect">
            <a:avLst>
              <a:gd name="adj" fmla="val 7795"/>
            </a:avLst>
          </a:prstGeom>
          <a:solidFill>
            <a:srgbClr val="EAF6F4"/>
          </a:solidFill>
          <a:ln/>
        </p:spPr>
      </p:sp>
      <p:sp>
        <p:nvSpPr>
          <p:cNvPr id="7" name="Text 5"/>
          <p:cNvSpPr txBox="1"/>
          <p:nvPr/>
        </p:nvSpPr>
        <p:spPr>
          <a:xfrm>
            <a:off x="704088" y="1685696"/>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En çok Grekçeyi (Eski Yunanca) etkisi altına almıştır ve bu yüzden Grekçe sözcükler Latinceleşmiştir. Bundan dolayı bilim dili Latince ve Latinceleşmiş Grekçedir.</a:t>
            </a:r>
            <a:endParaRPr lang="en-US" sz="1800" dirty="0"/>
          </a:p>
        </p:txBody>
      </p:sp>
      <p:sp>
        <p:nvSpPr>
          <p:cNvPr id="8" name="Shape 6"/>
          <p:cNvSpPr/>
          <p:nvPr/>
        </p:nvSpPr>
        <p:spPr>
          <a:xfrm>
            <a:off x="548640" y="2525116"/>
            <a:ext cx="11094415" cy="1100023"/>
          </a:xfrm>
          <a:prstGeom prst="roundRect">
            <a:avLst>
              <a:gd name="adj" fmla="val 5819"/>
            </a:avLst>
          </a:prstGeom>
          <a:solidFill>
            <a:srgbClr val="EAF6F4"/>
          </a:solidFill>
          <a:ln/>
        </p:spPr>
      </p:sp>
      <p:sp>
        <p:nvSpPr>
          <p:cNvPr id="9" name="Text 7"/>
          <p:cNvSpPr txBox="1"/>
          <p:nvPr/>
        </p:nvSpPr>
        <p:spPr>
          <a:xfrm>
            <a:off x="704088" y="2598268"/>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Son yıllarda tıp bilimlerindeki gelişme sonucu İngilizce, Fransızca, Portekizce, İspanyolca, Almanca terimlerde üretilmektedir. Fransızca, İspanyolca ve Portekizce köken olarak Latince’den türemiştir.</a:t>
            </a:r>
            <a:endParaRPr lang="en-US" sz="1800" dirty="0"/>
          </a:p>
        </p:txBody>
      </p:sp>
      <p:sp>
        <p:nvSpPr>
          <p:cNvPr id="10" name="Shape 8"/>
          <p:cNvSpPr/>
          <p:nvPr/>
        </p:nvSpPr>
        <p:spPr>
          <a:xfrm>
            <a:off x="548640" y="3866083"/>
            <a:ext cx="11094415" cy="542239"/>
          </a:xfrm>
          <a:prstGeom prst="roundRect">
            <a:avLst>
              <a:gd name="adj" fmla="val 11804"/>
            </a:avLst>
          </a:prstGeom>
          <a:solidFill>
            <a:srgbClr val="EAF6F4"/>
          </a:solidFill>
          <a:ln/>
        </p:spPr>
      </p:sp>
      <p:sp>
        <p:nvSpPr>
          <p:cNvPr id="11" name="Text 9"/>
          <p:cNvSpPr txBox="1"/>
          <p:nvPr/>
        </p:nvSpPr>
        <p:spPr>
          <a:xfrm>
            <a:off x="704088" y="3939235"/>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terimleri bugün ölü dil olan Latincedir.</a:t>
            </a:r>
            <a:endParaRPr lang="en-US" sz="1800" dirty="0"/>
          </a:p>
        </p:txBody>
      </p:sp>
      <p:sp>
        <p:nvSpPr>
          <p:cNvPr id="12" name="Shape 10"/>
          <p:cNvSpPr/>
          <p:nvPr/>
        </p:nvSpPr>
        <p:spPr>
          <a:xfrm>
            <a:off x="548640" y="4499762"/>
            <a:ext cx="11094415" cy="542239"/>
          </a:xfrm>
          <a:prstGeom prst="roundRect">
            <a:avLst>
              <a:gd name="adj" fmla="val 11804"/>
            </a:avLst>
          </a:prstGeom>
          <a:solidFill>
            <a:srgbClr val="EAF6F4"/>
          </a:solidFill>
          <a:ln/>
        </p:spPr>
      </p:sp>
      <p:sp>
        <p:nvSpPr>
          <p:cNvPr id="13" name="Text 11"/>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Latince uluslararası bilim dili olarak kabul edilir.</a:t>
            </a:r>
            <a:endParaRPr lang="en-US" sz="1800" dirty="0"/>
          </a:p>
        </p:txBody>
      </p:sp>
      <p:sp>
        <p:nvSpPr>
          <p:cNvPr id="14" name="Shape 12"/>
          <p:cNvSpPr/>
          <p:nvPr/>
        </p:nvSpPr>
        <p:spPr>
          <a:xfrm>
            <a:off x="548640" y="5133442"/>
            <a:ext cx="11094415" cy="542239"/>
          </a:xfrm>
          <a:prstGeom prst="roundRect">
            <a:avLst>
              <a:gd name="adj" fmla="val 11804"/>
            </a:avLst>
          </a:prstGeom>
          <a:solidFill>
            <a:srgbClr val="EAF6F4"/>
          </a:solidFill>
          <a:ln/>
        </p:spPr>
      </p:sp>
      <p:sp>
        <p:nvSpPr>
          <p:cNvPr id="15" name="Text 13"/>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Eski çağlarda Roma İmparatorluğu döneminde, Orta İtalya’nın Latium bölgesinde konuşulan dildir.</a:t>
            </a:r>
            <a:endParaRPr lang="en-US" sz="1800" dirty="0"/>
          </a:p>
        </p:txBody>
      </p:sp>
      <p:sp>
        <p:nvSpPr>
          <p:cNvPr id="16" name="Shape 14"/>
          <p:cNvSpPr/>
          <p:nvPr/>
        </p:nvSpPr>
        <p:spPr>
          <a:xfrm>
            <a:off x="548640" y="5767121"/>
            <a:ext cx="11094415" cy="542239"/>
          </a:xfrm>
          <a:prstGeom prst="roundRect">
            <a:avLst>
              <a:gd name="adj" fmla="val 11804"/>
            </a:avLst>
          </a:prstGeom>
          <a:solidFill>
            <a:srgbClr val="EAF6F4"/>
          </a:solidFill>
          <a:ln/>
        </p:spPr>
      </p:sp>
      <p:sp>
        <p:nvSpPr>
          <p:cNvPr id="17" name="Text 15"/>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Roma İmparatorluğu büyüdükçe diğer Avrupa dillerini etkilemiştir.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2020595"/>
            <a:ext cx="11094415" cy="775513"/>
          </a:xfrm>
          <a:prstGeom prst="roundRect">
            <a:avLst>
              <a:gd name="adj" fmla="val 8254"/>
            </a:avLst>
          </a:prstGeom>
          <a:solidFill>
            <a:srgbClr val="EAF6F4"/>
          </a:solidFill>
          <a:ln/>
        </p:spPr>
      </p:sp>
      <p:sp>
        <p:nvSpPr>
          <p:cNvPr id="7" name="Text 5"/>
          <p:cNvSpPr txBox="1"/>
          <p:nvPr/>
        </p:nvSpPr>
        <p:spPr>
          <a:xfrm>
            <a:off x="704088" y="2093747"/>
            <a:ext cx="10783519" cy="629209"/>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Grekçe, eski çağda Yunanistan’da kullanılan dildir. Buna eski Yunanca da denir. Günümüzce konuşulan Yunan dili Grekçe’nin gelişmiş ve değişmiş şeklidir. İçinde Latince sözcükler de vardır.</a:t>
            </a:r>
            <a:endParaRPr lang="en-US" sz="1700" dirty="0"/>
          </a:p>
        </p:txBody>
      </p:sp>
      <p:sp>
        <p:nvSpPr>
          <p:cNvPr id="8" name="Shape 6"/>
          <p:cNvSpPr/>
          <p:nvPr/>
        </p:nvSpPr>
        <p:spPr>
          <a:xfrm>
            <a:off x="548640" y="2887548"/>
            <a:ext cx="11094415" cy="1038911"/>
          </a:xfrm>
          <a:prstGeom prst="roundRect">
            <a:avLst>
              <a:gd name="adj" fmla="val 6161"/>
            </a:avLst>
          </a:prstGeom>
          <a:solidFill>
            <a:srgbClr val="EAF6F4"/>
          </a:solidFill>
          <a:ln/>
        </p:spPr>
      </p:sp>
      <p:sp>
        <p:nvSpPr>
          <p:cNvPr id="9" name="Text 7"/>
          <p:cNvSpPr txBox="1"/>
          <p:nvPr/>
        </p:nvSpPr>
        <p:spPr>
          <a:xfrm>
            <a:off x="704088" y="2960700"/>
            <a:ext cx="10783519" cy="892607"/>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Tıp terimleri içinde anatomi bilim dalının (anatomi, histoloji ve embriyoloji) özel bir yeri vardır. Tıp alanında çalışanlar terimlerle ilk önce anatomi dersinde karşılaşırlar. Diğer dallarda terimlerini üretirken bu terimleri esas alır.</a:t>
            </a:r>
            <a:endParaRPr lang="en-US" sz="1700" dirty="0"/>
          </a:p>
        </p:txBody>
      </p:sp>
      <p:sp>
        <p:nvSpPr>
          <p:cNvPr id="10" name="Shape 8"/>
          <p:cNvSpPr/>
          <p:nvPr/>
        </p:nvSpPr>
        <p:spPr>
          <a:xfrm>
            <a:off x="548640" y="4017899"/>
            <a:ext cx="11094415" cy="775513"/>
          </a:xfrm>
          <a:prstGeom prst="roundRect">
            <a:avLst>
              <a:gd name="adj" fmla="val 8254"/>
            </a:avLst>
          </a:prstGeom>
          <a:solidFill>
            <a:srgbClr val="EAF6F4"/>
          </a:solidFill>
          <a:ln/>
        </p:spPr>
      </p:sp>
      <p:sp>
        <p:nvSpPr>
          <p:cNvPr id="11" name="Text 9"/>
          <p:cNvSpPr txBox="1"/>
          <p:nvPr/>
        </p:nvSpPr>
        <p:spPr>
          <a:xfrm>
            <a:off x="704088" y="4091051"/>
            <a:ext cx="10783519" cy="629209"/>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Tıp bilim dalları içinde anatomi ilk belirleyen daldır. İlk önce 1895 yılında İsviçre’nin Basel kentinde Alman anatomistlerin düzenledikleri anatomi kongresinde belirlenmiştir.</a:t>
            </a:r>
            <a:endParaRPr lang="en-US" sz="1700" dirty="0"/>
          </a:p>
        </p:txBody>
      </p:sp>
      <p:sp>
        <p:nvSpPr>
          <p:cNvPr id="12" name="Shape 10"/>
          <p:cNvSpPr/>
          <p:nvPr/>
        </p:nvSpPr>
        <p:spPr>
          <a:xfrm>
            <a:off x="548640" y="4884852"/>
            <a:ext cx="11094415" cy="775513"/>
          </a:xfrm>
          <a:prstGeom prst="roundRect">
            <a:avLst>
              <a:gd name="adj" fmla="val 8254"/>
            </a:avLst>
          </a:prstGeom>
          <a:solidFill>
            <a:srgbClr val="EAF6F4"/>
          </a:solidFill>
          <a:ln/>
        </p:spPr>
      </p:sp>
      <p:sp>
        <p:nvSpPr>
          <p:cNvPr id="13" name="Text 11"/>
          <p:cNvSpPr txBox="1"/>
          <p:nvPr/>
        </p:nvSpPr>
        <p:spPr>
          <a:xfrm>
            <a:off x="704088" y="4958004"/>
            <a:ext cx="10783519" cy="629209"/>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Daha sonra kongreler uluslararası toplantılarda düzenlenmeye başlamıştır ve belirlenen eski ve yeni terimler </a:t>
            </a:r>
            <a:r>
              <a:rPr lang="en-US" sz="1700" b="1" dirty="0">
                <a:solidFill>
                  <a:srgbClr val="1F2937"/>
                </a:solidFill>
                <a:latin typeface="Calibri" pitchFamily="34" charset="0"/>
                <a:ea typeface="Calibri" pitchFamily="34" charset="-122"/>
                <a:cs typeface="Calibri" pitchFamily="34" charset="-120"/>
              </a:rPr>
              <a:t>Nomina Anatomika (NA) </a:t>
            </a:r>
            <a:r>
              <a:rPr lang="en-US" sz="1700" dirty="0">
                <a:solidFill>
                  <a:srgbClr val="1F2937"/>
                </a:solidFill>
                <a:latin typeface="Calibri" pitchFamily="34" charset="0"/>
                <a:ea typeface="Calibri" pitchFamily="34" charset="-122"/>
                <a:cs typeface="Calibri" pitchFamily="34" charset="-120"/>
              </a:rPr>
              <a:t>adıyla kitaplaştırılmaktadır.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2246224"/>
            <a:ext cx="11094415" cy="1100023"/>
          </a:xfrm>
          <a:prstGeom prst="roundRect">
            <a:avLst>
              <a:gd name="adj" fmla="val 5819"/>
            </a:avLst>
          </a:prstGeom>
          <a:solidFill>
            <a:srgbClr val="EAF6F4"/>
          </a:solidFill>
          <a:ln/>
        </p:spPr>
      </p:sp>
      <p:sp>
        <p:nvSpPr>
          <p:cNvPr id="7" name="Text 5"/>
          <p:cNvSpPr txBox="1"/>
          <p:nvPr/>
        </p:nvSpPr>
        <p:spPr>
          <a:xfrm>
            <a:off x="704088" y="2319376"/>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Terimlerin yazılıları Latince ya da Grekçe şekliyle olur. Ancak Türkiye’de bazı bilimciler Türkçe sözleriyle yazmayı yeğliyorlar. Bu güne dek ülkemizce tıp terimlerinin ortak yazılışı ile ilgili çalışma olmamıştır. Bazı kişisel girişimler olsa da yaygınlaşma olmamıştır.</a:t>
            </a:r>
            <a:endParaRPr lang="en-US" sz="1800" dirty="0"/>
          </a:p>
        </p:txBody>
      </p:sp>
      <p:sp>
        <p:nvSpPr>
          <p:cNvPr id="8" name="Shape 6"/>
          <p:cNvSpPr/>
          <p:nvPr/>
        </p:nvSpPr>
        <p:spPr>
          <a:xfrm>
            <a:off x="548640" y="4220870"/>
            <a:ext cx="11094415" cy="542239"/>
          </a:xfrm>
          <a:prstGeom prst="roundRect">
            <a:avLst>
              <a:gd name="adj" fmla="val 11804"/>
            </a:avLst>
          </a:prstGeom>
          <a:solidFill>
            <a:srgbClr val="EAF6F4"/>
          </a:solidFill>
          <a:ln/>
        </p:spPr>
      </p:sp>
      <p:sp>
        <p:nvSpPr>
          <p:cNvPr id="9" name="Text 7"/>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 Latince (L) ve Grekçe’dirler.</a:t>
            </a:r>
            <a:endParaRPr lang="en-US" sz="1800" dirty="0"/>
          </a:p>
        </p:txBody>
      </p:sp>
      <p:sp>
        <p:nvSpPr>
          <p:cNvPr id="10" name="Shape 8"/>
          <p:cNvSpPr/>
          <p:nvPr/>
        </p:nvSpPr>
        <p:spPr>
          <a:xfrm>
            <a:off x="548640" y="4854550"/>
            <a:ext cx="11094415" cy="821131"/>
          </a:xfrm>
          <a:prstGeom prst="roundRect">
            <a:avLst>
              <a:gd name="adj" fmla="val 7795"/>
            </a:avLst>
          </a:prstGeom>
          <a:solidFill>
            <a:srgbClr val="EAF6F4"/>
          </a:solidFill>
          <a:ln/>
        </p:spPr>
      </p:sp>
      <p:sp>
        <p:nvSpPr>
          <p:cNvPr id="11" name="Text 9"/>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Bu iki dilden köken alan terimler başka dillere geçerken bazı ses değişimine uğrarlar. Buna </a:t>
            </a:r>
            <a:r>
              <a:rPr lang="en-US" sz="1800" b="1" dirty="0">
                <a:solidFill>
                  <a:srgbClr val="1F2937"/>
                </a:solidFill>
                <a:latin typeface="Calibri" pitchFamily="34" charset="0"/>
                <a:ea typeface="Calibri" pitchFamily="34" charset="-122"/>
                <a:cs typeface="Calibri" pitchFamily="34" charset="-120"/>
              </a:rPr>
              <a:t>söyleniş (telaffuz)</a:t>
            </a:r>
            <a:r>
              <a:rPr lang="en-US" sz="1800" dirty="0">
                <a:solidFill>
                  <a:srgbClr val="1F2937"/>
                </a:solidFill>
                <a:latin typeface="Calibri" pitchFamily="34" charset="0"/>
                <a:ea typeface="Calibri" pitchFamily="34" charset="-122"/>
                <a:cs typeface="Calibri" pitchFamily="34" charset="-120"/>
              </a:rPr>
              <a:t> değişikli denir.</a:t>
            </a:r>
            <a:endParaRPr lang="en-US" sz="1800" dirty="0"/>
          </a:p>
        </p:txBody>
      </p:sp>
      <p:sp>
        <p:nvSpPr>
          <p:cNvPr id="12" name="Shape 10"/>
          <p:cNvSpPr/>
          <p:nvPr/>
        </p:nvSpPr>
        <p:spPr>
          <a:xfrm>
            <a:off x="548640" y="5767121"/>
            <a:ext cx="11094415" cy="542239"/>
          </a:xfrm>
          <a:prstGeom prst="roundRect">
            <a:avLst>
              <a:gd name="adj" fmla="val 11804"/>
            </a:avLst>
          </a:prstGeom>
          <a:solidFill>
            <a:srgbClr val="EAF6F4"/>
          </a:solidFill>
          <a:ln/>
        </p:spPr>
      </p:sp>
      <p:sp>
        <p:nvSpPr>
          <p:cNvPr id="13" name="Text 11"/>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Ses ve harf düşmeleri olabilir. Buna </a:t>
            </a:r>
            <a:r>
              <a:rPr lang="en-US" sz="1800" b="1" dirty="0">
                <a:solidFill>
                  <a:srgbClr val="1F2937"/>
                </a:solidFill>
                <a:latin typeface="Calibri" pitchFamily="34" charset="0"/>
                <a:ea typeface="Calibri" pitchFamily="34" charset="-122"/>
                <a:cs typeface="Calibri" pitchFamily="34" charset="-120"/>
              </a:rPr>
              <a:t>transkripsiyon (Fr)</a:t>
            </a:r>
            <a:r>
              <a:rPr lang="en-US" sz="1800" dirty="0">
                <a:solidFill>
                  <a:srgbClr val="1F2937"/>
                </a:solidFill>
                <a:latin typeface="Calibri" pitchFamily="34" charset="0"/>
                <a:ea typeface="Calibri" pitchFamily="34" charset="-122"/>
                <a:cs typeface="Calibri" pitchFamily="34" charset="-120"/>
              </a:rPr>
              <a:t> denir.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967332"/>
            <a:ext cx="11094415" cy="1100023"/>
          </a:xfrm>
          <a:prstGeom prst="roundRect">
            <a:avLst>
              <a:gd name="adj" fmla="val 5819"/>
            </a:avLst>
          </a:prstGeom>
          <a:solidFill>
            <a:srgbClr val="EAF6F4"/>
          </a:solidFill>
          <a:ln/>
        </p:spPr>
      </p:sp>
      <p:sp>
        <p:nvSpPr>
          <p:cNvPr id="7" name="Text 5"/>
          <p:cNvSpPr txBox="1"/>
          <p:nvPr/>
        </p:nvSpPr>
        <p:spPr>
          <a:xfrm>
            <a:off x="704088" y="2040484"/>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Türkler bilim dili olarak Arapça’yı, edebiyat dili olarak Farsça’yı benimsemiştirler. 19. yy’ın ikinci yarısında Arapça kökenli terim üretimi yapılmış ve bunlara </a:t>
            </a:r>
            <a:r>
              <a:rPr lang="en-US" sz="1800" b="1" dirty="0">
                <a:solidFill>
                  <a:srgbClr val="1F2937"/>
                </a:solidFill>
                <a:latin typeface="Calibri" pitchFamily="34" charset="0"/>
                <a:ea typeface="Calibri" pitchFamily="34" charset="-122"/>
                <a:cs typeface="Calibri" pitchFamily="34" charset="-120"/>
              </a:rPr>
              <a:t>Osmanlı Tıp Terimleri </a:t>
            </a:r>
            <a:r>
              <a:rPr lang="en-US" sz="1800" dirty="0">
                <a:solidFill>
                  <a:srgbClr val="1F2937"/>
                </a:solidFill>
                <a:latin typeface="Calibri" pitchFamily="34" charset="0"/>
                <a:ea typeface="Calibri" pitchFamily="34" charset="-122"/>
                <a:cs typeface="Calibri" pitchFamily="34" charset="-120"/>
              </a:rPr>
              <a:t>denmiştir. Osmanlı Türkçesiyle üretilen terimlerden bugün de hala kullanılanlar vardır.</a:t>
            </a:r>
            <a:endParaRPr lang="en-US" sz="1800" dirty="0"/>
          </a:p>
        </p:txBody>
      </p:sp>
      <p:sp>
        <p:nvSpPr>
          <p:cNvPr id="8" name="Shape 6"/>
          <p:cNvSpPr/>
          <p:nvPr/>
        </p:nvSpPr>
        <p:spPr>
          <a:xfrm>
            <a:off x="548640" y="3158795"/>
            <a:ext cx="11094415" cy="1100023"/>
          </a:xfrm>
          <a:prstGeom prst="roundRect">
            <a:avLst>
              <a:gd name="adj" fmla="val 5819"/>
            </a:avLst>
          </a:prstGeom>
          <a:solidFill>
            <a:srgbClr val="EAF6F4"/>
          </a:solidFill>
          <a:ln/>
        </p:spPr>
      </p:sp>
      <p:sp>
        <p:nvSpPr>
          <p:cNvPr id="9" name="Text 7"/>
          <p:cNvSpPr txBox="1"/>
          <p:nvPr/>
        </p:nvSpPr>
        <p:spPr>
          <a:xfrm>
            <a:off x="704088" y="3231947"/>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 tek anlamlı oldukları için önemlidir. Üstelik her ülkede aynıdır. Örneğim Türkçedeki </a:t>
            </a:r>
            <a:r>
              <a:rPr lang="en-US" sz="1800" b="1" dirty="0">
                <a:solidFill>
                  <a:srgbClr val="1F2937"/>
                </a:solidFill>
                <a:latin typeface="Calibri" pitchFamily="34" charset="0"/>
                <a:ea typeface="Calibri" pitchFamily="34" charset="-122"/>
                <a:cs typeface="Calibri" pitchFamily="34" charset="-120"/>
              </a:rPr>
              <a:t>karaciğer</a:t>
            </a:r>
            <a:r>
              <a:rPr lang="en-US" sz="1800" dirty="0">
                <a:solidFill>
                  <a:srgbClr val="1F2937"/>
                </a:solidFill>
                <a:latin typeface="Calibri" pitchFamily="34" charset="0"/>
                <a:ea typeface="Calibri" pitchFamily="34" charset="-122"/>
                <a:cs typeface="Calibri" pitchFamily="34" charset="-120"/>
              </a:rPr>
              <a:t>, İngilizcede </a:t>
            </a:r>
            <a:r>
              <a:rPr lang="en-US" sz="1800" b="1" dirty="0">
                <a:solidFill>
                  <a:srgbClr val="1F2937"/>
                </a:solidFill>
                <a:latin typeface="Calibri" pitchFamily="34" charset="0"/>
                <a:ea typeface="Calibri" pitchFamily="34" charset="-122"/>
                <a:cs typeface="Calibri" pitchFamily="34" charset="-120"/>
              </a:rPr>
              <a:t>liver</a:t>
            </a:r>
            <a:r>
              <a:rPr lang="en-US" sz="1800" dirty="0">
                <a:solidFill>
                  <a:srgbClr val="1F2937"/>
                </a:solidFill>
                <a:latin typeface="Calibri" pitchFamily="34" charset="0"/>
                <a:ea typeface="Calibri" pitchFamily="34" charset="-122"/>
                <a:cs typeface="Calibri" pitchFamily="34" charset="-120"/>
              </a:rPr>
              <a:t>, Fransızcada </a:t>
            </a:r>
            <a:r>
              <a:rPr lang="en-US" sz="1800" b="1" dirty="0">
                <a:solidFill>
                  <a:srgbClr val="1F2937"/>
                </a:solidFill>
                <a:latin typeface="Calibri" pitchFamily="34" charset="0"/>
                <a:ea typeface="Calibri" pitchFamily="34" charset="-122"/>
                <a:cs typeface="Calibri" pitchFamily="34" charset="-120"/>
              </a:rPr>
              <a:t>le foie</a:t>
            </a:r>
            <a:r>
              <a:rPr lang="en-US" sz="1800" dirty="0">
                <a:solidFill>
                  <a:srgbClr val="1F2937"/>
                </a:solidFill>
                <a:latin typeface="Calibri" pitchFamily="34" charset="0"/>
                <a:ea typeface="Calibri" pitchFamily="34" charset="-122"/>
                <a:cs typeface="Calibri" pitchFamily="34" charset="-120"/>
              </a:rPr>
              <a:t>, Almancada </a:t>
            </a:r>
            <a:r>
              <a:rPr lang="en-US" sz="1800" b="1" dirty="0">
                <a:solidFill>
                  <a:srgbClr val="1F2937"/>
                </a:solidFill>
                <a:latin typeface="Calibri" pitchFamily="34" charset="0"/>
                <a:ea typeface="Calibri" pitchFamily="34" charset="-122"/>
                <a:cs typeface="Calibri" pitchFamily="34" charset="-120"/>
              </a:rPr>
              <a:t>der zeher</a:t>
            </a:r>
            <a:r>
              <a:rPr lang="en-US" sz="1800" dirty="0">
                <a:solidFill>
                  <a:srgbClr val="1F2937"/>
                </a:solidFill>
                <a:latin typeface="Calibri" pitchFamily="34" charset="0"/>
                <a:ea typeface="Calibri" pitchFamily="34" charset="-122"/>
                <a:cs typeface="Calibri" pitchFamily="34" charset="-120"/>
              </a:rPr>
              <a:t>’dir. Tıp terminolojisinde ise </a:t>
            </a:r>
            <a:r>
              <a:rPr lang="en-US" sz="1800" b="1" dirty="0">
                <a:solidFill>
                  <a:srgbClr val="1F2937"/>
                </a:solidFill>
                <a:latin typeface="Calibri" pitchFamily="34" charset="0"/>
                <a:ea typeface="Calibri" pitchFamily="34" charset="-122"/>
                <a:cs typeface="Calibri" pitchFamily="34" charset="-120"/>
              </a:rPr>
              <a:t>hepar</a:t>
            </a:r>
            <a:r>
              <a:rPr lang="en-US" sz="1800" dirty="0">
                <a:solidFill>
                  <a:srgbClr val="1F2937"/>
                </a:solidFill>
                <a:latin typeface="Calibri" pitchFamily="34" charset="0"/>
                <a:ea typeface="Calibri" pitchFamily="34" charset="-122"/>
                <a:cs typeface="Calibri" pitchFamily="34" charset="-120"/>
              </a:rPr>
              <a:t>’dır. Hepar denildiğinde bilimde anlaşılan tek şey karaciğerdir.</a:t>
            </a:r>
            <a:endParaRPr lang="en-US" sz="1800" dirty="0"/>
          </a:p>
        </p:txBody>
      </p:sp>
      <p:sp>
        <p:nvSpPr>
          <p:cNvPr id="10" name="Shape 8"/>
          <p:cNvSpPr/>
          <p:nvPr/>
        </p:nvSpPr>
        <p:spPr>
          <a:xfrm>
            <a:off x="548640" y="4854550"/>
            <a:ext cx="11094415" cy="821131"/>
          </a:xfrm>
          <a:prstGeom prst="roundRect">
            <a:avLst>
              <a:gd name="adj" fmla="val 7795"/>
            </a:avLst>
          </a:prstGeom>
          <a:solidFill>
            <a:srgbClr val="EAF6F4"/>
          </a:solidFill>
          <a:ln/>
        </p:spPr>
      </p:sp>
      <p:sp>
        <p:nvSpPr>
          <p:cNvPr id="11" name="Text 9"/>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Cumhuriyetle birlikte Türkçe terim üretilmeye başlamış, bunun için kurullar oluşturulmuş ve bilimsel toplantılar düzenlenmiştir.</a:t>
            </a:r>
            <a:endParaRPr lang="en-US" sz="1800" dirty="0"/>
          </a:p>
        </p:txBody>
      </p:sp>
      <p:sp>
        <p:nvSpPr>
          <p:cNvPr id="12" name="Shape 10"/>
          <p:cNvSpPr/>
          <p:nvPr/>
        </p:nvSpPr>
        <p:spPr>
          <a:xfrm>
            <a:off x="548640" y="5767121"/>
            <a:ext cx="11094415" cy="542239"/>
          </a:xfrm>
          <a:prstGeom prst="roundRect">
            <a:avLst>
              <a:gd name="adj" fmla="val 11804"/>
            </a:avLst>
          </a:prstGeom>
          <a:solidFill>
            <a:srgbClr val="EAF6F4"/>
          </a:solidFill>
          <a:ln/>
        </p:spPr>
      </p:sp>
      <p:sp>
        <p:nvSpPr>
          <p:cNvPr id="13" name="Text 11"/>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Örneğin Latince </a:t>
            </a:r>
            <a:r>
              <a:rPr lang="en-US" sz="1800" b="1" dirty="0">
                <a:solidFill>
                  <a:srgbClr val="1F2937"/>
                </a:solidFill>
                <a:latin typeface="Calibri" pitchFamily="34" charset="0"/>
                <a:ea typeface="Calibri" pitchFamily="34" charset="-122"/>
                <a:cs typeface="Calibri" pitchFamily="34" charset="-120"/>
              </a:rPr>
              <a:t>trachea</a:t>
            </a:r>
            <a:r>
              <a:rPr lang="en-US" sz="1800" dirty="0">
                <a:solidFill>
                  <a:srgbClr val="1F2937"/>
                </a:solidFill>
                <a:latin typeface="Calibri" pitchFamily="34" charset="0"/>
                <a:ea typeface="Calibri" pitchFamily="34" charset="-122"/>
                <a:cs typeface="Calibri" pitchFamily="34" charset="-120"/>
              </a:rPr>
              <a:t>, Arapça </a:t>
            </a:r>
            <a:r>
              <a:rPr lang="en-US" sz="1800" b="1" dirty="0">
                <a:solidFill>
                  <a:srgbClr val="1F2937"/>
                </a:solidFill>
                <a:latin typeface="Calibri" pitchFamily="34" charset="0"/>
                <a:ea typeface="Calibri" pitchFamily="34" charset="-122"/>
                <a:cs typeface="Calibri" pitchFamily="34" charset="-120"/>
              </a:rPr>
              <a:t>şiryan-ı şezen</a:t>
            </a:r>
            <a:r>
              <a:rPr lang="en-US" sz="1800" dirty="0">
                <a:solidFill>
                  <a:srgbClr val="1F2937"/>
                </a:solidFill>
                <a:latin typeface="Calibri" pitchFamily="34" charset="0"/>
                <a:ea typeface="Calibri" pitchFamily="34" charset="-122"/>
                <a:cs typeface="Calibri" pitchFamily="34" charset="-120"/>
              </a:rPr>
              <a:t>, Türkçe </a:t>
            </a:r>
            <a:r>
              <a:rPr lang="en-US" sz="1800" b="1" dirty="0">
                <a:solidFill>
                  <a:srgbClr val="1F2937"/>
                </a:solidFill>
                <a:latin typeface="Calibri" pitchFamily="34" charset="0"/>
                <a:ea typeface="Calibri" pitchFamily="34" charset="-122"/>
                <a:cs typeface="Calibri" pitchFamily="34" charset="-120"/>
              </a:rPr>
              <a:t>soluk borusu</a:t>
            </a:r>
            <a:r>
              <a:rPr lang="en-US" sz="1800" dirty="0">
                <a:solidFill>
                  <a:srgbClr val="1F2937"/>
                </a:solidFill>
                <a:latin typeface="Calibri" pitchFamily="34" charset="0"/>
                <a:ea typeface="Calibri" pitchFamily="34" charset="-122"/>
                <a:cs typeface="Calibri" pitchFamily="34" charset="-120"/>
              </a:rPr>
              <a:t>’dur.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2099005"/>
            <a:ext cx="11094415" cy="1378915"/>
          </a:xfrm>
          <a:prstGeom prst="roundRect">
            <a:avLst>
              <a:gd name="adj" fmla="val 4642"/>
            </a:avLst>
          </a:prstGeom>
          <a:solidFill>
            <a:srgbClr val="EAF6F4"/>
          </a:solidFill>
          <a:ln/>
        </p:spPr>
      </p:sp>
      <p:sp>
        <p:nvSpPr>
          <p:cNvPr id="7" name="Text 5"/>
          <p:cNvSpPr txBox="1"/>
          <p:nvPr/>
        </p:nvSpPr>
        <p:spPr>
          <a:xfrm>
            <a:off x="704088" y="2172157"/>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Osmanlı devletinde tıp öğrencileri 1860’lı yıllarda tıp öğretiminde dilin Türkçe olmasını savunmuşturlar. Kurdukları </a:t>
            </a:r>
            <a:r>
              <a:rPr lang="en-US" sz="1800" b="1" dirty="0">
                <a:solidFill>
                  <a:srgbClr val="1F2937"/>
                </a:solidFill>
                <a:latin typeface="Calibri" pitchFamily="34" charset="0"/>
                <a:ea typeface="Calibri" pitchFamily="34" charset="-122"/>
                <a:cs typeface="Calibri" pitchFamily="34" charset="-120"/>
              </a:rPr>
              <a:t>Cemiyyet-i Tıbbiyye-i Osmaniye </a:t>
            </a:r>
            <a:r>
              <a:rPr lang="en-US" sz="1800" dirty="0">
                <a:solidFill>
                  <a:srgbClr val="1F2937"/>
                </a:solidFill>
                <a:latin typeface="Calibri" pitchFamily="34" charset="0"/>
                <a:ea typeface="Calibri" pitchFamily="34" charset="-122"/>
                <a:cs typeface="Calibri" pitchFamily="34" charset="-120"/>
              </a:rPr>
              <a:t>adlı dernekle </a:t>
            </a:r>
            <a:r>
              <a:rPr lang="en-US" sz="1800" b="1" dirty="0">
                <a:solidFill>
                  <a:srgbClr val="1F2937"/>
                </a:solidFill>
                <a:latin typeface="Calibri" pitchFamily="34" charset="0"/>
                <a:ea typeface="Calibri" pitchFamily="34" charset="-122"/>
                <a:cs typeface="Calibri" pitchFamily="34" charset="-120"/>
              </a:rPr>
              <a:t>Lugat-i Tıbbiyye (1873) </a:t>
            </a:r>
            <a:r>
              <a:rPr lang="en-US" sz="1800" dirty="0">
                <a:solidFill>
                  <a:srgbClr val="1F2937"/>
                </a:solidFill>
                <a:latin typeface="Calibri" pitchFamily="34" charset="0"/>
                <a:ea typeface="Calibri" pitchFamily="34" charset="-122"/>
                <a:cs typeface="Calibri" pitchFamily="34" charset="-120"/>
              </a:rPr>
              <a:t>adlı terimleri içeren ilk tıp terimler sözlüğünü yayımlamıştırlar. Buradaki terimler daha çok Arapça kökenlidir.</a:t>
            </a:r>
            <a:endParaRPr lang="en-US" sz="1800" dirty="0"/>
          </a:p>
        </p:txBody>
      </p:sp>
      <p:sp>
        <p:nvSpPr>
          <p:cNvPr id="8" name="Shape 6"/>
          <p:cNvSpPr/>
          <p:nvPr/>
        </p:nvSpPr>
        <p:spPr>
          <a:xfrm>
            <a:off x="548640" y="3569360"/>
            <a:ext cx="11094415" cy="1100023"/>
          </a:xfrm>
          <a:prstGeom prst="roundRect">
            <a:avLst>
              <a:gd name="adj" fmla="val 5819"/>
            </a:avLst>
          </a:prstGeom>
          <a:solidFill>
            <a:srgbClr val="EAF6F4"/>
          </a:solidFill>
          <a:ln/>
        </p:spPr>
      </p:sp>
      <p:sp>
        <p:nvSpPr>
          <p:cNvPr id="9" name="Text 7"/>
          <p:cNvSpPr txBox="1"/>
          <p:nvPr/>
        </p:nvSpPr>
        <p:spPr>
          <a:xfrm>
            <a:off x="704088" y="3642512"/>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1923’te Gazi Mustafa Kemal Atatürk önderliğinde kurulan Türkiye Cumhuriyeti Devleti Harf Devrimi sonrasında hızla Türkçe kökenli terim üretilmesi çalışmalarını başlatmıştır. Bunun için 1 Kasım 1928 tarihinde TBMM 29 harfli Latince esaslı yeni Türk Alfabesi yasasını kabul etmiştir.</a:t>
            </a:r>
            <a:endParaRPr lang="en-US" sz="1800" dirty="0"/>
          </a:p>
        </p:txBody>
      </p:sp>
      <p:sp>
        <p:nvSpPr>
          <p:cNvPr id="10" name="Shape 8"/>
          <p:cNvSpPr/>
          <p:nvPr/>
        </p:nvSpPr>
        <p:spPr>
          <a:xfrm>
            <a:off x="548640" y="4760824"/>
            <a:ext cx="11094415" cy="821131"/>
          </a:xfrm>
          <a:prstGeom prst="roundRect">
            <a:avLst>
              <a:gd name="adj" fmla="val 7795"/>
            </a:avLst>
          </a:prstGeom>
          <a:solidFill>
            <a:srgbClr val="EAF6F4"/>
          </a:solidFill>
          <a:ln/>
        </p:spPr>
      </p:sp>
      <p:sp>
        <p:nvSpPr>
          <p:cNvPr id="11" name="Text 9"/>
          <p:cNvSpPr txBox="1"/>
          <p:nvPr/>
        </p:nvSpPr>
        <p:spPr>
          <a:xfrm>
            <a:off x="704088" y="4833976"/>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Kısa sürede Türkçe terimlerin belirlenmesi için İstanbul Üniversitesinde </a:t>
            </a:r>
            <a:r>
              <a:rPr lang="en-US" sz="1800" b="1" dirty="0">
                <a:solidFill>
                  <a:srgbClr val="1F2937"/>
                </a:solidFill>
                <a:latin typeface="Calibri" pitchFamily="34" charset="0"/>
                <a:ea typeface="Calibri" pitchFamily="34" charset="-122"/>
                <a:cs typeface="Calibri" pitchFamily="34" charset="-120"/>
              </a:rPr>
              <a:t>Istılahat (Terimler) Kurulu </a:t>
            </a:r>
            <a:r>
              <a:rPr lang="en-US" sz="1800" dirty="0">
                <a:solidFill>
                  <a:srgbClr val="1F2937"/>
                </a:solidFill>
                <a:latin typeface="Calibri" pitchFamily="34" charset="0"/>
                <a:ea typeface="Calibri" pitchFamily="34" charset="-122"/>
                <a:cs typeface="Calibri" pitchFamily="34" charset="-120"/>
              </a:rPr>
              <a:t>oluşturulmuş ve bugünkü tıp terimlerine geçiş başlamıştır.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Tanım ve Tarih</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2461565"/>
            <a:ext cx="11094415" cy="1936699"/>
          </a:xfrm>
          <a:prstGeom prst="roundRect">
            <a:avLst>
              <a:gd name="adj" fmla="val 3305"/>
            </a:avLst>
          </a:prstGeom>
          <a:solidFill>
            <a:srgbClr val="EAF6F4"/>
          </a:solidFill>
          <a:ln/>
        </p:spPr>
      </p:sp>
      <p:sp>
        <p:nvSpPr>
          <p:cNvPr id="7" name="Text 5"/>
          <p:cNvSpPr txBox="1"/>
          <p:nvPr/>
        </p:nvSpPr>
        <p:spPr>
          <a:xfrm>
            <a:off x="704088" y="2534717"/>
            <a:ext cx="10783519" cy="179039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Türkiye’de tıp öğretimi 31 yıl Fransızca yapılmıştır (1839-1870). 1850’li yıllarda Askeri Tıp Okulunda öğrenciler Fransızca terimler yerine  Türkçe (Osmanlıca) terimlerin kullanılması hareketini başlatmışlardır. Bu sayede Türkçe öğretime geçişi sağlamışlardır. Türkçe terim hazırlama çabaları da ilk kez bu dönemde görülmüştür. 2. Meşrutiyet’in ilanından sonra terimlerin belirlenmesi konusu yeniden gündeme gelmiş ve 1914 yılında Darülfünun’da bu amaç için </a:t>
            </a:r>
            <a:r>
              <a:rPr lang="en-US" sz="1800" b="1" dirty="0">
                <a:solidFill>
                  <a:srgbClr val="1F2937"/>
                </a:solidFill>
                <a:latin typeface="Calibri" pitchFamily="34" charset="0"/>
                <a:ea typeface="Calibri" pitchFamily="34" charset="-122"/>
                <a:cs typeface="Calibri" pitchFamily="34" charset="-120"/>
              </a:rPr>
              <a:t>Istılaha-ı İlmiye Encümeni (Bilimsel Terimler Kurulu) </a:t>
            </a:r>
            <a:r>
              <a:rPr lang="en-US" sz="1800" dirty="0">
                <a:solidFill>
                  <a:srgbClr val="1F2937"/>
                </a:solidFill>
                <a:latin typeface="Calibri" pitchFamily="34" charset="0"/>
                <a:ea typeface="Calibri" pitchFamily="34" charset="-122"/>
                <a:cs typeface="Calibri" pitchFamily="34" charset="-120"/>
              </a:rPr>
              <a:t>oluşturulmuştur.</a:t>
            </a:r>
            <a:endParaRPr lang="en-US" sz="1800" dirty="0"/>
          </a:p>
        </p:txBody>
      </p:sp>
      <p:sp>
        <p:nvSpPr>
          <p:cNvPr id="8" name="Shape 6"/>
          <p:cNvSpPr/>
          <p:nvPr/>
        </p:nvSpPr>
        <p:spPr>
          <a:xfrm>
            <a:off x="548640" y="5488229"/>
            <a:ext cx="11094415" cy="821131"/>
          </a:xfrm>
          <a:prstGeom prst="roundRect">
            <a:avLst>
              <a:gd name="adj" fmla="val 7795"/>
            </a:avLst>
          </a:prstGeom>
          <a:solidFill>
            <a:srgbClr val="EAF6F4"/>
          </a:solidFill>
          <a:ln/>
        </p:spPr>
      </p:sp>
      <p:sp>
        <p:nvSpPr>
          <p:cNvPr id="9" name="Text 7"/>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Bu girişim bu dönemlerde sonuçsuz kalsa da Cumhuriyetin ilanından sonra Türk abecesine geçtikten sonra kalıcı sonuç alınabilmiştir.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Söyleyiş</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967332"/>
            <a:ext cx="11094415" cy="1100023"/>
          </a:xfrm>
          <a:prstGeom prst="roundRect">
            <a:avLst>
              <a:gd name="adj" fmla="val 5819"/>
            </a:avLst>
          </a:prstGeom>
          <a:solidFill>
            <a:srgbClr val="EAF6F4"/>
          </a:solidFill>
          <a:ln/>
        </p:spPr>
      </p:sp>
      <p:sp>
        <p:nvSpPr>
          <p:cNvPr id="7" name="Text 5"/>
          <p:cNvSpPr txBox="1"/>
          <p:nvPr/>
        </p:nvSpPr>
        <p:spPr>
          <a:xfrm>
            <a:off x="704088" y="2040484"/>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Bazı bilimciler, eğitim gördükleri batı dillerinin etkisinde kaldıklarından terimleri faklı okumaktadırlar. Sonuçta aynı terimi faklı okuyan insanlar olmaktadır. Bunun için sözcük ve söyleyiş kılavuzuna ihtiyaç vardır.</a:t>
            </a:r>
            <a:endParaRPr lang="en-US" sz="1800" dirty="0"/>
          </a:p>
        </p:txBody>
      </p:sp>
      <p:sp>
        <p:nvSpPr>
          <p:cNvPr id="8" name="Shape 6"/>
          <p:cNvSpPr/>
          <p:nvPr/>
        </p:nvSpPr>
        <p:spPr>
          <a:xfrm>
            <a:off x="548640" y="3158795"/>
            <a:ext cx="11094415" cy="821131"/>
          </a:xfrm>
          <a:prstGeom prst="roundRect">
            <a:avLst>
              <a:gd name="adj" fmla="val 7795"/>
            </a:avLst>
          </a:prstGeom>
          <a:solidFill>
            <a:srgbClr val="EAF6F4"/>
          </a:solidFill>
          <a:ln/>
        </p:spPr>
      </p:sp>
      <p:sp>
        <p:nvSpPr>
          <p:cNvPr id="9" name="Text 7"/>
          <p:cNvSpPr txBox="1"/>
          <p:nvPr/>
        </p:nvSpPr>
        <p:spPr>
          <a:xfrm>
            <a:off x="704088" y="3231947"/>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Türkiye’de tıp terimlerinin söylenişi ve yazılışında Fransızcanın ağırlığı büyüktür. Bunun nedeni tıp öğretiminin 31 yıl Fransızca yapılması ve ilk tıp kitaplarının Fransızcadan çevrilmesidir.</a:t>
            </a:r>
            <a:endParaRPr lang="en-US" sz="1800" dirty="0"/>
          </a:p>
        </p:txBody>
      </p:sp>
      <p:sp>
        <p:nvSpPr>
          <p:cNvPr id="10" name="Shape 8"/>
          <p:cNvSpPr/>
          <p:nvPr/>
        </p:nvSpPr>
        <p:spPr>
          <a:xfrm>
            <a:off x="548640" y="4071366"/>
            <a:ext cx="11094415" cy="821131"/>
          </a:xfrm>
          <a:prstGeom prst="roundRect">
            <a:avLst>
              <a:gd name="adj" fmla="val 7795"/>
            </a:avLst>
          </a:prstGeom>
          <a:solidFill>
            <a:srgbClr val="EAF6F4"/>
          </a:solidFill>
          <a:ln/>
        </p:spPr>
      </p:sp>
      <p:sp>
        <p:nvSpPr>
          <p:cNvPr id="11" name="Text 9"/>
          <p:cNvSpPr txBox="1"/>
          <p:nvPr/>
        </p:nvSpPr>
        <p:spPr>
          <a:xfrm>
            <a:off x="704088" y="4144518"/>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1950’den sonra ağılık İngilizceye kaymıştır. İngilizce tıp kitaplarından çevirilerin artması ve İngilizce dilinde tıp öğretimi yapan fakültelerin çoğalması bunun başlıca nedenidir.</a:t>
            </a:r>
            <a:endParaRPr lang="en-US" sz="1800" dirty="0"/>
          </a:p>
        </p:txBody>
      </p:sp>
      <p:sp>
        <p:nvSpPr>
          <p:cNvPr id="12" name="Shape 10"/>
          <p:cNvSpPr/>
          <p:nvPr/>
        </p:nvSpPr>
        <p:spPr>
          <a:xfrm>
            <a:off x="548640" y="5488229"/>
            <a:ext cx="11094415" cy="821131"/>
          </a:xfrm>
          <a:prstGeom prst="roundRect">
            <a:avLst>
              <a:gd name="adj" fmla="val 7795"/>
            </a:avLst>
          </a:prstGeom>
          <a:solidFill>
            <a:srgbClr val="EAF6F4"/>
          </a:solidFill>
          <a:ln/>
        </p:spPr>
      </p:sp>
      <p:sp>
        <p:nvSpPr>
          <p:cNvPr id="13" name="Text 11"/>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terimlerinin Türkçe söylenişlerinde bazı kurallar vardır. Bu kurallara uyulduğunda kurallar doğru okunur ve yazılır.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Söyleyiş</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2415845"/>
            <a:ext cx="11094415" cy="1378915"/>
          </a:xfrm>
          <a:prstGeom prst="roundRect">
            <a:avLst>
              <a:gd name="adj" fmla="val 4642"/>
            </a:avLst>
          </a:prstGeom>
          <a:solidFill>
            <a:srgbClr val="EAF6F4"/>
          </a:solidFill>
          <a:ln/>
        </p:spPr>
      </p:sp>
      <p:sp>
        <p:nvSpPr>
          <p:cNvPr id="7" name="Text 5"/>
          <p:cNvSpPr txBox="1"/>
          <p:nvPr/>
        </p:nvSpPr>
        <p:spPr>
          <a:xfrm>
            <a:off x="704088" y="2488997"/>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Türkçe söyleyişteki en büyük zorluk, Latince, Grekçe veya başka dillerin sözcüklerindeki bazı seslerin Türkçede kullanılmaması sebebiyle Türk alfabesinde de bulunmamasıdır. Bu durumda en yakın sesler (harfler) kullanılır. Terimlerin yazımında tek yazım biçimi yeğlenmelidir. Bunun için tıbbi terminoloji bilimine ve yazım birliği için yazım kılavuzlarına önem verilmelidir.</a:t>
            </a:r>
            <a:endParaRPr lang="en-US" sz="1800" dirty="0"/>
          </a:p>
        </p:txBody>
      </p:sp>
      <p:sp>
        <p:nvSpPr>
          <p:cNvPr id="8" name="Shape 6"/>
          <p:cNvSpPr/>
          <p:nvPr/>
        </p:nvSpPr>
        <p:spPr>
          <a:xfrm>
            <a:off x="548640" y="3886200"/>
            <a:ext cx="11094415" cy="1378915"/>
          </a:xfrm>
          <a:prstGeom prst="roundRect">
            <a:avLst>
              <a:gd name="adj" fmla="val 4642"/>
            </a:avLst>
          </a:prstGeom>
          <a:solidFill>
            <a:srgbClr val="EAF6F4"/>
          </a:solidFill>
          <a:ln/>
        </p:spPr>
      </p:sp>
      <p:sp>
        <p:nvSpPr>
          <p:cNvPr id="9" name="Text 7"/>
          <p:cNvSpPr txBox="1"/>
          <p:nvPr/>
        </p:nvSpPr>
        <p:spPr>
          <a:xfrm>
            <a:off x="704088" y="3959352"/>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Tıbbi terminolojide Grekçe (Yunanca) sözcükler Grek alfabesiyle değil Latin alfabesiyle yazılır. Latin alfabesiyle ve Latince yazılan Grek ve Latin kökenli sözcükler Türkiye’de Türkçe okunmaktadır. Buna </a:t>
            </a:r>
            <a:r>
              <a:rPr lang="en-US" sz="1800" b="1" dirty="0">
                <a:solidFill>
                  <a:srgbClr val="1F2937"/>
                </a:solidFill>
                <a:latin typeface="Calibri" pitchFamily="34" charset="0"/>
                <a:ea typeface="Calibri" pitchFamily="34" charset="-122"/>
                <a:cs typeface="Calibri" pitchFamily="34" charset="-120"/>
              </a:rPr>
              <a:t>transkripsiyon</a:t>
            </a:r>
            <a:r>
              <a:rPr lang="en-US" sz="1800" dirty="0">
                <a:solidFill>
                  <a:srgbClr val="1F2937"/>
                </a:solidFill>
                <a:latin typeface="Calibri" pitchFamily="34" charset="0"/>
                <a:ea typeface="Calibri" pitchFamily="34" charset="-122"/>
                <a:cs typeface="Calibri" pitchFamily="34" charset="-120"/>
              </a:rPr>
              <a:t> denir. Bu sırada bazı ses yitimleri de olmaktadır. Bu nedenle Grekçe ve bazı Latince sözcüklerin  okunmasında ses değişimleri de ortaya çıkabilmektedir.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604823"/>
            <a:ext cx="5410048" cy="638658"/>
          </a:xfrm>
          <a:prstGeom prst="roundRect">
            <a:avLst>
              <a:gd name="adj" fmla="val 10022"/>
            </a:avLst>
          </a:prstGeom>
          <a:solidFill>
            <a:srgbClr val="D7EDE9"/>
          </a:solidFill>
          <a:ln/>
        </p:spPr>
      </p:sp>
      <p:sp>
        <p:nvSpPr>
          <p:cNvPr id="7" name="Text 5"/>
          <p:cNvSpPr txBox="1"/>
          <p:nvPr/>
        </p:nvSpPr>
        <p:spPr>
          <a:xfrm>
            <a:off x="704088" y="1677975"/>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 a) ‘‘c’’ harfi ‘‘a, o, u’’ sesli harflerinden ve sessiz harflerinden önce geldiğinde ‘‘k’’ okunur.</a:t>
            </a:r>
            <a:endParaRPr lang="en-US" sz="1400" dirty="0"/>
          </a:p>
        </p:txBody>
      </p:sp>
      <p:sp>
        <p:nvSpPr>
          <p:cNvPr id="8" name="Shape 6"/>
          <p:cNvSpPr/>
          <p:nvPr/>
        </p:nvSpPr>
        <p:spPr>
          <a:xfrm>
            <a:off x="1316736" y="2334920"/>
            <a:ext cx="4641952" cy="391617"/>
          </a:xfrm>
          <a:prstGeom prst="roundRect">
            <a:avLst>
              <a:gd name="adj" fmla="val 16345"/>
            </a:avLst>
          </a:prstGeom>
          <a:solidFill>
            <a:srgbClr val="F6F8F8"/>
          </a:solidFill>
          <a:ln/>
        </p:spPr>
      </p:sp>
      <p:sp>
        <p:nvSpPr>
          <p:cNvPr id="9" name="Text 7"/>
          <p:cNvSpPr txBox="1"/>
          <p:nvPr/>
        </p:nvSpPr>
        <p:spPr>
          <a:xfrm>
            <a:off x="1472184" y="2408072"/>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scapula (skapula): </a:t>
            </a:r>
            <a:r>
              <a:rPr lang="en-US" sz="1300" dirty="0">
                <a:solidFill>
                  <a:srgbClr val="1F2937"/>
                </a:solidFill>
                <a:latin typeface="Calibri" pitchFamily="34" charset="0"/>
                <a:ea typeface="Calibri" pitchFamily="34" charset="-122"/>
                <a:cs typeface="Calibri" pitchFamily="34" charset="-120"/>
              </a:rPr>
              <a:t>Kürek kemiği</a:t>
            </a:r>
            <a:endParaRPr lang="en-US" sz="1300" dirty="0"/>
          </a:p>
        </p:txBody>
      </p:sp>
      <p:sp>
        <p:nvSpPr>
          <p:cNvPr id="10" name="Shape 8"/>
          <p:cNvSpPr/>
          <p:nvPr/>
        </p:nvSpPr>
        <p:spPr>
          <a:xfrm>
            <a:off x="1316736" y="2817978"/>
            <a:ext cx="4641952" cy="391617"/>
          </a:xfrm>
          <a:prstGeom prst="roundRect">
            <a:avLst>
              <a:gd name="adj" fmla="val 16345"/>
            </a:avLst>
          </a:prstGeom>
          <a:solidFill>
            <a:srgbClr val="F6F8F8"/>
          </a:solidFill>
          <a:ln/>
        </p:spPr>
      </p:sp>
      <p:sp>
        <p:nvSpPr>
          <p:cNvPr id="11" name="Text 9"/>
          <p:cNvSpPr txBox="1"/>
          <p:nvPr/>
        </p:nvSpPr>
        <p:spPr>
          <a:xfrm>
            <a:off x="1472184" y="2891130"/>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cavitas (kavitas): </a:t>
            </a:r>
            <a:r>
              <a:rPr lang="en-US" sz="1300" dirty="0">
                <a:solidFill>
                  <a:srgbClr val="1F2937"/>
                </a:solidFill>
                <a:latin typeface="Calibri" pitchFamily="34" charset="0"/>
                <a:ea typeface="Calibri" pitchFamily="34" charset="-122"/>
                <a:cs typeface="Calibri" pitchFamily="34" charset="-120"/>
              </a:rPr>
              <a:t>Oyuk, boşluk</a:t>
            </a:r>
            <a:endParaRPr lang="en-US" sz="1300" dirty="0"/>
          </a:p>
        </p:txBody>
      </p:sp>
      <p:sp>
        <p:nvSpPr>
          <p:cNvPr id="12" name="Shape 10"/>
          <p:cNvSpPr/>
          <p:nvPr/>
        </p:nvSpPr>
        <p:spPr>
          <a:xfrm>
            <a:off x="1316736" y="3301035"/>
            <a:ext cx="4641952" cy="391617"/>
          </a:xfrm>
          <a:prstGeom prst="roundRect">
            <a:avLst>
              <a:gd name="adj" fmla="val 16345"/>
            </a:avLst>
          </a:prstGeom>
          <a:solidFill>
            <a:srgbClr val="F6F8F8"/>
          </a:solidFill>
          <a:ln/>
        </p:spPr>
      </p:sp>
      <p:sp>
        <p:nvSpPr>
          <p:cNvPr id="13" name="Text 11"/>
          <p:cNvSpPr txBox="1"/>
          <p:nvPr/>
        </p:nvSpPr>
        <p:spPr>
          <a:xfrm>
            <a:off x="1472184" y="3374187"/>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costa (kosta): </a:t>
            </a:r>
            <a:r>
              <a:rPr lang="en-US" sz="1300" dirty="0">
                <a:solidFill>
                  <a:srgbClr val="1F2937"/>
                </a:solidFill>
                <a:latin typeface="Calibri" pitchFamily="34" charset="0"/>
                <a:ea typeface="Calibri" pitchFamily="34" charset="-122"/>
                <a:cs typeface="Calibri" pitchFamily="34" charset="-120"/>
              </a:rPr>
              <a:t>Kaburga</a:t>
            </a:r>
            <a:endParaRPr lang="en-US" sz="1300" dirty="0"/>
          </a:p>
        </p:txBody>
      </p:sp>
      <p:sp>
        <p:nvSpPr>
          <p:cNvPr id="14" name="Shape 12"/>
          <p:cNvSpPr/>
          <p:nvPr/>
        </p:nvSpPr>
        <p:spPr>
          <a:xfrm>
            <a:off x="1316736" y="3784092"/>
            <a:ext cx="4641952" cy="391617"/>
          </a:xfrm>
          <a:prstGeom prst="roundRect">
            <a:avLst>
              <a:gd name="adj" fmla="val 16345"/>
            </a:avLst>
          </a:prstGeom>
          <a:solidFill>
            <a:srgbClr val="F6F8F8"/>
          </a:solidFill>
          <a:ln/>
        </p:spPr>
      </p:sp>
      <p:sp>
        <p:nvSpPr>
          <p:cNvPr id="15" name="Text 13"/>
          <p:cNvSpPr txBox="1"/>
          <p:nvPr/>
        </p:nvSpPr>
        <p:spPr>
          <a:xfrm>
            <a:off x="1472184" y="3857244"/>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cor (kor): </a:t>
            </a:r>
            <a:r>
              <a:rPr lang="en-US" sz="1300" dirty="0">
                <a:solidFill>
                  <a:srgbClr val="1F2937"/>
                </a:solidFill>
                <a:latin typeface="Calibri" pitchFamily="34" charset="0"/>
                <a:ea typeface="Calibri" pitchFamily="34" charset="-122"/>
                <a:cs typeface="Calibri" pitchFamily="34" charset="-120"/>
              </a:rPr>
              <a:t>Yürek</a:t>
            </a:r>
            <a:endParaRPr lang="en-US" sz="1300" dirty="0"/>
          </a:p>
        </p:txBody>
      </p:sp>
      <p:sp>
        <p:nvSpPr>
          <p:cNvPr id="16" name="Shape 14"/>
          <p:cNvSpPr/>
          <p:nvPr/>
        </p:nvSpPr>
        <p:spPr>
          <a:xfrm>
            <a:off x="1316736" y="4267149"/>
            <a:ext cx="4641952" cy="391617"/>
          </a:xfrm>
          <a:prstGeom prst="roundRect">
            <a:avLst>
              <a:gd name="adj" fmla="val 16345"/>
            </a:avLst>
          </a:prstGeom>
          <a:solidFill>
            <a:srgbClr val="F6F8F8"/>
          </a:solidFill>
          <a:ln/>
        </p:spPr>
      </p:sp>
      <p:sp>
        <p:nvSpPr>
          <p:cNvPr id="17" name="Text 15"/>
          <p:cNvSpPr txBox="1"/>
          <p:nvPr/>
        </p:nvSpPr>
        <p:spPr>
          <a:xfrm>
            <a:off x="1472184" y="4340301"/>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cutis (kutis): </a:t>
            </a:r>
            <a:r>
              <a:rPr lang="en-US" sz="1300" dirty="0">
                <a:solidFill>
                  <a:srgbClr val="1F2937"/>
                </a:solidFill>
                <a:latin typeface="Calibri" pitchFamily="34" charset="0"/>
                <a:ea typeface="Calibri" pitchFamily="34" charset="-122"/>
                <a:cs typeface="Calibri" pitchFamily="34" charset="-120"/>
              </a:rPr>
              <a:t>Deri</a:t>
            </a:r>
            <a:endParaRPr lang="en-US" sz="1300" dirty="0"/>
          </a:p>
        </p:txBody>
      </p:sp>
      <p:sp>
        <p:nvSpPr>
          <p:cNvPr id="18" name="Shape 16"/>
          <p:cNvSpPr/>
          <p:nvPr/>
        </p:nvSpPr>
        <p:spPr>
          <a:xfrm>
            <a:off x="1316736" y="4750206"/>
            <a:ext cx="4641952" cy="391617"/>
          </a:xfrm>
          <a:prstGeom prst="roundRect">
            <a:avLst>
              <a:gd name="adj" fmla="val 16345"/>
            </a:avLst>
          </a:prstGeom>
          <a:solidFill>
            <a:srgbClr val="F6F8F8"/>
          </a:solidFill>
          <a:ln/>
        </p:spPr>
      </p:sp>
      <p:sp>
        <p:nvSpPr>
          <p:cNvPr id="19" name="Text 17"/>
          <p:cNvSpPr txBox="1"/>
          <p:nvPr/>
        </p:nvSpPr>
        <p:spPr>
          <a:xfrm>
            <a:off x="1472184" y="4823358"/>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clavicular (klavikula): </a:t>
            </a:r>
            <a:r>
              <a:rPr lang="en-US" sz="1300" dirty="0">
                <a:solidFill>
                  <a:srgbClr val="1F2937"/>
                </a:solidFill>
                <a:latin typeface="Calibri" pitchFamily="34" charset="0"/>
                <a:ea typeface="Calibri" pitchFamily="34" charset="-122"/>
                <a:cs typeface="Calibri" pitchFamily="34" charset="-120"/>
              </a:rPr>
              <a:t>Köprücük kemiği</a:t>
            </a:r>
            <a:endParaRPr lang="en-US" sz="1300" dirty="0"/>
          </a:p>
        </p:txBody>
      </p:sp>
      <p:sp>
        <p:nvSpPr>
          <p:cNvPr id="20" name="Shape 18"/>
          <p:cNvSpPr/>
          <p:nvPr/>
        </p:nvSpPr>
        <p:spPr>
          <a:xfrm>
            <a:off x="1316736" y="5233264"/>
            <a:ext cx="4641952" cy="391617"/>
          </a:xfrm>
          <a:prstGeom prst="roundRect">
            <a:avLst>
              <a:gd name="adj" fmla="val 16345"/>
            </a:avLst>
          </a:prstGeom>
          <a:solidFill>
            <a:srgbClr val="F6F8F8"/>
          </a:solidFill>
          <a:ln/>
        </p:spPr>
      </p:sp>
      <p:sp>
        <p:nvSpPr>
          <p:cNvPr id="21" name="Text 19"/>
          <p:cNvSpPr txBox="1"/>
          <p:nvPr/>
        </p:nvSpPr>
        <p:spPr>
          <a:xfrm>
            <a:off x="1472184" y="5306416"/>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bucca (bukka): </a:t>
            </a:r>
            <a:r>
              <a:rPr lang="en-US" sz="1300" dirty="0">
                <a:solidFill>
                  <a:srgbClr val="1F2937"/>
                </a:solidFill>
                <a:latin typeface="Calibri" pitchFamily="34" charset="0"/>
                <a:ea typeface="Calibri" pitchFamily="34" charset="-122"/>
                <a:cs typeface="Calibri" pitchFamily="34" charset="-120"/>
              </a:rPr>
              <a:t>Yanak</a:t>
            </a:r>
            <a:endParaRPr lang="en-US" sz="1300" dirty="0"/>
          </a:p>
        </p:txBody>
      </p:sp>
      <p:sp>
        <p:nvSpPr>
          <p:cNvPr id="22" name="Shape 20"/>
          <p:cNvSpPr/>
          <p:nvPr/>
        </p:nvSpPr>
        <p:spPr>
          <a:xfrm>
            <a:off x="1316736" y="5716321"/>
            <a:ext cx="4641952" cy="391617"/>
          </a:xfrm>
          <a:prstGeom prst="roundRect">
            <a:avLst>
              <a:gd name="adj" fmla="val 16345"/>
            </a:avLst>
          </a:prstGeom>
          <a:solidFill>
            <a:srgbClr val="F6F8F8"/>
          </a:solidFill>
          <a:ln/>
        </p:spPr>
      </p:sp>
      <p:sp>
        <p:nvSpPr>
          <p:cNvPr id="23" name="Text 21"/>
          <p:cNvSpPr txBox="1"/>
          <p:nvPr/>
        </p:nvSpPr>
        <p:spPr>
          <a:xfrm>
            <a:off x="1472184" y="5789473"/>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sclera (sklera): </a:t>
            </a:r>
            <a:r>
              <a:rPr lang="en-US" sz="1300" dirty="0">
                <a:solidFill>
                  <a:srgbClr val="1F2937"/>
                </a:solidFill>
                <a:latin typeface="Calibri" pitchFamily="34" charset="0"/>
                <a:ea typeface="Calibri" pitchFamily="34" charset="-122"/>
                <a:cs typeface="Calibri" pitchFamily="34" charset="-120"/>
              </a:rPr>
              <a:t>Göz akı</a:t>
            </a:r>
            <a:endParaRPr lang="en-US" sz="1300" dirty="0"/>
          </a:p>
        </p:txBody>
      </p:sp>
      <p:sp>
        <p:nvSpPr>
          <p:cNvPr id="24" name="Shape 22"/>
          <p:cNvSpPr/>
          <p:nvPr/>
        </p:nvSpPr>
        <p:spPr>
          <a:xfrm>
            <a:off x="6233008" y="1604823"/>
            <a:ext cx="5410048" cy="638658"/>
          </a:xfrm>
          <a:prstGeom prst="roundRect">
            <a:avLst>
              <a:gd name="adj" fmla="val 10022"/>
            </a:avLst>
          </a:prstGeom>
          <a:solidFill>
            <a:srgbClr val="EAF6F4"/>
          </a:solidFill>
          <a:ln/>
        </p:spPr>
      </p:sp>
      <p:sp>
        <p:nvSpPr>
          <p:cNvPr id="25" name="Text 23"/>
          <p:cNvSpPr txBox="1"/>
          <p:nvPr/>
        </p:nvSpPr>
        <p:spPr>
          <a:xfrm>
            <a:off x="6388456" y="1677975"/>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 ‘‘c’’ harfi ‘‘e, i, ae, oe, y’’harflerinden önce geldiğinde ‘‘s’’ okunur.</a:t>
            </a:r>
            <a:endParaRPr lang="en-US" sz="1400" dirty="0"/>
          </a:p>
        </p:txBody>
      </p:sp>
      <p:sp>
        <p:nvSpPr>
          <p:cNvPr id="26" name="Shape 24"/>
          <p:cNvSpPr/>
          <p:nvPr/>
        </p:nvSpPr>
        <p:spPr>
          <a:xfrm>
            <a:off x="7001104" y="2334920"/>
            <a:ext cx="4641952" cy="391617"/>
          </a:xfrm>
          <a:prstGeom prst="roundRect">
            <a:avLst>
              <a:gd name="adj" fmla="val 16345"/>
            </a:avLst>
          </a:prstGeom>
          <a:solidFill>
            <a:srgbClr val="F6F8F8"/>
          </a:solidFill>
          <a:ln/>
        </p:spPr>
      </p:sp>
      <p:sp>
        <p:nvSpPr>
          <p:cNvPr id="27" name="Text 25"/>
          <p:cNvSpPr txBox="1"/>
          <p:nvPr/>
        </p:nvSpPr>
        <p:spPr>
          <a:xfrm>
            <a:off x="7156552" y="2408072"/>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cerebrum (serebrum): </a:t>
            </a:r>
            <a:r>
              <a:rPr lang="en-US" sz="1300" dirty="0">
                <a:solidFill>
                  <a:srgbClr val="1F2937"/>
                </a:solidFill>
                <a:latin typeface="Calibri" pitchFamily="34" charset="0"/>
                <a:ea typeface="Calibri" pitchFamily="34" charset="-122"/>
                <a:cs typeface="Calibri" pitchFamily="34" charset="-120"/>
              </a:rPr>
              <a:t>Beyin</a:t>
            </a:r>
            <a:endParaRPr lang="en-US" sz="1300" dirty="0"/>
          </a:p>
        </p:txBody>
      </p:sp>
      <p:sp>
        <p:nvSpPr>
          <p:cNvPr id="28" name="Shape 26"/>
          <p:cNvSpPr/>
          <p:nvPr/>
        </p:nvSpPr>
        <p:spPr>
          <a:xfrm>
            <a:off x="7001104" y="2817978"/>
            <a:ext cx="4641952" cy="391617"/>
          </a:xfrm>
          <a:prstGeom prst="roundRect">
            <a:avLst>
              <a:gd name="adj" fmla="val 16345"/>
            </a:avLst>
          </a:prstGeom>
          <a:solidFill>
            <a:srgbClr val="F6F8F8"/>
          </a:solidFill>
          <a:ln/>
        </p:spPr>
      </p:sp>
      <p:sp>
        <p:nvSpPr>
          <p:cNvPr id="29" name="Text 27"/>
          <p:cNvSpPr txBox="1"/>
          <p:nvPr/>
        </p:nvSpPr>
        <p:spPr>
          <a:xfrm>
            <a:off x="7156552" y="2891130"/>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cellula (sellula): </a:t>
            </a:r>
            <a:r>
              <a:rPr lang="en-US" sz="1300" dirty="0">
                <a:solidFill>
                  <a:srgbClr val="1F2937"/>
                </a:solidFill>
                <a:latin typeface="Calibri" pitchFamily="34" charset="0"/>
                <a:ea typeface="Calibri" pitchFamily="34" charset="-122"/>
                <a:cs typeface="Calibri" pitchFamily="34" charset="-120"/>
              </a:rPr>
              <a:t>Hücre (göze)</a:t>
            </a:r>
            <a:endParaRPr lang="en-US" sz="1300" dirty="0"/>
          </a:p>
        </p:txBody>
      </p:sp>
      <p:sp>
        <p:nvSpPr>
          <p:cNvPr id="30" name="Shape 28"/>
          <p:cNvSpPr/>
          <p:nvPr/>
        </p:nvSpPr>
        <p:spPr>
          <a:xfrm>
            <a:off x="7001104" y="3301035"/>
            <a:ext cx="4641952" cy="391617"/>
          </a:xfrm>
          <a:prstGeom prst="roundRect">
            <a:avLst>
              <a:gd name="adj" fmla="val 16345"/>
            </a:avLst>
          </a:prstGeom>
          <a:solidFill>
            <a:srgbClr val="F6F8F8"/>
          </a:solidFill>
          <a:ln/>
        </p:spPr>
      </p:sp>
      <p:sp>
        <p:nvSpPr>
          <p:cNvPr id="31" name="Text 29"/>
          <p:cNvSpPr txBox="1"/>
          <p:nvPr/>
        </p:nvSpPr>
        <p:spPr>
          <a:xfrm>
            <a:off x="7156552" y="3374187"/>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occipitale (oksipital): </a:t>
            </a:r>
            <a:r>
              <a:rPr lang="en-US" sz="1300" dirty="0">
                <a:solidFill>
                  <a:srgbClr val="1F2937"/>
                </a:solidFill>
                <a:latin typeface="Calibri" pitchFamily="34" charset="0"/>
                <a:ea typeface="Calibri" pitchFamily="34" charset="-122"/>
                <a:cs typeface="Calibri" pitchFamily="34" charset="-120"/>
              </a:rPr>
              <a:t>Art kafa (arka kafa) kemiği</a:t>
            </a:r>
            <a:endParaRPr lang="en-US" sz="1300" dirty="0"/>
          </a:p>
        </p:txBody>
      </p:sp>
      <p:sp>
        <p:nvSpPr>
          <p:cNvPr id="32" name="Shape 30"/>
          <p:cNvSpPr/>
          <p:nvPr/>
        </p:nvSpPr>
        <p:spPr>
          <a:xfrm>
            <a:off x="7001104" y="3784092"/>
            <a:ext cx="4641952" cy="391617"/>
          </a:xfrm>
          <a:prstGeom prst="roundRect">
            <a:avLst>
              <a:gd name="adj" fmla="val 16345"/>
            </a:avLst>
          </a:prstGeom>
          <a:solidFill>
            <a:srgbClr val="F6F8F8"/>
          </a:solidFill>
          <a:ln/>
        </p:spPr>
      </p:sp>
      <p:sp>
        <p:nvSpPr>
          <p:cNvPr id="33" name="Text 31"/>
          <p:cNvSpPr txBox="1"/>
          <p:nvPr/>
        </p:nvSpPr>
        <p:spPr>
          <a:xfrm>
            <a:off x="7156552" y="3857244"/>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cilium (silyum): </a:t>
            </a:r>
            <a:r>
              <a:rPr lang="en-US" sz="1300" dirty="0">
                <a:solidFill>
                  <a:srgbClr val="1F2937"/>
                </a:solidFill>
                <a:latin typeface="Calibri" pitchFamily="34" charset="0"/>
                <a:ea typeface="Calibri" pitchFamily="34" charset="-122"/>
                <a:cs typeface="Calibri" pitchFamily="34" charset="-120"/>
              </a:rPr>
              <a:t>Kirpik, kıl</a:t>
            </a:r>
            <a:endParaRPr lang="en-US" sz="1300" dirty="0"/>
          </a:p>
        </p:txBody>
      </p:sp>
      <p:sp>
        <p:nvSpPr>
          <p:cNvPr id="34" name="Shape 32"/>
          <p:cNvSpPr/>
          <p:nvPr/>
        </p:nvSpPr>
        <p:spPr>
          <a:xfrm>
            <a:off x="7001104" y="4267149"/>
            <a:ext cx="4641952" cy="391617"/>
          </a:xfrm>
          <a:prstGeom prst="roundRect">
            <a:avLst>
              <a:gd name="adj" fmla="val 16345"/>
            </a:avLst>
          </a:prstGeom>
          <a:solidFill>
            <a:srgbClr val="F6F8F8"/>
          </a:solidFill>
          <a:ln/>
        </p:spPr>
      </p:sp>
      <p:sp>
        <p:nvSpPr>
          <p:cNvPr id="35" name="Text 33"/>
          <p:cNvSpPr txBox="1"/>
          <p:nvPr/>
        </p:nvSpPr>
        <p:spPr>
          <a:xfrm>
            <a:off x="7156552" y="4340301"/>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caecum (sekum): </a:t>
            </a:r>
            <a:r>
              <a:rPr lang="en-US" sz="1300" dirty="0">
                <a:solidFill>
                  <a:srgbClr val="1F2937"/>
                </a:solidFill>
                <a:latin typeface="Calibri" pitchFamily="34" charset="0"/>
                <a:ea typeface="Calibri" pitchFamily="34" charset="-122"/>
                <a:cs typeface="Calibri" pitchFamily="34" charset="-120"/>
              </a:rPr>
              <a:t>Kör bağırsak</a:t>
            </a:r>
            <a:endParaRPr lang="en-US" sz="1300" dirty="0"/>
          </a:p>
        </p:txBody>
      </p:sp>
      <p:sp>
        <p:nvSpPr>
          <p:cNvPr id="36" name="Shape 34"/>
          <p:cNvSpPr/>
          <p:nvPr/>
        </p:nvSpPr>
        <p:spPr>
          <a:xfrm>
            <a:off x="7001104" y="4750206"/>
            <a:ext cx="4641952" cy="593039"/>
          </a:xfrm>
          <a:prstGeom prst="roundRect">
            <a:avLst>
              <a:gd name="adj" fmla="val 10793"/>
            </a:avLst>
          </a:prstGeom>
          <a:solidFill>
            <a:srgbClr val="F6F8F8"/>
          </a:solidFill>
          <a:ln/>
        </p:spPr>
      </p:sp>
      <p:sp>
        <p:nvSpPr>
          <p:cNvPr id="37" name="Text 35"/>
          <p:cNvSpPr txBox="1"/>
          <p:nvPr/>
        </p:nvSpPr>
        <p:spPr>
          <a:xfrm>
            <a:off x="7156552" y="4823358"/>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caesarian (sezaryan): </a:t>
            </a:r>
            <a:r>
              <a:rPr lang="en-US" sz="1300" dirty="0">
                <a:solidFill>
                  <a:srgbClr val="1F2937"/>
                </a:solidFill>
                <a:latin typeface="Calibri" pitchFamily="34" charset="0"/>
                <a:ea typeface="Calibri" pitchFamily="34" charset="-122"/>
                <a:cs typeface="Calibri" pitchFamily="34" charset="-120"/>
              </a:rPr>
              <a:t>Karın ve döl yatağının açılarak çocuğun dışarı alınması</a:t>
            </a:r>
            <a:endParaRPr lang="en-US" sz="1300" dirty="0"/>
          </a:p>
        </p:txBody>
      </p:sp>
      <p:sp>
        <p:nvSpPr>
          <p:cNvPr id="38" name="Shape 36"/>
          <p:cNvSpPr/>
          <p:nvPr/>
        </p:nvSpPr>
        <p:spPr>
          <a:xfrm>
            <a:off x="7001104" y="5434686"/>
            <a:ext cx="4641952" cy="391617"/>
          </a:xfrm>
          <a:prstGeom prst="roundRect">
            <a:avLst>
              <a:gd name="adj" fmla="val 16345"/>
            </a:avLst>
          </a:prstGeom>
          <a:solidFill>
            <a:srgbClr val="F6F8F8"/>
          </a:solidFill>
          <a:ln/>
        </p:spPr>
      </p:sp>
      <p:sp>
        <p:nvSpPr>
          <p:cNvPr id="39" name="Text 37"/>
          <p:cNvSpPr txBox="1"/>
          <p:nvPr/>
        </p:nvSpPr>
        <p:spPr>
          <a:xfrm>
            <a:off x="7156552" y="5507838"/>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coeliacus (sölyakus): </a:t>
            </a:r>
            <a:r>
              <a:rPr lang="en-US" sz="1300" dirty="0">
                <a:solidFill>
                  <a:srgbClr val="1F2937"/>
                </a:solidFill>
                <a:latin typeface="Calibri" pitchFamily="34" charset="0"/>
                <a:ea typeface="Calibri" pitchFamily="34" charset="-122"/>
                <a:cs typeface="Calibri" pitchFamily="34" charset="-120"/>
              </a:rPr>
              <a:t>Karın boşluğu ile ilgili</a:t>
            </a:r>
            <a:endParaRPr lang="en-US" sz="1300" dirty="0"/>
          </a:p>
        </p:txBody>
      </p:sp>
      <p:sp>
        <p:nvSpPr>
          <p:cNvPr id="40" name="Shape 38"/>
          <p:cNvSpPr/>
          <p:nvPr/>
        </p:nvSpPr>
        <p:spPr>
          <a:xfrm>
            <a:off x="7001104" y="5917743"/>
            <a:ext cx="4641952" cy="391617"/>
          </a:xfrm>
          <a:prstGeom prst="roundRect">
            <a:avLst>
              <a:gd name="adj" fmla="val 16345"/>
            </a:avLst>
          </a:prstGeom>
          <a:solidFill>
            <a:srgbClr val="F6F8F8"/>
          </a:solidFill>
          <a:ln/>
        </p:spPr>
      </p:sp>
      <p:sp>
        <p:nvSpPr>
          <p:cNvPr id="41" name="Text 39"/>
          <p:cNvSpPr txBox="1"/>
          <p:nvPr/>
        </p:nvSpPr>
        <p:spPr>
          <a:xfrm>
            <a:off x="7156552" y="5990895"/>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cytologia (sitoloji): </a:t>
            </a:r>
            <a:r>
              <a:rPr lang="en-US" sz="1300" dirty="0">
                <a:solidFill>
                  <a:srgbClr val="1F2937"/>
                </a:solidFill>
                <a:latin typeface="Calibri" pitchFamily="34" charset="0"/>
                <a:ea typeface="Calibri" pitchFamily="34" charset="-122"/>
                <a:cs typeface="Calibri" pitchFamily="34" charset="-120"/>
              </a:rPr>
              <a:t>Hücre bilimi</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505001"/>
            <a:ext cx="5410048" cy="451866"/>
          </a:xfrm>
          <a:prstGeom prst="roundRect">
            <a:avLst>
              <a:gd name="adj" fmla="val 14165"/>
            </a:avLst>
          </a:prstGeom>
          <a:solidFill>
            <a:srgbClr val="D7EDE9"/>
          </a:solidFill>
          <a:ln/>
        </p:spPr>
      </p:sp>
      <p:sp>
        <p:nvSpPr>
          <p:cNvPr id="7" name="Text 5"/>
          <p:cNvSpPr txBox="1"/>
          <p:nvPr/>
        </p:nvSpPr>
        <p:spPr>
          <a:xfrm>
            <a:off x="704088" y="1578153"/>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‘‘ae’’ harfleri ‘‘e’’ okunur.</a:t>
            </a:r>
            <a:endParaRPr lang="en-US" sz="1500" dirty="0"/>
          </a:p>
        </p:txBody>
      </p:sp>
      <p:sp>
        <p:nvSpPr>
          <p:cNvPr id="8" name="Shape 6"/>
          <p:cNvSpPr/>
          <p:nvPr/>
        </p:nvSpPr>
        <p:spPr>
          <a:xfrm>
            <a:off x="1316736" y="2048307"/>
            <a:ext cx="4641952" cy="421742"/>
          </a:xfrm>
          <a:prstGeom prst="roundRect">
            <a:avLst>
              <a:gd name="adj" fmla="val 15177"/>
            </a:avLst>
          </a:prstGeom>
          <a:solidFill>
            <a:srgbClr val="F6F8F8"/>
          </a:solidFill>
          <a:ln/>
        </p:spPr>
      </p:sp>
      <p:sp>
        <p:nvSpPr>
          <p:cNvPr id="9" name="Text 7"/>
          <p:cNvSpPr txBox="1"/>
          <p:nvPr/>
        </p:nvSpPr>
        <p:spPr>
          <a:xfrm>
            <a:off x="1472184" y="2121459"/>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arteriae (arterye): </a:t>
            </a:r>
            <a:r>
              <a:rPr lang="en-US" sz="1400" dirty="0">
                <a:solidFill>
                  <a:srgbClr val="1F2937"/>
                </a:solidFill>
                <a:latin typeface="Calibri" pitchFamily="34" charset="0"/>
                <a:ea typeface="Calibri" pitchFamily="34" charset="-122"/>
                <a:cs typeface="Calibri" pitchFamily="34" charset="-120"/>
              </a:rPr>
              <a:t>Atardamarlar</a:t>
            </a:r>
            <a:endParaRPr lang="en-US" sz="1400" dirty="0"/>
          </a:p>
        </p:txBody>
      </p:sp>
      <p:sp>
        <p:nvSpPr>
          <p:cNvPr id="10" name="Shape 8"/>
          <p:cNvSpPr/>
          <p:nvPr/>
        </p:nvSpPr>
        <p:spPr>
          <a:xfrm>
            <a:off x="1316736" y="2561488"/>
            <a:ext cx="4641952" cy="421742"/>
          </a:xfrm>
          <a:prstGeom prst="roundRect">
            <a:avLst>
              <a:gd name="adj" fmla="val 15177"/>
            </a:avLst>
          </a:prstGeom>
          <a:solidFill>
            <a:srgbClr val="F6F8F8"/>
          </a:solidFill>
          <a:ln/>
        </p:spPr>
      </p:sp>
      <p:sp>
        <p:nvSpPr>
          <p:cNvPr id="11" name="Text 9"/>
          <p:cNvSpPr txBox="1"/>
          <p:nvPr/>
        </p:nvSpPr>
        <p:spPr>
          <a:xfrm>
            <a:off x="1472184" y="2634640"/>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aesthetica (estetik): </a:t>
            </a:r>
            <a:r>
              <a:rPr lang="en-US" sz="1400" dirty="0">
                <a:solidFill>
                  <a:srgbClr val="1F2937"/>
                </a:solidFill>
                <a:latin typeface="Calibri" pitchFamily="34" charset="0"/>
                <a:ea typeface="Calibri" pitchFamily="34" charset="-122"/>
                <a:cs typeface="Calibri" pitchFamily="34" charset="-120"/>
              </a:rPr>
              <a:t>Güzellik, estetik</a:t>
            </a:r>
            <a:endParaRPr lang="en-US" sz="1400" dirty="0"/>
          </a:p>
        </p:txBody>
      </p:sp>
      <p:sp>
        <p:nvSpPr>
          <p:cNvPr id="12" name="Shape 10"/>
          <p:cNvSpPr/>
          <p:nvPr/>
        </p:nvSpPr>
        <p:spPr>
          <a:xfrm>
            <a:off x="1316736" y="3074670"/>
            <a:ext cx="4641952" cy="421742"/>
          </a:xfrm>
          <a:prstGeom prst="roundRect">
            <a:avLst>
              <a:gd name="adj" fmla="val 15177"/>
            </a:avLst>
          </a:prstGeom>
          <a:solidFill>
            <a:srgbClr val="F6F8F8"/>
          </a:solidFill>
          <a:ln/>
        </p:spPr>
      </p:sp>
      <p:sp>
        <p:nvSpPr>
          <p:cNvPr id="13" name="Text 11"/>
          <p:cNvSpPr txBox="1"/>
          <p:nvPr/>
        </p:nvSpPr>
        <p:spPr>
          <a:xfrm>
            <a:off x="1472184" y="3147822"/>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costae (köste): </a:t>
            </a:r>
            <a:r>
              <a:rPr lang="en-US" sz="1400" dirty="0">
                <a:solidFill>
                  <a:srgbClr val="1F2937"/>
                </a:solidFill>
                <a:latin typeface="Calibri" pitchFamily="34" charset="0"/>
                <a:ea typeface="Calibri" pitchFamily="34" charset="-122"/>
                <a:cs typeface="Calibri" pitchFamily="34" charset="-120"/>
              </a:rPr>
              <a:t>Kaburgalar</a:t>
            </a:r>
            <a:endParaRPr lang="en-US" sz="1400" dirty="0"/>
          </a:p>
        </p:txBody>
      </p:sp>
      <p:sp>
        <p:nvSpPr>
          <p:cNvPr id="14" name="Shape 12"/>
          <p:cNvSpPr/>
          <p:nvPr/>
        </p:nvSpPr>
        <p:spPr>
          <a:xfrm>
            <a:off x="1316736" y="3587852"/>
            <a:ext cx="4641952" cy="421742"/>
          </a:xfrm>
          <a:prstGeom prst="roundRect">
            <a:avLst>
              <a:gd name="adj" fmla="val 15177"/>
            </a:avLst>
          </a:prstGeom>
          <a:solidFill>
            <a:srgbClr val="F6F8F8"/>
          </a:solidFill>
          <a:ln/>
        </p:spPr>
      </p:sp>
      <p:sp>
        <p:nvSpPr>
          <p:cNvPr id="15" name="Text 13"/>
          <p:cNvSpPr txBox="1"/>
          <p:nvPr/>
        </p:nvSpPr>
        <p:spPr>
          <a:xfrm>
            <a:off x="1472184" y="3661004"/>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caecum (sekum): </a:t>
            </a:r>
            <a:r>
              <a:rPr lang="en-US" sz="1400" dirty="0">
                <a:solidFill>
                  <a:srgbClr val="1F2937"/>
                </a:solidFill>
                <a:latin typeface="Calibri" pitchFamily="34" charset="0"/>
                <a:ea typeface="Calibri" pitchFamily="34" charset="-122"/>
                <a:cs typeface="Calibri" pitchFamily="34" charset="-120"/>
              </a:rPr>
              <a:t>Kör bağırsak</a:t>
            </a:r>
            <a:endParaRPr lang="en-US" sz="1400" dirty="0"/>
          </a:p>
        </p:txBody>
      </p:sp>
      <p:sp>
        <p:nvSpPr>
          <p:cNvPr id="16" name="Shape 14"/>
          <p:cNvSpPr/>
          <p:nvPr/>
        </p:nvSpPr>
        <p:spPr>
          <a:xfrm>
            <a:off x="548640" y="4101033"/>
            <a:ext cx="5410048" cy="451866"/>
          </a:xfrm>
          <a:prstGeom prst="roundRect">
            <a:avLst>
              <a:gd name="adj" fmla="val 14165"/>
            </a:avLst>
          </a:prstGeom>
          <a:solidFill>
            <a:srgbClr val="D7EDE9"/>
          </a:solidFill>
          <a:ln/>
        </p:spPr>
      </p:sp>
      <p:sp>
        <p:nvSpPr>
          <p:cNvPr id="17" name="Text 15"/>
          <p:cNvSpPr txBox="1"/>
          <p:nvPr/>
        </p:nvSpPr>
        <p:spPr>
          <a:xfrm>
            <a:off x="704088" y="4174185"/>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‘‘oe’’ harfleri ‘‘ö’’ okunur.</a:t>
            </a:r>
            <a:endParaRPr lang="en-US" sz="1500" dirty="0"/>
          </a:p>
        </p:txBody>
      </p:sp>
      <p:sp>
        <p:nvSpPr>
          <p:cNvPr id="18" name="Shape 16"/>
          <p:cNvSpPr/>
          <p:nvPr/>
        </p:nvSpPr>
        <p:spPr>
          <a:xfrm>
            <a:off x="1316736" y="4644339"/>
            <a:ext cx="4641952" cy="421742"/>
          </a:xfrm>
          <a:prstGeom prst="roundRect">
            <a:avLst>
              <a:gd name="adj" fmla="val 15177"/>
            </a:avLst>
          </a:prstGeom>
          <a:solidFill>
            <a:srgbClr val="F6F8F8"/>
          </a:solidFill>
          <a:ln/>
        </p:spPr>
      </p:sp>
      <p:sp>
        <p:nvSpPr>
          <p:cNvPr id="19" name="Text 17"/>
          <p:cNvSpPr txBox="1"/>
          <p:nvPr/>
        </p:nvSpPr>
        <p:spPr>
          <a:xfrm>
            <a:off x="1472184" y="4717491"/>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oesophagus (özofagus): </a:t>
            </a:r>
            <a:r>
              <a:rPr lang="en-US" sz="1400" dirty="0">
                <a:solidFill>
                  <a:srgbClr val="1F2937"/>
                </a:solidFill>
                <a:latin typeface="Calibri" pitchFamily="34" charset="0"/>
                <a:ea typeface="Calibri" pitchFamily="34" charset="-122"/>
                <a:cs typeface="Calibri" pitchFamily="34" charset="-120"/>
              </a:rPr>
              <a:t>Yemek borusu</a:t>
            </a:r>
            <a:endParaRPr lang="en-US" sz="1400" dirty="0"/>
          </a:p>
        </p:txBody>
      </p:sp>
      <p:sp>
        <p:nvSpPr>
          <p:cNvPr id="20" name="Shape 18"/>
          <p:cNvSpPr/>
          <p:nvPr/>
        </p:nvSpPr>
        <p:spPr>
          <a:xfrm>
            <a:off x="1316736" y="5157521"/>
            <a:ext cx="4641952" cy="421742"/>
          </a:xfrm>
          <a:prstGeom prst="roundRect">
            <a:avLst>
              <a:gd name="adj" fmla="val 15177"/>
            </a:avLst>
          </a:prstGeom>
          <a:solidFill>
            <a:srgbClr val="F6F8F8"/>
          </a:solidFill>
          <a:ln/>
        </p:spPr>
      </p:sp>
      <p:sp>
        <p:nvSpPr>
          <p:cNvPr id="21" name="Text 19"/>
          <p:cNvSpPr txBox="1"/>
          <p:nvPr/>
        </p:nvSpPr>
        <p:spPr>
          <a:xfrm>
            <a:off x="1472184" y="5230673"/>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oedema (ödem): </a:t>
            </a:r>
            <a:r>
              <a:rPr lang="en-US" sz="1400" dirty="0">
                <a:solidFill>
                  <a:srgbClr val="1F2937"/>
                </a:solidFill>
                <a:latin typeface="Calibri" pitchFamily="34" charset="0"/>
                <a:ea typeface="Calibri" pitchFamily="34" charset="-122"/>
                <a:cs typeface="Calibri" pitchFamily="34" charset="-120"/>
              </a:rPr>
              <a:t>Sıvı toplanması</a:t>
            </a:r>
            <a:endParaRPr lang="en-US" sz="1400" dirty="0"/>
          </a:p>
        </p:txBody>
      </p:sp>
      <p:sp>
        <p:nvSpPr>
          <p:cNvPr id="22" name="Shape 20"/>
          <p:cNvSpPr/>
          <p:nvPr/>
        </p:nvSpPr>
        <p:spPr>
          <a:xfrm>
            <a:off x="1316736" y="5670702"/>
            <a:ext cx="4641952" cy="638658"/>
          </a:xfrm>
          <a:prstGeom prst="roundRect">
            <a:avLst>
              <a:gd name="adj" fmla="val 10022"/>
            </a:avLst>
          </a:prstGeom>
          <a:solidFill>
            <a:srgbClr val="F6F8F8"/>
          </a:solidFill>
          <a:ln/>
        </p:spPr>
      </p:sp>
      <p:sp>
        <p:nvSpPr>
          <p:cNvPr id="23" name="Text 21"/>
          <p:cNvSpPr txBox="1"/>
          <p:nvPr/>
        </p:nvSpPr>
        <p:spPr>
          <a:xfrm>
            <a:off x="1472184" y="5743854"/>
            <a:ext cx="4331056"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oestrogen (östrojen): </a:t>
            </a:r>
            <a:r>
              <a:rPr lang="en-US" sz="1400" dirty="0">
                <a:solidFill>
                  <a:srgbClr val="1F2937"/>
                </a:solidFill>
                <a:latin typeface="Calibri" pitchFamily="34" charset="0"/>
                <a:ea typeface="Calibri" pitchFamily="34" charset="-122"/>
                <a:cs typeface="Calibri" pitchFamily="34" charset="-120"/>
              </a:rPr>
              <a:t>Yumurtalıklardan salgılanan hormon</a:t>
            </a:r>
            <a:endParaRPr lang="en-US" sz="1400" dirty="0"/>
          </a:p>
        </p:txBody>
      </p:sp>
      <p:sp>
        <p:nvSpPr>
          <p:cNvPr id="24" name="Shape 22"/>
          <p:cNvSpPr/>
          <p:nvPr/>
        </p:nvSpPr>
        <p:spPr>
          <a:xfrm>
            <a:off x="6233008" y="1505001"/>
            <a:ext cx="5410048" cy="451866"/>
          </a:xfrm>
          <a:prstGeom prst="roundRect">
            <a:avLst>
              <a:gd name="adj" fmla="val 14165"/>
            </a:avLst>
          </a:prstGeom>
          <a:solidFill>
            <a:srgbClr val="D7EDE9"/>
          </a:solidFill>
          <a:ln/>
        </p:spPr>
      </p:sp>
      <p:sp>
        <p:nvSpPr>
          <p:cNvPr id="25" name="Text 23"/>
          <p:cNvSpPr txBox="1"/>
          <p:nvPr/>
        </p:nvSpPr>
        <p:spPr>
          <a:xfrm>
            <a:off x="6388456" y="1578153"/>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‘‘eu’’ harfleri ‘‘ö’’ okunur.</a:t>
            </a:r>
            <a:endParaRPr lang="en-US" sz="1500" dirty="0"/>
          </a:p>
        </p:txBody>
      </p:sp>
      <p:sp>
        <p:nvSpPr>
          <p:cNvPr id="26" name="Shape 24"/>
          <p:cNvSpPr/>
          <p:nvPr/>
        </p:nvSpPr>
        <p:spPr>
          <a:xfrm>
            <a:off x="7001104" y="2048307"/>
            <a:ext cx="4641952" cy="421742"/>
          </a:xfrm>
          <a:prstGeom prst="roundRect">
            <a:avLst>
              <a:gd name="adj" fmla="val 15177"/>
            </a:avLst>
          </a:prstGeom>
          <a:solidFill>
            <a:srgbClr val="F6F8F8"/>
          </a:solidFill>
          <a:ln/>
        </p:spPr>
      </p:sp>
      <p:sp>
        <p:nvSpPr>
          <p:cNvPr id="27" name="Text 25"/>
          <p:cNvSpPr txBox="1"/>
          <p:nvPr/>
        </p:nvSpPr>
        <p:spPr>
          <a:xfrm>
            <a:off x="7156552" y="2121459"/>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leucocytus (lökosit): </a:t>
            </a:r>
            <a:r>
              <a:rPr lang="en-US" sz="1400" dirty="0">
                <a:solidFill>
                  <a:srgbClr val="1F2937"/>
                </a:solidFill>
                <a:latin typeface="Calibri" pitchFamily="34" charset="0"/>
                <a:ea typeface="Calibri" pitchFamily="34" charset="-122"/>
                <a:cs typeface="Calibri" pitchFamily="34" charset="-120"/>
              </a:rPr>
              <a:t>Akyuvar</a:t>
            </a:r>
            <a:endParaRPr lang="en-US" sz="1400" dirty="0"/>
          </a:p>
        </p:txBody>
      </p:sp>
      <p:sp>
        <p:nvSpPr>
          <p:cNvPr id="28" name="Shape 26"/>
          <p:cNvSpPr/>
          <p:nvPr/>
        </p:nvSpPr>
        <p:spPr>
          <a:xfrm>
            <a:off x="7001104" y="2561488"/>
            <a:ext cx="4641952" cy="421742"/>
          </a:xfrm>
          <a:prstGeom prst="roundRect">
            <a:avLst>
              <a:gd name="adj" fmla="val 15177"/>
            </a:avLst>
          </a:prstGeom>
          <a:solidFill>
            <a:srgbClr val="F6F8F8"/>
          </a:solidFill>
          <a:ln/>
        </p:spPr>
      </p:sp>
      <p:sp>
        <p:nvSpPr>
          <p:cNvPr id="29" name="Text 27"/>
          <p:cNvSpPr txBox="1"/>
          <p:nvPr/>
        </p:nvSpPr>
        <p:spPr>
          <a:xfrm>
            <a:off x="7156552" y="2634640"/>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eupnea (öpne): </a:t>
            </a:r>
            <a:r>
              <a:rPr lang="en-US" sz="1400" dirty="0">
                <a:solidFill>
                  <a:srgbClr val="1F2937"/>
                </a:solidFill>
                <a:latin typeface="Calibri" pitchFamily="34" charset="0"/>
                <a:ea typeface="Calibri" pitchFamily="34" charset="-122"/>
                <a:cs typeface="Calibri" pitchFamily="34" charset="-120"/>
              </a:rPr>
              <a:t>Dinlenme durumunda yapılan solunum</a:t>
            </a:r>
            <a:endParaRPr lang="en-US" sz="1400" dirty="0"/>
          </a:p>
        </p:txBody>
      </p:sp>
      <p:sp>
        <p:nvSpPr>
          <p:cNvPr id="30" name="Shape 28"/>
          <p:cNvSpPr/>
          <p:nvPr/>
        </p:nvSpPr>
        <p:spPr>
          <a:xfrm>
            <a:off x="7001104" y="3074670"/>
            <a:ext cx="4641952" cy="855574"/>
          </a:xfrm>
          <a:prstGeom prst="roundRect">
            <a:avLst>
              <a:gd name="adj" fmla="val 7481"/>
            </a:avLst>
          </a:prstGeom>
          <a:solidFill>
            <a:srgbClr val="F6F8F8"/>
          </a:solidFill>
          <a:ln/>
        </p:spPr>
      </p:sp>
      <p:sp>
        <p:nvSpPr>
          <p:cNvPr id="31" name="Text 29"/>
          <p:cNvSpPr txBox="1"/>
          <p:nvPr/>
        </p:nvSpPr>
        <p:spPr>
          <a:xfrm>
            <a:off x="7156552" y="3147822"/>
            <a:ext cx="4331056" cy="70927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euthanasia (ötenazi): </a:t>
            </a:r>
            <a:r>
              <a:rPr lang="en-US" sz="1400" dirty="0">
                <a:solidFill>
                  <a:srgbClr val="1F2937"/>
                </a:solidFill>
                <a:latin typeface="Calibri" pitchFamily="34" charset="0"/>
                <a:ea typeface="Calibri" pitchFamily="34" charset="-122"/>
                <a:cs typeface="Calibri" pitchFamily="34" charset="-120"/>
              </a:rPr>
              <a:t>Tedavi olmaksızın hastalarda, onu çektiği acılardan kurtarmak amacıyla yaşamın sonlandırılması, iyi ölüm</a:t>
            </a:r>
            <a:endParaRPr lang="en-US" sz="1400" dirty="0"/>
          </a:p>
        </p:txBody>
      </p:sp>
      <p:sp>
        <p:nvSpPr>
          <p:cNvPr id="32" name="Shape 30"/>
          <p:cNvSpPr/>
          <p:nvPr/>
        </p:nvSpPr>
        <p:spPr>
          <a:xfrm>
            <a:off x="7001104" y="4021684"/>
            <a:ext cx="4641952" cy="638658"/>
          </a:xfrm>
          <a:prstGeom prst="roundRect">
            <a:avLst>
              <a:gd name="adj" fmla="val 10022"/>
            </a:avLst>
          </a:prstGeom>
          <a:solidFill>
            <a:srgbClr val="F6F8F8"/>
          </a:solidFill>
          <a:ln/>
        </p:spPr>
      </p:sp>
      <p:sp>
        <p:nvSpPr>
          <p:cNvPr id="33" name="Text 31"/>
          <p:cNvSpPr txBox="1"/>
          <p:nvPr/>
        </p:nvSpPr>
        <p:spPr>
          <a:xfrm>
            <a:off x="7156552" y="4094836"/>
            <a:ext cx="4331056"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NOT: </a:t>
            </a:r>
            <a:r>
              <a:rPr lang="en-US" sz="1400" dirty="0">
                <a:solidFill>
                  <a:srgbClr val="1F2937"/>
                </a:solidFill>
                <a:latin typeface="Calibri" pitchFamily="34" charset="0"/>
                <a:ea typeface="Calibri" pitchFamily="34" charset="-122"/>
                <a:cs typeface="Calibri" pitchFamily="34" charset="-120"/>
              </a:rPr>
              <a:t>‘‘eu’’ harfleri bazı terimlerde ‘‘ev’’ şeklinde okunur.</a:t>
            </a:r>
            <a:endParaRPr lang="en-US" sz="1400" dirty="0"/>
          </a:p>
        </p:txBody>
      </p:sp>
      <p:sp>
        <p:nvSpPr>
          <p:cNvPr id="34" name="Shape 32"/>
          <p:cNvSpPr/>
          <p:nvPr/>
        </p:nvSpPr>
        <p:spPr>
          <a:xfrm>
            <a:off x="7001104" y="4751781"/>
            <a:ext cx="4641952" cy="421742"/>
          </a:xfrm>
          <a:prstGeom prst="roundRect">
            <a:avLst>
              <a:gd name="adj" fmla="val 15177"/>
            </a:avLst>
          </a:prstGeom>
          <a:solidFill>
            <a:srgbClr val="F6F8F8"/>
          </a:solidFill>
          <a:ln/>
        </p:spPr>
      </p:sp>
      <p:sp>
        <p:nvSpPr>
          <p:cNvPr id="35" name="Text 33"/>
          <p:cNvSpPr txBox="1"/>
          <p:nvPr/>
        </p:nvSpPr>
        <p:spPr>
          <a:xfrm>
            <a:off x="7156552" y="4824933"/>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pleura (plevra): </a:t>
            </a:r>
            <a:r>
              <a:rPr lang="en-US" sz="1400" dirty="0">
                <a:solidFill>
                  <a:srgbClr val="1F2937"/>
                </a:solidFill>
                <a:latin typeface="Calibri" pitchFamily="34" charset="0"/>
                <a:ea typeface="Calibri" pitchFamily="34" charset="-122"/>
                <a:cs typeface="Calibri" pitchFamily="34" charset="-120"/>
              </a:rPr>
              <a:t>Göğüs zarı</a:t>
            </a:r>
            <a:endParaRPr lang="en-US" sz="1400" dirty="0"/>
          </a:p>
        </p:txBody>
      </p:sp>
      <p:sp>
        <p:nvSpPr>
          <p:cNvPr id="36" name="Shape 34"/>
          <p:cNvSpPr/>
          <p:nvPr/>
        </p:nvSpPr>
        <p:spPr>
          <a:xfrm>
            <a:off x="7001104" y="5264963"/>
            <a:ext cx="4641952" cy="638658"/>
          </a:xfrm>
          <a:prstGeom prst="roundRect">
            <a:avLst>
              <a:gd name="adj" fmla="val 10022"/>
            </a:avLst>
          </a:prstGeom>
          <a:solidFill>
            <a:srgbClr val="F6F8F8"/>
          </a:solidFill>
          <a:ln/>
        </p:spPr>
      </p:sp>
      <p:sp>
        <p:nvSpPr>
          <p:cNvPr id="37" name="Text 35"/>
          <p:cNvSpPr txBox="1"/>
          <p:nvPr/>
        </p:nvSpPr>
        <p:spPr>
          <a:xfrm>
            <a:off x="7156552" y="5338115"/>
            <a:ext cx="4331056"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aneurysma (anevrizma): </a:t>
            </a:r>
            <a:r>
              <a:rPr lang="en-US" sz="1400" dirty="0">
                <a:solidFill>
                  <a:srgbClr val="1F2937"/>
                </a:solidFill>
                <a:latin typeface="Calibri" pitchFamily="34" charset="0"/>
                <a:ea typeface="Calibri" pitchFamily="34" charset="-122"/>
                <a:cs typeface="Calibri" pitchFamily="34" charset="-120"/>
              </a:rPr>
              <a:t>Damar duvarlarında oluşan torbalaşma, genişleme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551280"/>
            <a:ext cx="5410048" cy="391617"/>
          </a:xfrm>
          <a:prstGeom prst="roundRect">
            <a:avLst>
              <a:gd name="adj" fmla="val 16345"/>
            </a:avLst>
          </a:prstGeom>
          <a:solidFill>
            <a:srgbClr val="D7EDE9"/>
          </a:solidFill>
          <a:ln/>
        </p:spPr>
      </p:sp>
      <p:sp>
        <p:nvSpPr>
          <p:cNvPr id="7" name="Text 5"/>
          <p:cNvSpPr txBox="1"/>
          <p:nvPr/>
        </p:nvSpPr>
        <p:spPr>
          <a:xfrm>
            <a:off x="704088" y="1624432"/>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5- ‘‘y’’ harfi iki sessiz ortasında ise ‘‘i’’ okunur.</a:t>
            </a:r>
            <a:endParaRPr lang="en-US" sz="1300" dirty="0"/>
          </a:p>
        </p:txBody>
      </p:sp>
      <p:sp>
        <p:nvSpPr>
          <p:cNvPr id="8" name="Shape 6"/>
          <p:cNvSpPr/>
          <p:nvPr/>
        </p:nvSpPr>
        <p:spPr>
          <a:xfrm>
            <a:off x="1316736" y="2034337"/>
            <a:ext cx="4641952" cy="368808"/>
          </a:xfrm>
          <a:prstGeom prst="roundRect">
            <a:avLst>
              <a:gd name="adj" fmla="val 17355"/>
            </a:avLst>
          </a:prstGeom>
          <a:solidFill>
            <a:srgbClr val="F6F8F8"/>
          </a:solidFill>
          <a:ln/>
        </p:spPr>
      </p:sp>
      <p:sp>
        <p:nvSpPr>
          <p:cNvPr id="9" name="Text 7"/>
          <p:cNvSpPr txBox="1"/>
          <p:nvPr/>
        </p:nvSpPr>
        <p:spPr>
          <a:xfrm>
            <a:off x="1472184" y="2107489"/>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os zygomaticum (os zigomatikum): </a:t>
            </a:r>
            <a:r>
              <a:rPr lang="en-US" sz="1200" dirty="0">
                <a:solidFill>
                  <a:srgbClr val="1F2937"/>
                </a:solidFill>
                <a:latin typeface="Calibri" pitchFamily="34" charset="0"/>
                <a:ea typeface="Calibri" pitchFamily="34" charset="-122"/>
                <a:cs typeface="Calibri" pitchFamily="34" charset="-120"/>
              </a:rPr>
              <a:t>Elmacık kemiği</a:t>
            </a:r>
            <a:endParaRPr lang="en-US" sz="1200" dirty="0"/>
          </a:p>
        </p:txBody>
      </p:sp>
      <p:sp>
        <p:nvSpPr>
          <p:cNvPr id="10" name="Shape 8"/>
          <p:cNvSpPr/>
          <p:nvPr/>
        </p:nvSpPr>
        <p:spPr>
          <a:xfrm>
            <a:off x="1316736" y="2494585"/>
            <a:ext cx="4641952" cy="368808"/>
          </a:xfrm>
          <a:prstGeom prst="roundRect">
            <a:avLst>
              <a:gd name="adj" fmla="val 17355"/>
            </a:avLst>
          </a:prstGeom>
          <a:solidFill>
            <a:srgbClr val="F6F8F8"/>
          </a:solidFill>
          <a:ln/>
        </p:spPr>
      </p:sp>
      <p:sp>
        <p:nvSpPr>
          <p:cNvPr id="11" name="Text 9"/>
          <p:cNvSpPr txBox="1"/>
          <p:nvPr/>
        </p:nvSpPr>
        <p:spPr>
          <a:xfrm>
            <a:off x="1472184" y="2567737"/>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thymus (timus): </a:t>
            </a:r>
            <a:r>
              <a:rPr lang="en-US" sz="1200" dirty="0">
                <a:solidFill>
                  <a:srgbClr val="1F2937"/>
                </a:solidFill>
                <a:latin typeface="Calibri" pitchFamily="34" charset="0"/>
                <a:ea typeface="Calibri" pitchFamily="34" charset="-122"/>
                <a:cs typeface="Calibri" pitchFamily="34" charset="-120"/>
              </a:rPr>
              <a:t>Göğüs boşluğunda bulunan bez</a:t>
            </a:r>
            <a:endParaRPr lang="en-US" sz="1200" dirty="0"/>
          </a:p>
        </p:txBody>
      </p:sp>
      <p:sp>
        <p:nvSpPr>
          <p:cNvPr id="12" name="Shape 10"/>
          <p:cNvSpPr/>
          <p:nvPr/>
        </p:nvSpPr>
        <p:spPr>
          <a:xfrm>
            <a:off x="1316736" y="2954833"/>
            <a:ext cx="4641952" cy="368808"/>
          </a:xfrm>
          <a:prstGeom prst="roundRect">
            <a:avLst>
              <a:gd name="adj" fmla="val 17355"/>
            </a:avLst>
          </a:prstGeom>
          <a:solidFill>
            <a:srgbClr val="F6F8F8"/>
          </a:solidFill>
          <a:ln/>
        </p:spPr>
      </p:sp>
      <p:sp>
        <p:nvSpPr>
          <p:cNvPr id="13" name="Text 11"/>
          <p:cNvSpPr txBox="1"/>
          <p:nvPr/>
        </p:nvSpPr>
        <p:spPr>
          <a:xfrm>
            <a:off x="1472184" y="3027985"/>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hypodermis (hipodermis): </a:t>
            </a:r>
            <a:r>
              <a:rPr lang="en-US" sz="1200" dirty="0">
                <a:solidFill>
                  <a:srgbClr val="1F2937"/>
                </a:solidFill>
                <a:latin typeface="Calibri" pitchFamily="34" charset="0"/>
                <a:ea typeface="Calibri" pitchFamily="34" charset="-122"/>
                <a:cs typeface="Calibri" pitchFamily="34" charset="-120"/>
              </a:rPr>
              <a:t>Deri altı</a:t>
            </a:r>
            <a:endParaRPr lang="en-US" sz="1200" dirty="0"/>
          </a:p>
        </p:txBody>
      </p:sp>
      <p:sp>
        <p:nvSpPr>
          <p:cNvPr id="14" name="Shape 12"/>
          <p:cNvSpPr/>
          <p:nvPr/>
        </p:nvSpPr>
        <p:spPr>
          <a:xfrm>
            <a:off x="1316736" y="3415081"/>
            <a:ext cx="4641952" cy="368808"/>
          </a:xfrm>
          <a:prstGeom prst="roundRect">
            <a:avLst>
              <a:gd name="adj" fmla="val 17355"/>
            </a:avLst>
          </a:prstGeom>
          <a:solidFill>
            <a:srgbClr val="F6F8F8"/>
          </a:solidFill>
          <a:ln/>
        </p:spPr>
      </p:sp>
      <p:sp>
        <p:nvSpPr>
          <p:cNvPr id="15" name="Text 13"/>
          <p:cNvSpPr txBox="1"/>
          <p:nvPr/>
        </p:nvSpPr>
        <p:spPr>
          <a:xfrm>
            <a:off x="1472184" y="3488233"/>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coccyx (koksiks): </a:t>
            </a:r>
            <a:r>
              <a:rPr lang="en-US" sz="1200" dirty="0">
                <a:solidFill>
                  <a:srgbClr val="1F2937"/>
                </a:solidFill>
                <a:latin typeface="Calibri" pitchFamily="34" charset="0"/>
                <a:ea typeface="Calibri" pitchFamily="34" charset="-122"/>
                <a:cs typeface="Calibri" pitchFamily="34" charset="-120"/>
              </a:rPr>
              <a:t>Kuyruk sokumu kemiği</a:t>
            </a:r>
            <a:endParaRPr lang="en-US" sz="1200" dirty="0"/>
          </a:p>
        </p:txBody>
      </p:sp>
      <p:sp>
        <p:nvSpPr>
          <p:cNvPr id="16" name="Shape 14"/>
          <p:cNvSpPr/>
          <p:nvPr/>
        </p:nvSpPr>
        <p:spPr>
          <a:xfrm>
            <a:off x="548640" y="3875329"/>
            <a:ext cx="5410048" cy="593039"/>
          </a:xfrm>
          <a:prstGeom prst="roundRect">
            <a:avLst>
              <a:gd name="adj" fmla="val 10793"/>
            </a:avLst>
          </a:prstGeom>
          <a:solidFill>
            <a:srgbClr val="D7EDE9"/>
          </a:solidFill>
          <a:ln/>
        </p:spPr>
      </p:sp>
      <p:sp>
        <p:nvSpPr>
          <p:cNvPr id="17" name="Text 15"/>
          <p:cNvSpPr txBox="1"/>
          <p:nvPr/>
        </p:nvSpPr>
        <p:spPr>
          <a:xfrm>
            <a:off x="704088" y="3948481"/>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6- ‘‘i’’ harfi ‘‘i’’ okunur, ancak ‘‘a, e, o, u’’ gibi harflerden önce gelirse ‘‘y’’ okunur</a:t>
            </a:r>
            <a:endParaRPr lang="en-US" sz="1300" dirty="0"/>
          </a:p>
        </p:txBody>
      </p:sp>
      <p:sp>
        <p:nvSpPr>
          <p:cNvPr id="18" name="Shape 16"/>
          <p:cNvSpPr/>
          <p:nvPr/>
        </p:nvSpPr>
        <p:spPr>
          <a:xfrm>
            <a:off x="1316736" y="4559808"/>
            <a:ext cx="4641952" cy="368808"/>
          </a:xfrm>
          <a:prstGeom prst="roundRect">
            <a:avLst>
              <a:gd name="adj" fmla="val 17355"/>
            </a:avLst>
          </a:prstGeom>
          <a:solidFill>
            <a:srgbClr val="F6F8F8"/>
          </a:solidFill>
          <a:ln/>
        </p:spPr>
      </p:sp>
      <p:sp>
        <p:nvSpPr>
          <p:cNvPr id="19" name="Text 17"/>
          <p:cNvSpPr txBox="1"/>
          <p:nvPr/>
        </p:nvSpPr>
        <p:spPr>
          <a:xfrm>
            <a:off x="1472184" y="4632960"/>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regio facialis (rejyo fasyalis): </a:t>
            </a:r>
            <a:r>
              <a:rPr lang="en-US" sz="1200" dirty="0">
                <a:solidFill>
                  <a:srgbClr val="1F2937"/>
                </a:solidFill>
                <a:latin typeface="Calibri" pitchFamily="34" charset="0"/>
                <a:ea typeface="Calibri" pitchFamily="34" charset="-122"/>
                <a:cs typeface="Calibri" pitchFamily="34" charset="-120"/>
              </a:rPr>
              <a:t>Yüz bölgesi</a:t>
            </a:r>
            <a:endParaRPr lang="en-US" sz="1200" dirty="0"/>
          </a:p>
        </p:txBody>
      </p:sp>
      <p:sp>
        <p:nvSpPr>
          <p:cNvPr id="20" name="Shape 18"/>
          <p:cNvSpPr/>
          <p:nvPr/>
        </p:nvSpPr>
        <p:spPr>
          <a:xfrm>
            <a:off x="1316736" y="5020056"/>
            <a:ext cx="4641952" cy="368808"/>
          </a:xfrm>
          <a:prstGeom prst="roundRect">
            <a:avLst>
              <a:gd name="adj" fmla="val 17355"/>
            </a:avLst>
          </a:prstGeom>
          <a:solidFill>
            <a:srgbClr val="F6F8F8"/>
          </a:solidFill>
          <a:ln/>
        </p:spPr>
      </p:sp>
      <p:sp>
        <p:nvSpPr>
          <p:cNvPr id="21" name="Text 19"/>
          <p:cNvSpPr txBox="1"/>
          <p:nvPr/>
        </p:nvSpPr>
        <p:spPr>
          <a:xfrm>
            <a:off x="1472184" y="5093208"/>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arteriola (arteryola): </a:t>
            </a:r>
            <a:r>
              <a:rPr lang="en-US" sz="1200" dirty="0">
                <a:solidFill>
                  <a:srgbClr val="1F2937"/>
                </a:solidFill>
                <a:latin typeface="Calibri" pitchFamily="34" charset="0"/>
                <a:ea typeface="Calibri" pitchFamily="34" charset="-122"/>
                <a:cs typeface="Calibri" pitchFamily="34" charset="-120"/>
              </a:rPr>
              <a:t>Küçük atardamar</a:t>
            </a:r>
            <a:endParaRPr lang="en-US" sz="1200" dirty="0"/>
          </a:p>
        </p:txBody>
      </p:sp>
      <p:sp>
        <p:nvSpPr>
          <p:cNvPr id="22" name="Shape 20"/>
          <p:cNvSpPr/>
          <p:nvPr/>
        </p:nvSpPr>
        <p:spPr>
          <a:xfrm>
            <a:off x="1316736" y="5480304"/>
            <a:ext cx="4641952" cy="368808"/>
          </a:xfrm>
          <a:prstGeom prst="roundRect">
            <a:avLst>
              <a:gd name="adj" fmla="val 17355"/>
            </a:avLst>
          </a:prstGeom>
          <a:solidFill>
            <a:srgbClr val="F6F8F8"/>
          </a:solidFill>
          <a:ln/>
        </p:spPr>
      </p:sp>
      <p:sp>
        <p:nvSpPr>
          <p:cNvPr id="23" name="Text 21"/>
          <p:cNvSpPr txBox="1"/>
          <p:nvPr/>
        </p:nvSpPr>
        <p:spPr>
          <a:xfrm>
            <a:off x="1472184" y="5553456"/>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vesica urinaria (vezika urinarya): </a:t>
            </a:r>
            <a:r>
              <a:rPr lang="en-US" sz="1200" dirty="0">
                <a:solidFill>
                  <a:srgbClr val="1F2937"/>
                </a:solidFill>
                <a:latin typeface="Calibri" pitchFamily="34" charset="0"/>
                <a:ea typeface="Calibri" pitchFamily="34" charset="-122"/>
                <a:cs typeface="Calibri" pitchFamily="34" charset="-120"/>
              </a:rPr>
              <a:t>Sidik torbası</a:t>
            </a:r>
            <a:endParaRPr lang="en-US" sz="1200" dirty="0"/>
          </a:p>
        </p:txBody>
      </p:sp>
      <p:sp>
        <p:nvSpPr>
          <p:cNvPr id="24" name="Shape 22"/>
          <p:cNvSpPr/>
          <p:nvPr/>
        </p:nvSpPr>
        <p:spPr>
          <a:xfrm>
            <a:off x="1316736" y="5940552"/>
            <a:ext cx="4641952" cy="368808"/>
          </a:xfrm>
          <a:prstGeom prst="roundRect">
            <a:avLst>
              <a:gd name="adj" fmla="val 17355"/>
            </a:avLst>
          </a:prstGeom>
          <a:solidFill>
            <a:srgbClr val="F6F8F8"/>
          </a:solidFill>
          <a:ln/>
        </p:spPr>
      </p:sp>
      <p:sp>
        <p:nvSpPr>
          <p:cNvPr id="25" name="Text 23"/>
          <p:cNvSpPr txBox="1"/>
          <p:nvPr/>
        </p:nvSpPr>
        <p:spPr>
          <a:xfrm>
            <a:off x="1472184" y="6013704"/>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os parietal (os payetal): </a:t>
            </a:r>
            <a:r>
              <a:rPr lang="en-US" sz="1200" dirty="0">
                <a:solidFill>
                  <a:srgbClr val="1F2937"/>
                </a:solidFill>
                <a:latin typeface="Calibri" pitchFamily="34" charset="0"/>
                <a:ea typeface="Calibri" pitchFamily="34" charset="-122"/>
                <a:cs typeface="Calibri" pitchFamily="34" charset="-120"/>
              </a:rPr>
              <a:t>Yan kafa kemiği (duvar kemik)</a:t>
            </a:r>
            <a:endParaRPr lang="en-US" sz="1200" dirty="0"/>
          </a:p>
        </p:txBody>
      </p:sp>
      <p:sp>
        <p:nvSpPr>
          <p:cNvPr id="26" name="Shape 24"/>
          <p:cNvSpPr/>
          <p:nvPr/>
        </p:nvSpPr>
        <p:spPr>
          <a:xfrm>
            <a:off x="6233008" y="1551280"/>
            <a:ext cx="5410048" cy="391617"/>
          </a:xfrm>
          <a:prstGeom prst="roundRect">
            <a:avLst>
              <a:gd name="adj" fmla="val 16345"/>
            </a:avLst>
          </a:prstGeom>
          <a:solidFill>
            <a:srgbClr val="D7EDE9"/>
          </a:solidFill>
          <a:ln/>
        </p:spPr>
      </p:sp>
      <p:sp>
        <p:nvSpPr>
          <p:cNvPr id="27" name="Text 25"/>
          <p:cNvSpPr txBox="1"/>
          <p:nvPr/>
        </p:nvSpPr>
        <p:spPr>
          <a:xfrm>
            <a:off x="6388456" y="1624432"/>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7- ‘‘j’’ harfi ünlü bir harfin önüne gelirse ‘‘y’’ okunur.</a:t>
            </a:r>
            <a:endParaRPr lang="en-US" sz="1300" dirty="0"/>
          </a:p>
        </p:txBody>
      </p:sp>
      <p:sp>
        <p:nvSpPr>
          <p:cNvPr id="28" name="Shape 26"/>
          <p:cNvSpPr/>
          <p:nvPr/>
        </p:nvSpPr>
        <p:spPr>
          <a:xfrm>
            <a:off x="7001104" y="2034337"/>
            <a:ext cx="4641952" cy="368808"/>
          </a:xfrm>
          <a:prstGeom prst="roundRect">
            <a:avLst>
              <a:gd name="adj" fmla="val 17355"/>
            </a:avLst>
          </a:prstGeom>
          <a:solidFill>
            <a:srgbClr val="F6F8F8"/>
          </a:solidFill>
          <a:ln/>
        </p:spPr>
      </p:sp>
      <p:sp>
        <p:nvSpPr>
          <p:cNvPr id="29" name="Text 27"/>
          <p:cNvSpPr txBox="1"/>
          <p:nvPr/>
        </p:nvSpPr>
        <p:spPr>
          <a:xfrm>
            <a:off x="7156552" y="2107489"/>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jejenum (yeyenum): </a:t>
            </a:r>
            <a:r>
              <a:rPr lang="en-US" sz="1200" dirty="0">
                <a:solidFill>
                  <a:srgbClr val="1F2937"/>
                </a:solidFill>
                <a:latin typeface="Calibri" pitchFamily="34" charset="0"/>
                <a:ea typeface="Calibri" pitchFamily="34" charset="-122"/>
                <a:cs typeface="Calibri" pitchFamily="34" charset="-120"/>
              </a:rPr>
              <a:t>Boş bağırsak</a:t>
            </a:r>
            <a:endParaRPr lang="en-US" sz="1200" dirty="0"/>
          </a:p>
        </p:txBody>
      </p:sp>
      <p:sp>
        <p:nvSpPr>
          <p:cNvPr id="30" name="Shape 28"/>
          <p:cNvSpPr/>
          <p:nvPr/>
        </p:nvSpPr>
        <p:spPr>
          <a:xfrm>
            <a:off x="7001104" y="2494585"/>
            <a:ext cx="4641952" cy="368808"/>
          </a:xfrm>
          <a:prstGeom prst="roundRect">
            <a:avLst>
              <a:gd name="adj" fmla="val 17355"/>
            </a:avLst>
          </a:prstGeom>
          <a:solidFill>
            <a:srgbClr val="F6F8F8"/>
          </a:solidFill>
          <a:ln/>
        </p:spPr>
      </p:sp>
      <p:sp>
        <p:nvSpPr>
          <p:cNvPr id="31" name="Text 29"/>
          <p:cNvSpPr txBox="1"/>
          <p:nvPr/>
        </p:nvSpPr>
        <p:spPr>
          <a:xfrm>
            <a:off x="7156552" y="2567737"/>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junctura synovialis (yunktura sinovyalis): </a:t>
            </a:r>
            <a:r>
              <a:rPr lang="en-US" sz="1200" dirty="0">
                <a:solidFill>
                  <a:srgbClr val="1F2937"/>
                </a:solidFill>
                <a:latin typeface="Calibri" pitchFamily="34" charset="0"/>
                <a:ea typeface="Calibri" pitchFamily="34" charset="-122"/>
                <a:cs typeface="Calibri" pitchFamily="34" charset="-120"/>
              </a:rPr>
              <a:t>Oynar eklem</a:t>
            </a:r>
            <a:endParaRPr lang="en-US" sz="1200" dirty="0"/>
          </a:p>
        </p:txBody>
      </p:sp>
      <p:sp>
        <p:nvSpPr>
          <p:cNvPr id="32" name="Shape 30"/>
          <p:cNvSpPr/>
          <p:nvPr/>
        </p:nvSpPr>
        <p:spPr>
          <a:xfrm>
            <a:off x="6233008" y="2954833"/>
            <a:ext cx="5410048" cy="391617"/>
          </a:xfrm>
          <a:prstGeom prst="roundRect">
            <a:avLst>
              <a:gd name="adj" fmla="val 16345"/>
            </a:avLst>
          </a:prstGeom>
          <a:solidFill>
            <a:srgbClr val="D7EDE9"/>
          </a:solidFill>
          <a:ln/>
        </p:spPr>
      </p:sp>
      <p:sp>
        <p:nvSpPr>
          <p:cNvPr id="33" name="Text 31"/>
          <p:cNvSpPr txBox="1"/>
          <p:nvPr/>
        </p:nvSpPr>
        <p:spPr>
          <a:xfrm>
            <a:off x="6388456" y="3027985"/>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8- ‘‘th’’ harfleri ‘‘t’’ okunur.</a:t>
            </a:r>
            <a:endParaRPr lang="en-US" sz="1300" dirty="0"/>
          </a:p>
        </p:txBody>
      </p:sp>
      <p:sp>
        <p:nvSpPr>
          <p:cNvPr id="34" name="Shape 32"/>
          <p:cNvSpPr/>
          <p:nvPr/>
        </p:nvSpPr>
        <p:spPr>
          <a:xfrm>
            <a:off x="7001104" y="3437890"/>
            <a:ext cx="4641952" cy="368808"/>
          </a:xfrm>
          <a:prstGeom prst="roundRect">
            <a:avLst>
              <a:gd name="adj" fmla="val 17355"/>
            </a:avLst>
          </a:prstGeom>
          <a:solidFill>
            <a:srgbClr val="F6F8F8"/>
          </a:solidFill>
          <a:ln/>
        </p:spPr>
      </p:sp>
      <p:sp>
        <p:nvSpPr>
          <p:cNvPr id="35" name="Text 33"/>
          <p:cNvSpPr txBox="1"/>
          <p:nvPr/>
        </p:nvSpPr>
        <p:spPr>
          <a:xfrm>
            <a:off x="7156552" y="3511042"/>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thorax (toraks): </a:t>
            </a:r>
            <a:r>
              <a:rPr lang="en-US" sz="1200" dirty="0">
                <a:solidFill>
                  <a:srgbClr val="1F2937"/>
                </a:solidFill>
                <a:latin typeface="Calibri" pitchFamily="34" charset="0"/>
                <a:ea typeface="Calibri" pitchFamily="34" charset="-122"/>
                <a:cs typeface="Calibri" pitchFamily="34" charset="-120"/>
              </a:rPr>
              <a:t>Göğüs, göğüs kafesi</a:t>
            </a:r>
            <a:endParaRPr lang="en-US" sz="1200" dirty="0"/>
          </a:p>
        </p:txBody>
      </p:sp>
      <p:sp>
        <p:nvSpPr>
          <p:cNvPr id="36" name="Shape 34"/>
          <p:cNvSpPr/>
          <p:nvPr/>
        </p:nvSpPr>
        <p:spPr>
          <a:xfrm>
            <a:off x="7001104" y="3898138"/>
            <a:ext cx="4641952" cy="368808"/>
          </a:xfrm>
          <a:prstGeom prst="roundRect">
            <a:avLst>
              <a:gd name="adj" fmla="val 17355"/>
            </a:avLst>
          </a:prstGeom>
          <a:solidFill>
            <a:srgbClr val="F6F8F8"/>
          </a:solidFill>
          <a:ln/>
        </p:spPr>
      </p:sp>
      <p:sp>
        <p:nvSpPr>
          <p:cNvPr id="37" name="Text 35"/>
          <p:cNvSpPr txBox="1"/>
          <p:nvPr/>
        </p:nvSpPr>
        <p:spPr>
          <a:xfrm>
            <a:off x="7156552" y="3971290"/>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urethra (uretra): </a:t>
            </a:r>
            <a:r>
              <a:rPr lang="en-US" sz="1200" dirty="0">
                <a:solidFill>
                  <a:srgbClr val="1F2937"/>
                </a:solidFill>
                <a:latin typeface="Calibri" pitchFamily="34" charset="0"/>
                <a:ea typeface="Calibri" pitchFamily="34" charset="-122"/>
                <a:cs typeface="Calibri" pitchFamily="34" charset="-120"/>
              </a:rPr>
              <a:t>İdrar yolu</a:t>
            </a:r>
            <a:endParaRPr lang="en-US" sz="1200" dirty="0"/>
          </a:p>
        </p:txBody>
      </p:sp>
      <p:sp>
        <p:nvSpPr>
          <p:cNvPr id="38" name="Shape 36"/>
          <p:cNvSpPr/>
          <p:nvPr/>
        </p:nvSpPr>
        <p:spPr>
          <a:xfrm>
            <a:off x="7001104" y="4358386"/>
            <a:ext cx="4641952" cy="554736"/>
          </a:xfrm>
          <a:prstGeom prst="roundRect">
            <a:avLst>
              <a:gd name="adj" fmla="val 11538"/>
            </a:avLst>
          </a:prstGeom>
          <a:solidFill>
            <a:srgbClr val="F6F8F8"/>
          </a:solidFill>
          <a:ln/>
        </p:spPr>
      </p:sp>
      <p:sp>
        <p:nvSpPr>
          <p:cNvPr id="39" name="Text 37"/>
          <p:cNvSpPr txBox="1"/>
          <p:nvPr/>
        </p:nvSpPr>
        <p:spPr>
          <a:xfrm>
            <a:off x="7156552" y="4431538"/>
            <a:ext cx="4331056" cy="408432"/>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thrombocyte (trombosit): </a:t>
            </a:r>
            <a:r>
              <a:rPr lang="en-US" sz="1200" dirty="0">
                <a:solidFill>
                  <a:srgbClr val="1F2937"/>
                </a:solidFill>
                <a:latin typeface="Calibri" pitchFamily="34" charset="0"/>
                <a:ea typeface="Calibri" pitchFamily="34" charset="-122"/>
                <a:cs typeface="Calibri" pitchFamily="34" charset="-120"/>
              </a:rPr>
              <a:t>Kanın pıhtılaşmasında görevli hücre, kan pulcuğu</a:t>
            </a:r>
            <a:endParaRPr lang="en-US" sz="1200" dirty="0"/>
          </a:p>
        </p:txBody>
      </p:sp>
      <p:sp>
        <p:nvSpPr>
          <p:cNvPr id="40" name="Shape 38"/>
          <p:cNvSpPr/>
          <p:nvPr/>
        </p:nvSpPr>
        <p:spPr>
          <a:xfrm>
            <a:off x="7001104" y="5004562"/>
            <a:ext cx="4641952" cy="368808"/>
          </a:xfrm>
          <a:prstGeom prst="roundRect">
            <a:avLst>
              <a:gd name="adj" fmla="val 17355"/>
            </a:avLst>
          </a:prstGeom>
          <a:solidFill>
            <a:srgbClr val="F6F8F8"/>
          </a:solidFill>
          <a:ln/>
        </p:spPr>
      </p:sp>
      <p:sp>
        <p:nvSpPr>
          <p:cNvPr id="41" name="Text 39"/>
          <p:cNvSpPr txBox="1"/>
          <p:nvPr/>
        </p:nvSpPr>
        <p:spPr>
          <a:xfrm>
            <a:off x="7156552" y="5077714"/>
            <a:ext cx="4331056" cy="222504"/>
          </a:xfrm>
          <a:prstGeom prst="rect">
            <a:avLst/>
          </a:prstGeom>
          <a:noFill/>
          <a:ln/>
        </p:spPr>
        <p:txBody>
          <a:bodyPr wrap="square" lIns="0" tIns="0" rIns="0" bIns="0" rtlCol="0" anchor="t"/>
          <a:lstStyle/>
          <a:p>
            <a:pPr marL="0" indent="0">
              <a:lnSpc>
                <a:spcPct val="105000"/>
              </a:lnSpc>
              <a:buNone/>
            </a:pPr>
            <a:r>
              <a:rPr lang="en-US" sz="1200" b="1" dirty="0">
                <a:solidFill>
                  <a:srgbClr val="0F766E"/>
                </a:solidFill>
                <a:latin typeface="Calibri" pitchFamily="34" charset="0"/>
                <a:ea typeface="Calibri" pitchFamily="34" charset="-122"/>
                <a:cs typeface="Calibri" pitchFamily="34" charset="-120"/>
              </a:rPr>
              <a:t>thermal (termal): </a:t>
            </a:r>
            <a:r>
              <a:rPr lang="en-US" sz="1200" dirty="0">
                <a:solidFill>
                  <a:srgbClr val="1F2937"/>
                </a:solidFill>
                <a:latin typeface="Calibri" pitchFamily="34" charset="0"/>
                <a:ea typeface="Calibri" pitchFamily="34" charset="-122"/>
                <a:cs typeface="Calibri" pitchFamily="34" charset="-120"/>
              </a:rPr>
              <a:t>Isıyla ilgili</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1801266"/>
            <a:ext cx="5410048" cy="451866"/>
          </a:xfrm>
          <a:prstGeom prst="roundRect">
            <a:avLst>
              <a:gd name="adj" fmla="val 14165"/>
            </a:avLst>
          </a:prstGeom>
          <a:solidFill>
            <a:srgbClr val="D7EDE9"/>
          </a:solidFill>
          <a:ln/>
        </p:spPr>
      </p:sp>
      <p:sp>
        <p:nvSpPr>
          <p:cNvPr id="7" name="Text 5"/>
          <p:cNvSpPr txBox="1"/>
          <p:nvPr/>
        </p:nvSpPr>
        <p:spPr>
          <a:xfrm>
            <a:off x="704088" y="18744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9- ‘‘rh’’ ve ‘‘rrh’’ harfleri ‘‘r’’ okunur.</a:t>
            </a:r>
            <a:endParaRPr lang="en-US" sz="1500" dirty="0"/>
          </a:p>
        </p:txBody>
      </p:sp>
      <p:sp>
        <p:nvSpPr>
          <p:cNvPr id="8" name="Shape 6"/>
          <p:cNvSpPr/>
          <p:nvPr/>
        </p:nvSpPr>
        <p:spPr>
          <a:xfrm>
            <a:off x="1316736" y="2344572"/>
            <a:ext cx="4641952" cy="421742"/>
          </a:xfrm>
          <a:prstGeom prst="roundRect">
            <a:avLst>
              <a:gd name="adj" fmla="val 15177"/>
            </a:avLst>
          </a:prstGeom>
          <a:solidFill>
            <a:srgbClr val="F6F8F8"/>
          </a:solidFill>
          <a:ln/>
        </p:spPr>
      </p:sp>
      <p:sp>
        <p:nvSpPr>
          <p:cNvPr id="9" name="Text 7"/>
          <p:cNvSpPr txBox="1"/>
          <p:nvPr/>
        </p:nvSpPr>
        <p:spPr>
          <a:xfrm>
            <a:off x="1472184" y="2417724"/>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arrhythmia (aritmi): </a:t>
            </a:r>
            <a:r>
              <a:rPr lang="en-US" sz="1400" dirty="0">
                <a:solidFill>
                  <a:srgbClr val="1F2937"/>
                </a:solidFill>
                <a:latin typeface="Calibri" pitchFamily="34" charset="0"/>
                <a:ea typeface="Calibri" pitchFamily="34" charset="-122"/>
                <a:cs typeface="Calibri" pitchFamily="34" charset="-120"/>
              </a:rPr>
              <a:t>Ritim bozukluğu</a:t>
            </a:r>
            <a:endParaRPr lang="en-US" sz="1400" dirty="0"/>
          </a:p>
        </p:txBody>
      </p:sp>
      <p:sp>
        <p:nvSpPr>
          <p:cNvPr id="10" name="Shape 8"/>
          <p:cNvSpPr/>
          <p:nvPr/>
        </p:nvSpPr>
        <p:spPr>
          <a:xfrm>
            <a:off x="1316736" y="2857754"/>
            <a:ext cx="4641952" cy="421742"/>
          </a:xfrm>
          <a:prstGeom prst="roundRect">
            <a:avLst>
              <a:gd name="adj" fmla="val 15177"/>
            </a:avLst>
          </a:prstGeom>
          <a:solidFill>
            <a:srgbClr val="F6F8F8"/>
          </a:solidFill>
          <a:ln/>
        </p:spPr>
      </p:sp>
      <p:sp>
        <p:nvSpPr>
          <p:cNvPr id="11" name="Text 9"/>
          <p:cNvSpPr txBox="1"/>
          <p:nvPr/>
        </p:nvSpPr>
        <p:spPr>
          <a:xfrm>
            <a:off x="1472184" y="2930906"/>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myorrhexix (miyoreksis): </a:t>
            </a:r>
            <a:r>
              <a:rPr lang="en-US" sz="1400" dirty="0">
                <a:solidFill>
                  <a:srgbClr val="1F2937"/>
                </a:solidFill>
                <a:latin typeface="Calibri" pitchFamily="34" charset="0"/>
                <a:ea typeface="Calibri" pitchFamily="34" charset="-122"/>
                <a:cs typeface="Calibri" pitchFamily="34" charset="-120"/>
              </a:rPr>
              <a:t>Kas yırtılması</a:t>
            </a:r>
            <a:endParaRPr lang="en-US" sz="1400" dirty="0"/>
          </a:p>
        </p:txBody>
      </p:sp>
      <p:sp>
        <p:nvSpPr>
          <p:cNvPr id="12" name="Shape 10"/>
          <p:cNvSpPr/>
          <p:nvPr/>
        </p:nvSpPr>
        <p:spPr>
          <a:xfrm>
            <a:off x="1316736" y="3370936"/>
            <a:ext cx="4641952" cy="421742"/>
          </a:xfrm>
          <a:prstGeom prst="roundRect">
            <a:avLst>
              <a:gd name="adj" fmla="val 15177"/>
            </a:avLst>
          </a:prstGeom>
          <a:solidFill>
            <a:srgbClr val="F6F8F8"/>
          </a:solidFill>
          <a:ln/>
        </p:spPr>
      </p:sp>
      <p:sp>
        <p:nvSpPr>
          <p:cNvPr id="13" name="Text 11"/>
          <p:cNvSpPr txBox="1"/>
          <p:nvPr/>
        </p:nvSpPr>
        <p:spPr>
          <a:xfrm>
            <a:off x="1472184" y="3444088"/>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rhinorrhagia (rinorajı): </a:t>
            </a:r>
            <a:r>
              <a:rPr lang="en-US" sz="1400" dirty="0">
                <a:solidFill>
                  <a:srgbClr val="1F2937"/>
                </a:solidFill>
                <a:latin typeface="Calibri" pitchFamily="34" charset="0"/>
                <a:ea typeface="Calibri" pitchFamily="34" charset="-122"/>
                <a:cs typeface="Calibri" pitchFamily="34" charset="-120"/>
              </a:rPr>
              <a:t>Burun kanaması</a:t>
            </a:r>
            <a:endParaRPr lang="en-US" sz="1400" dirty="0"/>
          </a:p>
        </p:txBody>
      </p:sp>
      <p:sp>
        <p:nvSpPr>
          <p:cNvPr id="14" name="Shape 12"/>
          <p:cNvSpPr/>
          <p:nvPr/>
        </p:nvSpPr>
        <p:spPr>
          <a:xfrm>
            <a:off x="548640" y="3884117"/>
            <a:ext cx="5410048" cy="451866"/>
          </a:xfrm>
          <a:prstGeom prst="roundRect">
            <a:avLst>
              <a:gd name="adj" fmla="val 14165"/>
            </a:avLst>
          </a:prstGeom>
          <a:solidFill>
            <a:srgbClr val="D7EDE9"/>
          </a:solidFill>
          <a:ln/>
        </p:spPr>
      </p:sp>
      <p:sp>
        <p:nvSpPr>
          <p:cNvPr id="15" name="Text 13"/>
          <p:cNvSpPr txBox="1"/>
          <p:nvPr/>
        </p:nvSpPr>
        <p:spPr>
          <a:xfrm>
            <a:off x="704088" y="3957269"/>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10- ‘‘ch’’ harfleri ‘‘k’’ okunur.</a:t>
            </a:r>
            <a:endParaRPr lang="en-US" sz="1500" dirty="0"/>
          </a:p>
        </p:txBody>
      </p:sp>
      <p:sp>
        <p:nvSpPr>
          <p:cNvPr id="16" name="Shape 14"/>
          <p:cNvSpPr/>
          <p:nvPr/>
        </p:nvSpPr>
        <p:spPr>
          <a:xfrm>
            <a:off x="1316736" y="4427423"/>
            <a:ext cx="4641952" cy="421742"/>
          </a:xfrm>
          <a:prstGeom prst="roundRect">
            <a:avLst>
              <a:gd name="adj" fmla="val 15177"/>
            </a:avLst>
          </a:prstGeom>
          <a:solidFill>
            <a:srgbClr val="F6F8F8"/>
          </a:solidFill>
          <a:ln/>
        </p:spPr>
      </p:sp>
      <p:sp>
        <p:nvSpPr>
          <p:cNvPr id="17" name="Text 15"/>
          <p:cNvSpPr txBox="1"/>
          <p:nvPr/>
        </p:nvSpPr>
        <p:spPr>
          <a:xfrm>
            <a:off x="1472184" y="4500575"/>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brachium (brakyum): </a:t>
            </a:r>
            <a:r>
              <a:rPr lang="en-US" sz="1400" dirty="0">
                <a:solidFill>
                  <a:srgbClr val="1F2937"/>
                </a:solidFill>
                <a:latin typeface="Calibri" pitchFamily="34" charset="0"/>
                <a:ea typeface="Calibri" pitchFamily="34" charset="-122"/>
                <a:cs typeface="Calibri" pitchFamily="34" charset="-120"/>
              </a:rPr>
              <a:t>Kol</a:t>
            </a:r>
            <a:endParaRPr lang="en-US" sz="1400" dirty="0"/>
          </a:p>
        </p:txBody>
      </p:sp>
      <p:sp>
        <p:nvSpPr>
          <p:cNvPr id="18" name="Shape 16"/>
          <p:cNvSpPr/>
          <p:nvPr/>
        </p:nvSpPr>
        <p:spPr>
          <a:xfrm>
            <a:off x="1316736" y="4940605"/>
            <a:ext cx="4641952" cy="421742"/>
          </a:xfrm>
          <a:prstGeom prst="roundRect">
            <a:avLst>
              <a:gd name="adj" fmla="val 15177"/>
            </a:avLst>
          </a:prstGeom>
          <a:solidFill>
            <a:srgbClr val="F6F8F8"/>
          </a:solidFill>
          <a:ln/>
        </p:spPr>
      </p:sp>
      <p:sp>
        <p:nvSpPr>
          <p:cNvPr id="19" name="Text 17"/>
          <p:cNvSpPr txBox="1"/>
          <p:nvPr/>
        </p:nvSpPr>
        <p:spPr>
          <a:xfrm>
            <a:off x="1472184" y="5013757"/>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trachea (trakea): </a:t>
            </a:r>
            <a:r>
              <a:rPr lang="en-US" sz="1400" dirty="0">
                <a:solidFill>
                  <a:srgbClr val="1F2937"/>
                </a:solidFill>
                <a:latin typeface="Calibri" pitchFamily="34" charset="0"/>
                <a:ea typeface="Calibri" pitchFamily="34" charset="-122"/>
                <a:cs typeface="Calibri" pitchFamily="34" charset="-120"/>
              </a:rPr>
              <a:t>Soluk borusu</a:t>
            </a:r>
            <a:endParaRPr lang="en-US" sz="1400" dirty="0"/>
          </a:p>
        </p:txBody>
      </p:sp>
      <p:sp>
        <p:nvSpPr>
          <p:cNvPr id="20" name="Shape 18"/>
          <p:cNvSpPr/>
          <p:nvPr/>
        </p:nvSpPr>
        <p:spPr>
          <a:xfrm>
            <a:off x="1316736" y="5453786"/>
            <a:ext cx="4641952" cy="855574"/>
          </a:xfrm>
          <a:prstGeom prst="roundRect">
            <a:avLst>
              <a:gd name="adj" fmla="val 7481"/>
            </a:avLst>
          </a:prstGeom>
          <a:solidFill>
            <a:srgbClr val="F6F8F8"/>
          </a:solidFill>
          <a:ln/>
        </p:spPr>
      </p:sp>
      <p:sp>
        <p:nvSpPr>
          <p:cNvPr id="21" name="Text 19"/>
          <p:cNvSpPr txBox="1"/>
          <p:nvPr/>
        </p:nvSpPr>
        <p:spPr>
          <a:xfrm>
            <a:off x="1472184" y="5526938"/>
            <a:ext cx="4331056" cy="70927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NOT: </a:t>
            </a:r>
            <a:r>
              <a:rPr lang="en-US" sz="1400" dirty="0">
                <a:solidFill>
                  <a:srgbClr val="1F2937"/>
                </a:solidFill>
                <a:latin typeface="Calibri" pitchFamily="34" charset="0"/>
                <a:ea typeface="Calibri" pitchFamily="34" charset="-122"/>
                <a:cs typeface="Calibri" pitchFamily="34" charset="-120"/>
              </a:rPr>
              <a:t>‘‘ch’’ harfleri Fransızcada ‘‘ş’’ okunduğu için bazı terimlerde ‘‘ş’’ okunuşu da kabul görmüştür.</a:t>
            </a:r>
            <a:endParaRPr lang="en-US" sz="1400" dirty="0"/>
          </a:p>
        </p:txBody>
      </p:sp>
      <p:sp>
        <p:nvSpPr>
          <p:cNvPr id="22" name="Shape 20"/>
          <p:cNvSpPr/>
          <p:nvPr/>
        </p:nvSpPr>
        <p:spPr>
          <a:xfrm>
            <a:off x="7001104" y="1801266"/>
            <a:ext cx="4641952" cy="421742"/>
          </a:xfrm>
          <a:prstGeom prst="roundRect">
            <a:avLst>
              <a:gd name="adj" fmla="val 15177"/>
            </a:avLst>
          </a:prstGeom>
          <a:solidFill>
            <a:srgbClr val="F6F8F8"/>
          </a:solidFill>
          <a:ln/>
        </p:spPr>
      </p:sp>
      <p:sp>
        <p:nvSpPr>
          <p:cNvPr id="23" name="Text 21"/>
          <p:cNvSpPr txBox="1"/>
          <p:nvPr/>
        </p:nvSpPr>
        <p:spPr>
          <a:xfrm>
            <a:off x="7156552" y="1874418"/>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bronchitis (bronşit): </a:t>
            </a:r>
            <a:r>
              <a:rPr lang="en-US" sz="1400" dirty="0">
                <a:solidFill>
                  <a:srgbClr val="1F2937"/>
                </a:solidFill>
                <a:latin typeface="Calibri" pitchFamily="34" charset="0"/>
                <a:ea typeface="Calibri" pitchFamily="34" charset="-122"/>
                <a:cs typeface="Calibri" pitchFamily="34" charset="-120"/>
              </a:rPr>
              <a:t>Bronşların iltihabı</a:t>
            </a:r>
            <a:endParaRPr lang="en-US" sz="1400" dirty="0"/>
          </a:p>
        </p:txBody>
      </p:sp>
      <p:sp>
        <p:nvSpPr>
          <p:cNvPr id="24" name="Shape 22"/>
          <p:cNvSpPr/>
          <p:nvPr/>
        </p:nvSpPr>
        <p:spPr>
          <a:xfrm>
            <a:off x="7001104" y="2314448"/>
            <a:ext cx="4641952" cy="638658"/>
          </a:xfrm>
          <a:prstGeom prst="roundRect">
            <a:avLst>
              <a:gd name="adj" fmla="val 10022"/>
            </a:avLst>
          </a:prstGeom>
          <a:solidFill>
            <a:srgbClr val="F6F8F8"/>
          </a:solidFill>
          <a:ln/>
        </p:spPr>
      </p:sp>
      <p:sp>
        <p:nvSpPr>
          <p:cNvPr id="25" name="Text 23"/>
          <p:cNvSpPr txBox="1"/>
          <p:nvPr/>
        </p:nvSpPr>
        <p:spPr>
          <a:xfrm>
            <a:off x="7156552" y="2387600"/>
            <a:ext cx="4331056"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tachycardia (taşikardi): </a:t>
            </a:r>
            <a:r>
              <a:rPr lang="en-US" sz="1400" dirty="0">
                <a:solidFill>
                  <a:srgbClr val="1F2937"/>
                </a:solidFill>
                <a:latin typeface="Calibri" pitchFamily="34" charset="0"/>
                <a:ea typeface="Calibri" pitchFamily="34" charset="-122"/>
                <a:cs typeface="Calibri" pitchFamily="34" charset="-120"/>
              </a:rPr>
              <a:t>Kalp atım hızının normalden fazla olması</a:t>
            </a:r>
            <a:endParaRPr lang="en-US" sz="1400" dirty="0"/>
          </a:p>
        </p:txBody>
      </p:sp>
      <p:sp>
        <p:nvSpPr>
          <p:cNvPr id="26" name="Shape 24"/>
          <p:cNvSpPr/>
          <p:nvPr/>
        </p:nvSpPr>
        <p:spPr>
          <a:xfrm>
            <a:off x="6233008" y="3044546"/>
            <a:ext cx="5410048" cy="451866"/>
          </a:xfrm>
          <a:prstGeom prst="roundRect">
            <a:avLst>
              <a:gd name="adj" fmla="val 14165"/>
            </a:avLst>
          </a:prstGeom>
          <a:solidFill>
            <a:srgbClr val="D7EDE9"/>
          </a:solidFill>
          <a:ln/>
        </p:spPr>
      </p:sp>
      <p:sp>
        <p:nvSpPr>
          <p:cNvPr id="27" name="Text 25"/>
          <p:cNvSpPr txBox="1"/>
          <p:nvPr/>
        </p:nvSpPr>
        <p:spPr>
          <a:xfrm>
            <a:off x="6388456" y="311769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11- ‘‘ph’’ harfleri ‘‘f’’ okunur.</a:t>
            </a:r>
            <a:endParaRPr lang="en-US" sz="1500" dirty="0"/>
          </a:p>
        </p:txBody>
      </p:sp>
      <p:sp>
        <p:nvSpPr>
          <p:cNvPr id="28" name="Shape 26"/>
          <p:cNvSpPr/>
          <p:nvPr/>
        </p:nvSpPr>
        <p:spPr>
          <a:xfrm>
            <a:off x="7001104" y="3587852"/>
            <a:ext cx="4641952" cy="421742"/>
          </a:xfrm>
          <a:prstGeom prst="roundRect">
            <a:avLst>
              <a:gd name="adj" fmla="val 15177"/>
            </a:avLst>
          </a:prstGeom>
          <a:solidFill>
            <a:srgbClr val="F6F8F8"/>
          </a:solidFill>
          <a:ln/>
        </p:spPr>
      </p:sp>
      <p:sp>
        <p:nvSpPr>
          <p:cNvPr id="29" name="Text 27"/>
          <p:cNvSpPr txBox="1"/>
          <p:nvPr/>
        </p:nvSpPr>
        <p:spPr>
          <a:xfrm>
            <a:off x="7156552" y="3661004"/>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os sphenoidale (os sfenoidal): </a:t>
            </a:r>
            <a:r>
              <a:rPr lang="en-US" sz="1400" dirty="0">
                <a:solidFill>
                  <a:srgbClr val="1F2937"/>
                </a:solidFill>
                <a:latin typeface="Calibri" pitchFamily="34" charset="0"/>
                <a:ea typeface="Calibri" pitchFamily="34" charset="-122"/>
                <a:cs typeface="Calibri" pitchFamily="34" charset="-120"/>
              </a:rPr>
              <a:t>Taban (temel) kemik</a:t>
            </a:r>
            <a:endParaRPr lang="en-US" sz="1400" dirty="0"/>
          </a:p>
        </p:txBody>
      </p:sp>
      <p:sp>
        <p:nvSpPr>
          <p:cNvPr id="30" name="Shape 28"/>
          <p:cNvSpPr/>
          <p:nvPr/>
        </p:nvSpPr>
        <p:spPr>
          <a:xfrm>
            <a:off x="7001104" y="4101033"/>
            <a:ext cx="4641952" cy="421742"/>
          </a:xfrm>
          <a:prstGeom prst="roundRect">
            <a:avLst>
              <a:gd name="adj" fmla="val 15177"/>
            </a:avLst>
          </a:prstGeom>
          <a:solidFill>
            <a:srgbClr val="F6F8F8"/>
          </a:solidFill>
          <a:ln/>
        </p:spPr>
      </p:sp>
      <p:sp>
        <p:nvSpPr>
          <p:cNvPr id="31" name="Text 29"/>
          <p:cNvSpPr txBox="1"/>
          <p:nvPr/>
        </p:nvSpPr>
        <p:spPr>
          <a:xfrm>
            <a:off x="7156552" y="4174185"/>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oesophagus (özofagus): </a:t>
            </a:r>
            <a:r>
              <a:rPr lang="en-US" sz="1400" dirty="0">
                <a:solidFill>
                  <a:srgbClr val="1F2937"/>
                </a:solidFill>
                <a:latin typeface="Calibri" pitchFamily="34" charset="0"/>
                <a:ea typeface="Calibri" pitchFamily="34" charset="-122"/>
                <a:cs typeface="Calibri" pitchFamily="34" charset="-120"/>
              </a:rPr>
              <a:t>Yemek borusu</a:t>
            </a:r>
            <a:endParaRPr lang="en-US" sz="1400" dirty="0"/>
          </a:p>
        </p:txBody>
      </p:sp>
      <p:sp>
        <p:nvSpPr>
          <p:cNvPr id="32" name="Shape 30"/>
          <p:cNvSpPr/>
          <p:nvPr/>
        </p:nvSpPr>
        <p:spPr>
          <a:xfrm>
            <a:off x="7001104" y="4614215"/>
            <a:ext cx="4641952" cy="421742"/>
          </a:xfrm>
          <a:prstGeom prst="roundRect">
            <a:avLst>
              <a:gd name="adj" fmla="val 15177"/>
            </a:avLst>
          </a:prstGeom>
          <a:solidFill>
            <a:srgbClr val="F6F8F8"/>
          </a:solidFill>
          <a:ln/>
        </p:spPr>
      </p:sp>
      <p:sp>
        <p:nvSpPr>
          <p:cNvPr id="33" name="Text 31"/>
          <p:cNvSpPr txBox="1"/>
          <p:nvPr/>
        </p:nvSpPr>
        <p:spPr>
          <a:xfrm>
            <a:off x="7156552" y="4687367"/>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phalanx (falanks): </a:t>
            </a:r>
            <a:r>
              <a:rPr lang="en-US" sz="1400" dirty="0">
                <a:solidFill>
                  <a:srgbClr val="1F2937"/>
                </a:solidFill>
                <a:latin typeface="Calibri" pitchFamily="34" charset="0"/>
                <a:ea typeface="Calibri" pitchFamily="34" charset="-122"/>
                <a:cs typeface="Calibri" pitchFamily="34" charset="-120"/>
              </a:rPr>
              <a:t>Parmak kemiği</a:t>
            </a:r>
            <a:endParaRPr lang="en-US" sz="1400" dirty="0"/>
          </a:p>
        </p:txBody>
      </p:sp>
      <p:sp>
        <p:nvSpPr>
          <p:cNvPr id="34" name="Shape 32"/>
          <p:cNvSpPr/>
          <p:nvPr/>
        </p:nvSpPr>
        <p:spPr>
          <a:xfrm>
            <a:off x="7001104" y="5127396"/>
            <a:ext cx="4641952" cy="421742"/>
          </a:xfrm>
          <a:prstGeom prst="roundRect">
            <a:avLst>
              <a:gd name="adj" fmla="val 15177"/>
            </a:avLst>
          </a:prstGeom>
          <a:solidFill>
            <a:srgbClr val="F6F8F8"/>
          </a:solidFill>
          <a:ln/>
        </p:spPr>
      </p:sp>
      <p:sp>
        <p:nvSpPr>
          <p:cNvPr id="35" name="Text 33"/>
          <p:cNvSpPr txBox="1"/>
          <p:nvPr/>
        </p:nvSpPr>
        <p:spPr>
          <a:xfrm>
            <a:off x="7156552" y="5200548"/>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pharynx (farinks): </a:t>
            </a:r>
            <a:r>
              <a:rPr lang="en-US" sz="1400" dirty="0">
                <a:solidFill>
                  <a:srgbClr val="1F2937"/>
                </a:solidFill>
                <a:latin typeface="Calibri" pitchFamily="34" charset="0"/>
                <a:ea typeface="Calibri" pitchFamily="34" charset="-122"/>
                <a:cs typeface="Calibri" pitchFamily="34" charset="-120"/>
              </a:rPr>
              <a:t>Yutak</a:t>
            </a:r>
            <a:endParaRPr lang="en-US" sz="1400" dirty="0"/>
          </a:p>
        </p:txBody>
      </p:sp>
      <p:sp>
        <p:nvSpPr>
          <p:cNvPr id="36" name="Shape 34"/>
          <p:cNvSpPr/>
          <p:nvPr/>
        </p:nvSpPr>
        <p:spPr>
          <a:xfrm>
            <a:off x="7001104" y="5640578"/>
            <a:ext cx="4641952" cy="421742"/>
          </a:xfrm>
          <a:prstGeom prst="roundRect">
            <a:avLst>
              <a:gd name="adj" fmla="val 15177"/>
            </a:avLst>
          </a:prstGeom>
          <a:solidFill>
            <a:srgbClr val="F6F8F8"/>
          </a:solidFill>
          <a:ln/>
        </p:spPr>
      </p:sp>
      <p:sp>
        <p:nvSpPr>
          <p:cNvPr id="37" name="Text 35"/>
          <p:cNvSpPr txBox="1"/>
          <p:nvPr/>
        </p:nvSpPr>
        <p:spPr>
          <a:xfrm>
            <a:off x="7156552" y="5713730"/>
            <a:ext cx="4331056"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nephros (nefros): </a:t>
            </a:r>
            <a:r>
              <a:rPr lang="en-US" sz="1400" dirty="0">
                <a:solidFill>
                  <a:srgbClr val="1F2937"/>
                </a:solidFill>
                <a:latin typeface="Calibri" pitchFamily="34" charset="0"/>
                <a:ea typeface="Calibri" pitchFamily="34" charset="-122"/>
                <a:cs typeface="Calibri" pitchFamily="34" charset="-120"/>
              </a:rPr>
              <a:t>Böbrek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620317"/>
            <a:ext cx="5410048" cy="421742"/>
          </a:xfrm>
          <a:prstGeom prst="roundRect">
            <a:avLst>
              <a:gd name="adj" fmla="val 15177"/>
            </a:avLst>
          </a:prstGeom>
          <a:solidFill>
            <a:srgbClr val="D7EDE9"/>
          </a:solidFill>
          <a:ln/>
        </p:spPr>
      </p:sp>
      <p:sp>
        <p:nvSpPr>
          <p:cNvPr id="7" name="Text 5"/>
          <p:cNvSpPr txBox="1"/>
          <p:nvPr/>
        </p:nvSpPr>
        <p:spPr>
          <a:xfrm>
            <a:off x="704088" y="1693469"/>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12- ‘‘sch’’ harfleri ‘‘ş’’ okunur.</a:t>
            </a:r>
            <a:endParaRPr lang="en-US" sz="1400" dirty="0"/>
          </a:p>
        </p:txBody>
      </p:sp>
      <p:sp>
        <p:nvSpPr>
          <p:cNvPr id="8" name="Shape 6"/>
          <p:cNvSpPr/>
          <p:nvPr/>
        </p:nvSpPr>
        <p:spPr>
          <a:xfrm>
            <a:off x="1316736" y="2133498"/>
            <a:ext cx="4641952" cy="391617"/>
          </a:xfrm>
          <a:prstGeom prst="roundRect">
            <a:avLst>
              <a:gd name="adj" fmla="val 16345"/>
            </a:avLst>
          </a:prstGeom>
          <a:solidFill>
            <a:srgbClr val="F6F8F8"/>
          </a:solidFill>
          <a:ln/>
        </p:spPr>
      </p:sp>
      <p:sp>
        <p:nvSpPr>
          <p:cNvPr id="9" name="Text 7"/>
          <p:cNvSpPr txBox="1"/>
          <p:nvPr/>
        </p:nvSpPr>
        <p:spPr>
          <a:xfrm>
            <a:off x="1472184" y="2206650"/>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schema (şema): </a:t>
            </a:r>
            <a:r>
              <a:rPr lang="en-US" sz="1300" dirty="0">
                <a:solidFill>
                  <a:srgbClr val="1F2937"/>
                </a:solidFill>
                <a:latin typeface="Calibri" pitchFamily="34" charset="0"/>
                <a:ea typeface="Calibri" pitchFamily="34" charset="-122"/>
                <a:cs typeface="Calibri" pitchFamily="34" charset="-120"/>
              </a:rPr>
              <a:t>Biçim, şekil</a:t>
            </a:r>
            <a:endParaRPr lang="en-US" sz="1300" dirty="0"/>
          </a:p>
        </p:txBody>
      </p:sp>
      <p:sp>
        <p:nvSpPr>
          <p:cNvPr id="10" name="Shape 8"/>
          <p:cNvSpPr/>
          <p:nvPr/>
        </p:nvSpPr>
        <p:spPr>
          <a:xfrm>
            <a:off x="1316736" y="2616556"/>
            <a:ext cx="4641952" cy="391617"/>
          </a:xfrm>
          <a:prstGeom prst="roundRect">
            <a:avLst>
              <a:gd name="adj" fmla="val 16345"/>
            </a:avLst>
          </a:prstGeom>
          <a:solidFill>
            <a:srgbClr val="F6F8F8"/>
          </a:solidFill>
          <a:ln/>
        </p:spPr>
      </p:sp>
      <p:sp>
        <p:nvSpPr>
          <p:cNvPr id="11" name="Text 9"/>
          <p:cNvSpPr txBox="1"/>
          <p:nvPr/>
        </p:nvSpPr>
        <p:spPr>
          <a:xfrm>
            <a:off x="1472184" y="2689708"/>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schizophrenia (şizofreni): </a:t>
            </a:r>
            <a:r>
              <a:rPr lang="en-US" sz="1300" dirty="0">
                <a:solidFill>
                  <a:srgbClr val="1F2937"/>
                </a:solidFill>
                <a:latin typeface="Calibri" pitchFamily="34" charset="0"/>
                <a:ea typeface="Calibri" pitchFamily="34" charset="-122"/>
                <a:cs typeface="Calibri" pitchFamily="34" charset="-120"/>
              </a:rPr>
              <a:t>Bir akıl hastalığı</a:t>
            </a:r>
            <a:endParaRPr lang="en-US" sz="1300" dirty="0"/>
          </a:p>
        </p:txBody>
      </p:sp>
      <p:sp>
        <p:nvSpPr>
          <p:cNvPr id="12" name="Shape 10"/>
          <p:cNvSpPr/>
          <p:nvPr/>
        </p:nvSpPr>
        <p:spPr>
          <a:xfrm>
            <a:off x="1316736" y="3099613"/>
            <a:ext cx="4641952" cy="391617"/>
          </a:xfrm>
          <a:prstGeom prst="roundRect">
            <a:avLst>
              <a:gd name="adj" fmla="val 16345"/>
            </a:avLst>
          </a:prstGeom>
          <a:solidFill>
            <a:srgbClr val="F6F8F8"/>
          </a:solidFill>
          <a:ln/>
        </p:spPr>
      </p:sp>
      <p:sp>
        <p:nvSpPr>
          <p:cNvPr id="13" name="Text 11"/>
          <p:cNvSpPr txBox="1"/>
          <p:nvPr/>
        </p:nvSpPr>
        <p:spPr>
          <a:xfrm>
            <a:off x="1472184" y="3172765"/>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schistocephalia (şistosefali): </a:t>
            </a:r>
            <a:r>
              <a:rPr lang="en-US" sz="1300" dirty="0">
                <a:solidFill>
                  <a:srgbClr val="1F2937"/>
                </a:solidFill>
                <a:latin typeface="Calibri" pitchFamily="34" charset="0"/>
                <a:ea typeface="Calibri" pitchFamily="34" charset="-122"/>
                <a:cs typeface="Calibri" pitchFamily="34" charset="-120"/>
              </a:rPr>
              <a:t>Yarık başlı</a:t>
            </a:r>
            <a:endParaRPr lang="en-US" sz="1300" dirty="0"/>
          </a:p>
        </p:txBody>
      </p:sp>
      <p:sp>
        <p:nvSpPr>
          <p:cNvPr id="14" name="Shape 12"/>
          <p:cNvSpPr/>
          <p:nvPr/>
        </p:nvSpPr>
        <p:spPr>
          <a:xfrm>
            <a:off x="1316736" y="3582670"/>
            <a:ext cx="4641952" cy="593039"/>
          </a:xfrm>
          <a:prstGeom prst="roundRect">
            <a:avLst>
              <a:gd name="adj" fmla="val 10793"/>
            </a:avLst>
          </a:prstGeom>
          <a:solidFill>
            <a:srgbClr val="F6F8F8"/>
          </a:solidFill>
          <a:ln/>
        </p:spPr>
      </p:sp>
      <p:sp>
        <p:nvSpPr>
          <p:cNvPr id="15" name="Text 13"/>
          <p:cNvSpPr txBox="1"/>
          <p:nvPr/>
        </p:nvSpPr>
        <p:spPr>
          <a:xfrm>
            <a:off x="1472184" y="3655822"/>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NOT: </a:t>
            </a:r>
            <a:r>
              <a:rPr lang="en-US" sz="1300" dirty="0">
                <a:solidFill>
                  <a:srgbClr val="1F2937"/>
                </a:solidFill>
                <a:latin typeface="Calibri" pitchFamily="34" charset="0"/>
                <a:ea typeface="Calibri" pitchFamily="34" charset="-122"/>
                <a:cs typeface="Calibri" pitchFamily="34" charset="-120"/>
              </a:rPr>
              <a:t>‘‘sch’’ harfleri terimin başında değilse ‘‘sk’’ okunur.</a:t>
            </a:r>
            <a:endParaRPr lang="en-US" sz="1300" dirty="0"/>
          </a:p>
        </p:txBody>
      </p:sp>
      <p:sp>
        <p:nvSpPr>
          <p:cNvPr id="16" name="Shape 14"/>
          <p:cNvSpPr/>
          <p:nvPr/>
        </p:nvSpPr>
        <p:spPr>
          <a:xfrm>
            <a:off x="1316736" y="4267149"/>
            <a:ext cx="4641952" cy="593039"/>
          </a:xfrm>
          <a:prstGeom prst="roundRect">
            <a:avLst>
              <a:gd name="adj" fmla="val 10793"/>
            </a:avLst>
          </a:prstGeom>
          <a:solidFill>
            <a:srgbClr val="F6F8F8"/>
          </a:solidFill>
          <a:ln/>
        </p:spPr>
      </p:sp>
      <p:sp>
        <p:nvSpPr>
          <p:cNvPr id="17" name="Text 15"/>
          <p:cNvSpPr txBox="1"/>
          <p:nvPr/>
        </p:nvSpPr>
        <p:spPr>
          <a:xfrm>
            <a:off x="1472184" y="4340301"/>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ischemia (iskemi): </a:t>
            </a:r>
            <a:r>
              <a:rPr lang="en-US" sz="1300" dirty="0">
                <a:solidFill>
                  <a:srgbClr val="1F2937"/>
                </a:solidFill>
                <a:latin typeface="Calibri" pitchFamily="34" charset="0"/>
                <a:ea typeface="Calibri" pitchFamily="34" charset="-122"/>
                <a:cs typeface="Calibri" pitchFamily="34" charset="-120"/>
              </a:rPr>
              <a:t>Herhangi bir organa yeterince kanın gitmemesi</a:t>
            </a:r>
            <a:endParaRPr lang="en-US" sz="1300" dirty="0"/>
          </a:p>
        </p:txBody>
      </p:sp>
      <p:sp>
        <p:nvSpPr>
          <p:cNvPr id="18" name="Shape 16"/>
          <p:cNvSpPr/>
          <p:nvPr/>
        </p:nvSpPr>
        <p:spPr>
          <a:xfrm>
            <a:off x="1316736" y="4951628"/>
            <a:ext cx="4641952" cy="593039"/>
          </a:xfrm>
          <a:prstGeom prst="roundRect">
            <a:avLst>
              <a:gd name="adj" fmla="val 10793"/>
            </a:avLst>
          </a:prstGeom>
          <a:solidFill>
            <a:srgbClr val="F6F8F8"/>
          </a:solidFill>
          <a:ln/>
        </p:spPr>
      </p:sp>
      <p:sp>
        <p:nvSpPr>
          <p:cNvPr id="19" name="Text 17"/>
          <p:cNvSpPr txBox="1"/>
          <p:nvPr/>
        </p:nvSpPr>
        <p:spPr>
          <a:xfrm>
            <a:off x="1472184" y="5024780"/>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ischium (iskiyum): </a:t>
            </a:r>
            <a:r>
              <a:rPr lang="en-US" sz="1300" dirty="0">
                <a:solidFill>
                  <a:srgbClr val="1F2937"/>
                </a:solidFill>
                <a:latin typeface="Calibri" pitchFamily="34" charset="0"/>
                <a:ea typeface="Calibri" pitchFamily="34" charset="-122"/>
                <a:cs typeface="Calibri" pitchFamily="34" charset="-120"/>
              </a:rPr>
              <a:t>Kalça kemiğinin alt-arka bölümü, oturak kemiği</a:t>
            </a:r>
            <a:endParaRPr lang="en-US" sz="1300" dirty="0"/>
          </a:p>
        </p:txBody>
      </p:sp>
      <p:sp>
        <p:nvSpPr>
          <p:cNvPr id="20" name="Shape 18"/>
          <p:cNvSpPr/>
          <p:nvPr/>
        </p:nvSpPr>
        <p:spPr>
          <a:xfrm>
            <a:off x="548640" y="5636108"/>
            <a:ext cx="5410048" cy="421742"/>
          </a:xfrm>
          <a:prstGeom prst="roundRect">
            <a:avLst>
              <a:gd name="adj" fmla="val 15177"/>
            </a:avLst>
          </a:prstGeom>
          <a:solidFill>
            <a:srgbClr val="D7EDE9"/>
          </a:solidFill>
          <a:ln/>
        </p:spPr>
      </p:sp>
      <p:sp>
        <p:nvSpPr>
          <p:cNvPr id="21" name="Text 19"/>
          <p:cNvSpPr txBox="1"/>
          <p:nvPr/>
        </p:nvSpPr>
        <p:spPr>
          <a:xfrm>
            <a:off x="704088" y="570926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13- ‘‘x’’ harfi ‘‘ks’’ okunur.</a:t>
            </a:r>
            <a:endParaRPr lang="en-US" sz="1400" dirty="0"/>
          </a:p>
        </p:txBody>
      </p:sp>
      <p:sp>
        <p:nvSpPr>
          <p:cNvPr id="22" name="Shape 20"/>
          <p:cNvSpPr/>
          <p:nvPr/>
        </p:nvSpPr>
        <p:spPr>
          <a:xfrm>
            <a:off x="7001104" y="1620317"/>
            <a:ext cx="4641952" cy="391617"/>
          </a:xfrm>
          <a:prstGeom prst="roundRect">
            <a:avLst>
              <a:gd name="adj" fmla="val 16345"/>
            </a:avLst>
          </a:prstGeom>
          <a:solidFill>
            <a:srgbClr val="F6F8F8"/>
          </a:solidFill>
          <a:ln/>
        </p:spPr>
      </p:sp>
      <p:sp>
        <p:nvSpPr>
          <p:cNvPr id="23" name="Text 21"/>
          <p:cNvSpPr txBox="1"/>
          <p:nvPr/>
        </p:nvSpPr>
        <p:spPr>
          <a:xfrm>
            <a:off x="7156552" y="1693469"/>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thorax (toraks): </a:t>
            </a:r>
            <a:r>
              <a:rPr lang="en-US" sz="1300" dirty="0">
                <a:solidFill>
                  <a:srgbClr val="1F2937"/>
                </a:solidFill>
                <a:latin typeface="Calibri" pitchFamily="34" charset="0"/>
                <a:ea typeface="Calibri" pitchFamily="34" charset="-122"/>
                <a:cs typeface="Calibri" pitchFamily="34" charset="-120"/>
              </a:rPr>
              <a:t>Göğüs, göğüs kemiği</a:t>
            </a:r>
            <a:endParaRPr lang="en-US" sz="1300" dirty="0"/>
          </a:p>
        </p:txBody>
      </p:sp>
      <p:sp>
        <p:nvSpPr>
          <p:cNvPr id="24" name="Shape 22"/>
          <p:cNvSpPr/>
          <p:nvPr/>
        </p:nvSpPr>
        <p:spPr>
          <a:xfrm>
            <a:off x="7001104" y="2103374"/>
            <a:ext cx="4641952" cy="593039"/>
          </a:xfrm>
          <a:prstGeom prst="roundRect">
            <a:avLst>
              <a:gd name="adj" fmla="val 10793"/>
            </a:avLst>
          </a:prstGeom>
          <a:solidFill>
            <a:srgbClr val="F6F8F8"/>
          </a:solidFill>
          <a:ln/>
        </p:spPr>
      </p:sp>
      <p:sp>
        <p:nvSpPr>
          <p:cNvPr id="25" name="Text 23"/>
          <p:cNvSpPr txBox="1"/>
          <p:nvPr/>
        </p:nvSpPr>
        <p:spPr>
          <a:xfrm>
            <a:off x="7156552" y="2176526"/>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oxygen (oksijen): </a:t>
            </a:r>
            <a:r>
              <a:rPr lang="en-US" sz="1300" dirty="0">
                <a:solidFill>
                  <a:srgbClr val="1F2937"/>
                </a:solidFill>
                <a:latin typeface="Calibri" pitchFamily="34" charset="0"/>
                <a:ea typeface="Calibri" pitchFamily="34" charset="-122"/>
                <a:cs typeface="Calibri" pitchFamily="34" charset="-120"/>
              </a:rPr>
              <a:t>Canlıların solunumu için gerekli olan gaz</a:t>
            </a:r>
            <a:endParaRPr lang="en-US" sz="1300" dirty="0"/>
          </a:p>
        </p:txBody>
      </p:sp>
      <p:sp>
        <p:nvSpPr>
          <p:cNvPr id="26" name="Shape 24"/>
          <p:cNvSpPr/>
          <p:nvPr/>
        </p:nvSpPr>
        <p:spPr>
          <a:xfrm>
            <a:off x="7001104" y="2787853"/>
            <a:ext cx="4641952" cy="391617"/>
          </a:xfrm>
          <a:prstGeom prst="roundRect">
            <a:avLst>
              <a:gd name="adj" fmla="val 16345"/>
            </a:avLst>
          </a:prstGeom>
          <a:solidFill>
            <a:srgbClr val="F6F8F8"/>
          </a:solidFill>
          <a:ln/>
        </p:spPr>
      </p:sp>
      <p:sp>
        <p:nvSpPr>
          <p:cNvPr id="27" name="Text 25"/>
          <p:cNvSpPr txBox="1"/>
          <p:nvPr/>
        </p:nvSpPr>
        <p:spPr>
          <a:xfrm>
            <a:off x="7156552" y="2861005"/>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pharynx (farinks): </a:t>
            </a:r>
            <a:r>
              <a:rPr lang="en-US" sz="1300" dirty="0">
                <a:solidFill>
                  <a:srgbClr val="1F2937"/>
                </a:solidFill>
                <a:latin typeface="Calibri" pitchFamily="34" charset="0"/>
                <a:ea typeface="Calibri" pitchFamily="34" charset="-122"/>
                <a:cs typeface="Calibri" pitchFamily="34" charset="-120"/>
              </a:rPr>
              <a:t>Yutak</a:t>
            </a:r>
            <a:endParaRPr lang="en-US" sz="1300" dirty="0"/>
          </a:p>
        </p:txBody>
      </p:sp>
      <p:sp>
        <p:nvSpPr>
          <p:cNvPr id="28" name="Shape 26"/>
          <p:cNvSpPr/>
          <p:nvPr/>
        </p:nvSpPr>
        <p:spPr>
          <a:xfrm>
            <a:off x="7001104" y="3270910"/>
            <a:ext cx="4641952" cy="391617"/>
          </a:xfrm>
          <a:prstGeom prst="roundRect">
            <a:avLst>
              <a:gd name="adj" fmla="val 16345"/>
            </a:avLst>
          </a:prstGeom>
          <a:solidFill>
            <a:srgbClr val="F6F8F8"/>
          </a:solidFill>
          <a:ln/>
        </p:spPr>
      </p:sp>
      <p:sp>
        <p:nvSpPr>
          <p:cNvPr id="29" name="Text 27"/>
          <p:cNvSpPr txBox="1"/>
          <p:nvPr/>
        </p:nvSpPr>
        <p:spPr>
          <a:xfrm>
            <a:off x="7156552" y="3344062"/>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os maxilla (os maksilla): </a:t>
            </a:r>
            <a:r>
              <a:rPr lang="en-US" sz="1300" dirty="0">
                <a:solidFill>
                  <a:srgbClr val="1F2937"/>
                </a:solidFill>
                <a:latin typeface="Calibri" pitchFamily="34" charset="0"/>
                <a:ea typeface="Calibri" pitchFamily="34" charset="-122"/>
                <a:cs typeface="Calibri" pitchFamily="34" charset="-120"/>
              </a:rPr>
              <a:t>Üst çene kemiği</a:t>
            </a:r>
            <a:endParaRPr lang="en-US" sz="1300" dirty="0"/>
          </a:p>
        </p:txBody>
      </p:sp>
      <p:sp>
        <p:nvSpPr>
          <p:cNvPr id="30" name="Shape 28"/>
          <p:cNvSpPr/>
          <p:nvPr/>
        </p:nvSpPr>
        <p:spPr>
          <a:xfrm>
            <a:off x="6233008" y="3753968"/>
            <a:ext cx="5410048" cy="421742"/>
          </a:xfrm>
          <a:prstGeom prst="roundRect">
            <a:avLst>
              <a:gd name="adj" fmla="val 15177"/>
            </a:avLst>
          </a:prstGeom>
          <a:solidFill>
            <a:srgbClr val="D7EDE9"/>
          </a:solidFill>
          <a:ln/>
        </p:spPr>
      </p:sp>
      <p:sp>
        <p:nvSpPr>
          <p:cNvPr id="31" name="Text 29"/>
          <p:cNvSpPr txBox="1"/>
          <p:nvPr/>
        </p:nvSpPr>
        <p:spPr>
          <a:xfrm>
            <a:off x="6388456" y="382712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14- ‘‘au’’ harfleri ‘‘av’’ ya da ‘‘o’’ okunur.</a:t>
            </a:r>
            <a:endParaRPr lang="en-US" sz="1400" dirty="0"/>
          </a:p>
        </p:txBody>
      </p:sp>
      <p:sp>
        <p:nvSpPr>
          <p:cNvPr id="32" name="Shape 30"/>
          <p:cNvSpPr/>
          <p:nvPr/>
        </p:nvSpPr>
        <p:spPr>
          <a:xfrm>
            <a:off x="7001104" y="4267149"/>
            <a:ext cx="4641952" cy="391617"/>
          </a:xfrm>
          <a:prstGeom prst="roundRect">
            <a:avLst>
              <a:gd name="adj" fmla="val 16345"/>
            </a:avLst>
          </a:prstGeom>
          <a:solidFill>
            <a:srgbClr val="F6F8F8"/>
          </a:solidFill>
          <a:ln/>
        </p:spPr>
      </p:sp>
      <p:sp>
        <p:nvSpPr>
          <p:cNvPr id="33" name="Text 31"/>
          <p:cNvSpPr txBox="1"/>
          <p:nvPr/>
        </p:nvSpPr>
        <p:spPr>
          <a:xfrm>
            <a:off x="7156552" y="4340301"/>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auris (oris): </a:t>
            </a:r>
            <a:r>
              <a:rPr lang="en-US" sz="1300" dirty="0">
                <a:solidFill>
                  <a:srgbClr val="1F2937"/>
                </a:solidFill>
                <a:latin typeface="Calibri" pitchFamily="34" charset="0"/>
                <a:ea typeface="Calibri" pitchFamily="34" charset="-122"/>
                <a:cs typeface="Calibri" pitchFamily="34" charset="-120"/>
              </a:rPr>
              <a:t>Kulak</a:t>
            </a:r>
            <a:endParaRPr lang="en-US" sz="1300" dirty="0"/>
          </a:p>
        </p:txBody>
      </p:sp>
      <p:sp>
        <p:nvSpPr>
          <p:cNvPr id="34" name="Shape 32"/>
          <p:cNvSpPr/>
          <p:nvPr/>
        </p:nvSpPr>
        <p:spPr>
          <a:xfrm>
            <a:off x="7001104" y="4750206"/>
            <a:ext cx="4641952" cy="593039"/>
          </a:xfrm>
          <a:prstGeom prst="roundRect">
            <a:avLst>
              <a:gd name="adj" fmla="val 10793"/>
            </a:avLst>
          </a:prstGeom>
          <a:solidFill>
            <a:srgbClr val="F6F8F8"/>
          </a:solidFill>
          <a:ln/>
        </p:spPr>
      </p:sp>
      <p:sp>
        <p:nvSpPr>
          <p:cNvPr id="35" name="Text 33"/>
          <p:cNvSpPr txBox="1"/>
          <p:nvPr/>
        </p:nvSpPr>
        <p:spPr>
          <a:xfrm>
            <a:off x="7156552" y="4823358"/>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trauma (travma): </a:t>
            </a:r>
            <a:r>
              <a:rPr lang="en-US" sz="1300" dirty="0">
                <a:solidFill>
                  <a:srgbClr val="1F2937"/>
                </a:solidFill>
                <a:latin typeface="Calibri" pitchFamily="34" charset="0"/>
                <a:ea typeface="Calibri" pitchFamily="34" charset="-122"/>
                <a:cs typeface="Calibri" pitchFamily="34" charset="-120"/>
              </a:rPr>
              <a:t>Herhangi bir fiziksel etkenle vücutta oluşan harabiyet (yaralanma vb…)</a:t>
            </a:r>
            <a:endParaRPr lang="en-US" sz="1300" dirty="0"/>
          </a:p>
        </p:txBody>
      </p:sp>
      <p:sp>
        <p:nvSpPr>
          <p:cNvPr id="36" name="Shape 34"/>
          <p:cNvSpPr/>
          <p:nvPr/>
        </p:nvSpPr>
        <p:spPr>
          <a:xfrm>
            <a:off x="7001104" y="5434686"/>
            <a:ext cx="4641952" cy="391617"/>
          </a:xfrm>
          <a:prstGeom prst="roundRect">
            <a:avLst>
              <a:gd name="adj" fmla="val 16345"/>
            </a:avLst>
          </a:prstGeom>
          <a:solidFill>
            <a:srgbClr val="F6F8F8"/>
          </a:solidFill>
          <a:ln/>
        </p:spPr>
      </p:sp>
      <p:sp>
        <p:nvSpPr>
          <p:cNvPr id="37" name="Text 35"/>
          <p:cNvSpPr txBox="1"/>
          <p:nvPr/>
        </p:nvSpPr>
        <p:spPr>
          <a:xfrm>
            <a:off x="7156552" y="5507838"/>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autolysis (otoliz): </a:t>
            </a:r>
            <a:r>
              <a:rPr lang="en-US" sz="1300" dirty="0">
                <a:solidFill>
                  <a:srgbClr val="1F2937"/>
                </a:solidFill>
                <a:latin typeface="Calibri" pitchFamily="34" charset="0"/>
                <a:ea typeface="Calibri" pitchFamily="34" charset="-122"/>
                <a:cs typeface="Calibri" pitchFamily="34" charset="-120"/>
              </a:rPr>
              <a:t>Hücrenin kendi kendini eritmesi</a:t>
            </a:r>
            <a:endParaRPr lang="en-US" sz="1300" dirty="0"/>
          </a:p>
        </p:txBody>
      </p:sp>
      <p:sp>
        <p:nvSpPr>
          <p:cNvPr id="38" name="Shape 36"/>
          <p:cNvSpPr/>
          <p:nvPr/>
        </p:nvSpPr>
        <p:spPr>
          <a:xfrm>
            <a:off x="7001104" y="5917743"/>
            <a:ext cx="4641952" cy="391617"/>
          </a:xfrm>
          <a:prstGeom prst="roundRect">
            <a:avLst>
              <a:gd name="adj" fmla="val 16345"/>
            </a:avLst>
          </a:prstGeom>
          <a:solidFill>
            <a:srgbClr val="F6F8F8"/>
          </a:solidFill>
          <a:ln/>
        </p:spPr>
      </p:sp>
      <p:sp>
        <p:nvSpPr>
          <p:cNvPr id="39" name="Text 37"/>
          <p:cNvSpPr txBox="1"/>
          <p:nvPr/>
        </p:nvSpPr>
        <p:spPr>
          <a:xfrm>
            <a:off x="7156552" y="5990895"/>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autonomic (otonomik): </a:t>
            </a:r>
            <a:r>
              <a:rPr lang="en-US" sz="1300" dirty="0">
                <a:solidFill>
                  <a:srgbClr val="1F2937"/>
                </a:solidFill>
                <a:latin typeface="Calibri" pitchFamily="34" charset="0"/>
                <a:ea typeface="Calibri" pitchFamily="34" charset="-122"/>
                <a:cs typeface="Calibri" pitchFamily="34" charset="-120"/>
              </a:rPr>
              <a:t>Kendi kendine çalışan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1685036"/>
            <a:ext cx="5410048" cy="638658"/>
          </a:xfrm>
          <a:prstGeom prst="roundRect">
            <a:avLst>
              <a:gd name="adj" fmla="val 10022"/>
            </a:avLst>
          </a:prstGeom>
          <a:solidFill>
            <a:srgbClr val="D7EDE9"/>
          </a:solidFill>
          <a:ln/>
        </p:spPr>
      </p:sp>
      <p:sp>
        <p:nvSpPr>
          <p:cNvPr id="7" name="Text 5"/>
          <p:cNvSpPr txBox="1"/>
          <p:nvPr/>
        </p:nvSpPr>
        <p:spPr>
          <a:xfrm>
            <a:off x="704088" y="1758188"/>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15- a) ‘‘g’’ harfi ‘‘a, o, u’’ sesli harflerinden ve sessiz harflerden önce geldiğinde ‘‘g’’ okunur.</a:t>
            </a:r>
            <a:endParaRPr lang="en-US" sz="1400" dirty="0"/>
          </a:p>
        </p:txBody>
      </p:sp>
      <p:sp>
        <p:nvSpPr>
          <p:cNvPr id="8" name="Shape 6"/>
          <p:cNvSpPr/>
          <p:nvPr/>
        </p:nvSpPr>
        <p:spPr>
          <a:xfrm>
            <a:off x="1316736" y="2415134"/>
            <a:ext cx="4641952" cy="391617"/>
          </a:xfrm>
          <a:prstGeom prst="roundRect">
            <a:avLst>
              <a:gd name="adj" fmla="val 16345"/>
            </a:avLst>
          </a:prstGeom>
          <a:solidFill>
            <a:srgbClr val="F6F8F8"/>
          </a:solidFill>
          <a:ln/>
        </p:spPr>
      </p:sp>
      <p:sp>
        <p:nvSpPr>
          <p:cNvPr id="9" name="Text 7"/>
          <p:cNvSpPr txBox="1"/>
          <p:nvPr/>
        </p:nvSpPr>
        <p:spPr>
          <a:xfrm>
            <a:off x="1472184" y="2488286"/>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glandula (glandula): </a:t>
            </a:r>
            <a:r>
              <a:rPr lang="en-US" sz="1300" dirty="0">
                <a:solidFill>
                  <a:srgbClr val="1F2937"/>
                </a:solidFill>
                <a:latin typeface="Calibri" pitchFamily="34" charset="0"/>
                <a:ea typeface="Calibri" pitchFamily="34" charset="-122"/>
                <a:cs typeface="Calibri" pitchFamily="34" charset="-120"/>
              </a:rPr>
              <a:t>Salgı bezi</a:t>
            </a:r>
            <a:endParaRPr lang="en-US" sz="1300" dirty="0"/>
          </a:p>
        </p:txBody>
      </p:sp>
      <p:sp>
        <p:nvSpPr>
          <p:cNvPr id="10" name="Shape 8"/>
          <p:cNvSpPr/>
          <p:nvPr/>
        </p:nvSpPr>
        <p:spPr>
          <a:xfrm>
            <a:off x="1316736" y="2898191"/>
            <a:ext cx="4641952" cy="391617"/>
          </a:xfrm>
          <a:prstGeom prst="roundRect">
            <a:avLst>
              <a:gd name="adj" fmla="val 16345"/>
            </a:avLst>
          </a:prstGeom>
          <a:solidFill>
            <a:srgbClr val="F6F8F8"/>
          </a:solidFill>
          <a:ln/>
        </p:spPr>
      </p:sp>
      <p:sp>
        <p:nvSpPr>
          <p:cNvPr id="11" name="Text 9"/>
          <p:cNvSpPr txBox="1"/>
          <p:nvPr/>
        </p:nvSpPr>
        <p:spPr>
          <a:xfrm>
            <a:off x="1472184" y="2971343"/>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lingua (lingua): </a:t>
            </a:r>
            <a:r>
              <a:rPr lang="en-US" sz="1300" dirty="0">
                <a:solidFill>
                  <a:srgbClr val="1F2937"/>
                </a:solidFill>
                <a:latin typeface="Calibri" pitchFamily="34" charset="0"/>
                <a:ea typeface="Calibri" pitchFamily="34" charset="-122"/>
                <a:cs typeface="Calibri" pitchFamily="34" charset="-120"/>
              </a:rPr>
              <a:t>Dil</a:t>
            </a:r>
            <a:endParaRPr lang="en-US" sz="1300" dirty="0"/>
          </a:p>
        </p:txBody>
      </p:sp>
      <p:sp>
        <p:nvSpPr>
          <p:cNvPr id="12" name="Shape 10"/>
          <p:cNvSpPr/>
          <p:nvPr/>
        </p:nvSpPr>
        <p:spPr>
          <a:xfrm>
            <a:off x="1316736" y="3381248"/>
            <a:ext cx="4641952" cy="391617"/>
          </a:xfrm>
          <a:prstGeom prst="roundRect">
            <a:avLst>
              <a:gd name="adj" fmla="val 16345"/>
            </a:avLst>
          </a:prstGeom>
          <a:solidFill>
            <a:srgbClr val="F6F8F8"/>
          </a:solidFill>
          <a:ln/>
        </p:spPr>
      </p:sp>
      <p:sp>
        <p:nvSpPr>
          <p:cNvPr id="13" name="Text 11"/>
          <p:cNvSpPr txBox="1"/>
          <p:nvPr/>
        </p:nvSpPr>
        <p:spPr>
          <a:xfrm>
            <a:off x="1472184" y="3454400"/>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gaster (gaster): </a:t>
            </a:r>
            <a:r>
              <a:rPr lang="en-US" sz="1300" dirty="0">
                <a:solidFill>
                  <a:srgbClr val="1F2937"/>
                </a:solidFill>
                <a:latin typeface="Calibri" pitchFamily="34" charset="0"/>
                <a:ea typeface="Calibri" pitchFamily="34" charset="-122"/>
                <a:cs typeface="Calibri" pitchFamily="34" charset="-120"/>
              </a:rPr>
              <a:t>Mide</a:t>
            </a:r>
            <a:endParaRPr lang="en-US" sz="1300" dirty="0"/>
          </a:p>
        </p:txBody>
      </p:sp>
      <p:sp>
        <p:nvSpPr>
          <p:cNvPr id="14" name="Shape 12"/>
          <p:cNvSpPr/>
          <p:nvPr/>
        </p:nvSpPr>
        <p:spPr>
          <a:xfrm>
            <a:off x="1316736" y="3864305"/>
            <a:ext cx="4641952" cy="593039"/>
          </a:xfrm>
          <a:prstGeom prst="roundRect">
            <a:avLst>
              <a:gd name="adj" fmla="val 10793"/>
            </a:avLst>
          </a:prstGeom>
          <a:solidFill>
            <a:srgbClr val="F6F8F8"/>
          </a:solidFill>
          <a:ln/>
        </p:spPr>
      </p:sp>
      <p:sp>
        <p:nvSpPr>
          <p:cNvPr id="15" name="Text 13"/>
          <p:cNvSpPr txBox="1"/>
          <p:nvPr/>
        </p:nvSpPr>
        <p:spPr>
          <a:xfrm>
            <a:off x="1472184" y="3937457"/>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gonad (gonad): </a:t>
            </a:r>
            <a:r>
              <a:rPr lang="en-US" sz="1300" dirty="0">
                <a:solidFill>
                  <a:srgbClr val="1F2937"/>
                </a:solidFill>
                <a:latin typeface="Calibri" pitchFamily="34" charset="0"/>
                <a:ea typeface="Calibri" pitchFamily="34" charset="-122"/>
                <a:cs typeface="Calibri" pitchFamily="34" charset="-120"/>
              </a:rPr>
              <a:t>Erkek ve dişi döl hücrelerini üreten organların genel adı</a:t>
            </a:r>
            <a:endParaRPr lang="en-US" sz="1300" dirty="0"/>
          </a:p>
        </p:txBody>
      </p:sp>
      <p:sp>
        <p:nvSpPr>
          <p:cNvPr id="16" name="Shape 14"/>
          <p:cNvSpPr/>
          <p:nvPr/>
        </p:nvSpPr>
        <p:spPr>
          <a:xfrm>
            <a:off x="932688" y="4548784"/>
            <a:ext cx="5026000" cy="593039"/>
          </a:xfrm>
          <a:prstGeom prst="roundRect">
            <a:avLst>
              <a:gd name="adj" fmla="val 10793"/>
            </a:avLst>
          </a:prstGeom>
          <a:solidFill>
            <a:srgbClr val="F6F8F8"/>
          </a:solidFill>
          <a:ln/>
        </p:spPr>
      </p:sp>
      <p:sp>
        <p:nvSpPr>
          <p:cNvPr id="17" name="Text 15"/>
          <p:cNvSpPr txBox="1"/>
          <p:nvPr/>
        </p:nvSpPr>
        <p:spPr>
          <a:xfrm>
            <a:off x="1088136" y="4621936"/>
            <a:ext cx="4715104" cy="446735"/>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 ‘‘g’’ harfi ‘‘e, i, y’’ harflerinden önce gelirse ‘‘j’’ okunur.</a:t>
            </a:r>
            <a:endParaRPr lang="en-US" sz="1300" dirty="0"/>
          </a:p>
        </p:txBody>
      </p:sp>
      <p:sp>
        <p:nvSpPr>
          <p:cNvPr id="18" name="Shape 16"/>
          <p:cNvSpPr/>
          <p:nvPr/>
        </p:nvSpPr>
        <p:spPr>
          <a:xfrm>
            <a:off x="1316736" y="5233264"/>
            <a:ext cx="4641952" cy="391617"/>
          </a:xfrm>
          <a:prstGeom prst="roundRect">
            <a:avLst>
              <a:gd name="adj" fmla="val 16345"/>
            </a:avLst>
          </a:prstGeom>
          <a:solidFill>
            <a:srgbClr val="F6F8F8"/>
          </a:solidFill>
          <a:ln/>
        </p:spPr>
      </p:sp>
      <p:sp>
        <p:nvSpPr>
          <p:cNvPr id="19" name="Text 17"/>
          <p:cNvSpPr txBox="1"/>
          <p:nvPr/>
        </p:nvSpPr>
        <p:spPr>
          <a:xfrm>
            <a:off x="1472184" y="5306416"/>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kongenital (konjenital): </a:t>
            </a:r>
            <a:r>
              <a:rPr lang="en-US" sz="1300" dirty="0">
                <a:solidFill>
                  <a:srgbClr val="1F2937"/>
                </a:solidFill>
                <a:latin typeface="Calibri" pitchFamily="34" charset="0"/>
                <a:ea typeface="Calibri" pitchFamily="34" charset="-122"/>
                <a:cs typeface="Calibri" pitchFamily="34" charset="-120"/>
              </a:rPr>
              <a:t>Doğuştan</a:t>
            </a:r>
            <a:endParaRPr lang="en-US" sz="1300" dirty="0"/>
          </a:p>
        </p:txBody>
      </p:sp>
      <p:sp>
        <p:nvSpPr>
          <p:cNvPr id="20" name="Shape 18"/>
          <p:cNvSpPr/>
          <p:nvPr/>
        </p:nvSpPr>
        <p:spPr>
          <a:xfrm>
            <a:off x="1316736" y="5716321"/>
            <a:ext cx="4641952" cy="593039"/>
          </a:xfrm>
          <a:prstGeom prst="roundRect">
            <a:avLst>
              <a:gd name="adj" fmla="val 10793"/>
            </a:avLst>
          </a:prstGeom>
          <a:solidFill>
            <a:srgbClr val="F6F8F8"/>
          </a:solidFill>
          <a:ln/>
        </p:spPr>
      </p:sp>
      <p:sp>
        <p:nvSpPr>
          <p:cNvPr id="21" name="Text 19"/>
          <p:cNvSpPr txBox="1"/>
          <p:nvPr/>
        </p:nvSpPr>
        <p:spPr>
          <a:xfrm>
            <a:off x="1472184" y="5789473"/>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paraplegia (parapleji): </a:t>
            </a:r>
            <a:r>
              <a:rPr lang="en-US" sz="1300" dirty="0">
                <a:solidFill>
                  <a:srgbClr val="1F2937"/>
                </a:solidFill>
                <a:latin typeface="Calibri" pitchFamily="34" charset="0"/>
                <a:ea typeface="Calibri" pitchFamily="34" charset="-122"/>
                <a:cs typeface="Calibri" pitchFamily="34" charset="-120"/>
              </a:rPr>
              <a:t>Bacaklardaki (alt ekstremitelerdeki) felç</a:t>
            </a:r>
            <a:endParaRPr lang="en-US" sz="1300" dirty="0"/>
          </a:p>
        </p:txBody>
      </p:sp>
      <p:sp>
        <p:nvSpPr>
          <p:cNvPr id="22" name="Shape 20"/>
          <p:cNvSpPr/>
          <p:nvPr/>
        </p:nvSpPr>
        <p:spPr>
          <a:xfrm>
            <a:off x="7001104" y="1685036"/>
            <a:ext cx="4641952" cy="391617"/>
          </a:xfrm>
          <a:prstGeom prst="roundRect">
            <a:avLst>
              <a:gd name="adj" fmla="val 16345"/>
            </a:avLst>
          </a:prstGeom>
          <a:solidFill>
            <a:srgbClr val="F6F8F8"/>
          </a:solidFill>
          <a:ln/>
        </p:spPr>
      </p:sp>
      <p:sp>
        <p:nvSpPr>
          <p:cNvPr id="23" name="Text 21"/>
          <p:cNvSpPr txBox="1"/>
          <p:nvPr/>
        </p:nvSpPr>
        <p:spPr>
          <a:xfrm>
            <a:off x="7156552" y="1758188"/>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myalgia (miyalji): </a:t>
            </a:r>
            <a:r>
              <a:rPr lang="en-US" sz="1300" dirty="0">
                <a:solidFill>
                  <a:srgbClr val="1F2937"/>
                </a:solidFill>
                <a:latin typeface="Calibri" pitchFamily="34" charset="0"/>
                <a:ea typeface="Calibri" pitchFamily="34" charset="-122"/>
                <a:cs typeface="Calibri" pitchFamily="34" charset="-120"/>
              </a:rPr>
              <a:t>Kas ağrısı</a:t>
            </a:r>
            <a:endParaRPr lang="en-US" sz="1300" dirty="0"/>
          </a:p>
        </p:txBody>
      </p:sp>
      <p:sp>
        <p:nvSpPr>
          <p:cNvPr id="24" name="Shape 22"/>
          <p:cNvSpPr/>
          <p:nvPr/>
        </p:nvSpPr>
        <p:spPr>
          <a:xfrm>
            <a:off x="7001104" y="2168093"/>
            <a:ext cx="4641952" cy="593039"/>
          </a:xfrm>
          <a:prstGeom prst="roundRect">
            <a:avLst>
              <a:gd name="adj" fmla="val 10793"/>
            </a:avLst>
          </a:prstGeom>
          <a:solidFill>
            <a:srgbClr val="F6F8F8"/>
          </a:solidFill>
          <a:ln/>
        </p:spPr>
      </p:sp>
      <p:sp>
        <p:nvSpPr>
          <p:cNvPr id="25" name="Text 23"/>
          <p:cNvSpPr txBox="1"/>
          <p:nvPr/>
        </p:nvSpPr>
        <p:spPr>
          <a:xfrm>
            <a:off x="7156552" y="2241245"/>
            <a:ext cx="4331056" cy="446735"/>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gynecologia (jinekoloji): </a:t>
            </a:r>
            <a:r>
              <a:rPr lang="en-US" sz="1300" dirty="0">
                <a:solidFill>
                  <a:srgbClr val="1F2937"/>
                </a:solidFill>
                <a:latin typeface="Calibri" pitchFamily="34" charset="0"/>
                <a:ea typeface="Calibri" pitchFamily="34" charset="-122"/>
                <a:cs typeface="Calibri" pitchFamily="34" charset="-120"/>
              </a:rPr>
              <a:t>Kadın hastalıklarıyla ilgilenen bilim dalı</a:t>
            </a:r>
            <a:endParaRPr lang="en-US" sz="1300" dirty="0"/>
          </a:p>
        </p:txBody>
      </p:sp>
      <p:sp>
        <p:nvSpPr>
          <p:cNvPr id="26" name="Shape 24"/>
          <p:cNvSpPr/>
          <p:nvPr/>
        </p:nvSpPr>
        <p:spPr>
          <a:xfrm>
            <a:off x="6233008" y="2852572"/>
            <a:ext cx="5410048" cy="638658"/>
          </a:xfrm>
          <a:prstGeom prst="roundRect">
            <a:avLst>
              <a:gd name="adj" fmla="val 10022"/>
            </a:avLst>
          </a:prstGeom>
          <a:solidFill>
            <a:srgbClr val="D7EDE9"/>
          </a:solidFill>
          <a:ln/>
        </p:spPr>
      </p:sp>
      <p:sp>
        <p:nvSpPr>
          <p:cNvPr id="27" name="Text 25"/>
          <p:cNvSpPr txBox="1"/>
          <p:nvPr/>
        </p:nvSpPr>
        <p:spPr>
          <a:xfrm>
            <a:off x="6388456" y="2925724"/>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16- ‘‘t’’ harfi ‘‘ia, io, iu’’ harflerinden önce gelirse ‘‘s’’ okunur.</a:t>
            </a:r>
            <a:endParaRPr lang="en-US" sz="1400" dirty="0"/>
          </a:p>
        </p:txBody>
      </p:sp>
      <p:sp>
        <p:nvSpPr>
          <p:cNvPr id="28" name="Shape 26"/>
          <p:cNvSpPr/>
          <p:nvPr/>
        </p:nvSpPr>
        <p:spPr>
          <a:xfrm>
            <a:off x="7001104" y="3582670"/>
            <a:ext cx="4641952" cy="391617"/>
          </a:xfrm>
          <a:prstGeom prst="roundRect">
            <a:avLst>
              <a:gd name="adj" fmla="val 16345"/>
            </a:avLst>
          </a:prstGeom>
          <a:solidFill>
            <a:srgbClr val="F6F8F8"/>
          </a:solidFill>
          <a:ln/>
        </p:spPr>
      </p:sp>
      <p:sp>
        <p:nvSpPr>
          <p:cNvPr id="29" name="Text 27"/>
          <p:cNvSpPr txBox="1"/>
          <p:nvPr/>
        </p:nvSpPr>
        <p:spPr>
          <a:xfrm>
            <a:off x="7156552" y="3655822"/>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adventitia (adventisya): </a:t>
            </a:r>
            <a:r>
              <a:rPr lang="en-US" sz="1300" dirty="0">
                <a:solidFill>
                  <a:srgbClr val="1F2937"/>
                </a:solidFill>
                <a:latin typeface="Calibri" pitchFamily="34" charset="0"/>
                <a:ea typeface="Calibri" pitchFamily="34" charset="-122"/>
                <a:cs typeface="Calibri" pitchFamily="34" charset="-120"/>
              </a:rPr>
              <a:t>Damarın dış tabakası</a:t>
            </a:r>
            <a:endParaRPr lang="en-US" sz="1300" dirty="0"/>
          </a:p>
        </p:txBody>
      </p:sp>
      <p:sp>
        <p:nvSpPr>
          <p:cNvPr id="30" name="Shape 28"/>
          <p:cNvSpPr/>
          <p:nvPr/>
        </p:nvSpPr>
        <p:spPr>
          <a:xfrm>
            <a:off x="7001104" y="4065727"/>
            <a:ext cx="4641952" cy="391617"/>
          </a:xfrm>
          <a:prstGeom prst="roundRect">
            <a:avLst>
              <a:gd name="adj" fmla="val 16345"/>
            </a:avLst>
          </a:prstGeom>
          <a:solidFill>
            <a:srgbClr val="F6F8F8"/>
          </a:solidFill>
          <a:ln/>
        </p:spPr>
      </p:sp>
      <p:sp>
        <p:nvSpPr>
          <p:cNvPr id="31" name="Text 29"/>
          <p:cNvSpPr txBox="1"/>
          <p:nvPr/>
        </p:nvSpPr>
        <p:spPr>
          <a:xfrm>
            <a:off x="7156552" y="4138879"/>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articulatio (artikulasyo): </a:t>
            </a:r>
            <a:r>
              <a:rPr lang="en-US" sz="1300" dirty="0">
                <a:solidFill>
                  <a:srgbClr val="1F2937"/>
                </a:solidFill>
                <a:latin typeface="Calibri" pitchFamily="34" charset="0"/>
                <a:ea typeface="Calibri" pitchFamily="34" charset="-122"/>
                <a:cs typeface="Calibri" pitchFamily="34" charset="-120"/>
              </a:rPr>
              <a:t>Eklem</a:t>
            </a:r>
            <a:endParaRPr lang="en-US" sz="1300" dirty="0"/>
          </a:p>
        </p:txBody>
      </p:sp>
      <p:sp>
        <p:nvSpPr>
          <p:cNvPr id="32" name="Shape 30"/>
          <p:cNvSpPr/>
          <p:nvPr/>
        </p:nvSpPr>
        <p:spPr>
          <a:xfrm>
            <a:off x="7001104" y="4548784"/>
            <a:ext cx="4641952" cy="794461"/>
          </a:xfrm>
          <a:prstGeom prst="roundRect">
            <a:avLst>
              <a:gd name="adj" fmla="val 8057"/>
            </a:avLst>
          </a:prstGeom>
          <a:solidFill>
            <a:srgbClr val="F6F8F8"/>
          </a:solidFill>
          <a:ln/>
        </p:spPr>
      </p:sp>
      <p:sp>
        <p:nvSpPr>
          <p:cNvPr id="33" name="Text 31"/>
          <p:cNvSpPr txBox="1"/>
          <p:nvPr/>
        </p:nvSpPr>
        <p:spPr>
          <a:xfrm>
            <a:off x="7156552" y="4621936"/>
            <a:ext cx="4331056" cy="648157"/>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rehabilitation (rehabilitasyon): </a:t>
            </a:r>
            <a:r>
              <a:rPr lang="en-US" sz="1300" dirty="0">
                <a:solidFill>
                  <a:srgbClr val="1F2937"/>
                </a:solidFill>
                <a:latin typeface="Calibri" pitchFamily="34" charset="0"/>
                <a:ea typeface="Calibri" pitchFamily="34" charset="-122"/>
                <a:cs typeface="Calibri" pitchFamily="34" charset="-120"/>
              </a:rPr>
              <a:t>Çalışma yeteneğini kaybetmiş organ veya vücut parçasını yeniden eski gücüne ve yeteneğine kazandırma</a:t>
            </a:r>
            <a:endParaRPr lang="en-US" sz="1300" dirty="0"/>
          </a:p>
        </p:txBody>
      </p:sp>
      <p:sp>
        <p:nvSpPr>
          <p:cNvPr id="34" name="Shape 32"/>
          <p:cNvSpPr/>
          <p:nvPr/>
        </p:nvSpPr>
        <p:spPr>
          <a:xfrm>
            <a:off x="7001104" y="5434686"/>
            <a:ext cx="4641952" cy="391617"/>
          </a:xfrm>
          <a:prstGeom prst="roundRect">
            <a:avLst>
              <a:gd name="adj" fmla="val 16345"/>
            </a:avLst>
          </a:prstGeom>
          <a:solidFill>
            <a:srgbClr val="F6F8F8"/>
          </a:solidFill>
          <a:ln/>
        </p:spPr>
      </p:sp>
      <p:sp>
        <p:nvSpPr>
          <p:cNvPr id="35" name="Text 33"/>
          <p:cNvSpPr txBox="1"/>
          <p:nvPr/>
        </p:nvSpPr>
        <p:spPr>
          <a:xfrm>
            <a:off x="7156552" y="5507838"/>
            <a:ext cx="4331056" cy="245313"/>
          </a:xfrm>
          <a:prstGeom prst="rect">
            <a:avLst/>
          </a:prstGeom>
          <a:noFill/>
          <a:ln/>
        </p:spPr>
        <p:txBody>
          <a:bodyPr wrap="square" lIns="0" tIns="0" rIns="0" bIns="0" rtlCol="0" anchor="t"/>
          <a:lstStyle/>
          <a:p>
            <a:pPr marL="0" indent="0">
              <a:lnSpc>
                <a:spcPct val="105000"/>
              </a:lnSpc>
              <a:buNone/>
            </a:pPr>
            <a:r>
              <a:rPr lang="en-US" sz="1300" b="1" dirty="0">
                <a:solidFill>
                  <a:srgbClr val="0F766E"/>
                </a:solidFill>
                <a:latin typeface="Calibri" pitchFamily="34" charset="0"/>
                <a:ea typeface="Calibri" pitchFamily="34" charset="-122"/>
                <a:cs typeface="Calibri" pitchFamily="34" charset="-120"/>
              </a:rPr>
              <a:t>spatium (spasyum): </a:t>
            </a:r>
            <a:r>
              <a:rPr lang="en-US" sz="1300" dirty="0">
                <a:solidFill>
                  <a:srgbClr val="1F2937"/>
                </a:solidFill>
                <a:latin typeface="Calibri" pitchFamily="34" charset="0"/>
                <a:ea typeface="Calibri" pitchFamily="34" charset="-122"/>
                <a:cs typeface="Calibri" pitchFamily="34" charset="-120"/>
              </a:rPr>
              <a:t>Aralık, oda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Latince sözcüklerin okunuş kuralları şöyle sıralanabilir: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48640" y="3074010"/>
            <a:ext cx="11094415" cy="821131"/>
          </a:xfrm>
          <a:prstGeom prst="roundRect">
            <a:avLst>
              <a:gd name="adj" fmla="val 7795"/>
            </a:avLst>
          </a:prstGeom>
          <a:solidFill>
            <a:srgbClr val="D7EDE9"/>
          </a:solidFill>
          <a:ln/>
        </p:spPr>
      </p:sp>
      <p:sp>
        <p:nvSpPr>
          <p:cNvPr id="7" name="Text 5"/>
          <p:cNvSpPr txBox="1"/>
          <p:nvPr/>
        </p:nvSpPr>
        <p:spPr>
          <a:xfrm>
            <a:off x="704088" y="314716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17- ‘‘s’’ harfi ‘‘m/n’’ harfleri ile bitişik olduğu zaman veya iki ünlü arasında olduğu zaman ‘‘z’’ okunur.</a:t>
            </a:r>
            <a:endParaRPr lang="en-US" sz="1800" dirty="0"/>
          </a:p>
        </p:txBody>
      </p:sp>
      <p:sp>
        <p:nvSpPr>
          <p:cNvPr id="8" name="Shape 6"/>
          <p:cNvSpPr/>
          <p:nvPr/>
        </p:nvSpPr>
        <p:spPr>
          <a:xfrm>
            <a:off x="1316736" y="3986581"/>
            <a:ext cx="10326319" cy="512115"/>
          </a:xfrm>
          <a:prstGeom prst="roundRect">
            <a:avLst>
              <a:gd name="adj" fmla="val 12499"/>
            </a:avLst>
          </a:prstGeom>
          <a:solidFill>
            <a:srgbClr val="F6F8F8"/>
          </a:solidFill>
          <a:ln/>
        </p:spPr>
      </p:sp>
      <p:sp>
        <p:nvSpPr>
          <p:cNvPr id="9" name="Text 7"/>
          <p:cNvSpPr txBox="1"/>
          <p:nvPr/>
        </p:nvSpPr>
        <p:spPr>
          <a:xfrm>
            <a:off x="1472184" y="4059733"/>
            <a:ext cx="10015423" cy="365811"/>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spasm (spazm): </a:t>
            </a:r>
            <a:r>
              <a:rPr lang="en-US" sz="1700" dirty="0">
                <a:solidFill>
                  <a:srgbClr val="1F2937"/>
                </a:solidFill>
                <a:latin typeface="Calibri" pitchFamily="34" charset="0"/>
                <a:ea typeface="Calibri" pitchFamily="34" charset="-122"/>
                <a:cs typeface="Calibri" pitchFamily="34" charset="-120"/>
              </a:rPr>
              <a:t>Kasların aniden istem dışı kasılması</a:t>
            </a:r>
            <a:endParaRPr lang="en-US" sz="1700" dirty="0"/>
          </a:p>
        </p:txBody>
      </p:sp>
      <p:sp>
        <p:nvSpPr>
          <p:cNvPr id="10" name="Shape 8"/>
          <p:cNvSpPr/>
          <p:nvPr/>
        </p:nvSpPr>
        <p:spPr>
          <a:xfrm>
            <a:off x="1316736" y="4590136"/>
            <a:ext cx="10326319" cy="512115"/>
          </a:xfrm>
          <a:prstGeom prst="roundRect">
            <a:avLst>
              <a:gd name="adj" fmla="val 12499"/>
            </a:avLst>
          </a:prstGeom>
          <a:solidFill>
            <a:srgbClr val="F6F8F8"/>
          </a:solidFill>
          <a:ln/>
        </p:spPr>
      </p:sp>
      <p:sp>
        <p:nvSpPr>
          <p:cNvPr id="11" name="Text 9"/>
          <p:cNvSpPr txBox="1"/>
          <p:nvPr/>
        </p:nvSpPr>
        <p:spPr>
          <a:xfrm>
            <a:off x="1472184" y="4663288"/>
            <a:ext cx="10015423" cy="365811"/>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aneurysma (anevrizma): </a:t>
            </a:r>
            <a:r>
              <a:rPr lang="en-US" sz="1700" dirty="0">
                <a:solidFill>
                  <a:srgbClr val="1F2937"/>
                </a:solidFill>
                <a:latin typeface="Calibri" pitchFamily="34" charset="0"/>
                <a:ea typeface="Calibri" pitchFamily="34" charset="-122"/>
                <a:cs typeface="Calibri" pitchFamily="34" charset="-120"/>
              </a:rPr>
              <a:t>Damarların bir bölgesinde oluşan balon şeklinde genişleme</a:t>
            </a:r>
            <a:endParaRPr lang="en-US" sz="1700" dirty="0"/>
          </a:p>
        </p:txBody>
      </p:sp>
      <p:sp>
        <p:nvSpPr>
          <p:cNvPr id="12" name="Shape 10"/>
          <p:cNvSpPr/>
          <p:nvPr/>
        </p:nvSpPr>
        <p:spPr>
          <a:xfrm>
            <a:off x="1316736" y="5193690"/>
            <a:ext cx="10326319" cy="512115"/>
          </a:xfrm>
          <a:prstGeom prst="roundRect">
            <a:avLst>
              <a:gd name="adj" fmla="val 12499"/>
            </a:avLst>
          </a:prstGeom>
          <a:solidFill>
            <a:srgbClr val="F6F8F8"/>
          </a:solidFill>
          <a:ln/>
        </p:spPr>
      </p:sp>
      <p:sp>
        <p:nvSpPr>
          <p:cNvPr id="13" name="Text 11"/>
          <p:cNvSpPr txBox="1"/>
          <p:nvPr/>
        </p:nvSpPr>
        <p:spPr>
          <a:xfrm>
            <a:off x="1472184" y="5266842"/>
            <a:ext cx="10015423" cy="365811"/>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menopause (menopoz): </a:t>
            </a:r>
            <a:r>
              <a:rPr lang="en-US" sz="1700" dirty="0">
                <a:solidFill>
                  <a:srgbClr val="1F2937"/>
                </a:solidFill>
                <a:latin typeface="Calibri" pitchFamily="34" charset="0"/>
                <a:ea typeface="Calibri" pitchFamily="34" charset="-122"/>
                <a:cs typeface="Calibri" pitchFamily="34" charset="-120"/>
              </a:rPr>
              <a:t>Adet kanamasının kesilmesi</a:t>
            </a:r>
            <a:endParaRPr lang="en-US" sz="1700" dirty="0"/>
          </a:p>
        </p:txBody>
      </p:sp>
      <p:sp>
        <p:nvSpPr>
          <p:cNvPr id="14" name="Shape 12"/>
          <p:cNvSpPr/>
          <p:nvPr/>
        </p:nvSpPr>
        <p:spPr>
          <a:xfrm>
            <a:off x="1316736" y="5797245"/>
            <a:ext cx="10326319" cy="512115"/>
          </a:xfrm>
          <a:prstGeom prst="roundRect">
            <a:avLst>
              <a:gd name="adj" fmla="val 12499"/>
            </a:avLst>
          </a:prstGeom>
          <a:solidFill>
            <a:srgbClr val="F6F8F8"/>
          </a:solidFill>
          <a:ln/>
        </p:spPr>
      </p:sp>
      <p:sp>
        <p:nvSpPr>
          <p:cNvPr id="15" name="Text 13"/>
          <p:cNvSpPr txBox="1"/>
          <p:nvPr/>
        </p:nvSpPr>
        <p:spPr>
          <a:xfrm>
            <a:off x="1472184" y="5870397"/>
            <a:ext cx="10015423" cy="365811"/>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anaesthesia (anestezi): </a:t>
            </a:r>
            <a:r>
              <a:rPr lang="en-US" sz="1700" dirty="0">
                <a:solidFill>
                  <a:srgbClr val="1F2937"/>
                </a:solidFill>
                <a:latin typeface="Calibri" pitchFamily="34" charset="0"/>
                <a:ea typeface="Calibri" pitchFamily="34" charset="-122"/>
                <a:cs typeface="Calibri" pitchFamily="34" charset="-120"/>
              </a:rPr>
              <a:t>Duygusuzluk duygusuzlaştırma</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Öğeler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2468880"/>
            <a:ext cx="11094415" cy="1100023"/>
          </a:xfrm>
          <a:prstGeom prst="roundRect">
            <a:avLst>
              <a:gd name="adj" fmla="val 5819"/>
            </a:avLst>
          </a:prstGeom>
          <a:solidFill>
            <a:srgbClr val="EAF6F4"/>
          </a:solidFill>
          <a:ln/>
        </p:spPr>
      </p:sp>
      <p:sp>
        <p:nvSpPr>
          <p:cNvPr id="7" name="Text 5"/>
          <p:cNvSpPr txBox="1"/>
          <p:nvPr/>
        </p:nvSpPr>
        <p:spPr>
          <a:xfrm>
            <a:off x="704088" y="2542032"/>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terimlerini öğrenme yeni bir dil öğrenmeye benzer. Tıpta kullanılan özel terimler ayrı bir dil gibidir. Tıp ve sağlık alanında çalışanlar bu dille konuşurlar ve anlaşırlar. Tıp dilindeki sözcükler </a:t>
            </a:r>
            <a:r>
              <a:rPr lang="en-US" sz="1800" b="1" dirty="0">
                <a:solidFill>
                  <a:srgbClr val="1F2937"/>
                </a:solidFill>
                <a:latin typeface="Calibri" pitchFamily="34" charset="0"/>
                <a:ea typeface="Calibri" pitchFamily="34" charset="-122"/>
                <a:cs typeface="Calibri" pitchFamily="34" charset="-120"/>
              </a:rPr>
              <a:t>terim</a:t>
            </a:r>
            <a:r>
              <a:rPr lang="en-US" sz="1800" dirty="0">
                <a:solidFill>
                  <a:srgbClr val="1F2937"/>
                </a:solidFill>
                <a:latin typeface="Calibri" pitchFamily="34" charset="0"/>
                <a:ea typeface="Calibri" pitchFamily="34" charset="-122"/>
                <a:cs typeface="Calibri" pitchFamily="34" charset="-120"/>
              </a:rPr>
              <a:t> olarak adlandırılır.</a:t>
            </a:r>
            <a:endParaRPr lang="en-US" sz="1800" dirty="0"/>
          </a:p>
        </p:txBody>
      </p:sp>
      <p:sp>
        <p:nvSpPr>
          <p:cNvPr id="8" name="Shape 6"/>
          <p:cNvSpPr/>
          <p:nvPr/>
        </p:nvSpPr>
        <p:spPr>
          <a:xfrm>
            <a:off x="548640" y="3660343"/>
            <a:ext cx="11094415" cy="1100023"/>
          </a:xfrm>
          <a:prstGeom prst="roundRect">
            <a:avLst>
              <a:gd name="adj" fmla="val 5819"/>
            </a:avLst>
          </a:prstGeom>
          <a:solidFill>
            <a:srgbClr val="EAF6F4"/>
          </a:solidFill>
          <a:ln/>
        </p:spPr>
      </p:sp>
      <p:sp>
        <p:nvSpPr>
          <p:cNvPr id="9" name="Text 7"/>
          <p:cNvSpPr txBox="1"/>
          <p:nvPr/>
        </p:nvSpPr>
        <p:spPr>
          <a:xfrm>
            <a:off x="704088" y="3733495"/>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 çok sık kullanılan belli kalıpların anlamlarını taşımalarına karşın, ilk duyulduklarında garip anlaşılmaz ve karmaşık gelirler. Terim basit ya da karmaşık da olsa daha basit parçalara bölünerek çözümlenir ve anlaşılır.</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1965046"/>
            <a:ext cx="11094415" cy="542239"/>
          </a:xfrm>
          <a:prstGeom prst="roundRect">
            <a:avLst>
              <a:gd name="adj" fmla="val 11804"/>
            </a:avLst>
          </a:prstGeom>
          <a:solidFill>
            <a:srgbClr val="EAF6F4"/>
          </a:solidFill>
          <a:ln/>
        </p:spPr>
      </p:sp>
      <p:sp>
        <p:nvSpPr>
          <p:cNvPr id="7" name="Text 5"/>
          <p:cNvSpPr txBox="1"/>
          <p:nvPr/>
        </p:nvSpPr>
        <p:spPr>
          <a:xfrm>
            <a:off x="704088" y="2038198"/>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 bir ya da daha çok kök içerirler.</a:t>
            </a:r>
            <a:endParaRPr lang="en-US" sz="1800" dirty="0"/>
          </a:p>
        </p:txBody>
      </p:sp>
      <p:sp>
        <p:nvSpPr>
          <p:cNvPr id="8" name="Shape 6"/>
          <p:cNvSpPr/>
          <p:nvPr/>
        </p:nvSpPr>
        <p:spPr>
          <a:xfrm>
            <a:off x="548640" y="2598725"/>
            <a:ext cx="11094415" cy="542239"/>
          </a:xfrm>
          <a:prstGeom prst="roundRect">
            <a:avLst>
              <a:gd name="adj" fmla="val 11804"/>
            </a:avLst>
          </a:prstGeom>
          <a:solidFill>
            <a:srgbClr val="EAF6F4"/>
          </a:solidFill>
          <a:ln/>
        </p:spPr>
      </p:sp>
      <p:sp>
        <p:nvSpPr>
          <p:cNvPr id="9" name="Text 7"/>
          <p:cNvSpPr txBox="1"/>
          <p:nvPr/>
        </p:nvSpPr>
        <p:spPr>
          <a:xfrm>
            <a:off x="704088" y="2671877"/>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Köklerin başına ve sonuna ekler gelir.</a:t>
            </a:r>
            <a:endParaRPr lang="en-US" sz="1800" dirty="0"/>
          </a:p>
        </p:txBody>
      </p:sp>
      <p:sp>
        <p:nvSpPr>
          <p:cNvPr id="10" name="Shape 8"/>
          <p:cNvSpPr/>
          <p:nvPr/>
        </p:nvSpPr>
        <p:spPr>
          <a:xfrm>
            <a:off x="548640" y="3232404"/>
            <a:ext cx="11094415" cy="542239"/>
          </a:xfrm>
          <a:prstGeom prst="roundRect">
            <a:avLst>
              <a:gd name="adj" fmla="val 11804"/>
            </a:avLst>
          </a:prstGeom>
          <a:solidFill>
            <a:srgbClr val="EAF6F4"/>
          </a:solidFill>
          <a:ln/>
        </p:spPr>
      </p:sp>
      <p:sp>
        <p:nvSpPr>
          <p:cNvPr id="11" name="Text 9"/>
          <p:cNvSpPr txBox="1"/>
          <p:nvPr/>
        </p:nvSpPr>
        <p:spPr>
          <a:xfrm>
            <a:off x="704088" y="3305556"/>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Kökler ile ekler arasında kaynaştıran ünlü (o) bulunur.</a:t>
            </a:r>
            <a:endParaRPr lang="en-US" sz="1800" dirty="0"/>
          </a:p>
        </p:txBody>
      </p:sp>
      <p:sp>
        <p:nvSpPr>
          <p:cNvPr id="12" name="Shape 10"/>
          <p:cNvSpPr/>
          <p:nvPr/>
        </p:nvSpPr>
        <p:spPr>
          <a:xfrm>
            <a:off x="548640" y="3866083"/>
            <a:ext cx="11094415" cy="542239"/>
          </a:xfrm>
          <a:prstGeom prst="roundRect">
            <a:avLst>
              <a:gd name="adj" fmla="val 11804"/>
            </a:avLst>
          </a:prstGeom>
          <a:solidFill>
            <a:srgbClr val="EAF6F4"/>
          </a:solidFill>
          <a:ln/>
        </p:spPr>
      </p:sp>
      <p:sp>
        <p:nvSpPr>
          <p:cNvPr id="13" name="Text 11"/>
          <p:cNvSpPr txBox="1"/>
          <p:nvPr/>
        </p:nvSpPr>
        <p:spPr>
          <a:xfrm>
            <a:off x="704088" y="393923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Örnek: </a:t>
            </a:r>
            <a:r>
              <a:rPr lang="en-US" sz="1800" dirty="0">
                <a:solidFill>
                  <a:srgbClr val="1F2937"/>
                </a:solidFill>
                <a:latin typeface="Calibri" pitchFamily="34" charset="0"/>
                <a:ea typeface="Calibri" pitchFamily="34" charset="-122"/>
                <a:cs typeface="Calibri" pitchFamily="34" charset="-120"/>
              </a:rPr>
              <a:t>electr/o/cardi/o/gram</a:t>
            </a:r>
            <a:endParaRPr lang="en-US" sz="1800" dirty="0"/>
          </a:p>
        </p:txBody>
      </p:sp>
      <p:sp>
        <p:nvSpPr>
          <p:cNvPr id="14" name="Shape 12"/>
          <p:cNvSpPr/>
          <p:nvPr/>
        </p:nvSpPr>
        <p:spPr>
          <a:xfrm>
            <a:off x="548640" y="4499762"/>
            <a:ext cx="11094415" cy="542239"/>
          </a:xfrm>
          <a:prstGeom prst="roundRect">
            <a:avLst>
              <a:gd name="adj" fmla="val 11804"/>
            </a:avLst>
          </a:prstGeom>
          <a:solidFill>
            <a:srgbClr val="EAF6F4"/>
          </a:solidFill>
          <a:ln/>
        </p:spPr>
      </p:sp>
      <p:sp>
        <p:nvSpPr>
          <p:cNvPr id="15" name="Text 13"/>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Bazı terimlerde kaynaştırma ünlüsü bulunmaz</a:t>
            </a:r>
            <a:endParaRPr lang="en-US" sz="1800" dirty="0"/>
          </a:p>
        </p:txBody>
      </p:sp>
      <p:sp>
        <p:nvSpPr>
          <p:cNvPr id="16" name="Shape 14"/>
          <p:cNvSpPr/>
          <p:nvPr/>
        </p:nvSpPr>
        <p:spPr>
          <a:xfrm>
            <a:off x="548640" y="5133442"/>
            <a:ext cx="11094415" cy="542239"/>
          </a:xfrm>
          <a:prstGeom prst="roundRect">
            <a:avLst>
              <a:gd name="adj" fmla="val 11804"/>
            </a:avLst>
          </a:prstGeom>
          <a:solidFill>
            <a:srgbClr val="EAF6F4"/>
          </a:solidFill>
          <a:ln/>
        </p:spPr>
      </p:sp>
      <p:sp>
        <p:nvSpPr>
          <p:cNvPr id="17" name="Text 15"/>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Örnek: </a:t>
            </a:r>
            <a:r>
              <a:rPr lang="en-US" sz="1800" dirty="0">
                <a:solidFill>
                  <a:srgbClr val="1F2937"/>
                </a:solidFill>
                <a:latin typeface="Calibri" pitchFamily="34" charset="0"/>
                <a:ea typeface="Calibri" pitchFamily="34" charset="-122"/>
                <a:cs typeface="Calibri" pitchFamily="34" charset="-120"/>
              </a:rPr>
              <a:t>Gastr/itis, mide iltihabı</a:t>
            </a:r>
            <a:endParaRPr lang="en-US" sz="1800" dirty="0"/>
          </a:p>
        </p:txBody>
      </p:sp>
      <p:sp>
        <p:nvSpPr>
          <p:cNvPr id="18" name="Shape 16"/>
          <p:cNvSpPr/>
          <p:nvPr/>
        </p:nvSpPr>
        <p:spPr>
          <a:xfrm>
            <a:off x="548640" y="5767121"/>
            <a:ext cx="11094415" cy="542239"/>
          </a:xfrm>
          <a:prstGeom prst="roundRect">
            <a:avLst>
              <a:gd name="adj" fmla="val 11804"/>
            </a:avLst>
          </a:prstGeom>
          <a:solidFill>
            <a:srgbClr val="EAF6F4"/>
          </a:solidFill>
          <a:ln/>
        </p:spPr>
      </p:sp>
      <p:sp>
        <p:nvSpPr>
          <p:cNvPr id="19" name="Text 17"/>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hypo/gastr/ic, midenin alt kısımıyla ilgili</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2547518"/>
            <a:ext cx="11094415" cy="1378915"/>
          </a:xfrm>
          <a:prstGeom prst="roundRect">
            <a:avLst>
              <a:gd name="adj" fmla="val 4642"/>
            </a:avLst>
          </a:prstGeom>
          <a:solidFill>
            <a:srgbClr val="EAF6F4"/>
          </a:solidFill>
          <a:ln/>
        </p:spPr>
      </p:sp>
      <p:sp>
        <p:nvSpPr>
          <p:cNvPr id="7" name="Text 5"/>
          <p:cNvSpPr txBox="1"/>
          <p:nvPr/>
        </p:nvSpPr>
        <p:spPr>
          <a:xfrm>
            <a:off x="704088" y="2620670"/>
            <a:ext cx="10783519" cy="1232611"/>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 Kök: </a:t>
            </a:r>
            <a:r>
              <a:rPr lang="en-US" sz="1800" dirty="0">
                <a:solidFill>
                  <a:srgbClr val="1F2937"/>
                </a:solidFill>
                <a:latin typeface="Calibri" pitchFamily="34" charset="0"/>
                <a:ea typeface="Calibri" pitchFamily="34" charset="-122"/>
                <a:cs typeface="Calibri" pitchFamily="34" charset="-120"/>
              </a:rPr>
              <a:t>Bir sözcüğün anlamı ve yapısı bozulmadan, daha küçük parçalara ayrılmayan, türememiş ancak kendisinden yeni sözcükler türeyebilen ek almamış sözcükler olarak tanımlanır. Kök terimin kaynağıdır. Bir terimde birden çok kök kelime olabilir. Örnek: </a:t>
            </a:r>
            <a:r>
              <a:rPr lang="en-US" sz="1800" b="1" dirty="0">
                <a:solidFill>
                  <a:srgbClr val="1F2937"/>
                </a:solidFill>
                <a:latin typeface="Calibri" pitchFamily="34" charset="0"/>
                <a:ea typeface="Calibri" pitchFamily="34" charset="-122"/>
                <a:cs typeface="Calibri" pitchFamily="34" charset="-120"/>
              </a:rPr>
              <a:t>Gastric</a:t>
            </a:r>
            <a:r>
              <a:rPr lang="en-US" sz="1800" dirty="0">
                <a:solidFill>
                  <a:srgbClr val="1F2937"/>
                </a:solidFill>
                <a:latin typeface="Calibri" pitchFamily="34" charset="0"/>
                <a:ea typeface="Calibri" pitchFamily="34" charset="-122"/>
                <a:cs typeface="Calibri" pitchFamily="34" charset="-120"/>
              </a:rPr>
              <a:t> teriminin kökü olan </a:t>
            </a:r>
            <a:r>
              <a:rPr lang="en-US" sz="1800" b="1" dirty="0">
                <a:solidFill>
                  <a:srgbClr val="1F2937"/>
                </a:solidFill>
                <a:latin typeface="Calibri" pitchFamily="34" charset="0"/>
                <a:ea typeface="Calibri" pitchFamily="34" charset="-122"/>
                <a:cs typeface="Calibri" pitchFamily="34" charset="-120"/>
              </a:rPr>
              <a:t>gastr</a:t>
            </a:r>
            <a:r>
              <a:rPr lang="en-US" sz="1800" dirty="0">
                <a:solidFill>
                  <a:srgbClr val="1F2937"/>
                </a:solidFill>
                <a:latin typeface="Calibri" pitchFamily="34" charset="0"/>
                <a:ea typeface="Calibri" pitchFamily="34" charset="-122"/>
                <a:cs typeface="Calibri" pitchFamily="34" charset="-120"/>
              </a:rPr>
              <a:t> kelimesi Türkçe mide anlamına gelir.</a:t>
            </a:r>
            <a:endParaRPr lang="en-US" sz="1800" dirty="0"/>
          </a:p>
        </p:txBody>
      </p:sp>
      <p:sp>
        <p:nvSpPr>
          <p:cNvPr id="8" name="Shape 6"/>
          <p:cNvSpPr/>
          <p:nvPr/>
        </p:nvSpPr>
        <p:spPr>
          <a:xfrm>
            <a:off x="548640" y="4017874"/>
            <a:ext cx="11094415" cy="1100023"/>
          </a:xfrm>
          <a:prstGeom prst="roundRect">
            <a:avLst>
              <a:gd name="adj" fmla="val 5819"/>
            </a:avLst>
          </a:prstGeom>
          <a:solidFill>
            <a:srgbClr val="EAF6F4"/>
          </a:solidFill>
          <a:ln/>
        </p:spPr>
      </p:sp>
      <p:sp>
        <p:nvSpPr>
          <p:cNvPr id="9" name="Text 7"/>
          <p:cNvSpPr txBox="1"/>
          <p:nvPr/>
        </p:nvSpPr>
        <p:spPr>
          <a:xfrm>
            <a:off x="704088" y="4091026"/>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2- Sonek: </a:t>
            </a:r>
            <a:r>
              <a:rPr lang="en-US" sz="1800" dirty="0">
                <a:solidFill>
                  <a:srgbClr val="1F2937"/>
                </a:solidFill>
                <a:latin typeface="Calibri" pitchFamily="34" charset="0"/>
                <a:ea typeface="Calibri" pitchFamily="34" charset="-122"/>
                <a:cs typeface="Calibri" pitchFamily="34" charset="-120"/>
              </a:rPr>
              <a:t>Terimlerin sonuna eklenir. O nedenle her terimde bir tane olmaktadır. Örneğin, </a:t>
            </a:r>
            <a:r>
              <a:rPr lang="en-US" sz="1800" b="1" dirty="0">
                <a:solidFill>
                  <a:srgbClr val="1F2937"/>
                </a:solidFill>
                <a:latin typeface="Calibri" pitchFamily="34" charset="0"/>
                <a:ea typeface="Calibri" pitchFamily="34" charset="-122"/>
                <a:cs typeface="Calibri" pitchFamily="34" charset="-120"/>
              </a:rPr>
              <a:t>gastr/itis </a:t>
            </a:r>
            <a:r>
              <a:rPr lang="en-US" sz="1800" dirty="0">
                <a:solidFill>
                  <a:srgbClr val="1F2937"/>
                </a:solidFill>
                <a:latin typeface="Calibri" pitchFamily="34" charset="0"/>
                <a:ea typeface="Calibri" pitchFamily="34" charset="-122"/>
                <a:cs typeface="Calibri" pitchFamily="34" charset="-120"/>
              </a:rPr>
              <a:t>(gastirit): Mide iltihabı. Buradaki </a:t>
            </a:r>
            <a:r>
              <a:rPr lang="en-US" sz="1800" b="1" dirty="0">
                <a:solidFill>
                  <a:srgbClr val="1F2937"/>
                </a:solidFill>
                <a:latin typeface="Calibri" pitchFamily="34" charset="0"/>
                <a:ea typeface="Calibri" pitchFamily="34" charset="-122"/>
                <a:cs typeface="Calibri" pitchFamily="34" charset="-120"/>
              </a:rPr>
              <a:t>–itis </a:t>
            </a:r>
            <a:r>
              <a:rPr lang="en-US" sz="1800" dirty="0">
                <a:solidFill>
                  <a:srgbClr val="1F2937"/>
                </a:solidFill>
                <a:latin typeface="Calibri" pitchFamily="34" charset="0"/>
                <a:ea typeface="Calibri" pitchFamily="34" charset="-122"/>
                <a:cs typeface="Calibri" pitchFamily="34" charset="-120"/>
              </a:rPr>
              <a:t>son eki ‘‘</a:t>
            </a:r>
            <a:r>
              <a:rPr lang="en-US" sz="1800" b="1" dirty="0">
                <a:solidFill>
                  <a:srgbClr val="1F2937"/>
                </a:solidFill>
                <a:latin typeface="Calibri" pitchFamily="34" charset="0"/>
                <a:ea typeface="Calibri" pitchFamily="34" charset="-122"/>
                <a:cs typeface="Calibri" pitchFamily="34" charset="-120"/>
              </a:rPr>
              <a:t>iltihap</a:t>
            </a:r>
            <a:r>
              <a:rPr lang="en-US" sz="1800" dirty="0">
                <a:solidFill>
                  <a:srgbClr val="1F2937"/>
                </a:solidFill>
                <a:latin typeface="Calibri" pitchFamily="34" charset="0"/>
                <a:ea typeface="Calibri" pitchFamily="34" charset="-122"/>
                <a:cs typeface="Calibri" pitchFamily="34" charset="-120"/>
              </a:rPr>
              <a:t>’’ anlamı verir. </a:t>
            </a:r>
            <a:r>
              <a:rPr lang="en-US" sz="1800" b="1" dirty="0">
                <a:solidFill>
                  <a:srgbClr val="1F2937"/>
                </a:solidFill>
                <a:latin typeface="Calibri" pitchFamily="34" charset="0"/>
                <a:ea typeface="Calibri" pitchFamily="34" charset="-122"/>
                <a:cs typeface="Calibri" pitchFamily="34" charset="-120"/>
              </a:rPr>
              <a:t>Gastr/ic </a:t>
            </a:r>
            <a:r>
              <a:rPr lang="en-US" sz="1800" dirty="0">
                <a:solidFill>
                  <a:srgbClr val="1F2937"/>
                </a:solidFill>
                <a:latin typeface="Calibri" pitchFamily="34" charset="0"/>
                <a:ea typeface="Calibri" pitchFamily="34" charset="-122"/>
                <a:cs typeface="Calibri" pitchFamily="34" charset="-120"/>
              </a:rPr>
              <a:t>(gastrik): Mideyle ilgili, </a:t>
            </a:r>
            <a:r>
              <a:rPr lang="en-US" sz="1800" b="1" dirty="0">
                <a:solidFill>
                  <a:srgbClr val="1F2937"/>
                </a:solidFill>
                <a:latin typeface="Calibri" pitchFamily="34" charset="0"/>
                <a:ea typeface="Calibri" pitchFamily="34" charset="-122"/>
                <a:cs typeface="Calibri" pitchFamily="34" charset="-120"/>
              </a:rPr>
              <a:t>-ic </a:t>
            </a:r>
            <a:r>
              <a:rPr lang="en-US" sz="1800" dirty="0">
                <a:solidFill>
                  <a:srgbClr val="1F2937"/>
                </a:solidFill>
                <a:latin typeface="Calibri" pitchFamily="34" charset="0"/>
                <a:ea typeface="Calibri" pitchFamily="34" charset="-122"/>
                <a:cs typeface="Calibri" pitchFamily="34" charset="-120"/>
              </a:rPr>
              <a:t>son eki ise ‘‘</a:t>
            </a:r>
            <a:r>
              <a:rPr lang="en-US" sz="1800" b="1" dirty="0">
                <a:solidFill>
                  <a:srgbClr val="1F2937"/>
                </a:solidFill>
                <a:latin typeface="Calibri" pitchFamily="34" charset="0"/>
                <a:ea typeface="Calibri" pitchFamily="34" charset="-122"/>
                <a:cs typeface="Calibri" pitchFamily="34" charset="-120"/>
              </a:rPr>
              <a:t>ilgili, ait</a:t>
            </a:r>
            <a:r>
              <a:rPr lang="en-US" sz="1800" dirty="0">
                <a:solidFill>
                  <a:srgbClr val="1F2937"/>
                </a:solidFill>
                <a:latin typeface="Calibri" pitchFamily="34" charset="0"/>
                <a:ea typeface="Calibri" pitchFamily="34" charset="-122"/>
                <a:cs typeface="Calibri" pitchFamily="34" charset="-120"/>
              </a:rPr>
              <a:t>’’ anlamı verir.</a:t>
            </a:r>
            <a:endParaRPr lang="en-US" sz="1800" dirty="0"/>
          </a:p>
        </p:txBody>
      </p:sp>
      <p:sp>
        <p:nvSpPr>
          <p:cNvPr id="10" name="Shape 8"/>
          <p:cNvSpPr/>
          <p:nvPr/>
        </p:nvSpPr>
        <p:spPr>
          <a:xfrm>
            <a:off x="548640" y="5209337"/>
            <a:ext cx="11094415" cy="1100023"/>
          </a:xfrm>
          <a:prstGeom prst="roundRect">
            <a:avLst>
              <a:gd name="adj" fmla="val 5819"/>
            </a:avLst>
          </a:prstGeom>
          <a:solidFill>
            <a:srgbClr val="EAF6F4"/>
          </a:solidFill>
          <a:ln/>
        </p:spPr>
      </p:sp>
      <p:sp>
        <p:nvSpPr>
          <p:cNvPr id="11" name="Text 9"/>
          <p:cNvSpPr txBox="1"/>
          <p:nvPr/>
        </p:nvSpPr>
        <p:spPr>
          <a:xfrm>
            <a:off x="704088" y="5282489"/>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3- Önek: </a:t>
            </a:r>
            <a:r>
              <a:rPr lang="en-US" sz="1800" dirty="0">
                <a:solidFill>
                  <a:srgbClr val="1F2937"/>
                </a:solidFill>
                <a:latin typeface="Calibri" pitchFamily="34" charset="0"/>
                <a:ea typeface="Calibri" pitchFamily="34" charset="-122"/>
                <a:cs typeface="Calibri" pitchFamily="34" charset="-120"/>
              </a:rPr>
              <a:t>Terimin başında bulunur. Bir tane olur. Örnek: </a:t>
            </a:r>
            <a:r>
              <a:rPr lang="en-US" sz="1800" b="1" dirty="0">
                <a:solidFill>
                  <a:srgbClr val="1F2937"/>
                </a:solidFill>
                <a:latin typeface="Calibri" pitchFamily="34" charset="0"/>
                <a:ea typeface="Calibri" pitchFamily="34" charset="-122"/>
                <a:cs typeface="Calibri" pitchFamily="34" charset="-120"/>
              </a:rPr>
              <a:t>Epi/gastr/ic </a:t>
            </a:r>
            <a:r>
              <a:rPr lang="en-US" sz="1800" dirty="0">
                <a:solidFill>
                  <a:srgbClr val="1F2937"/>
                </a:solidFill>
                <a:latin typeface="Calibri" pitchFamily="34" charset="0"/>
                <a:ea typeface="Calibri" pitchFamily="34" charset="-122"/>
                <a:cs typeface="Calibri" pitchFamily="34" charset="-120"/>
              </a:rPr>
              <a:t>(epigastrik). Burada ön ek olan </a:t>
            </a:r>
            <a:r>
              <a:rPr lang="en-US" sz="1800" b="1" dirty="0">
                <a:solidFill>
                  <a:srgbClr val="1F2937"/>
                </a:solidFill>
                <a:latin typeface="Calibri" pitchFamily="34" charset="0"/>
                <a:ea typeface="Calibri" pitchFamily="34" charset="-122"/>
                <a:cs typeface="Calibri" pitchFamily="34" charset="-120"/>
              </a:rPr>
              <a:t>–epi</a:t>
            </a:r>
            <a:r>
              <a:rPr lang="en-US" sz="1800" dirty="0">
                <a:solidFill>
                  <a:srgbClr val="1F2937"/>
                </a:solidFill>
                <a:latin typeface="Calibri" pitchFamily="34" charset="0"/>
                <a:ea typeface="Calibri" pitchFamily="34" charset="-122"/>
                <a:cs typeface="Calibri" pitchFamily="34" charset="-120"/>
              </a:rPr>
              <a:t>’dir. ‘‘Üst, yukarı’’ anlamındaki bu ön ek, kök sözcüğe </a:t>
            </a:r>
            <a:r>
              <a:rPr lang="en-US" sz="1800" b="1" dirty="0">
                <a:solidFill>
                  <a:srgbClr val="1F2937"/>
                </a:solidFill>
                <a:latin typeface="Calibri" pitchFamily="34" charset="0"/>
                <a:ea typeface="Calibri" pitchFamily="34" charset="-122"/>
                <a:cs typeface="Calibri" pitchFamily="34" charset="-120"/>
              </a:rPr>
              <a:t>–ic </a:t>
            </a:r>
            <a:r>
              <a:rPr lang="en-US" sz="1800" dirty="0">
                <a:solidFill>
                  <a:srgbClr val="1F2937"/>
                </a:solidFill>
                <a:latin typeface="Calibri" pitchFamily="34" charset="0"/>
                <a:ea typeface="Calibri" pitchFamily="34" charset="-122"/>
                <a:cs typeface="Calibri" pitchFamily="34" charset="-120"/>
              </a:rPr>
              <a:t>(ik) sonekiyle ‘‘</a:t>
            </a:r>
            <a:r>
              <a:rPr lang="en-US" sz="1800" b="1" dirty="0">
                <a:solidFill>
                  <a:srgbClr val="1F2937"/>
                </a:solidFill>
                <a:latin typeface="Calibri" pitchFamily="34" charset="0"/>
                <a:ea typeface="Calibri" pitchFamily="34" charset="-122"/>
                <a:cs typeface="Calibri" pitchFamily="34" charset="-120"/>
              </a:rPr>
              <a:t>midenin üst ya da yukarı bölgesi ile ilgili</a:t>
            </a:r>
            <a:r>
              <a:rPr lang="en-US" sz="1800" dirty="0">
                <a:solidFill>
                  <a:srgbClr val="1F2937"/>
                </a:solidFill>
                <a:latin typeface="Calibri" pitchFamily="34" charset="0"/>
                <a:ea typeface="Calibri" pitchFamily="34" charset="-122"/>
                <a:cs typeface="Calibri" pitchFamily="34" charset="-120"/>
              </a:rPr>
              <a:t>’’ anlamı kazandırır.</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2468880"/>
            <a:ext cx="11094415" cy="2494483"/>
          </a:xfrm>
          <a:prstGeom prst="roundRect">
            <a:avLst>
              <a:gd name="adj" fmla="val 2566"/>
            </a:avLst>
          </a:prstGeom>
          <a:solidFill>
            <a:srgbClr val="EAF6F4"/>
          </a:solidFill>
          <a:ln/>
        </p:spPr>
      </p:sp>
      <p:sp>
        <p:nvSpPr>
          <p:cNvPr id="7" name="Text 5"/>
          <p:cNvSpPr txBox="1"/>
          <p:nvPr/>
        </p:nvSpPr>
        <p:spPr>
          <a:xfrm>
            <a:off x="704088" y="2542032"/>
            <a:ext cx="10783519" cy="2348179"/>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4- Kaynaştırma ünlüsü: </a:t>
            </a:r>
            <a:r>
              <a:rPr lang="en-US" sz="1800" dirty="0">
                <a:solidFill>
                  <a:srgbClr val="1F2937"/>
                </a:solidFill>
                <a:latin typeface="Calibri" pitchFamily="34" charset="0"/>
                <a:ea typeface="Calibri" pitchFamily="34" charset="-122"/>
                <a:cs typeface="Calibri" pitchFamily="34" charset="-120"/>
              </a:rPr>
              <a:t>Genelde kaynaştırma ünlüsü ‘‘</a:t>
            </a:r>
            <a:r>
              <a:rPr lang="en-US" sz="1800" b="1" dirty="0">
                <a:solidFill>
                  <a:srgbClr val="1F2937"/>
                </a:solidFill>
                <a:latin typeface="Calibri" pitchFamily="34" charset="0"/>
                <a:ea typeface="Calibri" pitchFamily="34" charset="-122"/>
                <a:cs typeface="Calibri" pitchFamily="34" charset="-120"/>
              </a:rPr>
              <a:t>o</a:t>
            </a:r>
            <a:r>
              <a:rPr lang="en-US" sz="1800" dirty="0">
                <a:solidFill>
                  <a:srgbClr val="1F2937"/>
                </a:solidFill>
                <a:latin typeface="Calibri" pitchFamily="34" charset="0"/>
                <a:ea typeface="Calibri" pitchFamily="34" charset="-122"/>
                <a:cs typeface="Calibri" pitchFamily="34" charset="-120"/>
              </a:rPr>
              <a:t>’’ harfidir. Ancak ‘‘</a:t>
            </a:r>
            <a:r>
              <a:rPr lang="en-US" sz="1800" b="1" dirty="0">
                <a:solidFill>
                  <a:srgbClr val="1F2937"/>
                </a:solidFill>
                <a:latin typeface="Calibri" pitchFamily="34" charset="0"/>
                <a:ea typeface="Calibri" pitchFamily="34" charset="-122"/>
                <a:cs typeface="Calibri" pitchFamily="34" charset="-120"/>
              </a:rPr>
              <a:t>e, a, i</a:t>
            </a:r>
            <a:r>
              <a:rPr lang="en-US" sz="1800" dirty="0">
                <a:solidFill>
                  <a:srgbClr val="1F2937"/>
                </a:solidFill>
                <a:latin typeface="Calibri" pitchFamily="34" charset="0"/>
                <a:ea typeface="Calibri" pitchFamily="34" charset="-122"/>
                <a:cs typeface="Calibri" pitchFamily="34" charset="-120"/>
              </a:rPr>
              <a:t>’’ gibi sesli harfler de kaynaştırma ünlüsü olarak kullanılabilmektedir. Kaynaştırma ünlüsü kök sözcüğü son eke ya da iki kök sözcüğü birbirine bağlar. Örnek: </a:t>
            </a:r>
            <a:r>
              <a:rPr lang="en-US" sz="1800" b="1" dirty="0">
                <a:solidFill>
                  <a:srgbClr val="1F2937"/>
                </a:solidFill>
                <a:latin typeface="Calibri" pitchFamily="34" charset="0"/>
                <a:ea typeface="Calibri" pitchFamily="34" charset="-122"/>
                <a:cs typeface="Calibri" pitchFamily="34" charset="-120"/>
              </a:rPr>
              <a:t>Cardi/o/gram </a:t>
            </a:r>
            <a:r>
              <a:rPr lang="en-US" sz="1800" dirty="0">
                <a:solidFill>
                  <a:srgbClr val="1F2937"/>
                </a:solidFill>
                <a:latin typeface="Calibri" pitchFamily="34" charset="0"/>
                <a:ea typeface="Calibri" pitchFamily="34" charset="-122"/>
                <a:cs typeface="Calibri" pitchFamily="34" charset="-120"/>
              </a:rPr>
              <a:t>(kardiyogram). Burada </a:t>
            </a:r>
            <a:r>
              <a:rPr lang="en-US" sz="1800" b="1" dirty="0">
                <a:solidFill>
                  <a:srgbClr val="1F2937"/>
                </a:solidFill>
                <a:latin typeface="Calibri" pitchFamily="34" charset="0"/>
                <a:ea typeface="Calibri" pitchFamily="34" charset="-122"/>
                <a:cs typeface="Calibri" pitchFamily="34" charset="-120"/>
              </a:rPr>
              <a:t>cardi</a:t>
            </a:r>
            <a:r>
              <a:rPr lang="en-US" sz="1800" dirty="0">
                <a:solidFill>
                  <a:srgbClr val="1F2937"/>
                </a:solidFill>
                <a:latin typeface="Calibri" pitchFamily="34" charset="0"/>
                <a:ea typeface="Calibri" pitchFamily="34" charset="-122"/>
                <a:cs typeface="Calibri" pitchFamily="34" charset="-120"/>
              </a:rPr>
              <a:t> (kardi) kök sözcüktür. ‘‘</a:t>
            </a:r>
            <a:r>
              <a:rPr lang="en-US" sz="1800" b="1" dirty="0">
                <a:solidFill>
                  <a:srgbClr val="1F2937"/>
                </a:solidFill>
                <a:latin typeface="Calibri" pitchFamily="34" charset="0"/>
                <a:ea typeface="Calibri" pitchFamily="34" charset="-122"/>
                <a:cs typeface="Calibri" pitchFamily="34" charset="-120"/>
              </a:rPr>
              <a:t>o</a:t>
            </a:r>
            <a:r>
              <a:rPr lang="en-US" sz="1800" dirty="0">
                <a:solidFill>
                  <a:srgbClr val="1F2937"/>
                </a:solidFill>
                <a:latin typeface="Calibri" pitchFamily="34" charset="0"/>
                <a:ea typeface="Calibri" pitchFamily="34" charset="-122"/>
                <a:cs typeface="Calibri" pitchFamily="34" charset="-120"/>
              </a:rPr>
              <a:t>’’ kaynaştırma ünlüsüdür. ‘‘</a:t>
            </a:r>
            <a:r>
              <a:rPr lang="en-US" sz="1800" b="1" dirty="0">
                <a:solidFill>
                  <a:srgbClr val="1F2937"/>
                </a:solidFill>
                <a:latin typeface="Calibri" pitchFamily="34" charset="0"/>
                <a:ea typeface="Calibri" pitchFamily="34" charset="-122"/>
                <a:cs typeface="Calibri" pitchFamily="34" charset="-120"/>
              </a:rPr>
              <a:t>-gram </a:t>
            </a:r>
            <a:r>
              <a:rPr lang="en-US" sz="1800" dirty="0">
                <a:solidFill>
                  <a:srgbClr val="1F2937"/>
                </a:solidFill>
                <a:latin typeface="Calibri" pitchFamily="34" charset="0"/>
                <a:ea typeface="Calibri" pitchFamily="34" charset="-122"/>
                <a:cs typeface="Calibri" pitchFamily="34" charset="-120"/>
              </a:rPr>
              <a:t>(gram)’’ ise sonektir. Burada ‘‘</a:t>
            </a:r>
            <a:r>
              <a:rPr lang="en-US" sz="1800" b="1" dirty="0">
                <a:solidFill>
                  <a:srgbClr val="1F2937"/>
                </a:solidFill>
                <a:latin typeface="Calibri" pitchFamily="34" charset="0"/>
                <a:ea typeface="Calibri" pitchFamily="34" charset="-122"/>
                <a:cs typeface="Calibri" pitchFamily="34" charset="-120"/>
              </a:rPr>
              <a:t>o</a:t>
            </a:r>
            <a:r>
              <a:rPr lang="en-US" sz="1800" dirty="0">
                <a:solidFill>
                  <a:srgbClr val="1F2937"/>
                </a:solidFill>
                <a:latin typeface="Calibri" pitchFamily="34" charset="0"/>
                <a:ea typeface="Calibri" pitchFamily="34" charset="-122"/>
                <a:cs typeface="Calibri" pitchFamily="34" charset="-120"/>
              </a:rPr>
              <a:t>’’ kaynaştırma ünlüsü kök sözcüğü soneke bağlamıştır. </a:t>
            </a:r>
            <a:r>
              <a:rPr lang="en-US" sz="1800" b="1" dirty="0">
                <a:solidFill>
                  <a:srgbClr val="1F2937"/>
                </a:solidFill>
                <a:latin typeface="Calibri" pitchFamily="34" charset="0"/>
                <a:ea typeface="Calibri" pitchFamily="34" charset="-122"/>
                <a:cs typeface="Calibri" pitchFamily="34" charset="-120"/>
              </a:rPr>
              <a:t>Electr/o/cardi/o/gram </a:t>
            </a:r>
            <a:r>
              <a:rPr lang="en-US" sz="1800" dirty="0">
                <a:solidFill>
                  <a:srgbClr val="1F2937"/>
                </a:solidFill>
                <a:latin typeface="Calibri" pitchFamily="34" charset="0"/>
                <a:ea typeface="Calibri" pitchFamily="34" charset="-122"/>
                <a:cs typeface="Calibri" pitchFamily="34" charset="-120"/>
              </a:rPr>
              <a:t>(elektrokardiyogram) terimindeki ilk kaynaştırma ünlüsü iki kök sözcüğü birbirine bağlamıştır. Sonekin baş harfi bir ünlü harf ise bu ‘‘</a:t>
            </a:r>
            <a:r>
              <a:rPr lang="en-US" sz="1800" b="1" dirty="0">
                <a:solidFill>
                  <a:srgbClr val="1F2937"/>
                </a:solidFill>
                <a:latin typeface="Calibri" pitchFamily="34" charset="0"/>
                <a:ea typeface="Calibri" pitchFamily="34" charset="-122"/>
                <a:cs typeface="Calibri" pitchFamily="34" charset="-120"/>
              </a:rPr>
              <a:t>o</a:t>
            </a:r>
            <a:r>
              <a:rPr lang="en-US" sz="1800" dirty="0">
                <a:solidFill>
                  <a:srgbClr val="1F2937"/>
                </a:solidFill>
                <a:latin typeface="Calibri" pitchFamily="34" charset="0"/>
                <a:ea typeface="Calibri" pitchFamily="34" charset="-122"/>
                <a:cs typeface="Calibri" pitchFamily="34" charset="-120"/>
              </a:rPr>
              <a:t>’’ sesli harfi kalkar. Çok seyrek de olsa ‘‘</a:t>
            </a:r>
            <a:r>
              <a:rPr lang="en-US" sz="1800" b="1" dirty="0">
                <a:solidFill>
                  <a:srgbClr val="1F2937"/>
                </a:solidFill>
                <a:latin typeface="Calibri" pitchFamily="34" charset="0"/>
                <a:ea typeface="Calibri" pitchFamily="34" charset="-122"/>
                <a:cs typeface="Calibri" pitchFamily="34" charset="-120"/>
              </a:rPr>
              <a:t>i</a:t>
            </a:r>
            <a:r>
              <a:rPr lang="en-US" sz="1800" dirty="0">
                <a:solidFill>
                  <a:srgbClr val="1F2937"/>
                </a:solidFill>
                <a:latin typeface="Calibri" pitchFamily="34" charset="0"/>
                <a:ea typeface="Calibri" pitchFamily="34" charset="-122"/>
                <a:cs typeface="Calibri" pitchFamily="34" charset="-120"/>
              </a:rPr>
              <a:t>’’ kaynaştırma ünlüsü olarak kullanılmaktadır. Örnek: </a:t>
            </a:r>
            <a:r>
              <a:rPr lang="en-US" sz="1800" b="1" dirty="0">
                <a:solidFill>
                  <a:srgbClr val="1F2937"/>
                </a:solidFill>
                <a:latin typeface="Calibri" pitchFamily="34" charset="0"/>
                <a:ea typeface="Calibri" pitchFamily="34" charset="-122"/>
                <a:cs typeface="Calibri" pitchFamily="34" charset="-120"/>
              </a:rPr>
              <a:t>Ren/i/formis</a:t>
            </a:r>
            <a:r>
              <a:rPr lang="en-US" sz="1800" dirty="0">
                <a:solidFill>
                  <a:srgbClr val="1F2937"/>
                </a:solidFill>
                <a:latin typeface="Calibri" pitchFamily="34" charset="0"/>
                <a:ea typeface="Calibri" pitchFamily="34" charset="-122"/>
                <a:cs typeface="Calibri" pitchFamily="34" charset="-120"/>
              </a:rPr>
              <a:t> (reniformis), böbrek biçiminde.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2103628"/>
            <a:ext cx="5410048" cy="1149096"/>
          </a:xfrm>
          <a:prstGeom prst="roundRect">
            <a:avLst>
              <a:gd name="adj" fmla="val 5570"/>
            </a:avLst>
          </a:prstGeom>
          <a:solidFill>
            <a:srgbClr val="EAF6F4"/>
          </a:solidFill>
          <a:ln/>
        </p:spPr>
      </p:sp>
      <p:sp>
        <p:nvSpPr>
          <p:cNvPr id="7" name="Text 5"/>
          <p:cNvSpPr txBox="1"/>
          <p:nvPr/>
        </p:nvSpPr>
        <p:spPr>
          <a:xfrm>
            <a:off x="704088" y="2176780"/>
            <a:ext cx="5099152" cy="100279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 Birleşik kök: </a:t>
            </a:r>
            <a:r>
              <a:rPr lang="en-US" sz="1500" dirty="0">
                <a:solidFill>
                  <a:srgbClr val="1F2937"/>
                </a:solidFill>
                <a:latin typeface="Calibri" pitchFamily="34" charset="0"/>
                <a:ea typeface="Calibri" pitchFamily="34" charset="-122"/>
                <a:cs typeface="Calibri" pitchFamily="34" charset="-120"/>
              </a:rPr>
              <a:t>Bir kök sözcüğün kaynaştırma ünlüsüyle birlikte olan şekline </a:t>
            </a:r>
            <a:r>
              <a:rPr lang="en-US" sz="1500" b="1" dirty="0">
                <a:solidFill>
                  <a:srgbClr val="1F2937"/>
                </a:solidFill>
                <a:latin typeface="Calibri" pitchFamily="34" charset="0"/>
                <a:ea typeface="Calibri" pitchFamily="34" charset="-122"/>
                <a:cs typeface="Calibri" pitchFamily="34" charset="-120"/>
              </a:rPr>
              <a:t>birleşik kök </a:t>
            </a:r>
            <a:r>
              <a:rPr lang="en-US" sz="1500" dirty="0">
                <a:solidFill>
                  <a:srgbClr val="1F2937"/>
                </a:solidFill>
                <a:latin typeface="Calibri" pitchFamily="34" charset="0"/>
                <a:ea typeface="Calibri" pitchFamily="34" charset="-122"/>
                <a:cs typeface="Calibri" pitchFamily="34" charset="-120"/>
              </a:rPr>
              <a:t>denir. Örnek: </a:t>
            </a:r>
            <a:r>
              <a:rPr lang="en-US" sz="1500" b="1" dirty="0">
                <a:solidFill>
                  <a:srgbClr val="1F2937"/>
                </a:solidFill>
                <a:latin typeface="Calibri" pitchFamily="34" charset="0"/>
                <a:ea typeface="Calibri" pitchFamily="34" charset="-122"/>
                <a:cs typeface="Calibri" pitchFamily="34" charset="-120"/>
              </a:rPr>
              <a:t>Cardi/o/gram</a:t>
            </a:r>
            <a:r>
              <a:rPr lang="en-US" sz="1500" dirty="0">
                <a:solidFill>
                  <a:srgbClr val="1F2937"/>
                </a:solidFill>
                <a:latin typeface="Calibri" pitchFamily="34" charset="0"/>
                <a:ea typeface="Calibri" pitchFamily="34" charset="-122"/>
                <a:cs typeface="Calibri" pitchFamily="34" charset="-120"/>
              </a:rPr>
              <a:t>. Burada </a:t>
            </a:r>
            <a:r>
              <a:rPr lang="en-US" sz="1500" b="1" dirty="0">
                <a:solidFill>
                  <a:srgbClr val="1F2937"/>
                </a:solidFill>
                <a:latin typeface="Calibri" pitchFamily="34" charset="0"/>
                <a:ea typeface="Calibri" pitchFamily="34" charset="-122"/>
                <a:cs typeface="Calibri" pitchFamily="34" charset="-120"/>
              </a:rPr>
              <a:t>cardio</a:t>
            </a:r>
            <a:r>
              <a:rPr lang="en-US" sz="1500" dirty="0">
                <a:solidFill>
                  <a:srgbClr val="1F2937"/>
                </a:solidFill>
                <a:latin typeface="Calibri" pitchFamily="34" charset="0"/>
                <a:ea typeface="Calibri" pitchFamily="34" charset="-122"/>
                <a:cs typeface="Calibri" pitchFamily="34" charset="-120"/>
              </a:rPr>
              <a:t> birleşik formdur. Çünkü /</a:t>
            </a:r>
            <a:r>
              <a:rPr lang="en-US" sz="1500" b="1" dirty="0">
                <a:solidFill>
                  <a:srgbClr val="1F2937"/>
                </a:solidFill>
                <a:latin typeface="Calibri" pitchFamily="34" charset="0"/>
                <a:ea typeface="Calibri" pitchFamily="34" charset="-122"/>
                <a:cs typeface="Calibri" pitchFamily="34" charset="-120"/>
              </a:rPr>
              <a:t>cardi</a:t>
            </a:r>
            <a:r>
              <a:rPr lang="en-US" sz="1500" dirty="0">
                <a:solidFill>
                  <a:srgbClr val="1F2937"/>
                </a:solidFill>
                <a:latin typeface="Calibri" pitchFamily="34" charset="0"/>
                <a:ea typeface="Calibri" pitchFamily="34" charset="-122"/>
                <a:cs typeface="Calibri" pitchFamily="34" charset="-120"/>
              </a:rPr>
              <a:t>/ köküyle /</a:t>
            </a:r>
            <a:r>
              <a:rPr lang="en-US" sz="1500" b="1" dirty="0">
                <a:solidFill>
                  <a:srgbClr val="1F2937"/>
                </a:solidFill>
                <a:latin typeface="Calibri" pitchFamily="34" charset="0"/>
                <a:ea typeface="Calibri" pitchFamily="34" charset="-122"/>
                <a:cs typeface="Calibri" pitchFamily="34" charset="-120"/>
              </a:rPr>
              <a:t>o</a:t>
            </a:r>
            <a:r>
              <a:rPr lang="en-US" sz="1500" dirty="0">
                <a:solidFill>
                  <a:srgbClr val="1F2937"/>
                </a:solidFill>
                <a:latin typeface="Calibri" pitchFamily="34" charset="0"/>
                <a:ea typeface="Calibri" pitchFamily="34" charset="-122"/>
                <a:cs typeface="Calibri" pitchFamily="34" charset="-120"/>
              </a:rPr>
              <a:t>/ kaynaştırma ünlüsü birleşmiştir.</a:t>
            </a:r>
            <a:endParaRPr lang="en-US" sz="1500" dirty="0"/>
          </a:p>
        </p:txBody>
      </p:sp>
      <p:sp>
        <p:nvSpPr>
          <p:cNvPr id="8" name="Shape 6"/>
          <p:cNvSpPr/>
          <p:nvPr/>
        </p:nvSpPr>
        <p:spPr>
          <a:xfrm>
            <a:off x="548640" y="3344164"/>
            <a:ext cx="5410048" cy="684276"/>
          </a:xfrm>
          <a:prstGeom prst="roundRect">
            <a:avLst>
              <a:gd name="adj" fmla="val 9354"/>
            </a:avLst>
          </a:prstGeom>
          <a:solidFill>
            <a:srgbClr val="EAF6F4"/>
          </a:solidFill>
          <a:ln/>
        </p:spPr>
      </p:sp>
      <p:sp>
        <p:nvSpPr>
          <p:cNvPr id="9" name="Text 7"/>
          <p:cNvSpPr txBox="1"/>
          <p:nvPr/>
        </p:nvSpPr>
        <p:spPr>
          <a:xfrm>
            <a:off x="704088" y="3417316"/>
            <a:ext cx="5099152" cy="53797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Terimlerde temel yapıların hepsinin bir arada bulunması şart değildir.</a:t>
            </a:r>
            <a:endParaRPr lang="en-US" sz="1500" dirty="0"/>
          </a:p>
        </p:txBody>
      </p:sp>
      <p:sp>
        <p:nvSpPr>
          <p:cNvPr id="10" name="Shape 8"/>
          <p:cNvSpPr/>
          <p:nvPr/>
        </p:nvSpPr>
        <p:spPr>
          <a:xfrm>
            <a:off x="548640" y="4119880"/>
            <a:ext cx="5410048" cy="705358"/>
          </a:xfrm>
          <a:prstGeom prst="roundRect">
            <a:avLst>
              <a:gd name="adj" fmla="val 9075"/>
            </a:avLst>
          </a:prstGeom>
          <a:solidFill>
            <a:srgbClr val="EAF6F4"/>
          </a:solidFill>
          <a:ln/>
        </p:spPr>
      </p:sp>
      <p:sp>
        <p:nvSpPr>
          <p:cNvPr id="11" name="Text 9"/>
          <p:cNvSpPr txBox="1"/>
          <p:nvPr/>
        </p:nvSpPr>
        <p:spPr>
          <a:xfrm>
            <a:off x="731520" y="4183888"/>
            <a:ext cx="5044288" cy="287274"/>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Bazen sadece bir </a:t>
            </a:r>
            <a:r>
              <a:rPr lang="en-US" sz="1500" b="1" dirty="0">
                <a:solidFill>
                  <a:srgbClr val="1F2937"/>
                </a:solidFill>
                <a:latin typeface="Calibri" pitchFamily="34" charset="0"/>
                <a:ea typeface="Calibri" pitchFamily="34" charset="-122"/>
                <a:cs typeface="Calibri" pitchFamily="34" charset="-120"/>
              </a:rPr>
              <a:t>kökten </a:t>
            </a:r>
            <a:r>
              <a:rPr lang="en-US" sz="1500" dirty="0">
                <a:solidFill>
                  <a:srgbClr val="1F2937"/>
                </a:solidFill>
                <a:latin typeface="Calibri" pitchFamily="34" charset="0"/>
                <a:ea typeface="Calibri" pitchFamily="34" charset="-122"/>
                <a:cs typeface="Calibri" pitchFamily="34" charset="-120"/>
              </a:rPr>
              <a:t>terim oluşabilir.</a:t>
            </a:r>
            <a:endParaRPr lang="en-US" sz="1500" dirty="0"/>
          </a:p>
        </p:txBody>
      </p:sp>
      <p:sp>
        <p:nvSpPr>
          <p:cNvPr id="12" name="Shape 10"/>
          <p:cNvSpPr/>
          <p:nvPr/>
        </p:nvSpPr>
        <p:spPr>
          <a:xfrm>
            <a:off x="850392" y="4508337"/>
            <a:ext cx="64008" cy="64008"/>
          </a:xfrm>
          <a:prstGeom prst="ellipse">
            <a:avLst/>
          </a:prstGeom>
          <a:solidFill>
            <a:srgbClr val="0F766E"/>
          </a:solidFill>
          <a:ln/>
        </p:spPr>
      </p:sp>
      <p:sp>
        <p:nvSpPr>
          <p:cNvPr id="13" name="Text 11"/>
          <p:cNvSpPr txBox="1"/>
          <p:nvPr/>
        </p:nvSpPr>
        <p:spPr>
          <a:xfrm>
            <a:off x="1005840" y="443458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4B5563"/>
                </a:solidFill>
                <a:latin typeface="Calibri" pitchFamily="34" charset="0"/>
                <a:ea typeface="Calibri" pitchFamily="34" charset="-122"/>
                <a:cs typeface="Calibri" pitchFamily="34" charset="-120"/>
              </a:rPr>
              <a:t>Dermis</a:t>
            </a:r>
            <a:r>
              <a:rPr lang="en-US" sz="1400" dirty="0">
                <a:solidFill>
                  <a:srgbClr val="4B5563"/>
                </a:solidFill>
                <a:latin typeface="Calibri" pitchFamily="34" charset="0"/>
                <a:ea typeface="Calibri" pitchFamily="34" charset="-122"/>
                <a:cs typeface="Calibri" pitchFamily="34" charset="-120"/>
              </a:rPr>
              <a:t> (deri), </a:t>
            </a:r>
            <a:r>
              <a:rPr lang="en-US" sz="1400" b="1" dirty="0">
                <a:solidFill>
                  <a:srgbClr val="4B5563"/>
                </a:solidFill>
                <a:latin typeface="Calibri" pitchFamily="34" charset="0"/>
                <a:ea typeface="Calibri" pitchFamily="34" charset="-122"/>
                <a:cs typeface="Calibri" pitchFamily="34" charset="-120"/>
              </a:rPr>
              <a:t>vas</a:t>
            </a:r>
            <a:r>
              <a:rPr lang="en-US" sz="1400" dirty="0">
                <a:solidFill>
                  <a:srgbClr val="4B5563"/>
                </a:solidFill>
                <a:latin typeface="Calibri" pitchFamily="34" charset="0"/>
                <a:ea typeface="Calibri" pitchFamily="34" charset="-122"/>
                <a:cs typeface="Calibri" pitchFamily="34" charset="-120"/>
              </a:rPr>
              <a:t> (damar), </a:t>
            </a:r>
            <a:r>
              <a:rPr lang="en-US" sz="1400" b="1" dirty="0">
                <a:solidFill>
                  <a:srgbClr val="4B5563"/>
                </a:solidFill>
                <a:latin typeface="Calibri" pitchFamily="34" charset="0"/>
                <a:ea typeface="Calibri" pitchFamily="34" charset="-122"/>
                <a:cs typeface="Calibri" pitchFamily="34" charset="-120"/>
              </a:rPr>
              <a:t>splen</a:t>
            </a:r>
            <a:r>
              <a:rPr lang="en-US" sz="1400" dirty="0">
                <a:solidFill>
                  <a:srgbClr val="4B5563"/>
                </a:solidFill>
                <a:latin typeface="Calibri" pitchFamily="34" charset="0"/>
                <a:ea typeface="Calibri" pitchFamily="34" charset="-122"/>
                <a:cs typeface="Calibri" pitchFamily="34" charset="-120"/>
              </a:rPr>
              <a:t> (dalak) gibi</a:t>
            </a:r>
            <a:endParaRPr lang="en-US" sz="1400" dirty="0"/>
          </a:p>
        </p:txBody>
      </p:sp>
      <p:sp>
        <p:nvSpPr>
          <p:cNvPr id="14" name="Shape 12"/>
          <p:cNvSpPr/>
          <p:nvPr/>
        </p:nvSpPr>
        <p:spPr>
          <a:xfrm>
            <a:off x="548640" y="4916678"/>
            <a:ext cx="5410048" cy="1392682"/>
          </a:xfrm>
          <a:prstGeom prst="roundRect">
            <a:avLst>
              <a:gd name="adj" fmla="val 4596"/>
            </a:avLst>
          </a:prstGeom>
          <a:solidFill>
            <a:srgbClr val="EAF6F4"/>
          </a:solidFill>
          <a:ln/>
        </p:spPr>
      </p:sp>
      <p:sp>
        <p:nvSpPr>
          <p:cNvPr id="15" name="Text 13"/>
          <p:cNvSpPr txBox="1"/>
          <p:nvPr/>
        </p:nvSpPr>
        <p:spPr>
          <a:xfrm>
            <a:off x="731520" y="498068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Önek+Kök </a:t>
            </a:r>
            <a:r>
              <a:rPr lang="en-US" sz="1500" dirty="0">
                <a:solidFill>
                  <a:srgbClr val="1F2937"/>
                </a:solidFill>
                <a:latin typeface="Calibri" pitchFamily="34" charset="0"/>
                <a:ea typeface="Calibri" pitchFamily="34" charset="-122"/>
                <a:cs typeface="Calibri" pitchFamily="34" charset="-120"/>
              </a:rPr>
              <a:t>bir terim oluşturabilir.</a:t>
            </a:r>
            <a:endParaRPr lang="en-US" sz="1500" dirty="0"/>
          </a:p>
        </p:txBody>
      </p:sp>
      <p:sp>
        <p:nvSpPr>
          <p:cNvPr id="16" name="Shape 14"/>
          <p:cNvSpPr/>
          <p:nvPr/>
        </p:nvSpPr>
        <p:spPr>
          <a:xfrm>
            <a:off x="850392" y="5305135"/>
            <a:ext cx="64008" cy="64008"/>
          </a:xfrm>
          <a:prstGeom prst="ellipse">
            <a:avLst/>
          </a:prstGeom>
          <a:solidFill>
            <a:srgbClr val="0F766E"/>
          </a:solidFill>
          <a:ln/>
        </p:spPr>
      </p:sp>
      <p:sp>
        <p:nvSpPr>
          <p:cNvPr id="17" name="Text 15"/>
          <p:cNvSpPr txBox="1"/>
          <p:nvPr/>
        </p:nvSpPr>
        <p:spPr>
          <a:xfrm>
            <a:off x="1005840" y="523138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Örnek</a:t>
            </a:r>
            <a:r>
              <a:rPr lang="en-US" sz="1400" dirty="0">
                <a:solidFill>
                  <a:srgbClr val="4B5563"/>
                </a:solidFill>
                <a:latin typeface="Calibri" pitchFamily="34" charset="0"/>
                <a:ea typeface="Calibri" pitchFamily="34" charset="-122"/>
                <a:cs typeface="Calibri" pitchFamily="34" charset="-120"/>
              </a:rPr>
              <a:t>: Epi + dermis (epidermis): Derinin üst tabakası.</a:t>
            </a:r>
            <a:endParaRPr lang="en-US" sz="1400" dirty="0"/>
          </a:p>
        </p:txBody>
      </p:sp>
      <p:sp>
        <p:nvSpPr>
          <p:cNvPr id="18" name="Shape 16"/>
          <p:cNvSpPr/>
          <p:nvPr/>
        </p:nvSpPr>
        <p:spPr>
          <a:xfrm>
            <a:off x="850392" y="5775543"/>
            <a:ext cx="64008" cy="64008"/>
          </a:xfrm>
          <a:prstGeom prst="ellipse">
            <a:avLst/>
          </a:prstGeom>
          <a:solidFill>
            <a:srgbClr val="0F766E"/>
          </a:solidFill>
          <a:ln/>
        </p:spPr>
      </p:sp>
      <p:sp>
        <p:nvSpPr>
          <p:cNvPr id="19" name="Text 17"/>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Tachy + cardia (taşikardi)</a:t>
            </a:r>
            <a:r>
              <a:rPr lang="en-US" sz="1400" dirty="0">
                <a:solidFill>
                  <a:srgbClr val="4B5563"/>
                </a:solidFill>
                <a:latin typeface="Calibri" pitchFamily="34" charset="0"/>
                <a:ea typeface="Calibri" pitchFamily="34" charset="-122"/>
                <a:cs typeface="Calibri" pitchFamily="34" charset="-120"/>
              </a:rPr>
              <a:t>: Kalp atışlarının hızlanması</a:t>
            </a:r>
            <a:endParaRPr lang="en-US" sz="1400" dirty="0"/>
          </a:p>
        </p:txBody>
      </p:sp>
      <p:sp>
        <p:nvSpPr>
          <p:cNvPr id="20" name="Shape 18"/>
          <p:cNvSpPr/>
          <p:nvPr/>
        </p:nvSpPr>
        <p:spPr>
          <a:xfrm>
            <a:off x="6233008" y="2103628"/>
            <a:ext cx="5410048" cy="1175766"/>
          </a:xfrm>
          <a:prstGeom prst="roundRect">
            <a:avLst>
              <a:gd name="adj" fmla="val 5444"/>
            </a:avLst>
          </a:prstGeom>
          <a:solidFill>
            <a:srgbClr val="EAF6F4"/>
          </a:solidFill>
          <a:ln/>
        </p:spPr>
      </p:sp>
      <p:sp>
        <p:nvSpPr>
          <p:cNvPr id="21" name="Text 19"/>
          <p:cNvSpPr txBox="1"/>
          <p:nvPr/>
        </p:nvSpPr>
        <p:spPr>
          <a:xfrm>
            <a:off x="6415888" y="216763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Kök+Sonek</a:t>
            </a:r>
            <a:r>
              <a:rPr lang="en-US" sz="1500" dirty="0">
                <a:solidFill>
                  <a:srgbClr val="1F2937"/>
                </a:solidFill>
                <a:latin typeface="Calibri" pitchFamily="34" charset="0"/>
                <a:ea typeface="Calibri" pitchFamily="34" charset="-122"/>
                <a:cs typeface="Calibri" pitchFamily="34" charset="-120"/>
              </a:rPr>
              <a:t>’ten terim oluşabilir.</a:t>
            </a:r>
            <a:endParaRPr lang="en-US" sz="1500" dirty="0"/>
          </a:p>
        </p:txBody>
      </p:sp>
      <p:sp>
        <p:nvSpPr>
          <p:cNvPr id="22" name="Shape 20"/>
          <p:cNvSpPr/>
          <p:nvPr/>
        </p:nvSpPr>
        <p:spPr>
          <a:xfrm>
            <a:off x="6534760" y="2492085"/>
            <a:ext cx="64008" cy="64008"/>
          </a:xfrm>
          <a:prstGeom prst="ellipse">
            <a:avLst/>
          </a:prstGeom>
          <a:solidFill>
            <a:srgbClr val="0F766E"/>
          </a:solidFill>
          <a:ln/>
        </p:spPr>
      </p:sp>
      <p:sp>
        <p:nvSpPr>
          <p:cNvPr id="23" name="Text 21"/>
          <p:cNvSpPr txBox="1"/>
          <p:nvPr/>
        </p:nvSpPr>
        <p:spPr>
          <a:xfrm>
            <a:off x="6690208" y="24183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Örnek</a:t>
            </a:r>
            <a:r>
              <a:rPr lang="en-US" sz="1400" dirty="0">
                <a:solidFill>
                  <a:srgbClr val="4B5563"/>
                </a:solidFill>
                <a:latin typeface="Calibri" pitchFamily="34" charset="0"/>
                <a:ea typeface="Calibri" pitchFamily="34" charset="-122"/>
                <a:cs typeface="Calibri" pitchFamily="34" charset="-120"/>
              </a:rPr>
              <a:t>: Dermat + itis (darmatit): Deri iltihabı.</a:t>
            </a:r>
            <a:endParaRPr lang="en-US" sz="1400" dirty="0"/>
          </a:p>
        </p:txBody>
      </p:sp>
      <p:sp>
        <p:nvSpPr>
          <p:cNvPr id="24" name="Shape 22"/>
          <p:cNvSpPr/>
          <p:nvPr/>
        </p:nvSpPr>
        <p:spPr>
          <a:xfrm>
            <a:off x="6534760" y="2745577"/>
            <a:ext cx="64008" cy="64008"/>
          </a:xfrm>
          <a:prstGeom prst="ellipse">
            <a:avLst/>
          </a:prstGeom>
          <a:solidFill>
            <a:srgbClr val="0F766E"/>
          </a:solidFill>
          <a:ln/>
        </p:spPr>
      </p:sp>
      <p:sp>
        <p:nvSpPr>
          <p:cNvPr id="25" name="Text 23"/>
          <p:cNvSpPr txBox="1"/>
          <p:nvPr/>
        </p:nvSpPr>
        <p:spPr>
          <a:xfrm>
            <a:off x="6690208" y="267182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Splen + ectomy (splenektomi)</a:t>
            </a:r>
            <a:r>
              <a:rPr lang="en-US" sz="1400" dirty="0">
                <a:solidFill>
                  <a:srgbClr val="4B5563"/>
                </a:solidFill>
                <a:latin typeface="Calibri" pitchFamily="34" charset="0"/>
                <a:ea typeface="Calibri" pitchFamily="34" charset="-122"/>
                <a:cs typeface="Calibri" pitchFamily="34" charset="-120"/>
              </a:rPr>
              <a:t>: Dalağın ameliyatla çıkarılması</a:t>
            </a:r>
            <a:endParaRPr lang="en-US" sz="1400" dirty="0"/>
          </a:p>
        </p:txBody>
      </p:sp>
      <p:sp>
        <p:nvSpPr>
          <p:cNvPr id="26" name="Shape 24"/>
          <p:cNvSpPr/>
          <p:nvPr/>
        </p:nvSpPr>
        <p:spPr>
          <a:xfrm>
            <a:off x="6233008" y="3370834"/>
            <a:ext cx="5410048" cy="1625092"/>
          </a:xfrm>
          <a:prstGeom prst="roundRect">
            <a:avLst>
              <a:gd name="adj" fmla="val 3939"/>
            </a:avLst>
          </a:prstGeom>
          <a:solidFill>
            <a:srgbClr val="EAF6F4"/>
          </a:solidFill>
          <a:ln/>
        </p:spPr>
      </p:sp>
      <p:sp>
        <p:nvSpPr>
          <p:cNvPr id="27" name="Text 25"/>
          <p:cNvSpPr txBox="1"/>
          <p:nvPr/>
        </p:nvSpPr>
        <p:spPr>
          <a:xfrm>
            <a:off x="6415888" y="3434842"/>
            <a:ext cx="5044288" cy="519684"/>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Kök+Kaynaştırma ünlüsü (K. Ü.)+sonek </a:t>
            </a:r>
            <a:r>
              <a:rPr lang="en-US" sz="1500" dirty="0">
                <a:solidFill>
                  <a:srgbClr val="1F2937"/>
                </a:solidFill>
                <a:latin typeface="Calibri" pitchFamily="34" charset="0"/>
                <a:ea typeface="Calibri" pitchFamily="34" charset="-122"/>
                <a:cs typeface="Calibri" pitchFamily="34" charset="-120"/>
              </a:rPr>
              <a:t>terim oluşturabilir.</a:t>
            </a:r>
            <a:endParaRPr lang="en-US" sz="1500" dirty="0"/>
          </a:p>
        </p:txBody>
      </p:sp>
      <p:sp>
        <p:nvSpPr>
          <p:cNvPr id="28" name="Shape 26"/>
          <p:cNvSpPr/>
          <p:nvPr/>
        </p:nvSpPr>
        <p:spPr>
          <a:xfrm>
            <a:off x="6534760" y="3991701"/>
            <a:ext cx="64008" cy="64008"/>
          </a:xfrm>
          <a:prstGeom prst="ellipse">
            <a:avLst/>
          </a:prstGeom>
          <a:solidFill>
            <a:srgbClr val="0F766E"/>
          </a:solidFill>
          <a:ln/>
        </p:spPr>
      </p:sp>
      <p:sp>
        <p:nvSpPr>
          <p:cNvPr id="29" name="Text 27"/>
          <p:cNvSpPr txBox="1"/>
          <p:nvPr/>
        </p:nvSpPr>
        <p:spPr>
          <a:xfrm>
            <a:off x="6690208" y="391795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Örnek</a:t>
            </a:r>
            <a:r>
              <a:rPr lang="en-US" sz="1400" dirty="0">
                <a:solidFill>
                  <a:srgbClr val="4B5563"/>
                </a:solidFill>
                <a:latin typeface="Calibri" pitchFamily="34" charset="0"/>
                <a:ea typeface="Calibri" pitchFamily="34" charset="-122"/>
                <a:cs typeface="Calibri" pitchFamily="34" charset="-120"/>
              </a:rPr>
              <a:t>: Splen + o + megaly (splenomegali): Dalak büyümesi.</a:t>
            </a:r>
            <a:endParaRPr lang="en-US" sz="1400" dirty="0"/>
          </a:p>
        </p:txBody>
      </p:sp>
      <p:sp>
        <p:nvSpPr>
          <p:cNvPr id="30" name="Shape 28"/>
          <p:cNvSpPr/>
          <p:nvPr/>
        </p:nvSpPr>
        <p:spPr>
          <a:xfrm>
            <a:off x="6534760" y="4462109"/>
            <a:ext cx="64008" cy="64008"/>
          </a:xfrm>
          <a:prstGeom prst="ellipse">
            <a:avLst/>
          </a:prstGeom>
          <a:solidFill>
            <a:srgbClr val="0F766E"/>
          </a:solidFill>
          <a:ln/>
        </p:spPr>
      </p:sp>
      <p:sp>
        <p:nvSpPr>
          <p:cNvPr id="31" name="Text 29"/>
          <p:cNvSpPr txBox="1"/>
          <p:nvPr/>
        </p:nvSpPr>
        <p:spPr>
          <a:xfrm>
            <a:off x="6690208" y="438835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Rhin + o + plasty (rinoplasti)</a:t>
            </a:r>
            <a:r>
              <a:rPr lang="en-US" sz="1400" dirty="0">
                <a:solidFill>
                  <a:srgbClr val="4B5563"/>
                </a:solidFill>
                <a:latin typeface="Calibri" pitchFamily="34" charset="0"/>
                <a:ea typeface="Calibri" pitchFamily="34" charset="-122"/>
                <a:cs typeface="Calibri" pitchFamily="34" charset="-120"/>
              </a:rPr>
              <a:t>: Buruna yapılan estetik ameliyatı</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548640" y="1616456"/>
            <a:ext cx="11094415" cy="1051814"/>
          </a:xfrm>
          <a:prstGeom prst="roundRect">
            <a:avLst>
              <a:gd name="adj" fmla="val 6085"/>
            </a:avLst>
          </a:prstGeom>
          <a:solidFill>
            <a:srgbClr val="EAF6F4"/>
          </a:solidFill>
          <a:ln/>
        </p:spPr>
      </p:sp>
      <p:sp>
        <p:nvSpPr>
          <p:cNvPr id="7" name="Text 5"/>
          <p:cNvSpPr txBox="1"/>
          <p:nvPr/>
        </p:nvSpPr>
        <p:spPr>
          <a:xfrm>
            <a:off x="731520" y="1680464"/>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Kök+KÜ+Kök+Sonek </a:t>
            </a:r>
            <a:r>
              <a:rPr lang="en-US" sz="1700" dirty="0">
                <a:solidFill>
                  <a:srgbClr val="1F2937"/>
                </a:solidFill>
                <a:latin typeface="Calibri" pitchFamily="34" charset="0"/>
                <a:ea typeface="Calibri" pitchFamily="34" charset="-122"/>
                <a:cs typeface="Calibri" pitchFamily="34" charset="-120"/>
              </a:rPr>
              <a:t>bir terim oluşturabilir.</a:t>
            </a:r>
            <a:endParaRPr lang="en-US" sz="1700" dirty="0"/>
          </a:p>
        </p:txBody>
      </p:sp>
      <p:sp>
        <p:nvSpPr>
          <p:cNvPr id="8" name="Shape 6"/>
          <p:cNvSpPr/>
          <p:nvPr/>
        </p:nvSpPr>
        <p:spPr>
          <a:xfrm>
            <a:off x="850392" y="2046437"/>
            <a:ext cx="64008" cy="64008"/>
          </a:xfrm>
          <a:prstGeom prst="ellipse">
            <a:avLst/>
          </a:prstGeom>
          <a:solidFill>
            <a:srgbClr val="0F766E"/>
          </a:solidFill>
          <a:ln/>
        </p:spPr>
      </p:sp>
      <p:sp>
        <p:nvSpPr>
          <p:cNvPr id="9" name="Text 7"/>
          <p:cNvSpPr txBox="1"/>
          <p:nvPr/>
        </p:nvSpPr>
        <p:spPr>
          <a:xfrm>
            <a:off x="1005840" y="1962150"/>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Örnek</a:t>
            </a:r>
            <a:r>
              <a:rPr lang="en-US" sz="1600" dirty="0">
                <a:solidFill>
                  <a:srgbClr val="4B5563"/>
                </a:solidFill>
                <a:latin typeface="Calibri" pitchFamily="34" charset="0"/>
                <a:ea typeface="Calibri" pitchFamily="34" charset="-122"/>
                <a:cs typeface="Calibri" pitchFamily="34" charset="-120"/>
              </a:rPr>
              <a:t>: Laryng + o + pharyng + itis (Laringofaringit): Gırtlak ve yutağın birlikte iltihabı.</a:t>
            </a:r>
            <a:endParaRPr lang="en-US" sz="1600" dirty="0"/>
          </a:p>
        </p:txBody>
      </p:sp>
      <p:sp>
        <p:nvSpPr>
          <p:cNvPr id="10" name="Shape 8"/>
          <p:cNvSpPr/>
          <p:nvPr/>
        </p:nvSpPr>
        <p:spPr>
          <a:xfrm>
            <a:off x="850392" y="2330917"/>
            <a:ext cx="64008" cy="64008"/>
          </a:xfrm>
          <a:prstGeom prst="ellipse">
            <a:avLst/>
          </a:prstGeom>
          <a:solidFill>
            <a:srgbClr val="0F766E"/>
          </a:solidFill>
          <a:ln/>
        </p:spPr>
      </p:sp>
      <p:sp>
        <p:nvSpPr>
          <p:cNvPr id="11" name="Text 9"/>
          <p:cNvSpPr txBox="1"/>
          <p:nvPr/>
        </p:nvSpPr>
        <p:spPr>
          <a:xfrm>
            <a:off x="1005840" y="2246630"/>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Gastr + o + enter + ic (gastroenterik)</a:t>
            </a:r>
            <a:r>
              <a:rPr lang="en-US" sz="1600" dirty="0">
                <a:solidFill>
                  <a:srgbClr val="4B5563"/>
                </a:solidFill>
                <a:latin typeface="Calibri" pitchFamily="34" charset="0"/>
                <a:ea typeface="Calibri" pitchFamily="34" charset="-122"/>
                <a:cs typeface="Calibri" pitchFamily="34" charset="-120"/>
              </a:rPr>
              <a:t>: Mide ve bağırsakla ilgili.</a:t>
            </a:r>
            <a:endParaRPr lang="en-US" sz="1600" dirty="0"/>
          </a:p>
        </p:txBody>
      </p:sp>
      <p:sp>
        <p:nvSpPr>
          <p:cNvPr id="12" name="Shape 10"/>
          <p:cNvSpPr/>
          <p:nvPr/>
        </p:nvSpPr>
        <p:spPr>
          <a:xfrm>
            <a:off x="548640" y="2759710"/>
            <a:ext cx="11094415" cy="1299718"/>
          </a:xfrm>
          <a:prstGeom prst="roundRect">
            <a:avLst>
              <a:gd name="adj" fmla="val 4925"/>
            </a:avLst>
          </a:prstGeom>
          <a:solidFill>
            <a:srgbClr val="EAF6F4"/>
          </a:solidFill>
          <a:ln/>
        </p:spPr>
      </p:sp>
      <p:sp>
        <p:nvSpPr>
          <p:cNvPr id="13" name="Text 11"/>
          <p:cNvSpPr txBox="1"/>
          <p:nvPr/>
        </p:nvSpPr>
        <p:spPr>
          <a:xfrm>
            <a:off x="731520" y="2823718"/>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Kök+KÜ+Kök+KÜ+Sonek </a:t>
            </a:r>
            <a:r>
              <a:rPr lang="en-US" sz="1700" dirty="0">
                <a:solidFill>
                  <a:srgbClr val="1F2937"/>
                </a:solidFill>
                <a:latin typeface="Calibri" pitchFamily="34" charset="0"/>
                <a:ea typeface="Calibri" pitchFamily="34" charset="-122"/>
                <a:cs typeface="Calibri" pitchFamily="34" charset="-120"/>
              </a:rPr>
              <a:t>bir terim oluşturabilir.</a:t>
            </a:r>
            <a:endParaRPr lang="en-US" sz="1700" dirty="0"/>
          </a:p>
        </p:txBody>
      </p:sp>
      <p:sp>
        <p:nvSpPr>
          <p:cNvPr id="14" name="Shape 12"/>
          <p:cNvSpPr/>
          <p:nvPr/>
        </p:nvSpPr>
        <p:spPr>
          <a:xfrm>
            <a:off x="850392" y="3189691"/>
            <a:ext cx="64008" cy="64008"/>
          </a:xfrm>
          <a:prstGeom prst="ellipse">
            <a:avLst/>
          </a:prstGeom>
          <a:solidFill>
            <a:srgbClr val="0F766E"/>
          </a:solidFill>
          <a:ln/>
        </p:spPr>
      </p:sp>
      <p:sp>
        <p:nvSpPr>
          <p:cNvPr id="15" name="Text 13"/>
          <p:cNvSpPr txBox="1"/>
          <p:nvPr/>
        </p:nvSpPr>
        <p:spPr>
          <a:xfrm>
            <a:off x="1005840" y="3105404"/>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Örnek</a:t>
            </a:r>
            <a:r>
              <a:rPr lang="en-US" sz="1600" dirty="0">
                <a:solidFill>
                  <a:srgbClr val="4B5563"/>
                </a:solidFill>
                <a:latin typeface="Calibri" pitchFamily="34" charset="0"/>
                <a:ea typeface="Calibri" pitchFamily="34" charset="-122"/>
                <a:cs typeface="Calibri" pitchFamily="34" charset="-120"/>
              </a:rPr>
              <a:t>: Cardi + o + my + o + pathy (kardiyomiyopati): Kalbin kas tabakasının iltihabi olmayan hastalığı.</a:t>
            </a:r>
            <a:endParaRPr lang="en-US" sz="1600" dirty="0"/>
          </a:p>
        </p:txBody>
      </p:sp>
      <p:sp>
        <p:nvSpPr>
          <p:cNvPr id="16" name="Shape 14"/>
          <p:cNvSpPr/>
          <p:nvPr/>
        </p:nvSpPr>
        <p:spPr>
          <a:xfrm>
            <a:off x="850392" y="3474171"/>
            <a:ext cx="64008" cy="64008"/>
          </a:xfrm>
          <a:prstGeom prst="ellipse">
            <a:avLst/>
          </a:prstGeom>
          <a:solidFill>
            <a:srgbClr val="0F766E"/>
          </a:solidFill>
          <a:ln/>
        </p:spPr>
      </p:sp>
      <p:sp>
        <p:nvSpPr>
          <p:cNvPr id="17" name="Text 15"/>
          <p:cNvSpPr txBox="1"/>
          <p:nvPr/>
        </p:nvSpPr>
        <p:spPr>
          <a:xfrm>
            <a:off x="1005840" y="3389884"/>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Gastr + o + jejun + o + stomy (gastroyeyunostomi)</a:t>
            </a:r>
            <a:r>
              <a:rPr lang="en-US" sz="1600" dirty="0">
                <a:solidFill>
                  <a:srgbClr val="4B5563"/>
                </a:solidFill>
                <a:latin typeface="Calibri" pitchFamily="34" charset="0"/>
                <a:ea typeface="Calibri" pitchFamily="34" charset="-122"/>
                <a:cs typeface="Calibri" pitchFamily="34" charset="-120"/>
              </a:rPr>
              <a:t>: Mide ile ince bağırsağın ikinci parçasının (yeyunum) birleştirilmesi.</a:t>
            </a:r>
            <a:endParaRPr lang="en-US" sz="1600" dirty="0"/>
          </a:p>
        </p:txBody>
      </p:sp>
      <p:sp>
        <p:nvSpPr>
          <p:cNvPr id="18" name="Shape 16"/>
          <p:cNvSpPr/>
          <p:nvPr/>
        </p:nvSpPr>
        <p:spPr>
          <a:xfrm>
            <a:off x="548640" y="4150868"/>
            <a:ext cx="11094415" cy="1051814"/>
          </a:xfrm>
          <a:prstGeom prst="roundRect">
            <a:avLst>
              <a:gd name="adj" fmla="val 6085"/>
            </a:avLst>
          </a:prstGeom>
          <a:solidFill>
            <a:srgbClr val="EAF6F4"/>
          </a:solidFill>
          <a:ln/>
        </p:spPr>
      </p:sp>
      <p:sp>
        <p:nvSpPr>
          <p:cNvPr id="19" name="Text 17"/>
          <p:cNvSpPr txBox="1"/>
          <p:nvPr/>
        </p:nvSpPr>
        <p:spPr>
          <a:xfrm>
            <a:off x="731520" y="4214876"/>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Önek+Kök+Sonek </a:t>
            </a:r>
            <a:r>
              <a:rPr lang="en-US" sz="1700" dirty="0">
                <a:solidFill>
                  <a:srgbClr val="1F2937"/>
                </a:solidFill>
                <a:latin typeface="Calibri" pitchFamily="34" charset="0"/>
                <a:ea typeface="Calibri" pitchFamily="34" charset="-122"/>
                <a:cs typeface="Calibri" pitchFamily="34" charset="-120"/>
              </a:rPr>
              <a:t>bir terim oluşturabilir.</a:t>
            </a:r>
            <a:endParaRPr lang="en-US" sz="1700" dirty="0"/>
          </a:p>
        </p:txBody>
      </p:sp>
      <p:sp>
        <p:nvSpPr>
          <p:cNvPr id="20" name="Shape 18"/>
          <p:cNvSpPr/>
          <p:nvPr/>
        </p:nvSpPr>
        <p:spPr>
          <a:xfrm>
            <a:off x="850392" y="4580849"/>
            <a:ext cx="64008" cy="64008"/>
          </a:xfrm>
          <a:prstGeom prst="ellipse">
            <a:avLst/>
          </a:prstGeom>
          <a:solidFill>
            <a:srgbClr val="0F766E"/>
          </a:solidFill>
          <a:ln/>
        </p:spPr>
      </p:sp>
      <p:sp>
        <p:nvSpPr>
          <p:cNvPr id="21" name="Text 19"/>
          <p:cNvSpPr txBox="1"/>
          <p:nvPr/>
        </p:nvSpPr>
        <p:spPr>
          <a:xfrm>
            <a:off x="1005840" y="449656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Örnek</a:t>
            </a:r>
            <a:r>
              <a:rPr lang="en-US" sz="1600" dirty="0">
                <a:solidFill>
                  <a:srgbClr val="4B5563"/>
                </a:solidFill>
                <a:latin typeface="Calibri" pitchFamily="34" charset="0"/>
                <a:ea typeface="Calibri" pitchFamily="34" charset="-122"/>
                <a:cs typeface="Calibri" pitchFamily="34" charset="-120"/>
              </a:rPr>
              <a:t>: Pan + sinus + itiş (pansinuzit): Bütün sinüslerin iltihabı.</a:t>
            </a:r>
            <a:endParaRPr lang="en-US" sz="1600" dirty="0"/>
          </a:p>
        </p:txBody>
      </p:sp>
      <p:sp>
        <p:nvSpPr>
          <p:cNvPr id="22" name="Shape 20"/>
          <p:cNvSpPr/>
          <p:nvPr/>
        </p:nvSpPr>
        <p:spPr>
          <a:xfrm>
            <a:off x="850392" y="4865329"/>
            <a:ext cx="64008" cy="64008"/>
          </a:xfrm>
          <a:prstGeom prst="ellipse">
            <a:avLst/>
          </a:prstGeom>
          <a:solidFill>
            <a:srgbClr val="0F766E"/>
          </a:solidFill>
          <a:ln/>
        </p:spPr>
      </p:sp>
      <p:sp>
        <p:nvSpPr>
          <p:cNvPr id="23" name="Text 21"/>
          <p:cNvSpPr txBox="1"/>
          <p:nvPr/>
        </p:nvSpPr>
        <p:spPr>
          <a:xfrm>
            <a:off x="1005840" y="478104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Inter + cost + alis (interkostalis)</a:t>
            </a:r>
            <a:r>
              <a:rPr lang="en-US" sz="1600" dirty="0">
                <a:solidFill>
                  <a:srgbClr val="4B5563"/>
                </a:solidFill>
                <a:latin typeface="Calibri" pitchFamily="34" charset="0"/>
                <a:ea typeface="Calibri" pitchFamily="34" charset="-122"/>
                <a:cs typeface="Calibri" pitchFamily="34" charset="-120"/>
              </a:rPr>
              <a:t>: Kaburgalar arasıyla ilgili.</a:t>
            </a:r>
            <a:endParaRPr lang="en-US" sz="1600" dirty="0"/>
          </a:p>
        </p:txBody>
      </p:sp>
      <p:sp>
        <p:nvSpPr>
          <p:cNvPr id="24" name="Shape 22"/>
          <p:cNvSpPr/>
          <p:nvPr/>
        </p:nvSpPr>
        <p:spPr>
          <a:xfrm>
            <a:off x="548640" y="5294122"/>
            <a:ext cx="11094415" cy="1015238"/>
          </a:xfrm>
          <a:prstGeom prst="roundRect">
            <a:avLst>
              <a:gd name="adj" fmla="val 6305"/>
            </a:avLst>
          </a:prstGeom>
          <a:solidFill>
            <a:srgbClr val="EAF6F4"/>
          </a:solidFill>
          <a:ln/>
        </p:spPr>
      </p:sp>
      <p:sp>
        <p:nvSpPr>
          <p:cNvPr id="25" name="Text 23"/>
          <p:cNvSpPr txBox="1"/>
          <p:nvPr/>
        </p:nvSpPr>
        <p:spPr>
          <a:xfrm>
            <a:off x="731520" y="5358130"/>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Önek+Sonek </a:t>
            </a:r>
            <a:r>
              <a:rPr lang="en-US" sz="1700" dirty="0">
                <a:solidFill>
                  <a:srgbClr val="1F2937"/>
                </a:solidFill>
                <a:latin typeface="Calibri" pitchFamily="34" charset="0"/>
                <a:ea typeface="Calibri" pitchFamily="34" charset="-122"/>
                <a:cs typeface="Calibri" pitchFamily="34" charset="-120"/>
              </a:rPr>
              <a:t>bir terim oluşturabilir.</a:t>
            </a:r>
            <a:endParaRPr lang="en-US" sz="1700" dirty="0"/>
          </a:p>
        </p:txBody>
      </p:sp>
      <p:sp>
        <p:nvSpPr>
          <p:cNvPr id="26" name="Shape 24"/>
          <p:cNvSpPr/>
          <p:nvPr/>
        </p:nvSpPr>
        <p:spPr>
          <a:xfrm>
            <a:off x="850392" y="5724103"/>
            <a:ext cx="64008" cy="64008"/>
          </a:xfrm>
          <a:prstGeom prst="ellipse">
            <a:avLst/>
          </a:prstGeom>
          <a:solidFill>
            <a:srgbClr val="0F766E"/>
          </a:solidFill>
          <a:ln/>
        </p:spPr>
      </p:sp>
      <p:sp>
        <p:nvSpPr>
          <p:cNvPr id="27" name="Text 25"/>
          <p:cNvSpPr txBox="1"/>
          <p:nvPr/>
        </p:nvSpPr>
        <p:spPr>
          <a:xfrm>
            <a:off x="1005840" y="5639816"/>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Örnek</a:t>
            </a:r>
            <a:r>
              <a:rPr lang="en-US" sz="1600" dirty="0">
                <a:solidFill>
                  <a:srgbClr val="4B5563"/>
                </a:solidFill>
                <a:latin typeface="Calibri" pitchFamily="34" charset="0"/>
                <a:ea typeface="Calibri" pitchFamily="34" charset="-122"/>
                <a:cs typeface="Calibri" pitchFamily="34" charset="-120"/>
              </a:rPr>
              <a:t>: Endo + scope (endoskop): İç organları incelemeye yarayan bir araç. Micro-tome (mikrotom): Mikrotomda incelemek için küçük dilimlere kesme aleti</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3457956"/>
            <a:ext cx="11094415" cy="1098296"/>
          </a:xfrm>
          <a:prstGeom prst="roundRect">
            <a:avLst>
              <a:gd name="adj" fmla="val 5828"/>
            </a:avLst>
          </a:prstGeom>
          <a:solidFill>
            <a:srgbClr val="EAF6F4"/>
          </a:solidFill>
          <a:ln/>
        </p:spPr>
      </p:sp>
      <p:sp>
        <p:nvSpPr>
          <p:cNvPr id="7" name="Text 5"/>
          <p:cNvSpPr txBox="1"/>
          <p:nvPr/>
        </p:nvSpPr>
        <p:spPr>
          <a:xfrm>
            <a:off x="731520" y="3521964"/>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Önek+Önek+Kök </a:t>
            </a:r>
            <a:r>
              <a:rPr lang="en-US" sz="1800" dirty="0">
                <a:solidFill>
                  <a:srgbClr val="1F2937"/>
                </a:solidFill>
                <a:latin typeface="Calibri" pitchFamily="34" charset="0"/>
                <a:ea typeface="Calibri" pitchFamily="34" charset="-122"/>
                <a:cs typeface="Calibri" pitchFamily="34" charset="-120"/>
              </a:rPr>
              <a:t>bir terim oluşturabilir.</a:t>
            </a:r>
            <a:endParaRPr lang="en-US" sz="1800" dirty="0"/>
          </a:p>
        </p:txBody>
      </p:sp>
      <p:sp>
        <p:nvSpPr>
          <p:cNvPr id="8" name="Shape 6"/>
          <p:cNvSpPr/>
          <p:nvPr/>
        </p:nvSpPr>
        <p:spPr>
          <a:xfrm>
            <a:off x="850392" y="3908699"/>
            <a:ext cx="64008" cy="64008"/>
          </a:xfrm>
          <a:prstGeom prst="ellipse">
            <a:avLst/>
          </a:prstGeom>
          <a:solidFill>
            <a:srgbClr val="0F766E"/>
          </a:solidFill>
          <a:ln/>
        </p:spPr>
      </p:sp>
      <p:sp>
        <p:nvSpPr>
          <p:cNvPr id="9" name="Text 7"/>
          <p:cNvSpPr txBox="1"/>
          <p:nvPr/>
        </p:nvSpPr>
        <p:spPr>
          <a:xfrm>
            <a:off x="1005840" y="381914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Örnek</a:t>
            </a:r>
            <a:r>
              <a:rPr lang="en-US" sz="1700" dirty="0">
                <a:solidFill>
                  <a:srgbClr val="4B5563"/>
                </a:solidFill>
                <a:latin typeface="Calibri" pitchFamily="34" charset="0"/>
                <a:ea typeface="Calibri" pitchFamily="34" charset="-122"/>
                <a:cs typeface="Calibri" pitchFamily="34" charset="-120"/>
              </a:rPr>
              <a:t>: Anti + hyper + tensive (antihipertansif): Yüksek tansiyona karşı (tansiyon düşürücü).</a:t>
            </a:r>
            <a:endParaRPr lang="en-US" sz="1700" dirty="0"/>
          </a:p>
        </p:txBody>
      </p:sp>
      <p:sp>
        <p:nvSpPr>
          <p:cNvPr id="10" name="Shape 8"/>
          <p:cNvSpPr/>
          <p:nvPr/>
        </p:nvSpPr>
        <p:spPr>
          <a:xfrm>
            <a:off x="850392" y="4208673"/>
            <a:ext cx="64008" cy="64008"/>
          </a:xfrm>
          <a:prstGeom prst="ellipse">
            <a:avLst/>
          </a:prstGeom>
          <a:solidFill>
            <a:srgbClr val="0F766E"/>
          </a:solidFill>
          <a:ln/>
        </p:spPr>
      </p:sp>
      <p:sp>
        <p:nvSpPr>
          <p:cNvPr id="11" name="Text 9"/>
          <p:cNvSpPr txBox="1"/>
          <p:nvPr/>
        </p:nvSpPr>
        <p:spPr>
          <a:xfrm>
            <a:off x="1005840" y="411911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Hemi + an + encephaly (hemianensefali)</a:t>
            </a:r>
            <a:r>
              <a:rPr lang="en-US" sz="1700" dirty="0">
                <a:solidFill>
                  <a:srgbClr val="4B5563"/>
                </a:solidFill>
                <a:latin typeface="Calibri" pitchFamily="34" charset="0"/>
                <a:ea typeface="Calibri" pitchFamily="34" charset="-122"/>
                <a:cs typeface="Calibri" pitchFamily="34" charset="-120"/>
              </a:rPr>
              <a:t>: Beynin bir yarısının doğuştan yokluğu.</a:t>
            </a:r>
            <a:endParaRPr lang="en-US" sz="1700" dirty="0"/>
          </a:p>
        </p:txBody>
      </p:sp>
      <p:sp>
        <p:nvSpPr>
          <p:cNvPr id="12" name="Shape 10"/>
          <p:cNvSpPr/>
          <p:nvPr/>
        </p:nvSpPr>
        <p:spPr>
          <a:xfrm>
            <a:off x="548640" y="4647692"/>
            <a:ext cx="11094415" cy="1661668"/>
          </a:xfrm>
          <a:prstGeom prst="roundRect">
            <a:avLst>
              <a:gd name="adj" fmla="val 3852"/>
            </a:avLst>
          </a:prstGeom>
          <a:solidFill>
            <a:srgbClr val="EAF6F4"/>
          </a:solidFill>
          <a:ln/>
        </p:spPr>
      </p:sp>
      <p:sp>
        <p:nvSpPr>
          <p:cNvPr id="13" name="Text 11"/>
          <p:cNvSpPr txBox="1"/>
          <p:nvPr/>
        </p:nvSpPr>
        <p:spPr>
          <a:xfrm>
            <a:off x="731520" y="471170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Önek+Önek+Kök+Sonek </a:t>
            </a:r>
            <a:r>
              <a:rPr lang="en-US" sz="1800" dirty="0">
                <a:solidFill>
                  <a:srgbClr val="1F2937"/>
                </a:solidFill>
                <a:latin typeface="Calibri" pitchFamily="34" charset="0"/>
                <a:ea typeface="Calibri" pitchFamily="34" charset="-122"/>
                <a:cs typeface="Calibri" pitchFamily="34" charset="-120"/>
              </a:rPr>
              <a:t>bir terim oluşturabilir.</a:t>
            </a:r>
            <a:endParaRPr lang="en-US" sz="1800" dirty="0"/>
          </a:p>
        </p:txBody>
      </p:sp>
      <p:sp>
        <p:nvSpPr>
          <p:cNvPr id="14" name="Shape 12"/>
          <p:cNvSpPr/>
          <p:nvPr/>
        </p:nvSpPr>
        <p:spPr>
          <a:xfrm>
            <a:off x="850392" y="5098435"/>
            <a:ext cx="64008" cy="64008"/>
          </a:xfrm>
          <a:prstGeom prst="ellipse">
            <a:avLst/>
          </a:prstGeom>
          <a:solidFill>
            <a:srgbClr val="0F766E"/>
          </a:solidFill>
          <a:ln/>
        </p:spPr>
      </p:sp>
      <p:sp>
        <p:nvSpPr>
          <p:cNvPr id="15" name="Text 13"/>
          <p:cNvSpPr txBox="1"/>
          <p:nvPr/>
        </p:nvSpPr>
        <p:spPr>
          <a:xfrm>
            <a:off x="1005840" y="5008880"/>
            <a:ext cx="10454335" cy="56337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Örnek</a:t>
            </a:r>
            <a:r>
              <a:rPr lang="en-US" sz="1700" dirty="0">
                <a:solidFill>
                  <a:srgbClr val="4B5563"/>
                </a:solidFill>
                <a:latin typeface="Calibri" pitchFamily="34" charset="0"/>
                <a:ea typeface="Calibri" pitchFamily="34" charset="-122"/>
                <a:cs typeface="Calibri" pitchFamily="34" charset="-120"/>
              </a:rPr>
              <a:t>: Intra + epi + derm + al (intraepidermal): Epidermis (derinin dışı tabakası) içi, epidermis içinde.</a:t>
            </a:r>
            <a:endParaRPr lang="en-US" sz="1700" dirty="0"/>
          </a:p>
        </p:txBody>
      </p:sp>
      <p:sp>
        <p:nvSpPr>
          <p:cNvPr id="16" name="Shape 14"/>
          <p:cNvSpPr/>
          <p:nvPr/>
        </p:nvSpPr>
        <p:spPr>
          <a:xfrm>
            <a:off x="850392" y="5661807"/>
            <a:ext cx="64008" cy="64008"/>
          </a:xfrm>
          <a:prstGeom prst="ellipse">
            <a:avLst/>
          </a:prstGeom>
          <a:solidFill>
            <a:srgbClr val="0F766E"/>
          </a:solidFill>
          <a:ln/>
        </p:spPr>
      </p:sp>
      <p:sp>
        <p:nvSpPr>
          <p:cNvPr id="17" name="Text 15"/>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Tachy + a + rrhythm + ia (taşiaritmi)</a:t>
            </a:r>
            <a:r>
              <a:rPr lang="en-US" sz="1700" dirty="0">
                <a:solidFill>
                  <a:srgbClr val="4B5563"/>
                </a:solidFill>
                <a:latin typeface="Calibri" pitchFamily="34" charset="0"/>
                <a:ea typeface="Calibri" pitchFamily="34" charset="-122"/>
                <a:cs typeface="Calibri" pitchFamily="34" charset="-120"/>
              </a:rPr>
              <a:t>: Düzensiz hızlı vuru.</a:t>
            </a:r>
            <a:endParaRPr lang="en-US" sz="1700" dirty="0"/>
          </a:p>
        </p:txBody>
      </p:sp>
      <p:sp>
        <p:nvSpPr>
          <p:cNvPr id="18" name="Shape 16"/>
          <p:cNvSpPr/>
          <p:nvPr/>
        </p:nvSpPr>
        <p:spPr>
          <a:xfrm>
            <a:off x="850392" y="5961781"/>
            <a:ext cx="64008" cy="64008"/>
          </a:xfrm>
          <a:prstGeom prst="ellipse">
            <a:avLst/>
          </a:prstGeom>
          <a:solidFill>
            <a:srgbClr val="0F766E"/>
          </a:solidFill>
          <a:ln/>
        </p:spPr>
      </p:sp>
      <p:sp>
        <p:nvSpPr>
          <p:cNvPr id="19" name="Text 17"/>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Hemi + an + ops + ia (hemianopsi)</a:t>
            </a:r>
            <a:r>
              <a:rPr lang="en-US" sz="1700" dirty="0">
                <a:solidFill>
                  <a:srgbClr val="4B5563"/>
                </a:solidFill>
                <a:latin typeface="Calibri" pitchFamily="34" charset="0"/>
                <a:ea typeface="Calibri" pitchFamily="34" charset="-122"/>
                <a:cs typeface="Calibri" pitchFamily="34" charset="-120"/>
              </a:rPr>
              <a:t>: Görüş alanının yarısını görme, yarım körlük</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Terimlerde Temel Yapılar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539697"/>
            <a:ext cx="11094415" cy="542239"/>
          </a:xfrm>
          <a:prstGeom prst="roundRect">
            <a:avLst>
              <a:gd name="adj" fmla="val 11804"/>
            </a:avLst>
          </a:prstGeom>
          <a:solidFill>
            <a:srgbClr val="EAF6F4"/>
          </a:solidFill>
          <a:ln/>
        </p:spPr>
      </p:sp>
      <p:sp>
        <p:nvSpPr>
          <p:cNvPr id="7" name="Text 5"/>
          <p:cNvSpPr txBox="1"/>
          <p:nvPr/>
        </p:nvSpPr>
        <p:spPr>
          <a:xfrm>
            <a:off x="704088" y="1612849"/>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Tıbbi terminolojide terimleri öğrenirken üç ana noktaya dikkat edilmelidir.</a:t>
            </a:r>
            <a:endParaRPr lang="en-US" sz="1800" dirty="0"/>
          </a:p>
        </p:txBody>
      </p:sp>
      <p:sp>
        <p:nvSpPr>
          <p:cNvPr id="8" name="Shape 6"/>
          <p:cNvSpPr/>
          <p:nvPr/>
        </p:nvSpPr>
        <p:spPr>
          <a:xfrm>
            <a:off x="548640" y="2173376"/>
            <a:ext cx="11094415" cy="1100023"/>
          </a:xfrm>
          <a:prstGeom prst="roundRect">
            <a:avLst>
              <a:gd name="adj" fmla="val 5819"/>
            </a:avLst>
          </a:prstGeom>
          <a:solidFill>
            <a:srgbClr val="EAF6F4"/>
          </a:solidFill>
          <a:ln/>
        </p:spPr>
      </p:sp>
      <p:sp>
        <p:nvSpPr>
          <p:cNvPr id="9" name="Text 7"/>
          <p:cNvSpPr txBox="1"/>
          <p:nvPr/>
        </p:nvSpPr>
        <p:spPr>
          <a:xfrm>
            <a:off x="704088" y="2246528"/>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 Terimlerin yapısal ayrışımı: </a:t>
            </a:r>
            <a:r>
              <a:rPr lang="en-US" sz="1800" dirty="0">
                <a:solidFill>
                  <a:srgbClr val="1F2937"/>
                </a:solidFill>
                <a:latin typeface="Calibri" pitchFamily="34" charset="0"/>
                <a:ea typeface="Calibri" pitchFamily="34" charset="-122"/>
                <a:cs typeface="Calibri" pitchFamily="34" charset="-120"/>
              </a:rPr>
              <a:t>Burada amaç karmaşık görünen terimleri basite indirgeyerek ayrıştırmak ve anlamaktır. Bunun için bazı yöntemler kullanılır. Terimler basit parçalara ayrılır. Bu yolla çok uzun ve çok karmaşık terimler anlaşılır hale gelir.</a:t>
            </a:r>
            <a:endParaRPr lang="en-US" sz="1800" dirty="0"/>
          </a:p>
        </p:txBody>
      </p:sp>
      <p:sp>
        <p:nvSpPr>
          <p:cNvPr id="10" name="Shape 8"/>
          <p:cNvSpPr/>
          <p:nvPr/>
        </p:nvSpPr>
        <p:spPr>
          <a:xfrm>
            <a:off x="548640" y="3364840"/>
            <a:ext cx="11094415" cy="542239"/>
          </a:xfrm>
          <a:prstGeom prst="roundRect">
            <a:avLst>
              <a:gd name="adj" fmla="val 11804"/>
            </a:avLst>
          </a:prstGeom>
          <a:solidFill>
            <a:srgbClr val="EAF6F4"/>
          </a:solidFill>
          <a:ln/>
        </p:spPr>
      </p:sp>
      <p:sp>
        <p:nvSpPr>
          <p:cNvPr id="11" name="Text 9"/>
          <p:cNvSpPr txBox="1"/>
          <p:nvPr/>
        </p:nvSpPr>
        <p:spPr>
          <a:xfrm>
            <a:off x="704088" y="343799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Örnek 1. </a:t>
            </a:r>
            <a:r>
              <a:rPr lang="en-US" sz="1800" dirty="0">
                <a:solidFill>
                  <a:srgbClr val="1F2937"/>
                </a:solidFill>
                <a:latin typeface="Calibri" pitchFamily="34" charset="0"/>
                <a:ea typeface="Calibri" pitchFamily="34" charset="-122"/>
                <a:cs typeface="Calibri" pitchFamily="34" charset="-120"/>
              </a:rPr>
              <a:t>gastroenterologia (gy) → gastr/o/enter/o/logia (gy)</a:t>
            </a:r>
            <a:endParaRPr lang="en-US" sz="1800" dirty="0"/>
          </a:p>
        </p:txBody>
      </p:sp>
      <p:sp>
        <p:nvSpPr>
          <p:cNvPr id="12" name="Shape 10"/>
          <p:cNvSpPr/>
          <p:nvPr/>
        </p:nvSpPr>
        <p:spPr>
          <a:xfrm>
            <a:off x="548640" y="3998519"/>
            <a:ext cx="11094415" cy="1398270"/>
          </a:xfrm>
          <a:prstGeom prst="roundRect">
            <a:avLst>
              <a:gd name="adj" fmla="val 4578"/>
            </a:avLst>
          </a:prstGeom>
          <a:solidFill>
            <a:srgbClr val="EAF6F4"/>
          </a:solidFill>
          <a:ln/>
        </p:spPr>
      </p:sp>
      <p:sp>
        <p:nvSpPr>
          <p:cNvPr id="13" name="Text 11"/>
          <p:cNvSpPr txBox="1"/>
          <p:nvPr/>
        </p:nvSpPr>
        <p:spPr>
          <a:xfrm>
            <a:off x="731520" y="4062527"/>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gaster: </a:t>
            </a:r>
            <a:r>
              <a:rPr lang="en-US" sz="1800" dirty="0">
                <a:solidFill>
                  <a:srgbClr val="1F2937"/>
                </a:solidFill>
                <a:latin typeface="Calibri" pitchFamily="34" charset="0"/>
                <a:ea typeface="Calibri" pitchFamily="34" charset="-122"/>
                <a:cs typeface="Calibri" pitchFamily="34" charset="-120"/>
              </a:rPr>
              <a:t>kök = Mide.</a:t>
            </a:r>
            <a:endParaRPr lang="en-US" sz="1800" dirty="0"/>
          </a:p>
        </p:txBody>
      </p:sp>
      <p:sp>
        <p:nvSpPr>
          <p:cNvPr id="14" name="Shape 12"/>
          <p:cNvSpPr/>
          <p:nvPr/>
        </p:nvSpPr>
        <p:spPr>
          <a:xfrm>
            <a:off x="850392" y="4449262"/>
            <a:ext cx="64008" cy="64008"/>
          </a:xfrm>
          <a:prstGeom prst="ellipse">
            <a:avLst/>
          </a:prstGeom>
          <a:solidFill>
            <a:srgbClr val="0F766E"/>
          </a:solidFill>
          <a:ln/>
        </p:spPr>
      </p:sp>
      <p:sp>
        <p:nvSpPr>
          <p:cNvPr id="15" name="Text 13"/>
          <p:cNvSpPr txBox="1"/>
          <p:nvPr/>
        </p:nvSpPr>
        <p:spPr>
          <a:xfrm>
            <a:off x="1005840" y="4359707"/>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a:t>
            </a:r>
            <a:r>
              <a:rPr lang="en-US" sz="1700" dirty="0">
                <a:solidFill>
                  <a:srgbClr val="4B5563"/>
                </a:solidFill>
                <a:latin typeface="Calibri" pitchFamily="34" charset="0"/>
                <a:ea typeface="Calibri" pitchFamily="34" charset="-122"/>
                <a:cs typeface="Calibri" pitchFamily="34" charset="-120"/>
              </a:rPr>
              <a:t>: Kaynaştırma ünlüsü.</a:t>
            </a:r>
            <a:endParaRPr lang="en-US" sz="1700" dirty="0"/>
          </a:p>
        </p:txBody>
      </p:sp>
      <p:sp>
        <p:nvSpPr>
          <p:cNvPr id="16" name="Shape 14"/>
          <p:cNvSpPr/>
          <p:nvPr/>
        </p:nvSpPr>
        <p:spPr>
          <a:xfrm>
            <a:off x="850392" y="4749236"/>
            <a:ext cx="64008" cy="64008"/>
          </a:xfrm>
          <a:prstGeom prst="ellipse">
            <a:avLst/>
          </a:prstGeom>
          <a:solidFill>
            <a:srgbClr val="0F766E"/>
          </a:solidFill>
          <a:ln/>
        </p:spPr>
      </p:sp>
      <p:sp>
        <p:nvSpPr>
          <p:cNvPr id="17" name="Text 15"/>
          <p:cNvSpPr txBox="1"/>
          <p:nvPr/>
        </p:nvSpPr>
        <p:spPr>
          <a:xfrm>
            <a:off x="1005840" y="4659681"/>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enter</a:t>
            </a:r>
            <a:r>
              <a:rPr lang="en-US" sz="1700" dirty="0">
                <a:solidFill>
                  <a:srgbClr val="4B5563"/>
                </a:solidFill>
                <a:latin typeface="Calibri" pitchFamily="34" charset="0"/>
                <a:ea typeface="Calibri" pitchFamily="34" charset="-122"/>
                <a:cs typeface="Calibri" pitchFamily="34" charset="-120"/>
              </a:rPr>
              <a:t>: Kök = Bağırsak.</a:t>
            </a:r>
            <a:endParaRPr lang="en-US" sz="1700" dirty="0"/>
          </a:p>
        </p:txBody>
      </p:sp>
      <p:sp>
        <p:nvSpPr>
          <p:cNvPr id="18" name="Shape 16"/>
          <p:cNvSpPr/>
          <p:nvPr/>
        </p:nvSpPr>
        <p:spPr>
          <a:xfrm>
            <a:off x="850392" y="5049210"/>
            <a:ext cx="64008" cy="64008"/>
          </a:xfrm>
          <a:prstGeom prst="ellipse">
            <a:avLst/>
          </a:prstGeom>
          <a:solidFill>
            <a:srgbClr val="0F766E"/>
          </a:solidFill>
          <a:ln/>
        </p:spPr>
      </p:sp>
      <p:sp>
        <p:nvSpPr>
          <p:cNvPr id="19" name="Text 17"/>
          <p:cNvSpPr txBox="1"/>
          <p:nvPr/>
        </p:nvSpPr>
        <p:spPr>
          <a:xfrm>
            <a:off x="1005840" y="4959655"/>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logia</a:t>
            </a:r>
            <a:r>
              <a:rPr lang="en-US" sz="1700" dirty="0">
                <a:solidFill>
                  <a:srgbClr val="4B5563"/>
                </a:solidFill>
                <a:latin typeface="Calibri" pitchFamily="34" charset="0"/>
                <a:ea typeface="Calibri" pitchFamily="34" charset="-122"/>
                <a:cs typeface="Calibri" pitchFamily="34" charset="-120"/>
              </a:rPr>
              <a:t>: Sonek = Bilim</a:t>
            </a:r>
            <a:endParaRPr lang="en-US" sz="1700" dirty="0"/>
          </a:p>
        </p:txBody>
      </p:sp>
      <p:sp>
        <p:nvSpPr>
          <p:cNvPr id="20" name="Shape 18"/>
          <p:cNvSpPr/>
          <p:nvPr/>
        </p:nvSpPr>
        <p:spPr>
          <a:xfrm>
            <a:off x="548640" y="5488229"/>
            <a:ext cx="11094415" cy="821131"/>
          </a:xfrm>
          <a:prstGeom prst="roundRect">
            <a:avLst>
              <a:gd name="adj" fmla="val 7795"/>
            </a:avLst>
          </a:prstGeom>
          <a:solidFill>
            <a:srgbClr val="EAF6F4"/>
          </a:solidFill>
          <a:ln/>
        </p:spPr>
      </p:sp>
      <p:sp>
        <p:nvSpPr>
          <p:cNvPr id="21" name="Text 19"/>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Buna göre gastroenterlogia terimi ‘‘mide ve bağırsak hastalıklarını inceleyen bilim dalı’’ anlamına gelir ve gastroentereloji olarak okunur ve söylenir.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Örnek 2. tracheobronchitis → trache/o/bronch/itis</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48640" y="1901647"/>
            <a:ext cx="11094415" cy="1150366"/>
          </a:xfrm>
          <a:prstGeom prst="roundRect">
            <a:avLst>
              <a:gd name="adj" fmla="val 5564"/>
            </a:avLst>
          </a:prstGeom>
          <a:solidFill>
            <a:srgbClr val="EAF6F4"/>
          </a:solidFill>
          <a:ln/>
        </p:spPr>
      </p:sp>
      <p:sp>
        <p:nvSpPr>
          <p:cNvPr id="7" name="Text 5"/>
          <p:cNvSpPr txBox="1"/>
          <p:nvPr/>
        </p:nvSpPr>
        <p:spPr>
          <a:xfrm>
            <a:off x="731520" y="1965655"/>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trache: </a:t>
            </a:r>
            <a:r>
              <a:rPr lang="en-US" sz="1400" dirty="0">
                <a:solidFill>
                  <a:srgbClr val="1F2937"/>
                </a:solidFill>
                <a:latin typeface="Calibri" pitchFamily="34" charset="0"/>
                <a:ea typeface="Calibri" pitchFamily="34" charset="-122"/>
                <a:cs typeface="Calibri" pitchFamily="34" charset="-120"/>
              </a:rPr>
              <a:t>Kök = Soluk borusu.</a:t>
            </a:r>
            <a:endParaRPr lang="en-US" sz="1400" dirty="0"/>
          </a:p>
        </p:txBody>
      </p:sp>
      <p:sp>
        <p:nvSpPr>
          <p:cNvPr id="8" name="Shape 6"/>
          <p:cNvSpPr/>
          <p:nvPr/>
        </p:nvSpPr>
        <p:spPr>
          <a:xfrm>
            <a:off x="850392" y="2269343"/>
            <a:ext cx="64008" cy="64008"/>
          </a:xfrm>
          <a:prstGeom prst="ellipse">
            <a:avLst/>
          </a:prstGeom>
          <a:solidFill>
            <a:srgbClr val="0F766E"/>
          </a:solidFill>
          <a:ln/>
        </p:spPr>
      </p:sp>
      <p:sp>
        <p:nvSpPr>
          <p:cNvPr id="9" name="Text 7"/>
          <p:cNvSpPr txBox="1"/>
          <p:nvPr/>
        </p:nvSpPr>
        <p:spPr>
          <a:xfrm>
            <a:off x="1005840" y="2200859"/>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10" name="Shape 8"/>
          <p:cNvSpPr/>
          <p:nvPr/>
        </p:nvSpPr>
        <p:spPr>
          <a:xfrm>
            <a:off x="850392" y="2507341"/>
            <a:ext cx="64008" cy="64008"/>
          </a:xfrm>
          <a:prstGeom prst="ellipse">
            <a:avLst/>
          </a:prstGeom>
          <a:solidFill>
            <a:srgbClr val="0F766E"/>
          </a:solidFill>
          <a:ln/>
        </p:spPr>
      </p:sp>
      <p:sp>
        <p:nvSpPr>
          <p:cNvPr id="11" name="Text 9"/>
          <p:cNvSpPr txBox="1"/>
          <p:nvPr/>
        </p:nvSpPr>
        <p:spPr>
          <a:xfrm>
            <a:off x="1005840" y="2438857"/>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bronch</a:t>
            </a:r>
            <a:r>
              <a:rPr lang="en-US" sz="1300" dirty="0">
                <a:solidFill>
                  <a:srgbClr val="4B5563"/>
                </a:solidFill>
                <a:latin typeface="Calibri" pitchFamily="34" charset="0"/>
                <a:ea typeface="Calibri" pitchFamily="34" charset="-122"/>
                <a:cs typeface="Calibri" pitchFamily="34" charset="-120"/>
              </a:rPr>
              <a:t>: Kök = Bronş.</a:t>
            </a:r>
            <a:endParaRPr lang="en-US" sz="1300" dirty="0"/>
          </a:p>
        </p:txBody>
      </p:sp>
      <p:sp>
        <p:nvSpPr>
          <p:cNvPr id="12" name="Shape 10"/>
          <p:cNvSpPr/>
          <p:nvPr/>
        </p:nvSpPr>
        <p:spPr>
          <a:xfrm>
            <a:off x="850392" y="2745339"/>
            <a:ext cx="64008" cy="64008"/>
          </a:xfrm>
          <a:prstGeom prst="ellipse">
            <a:avLst/>
          </a:prstGeom>
          <a:solidFill>
            <a:srgbClr val="0F766E"/>
          </a:solidFill>
          <a:ln/>
        </p:spPr>
      </p:sp>
      <p:sp>
        <p:nvSpPr>
          <p:cNvPr id="13" name="Text 11"/>
          <p:cNvSpPr txBox="1"/>
          <p:nvPr/>
        </p:nvSpPr>
        <p:spPr>
          <a:xfrm>
            <a:off x="1005840" y="2676855"/>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itis</a:t>
            </a:r>
            <a:r>
              <a:rPr lang="en-US" sz="1300" dirty="0">
                <a:solidFill>
                  <a:srgbClr val="4B5563"/>
                </a:solidFill>
                <a:latin typeface="Calibri" pitchFamily="34" charset="0"/>
                <a:ea typeface="Calibri" pitchFamily="34" charset="-122"/>
                <a:cs typeface="Calibri" pitchFamily="34" charset="-120"/>
              </a:rPr>
              <a:t>: Sonek = İltihap, yangı</a:t>
            </a:r>
            <a:endParaRPr lang="en-US" sz="1300" dirty="0"/>
          </a:p>
        </p:txBody>
      </p:sp>
      <p:sp>
        <p:nvSpPr>
          <p:cNvPr id="14" name="Shape 12"/>
          <p:cNvSpPr/>
          <p:nvPr/>
        </p:nvSpPr>
        <p:spPr>
          <a:xfrm>
            <a:off x="548640" y="3143453"/>
            <a:ext cx="11094415" cy="421742"/>
          </a:xfrm>
          <a:prstGeom prst="roundRect">
            <a:avLst>
              <a:gd name="adj" fmla="val 15177"/>
            </a:avLst>
          </a:prstGeom>
          <a:solidFill>
            <a:srgbClr val="EAF6F4"/>
          </a:solidFill>
          <a:ln/>
        </p:spPr>
      </p:sp>
      <p:sp>
        <p:nvSpPr>
          <p:cNvPr id="15" name="Text 13"/>
          <p:cNvSpPr txBox="1"/>
          <p:nvPr/>
        </p:nvSpPr>
        <p:spPr>
          <a:xfrm>
            <a:off x="704088" y="3216605"/>
            <a:ext cx="10783519" cy="275438"/>
          </a:xfrm>
          <a:prstGeom prst="rect">
            <a:avLst/>
          </a:prstGeom>
          <a:noFill/>
          <a:ln/>
        </p:spPr>
        <p:txBody>
          <a:bodyPr wrap="square" lIns="0" tIns="0" rIns="0" bIns="0" rtlCol="0" anchor="t"/>
          <a:lstStyle/>
          <a:p>
            <a:pPr marL="0" indent="0">
              <a:lnSpc>
                <a:spcPct val="105000"/>
              </a:lnSpc>
              <a:buNone/>
            </a:pPr>
            <a:r>
              <a:rPr lang="en-US" sz="1400" dirty="0">
                <a:solidFill>
                  <a:srgbClr val="1F2937"/>
                </a:solidFill>
                <a:latin typeface="Calibri" pitchFamily="34" charset="0"/>
                <a:ea typeface="Calibri" pitchFamily="34" charset="-122"/>
                <a:cs typeface="Calibri" pitchFamily="34" charset="-120"/>
              </a:rPr>
              <a:t>Terim ‘‘soluk borusu ve bronşların iltihabı’’ anlamındadır ve trakeobronşit olarak okunur ve söylenir.</a:t>
            </a:r>
            <a:endParaRPr lang="en-US" sz="1400" dirty="0"/>
          </a:p>
        </p:txBody>
      </p:sp>
      <p:sp>
        <p:nvSpPr>
          <p:cNvPr id="16" name="Shape 14"/>
          <p:cNvSpPr/>
          <p:nvPr/>
        </p:nvSpPr>
        <p:spPr>
          <a:xfrm>
            <a:off x="548640" y="3656635"/>
            <a:ext cx="11094415" cy="421742"/>
          </a:xfrm>
          <a:prstGeom prst="roundRect">
            <a:avLst>
              <a:gd name="adj" fmla="val 15177"/>
            </a:avLst>
          </a:prstGeom>
          <a:solidFill>
            <a:srgbClr val="EAF6F4"/>
          </a:solidFill>
          <a:ln/>
        </p:spPr>
      </p:sp>
      <p:sp>
        <p:nvSpPr>
          <p:cNvPr id="17" name="Text 15"/>
          <p:cNvSpPr txBox="1"/>
          <p:nvPr/>
        </p:nvSpPr>
        <p:spPr>
          <a:xfrm>
            <a:off x="704088" y="372978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Örnek 3. </a:t>
            </a:r>
            <a:r>
              <a:rPr lang="en-US" sz="1400" dirty="0">
                <a:solidFill>
                  <a:srgbClr val="1F2937"/>
                </a:solidFill>
                <a:latin typeface="Calibri" pitchFamily="34" charset="0"/>
                <a:ea typeface="Calibri" pitchFamily="34" charset="-122"/>
                <a:cs typeface="Calibri" pitchFamily="34" charset="-120"/>
              </a:rPr>
              <a:t>angiomyolipoma → angi/o/my/o/lip/oma</a:t>
            </a:r>
            <a:endParaRPr lang="en-US" sz="1400" dirty="0"/>
          </a:p>
        </p:txBody>
      </p:sp>
      <p:sp>
        <p:nvSpPr>
          <p:cNvPr id="18" name="Shape 16"/>
          <p:cNvSpPr/>
          <p:nvPr/>
        </p:nvSpPr>
        <p:spPr>
          <a:xfrm>
            <a:off x="548640" y="4169816"/>
            <a:ext cx="11094415" cy="1626362"/>
          </a:xfrm>
          <a:prstGeom prst="roundRect">
            <a:avLst>
              <a:gd name="adj" fmla="val 3936"/>
            </a:avLst>
          </a:prstGeom>
          <a:solidFill>
            <a:srgbClr val="EAF6F4"/>
          </a:solidFill>
          <a:ln/>
        </p:spPr>
      </p:sp>
      <p:sp>
        <p:nvSpPr>
          <p:cNvPr id="19" name="Text 17"/>
          <p:cNvSpPr txBox="1"/>
          <p:nvPr/>
        </p:nvSpPr>
        <p:spPr>
          <a:xfrm>
            <a:off x="731520" y="4233824"/>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angi: </a:t>
            </a:r>
            <a:r>
              <a:rPr lang="en-US" sz="1400" dirty="0">
                <a:solidFill>
                  <a:srgbClr val="1F2937"/>
                </a:solidFill>
                <a:latin typeface="Calibri" pitchFamily="34" charset="0"/>
                <a:ea typeface="Calibri" pitchFamily="34" charset="-122"/>
                <a:cs typeface="Calibri" pitchFamily="34" charset="-120"/>
              </a:rPr>
              <a:t>Kök = Damar.</a:t>
            </a:r>
            <a:endParaRPr lang="en-US" sz="1400" dirty="0"/>
          </a:p>
        </p:txBody>
      </p:sp>
      <p:sp>
        <p:nvSpPr>
          <p:cNvPr id="20" name="Shape 18"/>
          <p:cNvSpPr/>
          <p:nvPr/>
        </p:nvSpPr>
        <p:spPr>
          <a:xfrm>
            <a:off x="850392" y="4537512"/>
            <a:ext cx="64008" cy="64008"/>
          </a:xfrm>
          <a:prstGeom prst="ellipse">
            <a:avLst/>
          </a:prstGeom>
          <a:solidFill>
            <a:srgbClr val="0F766E"/>
          </a:solidFill>
          <a:ln/>
        </p:spPr>
      </p:sp>
      <p:sp>
        <p:nvSpPr>
          <p:cNvPr id="21" name="Text 19"/>
          <p:cNvSpPr txBox="1"/>
          <p:nvPr/>
        </p:nvSpPr>
        <p:spPr>
          <a:xfrm>
            <a:off x="1005840" y="4469028"/>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22" name="Shape 20"/>
          <p:cNvSpPr/>
          <p:nvPr/>
        </p:nvSpPr>
        <p:spPr>
          <a:xfrm>
            <a:off x="850392" y="4775510"/>
            <a:ext cx="64008" cy="64008"/>
          </a:xfrm>
          <a:prstGeom prst="ellipse">
            <a:avLst/>
          </a:prstGeom>
          <a:solidFill>
            <a:srgbClr val="0F766E"/>
          </a:solidFill>
          <a:ln/>
        </p:spPr>
      </p:sp>
      <p:sp>
        <p:nvSpPr>
          <p:cNvPr id="23" name="Text 21"/>
          <p:cNvSpPr txBox="1"/>
          <p:nvPr/>
        </p:nvSpPr>
        <p:spPr>
          <a:xfrm>
            <a:off x="1005840" y="4707026"/>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my</a:t>
            </a:r>
            <a:r>
              <a:rPr lang="en-US" sz="1300" dirty="0">
                <a:solidFill>
                  <a:srgbClr val="4B5563"/>
                </a:solidFill>
                <a:latin typeface="Calibri" pitchFamily="34" charset="0"/>
                <a:ea typeface="Calibri" pitchFamily="34" charset="-122"/>
                <a:cs typeface="Calibri" pitchFamily="34" charset="-120"/>
              </a:rPr>
              <a:t>: Kök = Kas.</a:t>
            </a:r>
            <a:endParaRPr lang="en-US" sz="1300" dirty="0"/>
          </a:p>
        </p:txBody>
      </p:sp>
      <p:sp>
        <p:nvSpPr>
          <p:cNvPr id="24" name="Shape 22"/>
          <p:cNvSpPr/>
          <p:nvPr/>
        </p:nvSpPr>
        <p:spPr>
          <a:xfrm>
            <a:off x="850392" y="5013508"/>
            <a:ext cx="64008" cy="64008"/>
          </a:xfrm>
          <a:prstGeom prst="ellipse">
            <a:avLst/>
          </a:prstGeom>
          <a:solidFill>
            <a:srgbClr val="0F766E"/>
          </a:solidFill>
          <a:ln/>
        </p:spPr>
      </p:sp>
      <p:sp>
        <p:nvSpPr>
          <p:cNvPr id="25" name="Text 23"/>
          <p:cNvSpPr txBox="1"/>
          <p:nvPr/>
        </p:nvSpPr>
        <p:spPr>
          <a:xfrm>
            <a:off x="1005840" y="4945024"/>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26" name="Shape 24"/>
          <p:cNvSpPr/>
          <p:nvPr/>
        </p:nvSpPr>
        <p:spPr>
          <a:xfrm>
            <a:off x="850392" y="5251506"/>
            <a:ext cx="64008" cy="64008"/>
          </a:xfrm>
          <a:prstGeom prst="ellipse">
            <a:avLst/>
          </a:prstGeom>
          <a:solidFill>
            <a:srgbClr val="0F766E"/>
          </a:solidFill>
          <a:ln/>
        </p:spPr>
      </p:sp>
      <p:sp>
        <p:nvSpPr>
          <p:cNvPr id="27" name="Text 25"/>
          <p:cNvSpPr txBox="1"/>
          <p:nvPr/>
        </p:nvSpPr>
        <p:spPr>
          <a:xfrm>
            <a:off x="1005840" y="5183022"/>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lip (o)</a:t>
            </a:r>
            <a:r>
              <a:rPr lang="en-US" sz="1300" dirty="0">
                <a:solidFill>
                  <a:srgbClr val="4B5563"/>
                </a:solidFill>
                <a:latin typeface="Calibri" pitchFamily="34" charset="0"/>
                <a:ea typeface="Calibri" pitchFamily="34" charset="-122"/>
                <a:cs typeface="Calibri" pitchFamily="34" charset="-120"/>
              </a:rPr>
              <a:t>: Kök = Yağ.</a:t>
            </a:r>
            <a:endParaRPr lang="en-US" sz="1300" dirty="0"/>
          </a:p>
        </p:txBody>
      </p:sp>
      <p:sp>
        <p:nvSpPr>
          <p:cNvPr id="28" name="Shape 26"/>
          <p:cNvSpPr/>
          <p:nvPr/>
        </p:nvSpPr>
        <p:spPr>
          <a:xfrm>
            <a:off x="850392" y="5489504"/>
            <a:ext cx="64008" cy="64008"/>
          </a:xfrm>
          <a:prstGeom prst="ellipse">
            <a:avLst/>
          </a:prstGeom>
          <a:solidFill>
            <a:srgbClr val="0F766E"/>
          </a:solidFill>
          <a:ln/>
        </p:spPr>
      </p:sp>
      <p:sp>
        <p:nvSpPr>
          <p:cNvPr id="29" name="Text 27"/>
          <p:cNvSpPr txBox="1"/>
          <p:nvPr/>
        </p:nvSpPr>
        <p:spPr>
          <a:xfrm>
            <a:off x="1005840" y="5421020"/>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oma</a:t>
            </a:r>
            <a:r>
              <a:rPr lang="en-US" sz="1300" dirty="0">
                <a:solidFill>
                  <a:srgbClr val="4B5563"/>
                </a:solidFill>
                <a:latin typeface="Calibri" pitchFamily="34" charset="0"/>
                <a:ea typeface="Calibri" pitchFamily="34" charset="-122"/>
                <a:cs typeface="Calibri" pitchFamily="34" charset="-120"/>
              </a:rPr>
              <a:t>: Sonek = Ur, tümör</a:t>
            </a:r>
            <a:endParaRPr lang="en-US" sz="1300" dirty="0"/>
          </a:p>
        </p:txBody>
      </p:sp>
      <p:sp>
        <p:nvSpPr>
          <p:cNvPr id="30" name="Shape 28"/>
          <p:cNvSpPr/>
          <p:nvPr/>
        </p:nvSpPr>
        <p:spPr>
          <a:xfrm>
            <a:off x="548640" y="5887618"/>
            <a:ext cx="11094415" cy="421742"/>
          </a:xfrm>
          <a:prstGeom prst="roundRect">
            <a:avLst>
              <a:gd name="adj" fmla="val 15177"/>
            </a:avLst>
          </a:prstGeom>
          <a:solidFill>
            <a:srgbClr val="EAF6F4"/>
          </a:solidFill>
          <a:ln/>
        </p:spPr>
      </p:sp>
      <p:sp>
        <p:nvSpPr>
          <p:cNvPr id="31" name="Text 2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dirty="0">
                <a:solidFill>
                  <a:srgbClr val="1F2937"/>
                </a:solidFill>
                <a:latin typeface="Calibri" pitchFamily="34" charset="0"/>
                <a:ea typeface="Calibri" pitchFamily="34" charset="-122"/>
                <a:cs typeface="Calibri" pitchFamily="34" charset="-120"/>
              </a:rPr>
              <a:t>Terim ‘‘damar, kas ve yağ dokularında oluşan tümör’’ anlamındadır. Türkçe anjiyomiyolipom olarak okunur ve söylenir.</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Örnek 4. oncogenic → onc/o/genic</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a:t>
            </a:r>
            <a:endParaRPr lang="en-US" sz="1000" dirty="0"/>
          </a:p>
        </p:txBody>
      </p:sp>
      <p:sp>
        <p:nvSpPr>
          <p:cNvPr id="6" name="Shape 4"/>
          <p:cNvSpPr/>
          <p:nvPr/>
        </p:nvSpPr>
        <p:spPr>
          <a:xfrm>
            <a:off x="548640" y="1901647"/>
            <a:ext cx="11094415" cy="912368"/>
          </a:xfrm>
          <a:prstGeom prst="roundRect">
            <a:avLst>
              <a:gd name="adj" fmla="val 7016"/>
            </a:avLst>
          </a:prstGeom>
          <a:solidFill>
            <a:srgbClr val="EAF6F4"/>
          </a:solidFill>
          <a:ln/>
        </p:spPr>
      </p:sp>
      <p:sp>
        <p:nvSpPr>
          <p:cNvPr id="7" name="Text 5"/>
          <p:cNvSpPr txBox="1"/>
          <p:nvPr/>
        </p:nvSpPr>
        <p:spPr>
          <a:xfrm>
            <a:off x="731520" y="1965655"/>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onc: </a:t>
            </a:r>
            <a:r>
              <a:rPr lang="en-US" sz="1400" dirty="0">
                <a:solidFill>
                  <a:srgbClr val="1F2937"/>
                </a:solidFill>
                <a:latin typeface="Calibri" pitchFamily="34" charset="0"/>
                <a:ea typeface="Calibri" pitchFamily="34" charset="-122"/>
                <a:cs typeface="Calibri" pitchFamily="34" charset="-120"/>
              </a:rPr>
              <a:t>Kök = Tümör, ur.</a:t>
            </a:r>
            <a:endParaRPr lang="en-US" sz="1400" dirty="0"/>
          </a:p>
        </p:txBody>
      </p:sp>
      <p:sp>
        <p:nvSpPr>
          <p:cNvPr id="8" name="Shape 6"/>
          <p:cNvSpPr/>
          <p:nvPr/>
        </p:nvSpPr>
        <p:spPr>
          <a:xfrm>
            <a:off x="850392" y="2269343"/>
            <a:ext cx="64008" cy="64008"/>
          </a:xfrm>
          <a:prstGeom prst="ellipse">
            <a:avLst/>
          </a:prstGeom>
          <a:solidFill>
            <a:srgbClr val="0F766E"/>
          </a:solidFill>
          <a:ln/>
        </p:spPr>
      </p:sp>
      <p:sp>
        <p:nvSpPr>
          <p:cNvPr id="9" name="Text 7"/>
          <p:cNvSpPr txBox="1"/>
          <p:nvPr/>
        </p:nvSpPr>
        <p:spPr>
          <a:xfrm>
            <a:off x="1005840" y="2200859"/>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10" name="Shape 8"/>
          <p:cNvSpPr/>
          <p:nvPr/>
        </p:nvSpPr>
        <p:spPr>
          <a:xfrm>
            <a:off x="850392" y="2507341"/>
            <a:ext cx="64008" cy="64008"/>
          </a:xfrm>
          <a:prstGeom prst="ellipse">
            <a:avLst/>
          </a:prstGeom>
          <a:solidFill>
            <a:srgbClr val="0F766E"/>
          </a:solidFill>
          <a:ln/>
        </p:spPr>
      </p:sp>
      <p:sp>
        <p:nvSpPr>
          <p:cNvPr id="11" name="Text 9"/>
          <p:cNvSpPr txBox="1"/>
          <p:nvPr/>
        </p:nvSpPr>
        <p:spPr>
          <a:xfrm>
            <a:off x="1005840" y="2438857"/>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genic</a:t>
            </a:r>
            <a:r>
              <a:rPr lang="en-US" sz="1300" dirty="0">
                <a:solidFill>
                  <a:srgbClr val="4B5563"/>
                </a:solidFill>
                <a:latin typeface="Calibri" pitchFamily="34" charset="0"/>
                <a:ea typeface="Calibri" pitchFamily="34" charset="-122"/>
                <a:cs typeface="Calibri" pitchFamily="34" charset="-120"/>
              </a:rPr>
              <a:t>: sonek = Oluşturucu veya sebep olucu etken</a:t>
            </a:r>
            <a:endParaRPr lang="en-US" sz="1300" dirty="0"/>
          </a:p>
        </p:txBody>
      </p:sp>
      <p:sp>
        <p:nvSpPr>
          <p:cNvPr id="12" name="Shape 10"/>
          <p:cNvSpPr/>
          <p:nvPr/>
        </p:nvSpPr>
        <p:spPr>
          <a:xfrm>
            <a:off x="548640" y="2905455"/>
            <a:ext cx="11094415" cy="421742"/>
          </a:xfrm>
          <a:prstGeom prst="roundRect">
            <a:avLst>
              <a:gd name="adj" fmla="val 15177"/>
            </a:avLst>
          </a:prstGeom>
          <a:solidFill>
            <a:srgbClr val="EAF6F4"/>
          </a:solidFill>
          <a:ln/>
        </p:spPr>
      </p:sp>
      <p:sp>
        <p:nvSpPr>
          <p:cNvPr id="13" name="Text 11"/>
          <p:cNvSpPr txBox="1"/>
          <p:nvPr/>
        </p:nvSpPr>
        <p:spPr>
          <a:xfrm>
            <a:off x="704088" y="2978607"/>
            <a:ext cx="10783519" cy="275438"/>
          </a:xfrm>
          <a:prstGeom prst="rect">
            <a:avLst/>
          </a:prstGeom>
          <a:noFill/>
          <a:ln/>
        </p:spPr>
        <p:txBody>
          <a:bodyPr wrap="square" lIns="0" tIns="0" rIns="0" bIns="0" rtlCol="0" anchor="t"/>
          <a:lstStyle/>
          <a:p>
            <a:pPr marL="0" indent="0">
              <a:lnSpc>
                <a:spcPct val="105000"/>
              </a:lnSpc>
              <a:buNone/>
            </a:pPr>
            <a:r>
              <a:rPr lang="en-US" sz="1400" dirty="0">
                <a:solidFill>
                  <a:srgbClr val="1F2937"/>
                </a:solidFill>
                <a:latin typeface="Calibri" pitchFamily="34" charset="0"/>
                <a:ea typeface="Calibri" pitchFamily="34" charset="-122"/>
                <a:cs typeface="Calibri" pitchFamily="34" charset="-120"/>
              </a:rPr>
              <a:t>Terim ‘‘tümör oluşturucu’’ anlamındadır, onkojenik olarak okunur ve söylenir.</a:t>
            </a:r>
            <a:endParaRPr lang="en-US" sz="1400" dirty="0"/>
          </a:p>
        </p:txBody>
      </p:sp>
      <p:sp>
        <p:nvSpPr>
          <p:cNvPr id="14" name="Shape 12"/>
          <p:cNvSpPr/>
          <p:nvPr/>
        </p:nvSpPr>
        <p:spPr>
          <a:xfrm>
            <a:off x="548640" y="3418637"/>
            <a:ext cx="11094415" cy="421742"/>
          </a:xfrm>
          <a:prstGeom prst="roundRect">
            <a:avLst>
              <a:gd name="adj" fmla="val 15177"/>
            </a:avLst>
          </a:prstGeom>
          <a:solidFill>
            <a:srgbClr val="EAF6F4"/>
          </a:solidFill>
          <a:ln/>
        </p:spPr>
      </p:sp>
      <p:sp>
        <p:nvSpPr>
          <p:cNvPr id="15" name="Text 13"/>
          <p:cNvSpPr txBox="1"/>
          <p:nvPr/>
        </p:nvSpPr>
        <p:spPr>
          <a:xfrm>
            <a:off x="704088" y="34917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Örnek 5. </a:t>
            </a:r>
            <a:r>
              <a:rPr lang="en-US" sz="1400" dirty="0">
                <a:solidFill>
                  <a:srgbClr val="1F2937"/>
                </a:solidFill>
                <a:latin typeface="Calibri" pitchFamily="34" charset="0"/>
                <a:ea typeface="Calibri" pitchFamily="34" charset="-122"/>
                <a:cs typeface="Calibri" pitchFamily="34" charset="-120"/>
              </a:rPr>
              <a:t>otorhinolaryngologia → ot/o/rhin/o/laryng/o/logia</a:t>
            </a:r>
            <a:endParaRPr lang="en-US" sz="1400" dirty="0"/>
          </a:p>
        </p:txBody>
      </p:sp>
      <p:sp>
        <p:nvSpPr>
          <p:cNvPr id="16" name="Shape 14"/>
          <p:cNvSpPr/>
          <p:nvPr/>
        </p:nvSpPr>
        <p:spPr>
          <a:xfrm>
            <a:off x="548640" y="3931818"/>
            <a:ext cx="11094415" cy="1864360"/>
          </a:xfrm>
          <a:prstGeom prst="roundRect">
            <a:avLst>
              <a:gd name="adj" fmla="val 3433"/>
            </a:avLst>
          </a:prstGeom>
          <a:solidFill>
            <a:srgbClr val="EAF6F4"/>
          </a:solidFill>
          <a:ln/>
        </p:spPr>
      </p:sp>
      <p:sp>
        <p:nvSpPr>
          <p:cNvPr id="17" name="Text 15"/>
          <p:cNvSpPr txBox="1"/>
          <p:nvPr/>
        </p:nvSpPr>
        <p:spPr>
          <a:xfrm>
            <a:off x="731520" y="3995826"/>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Ot: </a:t>
            </a:r>
            <a:r>
              <a:rPr lang="en-US" sz="1400" dirty="0">
                <a:solidFill>
                  <a:srgbClr val="1F2937"/>
                </a:solidFill>
                <a:latin typeface="Calibri" pitchFamily="34" charset="0"/>
                <a:ea typeface="Calibri" pitchFamily="34" charset="-122"/>
                <a:cs typeface="Calibri" pitchFamily="34" charset="-120"/>
              </a:rPr>
              <a:t>Kök = Kulak.</a:t>
            </a:r>
            <a:endParaRPr lang="en-US" sz="1400" dirty="0"/>
          </a:p>
        </p:txBody>
      </p:sp>
      <p:sp>
        <p:nvSpPr>
          <p:cNvPr id="18" name="Shape 16"/>
          <p:cNvSpPr/>
          <p:nvPr/>
        </p:nvSpPr>
        <p:spPr>
          <a:xfrm>
            <a:off x="850392" y="4299514"/>
            <a:ext cx="64008" cy="64008"/>
          </a:xfrm>
          <a:prstGeom prst="ellipse">
            <a:avLst/>
          </a:prstGeom>
          <a:solidFill>
            <a:srgbClr val="0F766E"/>
          </a:solidFill>
          <a:ln/>
        </p:spPr>
      </p:sp>
      <p:sp>
        <p:nvSpPr>
          <p:cNvPr id="19" name="Text 17"/>
          <p:cNvSpPr txBox="1"/>
          <p:nvPr/>
        </p:nvSpPr>
        <p:spPr>
          <a:xfrm>
            <a:off x="1005840" y="4231030"/>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20" name="Shape 18"/>
          <p:cNvSpPr/>
          <p:nvPr/>
        </p:nvSpPr>
        <p:spPr>
          <a:xfrm>
            <a:off x="850392" y="4537512"/>
            <a:ext cx="64008" cy="64008"/>
          </a:xfrm>
          <a:prstGeom prst="ellipse">
            <a:avLst/>
          </a:prstGeom>
          <a:solidFill>
            <a:srgbClr val="0F766E"/>
          </a:solidFill>
          <a:ln/>
        </p:spPr>
      </p:sp>
      <p:sp>
        <p:nvSpPr>
          <p:cNvPr id="21" name="Text 19"/>
          <p:cNvSpPr txBox="1"/>
          <p:nvPr/>
        </p:nvSpPr>
        <p:spPr>
          <a:xfrm>
            <a:off x="1005840" y="4469028"/>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rhin</a:t>
            </a:r>
            <a:r>
              <a:rPr lang="en-US" sz="1300" dirty="0">
                <a:solidFill>
                  <a:srgbClr val="4B5563"/>
                </a:solidFill>
                <a:latin typeface="Calibri" pitchFamily="34" charset="0"/>
                <a:ea typeface="Calibri" pitchFamily="34" charset="-122"/>
                <a:cs typeface="Calibri" pitchFamily="34" charset="-120"/>
              </a:rPr>
              <a:t>: Kök = Burun.</a:t>
            </a:r>
            <a:endParaRPr lang="en-US" sz="1300" dirty="0"/>
          </a:p>
        </p:txBody>
      </p:sp>
      <p:sp>
        <p:nvSpPr>
          <p:cNvPr id="22" name="Shape 20"/>
          <p:cNvSpPr/>
          <p:nvPr/>
        </p:nvSpPr>
        <p:spPr>
          <a:xfrm>
            <a:off x="850392" y="4775510"/>
            <a:ext cx="64008" cy="64008"/>
          </a:xfrm>
          <a:prstGeom prst="ellipse">
            <a:avLst/>
          </a:prstGeom>
          <a:solidFill>
            <a:srgbClr val="0F766E"/>
          </a:solidFill>
          <a:ln/>
        </p:spPr>
      </p:sp>
      <p:sp>
        <p:nvSpPr>
          <p:cNvPr id="23" name="Text 21"/>
          <p:cNvSpPr txBox="1"/>
          <p:nvPr/>
        </p:nvSpPr>
        <p:spPr>
          <a:xfrm>
            <a:off x="1005840" y="4707026"/>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24" name="Shape 22"/>
          <p:cNvSpPr/>
          <p:nvPr/>
        </p:nvSpPr>
        <p:spPr>
          <a:xfrm>
            <a:off x="850392" y="5013508"/>
            <a:ext cx="64008" cy="64008"/>
          </a:xfrm>
          <a:prstGeom prst="ellipse">
            <a:avLst/>
          </a:prstGeom>
          <a:solidFill>
            <a:srgbClr val="0F766E"/>
          </a:solidFill>
          <a:ln/>
        </p:spPr>
      </p:sp>
      <p:sp>
        <p:nvSpPr>
          <p:cNvPr id="25" name="Text 23"/>
          <p:cNvSpPr txBox="1"/>
          <p:nvPr/>
        </p:nvSpPr>
        <p:spPr>
          <a:xfrm>
            <a:off x="1005840" y="4945024"/>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laryng</a:t>
            </a:r>
            <a:r>
              <a:rPr lang="en-US" sz="1300" dirty="0">
                <a:solidFill>
                  <a:srgbClr val="4B5563"/>
                </a:solidFill>
                <a:latin typeface="Calibri" pitchFamily="34" charset="0"/>
                <a:ea typeface="Calibri" pitchFamily="34" charset="-122"/>
                <a:cs typeface="Calibri" pitchFamily="34" charset="-120"/>
              </a:rPr>
              <a:t>: Kök = Gırtlak, boğaz.</a:t>
            </a:r>
            <a:endParaRPr lang="en-US" sz="1300" dirty="0"/>
          </a:p>
        </p:txBody>
      </p:sp>
      <p:sp>
        <p:nvSpPr>
          <p:cNvPr id="26" name="Shape 24"/>
          <p:cNvSpPr/>
          <p:nvPr/>
        </p:nvSpPr>
        <p:spPr>
          <a:xfrm>
            <a:off x="850392" y="5251506"/>
            <a:ext cx="64008" cy="64008"/>
          </a:xfrm>
          <a:prstGeom prst="ellipse">
            <a:avLst/>
          </a:prstGeom>
          <a:solidFill>
            <a:srgbClr val="0F766E"/>
          </a:solidFill>
          <a:ln/>
        </p:spPr>
      </p:sp>
      <p:sp>
        <p:nvSpPr>
          <p:cNvPr id="27" name="Text 25"/>
          <p:cNvSpPr txBox="1"/>
          <p:nvPr/>
        </p:nvSpPr>
        <p:spPr>
          <a:xfrm>
            <a:off x="1005840" y="5183022"/>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a:t>
            </a:r>
            <a:r>
              <a:rPr lang="en-US" sz="1300" dirty="0">
                <a:solidFill>
                  <a:srgbClr val="4B5563"/>
                </a:solidFill>
                <a:latin typeface="Calibri" pitchFamily="34" charset="0"/>
                <a:ea typeface="Calibri" pitchFamily="34" charset="-122"/>
                <a:cs typeface="Calibri" pitchFamily="34" charset="-120"/>
              </a:rPr>
              <a:t>: Kaynaştırma ünlüsü.</a:t>
            </a:r>
            <a:endParaRPr lang="en-US" sz="1300" dirty="0"/>
          </a:p>
        </p:txBody>
      </p:sp>
      <p:sp>
        <p:nvSpPr>
          <p:cNvPr id="28" name="Shape 26"/>
          <p:cNvSpPr/>
          <p:nvPr/>
        </p:nvSpPr>
        <p:spPr>
          <a:xfrm>
            <a:off x="850392" y="5489504"/>
            <a:ext cx="64008" cy="64008"/>
          </a:xfrm>
          <a:prstGeom prst="ellipse">
            <a:avLst/>
          </a:prstGeom>
          <a:solidFill>
            <a:srgbClr val="0F766E"/>
          </a:solidFill>
          <a:ln/>
        </p:spPr>
      </p:sp>
      <p:sp>
        <p:nvSpPr>
          <p:cNvPr id="29" name="Text 27"/>
          <p:cNvSpPr txBox="1"/>
          <p:nvPr/>
        </p:nvSpPr>
        <p:spPr>
          <a:xfrm>
            <a:off x="1005840" y="5421020"/>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logia</a:t>
            </a:r>
            <a:r>
              <a:rPr lang="en-US" sz="1300" dirty="0">
                <a:solidFill>
                  <a:srgbClr val="4B5563"/>
                </a:solidFill>
                <a:latin typeface="Calibri" pitchFamily="34" charset="0"/>
                <a:ea typeface="Calibri" pitchFamily="34" charset="-122"/>
                <a:cs typeface="Calibri" pitchFamily="34" charset="-120"/>
              </a:rPr>
              <a:t>: Sonek = Bilim dalı.</a:t>
            </a:r>
            <a:endParaRPr lang="en-US" sz="1300" dirty="0"/>
          </a:p>
        </p:txBody>
      </p:sp>
      <p:sp>
        <p:nvSpPr>
          <p:cNvPr id="30" name="Shape 28"/>
          <p:cNvSpPr/>
          <p:nvPr/>
        </p:nvSpPr>
        <p:spPr>
          <a:xfrm>
            <a:off x="548640" y="5887618"/>
            <a:ext cx="11094415" cy="421742"/>
          </a:xfrm>
          <a:prstGeom prst="roundRect">
            <a:avLst>
              <a:gd name="adj" fmla="val 15177"/>
            </a:avLst>
          </a:prstGeom>
          <a:solidFill>
            <a:srgbClr val="EAF6F4"/>
          </a:solidFill>
          <a:ln/>
        </p:spPr>
      </p:sp>
      <p:sp>
        <p:nvSpPr>
          <p:cNvPr id="31" name="Text 2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dirty="0">
                <a:solidFill>
                  <a:srgbClr val="1F2937"/>
                </a:solidFill>
                <a:latin typeface="Calibri" pitchFamily="34" charset="0"/>
                <a:ea typeface="Calibri" pitchFamily="34" charset="-122"/>
                <a:cs typeface="Calibri" pitchFamily="34" charset="-120"/>
              </a:rPr>
              <a:t>Kulak, burun, boğaz hastalıklarıyla ilgilenen bilim dalı anlamındadır ve otorinolaringoloji olarak okunur ve söylenir.</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Örnek 4. oncogenic → onc/o/genic</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548640" y="1467917"/>
            <a:ext cx="11094415" cy="977798"/>
          </a:xfrm>
          <a:prstGeom prst="roundRect">
            <a:avLst>
              <a:gd name="adj" fmla="val 6546"/>
            </a:avLst>
          </a:prstGeom>
          <a:solidFill>
            <a:srgbClr val="EAF6F4"/>
          </a:solidFill>
          <a:ln/>
        </p:spPr>
      </p:sp>
      <p:sp>
        <p:nvSpPr>
          <p:cNvPr id="7" name="Text 5"/>
          <p:cNvSpPr txBox="1"/>
          <p:nvPr/>
        </p:nvSpPr>
        <p:spPr>
          <a:xfrm>
            <a:off x="704088" y="1541069"/>
            <a:ext cx="10783519" cy="831494"/>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Genelde ‘‘</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 kaynaştırma ünlüsü kökle sonek arasında olur. Ancak bazen sonek ünlü harfle başlarsa buradaki kaynaştırma ünlüsü düşer. </a:t>
            </a:r>
            <a:r>
              <a:rPr lang="en-US" sz="1600" b="1" dirty="0">
                <a:solidFill>
                  <a:srgbClr val="1F2937"/>
                </a:solidFill>
                <a:latin typeface="Calibri" pitchFamily="34" charset="0"/>
                <a:ea typeface="Calibri" pitchFamily="34" charset="-122"/>
                <a:cs typeface="Calibri" pitchFamily="34" charset="-120"/>
              </a:rPr>
              <a:t>Hepatic</a:t>
            </a:r>
            <a:r>
              <a:rPr lang="en-US" sz="1600" dirty="0">
                <a:solidFill>
                  <a:srgbClr val="1F2937"/>
                </a:solidFill>
                <a:latin typeface="Calibri" pitchFamily="34" charset="0"/>
                <a:ea typeface="Calibri" pitchFamily="34" charset="-122"/>
                <a:cs typeface="Calibri" pitchFamily="34" charset="-120"/>
              </a:rPr>
              <a:t> teriminde böyle olmuştur. Son ek ‘‘</a:t>
            </a:r>
            <a:r>
              <a:rPr lang="en-US" sz="1600" b="1" dirty="0">
                <a:solidFill>
                  <a:srgbClr val="1F2937"/>
                </a:solidFill>
                <a:latin typeface="Calibri" pitchFamily="34" charset="0"/>
                <a:ea typeface="Calibri" pitchFamily="34" charset="-122"/>
                <a:cs typeface="Calibri" pitchFamily="34" charset="-120"/>
              </a:rPr>
              <a:t>ic</a:t>
            </a:r>
            <a:r>
              <a:rPr lang="en-US" sz="1600" dirty="0">
                <a:solidFill>
                  <a:srgbClr val="1F2937"/>
                </a:solidFill>
                <a:latin typeface="Calibri" pitchFamily="34" charset="0"/>
                <a:ea typeface="Calibri" pitchFamily="34" charset="-122"/>
                <a:cs typeface="Calibri" pitchFamily="34" charset="-120"/>
              </a:rPr>
              <a:t>’’ in başında ‘‘</a:t>
            </a:r>
            <a:r>
              <a:rPr lang="en-US" sz="1600" b="1" dirty="0">
                <a:solidFill>
                  <a:srgbClr val="1F2937"/>
                </a:solidFill>
                <a:latin typeface="Calibri" pitchFamily="34" charset="0"/>
                <a:ea typeface="Calibri" pitchFamily="34" charset="-122"/>
                <a:cs typeface="Calibri" pitchFamily="34" charset="-120"/>
              </a:rPr>
              <a:t>i</a:t>
            </a:r>
            <a:r>
              <a:rPr lang="en-US" sz="1600" dirty="0">
                <a:solidFill>
                  <a:srgbClr val="1F2937"/>
                </a:solidFill>
                <a:latin typeface="Calibri" pitchFamily="34" charset="0"/>
                <a:ea typeface="Calibri" pitchFamily="34" charset="-122"/>
                <a:cs typeface="Calibri" pitchFamily="34" charset="-120"/>
              </a:rPr>
              <a:t>’’ ünlüsü olduğu için ‘‘</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 kaynaştırma ünlüsü düşmüştür.</a:t>
            </a:r>
            <a:endParaRPr lang="en-US" sz="1600" dirty="0"/>
          </a:p>
        </p:txBody>
      </p:sp>
      <p:sp>
        <p:nvSpPr>
          <p:cNvPr id="8" name="Shape 6"/>
          <p:cNvSpPr/>
          <p:nvPr/>
        </p:nvSpPr>
        <p:spPr>
          <a:xfrm>
            <a:off x="548640" y="2537155"/>
            <a:ext cx="11094415" cy="729894"/>
          </a:xfrm>
          <a:prstGeom prst="roundRect">
            <a:avLst>
              <a:gd name="adj" fmla="val 8769"/>
            </a:avLst>
          </a:prstGeom>
          <a:solidFill>
            <a:srgbClr val="EAF6F4"/>
          </a:solidFill>
          <a:ln/>
        </p:spPr>
      </p:sp>
      <p:sp>
        <p:nvSpPr>
          <p:cNvPr id="9" name="Text 7"/>
          <p:cNvSpPr txBox="1"/>
          <p:nvPr/>
        </p:nvSpPr>
        <p:spPr>
          <a:xfrm>
            <a:off x="704088" y="2610307"/>
            <a:ext cx="10783519" cy="583590"/>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Öte yandan bazı birleşik terimlerde ‘‘</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 kaynaştırma ünlüsü iki kök arasında korunur. Örneğin, gastroenteric teriminde gastr ve enter kökleri arasında korunmuştur.</a:t>
            </a:r>
            <a:endParaRPr lang="en-US" sz="1600" dirty="0"/>
          </a:p>
        </p:txBody>
      </p:sp>
      <p:sp>
        <p:nvSpPr>
          <p:cNvPr id="10" name="Shape 8"/>
          <p:cNvSpPr/>
          <p:nvPr/>
        </p:nvSpPr>
        <p:spPr>
          <a:xfrm>
            <a:off x="548640" y="3358490"/>
            <a:ext cx="11094415" cy="729894"/>
          </a:xfrm>
          <a:prstGeom prst="roundRect">
            <a:avLst>
              <a:gd name="adj" fmla="val 8769"/>
            </a:avLst>
          </a:prstGeom>
          <a:solidFill>
            <a:srgbClr val="EAF6F4"/>
          </a:solidFill>
          <a:ln/>
        </p:spPr>
      </p:sp>
      <p:sp>
        <p:nvSpPr>
          <p:cNvPr id="11" name="Text 9"/>
          <p:cNvSpPr txBox="1"/>
          <p:nvPr/>
        </p:nvSpPr>
        <p:spPr>
          <a:xfrm>
            <a:off x="704088" y="3431642"/>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b) </a:t>
            </a:r>
            <a:r>
              <a:rPr lang="en-US" sz="1600" dirty="0">
                <a:solidFill>
                  <a:srgbClr val="1F2937"/>
                </a:solidFill>
                <a:latin typeface="Calibri" pitchFamily="34" charset="0"/>
                <a:ea typeface="Calibri" pitchFamily="34" charset="-122"/>
                <a:cs typeface="Calibri" pitchFamily="34" charset="-120"/>
              </a:rPr>
              <a:t>Sonek sesli harfle başlıyorsa, sonekten önceki ‘‘</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 kaynaştırma ünlüsü düşürülür. Örneğin, gastroic (gastr</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ik) değil gastric (gastrik) olarak yazılır ve okunur. Mideye ait, mideyle ilgili anlamındadır.</a:t>
            </a:r>
            <a:endParaRPr lang="en-US" sz="1600" dirty="0"/>
          </a:p>
        </p:txBody>
      </p:sp>
      <p:sp>
        <p:nvSpPr>
          <p:cNvPr id="12" name="Shape 10"/>
          <p:cNvSpPr/>
          <p:nvPr/>
        </p:nvSpPr>
        <p:spPr>
          <a:xfrm>
            <a:off x="548640" y="4184701"/>
            <a:ext cx="11094415" cy="729894"/>
          </a:xfrm>
          <a:prstGeom prst="roundRect">
            <a:avLst>
              <a:gd name="adj" fmla="val 8769"/>
            </a:avLst>
          </a:prstGeom>
          <a:solidFill>
            <a:srgbClr val="EAF6F4"/>
          </a:solidFill>
          <a:ln/>
        </p:spPr>
      </p:sp>
      <p:sp>
        <p:nvSpPr>
          <p:cNvPr id="13" name="Text 11"/>
          <p:cNvSpPr txBox="1"/>
          <p:nvPr/>
        </p:nvSpPr>
        <p:spPr>
          <a:xfrm>
            <a:off x="704088" y="4257853"/>
            <a:ext cx="10783519" cy="583590"/>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Özetle söylemek gerekirse, tıp dilindeki terimler ayrıştırılırken (çözümlenirken) üç önemli kural uygulanır:</a:t>
            </a:r>
            <a:endParaRPr lang="en-US" sz="1600" dirty="0"/>
          </a:p>
        </p:txBody>
      </p:sp>
      <p:sp>
        <p:nvSpPr>
          <p:cNvPr id="14" name="Shape 12"/>
          <p:cNvSpPr/>
          <p:nvPr/>
        </p:nvSpPr>
        <p:spPr>
          <a:xfrm>
            <a:off x="548640" y="5006035"/>
            <a:ext cx="11094415" cy="481990"/>
          </a:xfrm>
          <a:prstGeom prst="roundRect">
            <a:avLst>
              <a:gd name="adj" fmla="val 13280"/>
            </a:avLst>
          </a:prstGeom>
          <a:solidFill>
            <a:srgbClr val="EAF6F4"/>
          </a:solidFill>
          <a:ln/>
        </p:spPr>
      </p:sp>
      <p:sp>
        <p:nvSpPr>
          <p:cNvPr id="15" name="Text 13"/>
          <p:cNvSpPr txBox="1"/>
          <p:nvPr/>
        </p:nvSpPr>
        <p:spPr>
          <a:xfrm>
            <a:off x="704088" y="5079187"/>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 </a:t>
            </a:r>
            <a:r>
              <a:rPr lang="en-US" sz="1600" dirty="0">
                <a:solidFill>
                  <a:srgbClr val="1F2937"/>
                </a:solidFill>
                <a:latin typeface="Calibri" pitchFamily="34" charset="0"/>
                <a:ea typeface="Calibri" pitchFamily="34" charset="-122"/>
                <a:cs typeface="Calibri" pitchFamily="34" charset="-120"/>
              </a:rPr>
              <a:t>Sonekten geriye gidilerek terimdeki köklerin anlamları öğrenilir.</a:t>
            </a:r>
            <a:endParaRPr lang="en-US" sz="1600" dirty="0"/>
          </a:p>
        </p:txBody>
      </p:sp>
      <p:sp>
        <p:nvSpPr>
          <p:cNvPr id="16" name="Shape 14"/>
          <p:cNvSpPr/>
          <p:nvPr/>
        </p:nvSpPr>
        <p:spPr>
          <a:xfrm>
            <a:off x="548640" y="5579466"/>
            <a:ext cx="11094415" cy="729894"/>
          </a:xfrm>
          <a:prstGeom prst="roundRect">
            <a:avLst>
              <a:gd name="adj" fmla="val 8769"/>
            </a:avLst>
          </a:prstGeom>
          <a:solidFill>
            <a:srgbClr val="EAF6F4"/>
          </a:solidFill>
          <a:ln/>
        </p:spPr>
      </p:sp>
      <p:sp>
        <p:nvSpPr>
          <p:cNvPr id="17" name="Text 15"/>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c) </a:t>
            </a:r>
            <a:r>
              <a:rPr lang="en-US" sz="1600" dirty="0">
                <a:solidFill>
                  <a:srgbClr val="1F2937"/>
                </a:solidFill>
                <a:latin typeface="Calibri" pitchFamily="34" charset="0"/>
                <a:ea typeface="Calibri" pitchFamily="34" charset="-122"/>
                <a:cs typeface="Calibri" pitchFamily="34" charset="-120"/>
              </a:rPr>
              <a:t>Kaynaştırma ünlüsü olan ‘‘</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 harfi iki kök arasında ise yukarıdaki kural uygulanmaz ve  ‘‘ </a:t>
            </a:r>
            <a:r>
              <a:rPr lang="en-US" sz="1600" b="1" dirty="0">
                <a:solidFill>
                  <a:srgbClr val="1F2937"/>
                </a:solidFill>
                <a:latin typeface="Calibri" pitchFamily="34" charset="0"/>
                <a:ea typeface="Calibri" pitchFamily="34" charset="-122"/>
                <a:cs typeface="Calibri" pitchFamily="34" charset="-120"/>
              </a:rPr>
              <a:t>o</a:t>
            </a:r>
            <a:r>
              <a:rPr lang="en-US" sz="1600" dirty="0">
                <a:solidFill>
                  <a:srgbClr val="1F2937"/>
                </a:solidFill>
                <a:latin typeface="Calibri" pitchFamily="34" charset="0"/>
                <a:ea typeface="Calibri" pitchFamily="34" charset="-122"/>
                <a:cs typeface="Calibri" pitchFamily="34" charset="-120"/>
              </a:rPr>
              <a:t>’’ kaynaştırma ünlüsü kullanılır.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Örnek 4. oncogenic → onc/o/genic</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a:t>
            </a:r>
            <a:endParaRPr lang="en-US" sz="1000" dirty="0"/>
          </a:p>
        </p:txBody>
      </p:sp>
      <p:sp>
        <p:nvSpPr>
          <p:cNvPr id="6" name="Shape 4"/>
          <p:cNvSpPr/>
          <p:nvPr/>
        </p:nvSpPr>
        <p:spPr>
          <a:xfrm>
            <a:off x="548640" y="1989734"/>
            <a:ext cx="11094415" cy="1657807"/>
          </a:xfrm>
          <a:prstGeom prst="roundRect">
            <a:avLst>
              <a:gd name="adj" fmla="val 3861"/>
            </a:avLst>
          </a:prstGeom>
          <a:solidFill>
            <a:srgbClr val="D7EDE9"/>
          </a:solidFill>
          <a:ln/>
        </p:spPr>
      </p:sp>
      <p:sp>
        <p:nvSpPr>
          <p:cNvPr id="7" name="Text 5"/>
          <p:cNvSpPr txBox="1"/>
          <p:nvPr/>
        </p:nvSpPr>
        <p:spPr>
          <a:xfrm>
            <a:off x="704088" y="2062886"/>
            <a:ext cx="10783519" cy="1511503"/>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2- İnsan vücuduna ait olan anatomi, fizyoloji ve klinik bilimlerle ilgili terimler birbiriyle ilişkilidir. Anlamları araştırılırken bu ilişkilendirmeye başvurulur. Örneğin, hemat/o/logia terimi ‘‘kan bilimi’’ olarak Tükçe’ye çevrilir. Kan ve kan hastalıklarını inceleyen bilim dalıdır. Burada terimdeki parçaların anlamından çok, terimin bütünsel anlamı önemlidir. Artık yeni bir terim ortaya çıkmıştır.</a:t>
            </a:r>
            <a:endParaRPr lang="en-US" sz="1800" dirty="0"/>
          </a:p>
        </p:txBody>
      </p:sp>
      <p:sp>
        <p:nvSpPr>
          <p:cNvPr id="8" name="Shape 6"/>
          <p:cNvSpPr/>
          <p:nvPr/>
        </p:nvSpPr>
        <p:spPr>
          <a:xfrm>
            <a:off x="548640" y="3738982"/>
            <a:ext cx="11094415" cy="1100023"/>
          </a:xfrm>
          <a:prstGeom prst="roundRect">
            <a:avLst>
              <a:gd name="adj" fmla="val 5819"/>
            </a:avLst>
          </a:prstGeom>
          <a:solidFill>
            <a:srgbClr val="D7EDE9"/>
          </a:solidFill>
          <a:ln/>
        </p:spPr>
      </p:sp>
      <p:sp>
        <p:nvSpPr>
          <p:cNvPr id="9" name="Text 7"/>
          <p:cNvSpPr txBox="1"/>
          <p:nvPr/>
        </p:nvSpPr>
        <p:spPr>
          <a:xfrm>
            <a:off x="704088" y="3812134"/>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3- Terimleri doğru yazma ve söylemenin önemi bilinmelidir. Doğru söyleme ve yazma olmazsa sorunlar çıkabilir. Çünkü çoğu terimin söylenişi benzese de yazımları ve anlamları tümüyle birbirinden farklıdır.</a:t>
            </a:r>
            <a:endParaRPr lang="en-US" sz="1800" dirty="0"/>
          </a:p>
        </p:txBody>
      </p:sp>
      <p:sp>
        <p:nvSpPr>
          <p:cNvPr id="10" name="Shape 8"/>
          <p:cNvSpPr/>
          <p:nvPr/>
        </p:nvSpPr>
        <p:spPr>
          <a:xfrm>
            <a:off x="548640" y="4930445"/>
            <a:ext cx="11094415" cy="1378915"/>
          </a:xfrm>
          <a:prstGeom prst="roundRect">
            <a:avLst>
              <a:gd name="adj" fmla="val 4642"/>
            </a:avLst>
          </a:prstGeom>
          <a:solidFill>
            <a:srgbClr val="EAF6F4"/>
          </a:solidFill>
          <a:ln/>
        </p:spPr>
      </p:sp>
      <p:sp>
        <p:nvSpPr>
          <p:cNvPr id="11" name="Text 9"/>
          <p:cNvSpPr txBox="1"/>
          <p:nvPr/>
        </p:nvSpPr>
        <p:spPr>
          <a:xfrm>
            <a:off x="704088" y="5003597"/>
            <a:ext cx="10783519" cy="1232611"/>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Örnek: </a:t>
            </a:r>
            <a:r>
              <a:rPr lang="en-US" sz="1800" b="1" dirty="0">
                <a:solidFill>
                  <a:srgbClr val="1F2937"/>
                </a:solidFill>
                <a:latin typeface="Calibri" pitchFamily="34" charset="0"/>
                <a:ea typeface="Calibri" pitchFamily="34" charset="-122"/>
                <a:cs typeface="Calibri" pitchFamily="34" charset="-120"/>
              </a:rPr>
              <a:t>Ileum</a:t>
            </a:r>
            <a:r>
              <a:rPr lang="en-US" sz="1800" dirty="0">
                <a:solidFill>
                  <a:srgbClr val="1F2937"/>
                </a:solidFill>
                <a:latin typeface="Calibri" pitchFamily="34" charset="0"/>
                <a:ea typeface="Calibri" pitchFamily="34" charset="-122"/>
                <a:cs typeface="Calibri" pitchFamily="34" charset="-120"/>
              </a:rPr>
              <a:t> (ileum): İnce bağırsağın bir parçasının adıdır.</a:t>
            </a:r>
            <a:r>
              <a:rPr lang="en-US" sz="1800" b="1" dirty="0">
                <a:solidFill>
                  <a:srgbClr val="1F2937"/>
                </a:solidFill>
                <a:latin typeface="Calibri" pitchFamily="34" charset="0"/>
                <a:ea typeface="Calibri" pitchFamily="34" charset="-122"/>
                <a:cs typeface="Calibri" pitchFamily="34" charset="-120"/>
              </a:rPr>
              <a:t> Ilium </a:t>
            </a:r>
            <a:r>
              <a:rPr lang="en-US" sz="1800" dirty="0">
                <a:solidFill>
                  <a:srgbClr val="1F2937"/>
                </a:solidFill>
                <a:latin typeface="Calibri" pitchFamily="34" charset="0"/>
                <a:ea typeface="Calibri" pitchFamily="34" charset="-122"/>
                <a:cs typeface="Calibri" pitchFamily="34" charset="-120"/>
              </a:rPr>
              <a:t>(ilyum): Koksa (kalça) kemiğinin bir parçasıdır. </a:t>
            </a:r>
            <a:r>
              <a:rPr lang="en-US" sz="1800" b="1" dirty="0">
                <a:solidFill>
                  <a:srgbClr val="1F2937"/>
                </a:solidFill>
                <a:latin typeface="Calibri" pitchFamily="34" charset="0"/>
                <a:ea typeface="Calibri" pitchFamily="34" charset="-122"/>
                <a:cs typeface="Calibri" pitchFamily="34" charset="-120"/>
              </a:rPr>
              <a:t>Corpus</a:t>
            </a:r>
            <a:r>
              <a:rPr lang="en-US" sz="1800" dirty="0">
                <a:solidFill>
                  <a:srgbClr val="1F2937"/>
                </a:solidFill>
                <a:latin typeface="Calibri" pitchFamily="34" charset="0"/>
                <a:ea typeface="Calibri" pitchFamily="34" charset="-122"/>
                <a:cs typeface="Calibri" pitchFamily="34" charset="-120"/>
              </a:rPr>
              <a:t> (korpus): Gövde anlamındadır. </a:t>
            </a:r>
            <a:r>
              <a:rPr lang="en-US" sz="1800" b="1" dirty="0">
                <a:solidFill>
                  <a:srgbClr val="1F2937"/>
                </a:solidFill>
                <a:latin typeface="Calibri" pitchFamily="34" charset="0"/>
                <a:ea typeface="Calibri" pitchFamily="34" charset="-122"/>
                <a:cs typeface="Calibri" pitchFamily="34" charset="-120"/>
              </a:rPr>
              <a:t>Carpus</a:t>
            </a:r>
            <a:r>
              <a:rPr lang="en-US" sz="1800" dirty="0">
                <a:solidFill>
                  <a:srgbClr val="1F2937"/>
                </a:solidFill>
                <a:latin typeface="Calibri" pitchFamily="34" charset="0"/>
                <a:ea typeface="Calibri" pitchFamily="34" charset="-122"/>
                <a:cs typeface="Calibri" pitchFamily="34" charset="-120"/>
              </a:rPr>
              <a:t> (karpus): El bileği demektir. </a:t>
            </a:r>
            <a:r>
              <a:rPr lang="en-US" sz="1800" b="1" dirty="0">
                <a:solidFill>
                  <a:srgbClr val="1F2937"/>
                </a:solidFill>
                <a:latin typeface="Calibri" pitchFamily="34" charset="0"/>
                <a:ea typeface="Calibri" pitchFamily="34" charset="-122"/>
                <a:cs typeface="Calibri" pitchFamily="34" charset="-120"/>
              </a:rPr>
              <a:t>Cyst</a:t>
            </a:r>
            <a:r>
              <a:rPr lang="en-US" sz="1800" dirty="0">
                <a:solidFill>
                  <a:srgbClr val="1F2937"/>
                </a:solidFill>
                <a:latin typeface="Calibri" pitchFamily="34" charset="0"/>
                <a:ea typeface="Calibri" pitchFamily="34" charset="-122"/>
                <a:cs typeface="Calibri" pitchFamily="34" charset="-120"/>
              </a:rPr>
              <a:t> (sist): Kese, idrar kesesi, </a:t>
            </a:r>
            <a:r>
              <a:rPr lang="en-US" sz="1800" b="1" dirty="0">
                <a:solidFill>
                  <a:srgbClr val="1F2937"/>
                </a:solidFill>
                <a:latin typeface="Calibri" pitchFamily="34" charset="0"/>
                <a:ea typeface="Calibri" pitchFamily="34" charset="-122"/>
                <a:cs typeface="Calibri" pitchFamily="34" charset="-120"/>
              </a:rPr>
              <a:t>cyt</a:t>
            </a:r>
            <a:r>
              <a:rPr lang="en-US" sz="1800" dirty="0">
                <a:solidFill>
                  <a:srgbClr val="1F2937"/>
                </a:solidFill>
                <a:latin typeface="Calibri" pitchFamily="34" charset="0"/>
                <a:ea typeface="Calibri" pitchFamily="34" charset="-122"/>
                <a:cs typeface="Calibri" pitchFamily="34" charset="-120"/>
              </a:rPr>
              <a:t> (sit): Hücre demektir. Bunlar söylenişleri benze fakat anlamları çok farklı terimlerdir.</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Örnek 4. oncogenic → onc/o/genic</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33</a:t>
            </a:r>
            <a:endParaRPr lang="en-US" sz="1000" dirty="0"/>
          </a:p>
        </p:txBody>
      </p:sp>
      <p:sp>
        <p:nvSpPr>
          <p:cNvPr id="6" name="Shape 4"/>
          <p:cNvSpPr/>
          <p:nvPr/>
        </p:nvSpPr>
        <p:spPr>
          <a:xfrm>
            <a:off x="548640" y="2415845"/>
            <a:ext cx="11094415" cy="1378915"/>
          </a:xfrm>
          <a:prstGeom prst="roundRect">
            <a:avLst>
              <a:gd name="adj" fmla="val 4642"/>
            </a:avLst>
          </a:prstGeom>
          <a:solidFill>
            <a:srgbClr val="EAF6F4"/>
          </a:solidFill>
          <a:ln/>
        </p:spPr>
      </p:sp>
      <p:sp>
        <p:nvSpPr>
          <p:cNvPr id="7" name="Text 5"/>
          <p:cNvSpPr txBox="1"/>
          <p:nvPr/>
        </p:nvSpPr>
        <p:spPr>
          <a:xfrm>
            <a:off x="704088" y="2488997"/>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Yanlış yazılan bir terim bazen yanlış ve ilgisiz bir anlam verebilir. </a:t>
            </a:r>
            <a:r>
              <a:rPr lang="en-US" sz="1800" b="1" dirty="0">
                <a:solidFill>
                  <a:srgbClr val="1F2937"/>
                </a:solidFill>
                <a:latin typeface="Calibri" pitchFamily="34" charset="0"/>
                <a:ea typeface="Calibri" pitchFamily="34" charset="-122"/>
                <a:cs typeface="Calibri" pitchFamily="34" charset="-120"/>
              </a:rPr>
              <a:t>Hepat/oma </a:t>
            </a:r>
            <a:r>
              <a:rPr lang="en-US" sz="1800" dirty="0">
                <a:solidFill>
                  <a:srgbClr val="1F2937"/>
                </a:solidFill>
                <a:latin typeface="Calibri" pitchFamily="34" charset="0"/>
                <a:ea typeface="Calibri" pitchFamily="34" charset="-122"/>
                <a:cs typeface="Calibri" pitchFamily="34" charset="-120"/>
              </a:rPr>
              <a:t>(hepatom): Karaciğer hücrelerinin anormal büyümesi ile gelişen karaciğer tümörüdür. </a:t>
            </a:r>
            <a:r>
              <a:rPr lang="en-US" sz="1800" b="1" dirty="0">
                <a:solidFill>
                  <a:srgbClr val="1F2937"/>
                </a:solidFill>
                <a:latin typeface="Calibri" pitchFamily="34" charset="0"/>
                <a:ea typeface="Calibri" pitchFamily="34" charset="-122"/>
                <a:cs typeface="Calibri" pitchFamily="34" charset="-120"/>
              </a:rPr>
              <a:t>Hemat/oma </a:t>
            </a:r>
            <a:r>
              <a:rPr lang="en-US" sz="1800" dirty="0">
                <a:solidFill>
                  <a:srgbClr val="1F2937"/>
                </a:solidFill>
                <a:latin typeface="Calibri" pitchFamily="34" charset="0"/>
                <a:ea typeface="Calibri" pitchFamily="34" charset="-122"/>
                <a:cs typeface="Calibri" pitchFamily="34" charset="-120"/>
              </a:rPr>
              <a:t>(hematom): Deri altında kan birikmesiyle ooluşan bir tür tümördür. Burada ‘‘</a:t>
            </a:r>
            <a:r>
              <a:rPr lang="en-US" sz="1800" b="1" dirty="0">
                <a:solidFill>
                  <a:srgbClr val="1F2937"/>
                </a:solidFill>
                <a:latin typeface="Calibri" pitchFamily="34" charset="0"/>
                <a:ea typeface="Calibri" pitchFamily="34" charset="-122"/>
                <a:cs typeface="Calibri" pitchFamily="34" charset="-120"/>
              </a:rPr>
              <a:t>p</a:t>
            </a:r>
            <a:r>
              <a:rPr lang="en-US" sz="1800" dirty="0">
                <a:solidFill>
                  <a:srgbClr val="1F2937"/>
                </a:solidFill>
                <a:latin typeface="Calibri" pitchFamily="34" charset="0"/>
                <a:ea typeface="Calibri" pitchFamily="34" charset="-122"/>
                <a:cs typeface="Calibri" pitchFamily="34" charset="-120"/>
              </a:rPr>
              <a:t>’’ ve ‘‘</a:t>
            </a:r>
            <a:r>
              <a:rPr lang="en-US" sz="1800" b="1" dirty="0">
                <a:solidFill>
                  <a:srgbClr val="1F2937"/>
                </a:solidFill>
                <a:latin typeface="Calibri" pitchFamily="34" charset="0"/>
                <a:ea typeface="Calibri" pitchFamily="34" charset="-122"/>
                <a:cs typeface="Calibri" pitchFamily="34" charset="-120"/>
              </a:rPr>
              <a:t>m</a:t>
            </a:r>
            <a:r>
              <a:rPr lang="en-US" sz="1800" dirty="0">
                <a:solidFill>
                  <a:srgbClr val="1F2937"/>
                </a:solidFill>
                <a:latin typeface="Calibri" pitchFamily="34" charset="0"/>
                <a:ea typeface="Calibri" pitchFamily="34" charset="-122"/>
                <a:cs typeface="Calibri" pitchFamily="34" charset="-120"/>
              </a:rPr>
              <a:t>’’ harfleri anlam belirleyicidir.</a:t>
            </a:r>
            <a:endParaRPr lang="en-US" sz="1800" dirty="0"/>
          </a:p>
        </p:txBody>
      </p:sp>
      <p:sp>
        <p:nvSpPr>
          <p:cNvPr id="8" name="Shape 6"/>
          <p:cNvSpPr/>
          <p:nvPr/>
        </p:nvSpPr>
        <p:spPr>
          <a:xfrm>
            <a:off x="548640" y="3886200"/>
            <a:ext cx="11094415" cy="1378915"/>
          </a:xfrm>
          <a:prstGeom prst="roundRect">
            <a:avLst>
              <a:gd name="adj" fmla="val 4642"/>
            </a:avLst>
          </a:prstGeom>
          <a:solidFill>
            <a:srgbClr val="EAF6F4"/>
          </a:solidFill>
          <a:ln/>
        </p:spPr>
      </p:sp>
      <p:sp>
        <p:nvSpPr>
          <p:cNvPr id="9" name="Text 7"/>
          <p:cNvSpPr txBox="1"/>
          <p:nvPr/>
        </p:nvSpPr>
        <p:spPr>
          <a:xfrm>
            <a:off x="704088" y="3959352"/>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Bazen de doğru yazılı ve yanlış söylenirse yanlış anlama olur. Örneğin, urethra (uretra) ile ureter (ureter) terimlerinde bu durum olabilir. Ureter, böbrek ile idrar kesesi arası; uretra, idrar kesesi ile idrarın vücuttan dışarı atıldığı dış delik arası idrar yoludur. Burada söyleniş önemlidir.</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34</a:t>
            </a:r>
            <a:endParaRPr lang="en-US" sz="1000" dirty="0"/>
          </a:p>
        </p:txBody>
      </p:sp>
      <p:sp>
        <p:nvSpPr>
          <p:cNvPr id="6" name="Shape 4"/>
          <p:cNvSpPr/>
          <p:nvPr/>
        </p:nvSpPr>
        <p:spPr>
          <a:xfrm>
            <a:off x="548640" y="1526286"/>
            <a:ext cx="11094415" cy="684276"/>
          </a:xfrm>
          <a:prstGeom prst="roundRect">
            <a:avLst>
              <a:gd name="adj" fmla="val 9354"/>
            </a:avLst>
          </a:prstGeom>
          <a:solidFill>
            <a:srgbClr val="EAF6F4"/>
          </a:solidFill>
          <a:ln/>
        </p:spPr>
      </p:sp>
      <p:sp>
        <p:nvSpPr>
          <p:cNvPr id="7" name="Text 5"/>
          <p:cNvSpPr txBox="1"/>
          <p:nvPr/>
        </p:nvSpPr>
        <p:spPr>
          <a:xfrm>
            <a:off x="704088" y="1599438"/>
            <a:ext cx="10783519" cy="53797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Latince ve Grekçe kök sözcüğü anlamı ve yapısı bozulmadan daha küçük parçalara ayrılamaz. Latince ve Grakçe kök sözcükler terim olduğu gibi, bunlardan eklerle yeni terimler de türetilebilir.</a:t>
            </a:r>
            <a:endParaRPr lang="en-US" sz="1500" dirty="0"/>
          </a:p>
        </p:txBody>
      </p:sp>
      <p:sp>
        <p:nvSpPr>
          <p:cNvPr id="8" name="Shape 6"/>
          <p:cNvSpPr/>
          <p:nvPr/>
        </p:nvSpPr>
        <p:spPr>
          <a:xfrm>
            <a:off x="548640" y="2302002"/>
            <a:ext cx="11094415" cy="684276"/>
          </a:xfrm>
          <a:prstGeom prst="roundRect">
            <a:avLst>
              <a:gd name="adj" fmla="val 9354"/>
            </a:avLst>
          </a:prstGeom>
          <a:solidFill>
            <a:srgbClr val="EAF6F4"/>
          </a:solidFill>
          <a:ln/>
        </p:spPr>
      </p:sp>
      <p:sp>
        <p:nvSpPr>
          <p:cNvPr id="9" name="Text 7"/>
          <p:cNvSpPr txBox="1"/>
          <p:nvPr/>
        </p:nvSpPr>
        <p:spPr>
          <a:xfrm>
            <a:off x="704088" y="2375154"/>
            <a:ext cx="10783519" cy="53797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Ekler tek başına kullanılmayan, fakat kök kelimelere belli anlamlar yükleyen öğelerdir. Bunlar, sözcük türetmede ya da sözcüklere durum, ilgi, nicelik, zaman, ve kişi ile ilgili anlam katmakta görevlidirler.</a:t>
            </a:r>
            <a:endParaRPr lang="en-US" sz="1500" dirty="0"/>
          </a:p>
        </p:txBody>
      </p:sp>
      <p:sp>
        <p:nvSpPr>
          <p:cNvPr id="10" name="Shape 8"/>
          <p:cNvSpPr/>
          <p:nvPr/>
        </p:nvSpPr>
        <p:spPr>
          <a:xfrm>
            <a:off x="548640" y="3140964"/>
            <a:ext cx="11094415" cy="451866"/>
          </a:xfrm>
          <a:prstGeom prst="roundRect">
            <a:avLst>
              <a:gd name="adj" fmla="val 14165"/>
            </a:avLst>
          </a:prstGeom>
          <a:solidFill>
            <a:srgbClr val="EAF6F4"/>
          </a:solidFill>
          <a:ln/>
        </p:spPr>
      </p:sp>
      <p:sp>
        <p:nvSpPr>
          <p:cNvPr id="11" name="Text 9"/>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Sözcükler herhangi bir yapım eki almamışlarsa yalın ad olarak anılırlar.</a:t>
            </a:r>
            <a:endParaRPr lang="en-US" sz="1500" dirty="0"/>
          </a:p>
        </p:txBody>
      </p:sp>
      <p:sp>
        <p:nvSpPr>
          <p:cNvPr id="12" name="Shape 10"/>
          <p:cNvSpPr/>
          <p:nvPr/>
        </p:nvSpPr>
        <p:spPr>
          <a:xfrm>
            <a:off x="548640" y="3684270"/>
            <a:ext cx="11094415" cy="451866"/>
          </a:xfrm>
          <a:prstGeom prst="roundRect">
            <a:avLst>
              <a:gd name="adj" fmla="val 14165"/>
            </a:avLst>
          </a:prstGeom>
          <a:solidFill>
            <a:srgbClr val="EAF6F4"/>
          </a:solidFill>
          <a:ln/>
        </p:spPr>
      </p:sp>
      <p:sp>
        <p:nvSpPr>
          <p:cNvPr id="13" name="Text 11"/>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Bu yalın adları aynı zamanda köktürler.</a:t>
            </a:r>
            <a:endParaRPr lang="en-US" sz="1500" dirty="0"/>
          </a:p>
        </p:txBody>
      </p:sp>
      <p:sp>
        <p:nvSpPr>
          <p:cNvPr id="14" name="Shape 12"/>
          <p:cNvSpPr/>
          <p:nvPr/>
        </p:nvSpPr>
        <p:spPr>
          <a:xfrm>
            <a:off x="548640" y="4227576"/>
            <a:ext cx="11094415" cy="451866"/>
          </a:xfrm>
          <a:prstGeom prst="roundRect">
            <a:avLst>
              <a:gd name="adj" fmla="val 14165"/>
            </a:avLst>
          </a:prstGeom>
          <a:solidFill>
            <a:srgbClr val="EAF6F4"/>
          </a:solidFill>
          <a:ln/>
        </p:spPr>
      </p:sp>
      <p:sp>
        <p:nvSpPr>
          <p:cNvPr id="15" name="Text 13"/>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Kök sözcüklerden eklerle yeni sözcükler türetilebilir.</a:t>
            </a:r>
            <a:endParaRPr lang="en-US" sz="1500" dirty="0"/>
          </a:p>
        </p:txBody>
      </p:sp>
      <p:sp>
        <p:nvSpPr>
          <p:cNvPr id="16" name="Shape 14"/>
          <p:cNvSpPr/>
          <p:nvPr/>
        </p:nvSpPr>
        <p:spPr>
          <a:xfrm>
            <a:off x="548640" y="4770882"/>
            <a:ext cx="11094415" cy="451866"/>
          </a:xfrm>
          <a:prstGeom prst="roundRect">
            <a:avLst>
              <a:gd name="adj" fmla="val 14165"/>
            </a:avLst>
          </a:prstGeom>
          <a:solidFill>
            <a:srgbClr val="EAF6F4"/>
          </a:solidFill>
          <a:ln/>
        </p:spPr>
      </p:sp>
      <p:sp>
        <p:nvSpPr>
          <p:cNvPr id="17" name="Text 15"/>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Örneğin, </a:t>
            </a:r>
            <a:r>
              <a:rPr lang="en-US" sz="1500" b="1" dirty="0">
                <a:solidFill>
                  <a:srgbClr val="1F2937"/>
                </a:solidFill>
                <a:latin typeface="Calibri" pitchFamily="34" charset="0"/>
                <a:ea typeface="Calibri" pitchFamily="34" charset="-122"/>
                <a:cs typeface="Calibri" pitchFamily="34" charset="-120"/>
              </a:rPr>
              <a:t>gözlük</a:t>
            </a:r>
            <a:r>
              <a:rPr lang="en-US" sz="1500" dirty="0">
                <a:solidFill>
                  <a:srgbClr val="1F2937"/>
                </a:solidFill>
                <a:latin typeface="Calibri" pitchFamily="34" charset="0"/>
                <a:ea typeface="Calibri" pitchFamily="34" charset="-122"/>
                <a:cs typeface="Calibri" pitchFamily="34" charset="-120"/>
              </a:rPr>
              <a:t>. Burada ‘‘</a:t>
            </a:r>
            <a:r>
              <a:rPr lang="en-US" sz="1500" b="1" dirty="0">
                <a:solidFill>
                  <a:srgbClr val="1F2937"/>
                </a:solidFill>
                <a:latin typeface="Calibri" pitchFamily="34" charset="0"/>
                <a:ea typeface="Calibri" pitchFamily="34" charset="-122"/>
                <a:cs typeface="Calibri" pitchFamily="34" charset="-120"/>
              </a:rPr>
              <a:t>göz</a:t>
            </a:r>
            <a:r>
              <a:rPr lang="en-US" sz="1500" dirty="0">
                <a:solidFill>
                  <a:srgbClr val="1F2937"/>
                </a:solidFill>
                <a:latin typeface="Calibri" pitchFamily="34" charset="0"/>
                <a:ea typeface="Calibri" pitchFamily="34" charset="-122"/>
                <a:cs typeface="Calibri" pitchFamily="34" charset="-120"/>
              </a:rPr>
              <a:t>’’ kök sözcüğünün sonuna </a:t>
            </a:r>
            <a:r>
              <a:rPr lang="en-US" sz="1500" b="1" dirty="0">
                <a:solidFill>
                  <a:srgbClr val="1F2937"/>
                </a:solidFill>
                <a:latin typeface="Calibri" pitchFamily="34" charset="0"/>
                <a:ea typeface="Calibri" pitchFamily="34" charset="-122"/>
                <a:cs typeface="Calibri" pitchFamily="34" charset="-120"/>
              </a:rPr>
              <a:t>–lük </a:t>
            </a:r>
            <a:r>
              <a:rPr lang="en-US" sz="1500" dirty="0">
                <a:solidFill>
                  <a:srgbClr val="1F2937"/>
                </a:solidFill>
                <a:latin typeface="Calibri" pitchFamily="34" charset="0"/>
                <a:ea typeface="Calibri" pitchFamily="34" charset="-122"/>
                <a:cs typeface="Calibri" pitchFamily="34" charset="-120"/>
              </a:rPr>
              <a:t>eki getirilmiş ve yeni sözcük türetilmiştir.</a:t>
            </a:r>
            <a:endParaRPr lang="en-US" sz="1500" dirty="0"/>
          </a:p>
        </p:txBody>
      </p:sp>
      <p:sp>
        <p:nvSpPr>
          <p:cNvPr id="18" name="Shape 16"/>
          <p:cNvSpPr/>
          <p:nvPr/>
        </p:nvSpPr>
        <p:spPr>
          <a:xfrm>
            <a:off x="548640" y="5314188"/>
            <a:ext cx="11094415" cy="451866"/>
          </a:xfrm>
          <a:prstGeom prst="roundRect">
            <a:avLst>
              <a:gd name="adj" fmla="val 14165"/>
            </a:avLst>
          </a:prstGeom>
          <a:solidFill>
            <a:srgbClr val="EAF6F4"/>
          </a:solidFill>
          <a:ln/>
        </p:spPr>
      </p:sp>
      <p:sp>
        <p:nvSpPr>
          <p:cNvPr id="19" name="Text 17"/>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Göz kök sözcüğü anlamı ve yapısı bozulmadan daha küçük parçalara ayrılmaz. Tıp terimlerinde de bu durum aynıdır.</a:t>
            </a:r>
            <a:endParaRPr lang="en-US" sz="1500" dirty="0"/>
          </a:p>
        </p:txBody>
      </p:sp>
      <p:sp>
        <p:nvSpPr>
          <p:cNvPr id="20" name="Shape 18"/>
          <p:cNvSpPr/>
          <p:nvPr/>
        </p:nvSpPr>
        <p:spPr>
          <a:xfrm>
            <a:off x="548640" y="5857494"/>
            <a:ext cx="11094415" cy="451866"/>
          </a:xfrm>
          <a:prstGeom prst="roundRect">
            <a:avLst>
              <a:gd name="adj" fmla="val 14165"/>
            </a:avLst>
          </a:prstGeom>
          <a:solidFill>
            <a:srgbClr val="EAF6F4"/>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Göründüğü gibi kökler hem sözcük hem de terim türetmekte ham madde durumundadırlar.</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35</a:t>
            </a:r>
            <a:endParaRPr lang="en-US" sz="1000" dirty="0"/>
          </a:p>
        </p:txBody>
      </p:sp>
      <p:sp>
        <p:nvSpPr>
          <p:cNvPr id="6" name="Text 4"/>
          <p:cNvSpPr txBox="1"/>
          <p:nvPr/>
        </p:nvSpPr>
        <p:spPr>
          <a:xfrm>
            <a:off x="594360" y="1642262"/>
            <a:ext cx="11002975" cy="678688"/>
          </a:xfrm>
          <a:prstGeom prst="rect">
            <a:avLst/>
          </a:prstGeom>
          <a:noFill/>
          <a:ln/>
        </p:spPr>
        <p:txBody>
          <a:bodyPr wrap="square" lIns="0" tIns="0" rIns="0" bIns="0" rtlCol="0" anchor="t"/>
          <a:lstStyle/>
          <a:p>
            <a:pPr marL="0" indent="0">
              <a:lnSpc>
                <a:spcPct val="105000"/>
              </a:lnSpc>
              <a:buNone/>
            </a:pPr>
            <a:r>
              <a:rPr lang="en-US" sz="1600" dirty="0">
                <a:solidFill>
                  <a:srgbClr val="4B5563"/>
                </a:solidFill>
                <a:latin typeface="Calibri" pitchFamily="34" charset="0"/>
                <a:ea typeface="Calibri" pitchFamily="34" charset="-122"/>
                <a:cs typeface="Calibri" pitchFamily="34" charset="-120"/>
              </a:rPr>
              <a:t>Tıp terimlerindeki kökler, ek alırken bazı sesler değişir ya da düşerler. Aşağıda bazı terimler ve bunların ek almış halinde oluşan değişiklikler gösterilmiştir. Değişime uğrayan sesler koyu olarak yer almaktadır.</a:t>
            </a:r>
            <a:endParaRPr lang="en-US" sz="1600" dirty="0"/>
          </a:p>
        </p:txBody>
      </p:sp>
      <p:sp>
        <p:nvSpPr>
          <p:cNvPr id="7" name="Shape 5"/>
          <p:cNvSpPr/>
          <p:nvPr/>
        </p:nvSpPr>
        <p:spPr>
          <a:xfrm>
            <a:off x="548640" y="2591613"/>
            <a:ext cx="11094415" cy="452730"/>
          </a:xfrm>
          <a:prstGeom prst="roundRect">
            <a:avLst>
              <a:gd name="adj" fmla="val 12118"/>
            </a:avLst>
          </a:prstGeom>
          <a:solidFill>
            <a:srgbClr val="D7EDE9"/>
          </a:solidFill>
          <a:ln/>
        </p:spPr>
      </p:sp>
      <p:sp>
        <p:nvSpPr>
          <p:cNvPr id="8" name="Text 6"/>
          <p:cNvSpPr txBox="1"/>
          <p:nvPr/>
        </p:nvSpPr>
        <p:spPr>
          <a:xfrm>
            <a:off x="685800" y="2646477"/>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Terim  Ek almış hali</a:t>
            </a:r>
            <a:endParaRPr lang="en-US" sz="1600" dirty="0"/>
          </a:p>
        </p:txBody>
      </p:sp>
      <p:sp>
        <p:nvSpPr>
          <p:cNvPr id="9" name="Shape 7"/>
          <p:cNvSpPr/>
          <p:nvPr/>
        </p:nvSpPr>
        <p:spPr>
          <a:xfrm>
            <a:off x="548640" y="3135782"/>
            <a:ext cx="11094415" cy="452730"/>
          </a:xfrm>
          <a:prstGeom prst="roundRect">
            <a:avLst>
              <a:gd name="adj" fmla="val 12118"/>
            </a:avLst>
          </a:prstGeom>
          <a:solidFill>
            <a:srgbClr val="EAF6F4"/>
          </a:solidFill>
          <a:ln/>
        </p:spPr>
      </p:sp>
      <p:sp>
        <p:nvSpPr>
          <p:cNvPr id="10" name="Text 8"/>
          <p:cNvSpPr txBox="1"/>
          <p:nvPr/>
        </p:nvSpPr>
        <p:spPr>
          <a:xfrm>
            <a:off x="685800" y="3190646"/>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brachium (kol)  </a:t>
            </a:r>
            <a:r>
              <a:rPr lang="en-US" sz="1600" dirty="0">
                <a:solidFill>
                  <a:srgbClr val="1F2937"/>
                </a:solidFill>
                <a:latin typeface="Calibri" pitchFamily="34" charset="0"/>
                <a:ea typeface="Calibri" pitchFamily="34" charset="-122"/>
                <a:cs typeface="Calibri" pitchFamily="34" charset="-120"/>
              </a:rPr>
              <a:t>brachi</a:t>
            </a:r>
            <a:r>
              <a:rPr lang="en-US" sz="1600" b="1" dirty="0">
                <a:solidFill>
                  <a:srgbClr val="1F2937"/>
                </a:solidFill>
                <a:latin typeface="Calibri" pitchFamily="34" charset="0"/>
                <a:ea typeface="Calibri" pitchFamily="34" charset="-122"/>
                <a:cs typeface="Calibri" pitchFamily="34" charset="-120"/>
              </a:rPr>
              <a:t>al</a:t>
            </a:r>
            <a:r>
              <a:rPr lang="en-US" sz="1600" dirty="0">
                <a:solidFill>
                  <a:srgbClr val="1F2937"/>
                </a:solidFill>
                <a:latin typeface="Calibri" pitchFamily="34" charset="0"/>
                <a:ea typeface="Calibri" pitchFamily="34" charset="-122"/>
                <a:cs typeface="Calibri" pitchFamily="34" charset="-120"/>
              </a:rPr>
              <a:t> (kol ile ilgili)</a:t>
            </a:r>
            <a:endParaRPr lang="en-US" sz="1600" dirty="0"/>
          </a:p>
        </p:txBody>
      </p:sp>
      <p:sp>
        <p:nvSpPr>
          <p:cNvPr id="11" name="Shape 9"/>
          <p:cNvSpPr/>
          <p:nvPr/>
        </p:nvSpPr>
        <p:spPr>
          <a:xfrm>
            <a:off x="548640" y="3679952"/>
            <a:ext cx="11094415" cy="452730"/>
          </a:xfrm>
          <a:prstGeom prst="roundRect">
            <a:avLst>
              <a:gd name="adj" fmla="val 12118"/>
            </a:avLst>
          </a:prstGeom>
          <a:solidFill>
            <a:srgbClr val="EAF6F4"/>
          </a:solidFill>
          <a:ln/>
        </p:spPr>
      </p:sp>
      <p:sp>
        <p:nvSpPr>
          <p:cNvPr id="12" name="Text 10"/>
          <p:cNvSpPr txBox="1"/>
          <p:nvPr/>
        </p:nvSpPr>
        <p:spPr>
          <a:xfrm>
            <a:off x="685800" y="3734816"/>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myos (kas)  </a:t>
            </a:r>
            <a:r>
              <a:rPr lang="en-US" sz="1600" dirty="0">
                <a:solidFill>
                  <a:srgbClr val="1F2937"/>
                </a:solidFill>
                <a:latin typeface="Calibri" pitchFamily="34" charset="0"/>
                <a:ea typeface="Calibri" pitchFamily="34" charset="-122"/>
                <a:cs typeface="Calibri" pitchFamily="34" charset="-120"/>
              </a:rPr>
              <a:t>my</a:t>
            </a:r>
            <a:r>
              <a:rPr lang="en-US" sz="1600" b="1" dirty="0">
                <a:solidFill>
                  <a:srgbClr val="1F2937"/>
                </a:solidFill>
                <a:latin typeface="Calibri" pitchFamily="34" charset="0"/>
                <a:ea typeface="Calibri" pitchFamily="34" charset="-122"/>
                <a:cs typeface="Calibri" pitchFamily="34" charset="-120"/>
              </a:rPr>
              <a:t>a</a:t>
            </a:r>
            <a:r>
              <a:rPr lang="en-US" sz="1600" dirty="0">
                <a:solidFill>
                  <a:srgbClr val="1F2937"/>
                </a:solidFill>
                <a:latin typeface="Calibri" pitchFamily="34" charset="0"/>
                <a:ea typeface="Calibri" pitchFamily="34" charset="-122"/>
                <a:cs typeface="Calibri" pitchFamily="34" charset="-120"/>
              </a:rPr>
              <a:t>glia (kas ağrısı)</a:t>
            </a:r>
            <a:endParaRPr lang="en-US" sz="1600" dirty="0"/>
          </a:p>
        </p:txBody>
      </p:sp>
      <p:sp>
        <p:nvSpPr>
          <p:cNvPr id="13" name="Shape 11"/>
          <p:cNvSpPr/>
          <p:nvPr/>
        </p:nvSpPr>
        <p:spPr>
          <a:xfrm>
            <a:off x="548640" y="4224122"/>
            <a:ext cx="11094415" cy="452730"/>
          </a:xfrm>
          <a:prstGeom prst="roundRect">
            <a:avLst>
              <a:gd name="adj" fmla="val 12118"/>
            </a:avLst>
          </a:prstGeom>
          <a:solidFill>
            <a:srgbClr val="EAF6F4"/>
          </a:solidFill>
          <a:ln/>
        </p:spPr>
      </p:sp>
      <p:sp>
        <p:nvSpPr>
          <p:cNvPr id="14" name="Text 12"/>
          <p:cNvSpPr txBox="1"/>
          <p:nvPr/>
        </p:nvSpPr>
        <p:spPr>
          <a:xfrm>
            <a:off x="685800" y="4278986"/>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hepar (karaciğer)  </a:t>
            </a:r>
            <a:r>
              <a:rPr lang="en-US" sz="1600" dirty="0">
                <a:solidFill>
                  <a:srgbClr val="1F2937"/>
                </a:solidFill>
                <a:latin typeface="Calibri" pitchFamily="34" charset="0"/>
                <a:ea typeface="Calibri" pitchFamily="34" charset="-122"/>
                <a:cs typeface="Calibri" pitchFamily="34" charset="-120"/>
              </a:rPr>
              <a:t>hepa</a:t>
            </a:r>
            <a:r>
              <a:rPr lang="en-US" sz="1600" b="1" dirty="0">
                <a:solidFill>
                  <a:srgbClr val="1F2937"/>
                </a:solidFill>
                <a:latin typeface="Calibri" pitchFamily="34" charset="0"/>
                <a:ea typeface="Calibri" pitchFamily="34" charset="-122"/>
                <a:cs typeface="Calibri" pitchFamily="34" charset="-120"/>
              </a:rPr>
              <a:t>t</a:t>
            </a:r>
            <a:r>
              <a:rPr lang="en-US" sz="1600" dirty="0">
                <a:solidFill>
                  <a:srgbClr val="1F2937"/>
                </a:solidFill>
                <a:latin typeface="Calibri" pitchFamily="34" charset="0"/>
                <a:ea typeface="Calibri" pitchFamily="34" charset="-122"/>
                <a:cs typeface="Calibri" pitchFamily="34" charset="-120"/>
              </a:rPr>
              <a:t>ocyte (karaciğer hücresi)</a:t>
            </a:r>
            <a:endParaRPr lang="en-US" sz="1600" dirty="0"/>
          </a:p>
        </p:txBody>
      </p:sp>
      <p:sp>
        <p:nvSpPr>
          <p:cNvPr id="15" name="Shape 13"/>
          <p:cNvSpPr/>
          <p:nvPr/>
        </p:nvSpPr>
        <p:spPr>
          <a:xfrm>
            <a:off x="548640" y="4768291"/>
            <a:ext cx="11094415" cy="452730"/>
          </a:xfrm>
          <a:prstGeom prst="roundRect">
            <a:avLst>
              <a:gd name="adj" fmla="val 12118"/>
            </a:avLst>
          </a:prstGeom>
          <a:solidFill>
            <a:srgbClr val="EAF6F4"/>
          </a:solidFill>
          <a:ln/>
        </p:spPr>
      </p:sp>
      <p:sp>
        <p:nvSpPr>
          <p:cNvPr id="16" name="Text 14"/>
          <p:cNvSpPr txBox="1"/>
          <p:nvPr/>
        </p:nvSpPr>
        <p:spPr>
          <a:xfrm>
            <a:off x="685800" y="4823155"/>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cardia (kalp)  </a:t>
            </a:r>
            <a:r>
              <a:rPr lang="en-US" sz="1600" dirty="0">
                <a:solidFill>
                  <a:srgbClr val="1F2937"/>
                </a:solidFill>
                <a:latin typeface="Calibri" pitchFamily="34" charset="0"/>
                <a:ea typeface="Calibri" pitchFamily="34" charset="-122"/>
                <a:cs typeface="Calibri" pitchFamily="34" charset="-120"/>
              </a:rPr>
              <a:t>card</a:t>
            </a:r>
            <a:r>
              <a:rPr lang="en-US" sz="1600" b="1" dirty="0">
                <a:solidFill>
                  <a:srgbClr val="1F2937"/>
                </a:solidFill>
                <a:latin typeface="Calibri" pitchFamily="34" charset="0"/>
                <a:ea typeface="Calibri" pitchFamily="34" charset="-122"/>
                <a:cs typeface="Calibri" pitchFamily="34" charset="-120"/>
              </a:rPr>
              <a:t>itis</a:t>
            </a:r>
            <a:r>
              <a:rPr lang="en-US" sz="1600" dirty="0">
                <a:solidFill>
                  <a:srgbClr val="1F2937"/>
                </a:solidFill>
                <a:latin typeface="Calibri" pitchFamily="34" charset="0"/>
                <a:ea typeface="Calibri" pitchFamily="34" charset="-122"/>
                <a:cs typeface="Calibri" pitchFamily="34" charset="-120"/>
              </a:rPr>
              <a:t> (kalbin iltihabı)</a:t>
            </a:r>
            <a:endParaRPr lang="en-US" sz="1600" dirty="0"/>
          </a:p>
        </p:txBody>
      </p:sp>
      <p:sp>
        <p:nvSpPr>
          <p:cNvPr id="17" name="Shape 15"/>
          <p:cNvSpPr/>
          <p:nvPr/>
        </p:nvSpPr>
        <p:spPr>
          <a:xfrm>
            <a:off x="548640" y="5312461"/>
            <a:ext cx="11094415" cy="452730"/>
          </a:xfrm>
          <a:prstGeom prst="roundRect">
            <a:avLst>
              <a:gd name="adj" fmla="val 12118"/>
            </a:avLst>
          </a:prstGeom>
          <a:solidFill>
            <a:srgbClr val="EAF6F4"/>
          </a:solidFill>
          <a:ln/>
        </p:spPr>
      </p:sp>
      <p:sp>
        <p:nvSpPr>
          <p:cNvPr id="18" name="Text 16"/>
          <p:cNvSpPr txBox="1"/>
          <p:nvPr/>
        </p:nvSpPr>
        <p:spPr>
          <a:xfrm>
            <a:off x="685800" y="5367325"/>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gaster (mide)  </a:t>
            </a:r>
            <a:r>
              <a:rPr lang="en-US" sz="1600" dirty="0">
                <a:solidFill>
                  <a:srgbClr val="1F2937"/>
                </a:solidFill>
                <a:latin typeface="Calibri" pitchFamily="34" charset="0"/>
                <a:ea typeface="Calibri" pitchFamily="34" charset="-122"/>
                <a:cs typeface="Calibri" pitchFamily="34" charset="-120"/>
              </a:rPr>
              <a:t>gastric (mide ile ilgili)</a:t>
            </a:r>
            <a:endParaRPr lang="en-US" sz="1600" dirty="0"/>
          </a:p>
        </p:txBody>
      </p:sp>
      <p:sp>
        <p:nvSpPr>
          <p:cNvPr id="19" name="Shape 17"/>
          <p:cNvSpPr/>
          <p:nvPr/>
        </p:nvSpPr>
        <p:spPr>
          <a:xfrm>
            <a:off x="548640" y="5856630"/>
            <a:ext cx="11094415" cy="452730"/>
          </a:xfrm>
          <a:prstGeom prst="roundRect">
            <a:avLst>
              <a:gd name="adj" fmla="val 12118"/>
            </a:avLst>
          </a:prstGeom>
          <a:solidFill>
            <a:srgbClr val="EAF6F4"/>
          </a:solidFill>
          <a:ln/>
        </p:spPr>
      </p:sp>
      <p:sp>
        <p:nvSpPr>
          <p:cNvPr id="20" name="Text 18"/>
          <p:cNvSpPr txBox="1"/>
          <p:nvPr/>
        </p:nvSpPr>
        <p:spPr>
          <a:xfrm>
            <a:off x="685800" y="5911494"/>
            <a:ext cx="10820095" cy="343002"/>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larynx (gırtlak)  </a:t>
            </a:r>
            <a:r>
              <a:rPr lang="en-US" sz="1600" dirty="0">
                <a:solidFill>
                  <a:srgbClr val="1F2937"/>
                </a:solidFill>
                <a:latin typeface="Calibri" pitchFamily="34" charset="0"/>
                <a:ea typeface="Calibri" pitchFamily="34" charset="-122"/>
                <a:cs typeface="Calibri" pitchFamily="34" charset="-120"/>
              </a:rPr>
              <a:t>laryn</a:t>
            </a:r>
            <a:r>
              <a:rPr lang="en-US" sz="1600" b="1" dirty="0">
                <a:solidFill>
                  <a:srgbClr val="1F2937"/>
                </a:solidFill>
                <a:latin typeface="Calibri" pitchFamily="34" charset="0"/>
                <a:ea typeface="Calibri" pitchFamily="34" charset="-122"/>
                <a:cs typeface="Calibri" pitchFamily="34" charset="-120"/>
              </a:rPr>
              <a:t>g</a:t>
            </a:r>
            <a:r>
              <a:rPr lang="en-US" sz="1600" dirty="0">
                <a:solidFill>
                  <a:srgbClr val="1F2937"/>
                </a:solidFill>
                <a:latin typeface="Calibri" pitchFamily="34" charset="0"/>
                <a:ea typeface="Calibri" pitchFamily="34" charset="-122"/>
                <a:cs typeface="Calibri" pitchFamily="34" charset="-120"/>
              </a:rPr>
              <a:t>oscope (gırtlağı incelemede kullanılan alet)</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36</a:t>
            </a:r>
            <a:endParaRPr lang="en-US" sz="1000" dirty="0"/>
          </a:p>
        </p:txBody>
      </p:sp>
      <p:sp>
        <p:nvSpPr>
          <p:cNvPr id="6" name="Shape 4"/>
          <p:cNvSpPr/>
          <p:nvPr/>
        </p:nvSpPr>
        <p:spPr>
          <a:xfrm>
            <a:off x="548640" y="1511046"/>
            <a:ext cx="11094415" cy="1100023"/>
          </a:xfrm>
          <a:prstGeom prst="roundRect">
            <a:avLst>
              <a:gd name="adj" fmla="val 5819"/>
            </a:avLst>
          </a:prstGeom>
          <a:solidFill>
            <a:srgbClr val="EAF6F4"/>
          </a:solidFill>
          <a:ln/>
        </p:spPr>
      </p:sp>
      <p:sp>
        <p:nvSpPr>
          <p:cNvPr id="7" name="Text 5"/>
          <p:cNvSpPr txBox="1"/>
          <p:nvPr/>
        </p:nvSpPr>
        <p:spPr>
          <a:xfrm>
            <a:off x="704088" y="1584198"/>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Örneğin Türkçe’de sonu ünlü ile biten bir kökün sonuna yine ünlü ile başlayan bir ek konacak olursa, kök ile ek arasına ‘‘</a:t>
            </a:r>
            <a:r>
              <a:rPr lang="en-US" sz="1800" b="1" dirty="0">
                <a:solidFill>
                  <a:srgbClr val="1F2937"/>
                </a:solidFill>
                <a:latin typeface="Calibri" pitchFamily="34" charset="0"/>
                <a:ea typeface="Calibri" pitchFamily="34" charset="-122"/>
                <a:cs typeface="Calibri" pitchFamily="34" charset="-120"/>
              </a:rPr>
              <a:t>y, n, s, ş</a:t>
            </a:r>
            <a:r>
              <a:rPr lang="en-US" sz="1800" dirty="0">
                <a:solidFill>
                  <a:srgbClr val="1F2937"/>
                </a:solidFill>
                <a:latin typeface="Calibri" pitchFamily="34" charset="0"/>
                <a:ea typeface="Calibri" pitchFamily="34" charset="-122"/>
                <a:cs typeface="Calibri" pitchFamily="34" charset="-120"/>
              </a:rPr>
              <a:t>’’ ünsüzlerinden biri gelir. Bunlara kaynaştırma ünsüzleri denir.</a:t>
            </a:r>
            <a:endParaRPr lang="en-US" sz="1800" dirty="0"/>
          </a:p>
        </p:txBody>
      </p:sp>
      <p:sp>
        <p:nvSpPr>
          <p:cNvPr id="8" name="Shape 6"/>
          <p:cNvSpPr/>
          <p:nvPr/>
        </p:nvSpPr>
        <p:spPr>
          <a:xfrm>
            <a:off x="548640" y="2702509"/>
            <a:ext cx="11094415" cy="821131"/>
          </a:xfrm>
          <a:prstGeom prst="roundRect">
            <a:avLst>
              <a:gd name="adj" fmla="val 7795"/>
            </a:avLst>
          </a:prstGeom>
          <a:solidFill>
            <a:srgbClr val="EAF6F4"/>
          </a:solidFill>
          <a:ln/>
        </p:spPr>
      </p:sp>
      <p:sp>
        <p:nvSpPr>
          <p:cNvPr id="9" name="Text 7"/>
          <p:cNvSpPr txBox="1"/>
          <p:nvPr/>
        </p:nvSpPr>
        <p:spPr>
          <a:xfrm>
            <a:off x="704088" y="277566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Tıbbi terimlerde de aynı böyle durumlar vardır. Ancak kaynaştırmada ünsüz (sessiz) değil ünlü (sesli) harfler kullanılır. Tıbbi terimlerde ‘‘</a:t>
            </a:r>
            <a:r>
              <a:rPr lang="en-US" sz="1800" b="1" dirty="0">
                <a:solidFill>
                  <a:srgbClr val="1F2937"/>
                </a:solidFill>
                <a:latin typeface="Calibri" pitchFamily="34" charset="0"/>
                <a:ea typeface="Calibri" pitchFamily="34" charset="-122"/>
                <a:cs typeface="Calibri" pitchFamily="34" charset="-120"/>
              </a:rPr>
              <a:t>o</a:t>
            </a:r>
            <a:r>
              <a:rPr lang="en-US" sz="1800" dirty="0">
                <a:solidFill>
                  <a:srgbClr val="1F2937"/>
                </a:solidFill>
                <a:latin typeface="Calibri" pitchFamily="34" charset="0"/>
                <a:ea typeface="Calibri" pitchFamily="34" charset="-122"/>
                <a:cs typeface="Calibri" pitchFamily="34" charset="-120"/>
              </a:rPr>
              <a:t>’’ ünlüsü en çok kullanılan kaynaştırma ünlüsüdür.</a:t>
            </a:r>
            <a:endParaRPr lang="en-US" sz="1800" dirty="0"/>
          </a:p>
        </p:txBody>
      </p:sp>
      <p:sp>
        <p:nvSpPr>
          <p:cNvPr id="10" name="Shape 8"/>
          <p:cNvSpPr/>
          <p:nvPr/>
        </p:nvSpPr>
        <p:spPr>
          <a:xfrm>
            <a:off x="548640" y="3615080"/>
            <a:ext cx="11094415" cy="1100023"/>
          </a:xfrm>
          <a:prstGeom prst="roundRect">
            <a:avLst>
              <a:gd name="adj" fmla="val 5819"/>
            </a:avLst>
          </a:prstGeom>
          <a:solidFill>
            <a:srgbClr val="EAF6F4"/>
          </a:solidFill>
          <a:ln/>
        </p:spPr>
      </p:sp>
      <p:sp>
        <p:nvSpPr>
          <p:cNvPr id="11" name="Text 9"/>
          <p:cNvSpPr txBox="1"/>
          <p:nvPr/>
        </p:nvSpPr>
        <p:spPr>
          <a:xfrm>
            <a:off x="704088" y="3688232"/>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Aşağıda en sık kullanılan kökler ve bunlarla oluşturulan terimlerden örnekler yer almaktadır. Öğrenme kolaylığı açısından kökler alfabetik sıraya göre değil, vücut bölümleri ve sistemlere göre sıralanmıştır.</a:t>
            </a:r>
            <a:endParaRPr lang="en-US" sz="1800" dirty="0"/>
          </a:p>
        </p:txBody>
      </p:sp>
      <p:sp>
        <p:nvSpPr>
          <p:cNvPr id="12" name="Shape 10"/>
          <p:cNvSpPr/>
          <p:nvPr/>
        </p:nvSpPr>
        <p:spPr>
          <a:xfrm>
            <a:off x="548640" y="4854550"/>
            <a:ext cx="11094415" cy="821131"/>
          </a:xfrm>
          <a:prstGeom prst="roundRect">
            <a:avLst>
              <a:gd name="adj" fmla="val 7795"/>
            </a:avLst>
          </a:prstGeom>
          <a:solidFill>
            <a:srgbClr val="EAF6F4"/>
          </a:solidFill>
          <a:ln/>
        </p:spPr>
      </p:sp>
      <p:sp>
        <p:nvSpPr>
          <p:cNvPr id="13" name="Text 11"/>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Kök sözcük ya da terimlerden yeni sözcük ve terim üretmede her dilde kurallar vardır. Bu kurallara uyularak türetim yapılır.</a:t>
            </a:r>
            <a:endParaRPr lang="en-US" sz="1800" dirty="0"/>
          </a:p>
        </p:txBody>
      </p:sp>
      <p:sp>
        <p:nvSpPr>
          <p:cNvPr id="14" name="Shape 12"/>
          <p:cNvSpPr/>
          <p:nvPr/>
        </p:nvSpPr>
        <p:spPr>
          <a:xfrm>
            <a:off x="548640" y="5767121"/>
            <a:ext cx="11094415" cy="542239"/>
          </a:xfrm>
          <a:prstGeom prst="roundRect">
            <a:avLst>
              <a:gd name="adj" fmla="val 11804"/>
            </a:avLst>
          </a:prstGeom>
          <a:solidFill>
            <a:srgbClr val="EAF6F4"/>
          </a:solidFill>
          <a:ln/>
        </p:spPr>
      </p:sp>
      <p:sp>
        <p:nvSpPr>
          <p:cNvPr id="15" name="Text 13"/>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Kapı/</a:t>
            </a:r>
            <a:r>
              <a:rPr lang="en-US" sz="1800" b="1" dirty="0">
                <a:solidFill>
                  <a:srgbClr val="1F2937"/>
                </a:solidFill>
                <a:latin typeface="Calibri" pitchFamily="34" charset="0"/>
                <a:ea typeface="Calibri" pitchFamily="34" charset="-122"/>
                <a:cs typeface="Calibri" pitchFamily="34" charset="-120"/>
              </a:rPr>
              <a:t>y</a:t>
            </a:r>
            <a:r>
              <a:rPr lang="en-US" sz="1800" dirty="0">
                <a:solidFill>
                  <a:srgbClr val="1F2937"/>
                </a:solidFill>
                <a:latin typeface="Calibri" pitchFamily="34" charset="0"/>
                <a:ea typeface="Calibri" pitchFamily="34" charset="-122"/>
                <a:cs typeface="Calibri" pitchFamily="34" charset="-120"/>
              </a:rPr>
              <a:t>/ı, bahçe/</a:t>
            </a:r>
            <a:r>
              <a:rPr lang="en-US" sz="1800" b="1" dirty="0">
                <a:solidFill>
                  <a:srgbClr val="1F2937"/>
                </a:solidFill>
                <a:latin typeface="Calibri" pitchFamily="34" charset="0"/>
                <a:ea typeface="Calibri" pitchFamily="34" charset="-122"/>
                <a:cs typeface="Calibri" pitchFamily="34" charset="-120"/>
              </a:rPr>
              <a:t>y</a:t>
            </a:r>
            <a:r>
              <a:rPr lang="en-US" sz="1800" dirty="0">
                <a:solidFill>
                  <a:srgbClr val="1F2937"/>
                </a:solidFill>
                <a:latin typeface="Calibri" pitchFamily="34" charset="0"/>
                <a:ea typeface="Calibri" pitchFamily="34" charset="-122"/>
                <a:cs typeface="Calibri" pitchFamily="34" charset="-120"/>
              </a:rPr>
              <a:t>/e, abla/</a:t>
            </a:r>
            <a:r>
              <a:rPr lang="en-US" sz="1800" b="1" dirty="0">
                <a:solidFill>
                  <a:srgbClr val="1F2937"/>
                </a:solidFill>
                <a:latin typeface="Calibri" pitchFamily="34" charset="0"/>
                <a:ea typeface="Calibri" pitchFamily="34" charset="-122"/>
                <a:cs typeface="Calibri" pitchFamily="34" charset="-120"/>
              </a:rPr>
              <a:t>s</a:t>
            </a:r>
            <a:r>
              <a:rPr lang="en-US" sz="1800" dirty="0">
                <a:solidFill>
                  <a:srgbClr val="1F2937"/>
                </a:solidFill>
                <a:latin typeface="Calibri" pitchFamily="34" charset="0"/>
                <a:ea typeface="Calibri" pitchFamily="34" charset="-122"/>
                <a:cs typeface="Calibri" pitchFamily="34" charset="-120"/>
              </a:rPr>
              <a:t>/ı, yayla/</a:t>
            </a:r>
            <a:r>
              <a:rPr lang="en-US" sz="1800" b="1" dirty="0">
                <a:solidFill>
                  <a:srgbClr val="1F2937"/>
                </a:solidFill>
                <a:latin typeface="Calibri" pitchFamily="34" charset="0"/>
                <a:ea typeface="Calibri" pitchFamily="34" charset="-122"/>
                <a:cs typeface="Calibri" pitchFamily="34" charset="-120"/>
              </a:rPr>
              <a:t>n</a:t>
            </a:r>
            <a:r>
              <a:rPr lang="en-US" sz="1800" dirty="0">
                <a:solidFill>
                  <a:srgbClr val="1F2937"/>
                </a:solidFill>
                <a:latin typeface="Calibri" pitchFamily="34" charset="0"/>
                <a:ea typeface="Calibri" pitchFamily="34" charset="-122"/>
                <a:cs typeface="Calibri" pitchFamily="34" charset="-120"/>
              </a:rPr>
              <a:t>/ın gibi…</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Vücut Bölgeleriyle İlgili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37</a:t>
            </a:r>
            <a:endParaRPr lang="en-US" sz="1000" dirty="0"/>
          </a:p>
        </p:txBody>
      </p:sp>
      <p:sp>
        <p:nvSpPr>
          <p:cNvPr id="6" name="Shape 4"/>
          <p:cNvSpPr/>
          <p:nvPr/>
        </p:nvSpPr>
        <p:spPr>
          <a:xfrm>
            <a:off x="548640" y="2231644"/>
            <a:ext cx="11094415" cy="1398270"/>
          </a:xfrm>
          <a:prstGeom prst="roundRect">
            <a:avLst>
              <a:gd name="adj" fmla="val 4578"/>
            </a:avLst>
          </a:prstGeom>
          <a:solidFill>
            <a:srgbClr val="EAF6F4"/>
          </a:solidFill>
          <a:ln/>
        </p:spPr>
      </p:sp>
      <p:sp>
        <p:nvSpPr>
          <p:cNvPr id="7" name="Text 5"/>
          <p:cNvSpPr txBox="1"/>
          <p:nvPr/>
        </p:nvSpPr>
        <p:spPr>
          <a:xfrm>
            <a:off x="731520" y="2295652"/>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  cephal (o) (G) (sefal, sefalo): </a:t>
            </a:r>
            <a:r>
              <a:rPr lang="en-US" sz="1800" dirty="0">
                <a:solidFill>
                  <a:srgbClr val="1F2937"/>
                </a:solidFill>
                <a:latin typeface="Calibri" pitchFamily="34" charset="0"/>
                <a:ea typeface="Calibri" pitchFamily="34" charset="-122"/>
                <a:cs typeface="Calibri" pitchFamily="34" charset="-120"/>
              </a:rPr>
              <a:t>Baş</a:t>
            </a:r>
            <a:endParaRPr lang="en-US" sz="1800" dirty="0"/>
          </a:p>
        </p:txBody>
      </p:sp>
      <p:sp>
        <p:nvSpPr>
          <p:cNvPr id="8" name="Shape 6"/>
          <p:cNvSpPr/>
          <p:nvPr/>
        </p:nvSpPr>
        <p:spPr>
          <a:xfrm>
            <a:off x="850392" y="2682387"/>
            <a:ext cx="64008" cy="64008"/>
          </a:xfrm>
          <a:prstGeom prst="ellipse">
            <a:avLst/>
          </a:prstGeom>
          <a:solidFill>
            <a:srgbClr val="0F766E"/>
          </a:solidFill>
          <a:ln/>
        </p:spPr>
      </p:sp>
      <p:sp>
        <p:nvSpPr>
          <p:cNvPr id="9" name="Text 7"/>
          <p:cNvSpPr txBox="1"/>
          <p:nvPr/>
        </p:nvSpPr>
        <p:spPr>
          <a:xfrm>
            <a:off x="1005840" y="259283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cephalalgia (sefalalji)</a:t>
            </a:r>
            <a:r>
              <a:rPr lang="en-US" sz="1700" dirty="0">
                <a:solidFill>
                  <a:srgbClr val="4B5563"/>
                </a:solidFill>
                <a:latin typeface="Calibri" pitchFamily="34" charset="0"/>
                <a:ea typeface="Calibri" pitchFamily="34" charset="-122"/>
                <a:cs typeface="Calibri" pitchFamily="34" charset="-120"/>
              </a:rPr>
              <a:t>: Baş ağrısı</a:t>
            </a:r>
            <a:endParaRPr lang="en-US" sz="1700" dirty="0"/>
          </a:p>
        </p:txBody>
      </p:sp>
      <p:sp>
        <p:nvSpPr>
          <p:cNvPr id="10" name="Shape 8"/>
          <p:cNvSpPr/>
          <p:nvPr/>
        </p:nvSpPr>
        <p:spPr>
          <a:xfrm>
            <a:off x="850392" y="2982361"/>
            <a:ext cx="64008" cy="64008"/>
          </a:xfrm>
          <a:prstGeom prst="ellipse">
            <a:avLst/>
          </a:prstGeom>
          <a:solidFill>
            <a:srgbClr val="0F766E"/>
          </a:solidFill>
          <a:ln/>
        </p:spPr>
      </p:sp>
      <p:sp>
        <p:nvSpPr>
          <p:cNvPr id="11" name="Text 9"/>
          <p:cNvSpPr txBox="1"/>
          <p:nvPr/>
        </p:nvSpPr>
        <p:spPr>
          <a:xfrm>
            <a:off x="1005840" y="289280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cephaloplegia (sefalopleji)</a:t>
            </a:r>
            <a:r>
              <a:rPr lang="en-US" sz="1700" dirty="0">
                <a:solidFill>
                  <a:srgbClr val="4B5563"/>
                </a:solidFill>
                <a:latin typeface="Calibri" pitchFamily="34" charset="0"/>
                <a:ea typeface="Calibri" pitchFamily="34" charset="-122"/>
                <a:cs typeface="Calibri" pitchFamily="34" charset="-120"/>
              </a:rPr>
              <a:t>: Baş ve yüz hareketlerini sağlayan  kaslardaki inme</a:t>
            </a:r>
            <a:endParaRPr lang="en-US" sz="1700" dirty="0"/>
          </a:p>
        </p:txBody>
      </p:sp>
      <p:sp>
        <p:nvSpPr>
          <p:cNvPr id="12" name="Shape 10"/>
          <p:cNvSpPr/>
          <p:nvPr/>
        </p:nvSpPr>
        <p:spPr>
          <a:xfrm>
            <a:off x="850392" y="3282335"/>
            <a:ext cx="64008" cy="64008"/>
          </a:xfrm>
          <a:prstGeom prst="ellipse">
            <a:avLst/>
          </a:prstGeom>
          <a:solidFill>
            <a:srgbClr val="0F766E"/>
          </a:solidFill>
          <a:ln/>
        </p:spPr>
      </p:sp>
      <p:sp>
        <p:nvSpPr>
          <p:cNvPr id="13" name="Text 11"/>
          <p:cNvSpPr txBox="1"/>
          <p:nvPr/>
        </p:nvSpPr>
        <p:spPr>
          <a:xfrm>
            <a:off x="1005840" y="319278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cephalocaudal (sefalokavdal)</a:t>
            </a:r>
            <a:r>
              <a:rPr lang="en-US" sz="1700" dirty="0">
                <a:solidFill>
                  <a:srgbClr val="4B5563"/>
                </a:solidFill>
                <a:latin typeface="Calibri" pitchFamily="34" charset="0"/>
                <a:ea typeface="Calibri" pitchFamily="34" charset="-122"/>
                <a:cs typeface="Calibri" pitchFamily="34" charset="-120"/>
              </a:rPr>
              <a:t>: Baştan kuyruğa uzanan</a:t>
            </a:r>
            <a:endParaRPr lang="en-US" sz="1700" dirty="0"/>
          </a:p>
        </p:txBody>
      </p:sp>
      <p:sp>
        <p:nvSpPr>
          <p:cNvPr id="14" name="Shape 12"/>
          <p:cNvSpPr/>
          <p:nvPr/>
        </p:nvSpPr>
        <p:spPr>
          <a:xfrm>
            <a:off x="548640" y="3721354"/>
            <a:ext cx="11094415" cy="1398270"/>
          </a:xfrm>
          <a:prstGeom prst="roundRect">
            <a:avLst>
              <a:gd name="adj" fmla="val 4578"/>
            </a:avLst>
          </a:prstGeom>
          <a:solidFill>
            <a:srgbClr val="EAF6F4"/>
          </a:solidFill>
          <a:ln/>
        </p:spPr>
      </p:sp>
      <p:sp>
        <p:nvSpPr>
          <p:cNvPr id="15" name="Text 13"/>
          <p:cNvSpPr txBox="1"/>
          <p:nvPr/>
        </p:nvSpPr>
        <p:spPr>
          <a:xfrm>
            <a:off x="731520" y="3785362"/>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2-  ot (o) (G) (ot, oto): </a:t>
            </a:r>
            <a:r>
              <a:rPr lang="en-US" sz="1800" dirty="0">
                <a:solidFill>
                  <a:srgbClr val="1F2937"/>
                </a:solidFill>
                <a:latin typeface="Calibri" pitchFamily="34" charset="0"/>
                <a:ea typeface="Calibri" pitchFamily="34" charset="-122"/>
                <a:cs typeface="Calibri" pitchFamily="34" charset="-120"/>
              </a:rPr>
              <a:t>Kulak</a:t>
            </a:r>
            <a:endParaRPr lang="en-US" sz="1800" dirty="0"/>
          </a:p>
        </p:txBody>
      </p:sp>
      <p:sp>
        <p:nvSpPr>
          <p:cNvPr id="16" name="Shape 14"/>
          <p:cNvSpPr/>
          <p:nvPr/>
        </p:nvSpPr>
        <p:spPr>
          <a:xfrm>
            <a:off x="850392" y="4172097"/>
            <a:ext cx="64008" cy="64008"/>
          </a:xfrm>
          <a:prstGeom prst="ellipse">
            <a:avLst/>
          </a:prstGeom>
          <a:solidFill>
            <a:srgbClr val="0F766E"/>
          </a:solidFill>
          <a:ln/>
        </p:spPr>
      </p:sp>
      <p:sp>
        <p:nvSpPr>
          <p:cNvPr id="17" name="Text 15"/>
          <p:cNvSpPr txBox="1"/>
          <p:nvPr/>
        </p:nvSpPr>
        <p:spPr>
          <a:xfrm>
            <a:off x="1005840" y="408254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otalgia (otalji)</a:t>
            </a:r>
            <a:r>
              <a:rPr lang="en-US" sz="1700" dirty="0">
                <a:solidFill>
                  <a:srgbClr val="4B5563"/>
                </a:solidFill>
                <a:latin typeface="Calibri" pitchFamily="34" charset="0"/>
                <a:ea typeface="Calibri" pitchFamily="34" charset="-122"/>
                <a:cs typeface="Calibri" pitchFamily="34" charset="-120"/>
              </a:rPr>
              <a:t>: Kulak ağrısı</a:t>
            </a:r>
            <a:endParaRPr lang="en-US" sz="1700" dirty="0"/>
          </a:p>
        </p:txBody>
      </p:sp>
      <p:sp>
        <p:nvSpPr>
          <p:cNvPr id="18" name="Shape 16"/>
          <p:cNvSpPr/>
          <p:nvPr/>
        </p:nvSpPr>
        <p:spPr>
          <a:xfrm>
            <a:off x="850392" y="4472071"/>
            <a:ext cx="64008" cy="64008"/>
          </a:xfrm>
          <a:prstGeom prst="ellipse">
            <a:avLst/>
          </a:prstGeom>
          <a:solidFill>
            <a:srgbClr val="0F766E"/>
          </a:solidFill>
          <a:ln/>
        </p:spPr>
      </p:sp>
      <p:sp>
        <p:nvSpPr>
          <p:cNvPr id="19" name="Text 17"/>
          <p:cNvSpPr txBox="1"/>
          <p:nvPr/>
        </p:nvSpPr>
        <p:spPr>
          <a:xfrm>
            <a:off x="1005840" y="438251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otocleisis (otokleizis)</a:t>
            </a:r>
            <a:r>
              <a:rPr lang="en-US" sz="1700" dirty="0">
                <a:solidFill>
                  <a:srgbClr val="4B5563"/>
                </a:solidFill>
                <a:latin typeface="Calibri" pitchFamily="34" charset="0"/>
                <a:ea typeface="Calibri" pitchFamily="34" charset="-122"/>
                <a:cs typeface="Calibri" pitchFamily="34" charset="-120"/>
              </a:rPr>
              <a:t>: Kukal tıkanması</a:t>
            </a:r>
            <a:endParaRPr lang="en-US" sz="1700" dirty="0"/>
          </a:p>
        </p:txBody>
      </p:sp>
      <p:sp>
        <p:nvSpPr>
          <p:cNvPr id="20" name="Shape 18"/>
          <p:cNvSpPr/>
          <p:nvPr/>
        </p:nvSpPr>
        <p:spPr>
          <a:xfrm>
            <a:off x="850392" y="4772045"/>
            <a:ext cx="64008" cy="64008"/>
          </a:xfrm>
          <a:prstGeom prst="ellipse">
            <a:avLst/>
          </a:prstGeom>
          <a:solidFill>
            <a:srgbClr val="0F766E"/>
          </a:solidFill>
          <a:ln/>
        </p:spPr>
      </p:sp>
      <p:sp>
        <p:nvSpPr>
          <p:cNvPr id="21" name="Text 19"/>
          <p:cNvSpPr txBox="1"/>
          <p:nvPr/>
        </p:nvSpPr>
        <p:spPr>
          <a:xfrm>
            <a:off x="1005840" y="468249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otoscope (otoskop)</a:t>
            </a:r>
            <a:r>
              <a:rPr lang="en-US" sz="1700" dirty="0">
                <a:solidFill>
                  <a:srgbClr val="4B5563"/>
                </a:solidFill>
                <a:latin typeface="Calibri" pitchFamily="34" charset="0"/>
                <a:ea typeface="Calibri" pitchFamily="34" charset="-122"/>
                <a:cs typeface="Calibri" pitchFamily="34" charset="-120"/>
              </a:rPr>
              <a:t>: Kulak muayene aleti</a:t>
            </a:r>
            <a:endParaRPr lang="en-US" sz="1700" dirty="0"/>
          </a:p>
        </p:txBody>
      </p:sp>
      <p:sp>
        <p:nvSpPr>
          <p:cNvPr id="22" name="Shape 20"/>
          <p:cNvSpPr/>
          <p:nvPr/>
        </p:nvSpPr>
        <p:spPr>
          <a:xfrm>
            <a:off x="548640" y="5211064"/>
            <a:ext cx="11094415" cy="1098296"/>
          </a:xfrm>
          <a:prstGeom prst="roundRect">
            <a:avLst>
              <a:gd name="adj" fmla="val 5828"/>
            </a:avLst>
          </a:prstGeom>
          <a:solidFill>
            <a:srgbClr val="EAF6F4"/>
          </a:solidFill>
          <a:ln/>
        </p:spPr>
      </p:sp>
      <p:sp>
        <p:nvSpPr>
          <p:cNvPr id="23" name="Text 21"/>
          <p:cNvSpPr txBox="1"/>
          <p:nvPr/>
        </p:nvSpPr>
        <p:spPr>
          <a:xfrm>
            <a:off x="731520" y="5275072"/>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3-  brachi (o) (L) (braki, brakyo): </a:t>
            </a:r>
            <a:r>
              <a:rPr lang="en-US" sz="1800" dirty="0">
                <a:solidFill>
                  <a:srgbClr val="1F2937"/>
                </a:solidFill>
                <a:latin typeface="Calibri" pitchFamily="34" charset="0"/>
                <a:ea typeface="Calibri" pitchFamily="34" charset="-122"/>
                <a:cs typeface="Calibri" pitchFamily="34" charset="-120"/>
              </a:rPr>
              <a:t>Kol</a:t>
            </a:r>
            <a:endParaRPr lang="en-US" sz="1800" dirty="0"/>
          </a:p>
        </p:txBody>
      </p:sp>
      <p:sp>
        <p:nvSpPr>
          <p:cNvPr id="24" name="Shape 22"/>
          <p:cNvSpPr/>
          <p:nvPr/>
        </p:nvSpPr>
        <p:spPr>
          <a:xfrm>
            <a:off x="850392" y="5661807"/>
            <a:ext cx="64008" cy="64008"/>
          </a:xfrm>
          <a:prstGeom prst="ellipse">
            <a:avLst/>
          </a:prstGeom>
          <a:solidFill>
            <a:srgbClr val="0F766E"/>
          </a:solidFill>
          <a:ln/>
        </p:spPr>
      </p:sp>
      <p:sp>
        <p:nvSpPr>
          <p:cNvPr id="25" name="Text 23"/>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brachiocephalic (brakyosefalik)</a:t>
            </a:r>
            <a:r>
              <a:rPr lang="en-US" sz="1700" dirty="0">
                <a:solidFill>
                  <a:srgbClr val="4B5563"/>
                </a:solidFill>
                <a:latin typeface="Calibri" pitchFamily="34" charset="0"/>
                <a:ea typeface="Calibri" pitchFamily="34" charset="-122"/>
                <a:cs typeface="Calibri" pitchFamily="34" charset="-120"/>
              </a:rPr>
              <a:t>: Kol ve başla ilgili</a:t>
            </a:r>
            <a:endParaRPr lang="en-US" sz="1700" dirty="0"/>
          </a:p>
        </p:txBody>
      </p:sp>
      <p:sp>
        <p:nvSpPr>
          <p:cNvPr id="26" name="Shape 24"/>
          <p:cNvSpPr/>
          <p:nvPr/>
        </p:nvSpPr>
        <p:spPr>
          <a:xfrm>
            <a:off x="850392" y="5961781"/>
            <a:ext cx="64008" cy="64008"/>
          </a:xfrm>
          <a:prstGeom prst="ellipse">
            <a:avLst/>
          </a:prstGeom>
          <a:solidFill>
            <a:srgbClr val="0F766E"/>
          </a:solidFill>
          <a:ln/>
        </p:spPr>
      </p:sp>
      <p:sp>
        <p:nvSpPr>
          <p:cNvPr id="27" name="Text 25"/>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brachiofacial (brakyofasyal)</a:t>
            </a:r>
            <a:r>
              <a:rPr lang="en-US" sz="1700" dirty="0">
                <a:solidFill>
                  <a:srgbClr val="4B5563"/>
                </a:solidFill>
                <a:latin typeface="Calibri" pitchFamily="34" charset="0"/>
                <a:ea typeface="Calibri" pitchFamily="34" charset="-122"/>
                <a:cs typeface="Calibri" pitchFamily="34" charset="-120"/>
              </a:rPr>
              <a:t>: Kol ve yüzle ilgili</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Vücut Bölgeleriyle İlgili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38</a:t>
            </a:r>
            <a:endParaRPr lang="en-US" sz="1000" dirty="0"/>
          </a:p>
        </p:txBody>
      </p:sp>
      <p:sp>
        <p:nvSpPr>
          <p:cNvPr id="6" name="Shape 4"/>
          <p:cNvSpPr/>
          <p:nvPr/>
        </p:nvSpPr>
        <p:spPr>
          <a:xfrm>
            <a:off x="548640" y="1869694"/>
            <a:ext cx="11094415" cy="1336294"/>
          </a:xfrm>
          <a:prstGeom prst="roundRect">
            <a:avLst>
              <a:gd name="adj" fmla="val 4790"/>
            </a:avLst>
          </a:prstGeom>
          <a:solidFill>
            <a:srgbClr val="EAF6F4"/>
          </a:solidFill>
          <a:ln/>
        </p:spPr>
      </p:sp>
      <p:sp>
        <p:nvSpPr>
          <p:cNvPr id="7" name="Text 5"/>
          <p:cNvSpPr txBox="1"/>
          <p:nvPr/>
        </p:nvSpPr>
        <p:spPr>
          <a:xfrm>
            <a:off x="731520" y="1933702"/>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4-a)  thorac (o), thoracic (o) (G) (torak, torako, torasik, torasiko): </a:t>
            </a:r>
            <a:r>
              <a:rPr lang="en-US" sz="1700" dirty="0">
                <a:solidFill>
                  <a:srgbClr val="1F2937"/>
                </a:solidFill>
                <a:latin typeface="Calibri" pitchFamily="34" charset="0"/>
                <a:ea typeface="Calibri" pitchFamily="34" charset="-122"/>
                <a:cs typeface="Calibri" pitchFamily="34" charset="-120"/>
              </a:rPr>
              <a:t>Göğüs boşluğu</a:t>
            </a:r>
            <a:endParaRPr lang="en-US" sz="1700" dirty="0"/>
          </a:p>
        </p:txBody>
      </p:sp>
      <p:sp>
        <p:nvSpPr>
          <p:cNvPr id="8" name="Shape 6"/>
          <p:cNvSpPr/>
          <p:nvPr/>
        </p:nvSpPr>
        <p:spPr>
          <a:xfrm>
            <a:off x="850392" y="2299675"/>
            <a:ext cx="64008" cy="64008"/>
          </a:xfrm>
          <a:prstGeom prst="ellipse">
            <a:avLst/>
          </a:prstGeom>
          <a:solidFill>
            <a:srgbClr val="0F766E"/>
          </a:solidFill>
          <a:ln/>
        </p:spPr>
      </p:sp>
      <p:sp>
        <p:nvSpPr>
          <p:cNvPr id="9" name="Text 7"/>
          <p:cNvSpPr txBox="1"/>
          <p:nvPr/>
        </p:nvSpPr>
        <p:spPr>
          <a:xfrm>
            <a:off x="1005840" y="221538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thoracal (torakal)</a:t>
            </a:r>
            <a:r>
              <a:rPr lang="en-US" sz="1600" dirty="0">
                <a:solidFill>
                  <a:srgbClr val="4B5563"/>
                </a:solidFill>
                <a:latin typeface="Calibri" pitchFamily="34" charset="0"/>
                <a:ea typeface="Calibri" pitchFamily="34" charset="-122"/>
                <a:cs typeface="Calibri" pitchFamily="34" charset="-120"/>
              </a:rPr>
              <a:t>: Göğüsle ilgili</a:t>
            </a:r>
            <a:endParaRPr lang="en-US" sz="1600" dirty="0"/>
          </a:p>
        </p:txBody>
      </p:sp>
      <p:sp>
        <p:nvSpPr>
          <p:cNvPr id="10" name="Shape 8"/>
          <p:cNvSpPr/>
          <p:nvPr/>
        </p:nvSpPr>
        <p:spPr>
          <a:xfrm>
            <a:off x="850392" y="2584155"/>
            <a:ext cx="64008" cy="64008"/>
          </a:xfrm>
          <a:prstGeom prst="ellipse">
            <a:avLst/>
          </a:prstGeom>
          <a:solidFill>
            <a:srgbClr val="0F766E"/>
          </a:solidFill>
          <a:ln/>
        </p:spPr>
      </p:sp>
      <p:sp>
        <p:nvSpPr>
          <p:cNvPr id="11" name="Text 9"/>
          <p:cNvSpPr txBox="1"/>
          <p:nvPr/>
        </p:nvSpPr>
        <p:spPr>
          <a:xfrm>
            <a:off x="1005840" y="249986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thoracocentesis (torakosentez)</a:t>
            </a:r>
            <a:r>
              <a:rPr lang="en-US" sz="1600" dirty="0">
                <a:solidFill>
                  <a:srgbClr val="4B5563"/>
                </a:solidFill>
                <a:latin typeface="Calibri" pitchFamily="34" charset="0"/>
                <a:ea typeface="Calibri" pitchFamily="34" charset="-122"/>
                <a:cs typeface="Calibri" pitchFamily="34" charset="-120"/>
              </a:rPr>
              <a:t>: Göğüs boşluğunda biriken sıvının boşaltılması</a:t>
            </a:r>
            <a:endParaRPr lang="en-US" sz="1600" dirty="0"/>
          </a:p>
        </p:txBody>
      </p:sp>
      <p:sp>
        <p:nvSpPr>
          <p:cNvPr id="12" name="Shape 10"/>
          <p:cNvSpPr/>
          <p:nvPr/>
        </p:nvSpPr>
        <p:spPr>
          <a:xfrm>
            <a:off x="850392" y="2868635"/>
            <a:ext cx="64008" cy="64008"/>
          </a:xfrm>
          <a:prstGeom prst="ellipse">
            <a:avLst/>
          </a:prstGeom>
          <a:solidFill>
            <a:srgbClr val="0F766E"/>
          </a:solidFill>
          <a:ln/>
        </p:spPr>
      </p:sp>
      <p:sp>
        <p:nvSpPr>
          <p:cNvPr id="13" name="Text 11"/>
          <p:cNvSpPr txBox="1"/>
          <p:nvPr/>
        </p:nvSpPr>
        <p:spPr>
          <a:xfrm>
            <a:off x="1005840" y="278434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thoracicoabdominal (torasikoabdominal)</a:t>
            </a:r>
            <a:r>
              <a:rPr lang="en-US" sz="1600" dirty="0">
                <a:solidFill>
                  <a:srgbClr val="4B5563"/>
                </a:solidFill>
                <a:latin typeface="Calibri" pitchFamily="34" charset="0"/>
                <a:ea typeface="Calibri" pitchFamily="34" charset="-122"/>
                <a:cs typeface="Calibri" pitchFamily="34" charset="-120"/>
              </a:rPr>
              <a:t>: Göğüs ve karınla ilgili</a:t>
            </a:r>
            <a:endParaRPr lang="en-US" sz="1600" dirty="0"/>
          </a:p>
        </p:txBody>
      </p:sp>
      <p:sp>
        <p:nvSpPr>
          <p:cNvPr id="14" name="Shape 12"/>
          <p:cNvSpPr/>
          <p:nvPr/>
        </p:nvSpPr>
        <p:spPr>
          <a:xfrm>
            <a:off x="548640" y="3297428"/>
            <a:ext cx="11094415" cy="1336294"/>
          </a:xfrm>
          <a:prstGeom prst="roundRect">
            <a:avLst>
              <a:gd name="adj" fmla="val 4790"/>
            </a:avLst>
          </a:prstGeom>
          <a:solidFill>
            <a:srgbClr val="EAF6F4"/>
          </a:solidFill>
          <a:ln/>
        </p:spPr>
      </p:sp>
      <p:sp>
        <p:nvSpPr>
          <p:cNvPr id="15" name="Text 13"/>
          <p:cNvSpPr txBox="1"/>
          <p:nvPr/>
        </p:nvSpPr>
        <p:spPr>
          <a:xfrm>
            <a:off x="731520" y="3361436"/>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4-b)  </a:t>
            </a:r>
            <a:endParaRPr lang="en-US" sz="1700" dirty="0"/>
          </a:p>
        </p:txBody>
      </p:sp>
      <p:sp>
        <p:nvSpPr>
          <p:cNvPr id="16" name="Shape 14"/>
          <p:cNvSpPr/>
          <p:nvPr/>
        </p:nvSpPr>
        <p:spPr>
          <a:xfrm>
            <a:off x="850392" y="3727409"/>
            <a:ext cx="64008" cy="64008"/>
          </a:xfrm>
          <a:prstGeom prst="ellipse">
            <a:avLst/>
          </a:prstGeom>
          <a:solidFill>
            <a:srgbClr val="0F766E"/>
          </a:solidFill>
          <a:ln/>
        </p:spPr>
      </p:sp>
      <p:sp>
        <p:nvSpPr>
          <p:cNvPr id="17" name="Text 15"/>
          <p:cNvSpPr txBox="1"/>
          <p:nvPr/>
        </p:nvSpPr>
        <p:spPr>
          <a:xfrm>
            <a:off x="1005840" y="364312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steth (o) (G) (stet, steto)</a:t>
            </a:r>
            <a:r>
              <a:rPr lang="en-US" sz="1600" dirty="0">
                <a:solidFill>
                  <a:srgbClr val="4B5563"/>
                </a:solidFill>
                <a:latin typeface="Calibri" pitchFamily="34" charset="0"/>
                <a:ea typeface="Calibri" pitchFamily="34" charset="-122"/>
                <a:cs typeface="Calibri" pitchFamily="34" charset="-120"/>
              </a:rPr>
              <a:t>: Göğüs</a:t>
            </a:r>
            <a:endParaRPr lang="en-US" sz="1600" dirty="0"/>
          </a:p>
        </p:txBody>
      </p:sp>
      <p:sp>
        <p:nvSpPr>
          <p:cNvPr id="18" name="Shape 16"/>
          <p:cNvSpPr/>
          <p:nvPr/>
        </p:nvSpPr>
        <p:spPr>
          <a:xfrm>
            <a:off x="850392" y="4011889"/>
            <a:ext cx="64008" cy="64008"/>
          </a:xfrm>
          <a:prstGeom prst="ellipse">
            <a:avLst/>
          </a:prstGeom>
          <a:solidFill>
            <a:srgbClr val="0F766E"/>
          </a:solidFill>
          <a:ln/>
        </p:spPr>
      </p:sp>
      <p:sp>
        <p:nvSpPr>
          <p:cNvPr id="19" name="Text 17"/>
          <p:cNvSpPr txBox="1"/>
          <p:nvPr/>
        </p:nvSpPr>
        <p:spPr>
          <a:xfrm>
            <a:off x="1005840" y="392760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stethoscope (steteskop)</a:t>
            </a:r>
            <a:r>
              <a:rPr lang="en-US" sz="1600" dirty="0">
                <a:solidFill>
                  <a:srgbClr val="4B5563"/>
                </a:solidFill>
                <a:latin typeface="Calibri" pitchFamily="34" charset="0"/>
                <a:ea typeface="Calibri" pitchFamily="34" charset="-122"/>
                <a:cs typeface="Calibri" pitchFamily="34" charset="-120"/>
              </a:rPr>
              <a:t>: Göğüste bulunan organları (kalp ve akciğer gibi) dinlemede kullanılan alet</a:t>
            </a:r>
            <a:endParaRPr lang="en-US" sz="1600" dirty="0"/>
          </a:p>
        </p:txBody>
      </p:sp>
      <p:sp>
        <p:nvSpPr>
          <p:cNvPr id="20" name="Shape 18"/>
          <p:cNvSpPr/>
          <p:nvPr/>
        </p:nvSpPr>
        <p:spPr>
          <a:xfrm>
            <a:off x="850392" y="4296369"/>
            <a:ext cx="64008" cy="64008"/>
          </a:xfrm>
          <a:prstGeom prst="ellipse">
            <a:avLst/>
          </a:prstGeom>
          <a:solidFill>
            <a:srgbClr val="0F766E"/>
          </a:solidFill>
          <a:ln/>
        </p:spPr>
      </p:sp>
      <p:sp>
        <p:nvSpPr>
          <p:cNvPr id="21" name="Text 19"/>
          <p:cNvSpPr txBox="1"/>
          <p:nvPr/>
        </p:nvSpPr>
        <p:spPr>
          <a:xfrm>
            <a:off x="1005840" y="421208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stethograph (stetograf)</a:t>
            </a:r>
            <a:r>
              <a:rPr lang="en-US" sz="1600" dirty="0">
                <a:solidFill>
                  <a:srgbClr val="4B5563"/>
                </a:solidFill>
                <a:latin typeface="Calibri" pitchFamily="34" charset="0"/>
                <a:ea typeface="Calibri" pitchFamily="34" charset="-122"/>
                <a:cs typeface="Calibri" pitchFamily="34" charset="-120"/>
              </a:rPr>
              <a:t>: Solunum sırasında göğüs duvarında oluşan hareketleri kaydeden araç</a:t>
            </a:r>
            <a:endParaRPr lang="en-US" sz="1600" dirty="0"/>
          </a:p>
        </p:txBody>
      </p:sp>
      <p:sp>
        <p:nvSpPr>
          <p:cNvPr id="22" name="Shape 20"/>
          <p:cNvSpPr/>
          <p:nvPr/>
        </p:nvSpPr>
        <p:spPr>
          <a:xfrm>
            <a:off x="548640" y="4725162"/>
            <a:ext cx="11094415" cy="1584198"/>
          </a:xfrm>
          <a:prstGeom prst="roundRect">
            <a:avLst>
              <a:gd name="adj" fmla="val 4040"/>
            </a:avLst>
          </a:prstGeom>
          <a:solidFill>
            <a:srgbClr val="EAF6F4"/>
          </a:solidFill>
          <a:ln/>
        </p:spPr>
      </p:sp>
      <p:sp>
        <p:nvSpPr>
          <p:cNvPr id="23" name="Text 21"/>
          <p:cNvSpPr txBox="1"/>
          <p:nvPr/>
        </p:nvSpPr>
        <p:spPr>
          <a:xfrm>
            <a:off x="731520" y="4789170"/>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5-  </a:t>
            </a:r>
            <a:endParaRPr lang="en-US" sz="1700" dirty="0"/>
          </a:p>
        </p:txBody>
      </p:sp>
      <p:sp>
        <p:nvSpPr>
          <p:cNvPr id="24" name="Shape 22"/>
          <p:cNvSpPr/>
          <p:nvPr/>
        </p:nvSpPr>
        <p:spPr>
          <a:xfrm>
            <a:off x="850392" y="5155143"/>
            <a:ext cx="64008" cy="64008"/>
          </a:xfrm>
          <a:prstGeom prst="ellipse">
            <a:avLst/>
          </a:prstGeom>
          <a:solidFill>
            <a:srgbClr val="0F766E"/>
          </a:solidFill>
          <a:ln/>
        </p:spPr>
      </p:sp>
      <p:sp>
        <p:nvSpPr>
          <p:cNvPr id="25" name="Text 23"/>
          <p:cNvSpPr txBox="1"/>
          <p:nvPr/>
        </p:nvSpPr>
        <p:spPr>
          <a:xfrm>
            <a:off x="1005840" y="5070856"/>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abdomin (o) (L) (abdomin, abdomino)</a:t>
            </a:r>
            <a:r>
              <a:rPr lang="en-US" sz="1600" dirty="0">
                <a:solidFill>
                  <a:srgbClr val="4B5563"/>
                </a:solidFill>
                <a:latin typeface="Calibri" pitchFamily="34" charset="0"/>
                <a:ea typeface="Calibri" pitchFamily="34" charset="-122"/>
                <a:cs typeface="Calibri" pitchFamily="34" charset="-120"/>
              </a:rPr>
              <a:t>: Karın boşluğu. En büyük boşluktur ve periton denen zarla çevrilidir.</a:t>
            </a:r>
            <a:endParaRPr lang="en-US" sz="1600" dirty="0"/>
          </a:p>
        </p:txBody>
      </p:sp>
      <p:sp>
        <p:nvSpPr>
          <p:cNvPr id="26" name="Shape 24"/>
          <p:cNvSpPr/>
          <p:nvPr/>
        </p:nvSpPr>
        <p:spPr>
          <a:xfrm>
            <a:off x="850392" y="5687527"/>
            <a:ext cx="64008" cy="64008"/>
          </a:xfrm>
          <a:prstGeom prst="ellipse">
            <a:avLst/>
          </a:prstGeom>
          <a:solidFill>
            <a:srgbClr val="0F766E"/>
          </a:solidFill>
          <a:ln/>
        </p:spPr>
      </p:sp>
      <p:sp>
        <p:nvSpPr>
          <p:cNvPr id="27" name="Text 25"/>
          <p:cNvSpPr txBox="1"/>
          <p:nvPr/>
        </p:nvSpPr>
        <p:spPr>
          <a:xfrm>
            <a:off x="1005840" y="5603240"/>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abdominal (abdominal)</a:t>
            </a:r>
            <a:r>
              <a:rPr lang="en-US" sz="1600" dirty="0">
                <a:solidFill>
                  <a:srgbClr val="4B5563"/>
                </a:solidFill>
                <a:latin typeface="Calibri" pitchFamily="34" charset="0"/>
                <a:ea typeface="Calibri" pitchFamily="34" charset="-122"/>
                <a:cs typeface="Calibri" pitchFamily="34" charset="-120"/>
              </a:rPr>
              <a:t>: Karınla ilgili</a:t>
            </a:r>
            <a:endParaRPr lang="en-US" sz="1600" dirty="0"/>
          </a:p>
        </p:txBody>
      </p:sp>
      <p:sp>
        <p:nvSpPr>
          <p:cNvPr id="28" name="Shape 26"/>
          <p:cNvSpPr/>
          <p:nvPr/>
        </p:nvSpPr>
        <p:spPr>
          <a:xfrm>
            <a:off x="850392" y="5972007"/>
            <a:ext cx="64008" cy="64008"/>
          </a:xfrm>
          <a:prstGeom prst="ellipse">
            <a:avLst/>
          </a:prstGeom>
          <a:solidFill>
            <a:srgbClr val="0F766E"/>
          </a:solidFill>
          <a:ln/>
        </p:spPr>
      </p:sp>
      <p:sp>
        <p:nvSpPr>
          <p:cNvPr id="29" name="Text 27"/>
          <p:cNvSpPr txBox="1"/>
          <p:nvPr/>
        </p:nvSpPr>
        <p:spPr>
          <a:xfrm>
            <a:off x="1005840" y="5887720"/>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abdominocystic (abdominosistik)</a:t>
            </a:r>
            <a:r>
              <a:rPr lang="en-US" sz="1600" dirty="0">
                <a:solidFill>
                  <a:srgbClr val="4B5563"/>
                </a:solidFill>
                <a:latin typeface="Calibri" pitchFamily="34" charset="0"/>
                <a:ea typeface="Calibri" pitchFamily="34" charset="-122"/>
                <a:cs typeface="Calibri" pitchFamily="34" charset="-120"/>
              </a:rPr>
              <a:t>: Karın ve idrar veya öd kesesi ile ilgili</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Hareket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39</a:t>
            </a:r>
            <a:endParaRPr lang="en-US" sz="1000" dirty="0"/>
          </a:p>
        </p:txBody>
      </p:sp>
      <p:sp>
        <p:nvSpPr>
          <p:cNvPr id="6" name="Shape 4"/>
          <p:cNvSpPr/>
          <p:nvPr/>
        </p:nvSpPr>
        <p:spPr>
          <a:xfrm>
            <a:off x="548640" y="2852420"/>
            <a:ext cx="5410048" cy="1936242"/>
          </a:xfrm>
          <a:prstGeom prst="roundRect">
            <a:avLst>
              <a:gd name="adj" fmla="val 3306"/>
            </a:avLst>
          </a:prstGeom>
          <a:solidFill>
            <a:srgbClr val="EAF6F4"/>
          </a:solidFill>
          <a:ln/>
        </p:spPr>
      </p:sp>
      <p:sp>
        <p:nvSpPr>
          <p:cNvPr id="7" name="Text 5"/>
          <p:cNvSpPr txBox="1"/>
          <p:nvPr/>
        </p:nvSpPr>
        <p:spPr>
          <a:xfrm>
            <a:off x="731520" y="291642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3240877"/>
            <a:ext cx="64008" cy="64008"/>
          </a:xfrm>
          <a:prstGeom prst="ellipse">
            <a:avLst/>
          </a:prstGeom>
          <a:solidFill>
            <a:srgbClr val="0F766E"/>
          </a:solidFill>
          <a:ln/>
        </p:spPr>
      </p:sp>
      <p:sp>
        <p:nvSpPr>
          <p:cNvPr id="9" name="Text 7"/>
          <p:cNvSpPr txBox="1"/>
          <p:nvPr/>
        </p:nvSpPr>
        <p:spPr>
          <a:xfrm>
            <a:off x="1005840" y="316712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 oss (L), ost, oste (o) (G) (os, ost, oste, osteo)</a:t>
            </a:r>
            <a:r>
              <a:rPr lang="en-US" sz="1400" dirty="0">
                <a:solidFill>
                  <a:srgbClr val="4B5563"/>
                </a:solidFill>
                <a:latin typeface="Calibri" pitchFamily="34" charset="0"/>
                <a:ea typeface="Calibri" pitchFamily="34" charset="-122"/>
                <a:cs typeface="Calibri" pitchFamily="34" charset="-120"/>
              </a:rPr>
              <a:t>: Kemik</a:t>
            </a:r>
            <a:endParaRPr lang="en-US" sz="1400" dirty="0"/>
          </a:p>
        </p:txBody>
      </p:sp>
      <p:sp>
        <p:nvSpPr>
          <p:cNvPr id="10" name="Shape 8"/>
          <p:cNvSpPr/>
          <p:nvPr/>
        </p:nvSpPr>
        <p:spPr>
          <a:xfrm>
            <a:off x="850392" y="3711285"/>
            <a:ext cx="64008" cy="64008"/>
          </a:xfrm>
          <a:prstGeom prst="ellipse">
            <a:avLst/>
          </a:prstGeom>
          <a:solidFill>
            <a:srgbClr val="0F766E"/>
          </a:solidFill>
          <a:ln/>
        </p:spPr>
      </p:sp>
      <p:sp>
        <p:nvSpPr>
          <p:cNvPr id="11" name="Text 9"/>
          <p:cNvSpPr txBox="1"/>
          <p:nvPr/>
        </p:nvSpPr>
        <p:spPr>
          <a:xfrm>
            <a:off x="1005840" y="36375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ossiform (ossiform)</a:t>
            </a:r>
            <a:r>
              <a:rPr lang="en-US" sz="1400" dirty="0">
                <a:solidFill>
                  <a:srgbClr val="4B5563"/>
                </a:solidFill>
                <a:latin typeface="Calibri" pitchFamily="34" charset="0"/>
                <a:ea typeface="Calibri" pitchFamily="34" charset="-122"/>
                <a:cs typeface="Calibri" pitchFamily="34" charset="-120"/>
              </a:rPr>
              <a:t>: Kemik şeklinde, kemiksi</a:t>
            </a:r>
            <a:endParaRPr lang="en-US" sz="1400" dirty="0"/>
          </a:p>
        </p:txBody>
      </p:sp>
      <p:sp>
        <p:nvSpPr>
          <p:cNvPr id="12" name="Shape 10"/>
          <p:cNvSpPr/>
          <p:nvPr/>
        </p:nvSpPr>
        <p:spPr>
          <a:xfrm>
            <a:off x="850392" y="3964777"/>
            <a:ext cx="64008" cy="64008"/>
          </a:xfrm>
          <a:prstGeom prst="ellipse">
            <a:avLst/>
          </a:prstGeom>
          <a:solidFill>
            <a:srgbClr val="0F766E"/>
          </a:solidFill>
          <a:ln/>
        </p:spPr>
      </p:sp>
      <p:sp>
        <p:nvSpPr>
          <p:cNvPr id="13" name="Text 11"/>
          <p:cNvSpPr txBox="1"/>
          <p:nvPr/>
        </p:nvSpPr>
        <p:spPr>
          <a:xfrm>
            <a:off x="1005840" y="38910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ostalgia (ostalji)</a:t>
            </a:r>
            <a:r>
              <a:rPr lang="en-US" sz="1400" dirty="0">
                <a:solidFill>
                  <a:srgbClr val="4B5563"/>
                </a:solidFill>
                <a:latin typeface="Calibri" pitchFamily="34" charset="0"/>
                <a:ea typeface="Calibri" pitchFamily="34" charset="-122"/>
                <a:cs typeface="Calibri" pitchFamily="34" charset="-120"/>
              </a:rPr>
              <a:t>: Kemiklerde hissedilen ağrı</a:t>
            </a:r>
            <a:endParaRPr lang="en-US" sz="1400" dirty="0"/>
          </a:p>
        </p:txBody>
      </p:sp>
      <p:sp>
        <p:nvSpPr>
          <p:cNvPr id="14" name="Shape 12"/>
          <p:cNvSpPr/>
          <p:nvPr/>
        </p:nvSpPr>
        <p:spPr>
          <a:xfrm>
            <a:off x="850392" y="4218269"/>
            <a:ext cx="64008" cy="64008"/>
          </a:xfrm>
          <a:prstGeom prst="ellipse">
            <a:avLst/>
          </a:prstGeom>
          <a:solidFill>
            <a:srgbClr val="0F766E"/>
          </a:solidFill>
          <a:ln/>
        </p:spPr>
      </p:sp>
      <p:sp>
        <p:nvSpPr>
          <p:cNvPr id="15" name="Text 13"/>
          <p:cNvSpPr txBox="1"/>
          <p:nvPr/>
        </p:nvSpPr>
        <p:spPr>
          <a:xfrm>
            <a:off x="1005840" y="41445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osteocyte (osteosit)</a:t>
            </a:r>
            <a:r>
              <a:rPr lang="en-US" sz="1400" dirty="0">
                <a:solidFill>
                  <a:srgbClr val="4B5563"/>
                </a:solidFill>
                <a:latin typeface="Calibri" pitchFamily="34" charset="0"/>
                <a:ea typeface="Calibri" pitchFamily="34" charset="-122"/>
                <a:cs typeface="Calibri" pitchFamily="34" charset="-120"/>
              </a:rPr>
              <a:t>: Kemik hücresi</a:t>
            </a:r>
            <a:endParaRPr lang="en-US" sz="1400" dirty="0"/>
          </a:p>
        </p:txBody>
      </p:sp>
      <p:sp>
        <p:nvSpPr>
          <p:cNvPr id="16" name="Shape 14"/>
          <p:cNvSpPr/>
          <p:nvPr/>
        </p:nvSpPr>
        <p:spPr>
          <a:xfrm>
            <a:off x="850392" y="4471761"/>
            <a:ext cx="64008" cy="64008"/>
          </a:xfrm>
          <a:prstGeom prst="ellipse">
            <a:avLst/>
          </a:prstGeom>
          <a:solidFill>
            <a:srgbClr val="0F766E"/>
          </a:solidFill>
          <a:ln/>
        </p:spPr>
      </p:sp>
      <p:sp>
        <p:nvSpPr>
          <p:cNvPr id="17" name="Text 15"/>
          <p:cNvSpPr txBox="1"/>
          <p:nvPr/>
        </p:nvSpPr>
        <p:spPr>
          <a:xfrm>
            <a:off x="1005840" y="43980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osteitis (osteit)</a:t>
            </a:r>
            <a:r>
              <a:rPr lang="en-US" sz="1400" dirty="0">
                <a:solidFill>
                  <a:srgbClr val="4B5563"/>
                </a:solidFill>
                <a:latin typeface="Calibri" pitchFamily="34" charset="0"/>
                <a:ea typeface="Calibri" pitchFamily="34" charset="-122"/>
                <a:cs typeface="Calibri" pitchFamily="34" charset="-120"/>
              </a:rPr>
              <a:t>: Kemik iltihabı</a:t>
            </a:r>
            <a:endParaRPr lang="en-US" sz="1400" dirty="0"/>
          </a:p>
        </p:txBody>
      </p:sp>
      <p:sp>
        <p:nvSpPr>
          <p:cNvPr id="18" name="Shape 16"/>
          <p:cNvSpPr/>
          <p:nvPr/>
        </p:nvSpPr>
        <p:spPr>
          <a:xfrm>
            <a:off x="548640" y="4880102"/>
            <a:ext cx="5410048" cy="1429258"/>
          </a:xfrm>
          <a:prstGeom prst="roundRect">
            <a:avLst>
              <a:gd name="adj" fmla="val 4478"/>
            </a:avLst>
          </a:prstGeom>
          <a:solidFill>
            <a:srgbClr val="EAF6F4"/>
          </a:solidFill>
          <a:ln/>
        </p:spPr>
      </p:sp>
      <p:sp>
        <p:nvSpPr>
          <p:cNvPr id="19" name="Text 17"/>
          <p:cNvSpPr txBox="1"/>
          <p:nvPr/>
        </p:nvSpPr>
        <p:spPr>
          <a:xfrm>
            <a:off x="731520" y="494411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20" name="Shape 18"/>
          <p:cNvSpPr/>
          <p:nvPr/>
        </p:nvSpPr>
        <p:spPr>
          <a:xfrm>
            <a:off x="850392" y="5268559"/>
            <a:ext cx="64008" cy="64008"/>
          </a:xfrm>
          <a:prstGeom prst="ellipse">
            <a:avLst/>
          </a:prstGeom>
          <a:solidFill>
            <a:srgbClr val="0F766E"/>
          </a:solidFill>
          <a:ln/>
        </p:spPr>
      </p:sp>
      <p:sp>
        <p:nvSpPr>
          <p:cNvPr id="21" name="Text 19"/>
          <p:cNvSpPr txBox="1"/>
          <p:nvPr/>
        </p:nvSpPr>
        <p:spPr>
          <a:xfrm>
            <a:off x="1005840" y="51948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arthr (o) (G) (artr, artro)</a:t>
            </a:r>
            <a:r>
              <a:rPr lang="en-US" sz="1400" dirty="0">
                <a:solidFill>
                  <a:srgbClr val="4B5563"/>
                </a:solidFill>
                <a:latin typeface="Calibri" pitchFamily="34" charset="0"/>
                <a:ea typeface="Calibri" pitchFamily="34" charset="-122"/>
                <a:cs typeface="Calibri" pitchFamily="34" charset="-120"/>
              </a:rPr>
              <a:t>: Eklem</a:t>
            </a:r>
            <a:endParaRPr lang="en-US" sz="1400" dirty="0"/>
          </a:p>
        </p:txBody>
      </p:sp>
      <p:sp>
        <p:nvSpPr>
          <p:cNvPr id="22" name="Shape 20"/>
          <p:cNvSpPr/>
          <p:nvPr/>
        </p:nvSpPr>
        <p:spPr>
          <a:xfrm>
            <a:off x="850392" y="5522051"/>
            <a:ext cx="64008" cy="64008"/>
          </a:xfrm>
          <a:prstGeom prst="ellipse">
            <a:avLst/>
          </a:prstGeom>
          <a:solidFill>
            <a:srgbClr val="0F766E"/>
          </a:solidFill>
          <a:ln/>
        </p:spPr>
      </p:sp>
      <p:sp>
        <p:nvSpPr>
          <p:cNvPr id="23" name="Text 21"/>
          <p:cNvSpPr txBox="1"/>
          <p:nvPr/>
        </p:nvSpPr>
        <p:spPr>
          <a:xfrm>
            <a:off x="1005840"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arthralgia (artralji)</a:t>
            </a:r>
            <a:r>
              <a:rPr lang="en-US" sz="1400" dirty="0">
                <a:solidFill>
                  <a:srgbClr val="4B5563"/>
                </a:solidFill>
                <a:latin typeface="Calibri" pitchFamily="34" charset="0"/>
                <a:ea typeface="Calibri" pitchFamily="34" charset="-122"/>
                <a:cs typeface="Calibri" pitchFamily="34" charset="-120"/>
              </a:rPr>
              <a:t>: Eklem ağrısı</a:t>
            </a:r>
            <a:endParaRPr lang="en-US" sz="1400" dirty="0"/>
          </a:p>
        </p:txBody>
      </p:sp>
      <p:sp>
        <p:nvSpPr>
          <p:cNvPr id="24" name="Shape 22"/>
          <p:cNvSpPr/>
          <p:nvPr/>
        </p:nvSpPr>
        <p:spPr>
          <a:xfrm>
            <a:off x="850392" y="5775543"/>
            <a:ext cx="64008" cy="64008"/>
          </a:xfrm>
          <a:prstGeom prst="ellipse">
            <a:avLst/>
          </a:prstGeom>
          <a:solidFill>
            <a:srgbClr val="0F766E"/>
          </a:solidFill>
          <a:ln/>
        </p:spPr>
      </p:sp>
      <p:sp>
        <p:nvSpPr>
          <p:cNvPr id="25" name="Text 23"/>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arthroscope (artrskop)</a:t>
            </a:r>
            <a:r>
              <a:rPr lang="en-US" sz="1400" dirty="0">
                <a:solidFill>
                  <a:srgbClr val="4B5563"/>
                </a:solidFill>
                <a:latin typeface="Calibri" pitchFamily="34" charset="0"/>
                <a:ea typeface="Calibri" pitchFamily="34" charset="-122"/>
                <a:cs typeface="Calibri" pitchFamily="34" charset="-120"/>
              </a:rPr>
              <a:t>: Eklem içini incelemede kullanılan alet</a:t>
            </a:r>
            <a:endParaRPr lang="en-US" sz="1400" dirty="0"/>
          </a:p>
        </p:txBody>
      </p:sp>
      <p:sp>
        <p:nvSpPr>
          <p:cNvPr id="26" name="Shape 24"/>
          <p:cNvSpPr/>
          <p:nvPr/>
        </p:nvSpPr>
        <p:spPr>
          <a:xfrm>
            <a:off x="6233008" y="2852420"/>
            <a:ext cx="5410048" cy="1682750"/>
          </a:xfrm>
          <a:prstGeom prst="roundRect">
            <a:avLst>
              <a:gd name="adj" fmla="val 3804"/>
            </a:avLst>
          </a:prstGeom>
          <a:solidFill>
            <a:srgbClr val="EAF6F4"/>
          </a:solidFill>
          <a:ln/>
        </p:spPr>
      </p:sp>
      <p:sp>
        <p:nvSpPr>
          <p:cNvPr id="27" name="Text 25"/>
          <p:cNvSpPr txBox="1"/>
          <p:nvPr/>
        </p:nvSpPr>
        <p:spPr>
          <a:xfrm>
            <a:off x="6415888" y="291642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28" name="Shape 26"/>
          <p:cNvSpPr/>
          <p:nvPr/>
        </p:nvSpPr>
        <p:spPr>
          <a:xfrm>
            <a:off x="6534760" y="3240877"/>
            <a:ext cx="64008" cy="64008"/>
          </a:xfrm>
          <a:prstGeom prst="ellipse">
            <a:avLst/>
          </a:prstGeom>
          <a:solidFill>
            <a:srgbClr val="0F766E"/>
          </a:solidFill>
          <a:ln/>
        </p:spPr>
      </p:sp>
      <p:sp>
        <p:nvSpPr>
          <p:cNvPr id="29" name="Text 27"/>
          <p:cNvSpPr txBox="1"/>
          <p:nvPr/>
        </p:nvSpPr>
        <p:spPr>
          <a:xfrm>
            <a:off x="6690208" y="31671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chondr (o) (G) (kondr, kondro)</a:t>
            </a:r>
            <a:r>
              <a:rPr lang="en-US" sz="1400" dirty="0">
                <a:solidFill>
                  <a:srgbClr val="4B5563"/>
                </a:solidFill>
                <a:latin typeface="Calibri" pitchFamily="34" charset="0"/>
                <a:ea typeface="Calibri" pitchFamily="34" charset="-122"/>
                <a:cs typeface="Calibri" pitchFamily="34" charset="-120"/>
              </a:rPr>
              <a:t>: Kıkırdak</a:t>
            </a:r>
            <a:endParaRPr lang="en-US" sz="1400" dirty="0"/>
          </a:p>
        </p:txBody>
      </p:sp>
      <p:sp>
        <p:nvSpPr>
          <p:cNvPr id="30" name="Shape 28"/>
          <p:cNvSpPr/>
          <p:nvPr/>
        </p:nvSpPr>
        <p:spPr>
          <a:xfrm>
            <a:off x="6534760" y="3494369"/>
            <a:ext cx="64008" cy="64008"/>
          </a:xfrm>
          <a:prstGeom prst="ellipse">
            <a:avLst/>
          </a:prstGeom>
          <a:solidFill>
            <a:srgbClr val="0F766E"/>
          </a:solidFill>
          <a:ln/>
        </p:spPr>
      </p:sp>
      <p:sp>
        <p:nvSpPr>
          <p:cNvPr id="31" name="Text 29"/>
          <p:cNvSpPr txBox="1"/>
          <p:nvPr/>
        </p:nvSpPr>
        <p:spPr>
          <a:xfrm>
            <a:off x="6690208" y="34206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chondric (kondrik)</a:t>
            </a:r>
            <a:r>
              <a:rPr lang="en-US" sz="1400" dirty="0">
                <a:solidFill>
                  <a:srgbClr val="4B5563"/>
                </a:solidFill>
                <a:latin typeface="Calibri" pitchFamily="34" charset="0"/>
                <a:ea typeface="Calibri" pitchFamily="34" charset="-122"/>
                <a:cs typeface="Calibri" pitchFamily="34" charset="-120"/>
              </a:rPr>
              <a:t>: Kıkırdağa ait</a:t>
            </a:r>
            <a:endParaRPr lang="en-US" sz="1400" dirty="0"/>
          </a:p>
        </p:txBody>
      </p:sp>
      <p:sp>
        <p:nvSpPr>
          <p:cNvPr id="32" name="Shape 30"/>
          <p:cNvSpPr/>
          <p:nvPr/>
        </p:nvSpPr>
        <p:spPr>
          <a:xfrm>
            <a:off x="6534760" y="3747861"/>
            <a:ext cx="64008" cy="64008"/>
          </a:xfrm>
          <a:prstGeom prst="ellipse">
            <a:avLst/>
          </a:prstGeom>
          <a:solidFill>
            <a:srgbClr val="0F766E"/>
          </a:solidFill>
          <a:ln/>
        </p:spPr>
      </p:sp>
      <p:sp>
        <p:nvSpPr>
          <p:cNvPr id="33" name="Text 31"/>
          <p:cNvSpPr txBox="1"/>
          <p:nvPr/>
        </p:nvSpPr>
        <p:spPr>
          <a:xfrm>
            <a:off x="6690208" y="36741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chondroblast (kondroblast)</a:t>
            </a:r>
            <a:r>
              <a:rPr lang="en-US" sz="1400" dirty="0">
                <a:solidFill>
                  <a:srgbClr val="4B5563"/>
                </a:solidFill>
                <a:latin typeface="Calibri" pitchFamily="34" charset="0"/>
                <a:ea typeface="Calibri" pitchFamily="34" charset="-122"/>
                <a:cs typeface="Calibri" pitchFamily="34" charset="-120"/>
              </a:rPr>
              <a:t>: Öncü kıkırdak hücreleri</a:t>
            </a:r>
            <a:endParaRPr lang="en-US" sz="1400" dirty="0"/>
          </a:p>
        </p:txBody>
      </p:sp>
      <p:sp>
        <p:nvSpPr>
          <p:cNvPr id="34" name="Shape 32"/>
          <p:cNvSpPr/>
          <p:nvPr/>
        </p:nvSpPr>
        <p:spPr>
          <a:xfrm>
            <a:off x="6534760" y="4001353"/>
            <a:ext cx="64008" cy="64008"/>
          </a:xfrm>
          <a:prstGeom prst="ellipse">
            <a:avLst/>
          </a:prstGeom>
          <a:solidFill>
            <a:srgbClr val="0F766E"/>
          </a:solidFill>
          <a:ln/>
        </p:spPr>
      </p:sp>
      <p:sp>
        <p:nvSpPr>
          <p:cNvPr id="35" name="Text 33"/>
          <p:cNvSpPr txBox="1"/>
          <p:nvPr/>
        </p:nvSpPr>
        <p:spPr>
          <a:xfrm>
            <a:off x="6690208" y="392760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chondroplasty (kondroplasti)</a:t>
            </a:r>
            <a:r>
              <a:rPr lang="en-US" sz="1400" dirty="0">
                <a:solidFill>
                  <a:srgbClr val="4B5563"/>
                </a:solidFill>
                <a:latin typeface="Calibri" pitchFamily="34" charset="0"/>
                <a:ea typeface="Calibri" pitchFamily="34" charset="-122"/>
                <a:cs typeface="Calibri" pitchFamily="34" charset="-120"/>
              </a:rPr>
              <a:t>: Kıkırdak üzerine yapılan estetik ameliyat</a:t>
            </a:r>
            <a:endParaRPr lang="en-US" sz="1400" dirty="0"/>
          </a:p>
        </p:txBody>
      </p:sp>
      <p:sp>
        <p:nvSpPr>
          <p:cNvPr id="36" name="Shape 34"/>
          <p:cNvSpPr/>
          <p:nvPr/>
        </p:nvSpPr>
        <p:spPr>
          <a:xfrm>
            <a:off x="6233008" y="4626610"/>
            <a:ext cx="5410048" cy="1212342"/>
          </a:xfrm>
          <a:prstGeom prst="roundRect">
            <a:avLst>
              <a:gd name="adj" fmla="val 5280"/>
            </a:avLst>
          </a:prstGeom>
          <a:solidFill>
            <a:srgbClr val="EAF6F4"/>
          </a:solidFill>
          <a:ln/>
        </p:spPr>
      </p:sp>
      <p:sp>
        <p:nvSpPr>
          <p:cNvPr id="37" name="Text 35"/>
          <p:cNvSpPr txBox="1"/>
          <p:nvPr/>
        </p:nvSpPr>
        <p:spPr>
          <a:xfrm>
            <a:off x="6415888" y="469061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38" name="Shape 36"/>
          <p:cNvSpPr/>
          <p:nvPr/>
        </p:nvSpPr>
        <p:spPr>
          <a:xfrm>
            <a:off x="6534760" y="5015067"/>
            <a:ext cx="64008" cy="64008"/>
          </a:xfrm>
          <a:prstGeom prst="ellipse">
            <a:avLst/>
          </a:prstGeom>
          <a:solidFill>
            <a:srgbClr val="0F766E"/>
          </a:solidFill>
          <a:ln/>
        </p:spPr>
      </p:sp>
      <p:sp>
        <p:nvSpPr>
          <p:cNvPr id="39" name="Text 37"/>
          <p:cNvSpPr txBox="1"/>
          <p:nvPr/>
        </p:nvSpPr>
        <p:spPr>
          <a:xfrm>
            <a:off x="6690208" y="49413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my (o) (G) (mi, miyo)</a:t>
            </a:r>
            <a:r>
              <a:rPr lang="en-US" sz="1400" dirty="0">
                <a:solidFill>
                  <a:srgbClr val="4B5563"/>
                </a:solidFill>
                <a:latin typeface="Calibri" pitchFamily="34" charset="0"/>
                <a:ea typeface="Calibri" pitchFamily="34" charset="-122"/>
                <a:cs typeface="Calibri" pitchFamily="34" charset="-120"/>
              </a:rPr>
              <a:t>: Kas</a:t>
            </a:r>
            <a:endParaRPr lang="en-US" sz="1400" dirty="0"/>
          </a:p>
        </p:txBody>
      </p:sp>
      <p:sp>
        <p:nvSpPr>
          <p:cNvPr id="40" name="Shape 38"/>
          <p:cNvSpPr/>
          <p:nvPr/>
        </p:nvSpPr>
        <p:spPr>
          <a:xfrm>
            <a:off x="6534760" y="5268559"/>
            <a:ext cx="64008" cy="64008"/>
          </a:xfrm>
          <a:prstGeom prst="ellipse">
            <a:avLst/>
          </a:prstGeom>
          <a:solidFill>
            <a:srgbClr val="0F766E"/>
          </a:solidFill>
          <a:ln/>
        </p:spPr>
      </p:sp>
      <p:sp>
        <p:nvSpPr>
          <p:cNvPr id="41" name="Text 39"/>
          <p:cNvSpPr txBox="1"/>
          <p:nvPr/>
        </p:nvSpPr>
        <p:spPr>
          <a:xfrm>
            <a:off x="6690208" y="51948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myalgia (miyalji)</a:t>
            </a:r>
            <a:r>
              <a:rPr lang="en-US" sz="1400" dirty="0">
                <a:solidFill>
                  <a:srgbClr val="4B5563"/>
                </a:solidFill>
                <a:latin typeface="Calibri" pitchFamily="34" charset="0"/>
                <a:ea typeface="Calibri" pitchFamily="34" charset="-122"/>
                <a:cs typeface="Calibri" pitchFamily="34" charset="-120"/>
              </a:rPr>
              <a:t>: Kas ağrısı</a:t>
            </a:r>
            <a:endParaRPr lang="en-US" sz="1400" dirty="0"/>
          </a:p>
        </p:txBody>
      </p:sp>
      <p:sp>
        <p:nvSpPr>
          <p:cNvPr id="42" name="Shape 40"/>
          <p:cNvSpPr/>
          <p:nvPr/>
        </p:nvSpPr>
        <p:spPr>
          <a:xfrm>
            <a:off x="6534760" y="5522051"/>
            <a:ext cx="64008" cy="64008"/>
          </a:xfrm>
          <a:prstGeom prst="ellipse">
            <a:avLst/>
          </a:prstGeom>
          <a:solidFill>
            <a:srgbClr val="0F766E"/>
          </a:solidFill>
          <a:ln/>
        </p:spPr>
      </p:sp>
      <p:sp>
        <p:nvSpPr>
          <p:cNvPr id="43" name="Text 41"/>
          <p:cNvSpPr txBox="1"/>
          <p:nvPr/>
        </p:nvSpPr>
        <p:spPr>
          <a:xfrm>
            <a:off x="6690208"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myometrium (miyometriyum)</a:t>
            </a:r>
            <a:r>
              <a:rPr lang="en-US" sz="1400" dirty="0">
                <a:solidFill>
                  <a:srgbClr val="4B5563"/>
                </a:solidFill>
                <a:latin typeface="Calibri" pitchFamily="34" charset="0"/>
                <a:ea typeface="Calibri" pitchFamily="34" charset="-122"/>
                <a:cs typeface="Calibri" pitchFamily="34" charset="-120"/>
              </a:rPr>
              <a:t>: Döl yatağının kas tabakası</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Dolaşım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40</a:t>
            </a:r>
            <a:endParaRPr lang="en-US" sz="1000" dirty="0"/>
          </a:p>
        </p:txBody>
      </p:sp>
      <p:sp>
        <p:nvSpPr>
          <p:cNvPr id="6" name="Shape 4"/>
          <p:cNvSpPr/>
          <p:nvPr/>
        </p:nvSpPr>
        <p:spPr>
          <a:xfrm>
            <a:off x="548640" y="1496568"/>
            <a:ext cx="11094415" cy="1543304"/>
          </a:xfrm>
          <a:prstGeom prst="roundRect">
            <a:avLst>
              <a:gd name="adj" fmla="val 4147"/>
            </a:avLst>
          </a:prstGeom>
          <a:solidFill>
            <a:srgbClr val="EAF6F4"/>
          </a:solidFill>
          <a:ln/>
        </p:spPr>
      </p:sp>
      <p:sp>
        <p:nvSpPr>
          <p:cNvPr id="7" name="Text 5"/>
          <p:cNvSpPr txBox="1"/>
          <p:nvPr/>
        </p:nvSpPr>
        <p:spPr>
          <a:xfrm>
            <a:off x="731520" y="1560576"/>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1-  </a:t>
            </a:r>
            <a:endParaRPr lang="en-US" sz="1600" dirty="0"/>
          </a:p>
        </p:txBody>
      </p:sp>
      <p:sp>
        <p:nvSpPr>
          <p:cNvPr id="8" name="Shape 6"/>
          <p:cNvSpPr/>
          <p:nvPr/>
        </p:nvSpPr>
        <p:spPr>
          <a:xfrm>
            <a:off x="850392" y="1905787"/>
            <a:ext cx="64008" cy="64008"/>
          </a:xfrm>
          <a:prstGeom prst="ellipse">
            <a:avLst/>
          </a:prstGeom>
          <a:solidFill>
            <a:srgbClr val="0F766E"/>
          </a:solidFill>
          <a:ln/>
        </p:spPr>
      </p:sp>
      <p:sp>
        <p:nvSpPr>
          <p:cNvPr id="9" name="Text 7"/>
          <p:cNvSpPr txBox="1"/>
          <p:nvPr/>
        </p:nvSpPr>
        <p:spPr>
          <a:xfrm>
            <a:off x="1005840" y="182676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card, cardi (o) (G) (kard, kardi)</a:t>
            </a:r>
            <a:r>
              <a:rPr lang="en-US" sz="1500" dirty="0">
                <a:solidFill>
                  <a:srgbClr val="4B5563"/>
                </a:solidFill>
                <a:latin typeface="Calibri" pitchFamily="34" charset="0"/>
                <a:ea typeface="Calibri" pitchFamily="34" charset="-122"/>
                <a:cs typeface="Calibri" pitchFamily="34" charset="-120"/>
              </a:rPr>
              <a:t>: Kalp</a:t>
            </a:r>
            <a:endParaRPr lang="en-US" sz="1500" dirty="0"/>
          </a:p>
        </p:txBody>
      </p:sp>
      <p:sp>
        <p:nvSpPr>
          <p:cNvPr id="10" name="Shape 8"/>
          <p:cNvSpPr/>
          <p:nvPr/>
        </p:nvSpPr>
        <p:spPr>
          <a:xfrm>
            <a:off x="850392" y="2174773"/>
            <a:ext cx="64008" cy="64008"/>
          </a:xfrm>
          <a:prstGeom prst="ellipse">
            <a:avLst/>
          </a:prstGeom>
          <a:solidFill>
            <a:srgbClr val="0F766E"/>
          </a:solidFill>
          <a:ln/>
        </p:spPr>
      </p:sp>
      <p:sp>
        <p:nvSpPr>
          <p:cNvPr id="11" name="Text 9"/>
          <p:cNvSpPr txBox="1"/>
          <p:nvPr/>
        </p:nvSpPr>
        <p:spPr>
          <a:xfrm>
            <a:off x="1005840" y="209575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cardialgia (Kardiyalji)</a:t>
            </a:r>
            <a:r>
              <a:rPr lang="en-US" sz="1500" dirty="0">
                <a:solidFill>
                  <a:srgbClr val="4B5563"/>
                </a:solidFill>
                <a:latin typeface="Calibri" pitchFamily="34" charset="0"/>
                <a:ea typeface="Calibri" pitchFamily="34" charset="-122"/>
                <a:cs typeface="Calibri" pitchFamily="34" charset="-120"/>
              </a:rPr>
              <a:t>: Kalp ağrısı</a:t>
            </a:r>
            <a:endParaRPr lang="en-US" sz="1500" dirty="0"/>
          </a:p>
        </p:txBody>
      </p:sp>
      <p:sp>
        <p:nvSpPr>
          <p:cNvPr id="12" name="Shape 10"/>
          <p:cNvSpPr/>
          <p:nvPr/>
        </p:nvSpPr>
        <p:spPr>
          <a:xfrm>
            <a:off x="850392" y="2443759"/>
            <a:ext cx="64008" cy="64008"/>
          </a:xfrm>
          <a:prstGeom prst="ellipse">
            <a:avLst/>
          </a:prstGeom>
          <a:solidFill>
            <a:srgbClr val="0F766E"/>
          </a:solidFill>
          <a:ln/>
        </p:spPr>
      </p:sp>
      <p:sp>
        <p:nvSpPr>
          <p:cNvPr id="13" name="Text 11"/>
          <p:cNvSpPr txBox="1"/>
          <p:nvPr/>
        </p:nvSpPr>
        <p:spPr>
          <a:xfrm>
            <a:off x="1005840" y="236474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carditis (kardit)</a:t>
            </a:r>
            <a:r>
              <a:rPr lang="en-US" sz="1500" dirty="0">
                <a:solidFill>
                  <a:srgbClr val="4B5563"/>
                </a:solidFill>
                <a:latin typeface="Calibri" pitchFamily="34" charset="0"/>
                <a:ea typeface="Calibri" pitchFamily="34" charset="-122"/>
                <a:cs typeface="Calibri" pitchFamily="34" charset="-120"/>
              </a:rPr>
              <a:t>: Kalbin iltihabı</a:t>
            </a:r>
            <a:endParaRPr lang="en-US" sz="1500" dirty="0"/>
          </a:p>
        </p:txBody>
      </p:sp>
      <p:sp>
        <p:nvSpPr>
          <p:cNvPr id="14" name="Shape 12"/>
          <p:cNvSpPr/>
          <p:nvPr/>
        </p:nvSpPr>
        <p:spPr>
          <a:xfrm>
            <a:off x="850392" y="2712745"/>
            <a:ext cx="64008" cy="64008"/>
          </a:xfrm>
          <a:prstGeom prst="ellipse">
            <a:avLst/>
          </a:prstGeom>
          <a:solidFill>
            <a:srgbClr val="0F766E"/>
          </a:solidFill>
          <a:ln/>
        </p:spPr>
      </p:sp>
      <p:sp>
        <p:nvSpPr>
          <p:cNvPr id="15" name="Text 13"/>
          <p:cNvSpPr txBox="1"/>
          <p:nvPr/>
        </p:nvSpPr>
        <p:spPr>
          <a:xfrm>
            <a:off x="1005840" y="263372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cardiology (kardiyoloji)</a:t>
            </a:r>
            <a:r>
              <a:rPr lang="en-US" sz="1500" dirty="0">
                <a:solidFill>
                  <a:srgbClr val="4B5563"/>
                </a:solidFill>
                <a:latin typeface="Calibri" pitchFamily="34" charset="0"/>
                <a:ea typeface="Calibri" pitchFamily="34" charset="-122"/>
                <a:cs typeface="Calibri" pitchFamily="34" charset="-120"/>
              </a:rPr>
              <a:t>: Kalp hastalıkları ve tedavisiyle ilgilenen bilim dalı</a:t>
            </a:r>
            <a:endParaRPr lang="en-US" sz="1500" dirty="0"/>
          </a:p>
        </p:txBody>
      </p:sp>
      <p:sp>
        <p:nvSpPr>
          <p:cNvPr id="16" name="Shape 14"/>
          <p:cNvSpPr/>
          <p:nvPr/>
        </p:nvSpPr>
        <p:spPr>
          <a:xfrm>
            <a:off x="548640" y="3131312"/>
            <a:ext cx="11094415" cy="1274318"/>
          </a:xfrm>
          <a:prstGeom prst="roundRect">
            <a:avLst>
              <a:gd name="adj" fmla="val 5023"/>
            </a:avLst>
          </a:prstGeom>
          <a:solidFill>
            <a:srgbClr val="EAF6F4"/>
          </a:solidFill>
          <a:ln/>
        </p:spPr>
      </p:sp>
      <p:sp>
        <p:nvSpPr>
          <p:cNvPr id="17" name="Text 15"/>
          <p:cNvSpPr txBox="1"/>
          <p:nvPr/>
        </p:nvSpPr>
        <p:spPr>
          <a:xfrm>
            <a:off x="731520" y="3195320"/>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2-a)  </a:t>
            </a:r>
            <a:endParaRPr lang="en-US" sz="1600" dirty="0"/>
          </a:p>
        </p:txBody>
      </p:sp>
      <p:sp>
        <p:nvSpPr>
          <p:cNvPr id="18" name="Shape 16"/>
          <p:cNvSpPr/>
          <p:nvPr/>
        </p:nvSpPr>
        <p:spPr>
          <a:xfrm>
            <a:off x="850392" y="3540531"/>
            <a:ext cx="64008" cy="64008"/>
          </a:xfrm>
          <a:prstGeom prst="ellipse">
            <a:avLst/>
          </a:prstGeom>
          <a:solidFill>
            <a:srgbClr val="0F766E"/>
          </a:solidFill>
          <a:ln/>
        </p:spPr>
      </p:sp>
      <p:sp>
        <p:nvSpPr>
          <p:cNvPr id="19" name="Text 17"/>
          <p:cNvSpPr txBox="1"/>
          <p:nvPr/>
        </p:nvSpPr>
        <p:spPr>
          <a:xfrm>
            <a:off x="1005840" y="346151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angi (o) (G) (anji, anjiyo)</a:t>
            </a:r>
            <a:r>
              <a:rPr lang="en-US" sz="1500" dirty="0">
                <a:solidFill>
                  <a:srgbClr val="4B5563"/>
                </a:solidFill>
                <a:latin typeface="Calibri" pitchFamily="34" charset="0"/>
                <a:ea typeface="Calibri" pitchFamily="34" charset="-122"/>
                <a:cs typeface="Calibri" pitchFamily="34" charset="-120"/>
              </a:rPr>
              <a:t>: Damar</a:t>
            </a:r>
            <a:endParaRPr lang="en-US" sz="1500" dirty="0"/>
          </a:p>
        </p:txBody>
      </p:sp>
      <p:sp>
        <p:nvSpPr>
          <p:cNvPr id="20" name="Shape 18"/>
          <p:cNvSpPr/>
          <p:nvPr/>
        </p:nvSpPr>
        <p:spPr>
          <a:xfrm>
            <a:off x="850392" y="3809517"/>
            <a:ext cx="64008" cy="64008"/>
          </a:xfrm>
          <a:prstGeom prst="ellipse">
            <a:avLst/>
          </a:prstGeom>
          <a:solidFill>
            <a:srgbClr val="0F766E"/>
          </a:solidFill>
          <a:ln/>
        </p:spPr>
      </p:sp>
      <p:sp>
        <p:nvSpPr>
          <p:cNvPr id="21" name="Text 19"/>
          <p:cNvSpPr txBox="1"/>
          <p:nvPr/>
        </p:nvSpPr>
        <p:spPr>
          <a:xfrm>
            <a:off x="1005840" y="373049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angiolipoma (anjiyolipom)</a:t>
            </a:r>
            <a:r>
              <a:rPr lang="en-US" sz="1500" dirty="0">
                <a:solidFill>
                  <a:srgbClr val="4B5563"/>
                </a:solidFill>
                <a:latin typeface="Calibri" pitchFamily="34" charset="0"/>
                <a:ea typeface="Calibri" pitchFamily="34" charset="-122"/>
                <a:cs typeface="Calibri" pitchFamily="34" charset="-120"/>
              </a:rPr>
              <a:t>: Damar ve yağ dokularından oluşan ur</a:t>
            </a:r>
            <a:endParaRPr lang="en-US" sz="1500" dirty="0"/>
          </a:p>
        </p:txBody>
      </p:sp>
      <p:sp>
        <p:nvSpPr>
          <p:cNvPr id="22" name="Shape 20"/>
          <p:cNvSpPr/>
          <p:nvPr/>
        </p:nvSpPr>
        <p:spPr>
          <a:xfrm>
            <a:off x="850392" y="4078503"/>
            <a:ext cx="64008" cy="64008"/>
          </a:xfrm>
          <a:prstGeom prst="ellipse">
            <a:avLst/>
          </a:prstGeom>
          <a:solidFill>
            <a:srgbClr val="0F766E"/>
          </a:solidFill>
          <a:ln/>
        </p:spPr>
      </p:sp>
      <p:sp>
        <p:nvSpPr>
          <p:cNvPr id="23" name="Text 21"/>
          <p:cNvSpPr txBox="1"/>
          <p:nvPr/>
        </p:nvSpPr>
        <p:spPr>
          <a:xfrm>
            <a:off x="1005840" y="399948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angiography (anjiyografi)</a:t>
            </a:r>
            <a:r>
              <a:rPr lang="en-US" sz="1500" dirty="0">
                <a:solidFill>
                  <a:srgbClr val="4B5563"/>
                </a:solidFill>
                <a:latin typeface="Calibri" pitchFamily="34" charset="0"/>
                <a:ea typeface="Calibri" pitchFamily="34" charset="-122"/>
                <a:cs typeface="Calibri" pitchFamily="34" charset="-120"/>
              </a:rPr>
              <a:t>: Damara radyoopak madde verilerek çekilen film</a:t>
            </a:r>
            <a:endParaRPr lang="en-US" sz="1500" dirty="0"/>
          </a:p>
        </p:txBody>
      </p:sp>
      <p:sp>
        <p:nvSpPr>
          <p:cNvPr id="24" name="Shape 22"/>
          <p:cNvSpPr/>
          <p:nvPr/>
        </p:nvSpPr>
        <p:spPr>
          <a:xfrm>
            <a:off x="548640" y="4497070"/>
            <a:ext cx="11094415" cy="1812290"/>
          </a:xfrm>
          <a:prstGeom prst="roundRect">
            <a:avLst>
              <a:gd name="adj" fmla="val 3532"/>
            </a:avLst>
          </a:prstGeom>
          <a:solidFill>
            <a:srgbClr val="EAF6F4"/>
          </a:solidFill>
          <a:ln/>
        </p:spPr>
      </p:sp>
      <p:sp>
        <p:nvSpPr>
          <p:cNvPr id="25" name="Text 23"/>
          <p:cNvSpPr txBox="1"/>
          <p:nvPr/>
        </p:nvSpPr>
        <p:spPr>
          <a:xfrm>
            <a:off x="731520" y="4561078"/>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2-b)  </a:t>
            </a:r>
            <a:endParaRPr lang="en-US" sz="1600" dirty="0"/>
          </a:p>
        </p:txBody>
      </p:sp>
      <p:sp>
        <p:nvSpPr>
          <p:cNvPr id="26" name="Shape 24"/>
          <p:cNvSpPr/>
          <p:nvPr/>
        </p:nvSpPr>
        <p:spPr>
          <a:xfrm>
            <a:off x="850392" y="4906289"/>
            <a:ext cx="64008" cy="64008"/>
          </a:xfrm>
          <a:prstGeom prst="ellipse">
            <a:avLst/>
          </a:prstGeom>
          <a:solidFill>
            <a:srgbClr val="0F766E"/>
          </a:solidFill>
          <a:ln/>
        </p:spPr>
      </p:sp>
      <p:sp>
        <p:nvSpPr>
          <p:cNvPr id="27" name="Text 25"/>
          <p:cNvSpPr txBox="1"/>
          <p:nvPr/>
        </p:nvSpPr>
        <p:spPr>
          <a:xfrm>
            <a:off x="1005840" y="482727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vas (o), (i) (L) (vas, vazo, vazi)</a:t>
            </a:r>
            <a:r>
              <a:rPr lang="en-US" sz="1500" dirty="0">
                <a:solidFill>
                  <a:srgbClr val="4B5563"/>
                </a:solidFill>
                <a:latin typeface="Calibri" pitchFamily="34" charset="0"/>
                <a:ea typeface="Calibri" pitchFamily="34" charset="-122"/>
                <a:cs typeface="Calibri" pitchFamily="34" charset="-120"/>
              </a:rPr>
              <a:t>: Damar</a:t>
            </a:r>
            <a:endParaRPr lang="en-US" sz="1500" dirty="0"/>
          </a:p>
        </p:txBody>
      </p:sp>
      <p:sp>
        <p:nvSpPr>
          <p:cNvPr id="28" name="Shape 26"/>
          <p:cNvSpPr/>
          <p:nvPr/>
        </p:nvSpPr>
        <p:spPr>
          <a:xfrm>
            <a:off x="850392" y="5175275"/>
            <a:ext cx="64008" cy="64008"/>
          </a:xfrm>
          <a:prstGeom prst="ellipse">
            <a:avLst/>
          </a:prstGeom>
          <a:solidFill>
            <a:srgbClr val="0F766E"/>
          </a:solidFill>
          <a:ln/>
        </p:spPr>
      </p:sp>
      <p:sp>
        <p:nvSpPr>
          <p:cNvPr id="29" name="Text 27"/>
          <p:cNvSpPr txBox="1"/>
          <p:nvPr/>
        </p:nvSpPr>
        <p:spPr>
          <a:xfrm>
            <a:off x="1005840" y="509625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vas deferens</a:t>
            </a:r>
            <a:r>
              <a:rPr lang="en-US" sz="1500" dirty="0">
                <a:solidFill>
                  <a:srgbClr val="4B5563"/>
                </a:solidFill>
                <a:latin typeface="Calibri" pitchFamily="34" charset="0"/>
                <a:ea typeface="Calibri" pitchFamily="34" charset="-122"/>
                <a:cs typeface="Calibri" pitchFamily="34" charset="-120"/>
              </a:rPr>
              <a:t>: Erkeklerde döl hücrelerin ve meni sıvısını idrar yoluna taşıyan kanal</a:t>
            </a:r>
            <a:endParaRPr lang="en-US" sz="1500" dirty="0"/>
          </a:p>
        </p:txBody>
      </p:sp>
      <p:sp>
        <p:nvSpPr>
          <p:cNvPr id="30" name="Shape 28"/>
          <p:cNvSpPr/>
          <p:nvPr/>
        </p:nvSpPr>
        <p:spPr>
          <a:xfrm>
            <a:off x="850392" y="5444261"/>
            <a:ext cx="64008" cy="64008"/>
          </a:xfrm>
          <a:prstGeom prst="ellipse">
            <a:avLst/>
          </a:prstGeom>
          <a:solidFill>
            <a:srgbClr val="0F766E"/>
          </a:solidFill>
          <a:ln/>
        </p:spPr>
      </p:sp>
      <p:sp>
        <p:nvSpPr>
          <p:cNvPr id="31" name="Text 29"/>
          <p:cNvSpPr txBox="1"/>
          <p:nvPr/>
        </p:nvSpPr>
        <p:spPr>
          <a:xfrm>
            <a:off x="1005840" y="536524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vasiform (vaziform)</a:t>
            </a:r>
            <a:r>
              <a:rPr lang="en-US" sz="1500" dirty="0">
                <a:solidFill>
                  <a:srgbClr val="4B5563"/>
                </a:solidFill>
                <a:latin typeface="Calibri" pitchFamily="34" charset="0"/>
                <a:ea typeface="Calibri" pitchFamily="34" charset="-122"/>
                <a:cs typeface="Calibri" pitchFamily="34" charset="-120"/>
              </a:rPr>
              <a:t>: Damar şeklinde</a:t>
            </a:r>
            <a:endParaRPr lang="en-US" sz="1500" dirty="0"/>
          </a:p>
        </p:txBody>
      </p:sp>
      <p:sp>
        <p:nvSpPr>
          <p:cNvPr id="32" name="Shape 30"/>
          <p:cNvSpPr/>
          <p:nvPr/>
        </p:nvSpPr>
        <p:spPr>
          <a:xfrm>
            <a:off x="850392" y="5713247"/>
            <a:ext cx="64008" cy="64008"/>
          </a:xfrm>
          <a:prstGeom prst="ellipse">
            <a:avLst/>
          </a:prstGeom>
          <a:solidFill>
            <a:srgbClr val="0F766E"/>
          </a:solidFill>
          <a:ln/>
        </p:spPr>
      </p:sp>
      <p:sp>
        <p:nvSpPr>
          <p:cNvPr id="33" name="Text 31"/>
          <p:cNvSpPr txBox="1"/>
          <p:nvPr/>
        </p:nvSpPr>
        <p:spPr>
          <a:xfrm>
            <a:off x="1005840" y="563422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vasodilatation (vazodilatasyon)</a:t>
            </a:r>
            <a:r>
              <a:rPr lang="en-US" sz="1500" dirty="0">
                <a:solidFill>
                  <a:srgbClr val="4B5563"/>
                </a:solidFill>
                <a:latin typeface="Calibri" pitchFamily="34" charset="0"/>
                <a:ea typeface="Calibri" pitchFamily="34" charset="-122"/>
                <a:cs typeface="Calibri" pitchFamily="34" charset="-120"/>
              </a:rPr>
              <a:t>: Kan damarlarının genişlemesi</a:t>
            </a:r>
            <a:endParaRPr lang="en-US" sz="1500" dirty="0"/>
          </a:p>
        </p:txBody>
      </p:sp>
      <p:sp>
        <p:nvSpPr>
          <p:cNvPr id="34" name="Shape 32"/>
          <p:cNvSpPr/>
          <p:nvPr/>
        </p:nvSpPr>
        <p:spPr>
          <a:xfrm>
            <a:off x="850392" y="5982233"/>
            <a:ext cx="64008" cy="64008"/>
          </a:xfrm>
          <a:prstGeom prst="ellipse">
            <a:avLst/>
          </a:prstGeom>
          <a:solidFill>
            <a:srgbClr val="0F766E"/>
          </a:solidFill>
          <a:ln/>
        </p:spPr>
      </p:sp>
      <p:sp>
        <p:nvSpPr>
          <p:cNvPr id="35" name="Text 33"/>
          <p:cNvSpPr txBox="1"/>
          <p:nvPr/>
        </p:nvSpPr>
        <p:spPr>
          <a:xfrm>
            <a:off x="1005840" y="590321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vasectomy (vazektomi)</a:t>
            </a:r>
            <a:r>
              <a:rPr lang="en-US" sz="1500" dirty="0">
                <a:solidFill>
                  <a:srgbClr val="4B5563"/>
                </a:solidFill>
                <a:latin typeface="Calibri" pitchFamily="34" charset="0"/>
                <a:ea typeface="Calibri" pitchFamily="34" charset="-122"/>
                <a:cs typeface="Calibri" pitchFamily="34" charset="-120"/>
              </a:rPr>
              <a:t>: vas deferensi çıkarma ameliyatı</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Dolaşım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41</a:t>
            </a:r>
            <a:endParaRPr lang="en-US" sz="1000" dirty="0"/>
          </a:p>
        </p:txBody>
      </p:sp>
      <p:sp>
        <p:nvSpPr>
          <p:cNvPr id="6" name="Shape 4"/>
          <p:cNvSpPr/>
          <p:nvPr/>
        </p:nvSpPr>
        <p:spPr>
          <a:xfrm>
            <a:off x="548640" y="1802130"/>
            <a:ext cx="5410048" cy="1212342"/>
          </a:xfrm>
          <a:prstGeom prst="roundRect">
            <a:avLst>
              <a:gd name="adj" fmla="val 5280"/>
            </a:avLst>
          </a:prstGeom>
          <a:solidFill>
            <a:srgbClr val="EAF6F4"/>
          </a:solidFill>
          <a:ln/>
        </p:spPr>
      </p:sp>
      <p:sp>
        <p:nvSpPr>
          <p:cNvPr id="7" name="Text 5"/>
          <p:cNvSpPr txBox="1"/>
          <p:nvPr/>
        </p:nvSpPr>
        <p:spPr>
          <a:xfrm>
            <a:off x="731520" y="186613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8" name="Shape 6"/>
          <p:cNvSpPr/>
          <p:nvPr/>
        </p:nvSpPr>
        <p:spPr>
          <a:xfrm>
            <a:off x="850392" y="2190587"/>
            <a:ext cx="64008" cy="64008"/>
          </a:xfrm>
          <a:prstGeom prst="ellipse">
            <a:avLst/>
          </a:prstGeom>
          <a:solidFill>
            <a:srgbClr val="0F766E"/>
          </a:solidFill>
          <a:ln/>
        </p:spPr>
      </p:sp>
      <p:sp>
        <p:nvSpPr>
          <p:cNvPr id="9" name="Text 7"/>
          <p:cNvSpPr txBox="1"/>
          <p:nvPr/>
        </p:nvSpPr>
        <p:spPr>
          <a:xfrm>
            <a:off x="1005840" y="211683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arter, arteri (L) (arter, arteri)</a:t>
            </a:r>
            <a:r>
              <a:rPr lang="en-US" sz="1400" dirty="0">
                <a:solidFill>
                  <a:srgbClr val="4B5563"/>
                </a:solidFill>
                <a:latin typeface="Calibri" pitchFamily="34" charset="0"/>
                <a:ea typeface="Calibri" pitchFamily="34" charset="-122"/>
                <a:cs typeface="Calibri" pitchFamily="34" charset="-120"/>
              </a:rPr>
              <a:t>: Atardamar, arter</a:t>
            </a:r>
            <a:endParaRPr lang="en-US" sz="1400" dirty="0"/>
          </a:p>
        </p:txBody>
      </p:sp>
      <p:sp>
        <p:nvSpPr>
          <p:cNvPr id="10" name="Shape 8"/>
          <p:cNvSpPr/>
          <p:nvPr/>
        </p:nvSpPr>
        <p:spPr>
          <a:xfrm>
            <a:off x="850392" y="2444079"/>
            <a:ext cx="64008" cy="64008"/>
          </a:xfrm>
          <a:prstGeom prst="ellipse">
            <a:avLst/>
          </a:prstGeom>
          <a:solidFill>
            <a:srgbClr val="0F766E"/>
          </a:solidFill>
          <a:ln/>
        </p:spPr>
      </p:sp>
      <p:sp>
        <p:nvSpPr>
          <p:cNvPr id="11" name="Text 9"/>
          <p:cNvSpPr txBox="1"/>
          <p:nvPr/>
        </p:nvSpPr>
        <p:spPr>
          <a:xfrm>
            <a:off x="1005840" y="237032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arteritis (arterit)</a:t>
            </a:r>
            <a:r>
              <a:rPr lang="en-US" sz="1400" dirty="0">
                <a:solidFill>
                  <a:srgbClr val="4B5563"/>
                </a:solidFill>
                <a:latin typeface="Calibri" pitchFamily="34" charset="0"/>
                <a:ea typeface="Calibri" pitchFamily="34" charset="-122"/>
                <a:cs typeface="Calibri" pitchFamily="34" charset="-120"/>
              </a:rPr>
              <a:t>: Atardamar iltihabı</a:t>
            </a:r>
            <a:endParaRPr lang="en-US" sz="1400" dirty="0"/>
          </a:p>
        </p:txBody>
      </p:sp>
      <p:sp>
        <p:nvSpPr>
          <p:cNvPr id="12" name="Shape 10"/>
          <p:cNvSpPr/>
          <p:nvPr/>
        </p:nvSpPr>
        <p:spPr>
          <a:xfrm>
            <a:off x="850392" y="2697571"/>
            <a:ext cx="64008" cy="64008"/>
          </a:xfrm>
          <a:prstGeom prst="ellipse">
            <a:avLst/>
          </a:prstGeom>
          <a:solidFill>
            <a:srgbClr val="0F766E"/>
          </a:solidFill>
          <a:ln/>
        </p:spPr>
      </p:sp>
      <p:sp>
        <p:nvSpPr>
          <p:cNvPr id="13" name="Text 11"/>
          <p:cNvSpPr txBox="1"/>
          <p:nvPr/>
        </p:nvSpPr>
        <p:spPr>
          <a:xfrm>
            <a:off x="1005840" y="262382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arteriola (arteryol)</a:t>
            </a:r>
            <a:r>
              <a:rPr lang="en-US" sz="1400" dirty="0">
                <a:solidFill>
                  <a:srgbClr val="4B5563"/>
                </a:solidFill>
                <a:latin typeface="Calibri" pitchFamily="34" charset="0"/>
                <a:ea typeface="Calibri" pitchFamily="34" charset="-122"/>
                <a:cs typeface="Calibri" pitchFamily="34" charset="-120"/>
              </a:rPr>
              <a:t>: Küçük atardamar</a:t>
            </a:r>
            <a:endParaRPr lang="en-US" sz="1400" dirty="0"/>
          </a:p>
        </p:txBody>
      </p:sp>
      <p:sp>
        <p:nvSpPr>
          <p:cNvPr id="14" name="Shape 12"/>
          <p:cNvSpPr/>
          <p:nvPr/>
        </p:nvSpPr>
        <p:spPr>
          <a:xfrm>
            <a:off x="548640" y="3105912"/>
            <a:ext cx="5410048" cy="1646174"/>
          </a:xfrm>
          <a:prstGeom prst="roundRect">
            <a:avLst>
              <a:gd name="adj" fmla="val 3888"/>
            </a:avLst>
          </a:prstGeom>
          <a:solidFill>
            <a:srgbClr val="EAF6F4"/>
          </a:solidFill>
          <a:ln/>
        </p:spPr>
      </p:sp>
      <p:sp>
        <p:nvSpPr>
          <p:cNvPr id="15" name="Text 13"/>
          <p:cNvSpPr txBox="1"/>
          <p:nvPr/>
        </p:nvSpPr>
        <p:spPr>
          <a:xfrm>
            <a:off x="731520" y="316992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16" name="Shape 14"/>
          <p:cNvSpPr/>
          <p:nvPr/>
        </p:nvSpPr>
        <p:spPr>
          <a:xfrm>
            <a:off x="850392" y="3494369"/>
            <a:ext cx="64008" cy="64008"/>
          </a:xfrm>
          <a:prstGeom prst="ellipse">
            <a:avLst/>
          </a:prstGeom>
          <a:solidFill>
            <a:srgbClr val="0F766E"/>
          </a:solidFill>
          <a:ln/>
        </p:spPr>
      </p:sp>
      <p:sp>
        <p:nvSpPr>
          <p:cNvPr id="17" name="Text 15"/>
          <p:cNvSpPr txBox="1"/>
          <p:nvPr/>
        </p:nvSpPr>
        <p:spPr>
          <a:xfrm>
            <a:off x="1005840" y="34206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ven (i), (o) (L) (veni, veno)</a:t>
            </a:r>
            <a:r>
              <a:rPr lang="en-US" sz="1400" dirty="0">
                <a:solidFill>
                  <a:srgbClr val="4B5563"/>
                </a:solidFill>
                <a:latin typeface="Calibri" pitchFamily="34" charset="0"/>
                <a:ea typeface="Calibri" pitchFamily="34" charset="-122"/>
                <a:cs typeface="Calibri" pitchFamily="34" charset="-120"/>
              </a:rPr>
              <a:t>: Toplardamar, ven</a:t>
            </a:r>
            <a:endParaRPr lang="en-US" sz="1400" dirty="0"/>
          </a:p>
        </p:txBody>
      </p:sp>
      <p:sp>
        <p:nvSpPr>
          <p:cNvPr id="18" name="Shape 16"/>
          <p:cNvSpPr/>
          <p:nvPr/>
        </p:nvSpPr>
        <p:spPr>
          <a:xfrm>
            <a:off x="850392" y="3747861"/>
            <a:ext cx="64008" cy="64008"/>
          </a:xfrm>
          <a:prstGeom prst="ellipse">
            <a:avLst/>
          </a:prstGeom>
          <a:solidFill>
            <a:srgbClr val="0F766E"/>
          </a:solidFill>
          <a:ln/>
        </p:spPr>
      </p:sp>
      <p:sp>
        <p:nvSpPr>
          <p:cNvPr id="19" name="Text 17"/>
          <p:cNvSpPr txBox="1"/>
          <p:nvPr/>
        </p:nvSpPr>
        <p:spPr>
          <a:xfrm>
            <a:off x="1005840" y="367411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veniplex (venipleks)</a:t>
            </a:r>
            <a:r>
              <a:rPr lang="en-US" sz="1400" dirty="0">
                <a:solidFill>
                  <a:srgbClr val="4B5563"/>
                </a:solidFill>
                <a:latin typeface="Calibri" pitchFamily="34" charset="0"/>
                <a:ea typeface="Calibri" pitchFamily="34" charset="-122"/>
                <a:cs typeface="Calibri" pitchFamily="34" charset="-120"/>
              </a:rPr>
              <a:t>: Toplardamar ağı, toplardamar şebekesi</a:t>
            </a:r>
            <a:endParaRPr lang="en-US" sz="1400" dirty="0"/>
          </a:p>
        </p:txBody>
      </p:sp>
      <p:sp>
        <p:nvSpPr>
          <p:cNvPr id="20" name="Shape 18"/>
          <p:cNvSpPr/>
          <p:nvPr/>
        </p:nvSpPr>
        <p:spPr>
          <a:xfrm>
            <a:off x="850392" y="4218269"/>
            <a:ext cx="64008" cy="64008"/>
          </a:xfrm>
          <a:prstGeom prst="ellipse">
            <a:avLst/>
          </a:prstGeom>
          <a:solidFill>
            <a:srgbClr val="0F766E"/>
          </a:solidFill>
          <a:ln/>
        </p:spPr>
      </p:sp>
      <p:sp>
        <p:nvSpPr>
          <p:cNvPr id="21" name="Text 19"/>
          <p:cNvSpPr txBox="1"/>
          <p:nvPr/>
        </p:nvSpPr>
        <p:spPr>
          <a:xfrm>
            <a:off x="1005840" y="414451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venosclerosis (venoskleroz)</a:t>
            </a:r>
            <a:r>
              <a:rPr lang="en-US" sz="1400" dirty="0">
                <a:solidFill>
                  <a:srgbClr val="4B5563"/>
                </a:solidFill>
                <a:latin typeface="Calibri" pitchFamily="34" charset="0"/>
                <a:ea typeface="Calibri" pitchFamily="34" charset="-122"/>
                <a:cs typeface="Calibri" pitchFamily="34" charset="-120"/>
              </a:rPr>
              <a:t>: Toplardamar duvarının sertleşmesi</a:t>
            </a:r>
            <a:endParaRPr lang="en-US" sz="1400" dirty="0"/>
          </a:p>
        </p:txBody>
      </p:sp>
      <p:sp>
        <p:nvSpPr>
          <p:cNvPr id="22" name="Shape 20"/>
          <p:cNvSpPr/>
          <p:nvPr/>
        </p:nvSpPr>
        <p:spPr>
          <a:xfrm>
            <a:off x="548640" y="4843526"/>
            <a:ext cx="5410048" cy="1465834"/>
          </a:xfrm>
          <a:prstGeom prst="roundRect">
            <a:avLst>
              <a:gd name="adj" fmla="val 4367"/>
            </a:avLst>
          </a:prstGeom>
          <a:solidFill>
            <a:srgbClr val="EAF6F4"/>
          </a:solidFill>
          <a:ln/>
        </p:spPr>
      </p:sp>
      <p:sp>
        <p:nvSpPr>
          <p:cNvPr id="23" name="Text 21"/>
          <p:cNvSpPr txBox="1"/>
          <p:nvPr/>
        </p:nvSpPr>
        <p:spPr>
          <a:xfrm>
            <a:off x="731520" y="490753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5-a)  </a:t>
            </a:r>
            <a:endParaRPr lang="en-US" sz="1500" dirty="0"/>
          </a:p>
        </p:txBody>
      </p:sp>
      <p:sp>
        <p:nvSpPr>
          <p:cNvPr id="24" name="Shape 22"/>
          <p:cNvSpPr/>
          <p:nvPr/>
        </p:nvSpPr>
        <p:spPr>
          <a:xfrm>
            <a:off x="850392" y="5231983"/>
            <a:ext cx="64008" cy="64008"/>
          </a:xfrm>
          <a:prstGeom prst="ellipse">
            <a:avLst/>
          </a:prstGeom>
          <a:solidFill>
            <a:srgbClr val="0F766E"/>
          </a:solidFill>
          <a:ln/>
        </p:spPr>
      </p:sp>
      <p:sp>
        <p:nvSpPr>
          <p:cNvPr id="25" name="Text 23"/>
          <p:cNvSpPr txBox="1"/>
          <p:nvPr/>
        </p:nvSpPr>
        <p:spPr>
          <a:xfrm>
            <a:off x="1005840" y="51582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lien (o) (L) (lyen, lyeno)</a:t>
            </a:r>
            <a:r>
              <a:rPr lang="en-US" sz="1400" dirty="0">
                <a:solidFill>
                  <a:srgbClr val="4B5563"/>
                </a:solidFill>
                <a:latin typeface="Calibri" pitchFamily="34" charset="0"/>
                <a:ea typeface="Calibri" pitchFamily="34" charset="-122"/>
                <a:cs typeface="Calibri" pitchFamily="34" charset="-120"/>
              </a:rPr>
              <a:t>: Dalak</a:t>
            </a:r>
            <a:endParaRPr lang="en-US" sz="1400" dirty="0"/>
          </a:p>
        </p:txBody>
      </p:sp>
      <p:sp>
        <p:nvSpPr>
          <p:cNvPr id="26" name="Shape 24"/>
          <p:cNvSpPr/>
          <p:nvPr/>
        </p:nvSpPr>
        <p:spPr>
          <a:xfrm>
            <a:off x="850392" y="5485475"/>
            <a:ext cx="64008" cy="64008"/>
          </a:xfrm>
          <a:prstGeom prst="ellipse">
            <a:avLst/>
          </a:prstGeom>
          <a:solidFill>
            <a:srgbClr val="0F766E"/>
          </a:solidFill>
          <a:ln/>
        </p:spPr>
      </p:sp>
      <p:sp>
        <p:nvSpPr>
          <p:cNvPr id="27" name="Text 25"/>
          <p:cNvSpPr txBox="1"/>
          <p:nvPr/>
        </p:nvSpPr>
        <p:spPr>
          <a:xfrm>
            <a:off x="1005840"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lienitis (lyenit)</a:t>
            </a:r>
            <a:r>
              <a:rPr lang="en-US" sz="1400" dirty="0">
                <a:solidFill>
                  <a:srgbClr val="4B5563"/>
                </a:solidFill>
                <a:latin typeface="Calibri" pitchFamily="34" charset="0"/>
                <a:ea typeface="Calibri" pitchFamily="34" charset="-122"/>
                <a:cs typeface="Calibri" pitchFamily="34" charset="-120"/>
              </a:rPr>
              <a:t>: Dalak iltihabı</a:t>
            </a:r>
            <a:endParaRPr lang="en-US" sz="1400" dirty="0"/>
          </a:p>
        </p:txBody>
      </p:sp>
      <p:sp>
        <p:nvSpPr>
          <p:cNvPr id="28" name="Shape 26"/>
          <p:cNvSpPr/>
          <p:nvPr/>
        </p:nvSpPr>
        <p:spPr>
          <a:xfrm>
            <a:off x="850392" y="5738967"/>
            <a:ext cx="64008" cy="64008"/>
          </a:xfrm>
          <a:prstGeom prst="ellipse">
            <a:avLst/>
          </a:prstGeom>
          <a:solidFill>
            <a:srgbClr val="0F766E"/>
          </a:solidFill>
          <a:ln/>
        </p:spPr>
      </p:sp>
      <p:sp>
        <p:nvSpPr>
          <p:cNvPr id="29" name="Text 27"/>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lienomalacia (lyenomalasi)</a:t>
            </a:r>
            <a:r>
              <a:rPr lang="en-US" sz="1400" dirty="0">
                <a:solidFill>
                  <a:srgbClr val="4B5563"/>
                </a:solidFill>
                <a:latin typeface="Calibri" pitchFamily="34" charset="0"/>
                <a:ea typeface="Calibri" pitchFamily="34" charset="-122"/>
                <a:cs typeface="Calibri" pitchFamily="34" charset="-120"/>
              </a:rPr>
              <a:t>: Dalağın yumuşaması</a:t>
            </a:r>
            <a:endParaRPr lang="en-US" sz="1400" dirty="0"/>
          </a:p>
        </p:txBody>
      </p:sp>
      <p:sp>
        <p:nvSpPr>
          <p:cNvPr id="30" name="Shape 28"/>
          <p:cNvSpPr/>
          <p:nvPr/>
        </p:nvSpPr>
        <p:spPr>
          <a:xfrm>
            <a:off x="850392" y="5992459"/>
            <a:ext cx="64008" cy="64008"/>
          </a:xfrm>
          <a:prstGeom prst="ellipse">
            <a:avLst/>
          </a:prstGeom>
          <a:solidFill>
            <a:srgbClr val="0F766E"/>
          </a:solidFill>
          <a:ln/>
        </p:spPr>
      </p:sp>
      <p:sp>
        <p:nvSpPr>
          <p:cNvPr id="31" name="Text 29"/>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lienorenal (lyenorenal)</a:t>
            </a:r>
            <a:r>
              <a:rPr lang="en-US" sz="1400" dirty="0">
                <a:solidFill>
                  <a:srgbClr val="4B5563"/>
                </a:solidFill>
                <a:latin typeface="Calibri" pitchFamily="34" charset="0"/>
                <a:ea typeface="Calibri" pitchFamily="34" charset="-122"/>
                <a:cs typeface="Calibri" pitchFamily="34" charset="-120"/>
              </a:rPr>
              <a:t>: Dalak ve böbrekle ilgili</a:t>
            </a:r>
            <a:endParaRPr lang="en-US" sz="1400" dirty="0"/>
          </a:p>
        </p:txBody>
      </p:sp>
      <p:sp>
        <p:nvSpPr>
          <p:cNvPr id="32" name="Shape 30"/>
          <p:cNvSpPr/>
          <p:nvPr/>
        </p:nvSpPr>
        <p:spPr>
          <a:xfrm>
            <a:off x="6233008" y="1802130"/>
            <a:ext cx="5410048" cy="1465834"/>
          </a:xfrm>
          <a:prstGeom prst="roundRect">
            <a:avLst>
              <a:gd name="adj" fmla="val 4367"/>
            </a:avLst>
          </a:prstGeom>
          <a:solidFill>
            <a:srgbClr val="EAF6F4"/>
          </a:solidFill>
          <a:ln/>
        </p:spPr>
      </p:sp>
      <p:sp>
        <p:nvSpPr>
          <p:cNvPr id="33" name="Text 31"/>
          <p:cNvSpPr txBox="1"/>
          <p:nvPr/>
        </p:nvSpPr>
        <p:spPr>
          <a:xfrm>
            <a:off x="6415888" y="186613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5-b)  </a:t>
            </a:r>
            <a:endParaRPr lang="en-US" sz="1500" dirty="0"/>
          </a:p>
        </p:txBody>
      </p:sp>
      <p:sp>
        <p:nvSpPr>
          <p:cNvPr id="34" name="Shape 32"/>
          <p:cNvSpPr/>
          <p:nvPr/>
        </p:nvSpPr>
        <p:spPr>
          <a:xfrm>
            <a:off x="6534760" y="2190587"/>
            <a:ext cx="64008" cy="64008"/>
          </a:xfrm>
          <a:prstGeom prst="ellipse">
            <a:avLst/>
          </a:prstGeom>
          <a:solidFill>
            <a:srgbClr val="0F766E"/>
          </a:solidFill>
          <a:ln/>
        </p:spPr>
      </p:sp>
      <p:sp>
        <p:nvSpPr>
          <p:cNvPr id="35" name="Text 33"/>
          <p:cNvSpPr txBox="1"/>
          <p:nvPr/>
        </p:nvSpPr>
        <p:spPr>
          <a:xfrm>
            <a:off x="6690208" y="211683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splen (o) (G) (splen, spleno)</a:t>
            </a:r>
            <a:r>
              <a:rPr lang="en-US" sz="1400" dirty="0">
                <a:solidFill>
                  <a:srgbClr val="4B5563"/>
                </a:solidFill>
                <a:latin typeface="Calibri" pitchFamily="34" charset="0"/>
                <a:ea typeface="Calibri" pitchFamily="34" charset="-122"/>
                <a:cs typeface="Calibri" pitchFamily="34" charset="-120"/>
              </a:rPr>
              <a:t>: Dalak</a:t>
            </a:r>
            <a:endParaRPr lang="en-US" sz="1400" dirty="0"/>
          </a:p>
        </p:txBody>
      </p:sp>
      <p:sp>
        <p:nvSpPr>
          <p:cNvPr id="36" name="Shape 34"/>
          <p:cNvSpPr/>
          <p:nvPr/>
        </p:nvSpPr>
        <p:spPr>
          <a:xfrm>
            <a:off x="6534760" y="2444079"/>
            <a:ext cx="64008" cy="64008"/>
          </a:xfrm>
          <a:prstGeom prst="ellipse">
            <a:avLst/>
          </a:prstGeom>
          <a:solidFill>
            <a:srgbClr val="0F766E"/>
          </a:solidFill>
          <a:ln/>
        </p:spPr>
      </p:sp>
      <p:sp>
        <p:nvSpPr>
          <p:cNvPr id="37" name="Text 35"/>
          <p:cNvSpPr txBox="1"/>
          <p:nvPr/>
        </p:nvSpPr>
        <p:spPr>
          <a:xfrm>
            <a:off x="6690208" y="237032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splenathrophy (splenatrofi)</a:t>
            </a:r>
            <a:r>
              <a:rPr lang="en-US" sz="1400" dirty="0">
                <a:solidFill>
                  <a:srgbClr val="4B5563"/>
                </a:solidFill>
                <a:latin typeface="Calibri" pitchFamily="34" charset="0"/>
                <a:ea typeface="Calibri" pitchFamily="34" charset="-122"/>
                <a:cs typeface="Calibri" pitchFamily="34" charset="-120"/>
              </a:rPr>
              <a:t>: Dalak küçülmesi</a:t>
            </a:r>
            <a:endParaRPr lang="en-US" sz="1400" dirty="0"/>
          </a:p>
        </p:txBody>
      </p:sp>
      <p:sp>
        <p:nvSpPr>
          <p:cNvPr id="38" name="Shape 36"/>
          <p:cNvSpPr/>
          <p:nvPr/>
        </p:nvSpPr>
        <p:spPr>
          <a:xfrm>
            <a:off x="6534760" y="2697571"/>
            <a:ext cx="64008" cy="64008"/>
          </a:xfrm>
          <a:prstGeom prst="ellipse">
            <a:avLst/>
          </a:prstGeom>
          <a:solidFill>
            <a:srgbClr val="0F766E"/>
          </a:solidFill>
          <a:ln/>
        </p:spPr>
      </p:sp>
      <p:sp>
        <p:nvSpPr>
          <p:cNvPr id="39" name="Text 37"/>
          <p:cNvSpPr txBox="1"/>
          <p:nvPr/>
        </p:nvSpPr>
        <p:spPr>
          <a:xfrm>
            <a:off x="6690208" y="262382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splenomegaly (splenomegali)</a:t>
            </a:r>
            <a:r>
              <a:rPr lang="en-US" sz="1400" dirty="0">
                <a:solidFill>
                  <a:srgbClr val="4B5563"/>
                </a:solidFill>
                <a:latin typeface="Calibri" pitchFamily="34" charset="0"/>
                <a:ea typeface="Calibri" pitchFamily="34" charset="-122"/>
                <a:cs typeface="Calibri" pitchFamily="34" charset="-120"/>
              </a:rPr>
              <a:t>: Dalak büyümesi</a:t>
            </a:r>
            <a:endParaRPr lang="en-US" sz="1400" dirty="0"/>
          </a:p>
        </p:txBody>
      </p:sp>
      <p:sp>
        <p:nvSpPr>
          <p:cNvPr id="40" name="Shape 38"/>
          <p:cNvSpPr/>
          <p:nvPr/>
        </p:nvSpPr>
        <p:spPr>
          <a:xfrm>
            <a:off x="6534760" y="2951063"/>
            <a:ext cx="64008" cy="64008"/>
          </a:xfrm>
          <a:prstGeom prst="ellipse">
            <a:avLst/>
          </a:prstGeom>
          <a:solidFill>
            <a:srgbClr val="0F766E"/>
          </a:solidFill>
          <a:ln/>
        </p:spPr>
      </p:sp>
      <p:sp>
        <p:nvSpPr>
          <p:cNvPr id="41" name="Text 39"/>
          <p:cNvSpPr txBox="1"/>
          <p:nvPr/>
        </p:nvSpPr>
        <p:spPr>
          <a:xfrm>
            <a:off x="6690208" y="287731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splenectomy (splenektomi)</a:t>
            </a:r>
            <a:r>
              <a:rPr lang="en-US" sz="1400" dirty="0">
                <a:solidFill>
                  <a:srgbClr val="4B5563"/>
                </a:solidFill>
                <a:latin typeface="Calibri" pitchFamily="34" charset="0"/>
                <a:ea typeface="Calibri" pitchFamily="34" charset="-122"/>
                <a:cs typeface="Calibri" pitchFamily="34" charset="-120"/>
              </a:rPr>
              <a:t>: Dalağı çıkarma ameliatı</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Dolaşım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42</a:t>
            </a:r>
            <a:endParaRPr lang="en-US" sz="1000" dirty="0"/>
          </a:p>
        </p:txBody>
      </p:sp>
      <p:sp>
        <p:nvSpPr>
          <p:cNvPr id="6" name="Shape 4"/>
          <p:cNvSpPr/>
          <p:nvPr/>
        </p:nvSpPr>
        <p:spPr>
          <a:xfrm>
            <a:off x="548640" y="2821432"/>
            <a:ext cx="11094415" cy="1698244"/>
          </a:xfrm>
          <a:prstGeom prst="roundRect">
            <a:avLst>
              <a:gd name="adj" fmla="val 3769"/>
            </a:avLst>
          </a:prstGeom>
          <a:solidFill>
            <a:srgbClr val="EAF6F4"/>
          </a:solidFill>
          <a:ln/>
        </p:spPr>
      </p:sp>
      <p:sp>
        <p:nvSpPr>
          <p:cNvPr id="7" name="Text 5"/>
          <p:cNvSpPr txBox="1"/>
          <p:nvPr/>
        </p:nvSpPr>
        <p:spPr>
          <a:xfrm>
            <a:off x="731520" y="288544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6-  </a:t>
            </a:r>
            <a:endParaRPr lang="en-US" sz="1800" dirty="0"/>
          </a:p>
        </p:txBody>
      </p:sp>
      <p:sp>
        <p:nvSpPr>
          <p:cNvPr id="8" name="Shape 6"/>
          <p:cNvSpPr/>
          <p:nvPr/>
        </p:nvSpPr>
        <p:spPr>
          <a:xfrm>
            <a:off x="850392" y="3272175"/>
            <a:ext cx="64008" cy="64008"/>
          </a:xfrm>
          <a:prstGeom prst="ellipse">
            <a:avLst/>
          </a:prstGeom>
          <a:solidFill>
            <a:srgbClr val="0F766E"/>
          </a:solidFill>
          <a:ln/>
        </p:spPr>
      </p:sp>
      <p:sp>
        <p:nvSpPr>
          <p:cNvPr id="9" name="Text 7"/>
          <p:cNvSpPr txBox="1"/>
          <p:nvPr/>
        </p:nvSpPr>
        <p:spPr>
          <a:xfrm>
            <a:off x="1005840" y="318262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haema, hem (a), hemat (o) (G) (hema, hem, hemat, hemato)</a:t>
            </a:r>
            <a:r>
              <a:rPr lang="en-US" sz="1700" dirty="0">
                <a:solidFill>
                  <a:srgbClr val="4B5563"/>
                </a:solidFill>
                <a:latin typeface="Calibri" pitchFamily="34" charset="0"/>
                <a:ea typeface="Calibri" pitchFamily="34" charset="-122"/>
                <a:cs typeface="Calibri" pitchFamily="34" charset="-120"/>
              </a:rPr>
              <a:t>: Kan</a:t>
            </a:r>
            <a:endParaRPr lang="en-US" sz="1700" dirty="0"/>
          </a:p>
        </p:txBody>
      </p:sp>
      <p:sp>
        <p:nvSpPr>
          <p:cNvPr id="10" name="Shape 8"/>
          <p:cNvSpPr/>
          <p:nvPr/>
        </p:nvSpPr>
        <p:spPr>
          <a:xfrm>
            <a:off x="850392" y="3572149"/>
            <a:ext cx="64008" cy="64008"/>
          </a:xfrm>
          <a:prstGeom prst="ellipse">
            <a:avLst/>
          </a:prstGeom>
          <a:solidFill>
            <a:srgbClr val="0F766E"/>
          </a:solidFill>
          <a:ln/>
        </p:spPr>
      </p:sp>
      <p:sp>
        <p:nvSpPr>
          <p:cNvPr id="11" name="Text 9"/>
          <p:cNvSpPr txBox="1"/>
          <p:nvPr/>
        </p:nvSpPr>
        <p:spPr>
          <a:xfrm>
            <a:off x="1005840" y="348259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hemal (hemal)</a:t>
            </a:r>
            <a:r>
              <a:rPr lang="en-US" sz="1700" dirty="0">
                <a:solidFill>
                  <a:srgbClr val="4B5563"/>
                </a:solidFill>
                <a:latin typeface="Calibri" pitchFamily="34" charset="0"/>
                <a:ea typeface="Calibri" pitchFamily="34" charset="-122"/>
                <a:cs typeface="Calibri" pitchFamily="34" charset="-120"/>
              </a:rPr>
              <a:t>: Kan veya kan damarlarıyla ilgili</a:t>
            </a:r>
            <a:endParaRPr lang="en-US" sz="1700" dirty="0"/>
          </a:p>
        </p:txBody>
      </p:sp>
      <p:sp>
        <p:nvSpPr>
          <p:cNvPr id="12" name="Shape 10"/>
          <p:cNvSpPr/>
          <p:nvPr/>
        </p:nvSpPr>
        <p:spPr>
          <a:xfrm>
            <a:off x="850392" y="3872123"/>
            <a:ext cx="64008" cy="64008"/>
          </a:xfrm>
          <a:prstGeom prst="ellipse">
            <a:avLst/>
          </a:prstGeom>
          <a:solidFill>
            <a:srgbClr val="0F766E"/>
          </a:solidFill>
          <a:ln/>
        </p:spPr>
      </p:sp>
      <p:sp>
        <p:nvSpPr>
          <p:cNvPr id="13" name="Text 11"/>
          <p:cNvSpPr txBox="1"/>
          <p:nvPr/>
        </p:nvSpPr>
        <p:spPr>
          <a:xfrm>
            <a:off x="1005840" y="378256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hematemesis (hematemez)</a:t>
            </a:r>
            <a:r>
              <a:rPr lang="en-US" sz="1700" dirty="0">
                <a:solidFill>
                  <a:srgbClr val="4B5563"/>
                </a:solidFill>
                <a:latin typeface="Calibri" pitchFamily="34" charset="0"/>
                <a:ea typeface="Calibri" pitchFamily="34" charset="-122"/>
                <a:cs typeface="Calibri" pitchFamily="34" charset="-120"/>
              </a:rPr>
              <a:t>: Mide kanaması sonucu kan kusma</a:t>
            </a:r>
            <a:endParaRPr lang="en-US" sz="1700" dirty="0"/>
          </a:p>
        </p:txBody>
      </p:sp>
      <p:sp>
        <p:nvSpPr>
          <p:cNvPr id="14" name="Shape 12"/>
          <p:cNvSpPr/>
          <p:nvPr/>
        </p:nvSpPr>
        <p:spPr>
          <a:xfrm>
            <a:off x="850392" y="4172097"/>
            <a:ext cx="64008" cy="64008"/>
          </a:xfrm>
          <a:prstGeom prst="ellipse">
            <a:avLst/>
          </a:prstGeom>
          <a:solidFill>
            <a:srgbClr val="0F766E"/>
          </a:solidFill>
          <a:ln/>
        </p:spPr>
      </p:sp>
      <p:sp>
        <p:nvSpPr>
          <p:cNvPr id="15" name="Text 13"/>
          <p:cNvSpPr txBox="1"/>
          <p:nvPr/>
        </p:nvSpPr>
        <p:spPr>
          <a:xfrm>
            <a:off x="1005840" y="408254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hematogen (hematojen)</a:t>
            </a:r>
            <a:r>
              <a:rPr lang="en-US" sz="1700" dirty="0">
                <a:solidFill>
                  <a:srgbClr val="4B5563"/>
                </a:solidFill>
                <a:latin typeface="Calibri" pitchFamily="34" charset="0"/>
                <a:ea typeface="Calibri" pitchFamily="34" charset="-122"/>
                <a:cs typeface="Calibri" pitchFamily="34" charset="-120"/>
              </a:rPr>
              <a:t>: Kan yapıcı madde</a:t>
            </a:r>
            <a:endParaRPr lang="en-US" sz="1700" dirty="0"/>
          </a:p>
        </p:txBody>
      </p:sp>
      <p:sp>
        <p:nvSpPr>
          <p:cNvPr id="16" name="Shape 14"/>
          <p:cNvSpPr/>
          <p:nvPr/>
        </p:nvSpPr>
        <p:spPr>
          <a:xfrm>
            <a:off x="548640" y="4611116"/>
            <a:ext cx="11094415" cy="1698244"/>
          </a:xfrm>
          <a:prstGeom prst="roundRect">
            <a:avLst>
              <a:gd name="adj" fmla="val 3769"/>
            </a:avLst>
          </a:prstGeom>
          <a:solidFill>
            <a:srgbClr val="EAF6F4"/>
          </a:solidFill>
          <a:ln/>
        </p:spPr>
      </p:sp>
      <p:sp>
        <p:nvSpPr>
          <p:cNvPr id="17" name="Text 15"/>
          <p:cNvSpPr txBox="1"/>
          <p:nvPr/>
        </p:nvSpPr>
        <p:spPr>
          <a:xfrm>
            <a:off x="731520" y="4675124"/>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7-  </a:t>
            </a:r>
            <a:endParaRPr lang="en-US" sz="1800" dirty="0"/>
          </a:p>
        </p:txBody>
      </p:sp>
      <p:sp>
        <p:nvSpPr>
          <p:cNvPr id="18" name="Shape 16"/>
          <p:cNvSpPr/>
          <p:nvPr/>
        </p:nvSpPr>
        <p:spPr>
          <a:xfrm>
            <a:off x="850392" y="5061859"/>
            <a:ext cx="64008" cy="64008"/>
          </a:xfrm>
          <a:prstGeom prst="ellipse">
            <a:avLst/>
          </a:prstGeom>
          <a:solidFill>
            <a:srgbClr val="0F766E"/>
          </a:solidFill>
          <a:ln/>
        </p:spPr>
      </p:sp>
      <p:sp>
        <p:nvSpPr>
          <p:cNvPr id="19" name="Text 17"/>
          <p:cNvSpPr txBox="1"/>
          <p:nvPr/>
        </p:nvSpPr>
        <p:spPr>
          <a:xfrm>
            <a:off x="1005840" y="497230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leuk (o) (G) (lök, löko)</a:t>
            </a:r>
            <a:r>
              <a:rPr lang="en-US" sz="1700" dirty="0">
                <a:solidFill>
                  <a:srgbClr val="4B5563"/>
                </a:solidFill>
                <a:latin typeface="Calibri" pitchFamily="34" charset="0"/>
                <a:ea typeface="Calibri" pitchFamily="34" charset="-122"/>
                <a:cs typeface="Calibri" pitchFamily="34" charset="-120"/>
              </a:rPr>
              <a:t>: Lökosit, akyuvar, beyaz, ak</a:t>
            </a:r>
            <a:endParaRPr lang="en-US" sz="1700" dirty="0"/>
          </a:p>
        </p:txBody>
      </p:sp>
      <p:sp>
        <p:nvSpPr>
          <p:cNvPr id="20" name="Shape 18"/>
          <p:cNvSpPr/>
          <p:nvPr/>
        </p:nvSpPr>
        <p:spPr>
          <a:xfrm>
            <a:off x="850392" y="5361833"/>
            <a:ext cx="64008" cy="64008"/>
          </a:xfrm>
          <a:prstGeom prst="ellipse">
            <a:avLst/>
          </a:prstGeom>
          <a:solidFill>
            <a:srgbClr val="0F766E"/>
          </a:solidFill>
          <a:ln/>
        </p:spPr>
      </p:sp>
      <p:sp>
        <p:nvSpPr>
          <p:cNvPr id="21" name="Text 19"/>
          <p:cNvSpPr txBox="1"/>
          <p:nvPr/>
        </p:nvSpPr>
        <p:spPr>
          <a:xfrm>
            <a:off x="1005840" y="527227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leukocytosis (lökositoz)</a:t>
            </a:r>
            <a:r>
              <a:rPr lang="en-US" sz="1700" dirty="0">
                <a:solidFill>
                  <a:srgbClr val="4B5563"/>
                </a:solidFill>
                <a:latin typeface="Calibri" pitchFamily="34" charset="0"/>
                <a:ea typeface="Calibri" pitchFamily="34" charset="-122"/>
                <a:cs typeface="Calibri" pitchFamily="34" charset="-120"/>
              </a:rPr>
              <a:t>: Kanda akyuvar sayısının artması</a:t>
            </a:r>
            <a:endParaRPr lang="en-US" sz="1700" dirty="0"/>
          </a:p>
        </p:txBody>
      </p:sp>
      <p:sp>
        <p:nvSpPr>
          <p:cNvPr id="22" name="Shape 20"/>
          <p:cNvSpPr/>
          <p:nvPr/>
        </p:nvSpPr>
        <p:spPr>
          <a:xfrm>
            <a:off x="850392" y="5661807"/>
            <a:ext cx="64008" cy="64008"/>
          </a:xfrm>
          <a:prstGeom prst="ellipse">
            <a:avLst/>
          </a:prstGeom>
          <a:solidFill>
            <a:srgbClr val="0F766E"/>
          </a:solidFill>
          <a:ln/>
        </p:spPr>
      </p:sp>
      <p:sp>
        <p:nvSpPr>
          <p:cNvPr id="23" name="Text 21"/>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leukopenia (lökopeni)</a:t>
            </a:r>
            <a:r>
              <a:rPr lang="en-US" sz="1700" dirty="0">
                <a:solidFill>
                  <a:srgbClr val="4B5563"/>
                </a:solidFill>
                <a:latin typeface="Calibri" pitchFamily="34" charset="0"/>
                <a:ea typeface="Calibri" pitchFamily="34" charset="-122"/>
                <a:cs typeface="Calibri" pitchFamily="34" charset="-120"/>
              </a:rPr>
              <a:t>: Kanda akyuvarların azalması</a:t>
            </a:r>
            <a:endParaRPr lang="en-US" sz="1700" dirty="0"/>
          </a:p>
        </p:txBody>
      </p:sp>
      <p:sp>
        <p:nvSpPr>
          <p:cNvPr id="24" name="Shape 22"/>
          <p:cNvSpPr/>
          <p:nvPr/>
        </p:nvSpPr>
        <p:spPr>
          <a:xfrm>
            <a:off x="850392" y="5961781"/>
            <a:ext cx="64008" cy="64008"/>
          </a:xfrm>
          <a:prstGeom prst="ellipse">
            <a:avLst/>
          </a:prstGeom>
          <a:solidFill>
            <a:srgbClr val="0F766E"/>
          </a:solidFill>
          <a:ln/>
        </p:spPr>
      </p:sp>
      <p:sp>
        <p:nvSpPr>
          <p:cNvPr id="25" name="Text 23"/>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leukomyelitis (lökomiyelit)</a:t>
            </a:r>
            <a:r>
              <a:rPr lang="en-US" sz="1700" dirty="0">
                <a:solidFill>
                  <a:srgbClr val="4B5563"/>
                </a:solidFill>
                <a:latin typeface="Calibri" pitchFamily="34" charset="0"/>
                <a:ea typeface="Calibri" pitchFamily="34" charset="-122"/>
                <a:cs typeface="Calibri" pitchFamily="34" charset="-120"/>
              </a:rPr>
              <a:t>: Omurilik beyaz cevheri (ak maddesinin) iltihabı</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Solunum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43</a:t>
            </a:r>
            <a:endParaRPr lang="en-US" sz="1000" dirty="0"/>
          </a:p>
        </p:txBody>
      </p:sp>
      <p:sp>
        <p:nvSpPr>
          <p:cNvPr id="6" name="Shape 4"/>
          <p:cNvSpPr/>
          <p:nvPr/>
        </p:nvSpPr>
        <p:spPr>
          <a:xfrm>
            <a:off x="548640" y="2635504"/>
            <a:ext cx="5410048" cy="1682750"/>
          </a:xfrm>
          <a:prstGeom prst="roundRect">
            <a:avLst>
              <a:gd name="adj" fmla="val 3804"/>
            </a:avLst>
          </a:prstGeom>
          <a:solidFill>
            <a:srgbClr val="EAF6F4"/>
          </a:solidFill>
          <a:ln/>
        </p:spPr>
      </p:sp>
      <p:sp>
        <p:nvSpPr>
          <p:cNvPr id="7" name="Text 5"/>
          <p:cNvSpPr txBox="1"/>
          <p:nvPr/>
        </p:nvSpPr>
        <p:spPr>
          <a:xfrm>
            <a:off x="731520" y="269951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3023961"/>
            <a:ext cx="64008" cy="64008"/>
          </a:xfrm>
          <a:prstGeom prst="ellipse">
            <a:avLst/>
          </a:prstGeom>
          <a:solidFill>
            <a:srgbClr val="0F766E"/>
          </a:solidFill>
          <a:ln/>
        </p:spPr>
      </p:sp>
      <p:sp>
        <p:nvSpPr>
          <p:cNvPr id="9" name="Text 7"/>
          <p:cNvSpPr txBox="1"/>
          <p:nvPr/>
        </p:nvSpPr>
        <p:spPr>
          <a:xfrm>
            <a:off x="1005840" y="29502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laryng (o) (G) (laring, laringo)</a:t>
            </a:r>
            <a:r>
              <a:rPr lang="en-US" sz="1400" dirty="0">
                <a:solidFill>
                  <a:srgbClr val="4B5563"/>
                </a:solidFill>
                <a:latin typeface="Calibri" pitchFamily="34" charset="0"/>
                <a:ea typeface="Calibri" pitchFamily="34" charset="-122"/>
                <a:cs typeface="Calibri" pitchFamily="34" charset="-120"/>
              </a:rPr>
              <a:t>: Gırtlak</a:t>
            </a:r>
            <a:endParaRPr lang="en-US" sz="1400" dirty="0"/>
          </a:p>
        </p:txBody>
      </p:sp>
      <p:sp>
        <p:nvSpPr>
          <p:cNvPr id="10" name="Shape 8"/>
          <p:cNvSpPr/>
          <p:nvPr/>
        </p:nvSpPr>
        <p:spPr>
          <a:xfrm>
            <a:off x="850392" y="3277453"/>
            <a:ext cx="64008" cy="64008"/>
          </a:xfrm>
          <a:prstGeom prst="ellipse">
            <a:avLst/>
          </a:prstGeom>
          <a:solidFill>
            <a:srgbClr val="0F766E"/>
          </a:solidFill>
          <a:ln/>
        </p:spPr>
      </p:sp>
      <p:sp>
        <p:nvSpPr>
          <p:cNvPr id="11" name="Text 9"/>
          <p:cNvSpPr txBox="1"/>
          <p:nvPr/>
        </p:nvSpPr>
        <p:spPr>
          <a:xfrm>
            <a:off x="1005840" y="32037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laryngitis (laringit)</a:t>
            </a:r>
            <a:r>
              <a:rPr lang="en-US" sz="1400" dirty="0">
                <a:solidFill>
                  <a:srgbClr val="4B5563"/>
                </a:solidFill>
                <a:latin typeface="Calibri" pitchFamily="34" charset="0"/>
                <a:ea typeface="Calibri" pitchFamily="34" charset="-122"/>
                <a:cs typeface="Calibri" pitchFamily="34" charset="-120"/>
              </a:rPr>
              <a:t>: Gırtlak iltihabı</a:t>
            </a:r>
            <a:endParaRPr lang="en-US" sz="1400" dirty="0"/>
          </a:p>
        </p:txBody>
      </p:sp>
      <p:sp>
        <p:nvSpPr>
          <p:cNvPr id="12" name="Shape 10"/>
          <p:cNvSpPr/>
          <p:nvPr/>
        </p:nvSpPr>
        <p:spPr>
          <a:xfrm>
            <a:off x="850392" y="3530945"/>
            <a:ext cx="64008" cy="64008"/>
          </a:xfrm>
          <a:prstGeom prst="ellipse">
            <a:avLst/>
          </a:prstGeom>
          <a:solidFill>
            <a:srgbClr val="0F766E"/>
          </a:solidFill>
          <a:ln/>
        </p:spPr>
      </p:sp>
      <p:sp>
        <p:nvSpPr>
          <p:cNvPr id="13" name="Text 11"/>
          <p:cNvSpPr txBox="1"/>
          <p:nvPr/>
        </p:nvSpPr>
        <p:spPr>
          <a:xfrm>
            <a:off x="1005840" y="345719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laryngostenosis (laringostenoz)</a:t>
            </a:r>
            <a:r>
              <a:rPr lang="en-US" sz="1400" dirty="0">
                <a:solidFill>
                  <a:srgbClr val="4B5563"/>
                </a:solidFill>
                <a:latin typeface="Calibri" pitchFamily="34" charset="0"/>
                <a:ea typeface="Calibri" pitchFamily="34" charset="-122"/>
                <a:cs typeface="Calibri" pitchFamily="34" charset="-120"/>
              </a:rPr>
              <a:t>: Gırtlağın daralması</a:t>
            </a:r>
            <a:endParaRPr lang="en-US" sz="1400" dirty="0"/>
          </a:p>
        </p:txBody>
      </p:sp>
      <p:sp>
        <p:nvSpPr>
          <p:cNvPr id="14" name="Shape 12"/>
          <p:cNvSpPr/>
          <p:nvPr/>
        </p:nvSpPr>
        <p:spPr>
          <a:xfrm>
            <a:off x="850392" y="3784437"/>
            <a:ext cx="64008" cy="64008"/>
          </a:xfrm>
          <a:prstGeom prst="ellipse">
            <a:avLst/>
          </a:prstGeom>
          <a:solidFill>
            <a:srgbClr val="0F766E"/>
          </a:solidFill>
          <a:ln/>
        </p:spPr>
      </p:sp>
      <p:sp>
        <p:nvSpPr>
          <p:cNvPr id="15" name="Text 13"/>
          <p:cNvSpPr txBox="1"/>
          <p:nvPr/>
        </p:nvSpPr>
        <p:spPr>
          <a:xfrm>
            <a:off x="1005840" y="371068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laryngoscopy (laringoskopi)</a:t>
            </a:r>
            <a:r>
              <a:rPr lang="en-US" sz="1400" dirty="0">
                <a:solidFill>
                  <a:srgbClr val="4B5563"/>
                </a:solidFill>
                <a:latin typeface="Calibri" pitchFamily="34" charset="0"/>
                <a:ea typeface="Calibri" pitchFamily="34" charset="-122"/>
                <a:cs typeface="Calibri" pitchFamily="34" charset="-120"/>
              </a:rPr>
              <a:t>: Gırlağın laringoskop ile incelenmesi</a:t>
            </a:r>
            <a:endParaRPr lang="en-US" sz="1400" dirty="0"/>
          </a:p>
        </p:txBody>
      </p:sp>
      <p:sp>
        <p:nvSpPr>
          <p:cNvPr id="16" name="Shape 14"/>
          <p:cNvSpPr/>
          <p:nvPr/>
        </p:nvSpPr>
        <p:spPr>
          <a:xfrm>
            <a:off x="548640" y="4409694"/>
            <a:ext cx="5410048" cy="1899666"/>
          </a:xfrm>
          <a:prstGeom prst="roundRect">
            <a:avLst>
              <a:gd name="adj" fmla="val 3369"/>
            </a:avLst>
          </a:prstGeom>
          <a:solidFill>
            <a:srgbClr val="EAF6F4"/>
          </a:solidFill>
          <a:ln/>
        </p:spPr>
      </p:sp>
      <p:sp>
        <p:nvSpPr>
          <p:cNvPr id="17" name="Text 15"/>
          <p:cNvSpPr txBox="1"/>
          <p:nvPr/>
        </p:nvSpPr>
        <p:spPr>
          <a:xfrm>
            <a:off x="731520" y="447370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8" name="Shape 16"/>
          <p:cNvSpPr/>
          <p:nvPr/>
        </p:nvSpPr>
        <p:spPr>
          <a:xfrm>
            <a:off x="850392" y="4798151"/>
            <a:ext cx="64008" cy="64008"/>
          </a:xfrm>
          <a:prstGeom prst="ellipse">
            <a:avLst/>
          </a:prstGeom>
          <a:solidFill>
            <a:srgbClr val="0F766E"/>
          </a:solidFill>
          <a:ln/>
        </p:spPr>
      </p:sp>
      <p:sp>
        <p:nvSpPr>
          <p:cNvPr id="19" name="Text 17"/>
          <p:cNvSpPr txBox="1"/>
          <p:nvPr/>
        </p:nvSpPr>
        <p:spPr>
          <a:xfrm>
            <a:off x="1005840" y="47244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trache (o) (G) (trake, trakeo)</a:t>
            </a:r>
            <a:r>
              <a:rPr lang="en-US" sz="1400" dirty="0">
                <a:solidFill>
                  <a:srgbClr val="4B5563"/>
                </a:solidFill>
                <a:latin typeface="Calibri" pitchFamily="34" charset="0"/>
                <a:ea typeface="Calibri" pitchFamily="34" charset="-122"/>
                <a:cs typeface="Calibri" pitchFamily="34" charset="-120"/>
              </a:rPr>
              <a:t>: Soluk borusu</a:t>
            </a:r>
            <a:endParaRPr lang="en-US" sz="1400" dirty="0"/>
          </a:p>
        </p:txBody>
      </p:sp>
      <p:sp>
        <p:nvSpPr>
          <p:cNvPr id="20" name="Shape 18"/>
          <p:cNvSpPr/>
          <p:nvPr/>
        </p:nvSpPr>
        <p:spPr>
          <a:xfrm>
            <a:off x="850392" y="5051643"/>
            <a:ext cx="64008" cy="64008"/>
          </a:xfrm>
          <a:prstGeom prst="ellipse">
            <a:avLst/>
          </a:prstGeom>
          <a:solidFill>
            <a:srgbClr val="0F766E"/>
          </a:solidFill>
          <a:ln/>
        </p:spPr>
      </p:sp>
      <p:sp>
        <p:nvSpPr>
          <p:cNvPr id="21" name="Text 19"/>
          <p:cNvSpPr txBox="1"/>
          <p:nvPr/>
        </p:nvSpPr>
        <p:spPr>
          <a:xfrm>
            <a:off x="1005840" y="49778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trachealgia (tarakealji)</a:t>
            </a:r>
            <a:r>
              <a:rPr lang="en-US" sz="1400" dirty="0">
                <a:solidFill>
                  <a:srgbClr val="4B5563"/>
                </a:solidFill>
                <a:latin typeface="Calibri" pitchFamily="34" charset="0"/>
                <a:ea typeface="Calibri" pitchFamily="34" charset="-122"/>
                <a:cs typeface="Calibri" pitchFamily="34" charset="-120"/>
              </a:rPr>
              <a:t>: Soluk borusunda hissedilen ağrı</a:t>
            </a:r>
            <a:endParaRPr lang="en-US" sz="1400" dirty="0"/>
          </a:p>
        </p:txBody>
      </p:sp>
      <p:sp>
        <p:nvSpPr>
          <p:cNvPr id="22" name="Shape 20"/>
          <p:cNvSpPr/>
          <p:nvPr/>
        </p:nvSpPr>
        <p:spPr>
          <a:xfrm>
            <a:off x="850392" y="5522051"/>
            <a:ext cx="64008" cy="64008"/>
          </a:xfrm>
          <a:prstGeom prst="ellipse">
            <a:avLst/>
          </a:prstGeom>
          <a:solidFill>
            <a:srgbClr val="0F766E"/>
          </a:solidFill>
          <a:ln/>
        </p:spPr>
      </p:sp>
      <p:sp>
        <p:nvSpPr>
          <p:cNvPr id="23" name="Text 21"/>
          <p:cNvSpPr txBox="1"/>
          <p:nvPr/>
        </p:nvSpPr>
        <p:spPr>
          <a:xfrm>
            <a:off x="1005840"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tracheitis (trakeit)</a:t>
            </a:r>
            <a:r>
              <a:rPr lang="en-US" sz="1400" dirty="0">
                <a:solidFill>
                  <a:srgbClr val="4B5563"/>
                </a:solidFill>
                <a:latin typeface="Calibri" pitchFamily="34" charset="0"/>
                <a:ea typeface="Calibri" pitchFamily="34" charset="-122"/>
                <a:cs typeface="Calibri" pitchFamily="34" charset="-120"/>
              </a:rPr>
              <a:t>: Soluk borusu iltihabı</a:t>
            </a:r>
            <a:endParaRPr lang="en-US" sz="1400" dirty="0"/>
          </a:p>
        </p:txBody>
      </p:sp>
      <p:sp>
        <p:nvSpPr>
          <p:cNvPr id="24" name="Shape 22"/>
          <p:cNvSpPr/>
          <p:nvPr/>
        </p:nvSpPr>
        <p:spPr>
          <a:xfrm>
            <a:off x="850392" y="5775543"/>
            <a:ext cx="64008" cy="64008"/>
          </a:xfrm>
          <a:prstGeom prst="ellipse">
            <a:avLst/>
          </a:prstGeom>
          <a:solidFill>
            <a:srgbClr val="0F766E"/>
          </a:solidFill>
          <a:ln/>
        </p:spPr>
      </p:sp>
      <p:sp>
        <p:nvSpPr>
          <p:cNvPr id="25" name="Text 23"/>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tracheoscope (trakeoskop)</a:t>
            </a:r>
            <a:r>
              <a:rPr lang="en-US" sz="1400" dirty="0">
                <a:solidFill>
                  <a:srgbClr val="4B5563"/>
                </a:solidFill>
                <a:latin typeface="Calibri" pitchFamily="34" charset="0"/>
                <a:ea typeface="Calibri" pitchFamily="34" charset="-122"/>
                <a:cs typeface="Calibri" pitchFamily="34" charset="-120"/>
              </a:rPr>
              <a:t>: Soluk borusunu muayenesinde kullanılan alet</a:t>
            </a:r>
            <a:endParaRPr lang="en-US" sz="1400" dirty="0"/>
          </a:p>
        </p:txBody>
      </p:sp>
      <p:sp>
        <p:nvSpPr>
          <p:cNvPr id="26" name="Shape 24"/>
          <p:cNvSpPr/>
          <p:nvPr/>
        </p:nvSpPr>
        <p:spPr>
          <a:xfrm>
            <a:off x="6233008" y="2635504"/>
            <a:ext cx="5410048" cy="1863090"/>
          </a:xfrm>
          <a:prstGeom prst="roundRect">
            <a:avLst>
              <a:gd name="adj" fmla="val 3436"/>
            </a:avLst>
          </a:prstGeom>
          <a:solidFill>
            <a:srgbClr val="EAF6F4"/>
          </a:solidFill>
          <a:ln/>
        </p:spPr>
      </p:sp>
      <p:sp>
        <p:nvSpPr>
          <p:cNvPr id="27" name="Text 25"/>
          <p:cNvSpPr txBox="1"/>
          <p:nvPr/>
        </p:nvSpPr>
        <p:spPr>
          <a:xfrm>
            <a:off x="6415888" y="269951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28" name="Shape 26"/>
          <p:cNvSpPr/>
          <p:nvPr/>
        </p:nvSpPr>
        <p:spPr>
          <a:xfrm>
            <a:off x="6534760" y="3023961"/>
            <a:ext cx="64008" cy="64008"/>
          </a:xfrm>
          <a:prstGeom prst="ellipse">
            <a:avLst/>
          </a:prstGeom>
          <a:solidFill>
            <a:srgbClr val="0F766E"/>
          </a:solidFill>
          <a:ln/>
        </p:spPr>
      </p:sp>
      <p:sp>
        <p:nvSpPr>
          <p:cNvPr id="29" name="Text 27"/>
          <p:cNvSpPr txBox="1"/>
          <p:nvPr/>
        </p:nvSpPr>
        <p:spPr>
          <a:xfrm>
            <a:off x="6690208" y="295021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bronch (o), bronch (i) (L) (ronk, bronko, bronki)</a:t>
            </a:r>
            <a:r>
              <a:rPr lang="en-US" sz="1400" dirty="0">
                <a:solidFill>
                  <a:srgbClr val="4B5563"/>
                </a:solidFill>
                <a:latin typeface="Calibri" pitchFamily="34" charset="0"/>
                <a:ea typeface="Calibri" pitchFamily="34" charset="-122"/>
                <a:cs typeface="Calibri" pitchFamily="34" charset="-120"/>
              </a:rPr>
              <a:t>: Bronş</a:t>
            </a:r>
            <a:endParaRPr lang="en-US" sz="1400" dirty="0"/>
          </a:p>
        </p:txBody>
      </p:sp>
      <p:sp>
        <p:nvSpPr>
          <p:cNvPr id="30" name="Shape 28"/>
          <p:cNvSpPr/>
          <p:nvPr/>
        </p:nvSpPr>
        <p:spPr>
          <a:xfrm>
            <a:off x="6534760" y="3494369"/>
            <a:ext cx="64008" cy="64008"/>
          </a:xfrm>
          <a:prstGeom prst="ellipse">
            <a:avLst/>
          </a:prstGeom>
          <a:solidFill>
            <a:srgbClr val="0F766E"/>
          </a:solidFill>
          <a:ln/>
        </p:spPr>
      </p:sp>
      <p:sp>
        <p:nvSpPr>
          <p:cNvPr id="31" name="Text 29"/>
          <p:cNvSpPr txBox="1"/>
          <p:nvPr/>
        </p:nvSpPr>
        <p:spPr>
          <a:xfrm>
            <a:off x="6690208" y="342061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bronchiostenosis (bronkyostenoz)</a:t>
            </a:r>
            <a:r>
              <a:rPr lang="en-US" sz="1400" dirty="0">
                <a:solidFill>
                  <a:srgbClr val="4B5563"/>
                </a:solidFill>
                <a:latin typeface="Calibri" pitchFamily="34" charset="0"/>
                <a:ea typeface="Calibri" pitchFamily="34" charset="-122"/>
                <a:cs typeface="Calibri" pitchFamily="34" charset="-120"/>
              </a:rPr>
              <a:t>: Bronş lümenlerinin ileri derecede daralıp büzüşmesi</a:t>
            </a:r>
            <a:endParaRPr lang="en-US" sz="1400" dirty="0"/>
          </a:p>
        </p:txBody>
      </p:sp>
      <p:sp>
        <p:nvSpPr>
          <p:cNvPr id="32" name="Shape 30"/>
          <p:cNvSpPr/>
          <p:nvPr/>
        </p:nvSpPr>
        <p:spPr>
          <a:xfrm>
            <a:off x="6534760" y="3964777"/>
            <a:ext cx="64008" cy="64008"/>
          </a:xfrm>
          <a:prstGeom prst="ellipse">
            <a:avLst/>
          </a:prstGeom>
          <a:solidFill>
            <a:srgbClr val="0F766E"/>
          </a:solidFill>
          <a:ln/>
        </p:spPr>
      </p:sp>
      <p:sp>
        <p:nvSpPr>
          <p:cNvPr id="33" name="Text 31"/>
          <p:cNvSpPr txBox="1"/>
          <p:nvPr/>
        </p:nvSpPr>
        <p:spPr>
          <a:xfrm>
            <a:off x="6690208" y="389102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bronchodilatation (bronkodilatasyon)</a:t>
            </a:r>
            <a:r>
              <a:rPr lang="en-US" sz="1400" dirty="0">
                <a:solidFill>
                  <a:srgbClr val="4B5563"/>
                </a:solidFill>
                <a:latin typeface="Calibri" pitchFamily="34" charset="0"/>
                <a:ea typeface="Calibri" pitchFamily="34" charset="-122"/>
                <a:cs typeface="Calibri" pitchFamily="34" charset="-120"/>
              </a:rPr>
              <a:t>: Bronş lümeninin genişlemesi</a:t>
            </a:r>
            <a:endParaRPr lang="en-US" sz="1400" dirty="0"/>
          </a:p>
        </p:txBody>
      </p:sp>
      <p:sp>
        <p:nvSpPr>
          <p:cNvPr id="34" name="Shape 32"/>
          <p:cNvSpPr/>
          <p:nvPr/>
        </p:nvSpPr>
        <p:spPr>
          <a:xfrm>
            <a:off x="6233008" y="4590034"/>
            <a:ext cx="5410048" cy="1429258"/>
          </a:xfrm>
          <a:prstGeom prst="roundRect">
            <a:avLst>
              <a:gd name="adj" fmla="val 4478"/>
            </a:avLst>
          </a:prstGeom>
          <a:solidFill>
            <a:srgbClr val="EAF6F4"/>
          </a:solidFill>
          <a:ln/>
        </p:spPr>
      </p:sp>
      <p:sp>
        <p:nvSpPr>
          <p:cNvPr id="35" name="Text 33"/>
          <p:cNvSpPr txBox="1"/>
          <p:nvPr/>
        </p:nvSpPr>
        <p:spPr>
          <a:xfrm>
            <a:off x="6415888" y="465404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36" name="Shape 34"/>
          <p:cNvSpPr/>
          <p:nvPr/>
        </p:nvSpPr>
        <p:spPr>
          <a:xfrm>
            <a:off x="6534760" y="4978491"/>
            <a:ext cx="64008" cy="64008"/>
          </a:xfrm>
          <a:prstGeom prst="ellipse">
            <a:avLst/>
          </a:prstGeom>
          <a:solidFill>
            <a:srgbClr val="0F766E"/>
          </a:solidFill>
          <a:ln/>
        </p:spPr>
      </p:sp>
      <p:sp>
        <p:nvSpPr>
          <p:cNvPr id="37" name="Text 35"/>
          <p:cNvSpPr txBox="1"/>
          <p:nvPr/>
        </p:nvSpPr>
        <p:spPr>
          <a:xfrm>
            <a:off x="6690208" y="490474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pulmo (n) (L) (pulmo, pulmon)</a:t>
            </a:r>
            <a:r>
              <a:rPr lang="en-US" sz="1400" dirty="0">
                <a:solidFill>
                  <a:srgbClr val="4B5563"/>
                </a:solidFill>
                <a:latin typeface="Calibri" pitchFamily="34" charset="0"/>
                <a:ea typeface="Calibri" pitchFamily="34" charset="-122"/>
                <a:cs typeface="Calibri" pitchFamily="34" charset="-120"/>
              </a:rPr>
              <a:t>: Akciğer</a:t>
            </a:r>
            <a:endParaRPr lang="en-US" sz="1400" dirty="0"/>
          </a:p>
        </p:txBody>
      </p:sp>
      <p:sp>
        <p:nvSpPr>
          <p:cNvPr id="38" name="Shape 36"/>
          <p:cNvSpPr/>
          <p:nvPr/>
        </p:nvSpPr>
        <p:spPr>
          <a:xfrm>
            <a:off x="6534760" y="5231983"/>
            <a:ext cx="64008" cy="64008"/>
          </a:xfrm>
          <a:prstGeom prst="ellipse">
            <a:avLst/>
          </a:prstGeom>
          <a:solidFill>
            <a:srgbClr val="0F766E"/>
          </a:solidFill>
          <a:ln/>
        </p:spPr>
      </p:sp>
      <p:sp>
        <p:nvSpPr>
          <p:cNvPr id="39" name="Text 37"/>
          <p:cNvSpPr txBox="1"/>
          <p:nvPr/>
        </p:nvSpPr>
        <p:spPr>
          <a:xfrm>
            <a:off x="6690208" y="51582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pulmonitis (pulmonit)</a:t>
            </a:r>
            <a:r>
              <a:rPr lang="en-US" sz="1400" dirty="0">
                <a:solidFill>
                  <a:srgbClr val="4B5563"/>
                </a:solidFill>
                <a:latin typeface="Calibri" pitchFamily="34" charset="0"/>
                <a:ea typeface="Calibri" pitchFamily="34" charset="-122"/>
                <a:cs typeface="Calibri" pitchFamily="34" charset="-120"/>
              </a:rPr>
              <a:t>: Akciğer iltihabı</a:t>
            </a:r>
            <a:endParaRPr lang="en-US" sz="1400" dirty="0"/>
          </a:p>
        </p:txBody>
      </p:sp>
      <p:sp>
        <p:nvSpPr>
          <p:cNvPr id="40" name="Shape 38"/>
          <p:cNvSpPr/>
          <p:nvPr/>
        </p:nvSpPr>
        <p:spPr>
          <a:xfrm>
            <a:off x="6534760" y="5485475"/>
            <a:ext cx="64008" cy="64008"/>
          </a:xfrm>
          <a:prstGeom prst="ellipse">
            <a:avLst/>
          </a:prstGeom>
          <a:solidFill>
            <a:srgbClr val="0F766E"/>
          </a:solidFill>
          <a:ln/>
        </p:spPr>
      </p:sp>
      <p:sp>
        <p:nvSpPr>
          <p:cNvPr id="41" name="Text 39"/>
          <p:cNvSpPr txBox="1"/>
          <p:nvPr/>
        </p:nvSpPr>
        <p:spPr>
          <a:xfrm>
            <a:off x="6690208" y="541172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pulmogastric (pulmogastrik)</a:t>
            </a:r>
            <a:r>
              <a:rPr lang="en-US" sz="1400" dirty="0">
                <a:solidFill>
                  <a:srgbClr val="4B5563"/>
                </a:solidFill>
                <a:latin typeface="Calibri" pitchFamily="34" charset="0"/>
                <a:ea typeface="Calibri" pitchFamily="34" charset="-122"/>
                <a:cs typeface="Calibri" pitchFamily="34" charset="-120"/>
              </a:rPr>
              <a:t>: Akciğer ve mideyle ilgili</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Sindirim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44</a:t>
            </a:r>
            <a:endParaRPr lang="en-US" sz="1000" dirty="0"/>
          </a:p>
        </p:txBody>
      </p:sp>
      <p:sp>
        <p:nvSpPr>
          <p:cNvPr id="6" name="Shape 4"/>
          <p:cNvSpPr/>
          <p:nvPr/>
        </p:nvSpPr>
        <p:spPr>
          <a:xfrm>
            <a:off x="548640" y="1621790"/>
            <a:ext cx="5410048" cy="1429258"/>
          </a:xfrm>
          <a:prstGeom prst="roundRect">
            <a:avLst>
              <a:gd name="adj" fmla="val 4478"/>
            </a:avLst>
          </a:prstGeom>
          <a:solidFill>
            <a:srgbClr val="EAF6F4"/>
          </a:solidFill>
          <a:ln/>
        </p:spPr>
      </p:sp>
      <p:sp>
        <p:nvSpPr>
          <p:cNvPr id="7" name="Text 5"/>
          <p:cNvSpPr txBox="1"/>
          <p:nvPr/>
        </p:nvSpPr>
        <p:spPr>
          <a:xfrm>
            <a:off x="731520" y="168579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2010247"/>
            <a:ext cx="64008" cy="64008"/>
          </a:xfrm>
          <a:prstGeom prst="ellipse">
            <a:avLst/>
          </a:prstGeom>
          <a:solidFill>
            <a:srgbClr val="0F766E"/>
          </a:solidFill>
          <a:ln/>
        </p:spPr>
      </p:sp>
      <p:sp>
        <p:nvSpPr>
          <p:cNvPr id="9" name="Text 7"/>
          <p:cNvSpPr txBox="1"/>
          <p:nvPr/>
        </p:nvSpPr>
        <p:spPr>
          <a:xfrm>
            <a:off x="1005840" y="193649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pharyng (o) (G) (faring, faringo)</a:t>
            </a:r>
            <a:r>
              <a:rPr lang="en-US" sz="1400" dirty="0">
                <a:solidFill>
                  <a:srgbClr val="4B5563"/>
                </a:solidFill>
                <a:latin typeface="Calibri" pitchFamily="34" charset="0"/>
                <a:ea typeface="Calibri" pitchFamily="34" charset="-122"/>
                <a:cs typeface="Calibri" pitchFamily="34" charset="-120"/>
              </a:rPr>
              <a:t>: Yutak, boğaz</a:t>
            </a:r>
            <a:endParaRPr lang="en-US" sz="1400" dirty="0"/>
          </a:p>
        </p:txBody>
      </p:sp>
      <p:sp>
        <p:nvSpPr>
          <p:cNvPr id="10" name="Shape 8"/>
          <p:cNvSpPr/>
          <p:nvPr/>
        </p:nvSpPr>
        <p:spPr>
          <a:xfrm>
            <a:off x="850392" y="2263739"/>
            <a:ext cx="64008" cy="64008"/>
          </a:xfrm>
          <a:prstGeom prst="ellipse">
            <a:avLst/>
          </a:prstGeom>
          <a:solidFill>
            <a:srgbClr val="0F766E"/>
          </a:solidFill>
          <a:ln/>
        </p:spPr>
      </p:sp>
      <p:sp>
        <p:nvSpPr>
          <p:cNvPr id="11" name="Text 9"/>
          <p:cNvSpPr txBox="1"/>
          <p:nvPr/>
        </p:nvSpPr>
        <p:spPr>
          <a:xfrm>
            <a:off x="1005840" y="218998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pharyngectomy (faringektomi)</a:t>
            </a:r>
            <a:r>
              <a:rPr lang="en-US" sz="1400" dirty="0">
                <a:solidFill>
                  <a:srgbClr val="4B5563"/>
                </a:solidFill>
                <a:latin typeface="Calibri" pitchFamily="34" charset="0"/>
                <a:ea typeface="Calibri" pitchFamily="34" charset="-122"/>
                <a:cs typeface="Calibri" pitchFamily="34" charset="-120"/>
              </a:rPr>
              <a:t>: Yutağın ameliyatla çıkarılması</a:t>
            </a:r>
            <a:endParaRPr lang="en-US" sz="1400" dirty="0"/>
          </a:p>
        </p:txBody>
      </p:sp>
      <p:sp>
        <p:nvSpPr>
          <p:cNvPr id="12" name="Shape 10"/>
          <p:cNvSpPr/>
          <p:nvPr/>
        </p:nvSpPr>
        <p:spPr>
          <a:xfrm>
            <a:off x="850392" y="2734147"/>
            <a:ext cx="64008" cy="64008"/>
          </a:xfrm>
          <a:prstGeom prst="ellipse">
            <a:avLst/>
          </a:prstGeom>
          <a:solidFill>
            <a:srgbClr val="0F766E"/>
          </a:solidFill>
          <a:ln/>
        </p:spPr>
      </p:sp>
      <p:sp>
        <p:nvSpPr>
          <p:cNvPr id="13" name="Text 11"/>
          <p:cNvSpPr txBox="1"/>
          <p:nvPr/>
        </p:nvSpPr>
        <p:spPr>
          <a:xfrm>
            <a:off x="1005840" y="266039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pharyngonasal (faringonazal)</a:t>
            </a:r>
            <a:r>
              <a:rPr lang="en-US" sz="1400" dirty="0">
                <a:solidFill>
                  <a:srgbClr val="4B5563"/>
                </a:solidFill>
                <a:latin typeface="Calibri" pitchFamily="34" charset="0"/>
                <a:ea typeface="Calibri" pitchFamily="34" charset="-122"/>
                <a:cs typeface="Calibri" pitchFamily="34" charset="-120"/>
              </a:rPr>
              <a:t>: Boğaz ve burunla ilgili</a:t>
            </a:r>
            <a:endParaRPr lang="en-US" sz="1400" dirty="0"/>
          </a:p>
        </p:txBody>
      </p:sp>
      <p:sp>
        <p:nvSpPr>
          <p:cNvPr id="14" name="Shape 12"/>
          <p:cNvSpPr/>
          <p:nvPr/>
        </p:nvSpPr>
        <p:spPr>
          <a:xfrm>
            <a:off x="548640" y="3142488"/>
            <a:ext cx="5410048" cy="1429258"/>
          </a:xfrm>
          <a:prstGeom prst="roundRect">
            <a:avLst>
              <a:gd name="adj" fmla="val 4478"/>
            </a:avLst>
          </a:prstGeom>
          <a:solidFill>
            <a:srgbClr val="EAF6F4"/>
          </a:solidFill>
          <a:ln/>
        </p:spPr>
      </p:sp>
      <p:sp>
        <p:nvSpPr>
          <p:cNvPr id="15" name="Text 13"/>
          <p:cNvSpPr txBox="1"/>
          <p:nvPr/>
        </p:nvSpPr>
        <p:spPr>
          <a:xfrm>
            <a:off x="731520" y="320649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6" name="Shape 14"/>
          <p:cNvSpPr/>
          <p:nvPr/>
        </p:nvSpPr>
        <p:spPr>
          <a:xfrm>
            <a:off x="850392" y="3530945"/>
            <a:ext cx="64008" cy="64008"/>
          </a:xfrm>
          <a:prstGeom prst="ellipse">
            <a:avLst/>
          </a:prstGeom>
          <a:solidFill>
            <a:srgbClr val="0F766E"/>
          </a:solidFill>
          <a:ln/>
        </p:spPr>
      </p:sp>
      <p:sp>
        <p:nvSpPr>
          <p:cNvPr id="17" name="Text 15"/>
          <p:cNvSpPr txBox="1"/>
          <p:nvPr/>
        </p:nvSpPr>
        <p:spPr>
          <a:xfrm>
            <a:off x="1005840" y="345719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oesophag (o) (özogag, özofago)</a:t>
            </a:r>
            <a:r>
              <a:rPr lang="en-US" sz="1400" dirty="0">
                <a:solidFill>
                  <a:srgbClr val="4B5563"/>
                </a:solidFill>
                <a:latin typeface="Calibri" pitchFamily="34" charset="0"/>
                <a:ea typeface="Calibri" pitchFamily="34" charset="-122"/>
                <a:cs typeface="Calibri" pitchFamily="34" charset="-120"/>
              </a:rPr>
              <a:t>: Yemek borusu</a:t>
            </a:r>
            <a:endParaRPr lang="en-US" sz="1400" dirty="0"/>
          </a:p>
        </p:txBody>
      </p:sp>
      <p:sp>
        <p:nvSpPr>
          <p:cNvPr id="18" name="Shape 16"/>
          <p:cNvSpPr/>
          <p:nvPr/>
        </p:nvSpPr>
        <p:spPr>
          <a:xfrm>
            <a:off x="850392" y="3784437"/>
            <a:ext cx="64008" cy="64008"/>
          </a:xfrm>
          <a:prstGeom prst="ellipse">
            <a:avLst/>
          </a:prstGeom>
          <a:solidFill>
            <a:srgbClr val="0F766E"/>
          </a:solidFill>
          <a:ln/>
        </p:spPr>
      </p:sp>
      <p:sp>
        <p:nvSpPr>
          <p:cNvPr id="19" name="Text 17"/>
          <p:cNvSpPr txBox="1"/>
          <p:nvPr/>
        </p:nvSpPr>
        <p:spPr>
          <a:xfrm>
            <a:off x="1005840" y="371068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oesophagitis (özofagit)</a:t>
            </a:r>
            <a:r>
              <a:rPr lang="en-US" sz="1400" dirty="0">
                <a:solidFill>
                  <a:srgbClr val="4B5563"/>
                </a:solidFill>
                <a:latin typeface="Calibri" pitchFamily="34" charset="0"/>
                <a:ea typeface="Calibri" pitchFamily="34" charset="-122"/>
                <a:cs typeface="Calibri" pitchFamily="34" charset="-120"/>
              </a:rPr>
              <a:t>: Yemek borusu iltihabı</a:t>
            </a:r>
            <a:endParaRPr lang="en-US" sz="1400" dirty="0"/>
          </a:p>
        </p:txBody>
      </p:sp>
      <p:sp>
        <p:nvSpPr>
          <p:cNvPr id="20" name="Shape 18"/>
          <p:cNvSpPr/>
          <p:nvPr/>
        </p:nvSpPr>
        <p:spPr>
          <a:xfrm>
            <a:off x="850392" y="4037929"/>
            <a:ext cx="64008" cy="64008"/>
          </a:xfrm>
          <a:prstGeom prst="ellipse">
            <a:avLst/>
          </a:prstGeom>
          <a:solidFill>
            <a:srgbClr val="0F766E"/>
          </a:solidFill>
          <a:ln/>
        </p:spPr>
      </p:sp>
      <p:sp>
        <p:nvSpPr>
          <p:cNvPr id="21" name="Text 19"/>
          <p:cNvSpPr txBox="1"/>
          <p:nvPr/>
        </p:nvSpPr>
        <p:spPr>
          <a:xfrm>
            <a:off x="1005840" y="396417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oesophagoscopy (özofagoskopi)</a:t>
            </a:r>
            <a:r>
              <a:rPr lang="en-US" sz="1400" dirty="0">
                <a:solidFill>
                  <a:srgbClr val="4B5563"/>
                </a:solidFill>
                <a:latin typeface="Calibri" pitchFamily="34" charset="0"/>
                <a:ea typeface="Calibri" pitchFamily="34" charset="-122"/>
                <a:cs typeface="Calibri" pitchFamily="34" charset="-120"/>
              </a:rPr>
              <a:t>: Yemek borusunun incelenmesi</a:t>
            </a:r>
            <a:endParaRPr lang="en-US" sz="1400" dirty="0"/>
          </a:p>
        </p:txBody>
      </p:sp>
      <p:sp>
        <p:nvSpPr>
          <p:cNvPr id="22" name="Shape 20"/>
          <p:cNvSpPr/>
          <p:nvPr/>
        </p:nvSpPr>
        <p:spPr>
          <a:xfrm>
            <a:off x="548640" y="4663186"/>
            <a:ext cx="5410048" cy="1646174"/>
          </a:xfrm>
          <a:prstGeom prst="roundRect">
            <a:avLst>
              <a:gd name="adj" fmla="val 3888"/>
            </a:avLst>
          </a:prstGeom>
          <a:solidFill>
            <a:srgbClr val="EAF6F4"/>
          </a:solidFill>
          <a:ln/>
        </p:spPr>
      </p:sp>
      <p:sp>
        <p:nvSpPr>
          <p:cNvPr id="23" name="Text 21"/>
          <p:cNvSpPr txBox="1"/>
          <p:nvPr/>
        </p:nvSpPr>
        <p:spPr>
          <a:xfrm>
            <a:off x="731520" y="472719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24" name="Shape 22"/>
          <p:cNvSpPr/>
          <p:nvPr/>
        </p:nvSpPr>
        <p:spPr>
          <a:xfrm>
            <a:off x="850392" y="5051643"/>
            <a:ext cx="64008" cy="64008"/>
          </a:xfrm>
          <a:prstGeom prst="ellipse">
            <a:avLst/>
          </a:prstGeom>
          <a:solidFill>
            <a:srgbClr val="0F766E"/>
          </a:solidFill>
          <a:ln/>
        </p:spPr>
      </p:sp>
      <p:sp>
        <p:nvSpPr>
          <p:cNvPr id="25" name="Text 23"/>
          <p:cNvSpPr txBox="1"/>
          <p:nvPr/>
        </p:nvSpPr>
        <p:spPr>
          <a:xfrm>
            <a:off x="1005840" y="49778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 (o) (G) (gast, gastro)</a:t>
            </a:r>
            <a:r>
              <a:rPr lang="en-US" sz="1400" dirty="0">
                <a:solidFill>
                  <a:srgbClr val="4B5563"/>
                </a:solidFill>
                <a:latin typeface="Calibri" pitchFamily="34" charset="0"/>
                <a:ea typeface="Calibri" pitchFamily="34" charset="-122"/>
                <a:cs typeface="Calibri" pitchFamily="34" charset="-120"/>
              </a:rPr>
              <a:t>: Mide</a:t>
            </a:r>
            <a:endParaRPr lang="en-US" sz="1400" dirty="0"/>
          </a:p>
        </p:txBody>
      </p:sp>
      <p:sp>
        <p:nvSpPr>
          <p:cNvPr id="26" name="Shape 24"/>
          <p:cNvSpPr/>
          <p:nvPr/>
        </p:nvSpPr>
        <p:spPr>
          <a:xfrm>
            <a:off x="850392" y="5305135"/>
            <a:ext cx="64008" cy="64008"/>
          </a:xfrm>
          <a:prstGeom prst="ellipse">
            <a:avLst/>
          </a:prstGeom>
          <a:solidFill>
            <a:srgbClr val="0F766E"/>
          </a:solidFill>
          <a:ln/>
        </p:spPr>
      </p:sp>
      <p:sp>
        <p:nvSpPr>
          <p:cNvPr id="27" name="Text 25"/>
          <p:cNvSpPr txBox="1"/>
          <p:nvPr/>
        </p:nvSpPr>
        <p:spPr>
          <a:xfrm>
            <a:off x="1005840" y="523138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gastroduodenal (gastroduodenal)</a:t>
            </a:r>
            <a:r>
              <a:rPr lang="en-US" sz="1400" dirty="0">
                <a:solidFill>
                  <a:srgbClr val="4B5563"/>
                </a:solidFill>
                <a:latin typeface="Calibri" pitchFamily="34" charset="0"/>
                <a:ea typeface="Calibri" pitchFamily="34" charset="-122"/>
                <a:cs typeface="Calibri" pitchFamily="34" charset="-120"/>
              </a:rPr>
              <a:t>: Mide ve onikiparmak bağırsağıyla ilgli</a:t>
            </a:r>
            <a:endParaRPr lang="en-US" sz="1400" dirty="0"/>
          </a:p>
        </p:txBody>
      </p:sp>
      <p:sp>
        <p:nvSpPr>
          <p:cNvPr id="28" name="Shape 26"/>
          <p:cNvSpPr/>
          <p:nvPr/>
        </p:nvSpPr>
        <p:spPr>
          <a:xfrm>
            <a:off x="850392" y="5775543"/>
            <a:ext cx="64008" cy="64008"/>
          </a:xfrm>
          <a:prstGeom prst="ellipse">
            <a:avLst/>
          </a:prstGeom>
          <a:solidFill>
            <a:srgbClr val="0F766E"/>
          </a:solidFill>
          <a:ln/>
        </p:spPr>
      </p:sp>
      <p:sp>
        <p:nvSpPr>
          <p:cNvPr id="29" name="Text 27"/>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gastroscope (gastroskop)</a:t>
            </a:r>
            <a:r>
              <a:rPr lang="en-US" sz="1400" dirty="0">
                <a:solidFill>
                  <a:srgbClr val="4B5563"/>
                </a:solidFill>
                <a:latin typeface="Calibri" pitchFamily="34" charset="0"/>
                <a:ea typeface="Calibri" pitchFamily="34" charset="-122"/>
                <a:cs typeface="Calibri" pitchFamily="34" charset="-120"/>
              </a:rPr>
              <a:t>: Mide içini incelemede kullanılan alet</a:t>
            </a:r>
            <a:endParaRPr lang="en-US" sz="1400" dirty="0"/>
          </a:p>
        </p:txBody>
      </p:sp>
      <p:sp>
        <p:nvSpPr>
          <p:cNvPr id="30" name="Shape 28"/>
          <p:cNvSpPr/>
          <p:nvPr/>
        </p:nvSpPr>
        <p:spPr>
          <a:xfrm>
            <a:off x="6233008" y="1621790"/>
            <a:ext cx="5410048" cy="1429258"/>
          </a:xfrm>
          <a:prstGeom prst="roundRect">
            <a:avLst>
              <a:gd name="adj" fmla="val 4478"/>
            </a:avLst>
          </a:prstGeom>
          <a:solidFill>
            <a:srgbClr val="EAF6F4"/>
          </a:solidFill>
          <a:ln/>
        </p:spPr>
      </p:sp>
      <p:sp>
        <p:nvSpPr>
          <p:cNvPr id="31" name="Text 29"/>
          <p:cNvSpPr txBox="1"/>
          <p:nvPr/>
        </p:nvSpPr>
        <p:spPr>
          <a:xfrm>
            <a:off x="6415888" y="168579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32" name="Shape 30"/>
          <p:cNvSpPr/>
          <p:nvPr/>
        </p:nvSpPr>
        <p:spPr>
          <a:xfrm>
            <a:off x="6534760" y="2010247"/>
            <a:ext cx="64008" cy="64008"/>
          </a:xfrm>
          <a:prstGeom prst="ellipse">
            <a:avLst/>
          </a:prstGeom>
          <a:solidFill>
            <a:srgbClr val="0F766E"/>
          </a:solidFill>
          <a:ln/>
        </p:spPr>
      </p:sp>
      <p:sp>
        <p:nvSpPr>
          <p:cNvPr id="33" name="Text 31"/>
          <p:cNvSpPr txBox="1"/>
          <p:nvPr/>
        </p:nvSpPr>
        <p:spPr>
          <a:xfrm>
            <a:off x="6690208" y="193649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 (o) (G) (enter, entero)</a:t>
            </a:r>
            <a:r>
              <a:rPr lang="en-US" sz="1400" dirty="0">
                <a:solidFill>
                  <a:srgbClr val="4B5563"/>
                </a:solidFill>
                <a:latin typeface="Calibri" pitchFamily="34" charset="0"/>
                <a:ea typeface="Calibri" pitchFamily="34" charset="-122"/>
                <a:cs typeface="Calibri" pitchFamily="34" charset="-120"/>
              </a:rPr>
              <a:t>: Bağırsak</a:t>
            </a:r>
            <a:endParaRPr lang="en-US" sz="1400" dirty="0"/>
          </a:p>
        </p:txBody>
      </p:sp>
      <p:sp>
        <p:nvSpPr>
          <p:cNvPr id="34" name="Shape 32"/>
          <p:cNvSpPr/>
          <p:nvPr/>
        </p:nvSpPr>
        <p:spPr>
          <a:xfrm>
            <a:off x="6534760" y="2263739"/>
            <a:ext cx="64008" cy="64008"/>
          </a:xfrm>
          <a:prstGeom prst="ellipse">
            <a:avLst/>
          </a:prstGeom>
          <a:solidFill>
            <a:srgbClr val="0F766E"/>
          </a:solidFill>
          <a:ln/>
        </p:spPr>
      </p:sp>
      <p:sp>
        <p:nvSpPr>
          <p:cNvPr id="35" name="Text 33"/>
          <p:cNvSpPr txBox="1"/>
          <p:nvPr/>
        </p:nvSpPr>
        <p:spPr>
          <a:xfrm>
            <a:off x="6690208" y="218998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enteritis (enterit)</a:t>
            </a:r>
            <a:r>
              <a:rPr lang="en-US" sz="1400" dirty="0">
                <a:solidFill>
                  <a:srgbClr val="4B5563"/>
                </a:solidFill>
                <a:latin typeface="Calibri" pitchFamily="34" charset="0"/>
                <a:ea typeface="Calibri" pitchFamily="34" charset="-122"/>
                <a:cs typeface="Calibri" pitchFamily="34" charset="-120"/>
              </a:rPr>
              <a:t>: Bağırsak iltihabı</a:t>
            </a:r>
            <a:endParaRPr lang="en-US" sz="1400" dirty="0"/>
          </a:p>
        </p:txBody>
      </p:sp>
      <p:sp>
        <p:nvSpPr>
          <p:cNvPr id="36" name="Shape 34"/>
          <p:cNvSpPr/>
          <p:nvPr/>
        </p:nvSpPr>
        <p:spPr>
          <a:xfrm>
            <a:off x="6534760" y="2517231"/>
            <a:ext cx="64008" cy="64008"/>
          </a:xfrm>
          <a:prstGeom prst="ellipse">
            <a:avLst/>
          </a:prstGeom>
          <a:solidFill>
            <a:srgbClr val="0F766E"/>
          </a:solidFill>
          <a:ln/>
        </p:spPr>
      </p:sp>
      <p:sp>
        <p:nvSpPr>
          <p:cNvPr id="37" name="Text 35"/>
          <p:cNvSpPr txBox="1"/>
          <p:nvPr/>
        </p:nvSpPr>
        <p:spPr>
          <a:xfrm>
            <a:off x="6690208" y="244348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enterostenosis (enterostenoz)</a:t>
            </a:r>
            <a:r>
              <a:rPr lang="en-US" sz="1400" dirty="0">
                <a:solidFill>
                  <a:srgbClr val="4B5563"/>
                </a:solidFill>
                <a:latin typeface="Calibri" pitchFamily="34" charset="0"/>
                <a:ea typeface="Calibri" pitchFamily="34" charset="-122"/>
                <a:cs typeface="Calibri" pitchFamily="34" charset="-120"/>
              </a:rPr>
              <a:t>: Bağırsak kanalının daralması, tıkanması</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Sindirim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45</a:t>
            </a:r>
            <a:endParaRPr lang="en-US" sz="1000" dirty="0"/>
          </a:p>
        </p:txBody>
      </p:sp>
      <p:sp>
        <p:nvSpPr>
          <p:cNvPr id="6" name="Shape 4"/>
          <p:cNvSpPr/>
          <p:nvPr/>
        </p:nvSpPr>
        <p:spPr>
          <a:xfrm>
            <a:off x="548640" y="2201672"/>
            <a:ext cx="5410048" cy="1863090"/>
          </a:xfrm>
          <a:prstGeom prst="roundRect">
            <a:avLst>
              <a:gd name="adj" fmla="val 3436"/>
            </a:avLst>
          </a:prstGeom>
          <a:solidFill>
            <a:srgbClr val="EAF6F4"/>
          </a:solidFill>
          <a:ln/>
        </p:spPr>
      </p:sp>
      <p:sp>
        <p:nvSpPr>
          <p:cNvPr id="7" name="Text 5"/>
          <p:cNvSpPr txBox="1"/>
          <p:nvPr/>
        </p:nvSpPr>
        <p:spPr>
          <a:xfrm>
            <a:off x="731520" y="226568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  </a:t>
            </a:r>
            <a:endParaRPr lang="en-US" sz="1500" dirty="0"/>
          </a:p>
        </p:txBody>
      </p:sp>
      <p:sp>
        <p:nvSpPr>
          <p:cNvPr id="8" name="Shape 6"/>
          <p:cNvSpPr/>
          <p:nvPr/>
        </p:nvSpPr>
        <p:spPr>
          <a:xfrm>
            <a:off x="850392" y="2590129"/>
            <a:ext cx="64008" cy="64008"/>
          </a:xfrm>
          <a:prstGeom prst="ellipse">
            <a:avLst/>
          </a:prstGeom>
          <a:solidFill>
            <a:srgbClr val="0F766E"/>
          </a:solidFill>
          <a:ln/>
        </p:spPr>
      </p:sp>
      <p:sp>
        <p:nvSpPr>
          <p:cNvPr id="9" name="Text 7"/>
          <p:cNvSpPr txBox="1"/>
          <p:nvPr/>
        </p:nvSpPr>
        <p:spPr>
          <a:xfrm>
            <a:off x="1005840" y="251637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jejun (o) (L) (yeyun, yeyuno)</a:t>
            </a:r>
            <a:r>
              <a:rPr lang="en-US" sz="1400" dirty="0">
                <a:solidFill>
                  <a:srgbClr val="4B5563"/>
                </a:solidFill>
                <a:latin typeface="Calibri" pitchFamily="34" charset="0"/>
                <a:ea typeface="Calibri" pitchFamily="34" charset="-122"/>
                <a:cs typeface="Calibri" pitchFamily="34" charset="-120"/>
              </a:rPr>
              <a:t>: Yeyunum, boş bağırsak (ince bağırsağın ikinci kısmı</a:t>
            </a:r>
            <a:endParaRPr lang="en-US" sz="1400" dirty="0"/>
          </a:p>
        </p:txBody>
      </p:sp>
      <p:sp>
        <p:nvSpPr>
          <p:cNvPr id="10" name="Shape 8"/>
          <p:cNvSpPr/>
          <p:nvPr/>
        </p:nvSpPr>
        <p:spPr>
          <a:xfrm>
            <a:off x="850392" y="3060537"/>
            <a:ext cx="64008" cy="64008"/>
          </a:xfrm>
          <a:prstGeom prst="ellipse">
            <a:avLst/>
          </a:prstGeom>
          <a:solidFill>
            <a:srgbClr val="0F766E"/>
          </a:solidFill>
          <a:ln/>
        </p:spPr>
      </p:sp>
      <p:sp>
        <p:nvSpPr>
          <p:cNvPr id="11" name="Text 9"/>
          <p:cNvSpPr txBox="1"/>
          <p:nvPr/>
        </p:nvSpPr>
        <p:spPr>
          <a:xfrm>
            <a:off x="1005840" y="298678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jejunostomy (yeyunostomi)</a:t>
            </a:r>
            <a:r>
              <a:rPr lang="en-US" sz="1400" dirty="0">
                <a:solidFill>
                  <a:srgbClr val="4B5563"/>
                </a:solidFill>
                <a:latin typeface="Calibri" pitchFamily="34" charset="0"/>
                <a:ea typeface="Calibri" pitchFamily="34" charset="-122"/>
                <a:cs typeface="Calibri" pitchFamily="34" charset="-120"/>
              </a:rPr>
              <a:t>: Karın duvarı ile boş bağırsak arasında ameliyatla geçit oluşturma</a:t>
            </a:r>
            <a:endParaRPr lang="en-US" sz="1400" dirty="0"/>
          </a:p>
        </p:txBody>
      </p:sp>
      <p:sp>
        <p:nvSpPr>
          <p:cNvPr id="12" name="Shape 10"/>
          <p:cNvSpPr/>
          <p:nvPr/>
        </p:nvSpPr>
        <p:spPr>
          <a:xfrm>
            <a:off x="850392" y="3530945"/>
            <a:ext cx="64008" cy="64008"/>
          </a:xfrm>
          <a:prstGeom prst="ellipse">
            <a:avLst/>
          </a:prstGeom>
          <a:solidFill>
            <a:srgbClr val="0F766E"/>
          </a:solidFill>
          <a:ln/>
        </p:spPr>
      </p:sp>
      <p:sp>
        <p:nvSpPr>
          <p:cNvPr id="13" name="Text 11"/>
          <p:cNvSpPr txBox="1"/>
          <p:nvPr/>
        </p:nvSpPr>
        <p:spPr>
          <a:xfrm>
            <a:off x="1005840" y="345719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jejunoileitis (yeyunoileit)</a:t>
            </a:r>
            <a:r>
              <a:rPr lang="en-US" sz="1400" dirty="0">
                <a:solidFill>
                  <a:srgbClr val="4B5563"/>
                </a:solidFill>
                <a:latin typeface="Calibri" pitchFamily="34" charset="0"/>
                <a:ea typeface="Calibri" pitchFamily="34" charset="-122"/>
                <a:cs typeface="Calibri" pitchFamily="34" charset="-120"/>
              </a:rPr>
              <a:t>: Boş bağırsak ile kıvrım bağırsağın birlikte iltihabı</a:t>
            </a:r>
            <a:endParaRPr lang="en-US" sz="1400" dirty="0"/>
          </a:p>
        </p:txBody>
      </p:sp>
      <p:sp>
        <p:nvSpPr>
          <p:cNvPr id="14" name="Shape 12"/>
          <p:cNvSpPr/>
          <p:nvPr/>
        </p:nvSpPr>
        <p:spPr>
          <a:xfrm>
            <a:off x="548640" y="4156202"/>
            <a:ext cx="5410048" cy="1863090"/>
          </a:xfrm>
          <a:prstGeom prst="roundRect">
            <a:avLst>
              <a:gd name="adj" fmla="val 3436"/>
            </a:avLst>
          </a:prstGeom>
          <a:solidFill>
            <a:srgbClr val="EAF6F4"/>
          </a:solidFill>
          <a:ln/>
        </p:spPr>
      </p:sp>
      <p:sp>
        <p:nvSpPr>
          <p:cNvPr id="15" name="Text 13"/>
          <p:cNvSpPr txBox="1"/>
          <p:nvPr/>
        </p:nvSpPr>
        <p:spPr>
          <a:xfrm>
            <a:off x="731520" y="422021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6-  </a:t>
            </a:r>
            <a:endParaRPr lang="en-US" sz="1500" dirty="0"/>
          </a:p>
        </p:txBody>
      </p:sp>
      <p:sp>
        <p:nvSpPr>
          <p:cNvPr id="16" name="Shape 14"/>
          <p:cNvSpPr/>
          <p:nvPr/>
        </p:nvSpPr>
        <p:spPr>
          <a:xfrm>
            <a:off x="850392" y="4544659"/>
            <a:ext cx="64008" cy="64008"/>
          </a:xfrm>
          <a:prstGeom prst="ellipse">
            <a:avLst/>
          </a:prstGeom>
          <a:solidFill>
            <a:srgbClr val="0F766E"/>
          </a:solidFill>
          <a:ln/>
        </p:spPr>
      </p:sp>
      <p:sp>
        <p:nvSpPr>
          <p:cNvPr id="17" name="Text 15"/>
          <p:cNvSpPr txBox="1"/>
          <p:nvPr/>
        </p:nvSpPr>
        <p:spPr>
          <a:xfrm>
            <a:off x="1005840" y="447090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ile (o) (G) (ile, ileo)</a:t>
            </a:r>
            <a:r>
              <a:rPr lang="en-US" sz="1400" dirty="0">
                <a:solidFill>
                  <a:srgbClr val="4B5563"/>
                </a:solidFill>
                <a:latin typeface="Calibri" pitchFamily="34" charset="0"/>
                <a:ea typeface="Calibri" pitchFamily="34" charset="-122"/>
                <a:cs typeface="Calibri" pitchFamily="34" charset="-120"/>
              </a:rPr>
              <a:t>: İleum, kıvrım bağırsak (ince bağırsağın üçüncü parçası)</a:t>
            </a:r>
            <a:endParaRPr lang="en-US" sz="1400" dirty="0"/>
          </a:p>
        </p:txBody>
      </p:sp>
      <p:sp>
        <p:nvSpPr>
          <p:cNvPr id="18" name="Shape 16"/>
          <p:cNvSpPr/>
          <p:nvPr/>
        </p:nvSpPr>
        <p:spPr>
          <a:xfrm>
            <a:off x="850392" y="5015067"/>
            <a:ext cx="64008" cy="64008"/>
          </a:xfrm>
          <a:prstGeom prst="ellipse">
            <a:avLst/>
          </a:prstGeom>
          <a:solidFill>
            <a:srgbClr val="0F766E"/>
          </a:solidFill>
          <a:ln/>
        </p:spPr>
      </p:sp>
      <p:sp>
        <p:nvSpPr>
          <p:cNvPr id="19" name="Text 17"/>
          <p:cNvSpPr txBox="1"/>
          <p:nvPr/>
        </p:nvSpPr>
        <p:spPr>
          <a:xfrm>
            <a:off x="1005840" y="494131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ileectomy (ileektomi)</a:t>
            </a:r>
            <a:r>
              <a:rPr lang="en-US" sz="1400" dirty="0">
                <a:solidFill>
                  <a:srgbClr val="4B5563"/>
                </a:solidFill>
                <a:latin typeface="Calibri" pitchFamily="34" charset="0"/>
                <a:ea typeface="Calibri" pitchFamily="34" charset="-122"/>
                <a:cs typeface="Calibri" pitchFamily="34" charset="-120"/>
              </a:rPr>
              <a:t>: Kıvrım bağırsağın ameliyatla çıkarılması</a:t>
            </a:r>
            <a:endParaRPr lang="en-US" sz="1400" dirty="0"/>
          </a:p>
        </p:txBody>
      </p:sp>
      <p:sp>
        <p:nvSpPr>
          <p:cNvPr id="20" name="Shape 18"/>
          <p:cNvSpPr/>
          <p:nvPr/>
        </p:nvSpPr>
        <p:spPr>
          <a:xfrm>
            <a:off x="850392" y="5485475"/>
            <a:ext cx="64008" cy="64008"/>
          </a:xfrm>
          <a:prstGeom prst="ellipse">
            <a:avLst/>
          </a:prstGeom>
          <a:solidFill>
            <a:srgbClr val="0F766E"/>
          </a:solidFill>
          <a:ln/>
        </p:spPr>
      </p:sp>
      <p:sp>
        <p:nvSpPr>
          <p:cNvPr id="21" name="Text 19"/>
          <p:cNvSpPr txBox="1"/>
          <p:nvPr/>
        </p:nvSpPr>
        <p:spPr>
          <a:xfrm>
            <a:off x="1005840" y="541172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ileorectal (ileorektal)</a:t>
            </a:r>
            <a:r>
              <a:rPr lang="en-US" sz="1400" dirty="0">
                <a:solidFill>
                  <a:srgbClr val="4B5563"/>
                </a:solidFill>
                <a:latin typeface="Calibri" pitchFamily="34" charset="0"/>
                <a:ea typeface="Calibri" pitchFamily="34" charset="-122"/>
                <a:cs typeface="Calibri" pitchFamily="34" charset="-120"/>
              </a:rPr>
              <a:t>: Kıvrım ve düz bağırsak (rektum) ile ilgili</a:t>
            </a:r>
            <a:endParaRPr lang="en-US" sz="1400" dirty="0"/>
          </a:p>
        </p:txBody>
      </p:sp>
      <p:sp>
        <p:nvSpPr>
          <p:cNvPr id="22" name="Shape 20"/>
          <p:cNvSpPr/>
          <p:nvPr/>
        </p:nvSpPr>
        <p:spPr>
          <a:xfrm>
            <a:off x="6233008" y="2201672"/>
            <a:ext cx="5410048" cy="2333498"/>
          </a:xfrm>
          <a:prstGeom prst="roundRect">
            <a:avLst>
              <a:gd name="adj" fmla="val 2743"/>
            </a:avLst>
          </a:prstGeom>
          <a:solidFill>
            <a:srgbClr val="EAF6F4"/>
          </a:solidFill>
          <a:ln/>
        </p:spPr>
      </p:sp>
      <p:sp>
        <p:nvSpPr>
          <p:cNvPr id="23" name="Text 21"/>
          <p:cNvSpPr txBox="1"/>
          <p:nvPr/>
        </p:nvSpPr>
        <p:spPr>
          <a:xfrm>
            <a:off x="6415888" y="226568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7-  </a:t>
            </a:r>
            <a:endParaRPr lang="en-US" sz="1500" dirty="0"/>
          </a:p>
        </p:txBody>
      </p:sp>
      <p:sp>
        <p:nvSpPr>
          <p:cNvPr id="24" name="Shape 22"/>
          <p:cNvSpPr/>
          <p:nvPr/>
        </p:nvSpPr>
        <p:spPr>
          <a:xfrm>
            <a:off x="6534760" y="2590129"/>
            <a:ext cx="64008" cy="64008"/>
          </a:xfrm>
          <a:prstGeom prst="ellipse">
            <a:avLst/>
          </a:prstGeom>
          <a:solidFill>
            <a:srgbClr val="0F766E"/>
          </a:solidFill>
          <a:ln/>
        </p:spPr>
      </p:sp>
      <p:sp>
        <p:nvSpPr>
          <p:cNvPr id="25" name="Text 23"/>
          <p:cNvSpPr txBox="1"/>
          <p:nvPr/>
        </p:nvSpPr>
        <p:spPr>
          <a:xfrm>
            <a:off x="6690208" y="251637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appendic (o) (L) (apendik, apendiko)</a:t>
            </a:r>
            <a:r>
              <a:rPr lang="en-US" sz="1400" dirty="0">
                <a:solidFill>
                  <a:srgbClr val="4B5563"/>
                </a:solidFill>
                <a:latin typeface="Calibri" pitchFamily="34" charset="0"/>
                <a:ea typeface="Calibri" pitchFamily="34" charset="-122"/>
                <a:cs typeface="Calibri" pitchFamily="34" charset="-120"/>
              </a:rPr>
              <a:t>: Kör bağırsağın solucanımsı uzantısı</a:t>
            </a:r>
            <a:endParaRPr lang="en-US" sz="1400" dirty="0"/>
          </a:p>
        </p:txBody>
      </p:sp>
      <p:sp>
        <p:nvSpPr>
          <p:cNvPr id="26" name="Shape 24"/>
          <p:cNvSpPr/>
          <p:nvPr/>
        </p:nvSpPr>
        <p:spPr>
          <a:xfrm>
            <a:off x="6534760" y="3060537"/>
            <a:ext cx="64008" cy="64008"/>
          </a:xfrm>
          <a:prstGeom prst="ellipse">
            <a:avLst/>
          </a:prstGeom>
          <a:solidFill>
            <a:srgbClr val="0F766E"/>
          </a:solidFill>
          <a:ln/>
        </p:spPr>
      </p:sp>
      <p:sp>
        <p:nvSpPr>
          <p:cNvPr id="27" name="Text 25"/>
          <p:cNvSpPr txBox="1"/>
          <p:nvPr/>
        </p:nvSpPr>
        <p:spPr>
          <a:xfrm>
            <a:off x="6690208" y="298678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appendicitis (apendisit)</a:t>
            </a:r>
            <a:r>
              <a:rPr lang="en-US" sz="1400" dirty="0">
                <a:solidFill>
                  <a:srgbClr val="4B5563"/>
                </a:solidFill>
                <a:latin typeface="Calibri" pitchFamily="34" charset="0"/>
                <a:ea typeface="Calibri" pitchFamily="34" charset="-122"/>
                <a:cs typeface="Calibri" pitchFamily="34" charset="-120"/>
              </a:rPr>
              <a:t>: Kör bağırsağın solucanımsı ucunun iltihaplanması</a:t>
            </a:r>
            <a:endParaRPr lang="en-US" sz="1400" dirty="0"/>
          </a:p>
        </p:txBody>
      </p:sp>
      <p:sp>
        <p:nvSpPr>
          <p:cNvPr id="28" name="Shape 26"/>
          <p:cNvSpPr/>
          <p:nvPr/>
        </p:nvSpPr>
        <p:spPr>
          <a:xfrm>
            <a:off x="6534760" y="3530945"/>
            <a:ext cx="64008" cy="64008"/>
          </a:xfrm>
          <a:prstGeom prst="ellipse">
            <a:avLst/>
          </a:prstGeom>
          <a:solidFill>
            <a:srgbClr val="0F766E"/>
          </a:solidFill>
          <a:ln/>
        </p:spPr>
      </p:sp>
      <p:sp>
        <p:nvSpPr>
          <p:cNvPr id="29" name="Text 27"/>
          <p:cNvSpPr txBox="1"/>
          <p:nvPr/>
        </p:nvSpPr>
        <p:spPr>
          <a:xfrm>
            <a:off x="6690208" y="345719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appendicectomy (apendicektomi)</a:t>
            </a:r>
            <a:r>
              <a:rPr lang="en-US" sz="1400" dirty="0">
                <a:solidFill>
                  <a:srgbClr val="4B5563"/>
                </a:solidFill>
                <a:latin typeface="Calibri" pitchFamily="34" charset="0"/>
                <a:ea typeface="Calibri" pitchFamily="34" charset="-122"/>
                <a:cs typeface="Calibri" pitchFamily="34" charset="-120"/>
              </a:rPr>
              <a:t>: Apandisi çıkarma ameliyatı</a:t>
            </a:r>
            <a:endParaRPr lang="en-US" sz="1400" dirty="0"/>
          </a:p>
        </p:txBody>
      </p:sp>
      <p:sp>
        <p:nvSpPr>
          <p:cNvPr id="30" name="Shape 28"/>
          <p:cNvSpPr/>
          <p:nvPr/>
        </p:nvSpPr>
        <p:spPr>
          <a:xfrm>
            <a:off x="6534760" y="4001353"/>
            <a:ext cx="64008" cy="64008"/>
          </a:xfrm>
          <a:prstGeom prst="ellipse">
            <a:avLst/>
          </a:prstGeom>
          <a:solidFill>
            <a:srgbClr val="0F766E"/>
          </a:solidFill>
          <a:ln/>
        </p:spPr>
      </p:sp>
      <p:sp>
        <p:nvSpPr>
          <p:cNvPr id="31" name="Text 29"/>
          <p:cNvSpPr txBox="1"/>
          <p:nvPr/>
        </p:nvSpPr>
        <p:spPr>
          <a:xfrm>
            <a:off x="6690208" y="392760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appendicolithiasis (apendikolityaz)</a:t>
            </a:r>
            <a:r>
              <a:rPr lang="en-US" sz="1400" dirty="0">
                <a:solidFill>
                  <a:srgbClr val="4B5563"/>
                </a:solidFill>
                <a:latin typeface="Calibri" pitchFamily="34" charset="0"/>
                <a:ea typeface="Calibri" pitchFamily="34" charset="-122"/>
                <a:cs typeface="Calibri" pitchFamily="34" charset="-120"/>
              </a:rPr>
              <a:t>: Apandiste taş oluşması</a:t>
            </a:r>
            <a:endParaRPr lang="en-US" sz="1400" dirty="0"/>
          </a:p>
        </p:txBody>
      </p:sp>
      <p:sp>
        <p:nvSpPr>
          <p:cNvPr id="32" name="Shape 30"/>
          <p:cNvSpPr/>
          <p:nvPr/>
        </p:nvSpPr>
        <p:spPr>
          <a:xfrm>
            <a:off x="6233008" y="4626610"/>
            <a:ext cx="5410048" cy="1682750"/>
          </a:xfrm>
          <a:prstGeom prst="roundRect">
            <a:avLst>
              <a:gd name="adj" fmla="val 3804"/>
            </a:avLst>
          </a:prstGeom>
          <a:solidFill>
            <a:srgbClr val="EAF6F4"/>
          </a:solidFill>
          <a:ln/>
        </p:spPr>
      </p:sp>
      <p:sp>
        <p:nvSpPr>
          <p:cNvPr id="33" name="Text 31"/>
          <p:cNvSpPr txBox="1"/>
          <p:nvPr/>
        </p:nvSpPr>
        <p:spPr>
          <a:xfrm>
            <a:off x="6415888" y="469061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8-  </a:t>
            </a:r>
            <a:endParaRPr lang="en-US" sz="1500" dirty="0"/>
          </a:p>
        </p:txBody>
      </p:sp>
      <p:sp>
        <p:nvSpPr>
          <p:cNvPr id="34" name="Shape 32"/>
          <p:cNvSpPr/>
          <p:nvPr/>
        </p:nvSpPr>
        <p:spPr>
          <a:xfrm>
            <a:off x="6534760" y="5015067"/>
            <a:ext cx="64008" cy="64008"/>
          </a:xfrm>
          <a:prstGeom prst="ellipse">
            <a:avLst/>
          </a:prstGeom>
          <a:solidFill>
            <a:srgbClr val="0F766E"/>
          </a:solidFill>
          <a:ln/>
        </p:spPr>
      </p:sp>
      <p:sp>
        <p:nvSpPr>
          <p:cNvPr id="35" name="Text 33"/>
          <p:cNvSpPr txBox="1"/>
          <p:nvPr/>
        </p:nvSpPr>
        <p:spPr>
          <a:xfrm>
            <a:off x="6690208" y="494131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col (o), colon (o) (L) (kol, kolo, kolon, kolono)</a:t>
            </a:r>
            <a:r>
              <a:rPr lang="en-US" sz="1400" dirty="0">
                <a:solidFill>
                  <a:srgbClr val="4B5563"/>
                </a:solidFill>
                <a:latin typeface="Calibri" pitchFamily="34" charset="0"/>
                <a:ea typeface="Calibri" pitchFamily="34" charset="-122"/>
                <a:cs typeface="Calibri" pitchFamily="34" charset="-120"/>
              </a:rPr>
              <a:t>: Kolon, kalın bağırsağın ikinci parçası</a:t>
            </a:r>
            <a:endParaRPr lang="en-US" sz="1400" dirty="0"/>
          </a:p>
        </p:txBody>
      </p:sp>
      <p:sp>
        <p:nvSpPr>
          <p:cNvPr id="36" name="Shape 34"/>
          <p:cNvSpPr/>
          <p:nvPr/>
        </p:nvSpPr>
        <p:spPr>
          <a:xfrm>
            <a:off x="6534760" y="5485475"/>
            <a:ext cx="64008" cy="64008"/>
          </a:xfrm>
          <a:prstGeom prst="ellipse">
            <a:avLst/>
          </a:prstGeom>
          <a:solidFill>
            <a:srgbClr val="0F766E"/>
          </a:solidFill>
          <a:ln/>
        </p:spPr>
      </p:sp>
      <p:sp>
        <p:nvSpPr>
          <p:cNvPr id="37" name="Text 35"/>
          <p:cNvSpPr txBox="1"/>
          <p:nvPr/>
        </p:nvSpPr>
        <p:spPr>
          <a:xfrm>
            <a:off x="6690208"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colitis (kolit)</a:t>
            </a:r>
            <a:r>
              <a:rPr lang="en-US" sz="1400" dirty="0">
                <a:solidFill>
                  <a:srgbClr val="4B5563"/>
                </a:solidFill>
                <a:latin typeface="Calibri" pitchFamily="34" charset="0"/>
                <a:ea typeface="Calibri" pitchFamily="34" charset="-122"/>
                <a:cs typeface="Calibri" pitchFamily="34" charset="-120"/>
              </a:rPr>
              <a:t>: Kolonun iltihaplaşması</a:t>
            </a:r>
            <a:endParaRPr lang="en-US" sz="1400" dirty="0"/>
          </a:p>
        </p:txBody>
      </p:sp>
      <p:sp>
        <p:nvSpPr>
          <p:cNvPr id="38" name="Shape 36"/>
          <p:cNvSpPr/>
          <p:nvPr/>
        </p:nvSpPr>
        <p:spPr>
          <a:xfrm>
            <a:off x="6534760" y="5738967"/>
            <a:ext cx="64008" cy="64008"/>
          </a:xfrm>
          <a:prstGeom prst="ellipse">
            <a:avLst/>
          </a:prstGeom>
          <a:solidFill>
            <a:srgbClr val="0F766E"/>
          </a:solidFill>
          <a:ln/>
        </p:spPr>
      </p:sp>
      <p:sp>
        <p:nvSpPr>
          <p:cNvPr id="39" name="Text 37"/>
          <p:cNvSpPr txBox="1"/>
          <p:nvPr/>
        </p:nvSpPr>
        <p:spPr>
          <a:xfrm>
            <a:off x="6690208"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colonoscopy (kolonoskopi)</a:t>
            </a:r>
            <a:r>
              <a:rPr lang="en-US" sz="1400" dirty="0">
                <a:solidFill>
                  <a:srgbClr val="4B5563"/>
                </a:solidFill>
                <a:latin typeface="Calibri" pitchFamily="34" charset="0"/>
                <a:ea typeface="Calibri" pitchFamily="34" charset="-122"/>
                <a:cs typeface="Calibri" pitchFamily="34" charset="-120"/>
              </a:rPr>
              <a:t>: Kolonun incelenmesi</a:t>
            </a:r>
            <a:endParaRPr lang="en-US" sz="1400" dirty="0"/>
          </a:p>
        </p:txBody>
      </p:sp>
      <p:sp>
        <p:nvSpPr>
          <p:cNvPr id="40" name="Shape 38"/>
          <p:cNvSpPr/>
          <p:nvPr/>
        </p:nvSpPr>
        <p:spPr>
          <a:xfrm>
            <a:off x="6534760" y="5992459"/>
            <a:ext cx="64008" cy="64008"/>
          </a:xfrm>
          <a:prstGeom prst="ellipse">
            <a:avLst/>
          </a:prstGeom>
          <a:solidFill>
            <a:srgbClr val="0F766E"/>
          </a:solidFill>
          <a:ln/>
        </p:spPr>
      </p:sp>
      <p:sp>
        <p:nvSpPr>
          <p:cNvPr id="41" name="Text 39"/>
          <p:cNvSpPr txBox="1"/>
          <p:nvPr/>
        </p:nvSpPr>
        <p:spPr>
          <a:xfrm>
            <a:off x="6690208"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coloptosis (koloptoz)</a:t>
            </a:r>
            <a:r>
              <a:rPr lang="en-US" sz="1400" dirty="0">
                <a:solidFill>
                  <a:srgbClr val="4B5563"/>
                </a:solidFill>
                <a:latin typeface="Calibri" pitchFamily="34" charset="0"/>
                <a:ea typeface="Calibri" pitchFamily="34" charset="-122"/>
                <a:cs typeface="Calibri" pitchFamily="34" charset="-120"/>
              </a:rPr>
              <a:t>: Kolon sarkması</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Sindirim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46</a:t>
            </a:r>
            <a:endParaRPr lang="en-US" sz="1000" dirty="0"/>
          </a:p>
        </p:txBody>
      </p:sp>
      <p:sp>
        <p:nvSpPr>
          <p:cNvPr id="6" name="Shape 4"/>
          <p:cNvSpPr/>
          <p:nvPr/>
        </p:nvSpPr>
        <p:spPr>
          <a:xfrm>
            <a:off x="548640" y="2852420"/>
            <a:ext cx="5410048" cy="1646174"/>
          </a:xfrm>
          <a:prstGeom prst="roundRect">
            <a:avLst>
              <a:gd name="adj" fmla="val 3888"/>
            </a:avLst>
          </a:prstGeom>
          <a:solidFill>
            <a:srgbClr val="EAF6F4"/>
          </a:solidFill>
          <a:ln/>
        </p:spPr>
      </p:sp>
      <p:sp>
        <p:nvSpPr>
          <p:cNvPr id="7" name="Text 5"/>
          <p:cNvSpPr txBox="1"/>
          <p:nvPr/>
        </p:nvSpPr>
        <p:spPr>
          <a:xfrm>
            <a:off x="731520" y="291642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9-  </a:t>
            </a:r>
            <a:endParaRPr lang="en-US" sz="1500" dirty="0"/>
          </a:p>
        </p:txBody>
      </p:sp>
      <p:sp>
        <p:nvSpPr>
          <p:cNvPr id="8" name="Shape 6"/>
          <p:cNvSpPr/>
          <p:nvPr/>
        </p:nvSpPr>
        <p:spPr>
          <a:xfrm>
            <a:off x="850392" y="3240877"/>
            <a:ext cx="64008" cy="64008"/>
          </a:xfrm>
          <a:prstGeom prst="ellipse">
            <a:avLst/>
          </a:prstGeom>
          <a:solidFill>
            <a:srgbClr val="0F766E"/>
          </a:solidFill>
          <a:ln/>
        </p:spPr>
      </p:sp>
      <p:sp>
        <p:nvSpPr>
          <p:cNvPr id="9" name="Text 7"/>
          <p:cNvSpPr txBox="1"/>
          <p:nvPr/>
        </p:nvSpPr>
        <p:spPr>
          <a:xfrm>
            <a:off x="1005840" y="316712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rect (o) (L) (rekt, rekto)</a:t>
            </a:r>
            <a:r>
              <a:rPr lang="en-US" sz="1400" dirty="0">
                <a:solidFill>
                  <a:srgbClr val="4B5563"/>
                </a:solidFill>
                <a:latin typeface="Calibri" pitchFamily="34" charset="0"/>
                <a:ea typeface="Calibri" pitchFamily="34" charset="-122"/>
                <a:cs typeface="Calibri" pitchFamily="34" charset="-120"/>
              </a:rPr>
              <a:t>: Rektum, düz bağırsak (kalın bağırsağın üçüncü parçası</a:t>
            </a:r>
            <a:endParaRPr lang="en-US" sz="1400" dirty="0"/>
          </a:p>
        </p:txBody>
      </p:sp>
      <p:sp>
        <p:nvSpPr>
          <p:cNvPr id="10" name="Shape 8"/>
          <p:cNvSpPr/>
          <p:nvPr/>
        </p:nvSpPr>
        <p:spPr>
          <a:xfrm>
            <a:off x="850392" y="3711285"/>
            <a:ext cx="64008" cy="64008"/>
          </a:xfrm>
          <a:prstGeom prst="ellipse">
            <a:avLst/>
          </a:prstGeom>
          <a:solidFill>
            <a:srgbClr val="0F766E"/>
          </a:solidFill>
          <a:ln/>
        </p:spPr>
      </p:sp>
      <p:sp>
        <p:nvSpPr>
          <p:cNvPr id="11" name="Text 9"/>
          <p:cNvSpPr txBox="1"/>
          <p:nvPr/>
        </p:nvSpPr>
        <p:spPr>
          <a:xfrm>
            <a:off x="1005840" y="36375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rectitis (rektit)</a:t>
            </a:r>
            <a:r>
              <a:rPr lang="en-US" sz="1400" dirty="0">
                <a:solidFill>
                  <a:srgbClr val="4B5563"/>
                </a:solidFill>
                <a:latin typeface="Calibri" pitchFamily="34" charset="0"/>
                <a:ea typeface="Calibri" pitchFamily="34" charset="-122"/>
                <a:cs typeface="Calibri" pitchFamily="34" charset="-120"/>
              </a:rPr>
              <a:t>: Düz bağırsağın iltihabı</a:t>
            </a:r>
            <a:endParaRPr lang="en-US" sz="1400" dirty="0"/>
          </a:p>
        </p:txBody>
      </p:sp>
      <p:sp>
        <p:nvSpPr>
          <p:cNvPr id="12" name="Shape 10"/>
          <p:cNvSpPr/>
          <p:nvPr/>
        </p:nvSpPr>
        <p:spPr>
          <a:xfrm>
            <a:off x="850392" y="3964777"/>
            <a:ext cx="64008" cy="64008"/>
          </a:xfrm>
          <a:prstGeom prst="ellipse">
            <a:avLst/>
          </a:prstGeom>
          <a:solidFill>
            <a:srgbClr val="0F766E"/>
          </a:solidFill>
          <a:ln/>
        </p:spPr>
      </p:sp>
      <p:sp>
        <p:nvSpPr>
          <p:cNvPr id="13" name="Text 11"/>
          <p:cNvSpPr txBox="1"/>
          <p:nvPr/>
        </p:nvSpPr>
        <p:spPr>
          <a:xfrm>
            <a:off x="1005840" y="389102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rectoscopy (rektoskopi)</a:t>
            </a:r>
            <a:r>
              <a:rPr lang="en-US" sz="1400" dirty="0">
                <a:solidFill>
                  <a:srgbClr val="4B5563"/>
                </a:solidFill>
                <a:latin typeface="Calibri" pitchFamily="34" charset="0"/>
                <a:ea typeface="Calibri" pitchFamily="34" charset="-122"/>
                <a:cs typeface="Calibri" pitchFamily="34" charset="-120"/>
              </a:rPr>
              <a:t>: Düz bağırsağın rektoskop cihazı ile incelenmesi</a:t>
            </a:r>
            <a:endParaRPr lang="en-US" sz="1400" dirty="0"/>
          </a:p>
        </p:txBody>
      </p:sp>
      <p:sp>
        <p:nvSpPr>
          <p:cNvPr id="14" name="Shape 12"/>
          <p:cNvSpPr/>
          <p:nvPr/>
        </p:nvSpPr>
        <p:spPr>
          <a:xfrm>
            <a:off x="548640" y="4590034"/>
            <a:ext cx="5410048" cy="1646174"/>
          </a:xfrm>
          <a:prstGeom prst="roundRect">
            <a:avLst>
              <a:gd name="adj" fmla="val 3888"/>
            </a:avLst>
          </a:prstGeom>
          <a:solidFill>
            <a:srgbClr val="EAF6F4"/>
          </a:solidFill>
          <a:ln/>
        </p:spPr>
      </p:sp>
      <p:sp>
        <p:nvSpPr>
          <p:cNvPr id="15" name="Text 13"/>
          <p:cNvSpPr txBox="1"/>
          <p:nvPr/>
        </p:nvSpPr>
        <p:spPr>
          <a:xfrm>
            <a:off x="731520" y="465404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10-  </a:t>
            </a:r>
            <a:endParaRPr lang="en-US" sz="1500" dirty="0"/>
          </a:p>
        </p:txBody>
      </p:sp>
      <p:sp>
        <p:nvSpPr>
          <p:cNvPr id="16" name="Shape 14"/>
          <p:cNvSpPr/>
          <p:nvPr/>
        </p:nvSpPr>
        <p:spPr>
          <a:xfrm>
            <a:off x="850392" y="4978491"/>
            <a:ext cx="64008" cy="64008"/>
          </a:xfrm>
          <a:prstGeom prst="ellipse">
            <a:avLst/>
          </a:prstGeom>
          <a:solidFill>
            <a:srgbClr val="0F766E"/>
          </a:solidFill>
          <a:ln/>
        </p:spPr>
      </p:sp>
      <p:sp>
        <p:nvSpPr>
          <p:cNvPr id="17" name="Text 15"/>
          <p:cNvSpPr txBox="1"/>
          <p:nvPr/>
        </p:nvSpPr>
        <p:spPr>
          <a:xfrm>
            <a:off x="1005840" y="490474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pancreati (o) pancreat (o) (G) (pankreasyo, pankreato)</a:t>
            </a:r>
            <a:r>
              <a:rPr lang="en-US" sz="1400" dirty="0">
                <a:solidFill>
                  <a:srgbClr val="4B5563"/>
                </a:solidFill>
                <a:latin typeface="Calibri" pitchFamily="34" charset="0"/>
                <a:ea typeface="Calibri" pitchFamily="34" charset="-122"/>
                <a:cs typeface="Calibri" pitchFamily="34" charset="-120"/>
              </a:rPr>
              <a:t>: Pankreas</a:t>
            </a:r>
            <a:endParaRPr lang="en-US" sz="1400" dirty="0"/>
          </a:p>
        </p:txBody>
      </p:sp>
      <p:sp>
        <p:nvSpPr>
          <p:cNvPr id="18" name="Shape 16"/>
          <p:cNvSpPr/>
          <p:nvPr/>
        </p:nvSpPr>
        <p:spPr>
          <a:xfrm>
            <a:off x="850392" y="5448899"/>
            <a:ext cx="64008" cy="64008"/>
          </a:xfrm>
          <a:prstGeom prst="ellipse">
            <a:avLst/>
          </a:prstGeom>
          <a:solidFill>
            <a:srgbClr val="0F766E"/>
          </a:solidFill>
          <a:ln/>
        </p:spPr>
      </p:sp>
      <p:sp>
        <p:nvSpPr>
          <p:cNvPr id="19" name="Text 17"/>
          <p:cNvSpPr txBox="1"/>
          <p:nvPr/>
        </p:nvSpPr>
        <p:spPr>
          <a:xfrm>
            <a:off x="1005840" y="537514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pancreatiosplenic (pankreasyosplenik)</a:t>
            </a:r>
            <a:r>
              <a:rPr lang="en-US" sz="1400" dirty="0">
                <a:solidFill>
                  <a:srgbClr val="4B5563"/>
                </a:solidFill>
                <a:latin typeface="Calibri" pitchFamily="34" charset="0"/>
                <a:ea typeface="Calibri" pitchFamily="34" charset="-122"/>
                <a:cs typeface="Calibri" pitchFamily="34" charset="-120"/>
              </a:rPr>
              <a:t>: Pankreas ve dalakla ilgili</a:t>
            </a:r>
            <a:endParaRPr lang="en-US" sz="1400" dirty="0"/>
          </a:p>
        </p:txBody>
      </p:sp>
      <p:sp>
        <p:nvSpPr>
          <p:cNvPr id="20" name="Shape 18"/>
          <p:cNvSpPr/>
          <p:nvPr/>
        </p:nvSpPr>
        <p:spPr>
          <a:xfrm>
            <a:off x="850392" y="5919307"/>
            <a:ext cx="64008" cy="64008"/>
          </a:xfrm>
          <a:prstGeom prst="ellipse">
            <a:avLst/>
          </a:prstGeom>
          <a:solidFill>
            <a:srgbClr val="0F766E"/>
          </a:solidFill>
          <a:ln/>
        </p:spPr>
      </p:sp>
      <p:sp>
        <p:nvSpPr>
          <p:cNvPr id="21" name="Text 19"/>
          <p:cNvSpPr txBox="1"/>
          <p:nvPr/>
        </p:nvSpPr>
        <p:spPr>
          <a:xfrm>
            <a:off x="1005840" y="584555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pancreatogenic (pankreatojenik)</a:t>
            </a:r>
            <a:r>
              <a:rPr lang="en-US" sz="1400" dirty="0">
                <a:solidFill>
                  <a:srgbClr val="4B5563"/>
                </a:solidFill>
                <a:latin typeface="Calibri" pitchFamily="34" charset="0"/>
                <a:ea typeface="Calibri" pitchFamily="34" charset="-122"/>
                <a:cs typeface="Calibri" pitchFamily="34" charset="-120"/>
              </a:rPr>
              <a:t>: Pankreastan gelişen</a:t>
            </a:r>
            <a:endParaRPr lang="en-US" sz="1400" dirty="0"/>
          </a:p>
        </p:txBody>
      </p:sp>
      <p:sp>
        <p:nvSpPr>
          <p:cNvPr id="22" name="Shape 20"/>
          <p:cNvSpPr/>
          <p:nvPr/>
        </p:nvSpPr>
        <p:spPr>
          <a:xfrm>
            <a:off x="6233008" y="2852420"/>
            <a:ext cx="5410048" cy="1465834"/>
          </a:xfrm>
          <a:prstGeom prst="roundRect">
            <a:avLst>
              <a:gd name="adj" fmla="val 4367"/>
            </a:avLst>
          </a:prstGeom>
          <a:solidFill>
            <a:srgbClr val="EAF6F4"/>
          </a:solidFill>
          <a:ln/>
        </p:spPr>
      </p:sp>
      <p:sp>
        <p:nvSpPr>
          <p:cNvPr id="23" name="Text 21"/>
          <p:cNvSpPr txBox="1"/>
          <p:nvPr/>
        </p:nvSpPr>
        <p:spPr>
          <a:xfrm>
            <a:off x="6415888" y="291642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11-  </a:t>
            </a:r>
            <a:endParaRPr lang="en-US" sz="1500" dirty="0"/>
          </a:p>
        </p:txBody>
      </p:sp>
      <p:sp>
        <p:nvSpPr>
          <p:cNvPr id="24" name="Shape 22"/>
          <p:cNvSpPr/>
          <p:nvPr/>
        </p:nvSpPr>
        <p:spPr>
          <a:xfrm>
            <a:off x="6534760" y="3240877"/>
            <a:ext cx="64008" cy="64008"/>
          </a:xfrm>
          <a:prstGeom prst="ellipse">
            <a:avLst/>
          </a:prstGeom>
          <a:solidFill>
            <a:srgbClr val="0F766E"/>
          </a:solidFill>
          <a:ln/>
        </p:spPr>
      </p:sp>
      <p:sp>
        <p:nvSpPr>
          <p:cNvPr id="25" name="Text 23"/>
          <p:cNvSpPr txBox="1"/>
          <p:nvPr/>
        </p:nvSpPr>
        <p:spPr>
          <a:xfrm>
            <a:off x="6690208" y="31671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 (o) (G) (hepat, hepato)</a:t>
            </a:r>
            <a:r>
              <a:rPr lang="en-US" sz="1400" dirty="0">
                <a:solidFill>
                  <a:srgbClr val="4B5563"/>
                </a:solidFill>
                <a:latin typeface="Calibri" pitchFamily="34" charset="0"/>
                <a:ea typeface="Calibri" pitchFamily="34" charset="-122"/>
                <a:cs typeface="Calibri" pitchFamily="34" charset="-120"/>
              </a:rPr>
              <a:t>: Karaciğer</a:t>
            </a:r>
            <a:endParaRPr lang="en-US" sz="1400" dirty="0"/>
          </a:p>
        </p:txBody>
      </p:sp>
      <p:sp>
        <p:nvSpPr>
          <p:cNvPr id="26" name="Shape 24"/>
          <p:cNvSpPr/>
          <p:nvPr/>
        </p:nvSpPr>
        <p:spPr>
          <a:xfrm>
            <a:off x="6534760" y="3494369"/>
            <a:ext cx="64008" cy="64008"/>
          </a:xfrm>
          <a:prstGeom prst="ellipse">
            <a:avLst/>
          </a:prstGeom>
          <a:solidFill>
            <a:srgbClr val="0F766E"/>
          </a:solidFill>
          <a:ln/>
        </p:spPr>
      </p:sp>
      <p:sp>
        <p:nvSpPr>
          <p:cNvPr id="27" name="Text 25"/>
          <p:cNvSpPr txBox="1"/>
          <p:nvPr/>
        </p:nvSpPr>
        <p:spPr>
          <a:xfrm>
            <a:off x="6690208" y="34206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hepatargia (hepatarji)</a:t>
            </a:r>
            <a:r>
              <a:rPr lang="en-US" sz="1400" dirty="0">
                <a:solidFill>
                  <a:srgbClr val="4B5563"/>
                </a:solidFill>
                <a:latin typeface="Calibri" pitchFamily="34" charset="0"/>
                <a:ea typeface="Calibri" pitchFamily="34" charset="-122"/>
                <a:cs typeface="Calibri" pitchFamily="34" charset="-120"/>
              </a:rPr>
              <a:t>: Karaciğer yetersizliği</a:t>
            </a:r>
            <a:endParaRPr lang="en-US" sz="1400" dirty="0"/>
          </a:p>
        </p:txBody>
      </p:sp>
      <p:sp>
        <p:nvSpPr>
          <p:cNvPr id="28" name="Shape 26"/>
          <p:cNvSpPr/>
          <p:nvPr/>
        </p:nvSpPr>
        <p:spPr>
          <a:xfrm>
            <a:off x="6534760" y="3747861"/>
            <a:ext cx="64008" cy="64008"/>
          </a:xfrm>
          <a:prstGeom prst="ellipse">
            <a:avLst/>
          </a:prstGeom>
          <a:solidFill>
            <a:srgbClr val="0F766E"/>
          </a:solidFill>
          <a:ln/>
        </p:spPr>
      </p:sp>
      <p:sp>
        <p:nvSpPr>
          <p:cNvPr id="29" name="Text 27"/>
          <p:cNvSpPr txBox="1"/>
          <p:nvPr/>
        </p:nvSpPr>
        <p:spPr>
          <a:xfrm>
            <a:off x="6690208" y="36741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hepatolith (hepatolit)</a:t>
            </a:r>
            <a:r>
              <a:rPr lang="en-US" sz="1400" dirty="0">
                <a:solidFill>
                  <a:srgbClr val="4B5563"/>
                </a:solidFill>
                <a:latin typeface="Calibri" pitchFamily="34" charset="0"/>
                <a:ea typeface="Calibri" pitchFamily="34" charset="-122"/>
                <a:cs typeface="Calibri" pitchFamily="34" charset="-120"/>
              </a:rPr>
              <a:t>: Karaciğerde oluşan safra taşı</a:t>
            </a:r>
            <a:endParaRPr lang="en-US" sz="1400" dirty="0"/>
          </a:p>
        </p:txBody>
      </p:sp>
      <p:sp>
        <p:nvSpPr>
          <p:cNvPr id="30" name="Shape 28"/>
          <p:cNvSpPr/>
          <p:nvPr/>
        </p:nvSpPr>
        <p:spPr>
          <a:xfrm>
            <a:off x="6534760" y="4001353"/>
            <a:ext cx="64008" cy="64008"/>
          </a:xfrm>
          <a:prstGeom prst="ellipse">
            <a:avLst/>
          </a:prstGeom>
          <a:solidFill>
            <a:srgbClr val="0F766E"/>
          </a:solidFill>
          <a:ln/>
        </p:spPr>
      </p:sp>
      <p:sp>
        <p:nvSpPr>
          <p:cNvPr id="31" name="Text 29"/>
          <p:cNvSpPr txBox="1"/>
          <p:nvPr/>
        </p:nvSpPr>
        <p:spPr>
          <a:xfrm>
            <a:off x="6690208" y="39276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hepatomegaly (hepatomegali)</a:t>
            </a:r>
            <a:r>
              <a:rPr lang="en-US" sz="1400" dirty="0">
                <a:solidFill>
                  <a:srgbClr val="4B5563"/>
                </a:solidFill>
                <a:latin typeface="Calibri" pitchFamily="34" charset="0"/>
                <a:ea typeface="Calibri" pitchFamily="34" charset="-122"/>
                <a:cs typeface="Calibri" pitchFamily="34" charset="-120"/>
              </a:rPr>
              <a:t>: Karaciğer büyümesi</a:t>
            </a:r>
            <a:endParaRPr lang="en-US" sz="1400" dirty="0"/>
          </a:p>
        </p:txBody>
      </p:sp>
      <p:sp>
        <p:nvSpPr>
          <p:cNvPr id="32" name="Shape 30"/>
          <p:cNvSpPr/>
          <p:nvPr/>
        </p:nvSpPr>
        <p:spPr>
          <a:xfrm>
            <a:off x="6233008" y="4409694"/>
            <a:ext cx="5410048" cy="1899666"/>
          </a:xfrm>
          <a:prstGeom prst="roundRect">
            <a:avLst>
              <a:gd name="adj" fmla="val 3369"/>
            </a:avLst>
          </a:prstGeom>
          <a:solidFill>
            <a:srgbClr val="EAF6F4"/>
          </a:solidFill>
          <a:ln/>
        </p:spPr>
      </p:sp>
      <p:sp>
        <p:nvSpPr>
          <p:cNvPr id="33" name="Text 31"/>
          <p:cNvSpPr txBox="1"/>
          <p:nvPr/>
        </p:nvSpPr>
        <p:spPr>
          <a:xfrm>
            <a:off x="6415888" y="447370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12-  </a:t>
            </a:r>
            <a:endParaRPr lang="en-US" sz="1500" dirty="0"/>
          </a:p>
        </p:txBody>
      </p:sp>
      <p:sp>
        <p:nvSpPr>
          <p:cNvPr id="34" name="Shape 32"/>
          <p:cNvSpPr/>
          <p:nvPr/>
        </p:nvSpPr>
        <p:spPr>
          <a:xfrm>
            <a:off x="6534760" y="4798151"/>
            <a:ext cx="64008" cy="64008"/>
          </a:xfrm>
          <a:prstGeom prst="ellipse">
            <a:avLst/>
          </a:prstGeom>
          <a:solidFill>
            <a:srgbClr val="0F766E"/>
          </a:solidFill>
          <a:ln/>
        </p:spPr>
      </p:sp>
      <p:sp>
        <p:nvSpPr>
          <p:cNvPr id="35" name="Text 33"/>
          <p:cNvSpPr txBox="1"/>
          <p:nvPr/>
        </p:nvSpPr>
        <p:spPr>
          <a:xfrm>
            <a:off x="6690208" y="47244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cholecyst (o) (G) (kolesist)</a:t>
            </a:r>
            <a:r>
              <a:rPr lang="en-US" sz="1400" dirty="0">
                <a:solidFill>
                  <a:srgbClr val="4B5563"/>
                </a:solidFill>
                <a:latin typeface="Calibri" pitchFamily="34" charset="0"/>
                <a:ea typeface="Calibri" pitchFamily="34" charset="-122"/>
                <a:cs typeface="Calibri" pitchFamily="34" charset="-120"/>
              </a:rPr>
              <a:t>: Safra kesesi</a:t>
            </a:r>
            <a:endParaRPr lang="en-US" sz="1400" dirty="0"/>
          </a:p>
        </p:txBody>
      </p:sp>
      <p:sp>
        <p:nvSpPr>
          <p:cNvPr id="36" name="Shape 34"/>
          <p:cNvSpPr/>
          <p:nvPr/>
        </p:nvSpPr>
        <p:spPr>
          <a:xfrm>
            <a:off x="6534760" y="5051643"/>
            <a:ext cx="64008" cy="64008"/>
          </a:xfrm>
          <a:prstGeom prst="ellipse">
            <a:avLst/>
          </a:prstGeom>
          <a:solidFill>
            <a:srgbClr val="0F766E"/>
          </a:solidFill>
          <a:ln/>
        </p:spPr>
      </p:sp>
      <p:sp>
        <p:nvSpPr>
          <p:cNvPr id="37" name="Text 35"/>
          <p:cNvSpPr txBox="1"/>
          <p:nvPr/>
        </p:nvSpPr>
        <p:spPr>
          <a:xfrm>
            <a:off x="6690208" y="49778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cholecystitis (kolesistit)</a:t>
            </a:r>
            <a:r>
              <a:rPr lang="en-US" sz="1400" dirty="0">
                <a:solidFill>
                  <a:srgbClr val="4B5563"/>
                </a:solidFill>
                <a:latin typeface="Calibri" pitchFamily="34" charset="0"/>
                <a:ea typeface="Calibri" pitchFamily="34" charset="-122"/>
                <a:cs typeface="Calibri" pitchFamily="34" charset="-120"/>
              </a:rPr>
              <a:t>: Safra kesesi iltihabı</a:t>
            </a:r>
            <a:endParaRPr lang="en-US" sz="1400" dirty="0"/>
          </a:p>
        </p:txBody>
      </p:sp>
      <p:sp>
        <p:nvSpPr>
          <p:cNvPr id="38" name="Shape 36"/>
          <p:cNvSpPr/>
          <p:nvPr/>
        </p:nvSpPr>
        <p:spPr>
          <a:xfrm>
            <a:off x="6534760" y="5305135"/>
            <a:ext cx="64008" cy="64008"/>
          </a:xfrm>
          <a:prstGeom prst="ellipse">
            <a:avLst/>
          </a:prstGeom>
          <a:solidFill>
            <a:srgbClr val="0F766E"/>
          </a:solidFill>
          <a:ln/>
        </p:spPr>
      </p:sp>
      <p:sp>
        <p:nvSpPr>
          <p:cNvPr id="39" name="Text 37"/>
          <p:cNvSpPr txBox="1"/>
          <p:nvPr/>
        </p:nvSpPr>
        <p:spPr>
          <a:xfrm>
            <a:off x="6690208" y="523138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cholecystectomy (kolesistektomi)</a:t>
            </a:r>
            <a:r>
              <a:rPr lang="en-US" sz="1400" dirty="0">
                <a:solidFill>
                  <a:srgbClr val="4B5563"/>
                </a:solidFill>
                <a:latin typeface="Calibri" pitchFamily="34" charset="0"/>
                <a:ea typeface="Calibri" pitchFamily="34" charset="-122"/>
                <a:cs typeface="Calibri" pitchFamily="34" charset="-120"/>
              </a:rPr>
              <a:t>: Safra kesesinin ameliyatla çıkarılması</a:t>
            </a:r>
            <a:endParaRPr lang="en-US" sz="1400" dirty="0"/>
          </a:p>
        </p:txBody>
      </p:sp>
      <p:sp>
        <p:nvSpPr>
          <p:cNvPr id="40" name="Shape 38"/>
          <p:cNvSpPr/>
          <p:nvPr/>
        </p:nvSpPr>
        <p:spPr>
          <a:xfrm>
            <a:off x="6534760" y="5775543"/>
            <a:ext cx="64008" cy="64008"/>
          </a:xfrm>
          <a:prstGeom prst="ellipse">
            <a:avLst/>
          </a:prstGeom>
          <a:solidFill>
            <a:srgbClr val="0F766E"/>
          </a:solidFill>
          <a:ln/>
        </p:spPr>
      </p:sp>
      <p:sp>
        <p:nvSpPr>
          <p:cNvPr id="41" name="Text 39"/>
          <p:cNvSpPr txBox="1"/>
          <p:nvPr/>
        </p:nvSpPr>
        <p:spPr>
          <a:xfrm>
            <a:off x="6690208"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cholecystolithiasis (kolesistolityaz)</a:t>
            </a:r>
            <a:r>
              <a:rPr lang="en-US" sz="1400" dirty="0">
                <a:solidFill>
                  <a:srgbClr val="4B5563"/>
                </a:solidFill>
                <a:latin typeface="Calibri" pitchFamily="34" charset="0"/>
                <a:ea typeface="Calibri" pitchFamily="34" charset="-122"/>
                <a:cs typeface="Calibri" pitchFamily="34" charset="-120"/>
              </a:rPr>
              <a:t>: Safra kesesinde taş oluşması</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Üriner Sisteme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47</a:t>
            </a:r>
            <a:endParaRPr lang="en-US" sz="1000" dirty="0"/>
          </a:p>
        </p:txBody>
      </p:sp>
      <p:sp>
        <p:nvSpPr>
          <p:cNvPr id="6" name="Shape 4"/>
          <p:cNvSpPr/>
          <p:nvPr/>
        </p:nvSpPr>
        <p:spPr>
          <a:xfrm>
            <a:off x="548640" y="2235962"/>
            <a:ext cx="5410048" cy="1150366"/>
          </a:xfrm>
          <a:prstGeom prst="roundRect">
            <a:avLst>
              <a:gd name="adj" fmla="val 5564"/>
            </a:avLst>
          </a:prstGeom>
          <a:solidFill>
            <a:srgbClr val="EAF6F4"/>
          </a:solidFill>
          <a:ln/>
        </p:spPr>
      </p:sp>
      <p:sp>
        <p:nvSpPr>
          <p:cNvPr id="7" name="Text 5"/>
          <p:cNvSpPr txBox="1"/>
          <p:nvPr/>
        </p:nvSpPr>
        <p:spPr>
          <a:xfrm>
            <a:off x="731520" y="2299970"/>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1-a)  </a:t>
            </a:r>
            <a:endParaRPr lang="en-US" sz="1400" dirty="0"/>
          </a:p>
        </p:txBody>
      </p:sp>
      <p:sp>
        <p:nvSpPr>
          <p:cNvPr id="8" name="Shape 6"/>
          <p:cNvSpPr/>
          <p:nvPr/>
        </p:nvSpPr>
        <p:spPr>
          <a:xfrm>
            <a:off x="850392" y="2603657"/>
            <a:ext cx="64008" cy="64008"/>
          </a:xfrm>
          <a:prstGeom prst="ellipse">
            <a:avLst/>
          </a:prstGeom>
          <a:solidFill>
            <a:srgbClr val="0F766E"/>
          </a:solidFill>
          <a:ln/>
        </p:spPr>
      </p:sp>
      <p:sp>
        <p:nvSpPr>
          <p:cNvPr id="9" name="Text 7"/>
          <p:cNvSpPr txBox="1"/>
          <p:nvPr/>
        </p:nvSpPr>
        <p:spPr>
          <a:xfrm>
            <a:off x="1005840" y="253517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nephr (o) (G) (nefr, nefro)</a:t>
            </a:r>
            <a:r>
              <a:rPr lang="en-US" sz="1300" dirty="0">
                <a:solidFill>
                  <a:srgbClr val="4B5563"/>
                </a:solidFill>
                <a:latin typeface="Calibri" pitchFamily="34" charset="0"/>
                <a:ea typeface="Calibri" pitchFamily="34" charset="-122"/>
                <a:cs typeface="Calibri" pitchFamily="34" charset="-120"/>
              </a:rPr>
              <a:t>: Böbrek</a:t>
            </a:r>
            <a:endParaRPr lang="en-US" sz="1300" dirty="0"/>
          </a:p>
        </p:txBody>
      </p:sp>
      <p:sp>
        <p:nvSpPr>
          <p:cNvPr id="10" name="Shape 8"/>
          <p:cNvSpPr/>
          <p:nvPr/>
        </p:nvSpPr>
        <p:spPr>
          <a:xfrm>
            <a:off x="850392" y="2841655"/>
            <a:ext cx="64008" cy="64008"/>
          </a:xfrm>
          <a:prstGeom prst="ellipse">
            <a:avLst/>
          </a:prstGeom>
          <a:solidFill>
            <a:srgbClr val="0F766E"/>
          </a:solidFill>
          <a:ln/>
        </p:spPr>
      </p:sp>
      <p:sp>
        <p:nvSpPr>
          <p:cNvPr id="11" name="Text 9"/>
          <p:cNvSpPr txBox="1"/>
          <p:nvPr/>
        </p:nvSpPr>
        <p:spPr>
          <a:xfrm>
            <a:off x="1005840" y="277317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nephrectomy (nefrektomi)</a:t>
            </a:r>
            <a:r>
              <a:rPr lang="en-US" sz="1300" dirty="0">
                <a:solidFill>
                  <a:srgbClr val="4B5563"/>
                </a:solidFill>
                <a:latin typeface="Calibri" pitchFamily="34" charset="0"/>
                <a:ea typeface="Calibri" pitchFamily="34" charset="-122"/>
                <a:cs typeface="Calibri" pitchFamily="34" charset="-120"/>
              </a:rPr>
              <a:t>: Böbreğin ameliyatla çıkarılması</a:t>
            </a:r>
            <a:endParaRPr lang="en-US" sz="1300" dirty="0"/>
          </a:p>
        </p:txBody>
      </p:sp>
      <p:sp>
        <p:nvSpPr>
          <p:cNvPr id="12" name="Shape 10"/>
          <p:cNvSpPr/>
          <p:nvPr/>
        </p:nvSpPr>
        <p:spPr>
          <a:xfrm>
            <a:off x="850392" y="3079653"/>
            <a:ext cx="64008" cy="64008"/>
          </a:xfrm>
          <a:prstGeom prst="ellipse">
            <a:avLst/>
          </a:prstGeom>
          <a:solidFill>
            <a:srgbClr val="0F766E"/>
          </a:solidFill>
          <a:ln/>
        </p:spPr>
      </p:sp>
      <p:sp>
        <p:nvSpPr>
          <p:cNvPr id="13" name="Text 11"/>
          <p:cNvSpPr txBox="1"/>
          <p:nvPr/>
        </p:nvSpPr>
        <p:spPr>
          <a:xfrm>
            <a:off x="1005840" y="301117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nephrolith (nefrolit)</a:t>
            </a:r>
            <a:r>
              <a:rPr lang="en-US" sz="1300" dirty="0">
                <a:solidFill>
                  <a:srgbClr val="4B5563"/>
                </a:solidFill>
                <a:latin typeface="Calibri" pitchFamily="34" charset="0"/>
                <a:ea typeface="Calibri" pitchFamily="34" charset="-122"/>
                <a:cs typeface="Calibri" pitchFamily="34" charset="-120"/>
              </a:rPr>
              <a:t>: Böbrek taşı</a:t>
            </a:r>
            <a:endParaRPr lang="en-US" sz="1300" dirty="0"/>
          </a:p>
        </p:txBody>
      </p:sp>
      <p:sp>
        <p:nvSpPr>
          <p:cNvPr id="14" name="Shape 12"/>
          <p:cNvSpPr/>
          <p:nvPr/>
        </p:nvSpPr>
        <p:spPr>
          <a:xfrm>
            <a:off x="548640" y="3477768"/>
            <a:ext cx="5410048" cy="1388364"/>
          </a:xfrm>
          <a:prstGeom prst="roundRect">
            <a:avLst>
              <a:gd name="adj" fmla="val 4610"/>
            </a:avLst>
          </a:prstGeom>
          <a:solidFill>
            <a:srgbClr val="EAF6F4"/>
          </a:solidFill>
          <a:ln/>
        </p:spPr>
      </p:sp>
      <p:sp>
        <p:nvSpPr>
          <p:cNvPr id="15" name="Text 13"/>
          <p:cNvSpPr txBox="1"/>
          <p:nvPr/>
        </p:nvSpPr>
        <p:spPr>
          <a:xfrm>
            <a:off x="731520" y="3541776"/>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1-b)  </a:t>
            </a:r>
            <a:endParaRPr lang="en-US" sz="1400" dirty="0"/>
          </a:p>
        </p:txBody>
      </p:sp>
      <p:sp>
        <p:nvSpPr>
          <p:cNvPr id="16" name="Shape 14"/>
          <p:cNvSpPr/>
          <p:nvPr/>
        </p:nvSpPr>
        <p:spPr>
          <a:xfrm>
            <a:off x="850392" y="3845463"/>
            <a:ext cx="64008" cy="64008"/>
          </a:xfrm>
          <a:prstGeom prst="ellipse">
            <a:avLst/>
          </a:prstGeom>
          <a:solidFill>
            <a:srgbClr val="0F766E"/>
          </a:solidFill>
          <a:ln/>
        </p:spPr>
      </p:sp>
      <p:sp>
        <p:nvSpPr>
          <p:cNvPr id="17" name="Text 15"/>
          <p:cNvSpPr txBox="1"/>
          <p:nvPr/>
        </p:nvSpPr>
        <p:spPr>
          <a:xfrm>
            <a:off x="1005840" y="377698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ren (o) (i) (L) (ren, reno, reni)</a:t>
            </a:r>
            <a:r>
              <a:rPr lang="en-US" sz="1300" dirty="0">
                <a:solidFill>
                  <a:srgbClr val="4B5563"/>
                </a:solidFill>
                <a:latin typeface="Calibri" pitchFamily="34" charset="0"/>
                <a:ea typeface="Calibri" pitchFamily="34" charset="-122"/>
                <a:cs typeface="Calibri" pitchFamily="34" charset="-120"/>
              </a:rPr>
              <a:t>: Böbrek</a:t>
            </a:r>
            <a:endParaRPr lang="en-US" sz="1300" dirty="0"/>
          </a:p>
        </p:txBody>
      </p:sp>
      <p:sp>
        <p:nvSpPr>
          <p:cNvPr id="18" name="Shape 16"/>
          <p:cNvSpPr/>
          <p:nvPr/>
        </p:nvSpPr>
        <p:spPr>
          <a:xfrm>
            <a:off x="850392" y="4083461"/>
            <a:ext cx="64008" cy="64008"/>
          </a:xfrm>
          <a:prstGeom prst="ellipse">
            <a:avLst/>
          </a:prstGeom>
          <a:solidFill>
            <a:srgbClr val="0F766E"/>
          </a:solidFill>
          <a:ln/>
        </p:spPr>
      </p:sp>
      <p:sp>
        <p:nvSpPr>
          <p:cNvPr id="19" name="Text 17"/>
          <p:cNvSpPr txBox="1"/>
          <p:nvPr/>
        </p:nvSpPr>
        <p:spPr>
          <a:xfrm>
            <a:off x="1005840" y="401497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renicapsule (renikapsul)</a:t>
            </a:r>
            <a:r>
              <a:rPr lang="en-US" sz="1300" dirty="0">
                <a:solidFill>
                  <a:srgbClr val="4B5563"/>
                </a:solidFill>
                <a:latin typeface="Calibri" pitchFamily="34" charset="0"/>
                <a:ea typeface="Calibri" pitchFamily="34" charset="-122"/>
                <a:cs typeface="Calibri" pitchFamily="34" charset="-120"/>
              </a:rPr>
              <a:t>: Böbrek kapsülü</a:t>
            </a:r>
            <a:endParaRPr lang="en-US" sz="1300" dirty="0"/>
          </a:p>
        </p:txBody>
      </p:sp>
      <p:sp>
        <p:nvSpPr>
          <p:cNvPr id="20" name="Shape 18"/>
          <p:cNvSpPr/>
          <p:nvPr/>
        </p:nvSpPr>
        <p:spPr>
          <a:xfrm>
            <a:off x="850392" y="4321459"/>
            <a:ext cx="64008" cy="64008"/>
          </a:xfrm>
          <a:prstGeom prst="ellipse">
            <a:avLst/>
          </a:prstGeom>
          <a:solidFill>
            <a:srgbClr val="0F766E"/>
          </a:solidFill>
          <a:ln/>
        </p:spPr>
      </p:sp>
      <p:sp>
        <p:nvSpPr>
          <p:cNvPr id="21" name="Text 19"/>
          <p:cNvSpPr txBox="1"/>
          <p:nvPr/>
        </p:nvSpPr>
        <p:spPr>
          <a:xfrm>
            <a:off x="1005840" y="425297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reniform (reniform)</a:t>
            </a:r>
            <a:r>
              <a:rPr lang="en-US" sz="1300" dirty="0">
                <a:solidFill>
                  <a:srgbClr val="4B5563"/>
                </a:solidFill>
                <a:latin typeface="Calibri" pitchFamily="34" charset="0"/>
                <a:ea typeface="Calibri" pitchFamily="34" charset="-122"/>
                <a:cs typeface="Calibri" pitchFamily="34" charset="-120"/>
              </a:rPr>
              <a:t>: Böbrek şeklinde</a:t>
            </a:r>
            <a:endParaRPr lang="en-US" sz="1300" dirty="0"/>
          </a:p>
        </p:txBody>
      </p:sp>
      <p:sp>
        <p:nvSpPr>
          <p:cNvPr id="22" name="Shape 20"/>
          <p:cNvSpPr/>
          <p:nvPr/>
        </p:nvSpPr>
        <p:spPr>
          <a:xfrm>
            <a:off x="850392" y="4559457"/>
            <a:ext cx="64008" cy="64008"/>
          </a:xfrm>
          <a:prstGeom prst="ellipse">
            <a:avLst/>
          </a:prstGeom>
          <a:solidFill>
            <a:srgbClr val="0F766E"/>
          </a:solidFill>
          <a:ln/>
        </p:spPr>
      </p:sp>
      <p:sp>
        <p:nvSpPr>
          <p:cNvPr id="23" name="Text 21"/>
          <p:cNvSpPr txBox="1"/>
          <p:nvPr/>
        </p:nvSpPr>
        <p:spPr>
          <a:xfrm>
            <a:off x="1005840" y="449097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renovascularis (renovasküler)</a:t>
            </a:r>
            <a:r>
              <a:rPr lang="en-US" sz="1300" dirty="0">
                <a:solidFill>
                  <a:srgbClr val="4B5563"/>
                </a:solidFill>
                <a:latin typeface="Calibri" pitchFamily="34" charset="0"/>
                <a:ea typeface="Calibri" pitchFamily="34" charset="-122"/>
                <a:cs typeface="Calibri" pitchFamily="34" charset="-120"/>
              </a:rPr>
              <a:t>: Böbrek damarlarıyla ilgili</a:t>
            </a:r>
            <a:endParaRPr lang="en-US" sz="1300" dirty="0"/>
          </a:p>
        </p:txBody>
      </p:sp>
      <p:sp>
        <p:nvSpPr>
          <p:cNvPr id="24" name="Shape 22"/>
          <p:cNvSpPr/>
          <p:nvPr/>
        </p:nvSpPr>
        <p:spPr>
          <a:xfrm>
            <a:off x="548640" y="4957572"/>
            <a:ext cx="5410048" cy="1351788"/>
          </a:xfrm>
          <a:prstGeom prst="roundRect">
            <a:avLst>
              <a:gd name="adj" fmla="val 4735"/>
            </a:avLst>
          </a:prstGeom>
          <a:solidFill>
            <a:srgbClr val="EAF6F4"/>
          </a:solidFill>
          <a:ln/>
        </p:spPr>
      </p:sp>
      <p:sp>
        <p:nvSpPr>
          <p:cNvPr id="25" name="Text 23"/>
          <p:cNvSpPr txBox="1"/>
          <p:nvPr/>
        </p:nvSpPr>
        <p:spPr>
          <a:xfrm>
            <a:off x="731520" y="5021580"/>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2-  </a:t>
            </a:r>
            <a:endParaRPr lang="en-US" sz="1400" dirty="0"/>
          </a:p>
        </p:txBody>
      </p:sp>
      <p:sp>
        <p:nvSpPr>
          <p:cNvPr id="26" name="Shape 24"/>
          <p:cNvSpPr/>
          <p:nvPr/>
        </p:nvSpPr>
        <p:spPr>
          <a:xfrm>
            <a:off x="850392" y="5325267"/>
            <a:ext cx="64008" cy="64008"/>
          </a:xfrm>
          <a:prstGeom prst="ellipse">
            <a:avLst/>
          </a:prstGeom>
          <a:solidFill>
            <a:srgbClr val="0F766E"/>
          </a:solidFill>
          <a:ln/>
        </p:spPr>
      </p:sp>
      <p:sp>
        <p:nvSpPr>
          <p:cNvPr id="27" name="Text 25"/>
          <p:cNvSpPr txBox="1"/>
          <p:nvPr/>
        </p:nvSpPr>
        <p:spPr>
          <a:xfrm>
            <a:off x="1005840" y="525678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ureter (o) (G) (ureter, uretero)</a:t>
            </a:r>
            <a:r>
              <a:rPr lang="en-US" sz="1300" dirty="0">
                <a:solidFill>
                  <a:srgbClr val="4B5563"/>
                </a:solidFill>
                <a:latin typeface="Calibri" pitchFamily="34" charset="0"/>
                <a:ea typeface="Calibri" pitchFamily="34" charset="-122"/>
                <a:cs typeface="Calibri" pitchFamily="34" charset="-120"/>
              </a:rPr>
              <a:t>: İdrar borusu, ureter</a:t>
            </a:r>
            <a:endParaRPr lang="en-US" sz="1300" dirty="0"/>
          </a:p>
        </p:txBody>
      </p:sp>
      <p:sp>
        <p:nvSpPr>
          <p:cNvPr id="28" name="Shape 26"/>
          <p:cNvSpPr/>
          <p:nvPr/>
        </p:nvSpPr>
        <p:spPr>
          <a:xfrm>
            <a:off x="850392" y="5563265"/>
            <a:ext cx="64008" cy="64008"/>
          </a:xfrm>
          <a:prstGeom prst="ellipse">
            <a:avLst/>
          </a:prstGeom>
          <a:solidFill>
            <a:srgbClr val="0F766E"/>
          </a:solidFill>
          <a:ln/>
        </p:spPr>
      </p:sp>
      <p:sp>
        <p:nvSpPr>
          <p:cNvPr id="29" name="Text 27"/>
          <p:cNvSpPr txBox="1"/>
          <p:nvPr/>
        </p:nvSpPr>
        <p:spPr>
          <a:xfrm>
            <a:off x="1005840" y="549478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ureteritis (ureterit)</a:t>
            </a:r>
            <a:r>
              <a:rPr lang="en-US" sz="1300" dirty="0">
                <a:solidFill>
                  <a:srgbClr val="4B5563"/>
                </a:solidFill>
                <a:latin typeface="Calibri" pitchFamily="34" charset="0"/>
                <a:ea typeface="Calibri" pitchFamily="34" charset="-122"/>
                <a:cs typeface="Calibri" pitchFamily="34" charset="-120"/>
              </a:rPr>
              <a:t>: İdrar borusu iltihabı</a:t>
            </a:r>
            <a:endParaRPr lang="en-US" sz="1300" dirty="0"/>
          </a:p>
        </p:txBody>
      </p:sp>
      <p:sp>
        <p:nvSpPr>
          <p:cNvPr id="30" name="Shape 28"/>
          <p:cNvSpPr/>
          <p:nvPr/>
        </p:nvSpPr>
        <p:spPr>
          <a:xfrm>
            <a:off x="850392" y="5801263"/>
            <a:ext cx="64008" cy="64008"/>
          </a:xfrm>
          <a:prstGeom prst="ellipse">
            <a:avLst/>
          </a:prstGeom>
          <a:solidFill>
            <a:srgbClr val="0F766E"/>
          </a:solidFill>
          <a:ln/>
        </p:spPr>
      </p:sp>
      <p:sp>
        <p:nvSpPr>
          <p:cNvPr id="31" name="Text 29"/>
          <p:cNvSpPr txBox="1"/>
          <p:nvPr/>
        </p:nvSpPr>
        <p:spPr>
          <a:xfrm>
            <a:off x="1005840" y="5732780"/>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ureterolith (ureterolit)</a:t>
            </a:r>
            <a:r>
              <a:rPr lang="en-US" sz="1300" dirty="0">
                <a:solidFill>
                  <a:srgbClr val="4B5563"/>
                </a:solidFill>
                <a:latin typeface="Calibri" pitchFamily="34" charset="0"/>
                <a:ea typeface="Calibri" pitchFamily="34" charset="-122"/>
                <a:cs typeface="Calibri" pitchFamily="34" charset="-120"/>
              </a:rPr>
              <a:t>: İdrar borusunda oluşan taş, ureter taşı</a:t>
            </a:r>
            <a:endParaRPr lang="en-US" sz="1300" dirty="0"/>
          </a:p>
        </p:txBody>
      </p:sp>
      <p:sp>
        <p:nvSpPr>
          <p:cNvPr id="32" name="Shape 30"/>
          <p:cNvSpPr/>
          <p:nvPr/>
        </p:nvSpPr>
        <p:spPr>
          <a:xfrm>
            <a:off x="6233008" y="2235962"/>
            <a:ext cx="5410048" cy="1351788"/>
          </a:xfrm>
          <a:prstGeom prst="roundRect">
            <a:avLst>
              <a:gd name="adj" fmla="val 4735"/>
            </a:avLst>
          </a:prstGeom>
          <a:solidFill>
            <a:srgbClr val="EAF6F4"/>
          </a:solidFill>
          <a:ln/>
        </p:spPr>
      </p:sp>
      <p:sp>
        <p:nvSpPr>
          <p:cNvPr id="33" name="Text 31"/>
          <p:cNvSpPr txBox="1"/>
          <p:nvPr/>
        </p:nvSpPr>
        <p:spPr>
          <a:xfrm>
            <a:off x="6415888" y="2299970"/>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3-  </a:t>
            </a:r>
            <a:endParaRPr lang="en-US" sz="1400" dirty="0"/>
          </a:p>
        </p:txBody>
      </p:sp>
      <p:sp>
        <p:nvSpPr>
          <p:cNvPr id="34" name="Shape 32"/>
          <p:cNvSpPr/>
          <p:nvPr/>
        </p:nvSpPr>
        <p:spPr>
          <a:xfrm>
            <a:off x="6534760" y="2603657"/>
            <a:ext cx="64008" cy="64008"/>
          </a:xfrm>
          <a:prstGeom prst="ellipse">
            <a:avLst/>
          </a:prstGeom>
          <a:solidFill>
            <a:srgbClr val="0F766E"/>
          </a:solidFill>
          <a:ln/>
        </p:spPr>
      </p:sp>
      <p:sp>
        <p:nvSpPr>
          <p:cNvPr id="35" name="Text 33"/>
          <p:cNvSpPr txBox="1"/>
          <p:nvPr/>
        </p:nvSpPr>
        <p:spPr>
          <a:xfrm>
            <a:off x="6690208" y="253517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cyst (o) (G) (sist, sisto)</a:t>
            </a:r>
            <a:r>
              <a:rPr lang="en-US" sz="1300" dirty="0">
                <a:solidFill>
                  <a:srgbClr val="4B5563"/>
                </a:solidFill>
                <a:latin typeface="Calibri" pitchFamily="34" charset="0"/>
                <a:ea typeface="Calibri" pitchFamily="34" charset="-122"/>
                <a:cs typeface="Calibri" pitchFamily="34" charset="-120"/>
              </a:rPr>
              <a:t>: Sidik torbası</a:t>
            </a:r>
            <a:endParaRPr lang="en-US" sz="1300" dirty="0"/>
          </a:p>
        </p:txBody>
      </p:sp>
      <p:sp>
        <p:nvSpPr>
          <p:cNvPr id="36" name="Shape 34"/>
          <p:cNvSpPr/>
          <p:nvPr/>
        </p:nvSpPr>
        <p:spPr>
          <a:xfrm>
            <a:off x="6534760" y="2841655"/>
            <a:ext cx="64008" cy="64008"/>
          </a:xfrm>
          <a:prstGeom prst="ellipse">
            <a:avLst/>
          </a:prstGeom>
          <a:solidFill>
            <a:srgbClr val="0F766E"/>
          </a:solidFill>
          <a:ln/>
        </p:spPr>
      </p:sp>
      <p:sp>
        <p:nvSpPr>
          <p:cNvPr id="37" name="Text 35"/>
          <p:cNvSpPr txBox="1"/>
          <p:nvPr/>
        </p:nvSpPr>
        <p:spPr>
          <a:xfrm>
            <a:off x="6690208" y="2773172"/>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cystostomy (sistostomi)</a:t>
            </a:r>
            <a:r>
              <a:rPr lang="en-US" sz="1300" dirty="0">
                <a:solidFill>
                  <a:srgbClr val="4B5563"/>
                </a:solidFill>
                <a:latin typeface="Calibri" pitchFamily="34" charset="0"/>
                <a:ea typeface="Calibri" pitchFamily="34" charset="-122"/>
                <a:cs typeface="Calibri" pitchFamily="34" charset="-120"/>
              </a:rPr>
              <a:t>: Karın duvarı ile sidik torbası arasında geçit oluşturma</a:t>
            </a:r>
            <a:endParaRPr lang="en-US" sz="1300" dirty="0"/>
          </a:p>
        </p:txBody>
      </p:sp>
      <p:sp>
        <p:nvSpPr>
          <p:cNvPr id="38" name="Shape 36"/>
          <p:cNvSpPr/>
          <p:nvPr/>
        </p:nvSpPr>
        <p:spPr>
          <a:xfrm>
            <a:off x="6534760" y="3281075"/>
            <a:ext cx="64008" cy="64008"/>
          </a:xfrm>
          <a:prstGeom prst="ellipse">
            <a:avLst/>
          </a:prstGeom>
          <a:solidFill>
            <a:srgbClr val="0F766E"/>
          </a:solidFill>
          <a:ln/>
        </p:spPr>
      </p:sp>
      <p:sp>
        <p:nvSpPr>
          <p:cNvPr id="39" name="Text 37"/>
          <p:cNvSpPr txBox="1"/>
          <p:nvPr/>
        </p:nvSpPr>
        <p:spPr>
          <a:xfrm>
            <a:off x="6690208" y="321259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cystitis (sistit)</a:t>
            </a:r>
            <a:r>
              <a:rPr lang="en-US" sz="1300" dirty="0">
                <a:solidFill>
                  <a:srgbClr val="4B5563"/>
                </a:solidFill>
                <a:latin typeface="Calibri" pitchFamily="34" charset="0"/>
                <a:ea typeface="Calibri" pitchFamily="34" charset="-122"/>
                <a:cs typeface="Calibri" pitchFamily="34" charset="-120"/>
              </a:rPr>
              <a:t>: Sidik torbası yangısı, iltihabı</a:t>
            </a:r>
            <a:endParaRPr lang="en-US" sz="1300" dirty="0"/>
          </a:p>
        </p:txBody>
      </p:sp>
      <p:sp>
        <p:nvSpPr>
          <p:cNvPr id="40" name="Shape 38"/>
          <p:cNvSpPr/>
          <p:nvPr/>
        </p:nvSpPr>
        <p:spPr>
          <a:xfrm>
            <a:off x="6233008" y="3679190"/>
            <a:ext cx="5410048" cy="1150366"/>
          </a:xfrm>
          <a:prstGeom prst="roundRect">
            <a:avLst>
              <a:gd name="adj" fmla="val 5564"/>
            </a:avLst>
          </a:prstGeom>
          <a:solidFill>
            <a:srgbClr val="EAF6F4"/>
          </a:solidFill>
          <a:ln/>
        </p:spPr>
      </p:sp>
      <p:sp>
        <p:nvSpPr>
          <p:cNvPr id="41" name="Text 39"/>
          <p:cNvSpPr txBox="1"/>
          <p:nvPr/>
        </p:nvSpPr>
        <p:spPr>
          <a:xfrm>
            <a:off x="6415888" y="3743198"/>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4-  </a:t>
            </a:r>
            <a:endParaRPr lang="en-US" sz="1400" dirty="0"/>
          </a:p>
        </p:txBody>
      </p:sp>
      <p:sp>
        <p:nvSpPr>
          <p:cNvPr id="42" name="Shape 40"/>
          <p:cNvSpPr/>
          <p:nvPr/>
        </p:nvSpPr>
        <p:spPr>
          <a:xfrm>
            <a:off x="6534760" y="4046885"/>
            <a:ext cx="64008" cy="64008"/>
          </a:xfrm>
          <a:prstGeom prst="ellipse">
            <a:avLst/>
          </a:prstGeom>
          <a:solidFill>
            <a:srgbClr val="0F766E"/>
          </a:solidFill>
          <a:ln/>
        </p:spPr>
      </p:sp>
      <p:sp>
        <p:nvSpPr>
          <p:cNvPr id="43" name="Text 41"/>
          <p:cNvSpPr txBox="1"/>
          <p:nvPr/>
        </p:nvSpPr>
        <p:spPr>
          <a:xfrm>
            <a:off x="6690208" y="397840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urethr (o) (G) (uretr, uretro)</a:t>
            </a:r>
            <a:r>
              <a:rPr lang="en-US" sz="1300" dirty="0">
                <a:solidFill>
                  <a:srgbClr val="4B5563"/>
                </a:solidFill>
                <a:latin typeface="Calibri" pitchFamily="34" charset="0"/>
                <a:ea typeface="Calibri" pitchFamily="34" charset="-122"/>
                <a:cs typeface="Calibri" pitchFamily="34" charset="-120"/>
              </a:rPr>
              <a:t>: Uretra, idrar yolu</a:t>
            </a:r>
            <a:endParaRPr lang="en-US" sz="1300" dirty="0"/>
          </a:p>
        </p:txBody>
      </p:sp>
      <p:sp>
        <p:nvSpPr>
          <p:cNvPr id="44" name="Shape 42"/>
          <p:cNvSpPr/>
          <p:nvPr/>
        </p:nvSpPr>
        <p:spPr>
          <a:xfrm>
            <a:off x="6534760" y="4284883"/>
            <a:ext cx="64008" cy="64008"/>
          </a:xfrm>
          <a:prstGeom prst="ellipse">
            <a:avLst/>
          </a:prstGeom>
          <a:solidFill>
            <a:srgbClr val="0F766E"/>
          </a:solidFill>
          <a:ln/>
        </p:spPr>
      </p:sp>
      <p:sp>
        <p:nvSpPr>
          <p:cNvPr id="45" name="Text 43"/>
          <p:cNvSpPr txBox="1"/>
          <p:nvPr/>
        </p:nvSpPr>
        <p:spPr>
          <a:xfrm>
            <a:off x="6690208" y="421640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urethratresia (uretratrezi)</a:t>
            </a:r>
            <a:r>
              <a:rPr lang="en-US" sz="1300" dirty="0">
                <a:solidFill>
                  <a:srgbClr val="4B5563"/>
                </a:solidFill>
                <a:latin typeface="Calibri" pitchFamily="34" charset="0"/>
                <a:ea typeface="Calibri" pitchFamily="34" charset="-122"/>
                <a:cs typeface="Calibri" pitchFamily="34" charset="-120"/>
              </a:rPr>
              <a:t>: İdrar yolunun kapalı oluşu</a:t>
            </a:r>
            <a:endParaRPr lang="en-US" sz="1300" dirty="0"/>
          </a:p>
        </p:txBody>
      </p:sp>
      <p:sp>
        <p:nvSpPr>
          <p:cNvPr id="46" name="Shape 44"/>
          <p:cNvSpPr/>
          <p:nvPr/>
        </p:nvSpPr>
        <p:spPr>
          <a:xfrm>
            <a:off x="6534760" y="4522881"/>
            <a:ext cx="64008" cy="64008"/>
          </a:xfrm>
          <a:prstGeom prst="ellipse">
            <a:avLst/>
          </a:prstGeom>
          <a:solidFill>
            <a:srgbClr val="0F766E"/>
          </a:solidFill>
          <a:ln/>
        </p:spPr>
      </p:sp>
      <p:sp>
        <p:nvSpPr>
          <p:cNvPr id="47" name="Text 45"/>
          <p:cNvSpPr txBox="1"/>
          <p:nvPr/>
        </p:nvSpPr>
        <p:spPr>
          <a:xfrm>
            <a:off x="6690208" y="445439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urethtophraxis (uretrofraksi)</a:t>
            </a:r>
            <a:r>
              <a:rPr lang="en-US" sz="1300" dirty="0">
                <a:solidFill>
                  <a:srgbClr val="4B5563"/>
                </a:solidFill>
                <a:latin typeface="Calibri" pitchFamily="34" charset="0"/>
                <a:ea typeface="Calibri" pitchFamily="34" charset="-122"/>
                <a:cs typeface="Calibri" pitchFamily="34" charset="-120"/>
              </a:rPr>
              <a:t>: İdrar yolunun tıkanıklığı</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Sinir Sistemine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48</a:t>
            </a:r>
            <a:endParaRPr lang="en-US" sz="1000" dirty="0"/>
          </a:p>
        </p:txBody>
      </p:sp>
      <p:sp>
        <p:nvSpPr>
          <p:cNvPr id="6" name="Shape 4"/>
          <p:cNvSpPr/>
          <p:nvPr/>
        </p:nvSpPr>
        <p:spPr>
          <a:xfrm>
            <a:off x="548640" y="1796542"/>
            <a:ext cx="5410048" cy="1150366"/>
          </a:xfrm>
          <a:prstGeom prst="roundRect">
            <a:avLst>
              <a:gd name="adj" fmla="val 5564"/>
            </a:avLst>
          </a:prstGeom>
          <a:solidFill>
            <a:srgbClr val="EAF6F4"/>
          </a:solidFill>
          <a:ln/>
        </p:spPr>
      </p:sp>
      <p:sp>
        <p:nvSpPr>
          <p:cNvPr id="7" name="Text 5"/>
          <p:cNvSpPr txBox="1"/>
          <p:nvPr/>
        </p:nvSpPr>
        <p:spPr>
          <a:xfrm>
            <a:off x="731520" y="1860550"/>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1-a)  </a:t>
            </a:r>
            <a:endParaRPr lang="en-US" sz="1400" dirty="0"/>
          </a:p>
        </p:txBody>
      </p:sp>
      <p:sp>
        <p:nvSpPr>
          <p:cNvPr id="8" name="Shape 6"/>
          <p:cNvSpPr/>
          <p:nvPr/>
        </p:nvSpPr>
        <p:spPr>
          <a:xfrm>
            <a:off x="850392" y="2164237"/>
            <a:ext cx="64008" cy="64008"/>
          </a:xfrm>
          <a:prstGeom prst="ellipse">
            <a:avLst/>
          </a:prstGeom>
          <a:solidFill>
            <a:srgbClr val="0F766E"/>
          </a:solidFill>
          <a:ln/>
        </p:spPr>
      </p:sp>
      <p:sp>
        <p:nvSpPr>
          <p:cNvPr id="9" name="Text 7"/>
          <p:cNvSpPr txBox="1"/>
          <p:nvPr/>
        </p:nvSpPr>
        <p:spPr>
          <a:xfrm>
            <a:off x="1005840" y="209575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cerebr (o) (L) (serebr, serebro)</a:t>
            </a:r>
            <a:r>
              <a:rPr lang="en-US" sz="1300" dirty="0">
                <a:solidFill>
                  <a:srgbClr val="4B5563"/>
                </a:solidFill>
                <a:latin typeface="Calibri" pitchFamily="34" charset="0"/>
                <a:ea typeface="Calibri" pitchFamily="34" charset="-122"/>
                <a:cs typeface="Calibri" pitchFamily="34" charset="-120"/>
              </a:rPr>
              <a:t>: Beyin</a:t>
            </a:r>
            <a:endParaRPr lang="en-US" sz="1300" dirty="0"/>
          </a:p>
        </p:txBody>
      </p:sp>
      <p:sp>
        <p:nvSpPr>
          <p:cNvPr id="10" name="Shape 8"/>
          <p:cNvSpPr/>
          <p:nvPr/>
        </p:nvSpPr>
        <p:spPr>
          <a:xfrm>
            <a:off x="850392" y="2402235"/>
            <a:ext cx="64008" cy="64008"/>
          </a:xfrm>
          <a:prstGeom prst="ellipse">
            <a:avLst/>
          </a:prstGeom>
          <a:solidFill>
            <a:srgbClr val="0F766E"/>
          </a:solidFill>
          <a:ln/>
        </p:spPr>
      </p:sp>
      <p:sp>
        <p:nvSpPr>
          <p:cNvPr id="11" name="Text 9"/>
          <p:cNvSpPr txBox="1"/>
          <p:nvPr/>
        </p:nvSpPr>
        <p:spPr>
          <a:xfrm>
            <a:off x="1005840" y="233375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cerebriform (serebriform)</a:t>
            </a:r>
            <a:r>
              <a:rPr lang="en-US" sz="1300" dirty="0">
                <a:solidFill>
                  <a:srgbClr val="4B5563"/>
                </a:solidFill>
                <a:latin typeface="Calibri" pitchFamily="34" charset="0"/>
                <a:ea typeface="Calibri" pitchFamily="34" charset="-122"/>
                <a:cs typeface="Calibri" pitchFamily="34" charset="-120"/>
              </a:rPr>
              <a:t>: Beyin şeklinde</a:t>
            </a:r>
            <a:endParaRPr lang="en-US" sz="1300" dirty="0"/>
          </a:p>
        </p:txBody>
      </p:sp>
      <p:sp>
        <p:nvSpPr>
          <p:cNvPr id="12" name="Shape 10"/>
          <p:cNvSpPr/>
          <p:nvPr/>
        </p:nvSpPr>
        <p:spPr>
          <a:xfrm>
            <a:off x="850392" y="2640233"/>
            <a:ext cx="64008" cy="64008"/>
          </a:xfrm>
          <a:prstGeom prst="ellipse">
            <a:avLst/>
          </a:prstGeom>
          <a:solidFill>
            <a:srgbClr val="0F766E"/>
          </a:solidFill>
          <a:ln/>
        </p:spPr>
      </p:sp>
      <p:sp>
        <p:nvSpPr>
          <p:cNvPr id="13" name="Text 11"/>
          <p:cNvSpPr txBox="1"/>
          <p:nvPr/>
        </p:nvSpPr>
        <p:spPr>
          <a:xfrm>
            <a:off x="1005840" y="257175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cerebrospinal (serebrospinal)</a:t>
            </a:r>
            <a:r>
              <a:rPr lang="en-US" sz="1300" dirty="0">
                <a:solidFill>
                  <a:srgbClr val="4B5563"/>
                </a:solidFill>
                <a:latin typeface="Calibri" pitchFamily="34" charset="0"/>
                <a:ea typeface="Calibri" pitchFamily="34" charset="-122"/>
                <a:cs typeface="Calibri" pitchFamily="34" charset="-120"/>
              </a:rPr>
              <a:t>: Beyin ve omurilikle ilgili</a:t>
            </a:r>
            <a:endParaRPr lang="en-US" sz="1300" dirty="0"/>
          </a:p>
        </p:txBody>
      </p:sp>
      <p:sp>
        <p:nvSpPr>
          <p:cNvPr id="14" name="Shape 12"/>
          <p:cNvSpPr/>
          <p:nvPr/>
        </p:nvSpPr>
        <p:spPr>
          <a:xfrm>
            <a:off x="548640" y="3038348"/>
            <a:ext cx="5410048" cy="1150366"/>
          </a:xfrm>
          <a:prstGeom prst="roundRect">
            <a:avLst>
              <a:gd name="adj" fmla="val 5564"/>
            </a:avLst>
          </a:prstGeom>
          <a:solidFill>
            <a:srgbClr val="EAF6F4"/>
          </a:solidFill>
          <a:ln/>
        </p:spPr>
      </p:sp>
      <p:sp>
        <p:nvSpPr>
          <p:cNvPr id="15" name="Text 13"/>
          <p:cNvSpPr txBox="1"/>
          <p:nvPr/>
        </p:nvSpPr>
        <p:spPr>
          <a:xfrm>
            <a:off x="731520" y="3102356"/>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1-b)  </a:t>
            </a:r>
            <a:endParaRPr lang="en-US" sz="1400" dirty="0"/>
          </a:p>
        </p:txBody>
      </p:sp>
      <p:sp>
        <p:nvSpPr>
          <p:cNvPr id="16" name="Shape 14"/>
          <p:cNvSpPr/>
          <p:nvPr/>
        </p:nvSpPr>
        <p:spPr>
          <a:xfrm>
            <a:off x="850392" y="3406043"/>
            <a:ext cx="64008" cy="64008"/>
          </a:xfrm>
          <a:prstGeom prst="ellipse">
            <a:avLst/>
          </a:prstGeom>
          <a:solidFill>
            <a:srgbClr val="0F766E"/>
          </a:solidFill>
          <a:ln/>
        </p:spPr>
      </p:sp>
      <p:sp>
        <p:nvSpPr>
          <p:cNvPr id="17" name="Text 15"/>
          <p:cNvSpPr txBox="1"/>
          <p:nvPr/>
        </p:nvSpPr>
        <p:spPr>
          <a:xfrm>
            <a:off x="1005840" y="333756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encephal (G) (ensefal)</a:t>
            </a:r>
            <a:r>
              <a:rPr lang="en-US" sz="1300" dirty="0">
                <a:solidFill>
                  <a:srgbClr val="4B5563"/>
                </a:solidFill>
                <a:latin typeface="Calibri" pitchFamily="34" charset="0"/>
                <a:ea typeface="Calibri" pitchFamily="34" charset="-122"/>
                <a:cs typeface="Calibri" pitchFamily="34" charset="-120"/>
              </a:rPr>
              <a:t>: Beyin</a:t>
            </a:r>
            <a:endParaRPr lang="en-US" sz="1300" dirty="0"/>
          </a:p>
        </p:txBody>
      </p:sp>
      <p:sp>
        <p:nvSpPr>
          <p:cNvPr id="18" name="Shape 16"/>
          <p:cNvSpPr/>
          <p:nvPr/>
        </p:nvSpPr>
        <p:spPr>
          <a:xfrm>
            <a:off x="850392" y="3644041"/>
            <a:ext cx="64008" cy="64008"/>
          </a:xfrm>
          <a:prstGeom prst="ellipse">
            <a:avLst/>
          </a:prstGeom>
          <a:solidFill>
            <a:srgbClr val="0F766E"/>
          </a:solidFill>
          <a:ln/>
        </p:spPr>
      </p:sp>
      <p:sp>
        <p:nvSpPr>
          <p:cNvPr id="19" name="Text 17"/>
          <p:cNvSpPr txBox="1"/>
          <p:nvPr/>
        </p:nvSpPr>
        <p:spPr>
          <a:xfrm>
            <a:off x="1005840" y="357555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encephalitis (ensafalit)</a:t>
            </a:r>
            <a:r>
              <a:rPr lang="en-US" sz="1300" dirty="0">
                <a:solidFill>
                  <a:srgbClr val="4B5563"/>
                </a:solidFill>
                <a:latin typeface="Calibri" pitchFamily="34" charset="0"/>
                <a:ea typeface="Calibri" pitchFamily="34" charset="-122"/>
                <a:cs typeface="Calibri" pitchFamily="34" charset="-120"/>
              </a:rPr>
              <a:t>: Beyin yangısı</a:t>
            </a:r>
            <a:endParaRPr lang="en-US" sz="1300" dirty="0"/>
          </a:p>
        </p:txBody>
      </p:sp>
      <p:sp>
        <p:nvSpPr>
          <p:cNvPr id="20" name="Shape 18"/>
          <p:cNvSpPr/>
          <p:nvPr/>
        </p:nvSpPr>
        <p:spPr>
          <a:xfrm>
            <a:off x="850392" y="3882039"/>
            <a:ext cx="64008" cy="64008"/>
          </a:xfrm>
          <a:prstGeom prst="ellipse">
            <a:avLst/>
          </a:prstGeom>
          <a:solidFill>
            <a:srgbClr val="0F766E"/>
          </a:solidFill>
          <a:ln/>
        </p:spPr>
      </p:sp>
      <p:sp>
        <p:nvSpPr>
          <p:cNvPr id="21" name="Text 19"/>
          <p:cNvSpPr txBox="1"/>
          <p:nvPr/>
        </p:nvSpPr>
        <p:spPr>
          <a:xfrm>
            <a:off x="1005840" y="381355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encephaloma (ensefaloma)</a:t>
            </a:r>
            <a:r>
              <a:rPr lang="en-US" sz="1300" dirty="0">
                <a:solidFill>
                  <a:srgbClr val="4B5563"/>
                </a:solidFill>
                <a:latin typeface="Calibri" pitchFamily="34" charset="0"/>
                <a:ea typeface="Calibri" pitchFamily="34" charset="-122"/>
                <a:cs typeface="Calibri" pitchFamily="34" charset="-120"/>
              </a:rPr>
              <a:t>: Beyin tümörü</a:t>
            </a:r>
            <a:endParaRPr lang="en-US" sz="1300" dirty="0"/>
          </a:p>
        </p:txBody>
      </p:sp>
      <p:sp>
        <p:nvSpPr>
          <p:cNvPr id="22" name="Shape 20"/>
          <p:cNvSpPr/>
          <p:nvPr/>
        </p:nvSpPr>
        <p:spPr>
          <a:xfrm>
            <a:off x="548640" y="4280154"/>
            <a:ext cx="5410048" cy="2029206"/>
          </a:xfrm>
          <a:prstGeom prst="roundRect">
            <a:avLst>
              <a:gd name="adj" fmla="val 3154"/>
            </a:avLst>
          </a:prstGeom>
          <a:solidFill>
            <a:srgbClr val="EAF6F4"/>
          </a:solidFill>
          <a:ln/>
        </p:spPr>
      </p:sp>
      <p:sp>
        <p:nvSpPr>
          <p:cNvPr id="23" name="Text 21"/>
          <p:cNvSpPr txBox="1"/>
          <p:nvPr/>
        </p:nvSpPr>
        <p:spPr>
          <a:xfrm>
            <a:off x="731520" y="4344162"/>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2-  </a:t>
            </a:r>
            <a:endParaRPr lang="en-US" sz="1400" dirty="0"/>
          </a:p>
        </p:txBody>
      </p:sp>
      <p:sp>
        <p:nvSpPr>
          <p:cNvPr id="24" name="Shape 22"/>
          <p:cNvSpPr/>
          <p:nvPr/>
        </p:nvSpPr>
        <p:spPr>
          <a:xfrm>
            <a:off x="850392" y="4647849"/>
            <a:ext cx="64008" cy="64008"/>
          </a:xfrm>
          <a:prstGeom prst="ellipse">
            <a:avLst/>
          </a:prstGeom>
          <a:solidFill>
            <a:srgbClr val="0F766E"/>
          </a:solidFill>
          <a:ln/>
        </p:spPr>
      </p:sp>
      <p:sp>
        <p:nvSpPr>
          <p:cNvPr id="25" name="Text 23"/>
          <p:cNvSpPr txBox="1"/>
          <p:nvPr/>
        </p:nvSpPr>
        <p:spPr>
          <a:xfrm>
            <a:off x="1005840" y="4579366"/>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myel (o) (G) (miyel, miyelo)</a:t>
            </a:r>
            <a:r>
              <a:rPr lang="en-US" sz="1300" dirty="0">
                <a:solidFill>
                  <a:srgbClr val="4B5563"/>
                </a:solidFill>
                <a:latin typeface="Calibri" pitchFamily="34" charset="0"/>
                <a:ea typeface="Calibri" pitchFamily="34" charset="-122"/>
                <a:cs typeface="Calibri" pitchFamily="34" charset="-120"/>
              </a:rPr>
              <a:t>: Omurilik, ilik, miyelin tabakası</a:t>
            </a:r>
            <a:endParaRPr lang="en-US" sz="1300" dirty="0"/>
          </a:p>
        </p:txBody>
      </p:sp>
      <p:sp>
        <p:nvSpPr>
          <p:cNvPr id="26" name="Shape 24"/>
          <p:cNvSpPr/>
          <p:nvPr/>
        </p:nvSpPr>
        <p:spPr>
          <a:xfrm>
            <a:off x="850392" y="5087269"/>
            <a:ext cx="64008" cy="64008"/>
          </a:xfrm>
          <a:prstGeom prst="ellipse">
            <a:avLst/>
          </a:prstGeom>
          <a:solidFill>
            <a:srgbClr val="0F766E"/>
          </a:solidFill>
          <a:ln/>
        </p:spPr>
      </p:sp>
      <p:sp>
        <p:nvSpPr>
          <p:cNvPr id="27" name="Text 25"/>
          <p:cNvSpPr txBox="1"/>
          <p:nvPr/>
        </p:nvSpPr>
        <p:spPr>
          <a:xfrm>
            <a:off x="1005840" y="501878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myelitis (miyelit)</a:t>
            </a:r>
            <a:r>
              <a:rPr lang="en-US" sz="1300" dirty="0">
                <a:solidFill>
                  <a:srgbClr val="4B5563"/>
                </a:solidFill>
                <a:latin typeface="Calibri" pitchFamily="34" charset="0"/>
                <a:ea typeface="Calibri" pitchFamily="34" charset="-122"/>
                <a:cs typeface="Calibri" pitchFamily="34" charset="-120"/>
              </a:rPr>
              <a:t>: Omurilik yangısı</a:t>
            </a:r>
            <a:endParaRPr lang="en-US" sz="1300" dirty="0"/>
          </a:p>
        </p:txBody>
      </p:sp>
      <p:sp>
        <p:nvSpPr>
          <p:cNvPr id="28" name="Shape 26"/>
          <p:cNvSpPr/>
          <p:nvPr/>
        </p:nvSpPr>
        <p:spPr>
          <a:xfrm>
            <a:off x="850392" y="5325267"/>
            <a:ext cx="64008" cy="64008"/>
          </a:xfrm>
          <a:prstGeom prst="ellipse">
            <a:avLst/>
          </a:prstGeom>
          <a:solidFill>
            <a:srgbClr val="0F766E"/>
          </a:solidFill>
          <a:ln/>
        </p:spPr>
      </p:sp>
      <p:sp>
        <p:nvSpPr>
          <p:cNvPr id="29" name="Text 27"/>
          <p:cNvSpPr txBox="1"/>
          <p:nvPr/>
        </p:nvSpPr>
        <p:spPr>
          <a:xfrm>
            <a:off x="1005840" y="525678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osteomyelitis (osteomiyelit)</a:t>
            </a:r>
            <a:r>
              <a:rPr lang="en-US" sz="1300" dirty="0">
                <a:solidFill>
                  <a:srgbClr val="4B5563"/>
                </a:solidFill>
                <a:latin typeface="Calibri" pitchFamily="34" charset="0"/>
                <a:ea typeface="Calibri" pitchFamily="34" charset="-122"/>
                <a:cs typeface="Calibri" pitchFamily="34" charset="-120"/>
              </a:rPr>
              <a:t>: Kemik iliği iltihabı</a:t>
            </a:r>
            <a:endParaRPr lang="en-US" sz="1300" dirty="0"/>
          </a:p>
        </p:txBody>
      </p:sp>
      <p:sp>
        <p:nvSpPr>
          <p:cNvPr id="30" name="Shape 28"/>
          <p:cNvSpPr/>
          <p:nvPr/>
        </p:nvSpPr>
        <p:spPr>
          <a:xfrm>
            <a:off x="850392" y="5563265"/>
            <a:ext cx="64008" cy="64008"/>
          </a:xfrm>
          <a:prstGeom prst="ellipse">
            <a:avLst/>
          </a:prstGeom>
          <a:solidFill>
            <a:srgbClr val="0F766E"/>
          </a:solidFill>
          <a:ln/>
        </p:spPr>
      </p:sp>
      <p:sp>
        <p:nvSpPr>
          <p:cNvPr id="31" name="Text 29"/>
          <p:cNvSpPr txBox="1"/>
          <p:nvPr/>
        </p:nvSpPr>
        <p:spPr>
          <a:xfrm>
            <a:off x="1005840" y="549478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myelocyte (miyelosit)</a:t>
            </a:r>
            <a:r>
              <a:rPr lang="en-US" sz="1300" dirty="0">
                <a:solidFill>
                  <a:srgbClr val="4B5563"/>
                </a:solidFill>
                <a:latin typeface="Calibri" pitchFamily="34" charset="0"/>
                <a:ea typeface="Calibri" pitchFamily="34" charset="-122"/>
                <a:cs typeface="Calibri" pitchFamily="34" charset="-120"/>
              </a:rPr>
              <a:t>: İlik hücresi</a:t>
            </a:r>
            <a:endParaRPr lang="en-US" sz="1300" dirty="0"/>
          </a:p>
        </p:txBody>
      </p:sp>
      <p:sp>
        <p:nvSpPr>
          <p:cNvPr id="32" name="Shape 30"/>
          <p:cNvSpPr/>
          <p:nvPr/>
        </p:nvSpPr>
        <p:spPr>
          <a:xfrm>
            <a:off x="850392" y="5801263"/>
            <a:ext cx="64008" cy="64008"/>
          </a:xfrm>
          <a:prstGeom prst="ellipse">
            <a:avLst/>
          </a:prstGeom>
          <a:solidFill>
            <a:srgbClr val="0F766E"/>
          </a:solidFill>
          <a:ln/>
        </p:spPr>
      </p:sp>
      <p:sp>
        <p:nvSpPr>
          <p:cNvPr id="33" name="Text 31"/>
          <p:cNvSpPr txBox="1"/>
          <p:nvPr/>
        </p:nvSpPr>
        <p:spPr>
          <a:xfrm>
            <a:off x="1005840" y="5732780"/>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myelin (miyelin)</a:t>
            </a:r>
            <a:r>
              <a:rPr lang="en-US" sz="1300" dirty="0">
                <a:solidFill>
                  <a:srgbClr val="4B5563"/>
                </a:solidFill>
                <a:latin typeface="Calibri" pitchFamily="34" charset="0"/>
                <a:ea typeface="Calibri" pitchFamily="34" charset="-122"/>
                <a:cs typeface="Calibri" pitchFamily="34" charset="-120"/>
              </a:rPr>
              <a:t>: Sinir liflerinin etrafını saran kılıf gibi yağa benzer madde</a:t>
            </a:r>
            <a:endParaRPr lang="en-US" sz="1300" dirty="0"/>
          </a:p>
        </p:txBody>
      </p:sp>
      <p:sp>
        <p:nvSpPr>
          <p:cNvPr id="34" name="Shape 32"/>
          <p:cNvSpPr/>
          <p:nvPr/>
        </p:nvSpPr>
        <p:spPr>
          <a:xfrm>
            <a:off x="6233008" y="1796542"/>
            <a:ext cx="5410048" cy="1351788"/>
          </a:xfrm>
          <a:prstGeom prst="roundRect">
            <a:avLst>
              <a:gd name="adj" fmla="val 4735"/>
            </a:avLst>
          </a:prstGeom>
          <a:solidFill>
            <a:srgbClr val="EAF6F4"/>
          </a:solidFill>
          <a:ln/>
        </p:spPr>
      </p:sp>
      <p:sp>
        <p:nvSpPr>
          <p:cNvPr id="35" name="Text 33"/>
          <p:cNvSpPr txBox="1"/>
          <p:nvPr/>
        </p:nvSpPr>
        <p:spPr>
          <a:xfrm>
            <a:off x="6415888" y="1860550"/>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3-  </a:t>
            </a:r>
            <a:endParaRPr lang="en-US" sz="1400" dirty="0"/>
          </a:p>
        </p:txBody>
      </p:sp>
      <p:sp>
        <p:nvSpPr>
          <p:cNvPr id="36" name="Shape 34"/>
          <p:cNvSpPr/>
          <p:nvPr/>
        </p:nvSpPr>
        <p:spPr>
          <a:xfrm>
            <a:off x="6534760" y="2164237"/>
            <a:ext cx="64008" cy="64008"/>
          </a:xfrm>
          <a:prstGeom prst="ellipse">
            <a:avLst/>
          </a:prstGeom>
          <a:solidFill>
            <a:srgbClr val="0F766E"/>
          </a:solidFill>
          <a:ln/>
        </p:spPr>
      </p:sp>
      <p:sp>
        <p:nvSpPr>
          <p:cNvPr id="37" name="Text 35"/>
          <p:cNvSpPr txBox="1"/>
          <p:nvPr/>
        </p:nvSpPr>
        <p:spPr>
          <a:xfrm>
            <a:off x="6690208" y="2095754"/>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mening (o) (G) (mening, meningo)</a:t>
            </a:r>
            <a:r>
              <a:rPr lang="en-US" sz="1300" dirty="0">
                <a:solidFill>
                  <a:srgbClr val="4B5563"/>
                </a:solidFill>
                <a:latin typeface="Calibri" pitchFamily="34" charset="0"/>
                <a:ea typeface="Calibri" pitchFamily="34" charset="-122"/>
                <a:cs typeface="Calibri" pitchFamily="34" charset="-120"/>
              </a:rPr>
              <a:t>: Beyin omurilik zarları (BOZ)</a:t>
            </a:r>
            <a:endParaRPr lang="en-US" sz="1300" dirty="0"/>
          </a:p>
        </p:txBody>
      </p:sp>
      <p:sp>
        <p:nvSpPr>
          <p:cNvPr id="38" name="Shape 36"/>
          <p:cNvSpPr/>
          <p:nvPr/>
        </p:nvSpPr>
        <p:spPr>
          <a:xfrm>
            <a:off x="6534760" y="2603657"/>
            <a:ext cx="64008" cy="64008"/>
          </a:xfrm>
          <a:prstGeom prst="ellipse">
            <a:avLst/>
          </a:prstGeom>
          <a:solidFill>
            <a:srgbClr val="0F766E"/>
          </a:solidFill>
          <a:ln/>
        </p:spPr>
      </p:sp>
      <p:sp>
        <p:nvSpPr>
          <p:cNvPr id="39" name="Text 37"/>
          <p:cNvSpPr txBox="1"/>
          <p:nvPr/>
        </p:nvSpPr>
        <p:spPr>
          <a:xfrm>
            <a:off x="6690208" y="253517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meningitis (meningit)</a:t>
            </a:r>
            <a:r>
              <a:rPr lang="en-US" sz="1300" dirty="0">
                <a:solidFill>
                  <a:srgbClr val="4B5563"/>
                </a:solidFill>
                <a:latin typeface="Calibri" pitchFamily="34" charset="0"/>
                <a:ea typeface="Calibri" pitchFamily="34" charset="-122"/>
                <a:cs typeface="Calibri" pitchFamily="34" charset="-120"/>
              </a:rPr>
              <a:t>: BOZ iltihabı</a:t>
            </a:r>
            <a:endParaRPr lang="en-US" sz="1300" dirty="0"/>
          </a:p>
        </p:txBody>
      </p:sp>
      <p:sp>
        <p:nvSpPr>
          <p:cNvPr id="40" name="Shape 38"/>
          <p:cNvSpPr/>
          <p:nvPr/>
        </p:nvSpPr>
        <p:spPr>
          <a:xfrm>
            <a:off x="6534760" y="2841655"/>
            <a:ext cx="64008" cy="64008"/>
          </a:xfrm>
          <a:prstGeom prst="ellipse">
            <a:avLst/>
          </a:prstGeom>
          <a:solidFill>
            <a:srgbClr val="0F766E"/>
          </a:solidFill>
          <a:ln/>
        </p:spPr>
      </p:sp>
      <p:sp>
        <p:nvSpPr>
          <p:cNvPr id="41" name="Text 39"/>
          <p:cNvSpPr txBox="1"/>
          <p:nvPr/>
        </p:nvSpPr>
        <p:spPr>
          <a:xfrm>
            <a:off x="6690208" y="277317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meningorrhagia (meningoraji)</a:t>
            </a:r>
            <a:r>
              <a:rPr lang="en-US" sz="1300" dirty="0">
                <a:solidFill>
                  <a:srgbClr val="4B5563"/>
                </a:solidFill>
                <a:latin typeface="Calibri" pitchFamily="34" charset="0"/>
                <a:ea typeface="Calibri" pitchFamily="34" charset="-122"/>
                <a:cs typeface="Calibri" pitchFamily="34" charset="-120"/>
              </a:rPr>
              <a:t>: BOZ içinde kanama olması</a:t>
            </a:r>
            <a:endParaRPr lang="en-US" sz="1300" dirty="0"/>
          </a:p>
        </p:txBody>
      </p:sp>
      <p:sp>
        <p:nvSpPr>
          <p:cNvPr id="42" name="Shape 40"/>
          <p:cNvSpPr/>
          <p:nvPr/>
        </p:nvSpPr>
        <p:spPr>
          <a:xfrm>
            <a:off x="6233008" y="3239770"/>
            <a:ext cx="5410048" cy="1589786"/>
          </a:xfrm>
          <a:prstGeom prst="roundRect">
            <a:avLst>
              <a:gd name="adj" fmla="val 4026"/>
            </a:avLst>
          </a:prstGeom>
          <a:solidFill>
            <a:srgbClr val="EAF6F4"/>
          </a:solidFill>
          <a:ln/>
        </p:spPr>
      </p:sp>
      <p:sp>
        <p:nvSpPr>
          <p:cNvPr id="43" name="Text 41"/>
          <p:cNvSpPr txBox="1"/>
          <p:nvPr/>
        </p:nvSpPr>
        <p:spPr>
          <a:xfrm>
            <a:off x="6415888" y="3303778"/>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4-  </a:t>
            </a:r>
            <a:endParaRPr lang="en-US" sz="1400" dirty="0"/>
          </a:p>
        </p:txBody>
      </p:sp>
      <p:sp>
        <p:nvSpPr>
          <p:cNvPr id="44" name="Shape 42"/>
          <p:cNvSpPr/>
          <p:nvPr/>
        </p:nvSpPr>
        <p:spPr>
          <a:xfrm>
            <a:off x="6534760" y="3607465"/>
            <a:ext cx="64008" cy="64008"/>
          </a:xfrm>
          <a:prstGeom prst="ellipse">
            <a:avLst/>
          </a:prstGeom>
          <a:solidFill>
            <a:srgbClr val="0F766E"/>
          </a:solidFill>
          <a:ln/>
        </p:spPr>
      </p:sp>
      <p:sp>
        <p:nvSpPr>
          <p:cNvPr id="45" name="Text 43"/>
          <p:cNvSpPr txBox="1"/>
          <p:nvPr/>
        </p:nvSpPr>
        <p:spPr>
          <a:xfrm>
            <a:off x="6690208" y="353898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neur (o) (G) (nör, nöro)</a:t>
            </a:r>
            <a:r>
              <a:rPr lang="en-US" sz="1300" dirty="0">
                <a:solidFill>
                  <a:srgbClr val="4B5563"/>
                </a:solidFill>
                <a:latin typeface="Calibri" pitchFamily="34" charset="0"/>
                <a:ea typeface="Calibri" pitchFamily="34" charset="-122"/>
                <a:cs typeface="Calibri" pitchFamily="34" charset="-120"/>
              </a:rPr>
              <a:t>: Sinir</a:t>
            </a:r>
            <a:endParaRPr lang="en-US" sz="1300" dirty="0"/>
          </a:p>
        </p:txBody>
      </p:sp>
      <p:sp>
        <p:nvSpPr>
          <p:cNvPr id="46" name="Shape 44"/>
          <p:cNvSpPr/>
          <p:nvPr/>
        </p:nvSpPr>
        <p:spPr>
          <a:xfrm>
            <a:off x="6534760" y="3845463"/>
            <a:ext cx="64008" cy="64008"/>
          </a:xfrm>
          <a:prstGeom prst="ellipse">
            <a:avLst/>
          </a:prstGeom>
          <a:solidFill>
            <a:srgbClr val="0F766E"/>
          </a:solidFill>
          <a:ln/>
        </p:spPr>
      </p:sp>
      <p:sp>
        <p:nvSpPr>
          <p:cNvPr id="47" name="Text 45"/>
          <p:cNvSpPr txBox="1"/>
          <p:nvPr/>
        </p:nvSpPr>
        <p:spPr>
          <a:xfrm>
            <a:off x="6690208" y="3776980"/>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neurectomy (nörektomi)</a:t>
            </a:r>
            <a:r>
              <a:rPr lang="en-US" sz="1300" dirty="0">
                <a:solidFill>
                  <a:srgbClr val="4B5563"/>
                </a:solidFill>
                <a:latin typeface="Calibri" pitchFamily="34" charset="0"/>
                <a:ea typeface="Calibri" pitchFamily="34" charset="-122"/>
                <a:cs typeface="Calibri" pitchFamily="34" charset="-120"/>
              </a:rPr>
              <a:t>: Bir sinirin ameliyatla çıkarılması</a:t>
            </a:r>
            <a:endParaRPr lang="en-US" sz="1300" dirty="0"/>
          </a:p>
        </p:txBody>
      </p:sp>
      <p:sp>
        <p:nvSpPr>
          <p:cNvPr id="48" name="Shape 46"/>
          <p:cNvSpPr/>
          <p:nvPr/>
        </p:nvSpPr>
        <p:spPr>
          <a:xfrm>
            <a:off x="6534760" y="4284883"/>
            <a:ext cx="64008" cy="64008"/>
          </a:xfrm>
          <a:prstGeom prst="ellipse">
            <a:avLst/>
          </a:prstGeom>
          <a:solidFill>
            <a:srgbClr val="0F766E"/>
          </a:solidFill>
          <a:ln/>
        </p:spPr>
      </p:sp>
      <p:sp>
        <p:nvSpPr>
          <p:cNvPr id="49" name="Text 47"/>
          <p:cNvSpPr txBox="1"/>
          <p:nvPr/>
        </p:nvSpPr>
        <p:spPr>
          <a:xfrm>
            <a:off x="6690208" y="421640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neuroanatomy (nöroanatomi)</a:t>
            </a:r>
            <a:r>
              <a:rPr lang="en-US" sz="1300" dirty="0">
                <a:solidFill>
                  <a:srgbClr val="4B5563"/>
                </a:solidFill>
                <a:latin typeface="Calibri" pitchFamily="34" charset="0"/>
                <a:ea typeface="Calibri" pitchFamily="34" charset="-122"/>
                <a:cs typeface="Calibri" pitchFamily="34" charset="-120"/>
              </a:rPr>
              <a:t>: Sinir anatomisi</a:t>
            </a:r>
            <a:endParaRPr lang="en-US" sz="1300" dirty="0"/>
          </a:p>
        </p:txBody>
      </p:sp>
      <p:sp>
        <p:nvSpPr>
          <p:cNvPr id="50" name="Shape 48"/>
          <p:cNvSpPr/>
          <p:nvPr/>
        </p:nvSpPr>
        <p:spPr>
          <a:xfrm>
            <a:off x="6534760" y="4522881"/>
            <a:ext cx="64008" cy="64008"/>
          </a:xfrm>
          <a:prstGeom prst="ellipse">
            <a:avLst/>
          </a:prstGeom>
          <a:solidFill>
            <a:srgbClr val="0F766E"/>
          </a:solidFill>
          <a:ln/>
        </p:spPr>
      </p:sp>
      <p:sp>
        <p:nvSpPr>
          <p:cNvPr id="51" name="Text 49"/>
          <p:cNvSpPr txBox="1"/>
          <p:nvPr/>
        </p:nvSpPr>
        <p:spPr>
          <a:xfrm>
            <a:off x="6690208" y="445439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neuritis (nörit)</a:t>
            </a:r>
            <a:r>
              <a:rPr lang="en-US" sz="1300" dirty="0">
                <a:solidFill>
                  <a:srgbClr val="4B5563"/>
                </a:solidFill>
                <a:latin typeface="Calibri" pitchFamily="34" charset="0"/>
                <a:ea typeface="Calibri" pitchFamily="34" charset="-122"/>
                <a:cs typeface="Calibri" pitchFamily="34" charset="-120"/>
              </a:rPr>
              <a:t>: Sinir iltihabı</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Duyu Organlarına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49</a:t>
            </a:r>
            <a:endParaRPr lang="en-US" sz="1000" dirty="0"/>
          </a:p>
        </p:txBody>
      </p:sp>
      <p:sp>
        <p:nvSpPr>
          <p:cNvPr id="6" name="Shape 4"/>
          <p:cNvSpPr/>
          <p:nvPr/>
        </p:nvSpPr>
        <p:spPr>
          <a:xfrm>
            <a:off x="548640" y="2055622"/>
            <a:ext cx="5410048" cy="1212342"/>
          </a:xfrm>
          <a:prstGeom prst="roundRect">
            <a:avLst>
              <a:gd name="adj" fmla="val 5280"/>
            </a:avLst>
          </a:prstGeom>
          <a:solidFill>
            <a:srgbClr val="EAF6F4"/>
          </a:solidFill>
          <a:ln/>
        </p:spPr>
      </p:sp>
      <p:sp>
        <p:nvSpPr>
          <p:cNvPr id="7" name="Text 5"/>
          <p:cNvSpPr txBox="1"/>
          <p:nvPr/>
        </p:nvSpPr>
        <p:spPr>
          <a:xfrm>
            <a:off x="731520" y="211963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1-a)  </a:t>
            </a:r>
            <a:endParaRPr lang="en-US" sz="1500" dirty="0"/>
          </a:p>
        </p:txBody>
      </p:sp>
      <p:sp>
        <p:nvSpPr>
          <p:cNvPr id="8" name="Shape 6"/>
          <p:cNvSpPr/>
          <p:nvPr/>
        </p:nvSpPr>
        <p:spPr>
          <a:xfrm>
            <a:off x="850392" y="2444079"/>
            <a:ext cx="64008" cy="64008"/>
          </a:xfrm>
          <a:prstGeom prst="ellipse">
            <a:avLst/>
          </a:prstGeom>
          <a:solidFill>
            <a:srgbClr val="0F766E"/>
          </a:solidFill>
          <a:ln/>
        </p:spPr>
      </p:sp>
      <p:sp>
        <p:nvSpPr>
          <p:cNvPr id="9" name="Text 7"/>
          <p:cNvSpPr txBox="1"/>
          <p:nvPr/>
        </p:nvSpPr>
        <p:spPr>
          <a:xfrm>
            <a:off x="1005840" y="237032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ocul (o) (L) (okul, okulo)</a:t>
            </a:r>
            <a:r>
              <a:rPr lang="en-US" sz="1400" dirty="0">
                <a:solidFill>
                  <a:srgbClr val="4B5563"/>
                </a:solidFill>
                <a:latin typeface="Calibri" pitchFamily="34" charset="0"/>
                <a:ea typeface="Calibri" pitchFamily="34" charset="-122"/>
                <a:cs typeface="Calibri" pitchFamily="34" charset="-120"/>
              </a:rPr>
              <a:t>: Göz</a:t>
            </a:r>
            <a:endParaRPr lang="en-US" sz="1400" dirty="0"/>
          </a:p>
        </p:txBody>
      </p:sp>
      <p:sp>
        <p:nvSpPr>
          <p:cNvPr id="10" name="Shape 8"/>
          <p:cNvSpPr/>
          <p:nvPr/>
        </p:nvSpPr>
        <p:spPr>
          <a:xfrm>
            <a:off x="850392" y="2697571"/>
            <a:ext cx="64008" cy="64008"/>
          </a:xfrm>
          <a:prstGeom prst="ellipse">
            <a:avLst/>
          </a:prstGeom>
          <a:solidFill>
            <a:srgbClr val="0F766E"/>
          </a:solidFill>
          <a:ln/>
        </p:spPr>
      </p:sp>
      <p:sp>
        <p:nvSpPr>
          <p:cNvPr id="11" name="Text 9"/>
          <p:cNvSpPr txBox="1"/>
          <p:nvPr/>
        </p:nvSpPr>
        <p:spPr>
          <a:xfrm>
            <a:off x="1005840" y="262382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oculofacial (okulofasyal)</a:t>
            </a:r>
            <a:r>
              <a:rPr lang="en-US" sz="1400" dirty="0">
                <a:solidFill>
                  <a:srgbClr val="4B5563"/>
                </a:solidFill>
                <a:latin typeface="Calibri" pitchFamily="34" charset="0"/>
                <a:ea typeface="Calibri" pitchFamily="34" charset="-122"/>
                <a:cs typeface="Calibri" pitchFamily="34" charset="-120"/>
              </a:rPr>
              <a:t>: Gözler ve yüzle ilgli</a:t>
            </a:r>
            <a:endParaRPr lang="en-US" sz="1400" dirty="0"/>
          </a:p>
        </p:txBody>
      </p:sp>
      <p:sp>
        <p:nvSpPr>
          <p:cNvPr id="12" name="Shape 10"/>
          <p:cNvSpPr/>
          <p:nvPr/>
        </p:nvSpPr>
        <p:spPr>
          <a:xfrm>
            <a:off x="850392" y="2951063"/>
            <a:ext cx="64008" cy="64008"/>
          </a:xfrm>
          <a:prstGeom prst="ellipse">
            <a:avLst/>
          </a:prstGeom>
          <a:solidFill>
            <a:srgbClr val="0F766E"/>
          </a:solidFill>
          <a:ln/>
        </p:spPr>
      </p:sp>
      <p:sp>
        <p:nvSpPr>
          <p:cNvPr id="13" name="Text 11"/>
          <p:cNvSpPr txBox="1"/>
          <p:nvPr/>
        </p:nvSpPr>
        <p:spPr>
          <a:xfrm>
            <a:off x="1005840" y="287731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oculomotor (okulomotor)</a:t>
            </a:r>
            <a:r>
              <a:rPr lang="en-US" sz="1400" dirty="0">
                <a:solidFill>
                  <a:srgbClr val="4B5563"/>
                </a:solidFill>
                <a:latin typeface="Calibri" pitchFamily="34" charset="0"/>
                <a:ea typeface="Calibri" pitchFamily="34" charset="-122"/>
                <a:cs typeface="Calibri" pitchFamily="34" charset="-120"/>
              </a:rPr>
              <a:t>: Göz küresini hareket ettiren</a:t>
            </a:r>
            <a:endParaRPr lang="en-US" sz="1400" dirty="0"/>
          </a:p>
        </p:txBody>
      </p:sp>
      <p:sp>
        <p:nvSpPr>
          <p:cNvPr id="14" name="Shape 12"/>
          <p:cNvSpPr/>
          <p:nvPr/>
        </p:nvSpPr>
        <p:spPr>
          <a:xfrm>
            <a:off x="548640" y="3359404"/>
            <a:ext cx="5410048" cy="1429258"/>
          </a:xfrm>
          <a:prstGeom prst="roundRect">
            <a:avLst>
              <a:gd name="adj" fmla="val 4478"/>
            </a:avLst>
          </a:prstGeom>
          <a:solidFill>
            <a:srgbClr val="EAF6F4"/>
          </a:solidFill>
          <a:ln/>
        </p:spPr>
      </p:sp>
      <p:sp>
        <p:nvSpPr>
          <p:cNvPr id="15" name="Text 13"/>
          <p:cNvSpPr txBox="1"/>
          <p:nvPr/>
        </p:nvSpPr>
        <p:spPr>
          <a:xfrm>
            <a:off x="731520" y="342341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1-b)  </a:t>
            </a:r>
            <a:endParaRPr lang="en-US" sz="1500" dirty="0"/>
          </a:p>
        </p:txBody>
      </p:sp>
      <p:sp>
        <p:nvSpPr>
          <p:cNvPr id="16" name="Shape 14"/>
          <p:cNvSpPr/>
          <p:nvPr/>
        </p:nvSpPr>
        <p:spPr>
          <a:xfrm>
            <a:off x="850392" y="3747861"/>
            <a:ext cx="64008" cy="64008"/>
          </a:xfrm>
          <a:prstGeom prst="ellipse">
            <a:avLst/>
          </a:prstGeom>
          <a:solidFill>
            <a:srgbClr val="0F766E"/>
          </a:solidFill>
          <a:ln/>
        </p:spPr>
      </p:sp>
      <p:sp>
        <p:nvSpPr>
          <p:cNvPr id="17" name="Text 15"/>
          <p:cNvSpPr txBox="1"/>
          <p:nvPr/>
        </p:nvSpPr>
        <p:spPr>
          <a:xfrm>
            <a:off x="1005840" y="36741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ophthalm (o) (G) (oftalm, oftalmo)</a:t>
            </a:r>
            <a:r>
              <a:rPr lang="en-US" sz="1400" dirty="0">
                <a:solidFill>
                  <a:srgbClr val="4B5563"/>
                </a:solidFill>
                <a:latin typeface="Calibri" pitchFamily="34" charset="0"/>
                <a:ea typeface="Calibri" pitchFamily="34" charset="-122"/>
                <a:cs typeface="Calibri" pitchFamily="34" charset="-120"/>
              </a:rPr>
              <a:t>: Göz</a:t>
            </a:r>
            <a:endParaRPr lang="en-US" sz="1400" dirty="0"/>
          </a:p>
        </p:txBody>
      </p:sp>
      <p:sp>
        <p:nvSpPr>
          <p:cNvPr id="18" name="Shape 16"/>
          <p:cNvSpPr/>
          <p:nvPr/>
        </p:nvSpPr>
        <p:spPr>
          <a:xfrm>
            <a:off x="850392" y="4001353"/>
            <a:ext cx="64008" cy="64008"/>
          </a:xfrm>
          <a:prstGeom prst="ellipse">
            <a:avLst/>
          </a:prstGeom>
          <a:solidFill>
            <a:srgbClr val="0F766E"/>
          </a:solidFill>
          <a:ln/>
        </p:spPr>
      </p:sp>
      <p:sp>
        <p:nvSpPr>
          <p:cNvPr id="19" name="Text 17"/>
          <p:cNvSpPr txBox="1"/>
          <p:nvPr/>
        </p:nvSpPr>
        <p:spPr>
          <a:xfrm>
            <a:off x="1005840" y="39276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ophthalmic (oftalmik)</a:t>
            </a:r>
            <a:r>
              <a:rPr lang="en-US" sz="1400" dirty="0">
                <a:solidFill>
                  <a:srgbClr val="4B5563"/>
                </a:solidFill>
                <a:latin typeface="Calibri" pitchFamily="34" charset="0"/>
                <a:ea typeface="Calibri" pitchFamily="34" charset="-122"/>
                <a:cs typeface="Calibri" pitchFamily="34" charset="-120"/>
              </a:rPr>
              <a:t>: Gözle ilgli</a:t>
            </a:r>
            <a:endParaRPr lang="en-US" sz="1400" dirty="0"/>
          </a:p>
        </p:txBody>
      </p:sp>
      <p:sp>
        <p:nvSpPr>
          <p:cNvPr id="20" name="Shape 18"/>
          <p:cNvSpPr/>
          <p:nvPr/>
        </p:nvSpPr>
        <p:spPr>
          <a:xfrm>
            <a:off x="850392" y="4254845"/>
            <a:ext cx="64008" cy="64008"/>
          </a:xfrm>
          <a:prstGeom prst="ellipse">
            <a:avLst/>
          </a:prstGeom>
          <a:solidFill>
            <a:srgbClr val="0F766E"/>
          </a:solidFill>
          <a:ln/>
        </p:spPr>
      </p:sp>
      <p:sp>
        <p:nvSpPr>
          <p:cNvPr id="21" name="Text 19"/>
          <p:cNvSpPr txBox="1"/>
          <p:nvPr/>
        </p:nvSpPr>
        <p:spPr>
          <a:xfrm>
            <a:off x="1005840" y="418109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ophthalmoparalysis (ofralmoparalizi)</a:t>
            </a:r>
            <a:r>
              <a:rPr lang="en-US" sz="1400" dirty="0">
                <a:solidFill>
                  <a:srgbClr val="4B5563"/>
                </a:solidFill>
                <a:latin typeface="Calibri" pitchFamily="34" charset="0"/>
                <a:ea typeface="Calibri" pitchFamily="34" charset="-122"/>
                <a:cs typeface="Calibri" pitchFamily="34" charset="-120"/>
              </a:rPr>
              <a:t>: Göz kaslarındaki felç</a:t>
            </a:r>
            <a:endParaRPr lang="en-US" sz="1400" dirty="0"/>
          </a:p>
        </p:txBody>
      </p:sp>
      <p:sp>
        <p:nvSpPr>
          <p:cNvPr id="22" name="Shape 20"/>
          <p:cNvSpPr/>
          <p:nvPr/>
        </p:nvSpPr>
        <p:spPr>
          <a:xfrm>
            <a:off x="548640" y="4880102"/>
            <a:ext cx="5410048" cy="1429258"/>
          </a:xfrm>
          <a:prstGeom prst="roundRect">
            <a:avLst>
              <a:gd name="adj" fmla="val 4478"/>
            </a:avLst>
          </a:prstGeom>
          <a:solidFill>
            <a:srgbClr val="EAF6F4"/>
          </a:solidFill>
          <a:ln/>
        </p:spPr>
      </p:sp>
      <p:sp>
        <p:nvSpPr>
          <p:cNvPr id="23" name="Text 21"/>
          <p:cNvSpPr txBox="1"/>
          <p:nvPr/>
        </p:nvSpPr>
        <p:spPr>
          <a:xfrm>
            <a:off x="731520" y="494411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24" name="Shape 22"/>
          <p:cNvSpPr/>
          <p:nvPr/>
        </p:nvSpPr>
        <p:spPr>
          <a:xfrm>
            <a:off x="850392" y="5268559"/>
            <a:ext cx="64008" cy="64008"/>
          </a:xfrm>
          <a:prstGeom prst="ellipse">
            <a:avLst/>
          </a:prstGeom>
          <a:solidFill>
            <a:srgbClr val="0F766E"/>
          </a:solidFill>
          <a:ln/>
        </p:spPr>
      </p:sp>
      <p:sp>
        <p:nvSpPr>
          <p:cNvPr id="25" name="Text 23"/>
          <p:cNvSpPr txBox="1"/>
          <p:nvPr/>
        </p:nvSpPr>
        <p:spPr>
          <a:xfrm>
            <a:off x="1005840" y="51948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derm, dermat (o) (G) (derm, dermat, dermato)</a:t>
            </a:r>
            <a:r>
              <a:rPr lang="en-US" sz="1400" dirty="0">
                <a:solidFill>
                  <a:srgbClr val="4B5563"/>
                </a:solidFill>
                <a:latin typeface="Calibri" pitchFamily="34" charset="0"/>
                <a:ea typeface="Calibri" pitchFamily="34" charset="-122"/>
                <a:cs typeface="Calibri" pitchFamily="34" charset="-120"/>
              </a:rPr>
              <a:t>: Deri</a:t>
            </a:r>
            <a:endParaRPr lang="en-US" sz="1400" dirty="0"/>
          </a:p>
        </p:txBody>
      </p:sp>
      <p:sp>
        <p:nvSpPr>
          <p:cNvPr id="26" name="Shape 24"/>
          <p:cNvSpPr/>
          <p:nvPr/>
        </p:nvSpPr>
        <p:spPr>
          <a:xfrm>
            <a:off x="850392" y="5522051"/>
            <a:ext cx="64008" cy="64008"/>
          </a:xfrm>
          <a:prstGeom prst="ellipse">
            <a:avLst/>
          </a:prstGeom>
          <a:solidFill>
            <a:srgbClr val="0F766E"/>
          </a:solidFill>
          <a:ln/>
        </p:spPr>
      </p:sp>
      <p:sp>
        <p:nvSpPr>
          <p:cNvPr id="27" name="Text 25"/>
          <p:cNvSpPr txBox="1"/>
          <p:nvPr/>
        </p:nvSpPr>
        <p:spPr>
          <a:xfrm>
            <a:off x="1005840"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dermal (dermal)</a:t>
            </a:r>
            <a:r>
              <a:rPr lang="en-US" sz="1400" dirty="0">
                <a:solidFill>
                  <a:srgbClr val="4B5563"/>
                </a:solidFill>
                <a:latin typeface="Calibri" pitchFamily="34" charset="0"/>
                <a:ea typeface="Calibri" pitchFamily="34" charset="-122"/>
                <a:cs typeface="Calibri" pitchFamily="34" charset="-120"/>
              </a:rPr>
              <a:t>: Deriyle ilgli</a:t>
            </a:r>
            <a:endParaRPr lang="en-US" sz="1400" dirty="0"/>
          </a:p>
        </p:txBody>
      </p:sp>
      <p:sp>
        <p:nvSpPr>
          <p:cNvPr id="28" name="Shape 26"/>
          <p:cNvSpPr/>
          <p:nvPr/>
        </p:nvSpPr>
        <p:spPr>
          <a:xfrm>
            <a:off x="850392" y="5775543"/>
            <a:ext cx="64008" cy="64008"/>
          </a:xfrm>
          <a:prstGeom prst="ellipse">
            <a:avLst/>
          </a:prstGeom>
          <a:solidFill>
            <a:srgbClr val="0F766E"/>
          </a:solidFill>
          <a:ln/>
        </p:spPr>
      </p:sp>
      <p:sp>
        <p:nvSpPr>
          <p:cNvPr id="29" name="Text 27"/>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dermatoplasty (dermatoplasti)</a:t>
            </a:r>
            <a:r>
              <a:rPr lang="en-US" sz="1400" dirty="0">
                <a:solidFill>
                  <a:srgbClr val="4B5563"/>
                </a:solidFill>
                <a:latin typeface="Calibri" pitchFamily="34" charset="0"/>
                <a:ea typeface="Calibri" pitchFamily="34" charset="-122"/>
                <a:cs typeface="Calibri" pitchFamily="34" charset="-120"/>
              </a:rPr>
              <a:t>: Deriye yapılan onarma ameliyatı</a:t>
            </a:r>
            <a:endParaRPr lang="en-US" sz="1400" dirty="0"/>
          </a:p>
        </p:txBody>
      </p:sp>
      <p:sp>
        <p:nvSpPr>
          <p:cNvPr id="30" name="Shape 28"/>
          <p:cNvSpPr/>
          <p:nvPr/>
        </p:nvSpPr>
        <p:spPr>
          <a:xfrm>
            <a:off x="6233008" y="2055622"/>
            <a:ext cx="5410048" cy="2116582"/>
          </a:xfrm>
          <a:prstGeom prst="roundRect">
            <a:avLst>
              <a:gd name="adj" fmla="val 3024"/>
            </a:avLst>
          </a:prstGeom>
          <a:solidFill>
            <a:srgbClr val="EAF6F4"/>
          </a:solidFill>
          <a:ln/>
        </p:spPr>
      </p:sp>
      <p:sp>
        <p:nvSpPr>
          <p:cNvPr id="31" name="Text 29"/>
          <p:cNvSpPr txBox="1"/>
          <p:nvPr/>
        </p:nvSpPr>
        <p:spPr>
          <a:xfrm>
            <a:off x="6415888" y="211963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3-a)  </a:t>
            </a:r>
            <a:endParaRPr lang="en-US" sz="1500" dirty="0"/>
          </a:p>
        </p:txBody>
      </p:sp>
      <p:sp>
        <p:nvSpPr>
          <p:cNvPr id="32" name="Shape 30"/>
          <p:cNvSpPr/>
          <p:nvPr/>
        </p:nvSpPr>
        <p:spPr>
          <a:xfrm>
            <a:off x="6534760" y="2444079"/>
            <a:ext cx="64008" cy="64008"/>
          </a:xfrm>
          <a:prstGeom prst="ellipse">
            <a:avLst/>
          </a:prstGeom>
          <a:solidFill>
            <a:srgbClr val="0F766E"/>
          </a:solidFill>
          <a:ln/>
        </p:spPr>
      </p:sp>
      <p:sp>
        <p:nvSpPr>
          <p:cNvPr id="33" name="Text 31"/>
          <p:cNvSpPr txBox="1"/>
          <p:nvPr/>
        </p:nvSpPr>
        <p:spPr>
          <a:xfrm>
            <a:off x="6690208" y="237032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audi (o) (L) (odyo)</a:t>
            </a:r>
            <a:r>
              <a:rPr lang="en-US" sz="1400" dirty="0">
                <a:solidFill>
                  <a:srgbClr val="4B5563"/>
                </a:solidFill>
                <a:latin typeface="Calibri" pitchFamily="34" charset="0"/>
                <a:ea typeface="Calibri" pitchFamily="34" charset="-122"/>
                <a:cs typeface="Calibri" pitchFamily="34" charset="-120"/>
              </a:rPr>
              <a:t>: İşitme, ses</a:t>
            </a:r>
            <a:endParaRPr lang="en-US" sz="1400" dirty="0"/>
          </a:p>
        </p:txBody>
      </p:sp>
      <p:sp>
        <p:nvSpPr>
          <p:cNvPr id="34" name="Shape 32"/>
          <p:cNvSpPr/>
          <p:nvPr/>
        </p:nvSpPr>
        <p:spPr>
          <a:xfrm>
            <a:off x="6534760" y="2697571"/>
            <a:ext cx="64008" cy="64008"/>
          </a:xfrm>
          <a:prstGeom prst="ellipse">
            <a:avLst/>
          </a:prstGeom>
          <a:solidFill>
            <a:srgbClr val="0F766E"/>
          </a:solidFill>
          <a:ln/>
        </p:spPr>
      </p:sp>
      <p:sp>
        <p:nvSpPr>
          <p:cNvPr id="35" name="Text 33"/>
          <p:cNvSpPr txBox="1"/>
          <p:nvPr/>
        </p:nvSpPr>
        <p:spPr>
          <a:xfrm>
            <a:off x="6690208" y="262382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audiologia (odyoloji)</a:t>
            </a:r>
            <a:r>
              <a:rPr lang="en-US" sz="1400" dirty="0">
                <a:solidFill>
                  <a:srgbClr val="4B5563"/>
                </a:solidFill>
                <a:latin typeface="Calibri" pitchFamily="34" charset="0"/>
                <a:ea typeface="Calibri" pitchFamily="34" charset="-122"/>
                <a:cs typeface="Calibri" pitchFamily="34" charset="-120"/>
              </a:rPr>
              <a:t>: İşitme ve işitme bozukluklarını inceleyen bilim dalı</a:t>
            </a:r>
            <a:endParaRPr lang="en-US" sz="1400" dirty="0"/>
          </a:p>
        </p:txBody>
      </p:sp>
      <p:sp>
        <p:nvSpPr>
          <p:cNvPr id="36" name="Shape 34"/>
          <p:cNvSpPr/>
          <p:nvPr/>
        </p:nvSpPr>
        <p:spPr>
          <a:xfrm>
            <a:off x="6534760" y="3167979"/>
            <a:ext cx="64008" cy="64008"/>
          </a:xfrm>
          <a:prstGeom prst="ellipse">
            <a:avLst/>
          </a:prstGeom>
          <a:solidFill>
            <a:srgbClr val="0F766E"/>
          </a:solidFill>
          <a:ln/>
        </p:spPr>
      </p:sp>
      <p:sp>
        <p:nvSpPr>
          <p:cNvPr id="37" name="Text 35"/>
          <p:cNvSpPr txBox="1"/>
          <p:nvPr/>
        </p:nvSpPr>
        <p:spPr>
          <a:xfrm>
            <a:off x="6690208" y="309422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audiometry (odyometri)</a:t>
            </a:r>
            <a:r>
              <a:rPr lang="en-US" sz="1400" dirty="0">
                <a:solidFill>
                  <a:srgbClr val="4B5563"/>
                </a:solidFill>
                <a:latin typeface="Calibri" pitchFamily="34" charset="0"/>
                <a:ea typeface="Calibri" pitchFamily="34" charset="-122"/>
                <a:cs typeface="Calibri" pitchFamily="34" charset="-120"/>
              </a:rPr>
              <a:t>: İşitme yeteneğinin derecesini ölçme</a:t>
            </a:r>
            <a:endParaRPr lang="en-US" sz="1400" dirty="0"/>
          </a:p>
        </p:txBody>
      </p:sp>
      <p:sp>
        <p:nvSpPr>
          <p:cNvPr id="38" name="Shape 36"/>
          <p:cNvSpPr/>
          <p:nvPr/>
        </p:nvSpPr>
        <p:spPr>
          <a:xfrm>
            <a:off x="6534760" y="3638387"/>
            <a:ext cx="64008" cy="64008"/>
          </a:xfrm>
          <a:prstGeom prst="ellipse">
            <a:avLst/>
          </a:prstGeom>
          <a:solidFill>
            <a:srgbClr val="0F766E"/>
          </a:solidFill>
          <a:ln/>
        </p:spPr>
      </p:sp>
      <p:sp>
        <p:nvSpPr>
          <p:cNvPr id="39" name="Text 37"/>
          <p:cNvSpPr txBox="1"/>
          <p:nvPr/>
        </p:nvSpPr>
        <p:spPr>
          <a:xfrm>
            <a:off x="6690208" y="356463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audiogram (odyogram)</a:t>
            </a:r>
            <a:r>
              <a:rPr lang="en-US" sz="1400" dirty="0">
                <a:solidFill>
                  <a:srgbClr val="4B5563"/>
                </a:solidFill>
                <a:latin typeface="Calibri" pitchFamily="34" charset="0"/>
                <a:ea typeface="Calibri" pitchFamily="34" charset="-122"/>
                <a:cs typeface="Calibri" pitchFamily="34" charset="-120"/>
              </a:rPr>
              <a:t>: Kulağın işitebildiği ses dalgalarının çizelgesi</a:t>
            </a:r>
            <a:endParaRPr lang="en-US" sz="1400" dirty="0"/>
          </a:p>
        </p:txBody>
      </p:sp>
      <p:sp>
        <p:nvSpPr>
          <p:cNvPr id="40" name="Shape 38"/>
          <p:cNvSpPr/>
          <p:nvPr/>
        </p:nvSpPr>
        <p:spPr>
          <a:xfrm>
            <a:off x="6233008" y="4263644"/>
            <a:ext cx="5410048" cy="1212342"/>
          </a:xfrm>
          <a:prstGeom prst="roundRect">
            <a:avLst>
              <a:gd name="adj" fmla="val 5280"/>
            </a:avLst>
          </a:prstGeom>
          <a:solidFill>
            <a:srgbClr val="EAF6F4"/>
          </a:solidFill>
          <a:ln/>
        </p:spPr>
      </p:sp>
      <p:sp>
        <p:nvSpPr>
          <p:cNvPr id="41" name="Text 39"/>
          <p:cNvSpPr txBox="1"/>
          <p:nvPr/>
        </p:nvSpPr>
        <p:spPr>
          <a:xfrm>
            <a:off x="6415888" y="432765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3-b)  </a:t>
            </a:r>
            <a:endParaRPr lang="en-US" sz="1500" dirty="0"/>
          </a:p>
        </p:txBody>
      </p:sp>
      <p:sp>
        <p:nvSpPr>
          <p:cNvPr id="42" name="Shape 40"/>
          <p:cNvSpPr/>
          <p:nvPr/>
        </p:nvSpPr>
        <p:spPr>
          <a:xfrm>
            <a:off x="6534760" y="4652101"/>
            <a:ext cx="64008" cy="64008"/>
          </a:xfrm>
          <a:prstGeom prst="ellipse">
            <a:avLst/>
          </a:prstGeom>
          <a:solidFill>
            <a:srgbClr val="0F766E"/>
          </a:solidFill>
          <a:ln/>
        </p:spPr>
      </p:sp>
      <p:sp>
        <p:nvSpPr>
          <p:cNvPr id="43" name="Text 41"/>
          <p:cNvSpPr txBox="1"/>
          <p:nvPr/>
        </p:nvSpPr>
        <p:spPr>
          <a:xfrm>
            <a:off x="6690208" y="45783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ot (o) (G) (ot, oto)</a:t>
            </a:r>
            <a:r>
              <a:rPr lang="en-US" sz="1400" dirty="0">
                <a:solidFill>
                  <a:srgbClr val="4B5563"/>
                </a:solidFill>
                <a:latin typeface="Calibri" pitchFamily="34" charset="0"/>
                <a:ea typeface="Calibri" pitchFamily="34" charset="-122"/>
                <a:cs typeface="Calibri" pitchFamily="34" charset="-120"/>
              </a:rPr>
              <a:t>: Kulak</a:t>
            </a:r>
            <a:endParaRPr lang="en-US" sz="1400" dirty="0"/>
          </a:p>
        </p:txBody>
      </p:sp>
      <p:sp>
        <p:nvSpPr>
          <p:cNvPr id="44" name="Shape 42"/>
          <p:cNvSpPr/>
          <p:nvPr/>
        </p:nvSpPr>
        <p:spPr>
          <a:xfrm>
            <a:off x="6534760" y="4905593"/>
            <a:ext cx="64008" cy="64008"/>
          </a:xfrm>
          <a:prstGeom prst="ellipse">
            <a:avLst/>
          </a:prstGeom>
          <a:solidFill>
            <a:srgbClr val="0F766E"/>
          </a:solidFill>
          <a:ln/>
        </p:spPr>
      </p:sp>
      <p:sp>
        <p:nvSpPr>
          <p:cNvPr id="45" name="Text 43"/>
          <p:cNvSpPr txBox="1"/>
          <p:nvPr/>
        </p:nvSpPr>
        <p:spPr>
          <a:xfrm>
            <a:off x="6690208" y="48318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oticus (otikus)</a:t>
            </a:r>
            <a:r>
              <a:rPr lang="en-US" sz="1400" dirty="0">
                <a:solidFill>
                  <a:srgbClr val="4B5563"/>
                </a:solidFill>
                <a:latin typeface="Calibri" pitchFamily="34" charset="0"/>
                <a:ea typeface="Calibri" pitchFamily="34" charset="-122"/>
                <a:cs typeface="Calibri" pitchFamily="34" charset="-120"/>
              </a:rPr>
              <a:t>: Kulağa ait</a:t>
            </a:r>
            <a:endParaRPr lang="en-US" sz="1400" dirty="0"/>
          </a:p>
        </p:txBody>
      </p:sp>
      <p:sp>
        <p:nvSpPr>
          <p:cNvPr id="46" name="Shape 44"/>
          <p:cNvSpPr/>
          <p:nvPr/>
        </p:nvSpPr>
        <p:spPr>
          <a:xfrm>
            <a:off x="6534760" y="5159085"/>
            <a:ext cx="64008" cy="64008"/>
          </a:xfrm>
          <a:prstGeom prst="ellipse">
            <a:avLst/>
          </a:prstGeom>
          <a:solidFill>
            <a:srgbClr val="0F766E"/>
          </a:solidFill>
          <a:ln/>
        </p:spPr>
      </p:sp>
      <p:sp>
        <p:nvSpPr>
          <p:cNvPr id="47" name="Text 45"/>
          <p:cNvSpPr txBox="1"/>
          <p:nvPr/>
        </p:nvSpPr>
        <p:spPr>
          <a:xfrm>
            <a:off x="6690208" y="50853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otorrhea (otore)</a:t>
            </a:r>
            <a:r>
              <a:rPr lang="en-US" sz="1400" dirty="0">
                <a:solidFill>
                  <a:srgbClr val="4B5563"/>
                </a:solidFill>
                <a:latin typeface="Calibri" pitchFamily="34" charset="0"/>
                <a:ea typeface="Calibri" pitchFamily="34" charset="-122"/>
                <a:cs typeface="Calibri" pitchFamily="34" charset="-120"/>
              </a:rPr>
              <a:t>: Kulak akıntısı</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Duyu Organlarına İlişkin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50</a:t>
            </a:r>
            <a:endParaRPr lang="en-US" sz="1000" dirty="0"/>
          </a:p>
        </p:txBody>
      </p:sp>
      <p:sp>
        <p:nvSpPr>
          <p:cNvPr id="6" name="Shape 4"/>
          <p:cNvSpPr/>
          <p:nvPr/>
        </p:nvSpPr>
        <p:spPr>
          <a:xfrm>
            <a:off x="548640" y="1931670"/>
            <a:ext cx="11094415" cy="1398270"/>
          </a:xfrm>
          <a:prstGeom prst="roundRect">
            <a:avLst>
              <a:gd name="adj" fmla="val 4578"/>
            </a:avLst>
          </a:prstGeom>
          <a:solidFill>
            <a:srgbClr val="EAF6F4"/>
          </a:solidFill>
          <a:ln/>
        </p:spPr>
      </p:sp>
      <p:sp>
        <p:nvSpPr>
          <p:cNvPr id="7" name="Text 5"/>
          <p:cNvSpPr txBox="1"/>
          <p:nvPr/>
        </p:nvSpPr>
        <p:spPr>
          <a:xfrm>
            <a:off x="731520" y="1995678"/>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4-a)  </a:t>
            </a:r>
            <a:endParaRPr lang="en-US" sz="1800" dirty="0"/>
          </a:p>
        </p:txBody>
      </p:sp>
      <p:sp>
        <p:nvSpPr>
          <p:cNvPr id="8" name="Shape 6"/>
          <p:cNvSpPr/>
          <p:nvPr/>
        </p:nvSpPr>
        <p:spPr>
          <a:xfrm>
            <a:off x="850392" y="2382413"/>
            <a:ext cx="64008" cy="64008"/>
          </a:xfrm>
          <a:prstGeom prst="ellipse">
            <a:avLst/>
          </a:prstGeom>
          <a:solidFill>
            <a:srgbClr val="0F766E"/>
          </a:solidFill>
          <a:ln/>
        </p:spPr>
      </p:sp>
      <p:sp>
        <p:nvSpPr>
          <p:cNvPr id="9" name="Text 7"/>
          <p:cNvSpPr txBox="1"/>
          <p:nvPr/>
        </p:nvSpPr>
        <p:spPr>
          <a:xfrm>
            <a:off x="1005840" y="229285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nas (o) (i) (L) (nas, nazo, nazi)</a:t>
            </a:r>
            <a:r>
              <a:rPr lang="en-US" sz="1700" dirty="0">
                <a:solidFill>
                  <a:srgbClr val="4B5563"/>
                </a:solidFill>
                <a:latin typeface="Calibri" pitchFamily="34" charset="0"/>
                <a:ea typeface="Calibri" pitchFamily="34" charset="-122"/>
                <a:cs typeface="Calibri" pitchFamily="34" charset="-120"/>
              </a:rPr>
              <a:t>: Burun</a:t>
            </a:r>
            <a:endParaRPr lang="en-US" sz="1700" dirty="0"/>
          </a:p>
        </p:txBody>
      </p:sp>
      <p:sp>
        <p:nvSpPr>
          <p:cNvPr id="10" name="Shape 8"/>
          <p:cNvSpPr/>
          <p:nvPr/>
        </p:nvSpPr>
        <p:spPr>
          <a:xfrm>
            <a:off x="850392" y="2682387"/>
            <a:ext cx="64008" cy="64008"/>
          </a:xfrm>
          <a:prstGeom prst="ellipse">
            <a:avLst/>
          </a:prstGeom>
          <a:solidFill>
            <a:srgbClr val="0F766E"/>
          </a:solidFill>
          <a:ln/>
        </p:spPr>
      </p:sp>
      <p:sp>
        <p:nvSpPr>
          <p:cNvPr id="11" name="Text 9"/>
          <p:cNvSpPr txBox="1"/>
          <p:nvPr/>
        </p:nvSpPr>
        <p:spPr>
          <a:xfrm>
            <a:off x="1005840" y="259283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nasiform (naziform)</a:t>
            </a:r>
            <a:r>
              <a:rPr lang="en-US" sz="1700" dirty="0">
                <a:solidFill>
                  <a:srgbClr val="4B5563"/>
                </a:solidFill>
                <a:latin typeface="Calibri" pitchFamily="34" charset="0"/>
                <a:ea typeface="Calibri" pitchFamily="34" charset="-122"/>
                <a:cs typeface="Calibri" pitchFamily="34" charset="-120"/>
              </a:rPr>
              <a:t>: Burun şeklinde</a:t>
            </a:r>
            <a:endParaRPr lang="en-US" sz="1700" dirty="0"/>
          </a:p>
        </p:txBody>
      </p:sp>
      <p:sp>
        <p:nvSpPr>
          <p:cNvPr id="12" name="Shape 10"/>
          <p:cNvSpPr/>
          <p:nvPr/>
        </p:nvSpPr>
        <p:spPr>
          <a:xfrm>
            <a:off x="850392" y="2982361"/>
            <a:ext cx="64008" cy="64008"/>
          </a:xfrm>
          <a:prstGeom prst="ellipse">
            <a:avLst/>
          </a:prstGeom>
          <a:solidFill>
            <a:srgbClr val="0F766E"/>
          </a:solidFill>
          <a:ln/>
        </p:spPr>
      </p:sp>
      <p:sp>
        <p:nvSpPr>
          <p:cNvPr id="13" name="Text 11"/>
          <p:cNvSpPr txBox="1"/>
          <p:nvPr/>
        </p:nvSpPr>
        <p:spPr>
          <a:xfrm>
            <a:off x="1005840" y="289280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nasogastric (nazogastrik)</a:t>
            </a:r>
            <a:r>
              <a:rPr lang="en-US" sz="1700" dirty="0">
                <a:solidFill>
                  <a:srgbClr val="4B5563"/>
                </a:solidFill>
                <a:latin typeface="Calibri" pitchFamily="34" charset="0"/>
                <a:ea typeface="Calibri" pitchFamily="34" charset="-122"/>
                <a:cs typeface="Calibri" pitchFamily="34" charset="-120"/>
              </a:rPr>
              <a:t>: Burun ve mider ile ilgli</a:t>
            </a:r>
            <a:endParaRPr lang="en-US" sz="1700" dirty="0"/>
          </a:p>
        </p:txBody>
      </p:sp>
      <p:sp>
        <p:nvSpPr>
          <p:cNvPr id="14" name="Shape 12"/>
          <p:cNvSpPr/>
          <p:nvPr/>
        </p:nvSpPr>
        <p:spPr>
          <a:xfrm>
            <a:off x="548640" y="3421380"/>
            <a:ext cx="11094415" cy="1398270"/>
          </a:xfrm>
          <a:prstGeom prst="roundRect">
            <a:avLst>
              <a:gd name="adj" fmla="val 4578"/>
            </a:avLst>
          </a:prstGeom>
          <a:solidFill>
            <a:srgbClr val="EAF6F4"/>
          </a:solidFill>
          <a:ln/>
        </p:spPr>
      </p:sp>
      <p:sp>
        <p:nvSpPr>
          <p:cNvPr id="15" name="Text 13"/>
          <p:cNvSpPr txBox="1"/>
          <p:nvPr/>
        </p:nvSpPr>
        <p:spPr>
          <a:xfrm>
            <a:off x="731520" y="3485388"/>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4-b)  </a:t>
            </a:r>
            <a:endParaRPr lang="en-US" sz="1800" dirty="0"/>
          </a:p>
        </p:txBody>
      </p:sp>
      <p:sp>
        <p:nvSpPr>
          <p:cNvPr id="16" name="Shape 14"/>
          <p:cNvSpPr/>
          <p:nvPr/>
        </p:nvSpPr>
        <p:spPr>
          <a:xfrm>
            <a:off x="850392" y="3872123"/>
            <a:ext cx="64008" cy="64008"/>
          </a:xfrm>
          <a:prstGeom prst="ellipse">
            <a:avLst/>
          </a:prstGeom>
          <a:solidFill>
            <a:srgbClr val="0F766E"/>
          </a:solidFill>
          <a:ln/>
        </p:spPr>
      </p:sp>
      <p:sp>
        <p:nvSpPr>
          <p:cNvPr id="17" name="Text 15"/>
          <p:cNvSpPr txBox="1"/>
          <p:nvPr/>
        </p:nvSpPr>
        <p:spPr>
          <a:xfrm>
            <a:off x="1005840" y="378256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rhin (o) (G) (rin, rino)</a:t>
            </a:r>
            <a:r>
              <a:rPr lang="en-US" sz="1700" dirty="0">
                <a:solidFill>
                  <a:srgbClr val="4B5563"/>
                </a:solidFill>
                <a:latin typeface="Calibri" pitchFamily="34" charset="0"/>
                <a:ea typeface="Calibri" pitchFamily="34" charset="-122"/>
                <a:cs typeface="Calibri" pitchFamily="34" charset="-120"/>
              </a:rPr>
              <a:t>: Burun</a:t>
            </a:r>
            <a:endParaRPr lang="en-US" sz="1700" dirty="0"/>
          </a:p>
        </p:txBody>
      </p:sp>
      <p:sp>
        <p:nvSpPr>
          <p:cNvPr id="18" name="Shape 16"/>
          <p:cNvSpPr/>
          <p:nvPr/>
        </p:nvSpPr>
        <p:spPr>
          <a:xfrm>
            <a:off x="850392" y="4172097"/>
            <a:ext cx="64008" cy="64008"/>
          </a:xfrm>
          <a:prstGeom prst="ellipse">
            <a:avLst/>
          </a:prstGeom>
          <a:solidFill>
            <a:srgbClr val="0F766E"/>
          </a:solidFill>
          <a:ln/>
        </p:spPr>
      </p:sp>
      <p:sp>
        <p:nvSpPr>
          <p:cNvPr id="19" name="Text 17"/>
          <p:cNvSpPr txBox="1"/>
          <p:nvPr/>
        </p:nvSpPr>
        <p:spPr>
          <a:xfrm>
            <a:off x="1005840" y="408254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rhinitis (rinit)</a:t>
            </a:r>
            <a:r>
              <a:rPr lang="en-US" sz="1700" dirty="0">
                <a:solidFill>
                  <a:srgbClr val="4B5563"/>
                </a:solidFill>
                <a:latin typeface="Calibri" pitchFamily="34" charset="0"/>
                <a:ea typeface="Calibri" pitchFamily="34" charset="-122"/>
                <a:cs typeface="Calibri" pitchFamily="34" charset="-120"/>
              </a:rPr>
              <a:t>: Burun mukozasının iltihabı</a:t>
            </a:r>
            <a:endParaRPr lang="en-US" sz="1700" dirty="0"/>
          </a:p>
        </p:txBody>
      </p:sp>
      <p:sp>
        <p:nvSpPr>
          <p:cNvPr id="20" name="Shape 18"/>
          <p:cNvSpPr/>
          <p:nvPr/>
        </p:nvSpPr>
        <p:spPr>
          <a:xfrm>
            <a:off x="850392" y="4472071"/>
            <a:ext cx="64008" cy="64008"/>
          </a:xfrm>
          <a:prstGeom prst="ellipse">
            <a:avLst/>
          </a:prstGeom>
          <a:solidFill>
            <a:srgbClr val="0F766E"/>
          </a:solidFill>
          <a:ln/>
        </p:spPr>
      </p:sp>
      <p:sp>
        <p:nvSpPr>
          <p:cNvPr id="21" name="Text 19"/>
          <p:cNvSpPr txBox="1"/>
          <p:nvPr/>
        </p:nvSpPr>
        <p:spPr>
          <a:xfrm>
            <a:off x="1005840" y="438251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rhinorrhagia (rinoraji)</a:t>
            </a:r>
            <a:r>
              <a:rPr lang="en-US" sz="1700" dirty="0">
                <a:solidFill>
                  <a:srgbClr val="4B5563"/>
                </a:solidFill>
                <a:latin typeface="Calibri" pitchFamily="34" charset="0"/>
                <a:ea typeface="Calibri" pitchFamily="34" charset="-122"/>
                <a:cs typeface="Calibri" pitchFamily="34" charset="-120"/>
              </a:rPr>
              <a:t>: Burun kanaması</a:t>
            </a:r>
            <a:endParaRPr lang="en-US" sz="1700" dirty="0"/>
          </a:p>
        </p:txBody>
      </p:sp>
      <p:sp>
        <p:nvSpPr>
          <p:cNvPr id="22" name="Shape 20"/>
          <p:cNvSpPr/>
          <p:nvPr/>
        </p:nvSpPr>
        <p:spPr>
          <a:xfrm>
            <a:off x="548640" y="4911090"/>
            <a:ext cx="11094415" cy="1398270"/>
          </a:xfrm>
          <a:prstGeom prst="roundRect">
            <a:avLst>
              <a:gd name="adj" fmla="val 4578"/>
            </a:avLst>
          </a:prstGeom>
          <a:solidFill>
            <a:srgbClr val="EAF6F4"/>
          </a:solidFill>
          <a:ln/>
        </p:spPr>
      </p:sp>
      <p:sp>
        <p:nvSpPr>
          <p:cNvPr id="23" name="Text 21"/>
          <p:cNvSpPr txBox="1"/>
          <p:nvPr/>
        </p:nvSpPr>
        <p:spPr>
          <a:xfrm>
            <a:off x="731520" y="4975098"/>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5-  </a:t>
            </a:r>
            <a:endParaRPr lang="en-US" sz="1800" dirty="0"/>
          </a:p>
        </p:txBody>
      </p:sp>
      <p:sp>
        <p:nvSpPr>
          <p:cNvPr id="24" name="Shape 22"/>
          <p:cNvSpPr/>
          <p:nvPr/>
        </p:nvSpPr>
        <p:spPr>
          <a:xfrm>
            <a:off x="850392" y="5361833"/>
            <a:ext cx="64008" cy="64008"/>
          </a:xfrm>
          <a:prstGeom prst="ellipse">
            <a:avLst/>
          </a:prstGeom>
          <a:solidFill>
            <a:srgbClr val="0F766E"/>
          </a:solidFill>
          <a:ln/>
        </p:spPr>
      </p:sp>
      <p:sp>
        <p:nvSpPr>
          <p:cNvPr id="25" name="Text 23"/>
          <p:cNvSpPr txBox="1"/>
          <p:nvPr/>
        </p:nvSpPr>
        <p:spPr>
          <a:xfrm>
            <a:off x="1005840" y="527227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lingu (o) (L) (lingu, linguo)</a:t>
            </a:r>
            <a:r>
              <a:rPr lang="en-US" sz="1700" dirty="0">
                <a:solidFill>
                  <a:srgbClr val="4B5563"/>
                </a:solidFill>
                <a:latin typeface="Calibri" pitchFamily="34" charset="0"/>
                <a:ea typeface="Calibri" pitchFamily="34" charset="-122"/>
                <a:cs typeface="Calibri" pitchFamily="34" charset="-120"/>
              </a:rPr>
              <a:t>: Dil</a:t>
            </a:r>
            <a:endParaRPr lang="en-US" sz="1700" dirty="0"/>
          </a:p>
        </p:txBody>
      </p:sp>
      <p:sp>
        <p:nvSpPr>
          <p:cNvPr id="26" name="Shape 24"/>
          <p:cNvSpPr/>
          <p:nvPr/>
        </p:nvSpPr>
        <p:spPr>
          <a:xfrm>
            <a:off x="850392" y="5661807"/>
            <a:ext cx="64008" cy="64008"/>
          </a:xfrm>
          <a:prstGeom prst="ellipse">
            <a:avLst/>
          </a:prstGeom>
          <a:solidFill>
            <a:srgbClr val="0F766E"/>
          </a:solidFill>
          <a:ln/>
        </p:spPr>
      </p:sp>
      <p:sp>
        <p:nvSpPr>
          <p:cNvPr id="27" name="Text 25"/>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linguofacial (linguofasyalis)</a:t>
            </a:r>
            <a:r>
              <a:rPr lang="en-US" sz="1700" dirty="0">
                <a:solidFill>
                  <a:srgbClr val="4B5563"/>
                </a:solidFill>
                <a:latin typeface="Calibri" pitchFamily="34" charset="0"/>
                <a:ea typeface="Calibri" pitchFamily="34" charset="-122"/>
                <a:cs typeface="Calibri" pitchFamily="34" charset="-120"/>
              </a:rPr>
              <a:t>: Dil  ve yüzle ilgili</a:t>
            </a:r>
            <a:endParaRPr lang="en-US" sz="1700" dirty="0"/>
          </a:p>
        </p:txBody>
      </p:sp>
      <p:sp>
        <p:nvSpPr>
          <p:cNvPr id="28" name="Shape 26"/>
          <p:cNvSpPr/>
          <p:nvPr/>
        </p:nvSpPr>
        <p:spPr>
          <a:xfrm>
            <a:off x="850392" y="5961781"/>
            <a:ext cx="64008" cy="64008"/>
          </a:xfrm>
          <a:prstGeom prst="ellipse">
            <a:avLst/>
          </a:prstGeom>
          <a:solidFill>
            <a:srgbClr val="0F766E"/>
          </a:solidFill>
          <a:ln/>
        </p:spPr>
      </p:sp>
      <p:sp>
        <p:nvSpPr>
          <p:cNvPr id="29" name="Text 27"/>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sublingualis (sublingualis)</a:t>
            </a:r>
            <a:r>
              <a:rPr lang="en-US" sz="1700" dirty="0">
                <a:solidFill>
                  <a:srgbClr val="4B5563"/>
                </a:solidFill>
                <a:latin typeface="Calibri" pitchFamily="34" charset="0"/>
                <a:ea typeface="Calibri" pitchFamily="34" charset="-122"/>
                <a:cs typeface="Calibri" pitchFamily="34" charset="-120"/>
              </a:rPr>
              <a:t>: Dilin altına ait</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Diğer Kökler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51</a:t>
            </a:r>
            <a:endParaRPr lang="en-US" sz="1000" dirty="0"/>
          </a:p>
        </p:txBody>
      </p:sp>
      <p:sp>
        <p:nvSpPr>
          <p:cNvPr id="6" name="Shape 4"/>
          <p:cNvSpPr/>
          <p:nvPr/>
        </p:nvSpPr>
        <p:spPr>
          <a:xfrm>
            <a:off x="548640" y="1585214"/>
            <a:ext cx="11094415" cy="1620774"/>
          </a:xfrm>
          <a:prstGeom prst="roundRect">
            <a:avLst>
              <a:gd name="adj" fmla="val 3949"/>
            </a:avLst>
          </a:prstGeom>
          <a:solidFill>
            <a:srgbClr val="EAF6F4"/>
          </a:solidFill>
          <a:ln/>
        </p:spPr>
      </p:sp>
      <p:sp>
        <p:nvSpPr>
          <p:cNvPr id="7" name="Text 5"/>
          <p:cNvSpPr txBox="1"/>
          <p:nvPr/>
        </p:nvSpPr>
        <p:spPr>
          <a:xfrm>
            <a:off x="731520" y="1649222"/>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1-  </a:t>
            </a:r>
            <a:endParaRPr lang="en-US" sz="1700" dirty="0"/>
          </a:p>
        </p:txBody>
      </p:sp>
      <p:sp>
        <p:nvSpPr>
          <p:cNvPr id="8" name="Shape 6"/>
          <p:cNvSpPr/>
          <p:nvPr/>
        </p:nvSpPr>
        <p:spPr>
          <a:xfrm>
            <a:off x="850392" y="2015195"/>
            <a:ext cx="64008" cy="64008"/>
          </a:xfrm>
          <a:prstGeom prst="ellipse">
            <a:avLst/>
          </a:prstGeom>
          <a:solidFill>
            <a:srgbClr val="0F766E"/>
          </a:solidFill>
          <a:ln/>
        </p:spPr>
      </p:sp>
      <p:sp>
        <p:nvSpPr>
          <p:cNvPr id="9" name="Text 7"/>
          <p:cNvSpPr txBox="1"/>
          <p:nvPr/>
        </p:nvSpPr>
        <p:spPr>
          <a:xfrm>
            <a:off x="1005840" y="193090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glucos (G), glyc (o) (G) (glukoz, glik, gliko)</a:t>
            </a:r>
            <a:r>
              <a:rPr lang="en-US" sz="1600" dirty="0">
                <a:solidFill>
                  <a:srgbClr val="4B5563"/>
                </a:solidFill>
                <a:latin typeface="Calibri" pitchFamily="34" charset="0"/>
                <a:ea typeface="Calibri" pitchFamily="34" charset="-122"/>
                <a:cs typeface="Calibri" pitchFamily="34" charset="-120"/>
              </a:rPr>
              <a:t>: Glikoz, şeker</a:t>
            </a:r>
            <a:endParaRPr lang="en-US" sz="1600" dirty="0"/>
          </a:p>
        </p:txBody>
      </p:sp>
      <p:sp>
        <p:nvSpPr>
          <p:cNvPr id="10" name="Shape 8"/>
          <p:cNvSpPr/>
          <p:nvPr/>
        </p:nvSpPr>
        <p:spPr>
          <a:xfrm>
            <a:off x="850392" y="2299675"/>
            <a:ext cx="64008" cy="64008"/>
          </a:xfrm>
          <a:prstGeom prst="ellipse">
            <a:avLst/>
          </a:prstGeom>
          <a:solidFill>
            <a:srgbClr val="0F766E"/>
          </a:solidFill>
          <a:ln/>
        </p:spPr>
      </p:sp>
      <p:sp>
        <p:nvSpPr>
          <p:cNvPr id="11" name="Text 9"/>
          <p:cNvSpPr txBox="1"/>
          <p:nvPr/>
        </p:nvSpPr>
        <p:spPr>
          <a:xfrm>
            <a:off x="1005840" y="221538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glucosuria (glukozuri)</a:t>
            </a:r>
            <a:r>
              <a:rPr lang="en-US" sz="1600" dirty="0">
                <a:solidFill>
                  <a:srgbClr val="4B5563"/>
                </a:solidFill>
                <a:latin typeface="Calibri" pitchFamily="34" charset="0"/>
                <a:ea typeface="Calibri" pitchFamily="34" charset="-122"/>
                <a:cs typeface="Calibri" pitchFamily="34" charset="-120"/>
              </a:rPr>
              <a:t>: İdrarda fazla şeker bulunuşu</a:t>
            </a:r>
            <a:endParaRPr lang="en-US" sz="1600" dirty="0"/>
          </a:p>
        </p:txBody>
      </p:sp>
      <p:sp>
        <p:nvSpPr>
          <p:cNvPr id="12" name="Shape 10"/>
          <p:cNvSpPr/>
          <p:nvPr/>
        </p:nvSpPr>
        <p:spPr>
          <a:xfrm>
            <a:off x="850392" y="2584155"/>
            <a:ext cx="64008" cy="64008"/>
          </a:xfrm>
          <a:prstGeom prst="ellipse">
            <a:avLst/>
          </a:prstGeom>
          <a:solidFill>
            <a:srgbClr val="0F766E"/>
          </a:solidFill>
          <a:ln/>
        </p:spPr>
      </p:sp>
      <p:sp>
        <p:nvSpPr>
          <p:cNvPr id="13" name="Text 11"/>
          <p:cNvSpPr txBox="1"/>
          <p:nvPr/>
        </p:nvSpPr>
        <p:spPr>
          <a:xfrm>
            <a:off x="1005840" y="249986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hyperglycemia (hiperglisemi)</a:t>
            </a:r>
            <a:r>
              <a:rPr lang="en-US" sz="1600" dirty="0">
                <a:solidFill>
                  <a:srgbClr val="4B5563"/>
                </a:solidFill>
                <a:latin typeface="Calibri" pitchFamily="34" charset="0"/>
                <a:ea typeface="Calibri" pitchFamily="34" charset="-122"/>
                <a:cs typeface="Calibri" pitchFamily="34" charset="-120"/>
              </a:rPr>
              <a:t>: Kanda şeker oranının fazla olması</a:t>
            </a:r>
            <a:endParaRPr lang="en-US" sz="1600" dirty="0"/>
          </a:p>
        </p:txBody>
      </p:sp>
      <p:sp>
        <p:nvSpPr>
          <p:cNvPr id="14" name="Shape 12"/>
          <p:cNvSpPr/>
          <p:nvPr/>
        </p:nvSpPr>
        <p:spPr>
          <a:xfrm>
            <a:off x="850392" y="2868635"/>
            <a:ext cx="64008" cy="64008"/>
          </a:xfrm>
          <a:prstGeom prst="ellipse">
            <a:avLst/>
          </a:prstGeom>
          <a:solidFill>
            <a:srgbClr val="0F766E"/>
          </a:solidFill>
          <a:ln/>
        </p:spPr>
      </p:sp>
      <p:sp>
        <p:nvSpPr>
          <p:cNvPr id="15" name="Text 13"/>
          <p:cNvSpPr txBox="1"/>
          <p:nvPr/>
        </p:nvSpPr>
        <p:spPr>
          <a:xfrm>
            <a:off x="1005840" y="278434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glycopenia (glikopeni)</a:t>
            </a:r>
            <a:r>
              <a:rPr lang="en-US" sz="1600" dirty="0">
                <a:solidFill>
                  <a:srgbClr val="4B5563"/>
                </a:solidFill>
                <a:latin typeface="Calibri" pitchFamily="34" charset="0"/>
                <a:ea typeface="Calibri" pitchFamily="34" charset="-122"/>
                <a:cs typeface="Calibri" pitchFamily="34" charset="-120"/>
              </a:rPr>
              <a:t>: Kanda şeker oranının azalması</a:t>
            </a:r>
            <a:endParaRPr lang="en-US" sz="1600" dirty="0"/>
          </a:p>
        </p:txBody>
      </p:sp>
      <p:sp>
        <p:nvSpPr>
          <p:cNvPr id="16" name="Shape 14"/>
          <p:cNvSpPr/>
          <p:nvPr/>
        </p:nvSpPr>
        <p:spPr>
          <a:xfrm>
            <a:off x="548640" y="3297428"/>
            <a:ext cx="11094415" cy="1336294"/>
          </a:xfrm>
          <a:prstGeom prst="roundRect">
            <a:avLst>
              <a:gd name="adj" fmla="val 4790"/>
            </a:avLst>
          </a:prstGeom>
          <a:solidFill>
            <a:srgbClr val="EAF6F4"/>
          </a:solidFill>
          <a:ln/>
        </p:spPr>
      </p:sp>
      <p:sp>
        <p:nvSpPr>
          <p:cNvPr id="17" name="Text 15"/>
          <p:cNvSpPr txBox="1"/>
          <p:nvPr/>
        </p:nvSpPr>
        <p:spPr>
          <a:xfrm>
            <a:off x="731520" y="3361436"/>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2-  </a:t>
            </a:r>
            <a:endParaRPr lang="en-US" sz="1700" dirty="0"/>
          </a:p>
        </p:txBody>
      </p:sp>
      <p:sp>
        <p:nvSpPr>
          <p:cNvPr id="18" name="Shape 16"/>
          <p:cNvSpPr/>
          <p:nvPr/>
        </p:nvSpPr>
        <p:spPr>
          <a:xfrm>
            <a:off x="850392" y="3727409"/>
            <a:ext cx="64008" cy="64008"/>
          </a:xfrm>
          <a:prstGeom prst="ellipse">
            <a:avLst/>
          </a:prstGeom>
          <a:solidFill>
            <a:srgbClr val="0F766E"/>
          </a:solidFill>
          <a:ln/>
        </p:spPr>
      </p:sp>
      <p:sp>
        <p:nvSpPr>
          <p:cNvPr id="19" name="Text 17"/>
          <p:cNvSpPr txBox="1"/>
          <p:nvPr/>
        </p:nvSpPr>
        <p:spPr>
          <a:xfrm>
            <a:off x="1005840" y="364312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lith (o) (G) (lit, lito)</a:t>
            </a:r>
            <a:r>
              <a:rPr lang="en-US" sz="1600" dirty="0">
                <a:solidFill>
                  <a:srgbClr val="4B5563"/>
                </a:solidFill>
                <a:latin typeface="Calibri" pitchFamily="34" charset="0"/>
                <a:ea typeface="Calibri" pitchFamily="34" charset="-122"/>
                <a:cs typeface="Calibri" pitchFamily="34" charset="-120"/>
              </a:rPr>
              <a:t>: Taş</a:t>
            </a:r>
            <a:endParaRPr lang="en-US" sz="1600" dirty="0"/>
          </a:p>
        </p:txBody>
      </p:sp>
      <p:sp>
        <p:nvSpPr>
          <p:cNvPr id="20" name="Shape 18"/>
          <p:cNvSpPr/>
          <p:nvPr/>
        </p:nvSpPr>
        <p:spPr>
          <a:xfrm>
            <a:off x="850392" y="4011889"/>
            <a:ext cx="64008" cy="64008"/>
          </a:xfrm>
          <a:prstGeom prst="ellipse">
            <a:avLst/>
          </a:prstGeom>
          <a:solidFill>
            <a:srgbClr val="0F766E"/>
          </a:solidFill>
          <a:ln/>
        </p:spPr>
      </p:sp>
      <p:sp>
        <p:nvSpPr>
          <p:cNvPr id="21" name="Text 19"/>
          <p:cNvSpPr txBox="1"/>
          <p:nvPr/>
        </p:nvSpPr>
        <p:spPr>
          <a:xfrm>
            <a:off x="1005840" y="392760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lithonephria (litonefri)</a:t>
            </a:r>
            <a:r>
              <a:rPr lang="en-US" sz="1600" dirty="0">
                <a:solidFill>
                  <a:srgbClr val="4B5563"/>
                </a:solidFill>
                <a:latin typeface="Calibri" pitchFamily="34" charset="0"/>
                <a:ea typeface="Calibri" pitchFamily="34" charset="-122"/>
                <a:cs typeface="Calibri" pitchFamily="34" charset="-120"/>
              </a:rPr>
              <a:t>: Böbrekte taş bulunuşu</a:t>
            </a:r>
            <a:endParaRPr lang="en-US" sz="1600" dirty="0"/>
          </a:p>
        </p:txBody>
      </p:sp>
      <p:sp>
        <p:nvSpPr>
          <p:cNvPr id="22" name="Shape 20"/>
          <p:cNvSpPr/>
          <p:nvPr/>
        </p:nvSpPr>
        <p:spPr>
          <a:xfrm>
            <a:off x="850392" y="4296369"/>
            <a:ext cx="64008" cy="64008"/>
          </a:xfrm>
          <a:prstGeom prst="ellipse">
            <a:avLst/>
          </a:prstGeom>
          <a:solidFill>
            <a:srgbClr val="0F766E"/>
          </a:solidFill>
          <a:ln/>
        </p:spPr>
      </p:sp>
      <p:sp>
        <p:nvSpPr>
          <p:cNvPr id="23" name="Text 21"/>
          <p:cNvSpPr txBox="1"/>
          <p:nvPr/>
        </p:nvSpPr>
        <p:spPr>
          <a:xfrm>
            <a:off x="1005840" y="421208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cystolithiasis (sistolityaz)</a:t>
            </a:r>
            <a:r>
              <a:rPr lang="en-US" sz="1600" dirty="0">
                <a:solidFill>
                  <a:srgbClr val="4B5563"/>
                </a:solidFill>
                <a:latin typeface="Calibri" pitchFamily="34" charset="0"/>
                <a:ea typeface="Calibri" pitchFamily="34" charset="-122"/>
                <a:cs typeface="Calibri" pitchFamily="34" charset="-120"/>
              </a:rPr>
              <a:t>: İdrar kesesinde taş oluşması</a:t>
            </a:r>
            <a:endParaRPr lang="en-US" sz="1600" dirty="0"/>
          </a:p>
        </p:txBody>
      </p:sp>
      <p:sp>
        <p:nvSpPr>
          <p:cNvPr id="24" name="Shape 22"/>
          <p:cNvSpPr/>
          <p:nvPr/>
        </p:nvSpPr>
        <p:spPr>
          <a:xfrm>
            <a:off x="548640" y="4725162"/>
            <a:ext cx="11094415" cy="1584198"/>
          </a:xfrm>
          <a:prstGeom prst="roundRect">
            <a:avLst>
              <a:gd name="adj" fmla="val 4040"/>
            </a:avLst>
          </a:prstGeom>
          <a:solidFill>
            <a:srgbClr val="EAF6F4"/>
          </a:solidFill>
          <a:ln/>
        </p:spPr>
      </p:sp>
      <p:sp>
        <p:nvSpPr>
          <p:cNvPr id="25" name="Text 23"/>
          <p:cNvSpPr txBox="1"/>
          <p:nvPr/>
        </p:nvSpPr>
        <p:spPr>
          <a:xfrm>
            <a:off x="731520" y="4789170"/>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3-  </a:t>
            </a:r>
            <a:endParaRPr lang="en-US" sz="1700" dirty="0"/>
          </a:p>
        </p:txBody>
      </p:sp>
      <p:sp>
        <p:nvSpPr>
          <p:cNvPr id="26" name="Shape 24"/>
          <p:cNvSpPr/>
          <p:nvPr/>
        </p:nvSpPr>
        <p:spPr>
          <a:xfrm>
            <a:off x="850392" y="5155143"/>
            <a:ext cx="64008" cy="64008"/>
          </a:xfrm>
          <a:prstGeom prst="ellipse">
            <a:avLst/>
          </a:prstGeom>
          <a:solidFill>
            <a:srgbClr val="0F766E"/>
          </a:solidFill>
          <a:ln/>
        </p:spPr>
      </p:sp>
      <p:sp>
        <p:nvSpPr>
          <p:cNvPr id="27" name="Text 25"/>
          <p:cNvSpPr txBox="1"/>
          <p:nvPr/>
        </p:nvSpPr>
        <p:spPr>
          <a:xfrm>
            <a:off x="1005840" y="5070856"/>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acu (L) (aku)</a:t>
            </a:r>
            <a:r>
              <a:rPr lang="en-US" sz="1600" dirty="0">
                <a:solidFill>
                  <a:srgbClr val="4B5563"/>
                </a:solidFill>
                <a:latin typeface="Calibri" pitchFamily="34" charset="0"/>
                <a:ea typeface="Calibri" pitchFamily="34" charset="-122"/>
                <a:cs typeface="Calibri" pitchFamily="34" charset="-120"/>
              </a:rPr>
              <a:t>: İğne</a:t>
            </a:r>
            <a:endParaRPr lang="en-US" sz="1600" dirty="0"/>
          </a:p>
        </p:txBody>
      </p:sp>
      <p:sp>
        <p:nvSpPr>
          <p:cNvPr id="28" name="Shape 26"/>
          <p:cNvSpPr/>
          <p:nvPr/>
        </p:nvSpPr>
        <p:spPr>
          <a:xfrm>
            <a:off x="850392" y="5439623"/>
            <a:ext cx="64008" cy="64008"/>
          </a:xfrm>
          <a:prstGeom prst="ellipse">
            <a:avLst/>
          </a:prstGeom>
          <a:solidFill>
            <a:srgbClr val="0F766E"/>
          </a:solidFill>
          <a:ln/>
        </p:spPr>
      </p:sp>
      <p:sp>
        <p:nvSpPr>
          <p:cNvPr id="29" name="Text 27"/>
          <p:cNvSpPr txBox="1"/>
          <p:nvPr/>
        </p:nvSpPr>
        <p:spPr>
          <a:xfrm>
            <a:off x="1005840" y="5355336"/>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acupuncture (akupunktur)</a:t>
            </a:r>
            <a:r>
              <a:rPr lang="en-US" sz="1600" dirty="0">
                <a:solidFill>
                  <a:srgbClr val="4B5563"/>
                </a:solidFill>
                <a:latin typeface="Calibri" pitchFamily="34" charset="0"/>
                <a:ea typeface="Calibri" pitchFamily="34" charset="-122"/>
                <a:cs typeface="Calibri" pitchFamily="34" charset="-120"/>
              </a:rPr>
              <a:t>: Ağrıyı gidermek için belli noktalara altın veya gümüş iğneler batırılması esasına dayanan tedavi</a:t>
            </a:r>
            <a:endParaRPr lang="en-US" sz="1600" dirty="0"/>
          </a:p>
        </p:txBody>
      </p:sp>
      <p:sp>
        <p:nvSpPr>
          <p:cNvPr id="30" name="Shape 28"/>
          <p:cNvSpPr/>
          <p:nvPr/>
        </p:nvSpPr>
        <p:spPr>
          <a:xfrm>
            <a:off x="850392" y="5972007"/>
            <a:ext cx="64008" cy="64008"/>
          </a:xfrm>
          <a:prstGeom prst="ellipse">
            <a:avLst/>
          </a:prstGeom>
          <a:solidFill>
            <a:srgbClr val="0F766E"/>
          </a:solidFill>
          <a:ln/>
        </p:spPr>
      </p:sp>
      <p:sp>
        <p:nvSpPr>
          <p:cNvPr id="31" name="Text 29"/>
          <p:cNvSpPr txBox="1"/>
          <p:nvPr/>
        </p:nvSpPr>
        <p:spPr>
          <a:xfrm>
            <a:off x="1005840" y="5887720"/>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acutenaculum (akutenakulum)</a:t>
            </a:r>
            <a:r>
              <a:rPr lang="en-US" sz="1600" dirty="0">
                <a:solidFill>
                  <a:srgbClr val="4B5563"/>
                </a:solidFill>
                <a:latin typeface="Calibri" pitchFamily="34" charset="0"/>
                <a:ea typeface="Calibri" pitchFamily="34" charset="-122"/>
                <a:cs typeface="Calibri" pitchFamily="34" charset="-120"/>
              </a:rPr>
              <a:t>: Cerrahide iğneyi tutmaya yarayan araç, tenakulum</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52</a:t>
            </a:r>
            <a:endParaRPr lang="en-US" sz="1000" dirty="0"/>
          </a:p>
        </p:txBody>
      </p:sp>
      <p:sp>
        <p:nvSpPr>
          <p:cNvPr id="6" name="Shape 4"/>
          <p:cNvSpPr/>
          <p:nvPr/>
        </p:nvSpPr>
        <p:spPr>
          <a:xfrm>
            <a:off x="548640" y="2319833"/>
            <a:ext cx="11094415" cy="542239"/>
          </a:xfrm>
          <a:prstGeom prst="roundRect">
            <a:avLst>
              <a:gd name="adj" fmla="val 11804"/>
            </a:avLst>
          </a:prstGeom>
          <a:solidFill>
            <a:srgbClr val="EAF6F4"/>
          </a:solidFill>
          <a:ln/>
        </p:spPr>
      </p:sp>
      <p:sp>
        <p:nvSpPr>
          <p:cNvPr id="7" name="Text 5"/>
          <p:cNvSpPr txBox="1"/>
          <p:nvPr/>
        </p:nvSpPr>
        <p:spPr>
          <a:xfrm>
            <a:off x="704088" y="2392985"/>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Bir sözcüğün önüne ya da sonuna yapım eki getirerek yeni sözcük oluşturulabilir.</a:t>
            </a:r>
            <a:endParaRPr lang="en-US" sz="1800" dirty="0"/>
          </a:p>
        </p:txBody>
      </p:sp>
      <p:sp>
        <p:nvSpPr>
          <p:cNvPr id="8" name="Shape 6"/>
          <p:cNvSpPr/>
          <p:nvPr/>
        </p:nvSpPr>
        <p:spPr>
          <a:xfrm>
            <a:off x="548640" y="2953512"/>
            <a:ext cx="11094415" cy="542239"/>
          </a:xfrm>
          <a:prstGeom prst="roundRect">
            <a:avLst>
              <a:gd name="adj" fmla="val 11804"/>
            </a:avLst>
          </a:prstGeom>
          <a:solidFill>
            <a:srgbClr val="EAF6F4"/>
          </a:solidFill>
          <a:ln/>
        </p:spPr>
      </p:sp>
      <p:sp>
        <p:nvSpPr>
          <p:cNvPr id="9" name="Text 7"/>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Buna sözcük </a:t>
            </a:r>
            <a:r>
              <a:rPr lang="en-US" sz="1800" b="1" dirty="0">
                <a:solidFill>
                  <a:srgbClr val="1F2937"/>
                </a:solidFill>
                <a:latin typeface="Calibri" pitchFamily="34" charset="0"/>
                <a:ea typeface="Calibri" pitchFamily="34" charset="-122"/>
                <a:cs typeface="Calibri" pitchFamily="34" charset="-120"/>
              </a:rPr>
              <a:t>türetme </a:t>
            </a:r>
            <a:r>
              <a:rPr lang="en-US" sz="1800" dirty="0">
                <a:solidFill>
                  <a:srgbClr val="1F2937"/>
                </a:solidFill>
                <a:latin typeface="Calibri" pitchFamily="34" charset="0"/>
                <a:ea typeface="Calibri" pitchFamily="34" charset="-122"/>
                <a:cs typeface="Calibri" pitchFamily="34" charset="-120"/>
              </a:rPr>
              <a:t>denir.</a:t>
            </a:r>
            <a:endParaRPr lang="en-US" sz="1800" dirty="0"/>
          </a:p>
        </p:txBody>
      </p:sp>
      <p:sp>
        <p:nvSpPr>
          <p:cNvPr id="10" name="Shape 8"/>
          <p:cNvSpPr/>
          <p:nvPr/>
        </p:nvSpPr>
        <p:spPr>
          <a:xfrm>
            <a:off x="548640" y="3587191"/>
            <a:ext cx="11094415" cy="542239"/>
          </a:xfrm>
          <a:prstGeom prst="roundRect">
            <a:avLst>
              <a:gd name="adj" fmla="val 11804"/>
            </a:avLst>
          </a:prstGeom>
          <a:solidFill>
            <a:srgbClr val="EAF6F4"/>
          </a:solidFill>
          <a:ln/>
        </p:spPr>
      </p:sp>
      <p:sp>
        <p:nvSpPr>
          <p:cNvPr id="11" name="Text 9"/>
          <p:cNvSpPr txBox="1"/>
          <p:nvPr/>
        </p:nvSpPr>
        <p:spPr>
          <a:xfrm>
            <a:off x="704088" y="366034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Terimlerde de eklerin görevi aynı şekildedir.</a:t>
            </a:r>
            <a:endParaRPr lang="en-US" sz="1800" dirty="0"/>
          </a:p>
        </p:txBody>
      </p:sp>
      <p:sp>
        <p:nvSpPr>
          <p:cNvPr id="12" name="Shape 10"/>
          <p:cNvSpPr/>
          <p:nvPr/>
        </p:nvSpPr>
        <p:spPr>
          <a:xfrm>
            <a:off x="548640" y="4220870"/>
            <a:ext cx="11094415" cy="542239"/>
          </a:xfrm>
          <a:prstGeom prst="roundRect">
            <a:avLst>
              <a:gd name="adj" fmla="val 11804"/>
            </a:avLst>
          </a:prstGeom>
          <a:solidFill>
            <a:srgbClr val="EAF6F4"/>
          </a:solidFill>
          <a:ln/>
        </p:spPr>
      </p:sp>
      <p:sp>
        <p:nvSpPr>
          <p:cNvPr id="13" name="Text 11"/>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Önekler kök sözcüklerin önlerine getirilir ve terimlerin anlamlarını değiştirir.</a:t>
            </a:r>
            <a:endParaRPr lang="en-US" sz="1800" dirty="0"/>
          </a:p>
        </p:txBody>
      </p:sp>
      <p:sp>
        <p:nvSpPr>
          <p:cNvPr id="14" name="Shape 12"/>
          <p:cNvSpPr/>
          <p:nvPr/>
        </p:nvSpPr>
        <p:spPr>
          <a:xfrm>
            <a:off x="548640" y="4854550"/>
            <a:ext cx="11094415" cy="542239"/>
          </a:xfrm>
          <a:prstGeom prst="roundRect">
            <a:avLst>
              <a:gd name="adj" fmla="val 11804"/>
            </a:avLst>
          </a:prstGeom>
          <a:solidFill>
            <a:srgbClr val="EAF6F4"/>
          </a:solidFill>
          <a:ln/>
        </p:spPr>
      </p:sp>
      <p:sp>
        <p:nvSpPr>
          <p:cNvPr id="15" name="Text 13"/>
          <p:cNvSpPr txBox="1"/>
          <p:nvPr/>
        </p:nvSpPr>
        <p:spPr>
          <a:xfrm>
            <a:off x="704088" y="492770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terimlerinde en çok kullanılan Latince ve Grekçe önekler aşağıda yer almaktadır.</a:t>
            </a:r>
            <a:endParaRPr lang="en-US" sz="1800" dirty="0"/>
          </a:p>
        </p:txBody>
      </p:sp>
      <p:sp>
        <p:nvSpPr>
          <p:cNvPr id="16" name="Shape 14"/>
          <p:cNvSpPr/>
          <p:nvPr/>
        </p:nvSpPr>
        <p:spPr>
          <a:xfrm>
            <a:off x="548640" y="5488229"/>
            <a:ext cx="11094415" cy="821131"/>
          </a:xfrm>
          <a:prstGeom prst="roundRect">
            <a:avLst>
              <a:gd name="adj" fmla="val 7795"/>
            </a:avLst>
          </a:prstGeom>
          <a:solidFill>
            <a:srgbClr val="EAF6F4"/>
          </a:solidFill>
          <a:ln/>
        </p:spPr>
      </p:sp>
      <p:sp>
        <p:nvSpPr>
          <p:cNvPr id="17" name="Text 15"/>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Öğrenmede kolaylık sağlaması için eş anlamlı, benzer anlamlı ve zıt anlamlı örnekler bir araya getirilerek gruplandırıldı.</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Olumsuzluk, Yokluk, Eksiklik Anlamı Veren Önekler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53</a:t>
            </a:r>
            <a:endParaRPr lang="en-US" sz="1000" dirty="0"/>
          </a:p>
        </p:txBody>
      </p:sp>
      <p:sp>
        <p:nvSpPr>
          <p:cNvPr id="6" name="Shape 4"/>
          <p:cNvSpPr/>
          <p:nvPr/>
        </p:nvSpPr>
        <p:spPr>
          <a:xfrm>
            <a:off x="548640" y="1475486"/>
            <a:ext cx="11094415" cy="1465834"/>
          </a:xfrm>
          <a:prstGeom prst="roundRect">
            <a:avLst>
              <a:gd name="adj" fmla="val 4367"/>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 (G) (a-)</a:t>
            </a:r>
            <a:r>
              <a:rPr lang="en-US" sz="1400" dirty="0">
                <a:solidFill>
                  <a:srgbClr val="4B5563"/>
                </a:solidFill>
                <a:latin typeface="Calibri" pitchFamily="34" charset="0"/>
                <a:ea typeface="Calibri" pitchFamily="34" charset="-122"/>
                <a:cs typeface="Calibri" pitchFamily="34" charset="-120"/>
              </a:rPr>
              <a:t>: -sız, -siz, yokluk</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abrachia (abrakya)</a:t>
            </a:r>
            <a:r>
              <a:rPr lang="en-US" sz="1400" dirty="0">
                <a:solidFill>
                  <a:srgbClr val="4B5563"/>
                </a:solidFill>
                <a:latin typeface="Calibri" pitchFamily="34" charset="0"/>
                <a:ea typeface="Calibri" pitchFamily="34" charset="-122"/>
                <a:cs typeface="Calibri" pitchFamily="34" charset="-120"/>
              </a:rPr>
              <a:t>: Doğumsal kolsuzluk</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aspermia (aspermi)</a:t>
            </a:r>
            <a:r>
              <a:rPr lang="en-US" sz="1400" dirty="0">
                <a:solidFill>
                  <a:srgbClr val="4B5563"/>
                </a:solidFill>
                <a:latin typeface="Calibri" pitchFamily="34" charset="0"/>
                <a:ea typeface="Calibri" pitchFamily="34" charset="-122"/>
                <a:cs typeface="Calibri" pitchFamily="34" charset="-120"/>
              </a:rPr>
              <a:t>: Sperm yokluğu</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apnea (apne)</a:t>
            </a:r>
            <a:r>
              <a:rPr lang="en-US" sz="1400" dirty="0">
                <a:solidFill>
                  <a:srgbClr val="4B5563"/>
                </a:solidFill>
                <a:latin typeface="Calibri" pitchFamily="34" charset="0"/>
                <a:ea typeface="Calibri" pitchFamily="34" charset="-122"/>
                <a:cs typeface="Calibri" pitchFamily="34" charset="-120"/>
              </a:rPr>
              <a:t>: Solunumun bir süre durması</a:t>
            </a:r>
            <a:endParaRPr lang="en-US" sz="1400" dirty="0"/>
          </a:p>
        </p:txBody>
      </p:sp>
      <p:sp>
        <p:nvSpPr>
          <p:cNvPr id="16" name="Shape 14"/>
          <p:cNvSpPr/>
          <p:nvPr/>
        </p:nvSpPr>
        <p:spPr>
          <a:xfrm>
            <a:off x="548640" y="3032760"/>
            <a:ext cx="11094415" cy="1719326"/>
          </a:xfrm>
          <a:prstGeom prst="roundRect">
            <a:avLst>
              <a:gd name="adj" fmla="val 3723"/>
            </a:avLst>
          </a:prstGeom>
          <a:solidFill>
            <a:srgbClr val="EAF6F4"/>
          </a:solidFill>
          <a:ln/>
        </p:spPr>
      </p:sp>
      <p:sp>
        <p:nvSpPr>
          <p:cNvPr id="17" name="Text 15"/>
          <p:cNvSpPr txBox="1"/>
          <p:nvPr/>
        </p:nvSpPr>
        <p:spPr>
          <a:xfrm>
            <a:off x="731520" y="3096768"/>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8" name="Shape 16"/>
          <p:cNvSpPr/>
          <p:nvPr/>
        </p:nvSpPr>
        <p:spPr>
          <a:xfrm>
            <a:off x="850392" y="3421217"/>
            <a:ext cx="64008" cy="64008"/>
          </a:xfrm>
          <a:prstGeom prst="ellipse">
            <a:avLst/>
          </a:prstGeom>
          <a:solidFill>
            <a:srgbClr val="0F766E"/>
          </a:solidFill>
          <a:ln/>
        </p:spPr>
      </p:sp>
      <p:sp>
        <p:nvSpPr>
          <p:cNvPr id="19" name="Text 17"/>
          <p:cNvSpPr txBox="1"/>
          <p:nvPr/>
        </p:nvSpPr>
        <p:spPr>
          <a:xfrm>
            <a:off x="1005840" y="334746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 (G) (an-)</a:t>
            </a:r>
            <a:r>
              <a:rPr lang="en-US" sz="1400" dirty="0">
                <a:solidFill>
                  <a:srgbClr val="4B5563"/>
                </a:solidFill>
                <a:latin typeface="Calibri" pitchFamily="34" charset="0"/>
                <a:ea typeface="Calibri" pitchFamily="34" charset="-122"/>
                <a:cs typeface="Calibri" pitchFamily="34" charset="-120"/>
              </a:rPr>
              <a:t>: Olumsuzluk, yokluk</a:t>
            </a:r>
            <a:endParaRPr lang="en-US" sz="14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anuria (anüri)</a:t>
            </a:r>
            <a:r>
              <a:rPr lang="en-US" sz="1400" dirty="0">
                <a:solidFill>
                  <a:srgbClr val="4B5563"/>
                </a:solidFill>
                <a:latin typeface="Calibri" pitchFamily="34" charset="0"/>
                <a:ea typeface="Calibri" pitchFamily="34" charset="-122"/>
                <a:cs typeface="Calibri" pitchFamily="34" charset="-120"/>
              </a:rPr>
              <a:t>: İdrar kesilmesi</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anacusis (anakuzi)</a:t>
            </a:r>
            <a:r>
              <a:rPr lang="en-US" sz="1400" dirty="0">
                <a:solidFill>
                  <a:srgbClr val="4B5563"/>
                </a:solidFill>
                <a:latin typeface="Calibri" pitchFamily="34" charset="0"/>
                <a:ea typeface="Calibri" pitchFamily="34" charset="-122"/>
                <a:cs typeface="Calibri" pitchFamily="34" charset="-120"/>
              </a:rPr>
              <a:t>: İşitme kaybı</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anemia (anemi)</a:t>
            </a:r>
            <a:r>
              <a:rPr lang="en-US" sz="1400" dirty="0">
                <a:solidFill>
                  <a:srgbClr val="4B5563"/>
                </a:solidFill>
                <a:latin typeface="Calibri" pitchFamily="34" charset="0"/>
                <a:ea typeface="Calibri" pitchFamily="34" charset="-122"/>
                <a:cs typeface="Calibri" pitchFamily="34" charset="-120"/>
              </a:rPr>
              <a:t>: Kanda alyuvarlar ın azlığı</a:t>
            </a:r>
            <a:endParaRPr lang="en-US" sz="1400" dirty="0"/>
          </a:p>
        </p:txBody>
      </p:sp>
      <p:sp>
        <p:nvSpPr>
          <p:cNvPr id="26" name="Shape 24"/>
          <p:cNvSpPr/>
          <p:nvPr/>
        </p:nvSpPr>
        <p:spPr>
          <a:xfrm>
            <a:off x="850392" y="4435185"/>
            <a:ext cx="64008" cy="64008"/>
          </a:xfrm>
          <a:prstGeom prst="ellipse">
            <a:avLst/>
          </a:prstGeom>
          <a:solidFill>
            <a:srgbClr val="0F766E"/>
          </a:solidFill>
          <a:ln/>
        </p:spPr>
      </p:sp>
      <p:sp>
        <p:nvSpPr>
          <p:cNvPr id="27" name="Text 25"/>
          <p:cNvSpPr txBox="1"/>
          <p:nvPr/>
        </p:nvSpPr>
        <p:spPr>
          <a:xfrm>
            <a:off x="1005840" y="43614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anaesthesia (anestezi)</a:t>
            </a:r>
            <a:r>
              <a:rPr lang="en-US" sz="1400" dirty="0">
                <a:solidFill>
                  <a:srgbClr val="4B5563"/>
                </a:solidFill>
                <a:latin typeface="Calibri" pitchFamily="34" charset="0"/>
                <a:ea typeface="Calibri" pitchFamily="34" charset="-122"/>
                <a:cs typeface="Calibri" pitchFamily="34" charset="-120"/>
              </a:rPr>
              <a:t>: Duyusuzluk, duyusuzlaştırma</a:t>
            </a:r>
            <a:endParaRPr lang="en-US" sz="1400" dirty="0"/>
          </a:p>
        </p:txBody>
      </p:sp>
      <p:sp>
        <p:nvSpPr>
          <p:cNvPr id="28" name="Shape 26"/>
          <p:cNvSpPr/>
          <p:nvPr/>
        </p:nvSpPr>
        <p:spPr>
          <a:xfrm>
            <a:off x="548640" y="4843526"/>
            <a:ext cx="11094415" cy="1465834"/>
          </a:xfrm>
          <a:prstGeom prst="roundRect">
            <a:avLst>
              <a:gd name="adj" fmla="val 4367"/>
            </a:avLst>
          </a:prstGeom>
          <a:solidFill>
            <a:srgbClr val="EAF6F4"/>
          </a:solidFill>
          <a:ln/>
        </p:spPr>
      </p:sp>
      <p:sp>
        <p:nvSpPr>
          <p:cNvPr id="29" name="Text 27"/>
          <p:cNvSpPr txBox="1"/>
          <p:nvPr/>
        </p:nvSpPr>
        <p:spPr>
          <a:xfrm>
            <a:off x="731520" y="490753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dys- (G) (dis)</a:t>
            </a:r>
            <a:r>
              <a:rPr lang="en-US" sz="1400" dirty="0">
                <a:solidFill>
                  <a:srgbClr val="4B5563"/>
                </a:solidFill>
                <a:latin typeface="Calibri" pitchFamily="34" charset="0"/>
                <a:ea typeface="Calibri" pitchFamily="34" charset="-122"/>
                <a:cs typeface="Calibri" pitchFamily="34" charset="-120"/>
              </a:rPr>
              <a:t>: Engel, olumsuzluk, bozukluk, zorluk</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dysplasia (displazi)</a:t>
            </a:r>
            <a:r>
              <a:rPr lang="en-US" sz="1400" dirty="0">
                <a:solidFill>
                  <a:srgbClr val="4B5563"/>
                </a:solidFill>
                <a:latin typeface="Calibri" pitchFamily="34" charset="0"/>
                <a:ea typeface="Calibri" pitchFamily="34" charset="-122"/>
                <a:cs typeface="Calibri" pitchFamily="34" charset="-120"/>
              </a:rPr>
              <a:t>: Hücre ve dokuların bozukluk, kusurlu veya eksik gelişmesi</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dysphagia (disfaji)</a:t>
            </a:r>
            <a:r>
              <a:rPr lang="en-US" sz="1400" dirty="0">
                <a:solidFill>
                  <a:srgbClr val="4B5563"/>
                </a:solidFill>
                <a:latin typeface="Calibri" pitchFamily="34" charset="0"/>
                <a:ea typeface="Calibri" pitchFamily="34" charset="-122"/>
                <a:cs typeface="Calibri" pitchFamily="34" charset="-120"/>
              </a:rPr>
              <a:t>: Yutma güçlüğü</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dysuria (disuri)</a:t>
            </a:r>
            <a:r>
              <a:rPr lang="en-US" sz="1400" dirty="0">
                <a:solidFill>
                  <a:srgbClr val="4B5563"/>
                </a:solidFill>
                <a:latin typeface="Calibri" pitchFamily="34" charset="0"/>
                <a:ea typeface="Calibri" pitchFamily="34" charset="-122"/>
                <a:cs typeface="Calibri" pitchFamily="34" charset="-120"/>
              </a:rPr>
              <a:t>: Ağrılı işeme, işeme zorluğu</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Olumsuzluk, Yokluk, Eksiklik Anlamı Veren Önekler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54</a:t>
            </a:r>
            <a:endParaRPr lang="en-US" sz="1000" dirty="0"/>
          </a:p>
        </p:txBody>
      </p:sp>
      <p:sp>
        <p:nvSpPr>
          <p:cNvPr id="6" name="Shape 4"/>
          <p:cNvSpPr/>
          <p:nvPr/>
        </p:nvSpPr>
        <p:spPr>
          <a:xfrm>
            <a:off x="548640" y="1475486"/>
            <a:ext cx="11094415" cy="1719326"/>
          </a:xfrm>
          <a:prstGeom prst="roundRect">
            <a:avLst>
              <a:gd name="adj" fmla="val 3723"/>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im-, in- (L) (im-, in-)</a:t>
            </a:r>
            <a:r>
              <a:rPr lang="en-US" sz="1400" dirty="0">
                <a:solidFill>
                  <a:srgbClr val="4B5563"/>
                </a:solidFill>
                <a:latin typeface="Calibri" pitchFamily="34" charset="0"/>
                <a:ea typeface="Calibri" pitchFamily="34" charset="-122"/>
                <a:cs typeface="Calibri" pitchFamily="34" charset="-120"/>
              </a:rPr>
              <a:t>: Olumsuzluk, yokluk, içeriye, içine</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immature (immatur)</a:t>
            </a:r>
            <a:r>
              <a:rPr lang="en-US" sz="1400" dirty="0">
                <a:solidFill>
                  <a:srgbClr val="4B5563"/>
                </a:solidFill>
                <a:latin typeface="Calibri" pitchFamily="34" charset="0"/>
                <a:ea typeface="Calibri" pitchFamily="34" charset="-122"/>
                <a:cs typeface="Calibri" pitchFamily="34" charset="-120"/>
              </a:rPr>
              <a:t>: Tam gelişmemiş</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implacental (implasental)</a:t>
            </a:r>
            <a:r>
              <a:rPr lang="en-US" sz="1400" dirty="0">
                <a:solidFill>
                  <a:srgbClr val="4B5563"/>
                </a:solidFill>
                <a:latin typeface="Calibri" pitchFamily="34" charset="0"/>
                <a:ea typeface="Calibri" pitchFamily="34" charset="-122"/>
                <a:cs typeface="Calibri" pitchFamily="34" charset="-120"/>
              </a:rPr>
              <a:t>: Plasentasız</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imfertilitas (infertil)</a:t>
            </a:r>
            <a:r>
              <a:rPr lang="en-US" sz="1400" dirty="0">
                <a:solidFill>
                  <a:srgbClr val="4B5563"/>
                </a:solidFill>
                <a:latin typeface="Calibri" pitchFamily="34" charset="0"/>
                <a:ea typeface="Calibri" pitchFamily="34" charset="-122"/>
                <a:cs typeface="Calibri" pitchFamily="34" charset="-120"/>
              </a:rPr>
              <a:t>: Verimsiz, kısırlık</a:t>
            </a:r>
            <a:endParaRPr lang="en-US" sz="1400" dirty="0"/>
          </a:p>
        </p:txBody>
      </p:sp>
      <p:sp>
        <p:nvSpPr>
          <p:cNvPr id="16" name="Shape 14"/>
          <p:cNvSpPr/>
          <p:nvPr/>
        </p:nvSpPr>
        <p:spPr>
          <a:xfrm>
            <a:off x="850392" y="2877911"/>
            <a:ext cx="64008" cy="64008"/>
          </a:xfrm>
          <a:prstGeom prst="ellipse">
            <a:avLst/>
          </a:prstGeom>
          <a:solidFill>
            <a:srgbClr val="0F766E"/>
          </a:solidFill>
          <a:ln/>
        </p:spPr>
      </p:sp>
      <p:sp>
        <p:nvSpPr>
          <p:cNvPr id="17" name="Text 15"/>
          <p:cNvSpPr txBox="1"/>
          <p:nvPr/>
        </p:nvSpPr>
        <p:spPr>
          <a:xfrm>
            <a:off x="1005840" y="28041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inactivus (inaktiv)</a:t>
            </a:r>
            <a:r>
              <a:rPr lang="en-US" sz="1400" dirty="0">
                <a:solidFill>
                  <a:srgbClr val="4B5563"/>
                </a:solidFill>
                <a:latin typeface="Calibri" pitchFamily="34" charset="0"/>
                <a:ea typeface="Calibri" pitchFamily="34" charset="-122"/>
                <a:cs typeface="Calibri" pitchFamily="34" charset="-120"/>
              </a:rPr>
              <a:t>: İşlevsiz, çalışmayan</a:t>
            </a:r>
            <a:endParaRPr lang="en-US" sz="1400" dirty="0"/>
          </a:p>
        </p:txBody>
      </p:sp>
      <p:sp>
        <p:nvSpPr>
          <p:cNvPr id="18" name="Shape 16"/>
          <p:cNvSpPr/>
          <p:nvPr/>
        </p:nvSpPr>
        <p:spPr>
          <a:xfrm>
            <a:off x="548640" y="3286252"/>
            <a:ext cx="11094415" cy="1212342"/>
          </a:xfrm>
          <a:prstGeom prst="roundRect">
            <a:avLst>
              <a:gd name="adj" fmla="val 5280"/>
            </a:avLst>
          </a:prstGeom>
          <a:solidFill>
            <a:srgbClr val="EAF6F4"/>
          </a:solidFill>
          <a:ln/>
        </p:spPr>
      </p:sp>
      <p:sp>
        <p:nvSpPr>
          <p:cNvPr id="19" name="Text 17"/>
          <p:cNvSpPr txBox="1"/>
          <p:nvPr/>
        </p:nvSpPr>
        <p:spPr>
          <a:xfrm>
            <a:off x="731520" y="335026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  </a:t>
            </a:r>
            <a:endParaRPr lang="en-US" sz="15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non- (L) (non-)</a:t>
            </a:r>
            <a:r>
              <a:rPr lang="en-US" sz="1400" dirty="0">
                <a:solidFill>
                  <a:srgbClr val="4B5563"/>
                </a:solidFill>
                <a:latin typeface="Calibri" pitchFamily="34" charset="0"/>
                <a:ea typeface="Calibri" pitchFamily="34" charset="-122"/>
                <a:cs typeface="Calibri" pitchFamily="34" charset="-120"/>
              </a:rPr>
              <a:t>: Olumsuz, ret</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noncellularis (nonselularis)</a:t>
            </a:r>
            <a:r>
              <a:rPr lang="en-US" sz="1400" dirty="0">
                <a:solidFill>
                  <a:srgbClr val="4B5563"/>
                </a:solidFill>
                <a:latin typeface="Calibri" pitchFamily="34" charset="0"/>
                <a:ea typeface="Calibri" pitchFamily="34" charset="-122"/>
                <a:cs typeface="Calibri" pitchFamily="34" charset="-120"/>
              </a:rPr>
              <a:t>: Hücresiz, hücre içermeyen</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nonstriatus (nonstryatus)</a:t>
            </a:r>
            <a:r>
              <a:rPr lang="en-US" sz="1400" dirty="0">
                <a:solidFill>
                  <a:srgbClr val="4B5563"/>
                </a:solidFill>
                <a:latin typeface="Calibri" pitchFamily="34" charset="0"/>
                <a:ea typeface="Calibri" pitchFamily="34" charset="-122"/>
                <a:cs typeface="Calibri" pitchFamily="34" charset="-120"/>
              </a:rPr>
              <a:t>: Çizgisiz</a:t>
            </a:r>
            <a:endParaRPr lang="en-US" sz="1400" dirty="0"/>
          </a:p>
        </p:txBody>
      </p:sp>
      <p:sp>
        <p:nvSpPr>
          <p:cNvPr id="26" name="Shape 24"/>
          <p:cNvSpPr/>
          <p:nvPr/>
        </p:nvSpPr>
        <p:spPr>
          <a:xfrm>
            <a:off x="548640" y="4590034"/>
            <a:ext cx="11094415" cy="1719326"/>
          </a:xfrm>
          <a:prstGeom prst="roundRect">
            <a:avLst>
              <a:gd name="adj" fmla="val 3723"/>
            </a:avLst>
          </a:prstGeom>
          <a:solidFill>
            <a:srgbClr val="EAF6F4"/>
          </a:solidFill>
          <a:ln/>
        </p:spPr>
      </p:sp>
      <p:sp>
        <p:nvSpPr>
          <p:cNvPr id="27" name="Text 25"/>
          <p:cNvSpPr txBox="1"/>
          <p:nvPr/>
        </p:nvSpPr>
        <p:spPr>
          <a:xfrm>
            <a:off x="731520" y="4654042"/>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6-  </a:t>
            </a:r>
            <a:endParaRPr lang="en-US" sz="1500" dirty="0"/>
          </a:p>
        </p:txBody>
      </p:sp>
      <p:sp>
        <p:nvSpPr>
          <p:cNvPr id="28" name="Shape 26"/>
          <p:cNvSpPr/>
          <p:nvPr/>
        </p:nvSpPr>
        <p:spPr>
          <a:xfrm>
            <a:off x="850392" y="4978491"/>
            <a:ext cx="64008" cy="64008"/>
          </a:xfrm>
          <a:prstGeom prst="ellipse">
            <a:avLst/>
          </a:prstGeom>
          <a:solidFill>
            <a:srgbClr val="0F766E"/>
          </a:solidFill>
          <a:ln/>
        </p:spPr>
      </p:sp>
      <p:sp>
        <p:nvSpPr>
          <p:cNvPr id="29" name="Text 27"/>
          <p:cNvSpPr txBox="1"/>
          <p:nvPr/>
        </p:nvSpPr>
        <p:spPr>
          <a:xfrm>
            <a:off x="1005840" y="490474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 (L) (de-)</a:t>
            </a:r>
            <a:r>
              <a:rPr lang="en-US" sz="1400" dirty="0">
                <a:solidFill>
                  <a:srgbClr val="4B5563"/>
                </a:solidFill>
                <a:latin typeface="Calibri" pitchFamily="34" charset="0"/>
                <a:ea typeface="Calibri" pitchFamily="34" charset="-122"/>
                <a:cs typeface="Calibri" pitchFamily="34" charset="-120"/>
              </a:rPr>
              <a:t>: Yok etme, kaybetme, aşağı, aşağıda</a:t>
            </a:r>
            <a:endParaRPr lang="en-US" sz="14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defecatio (defekasyo)</a:t>
            </a:r>
            <a:r>
              <a:rPr lang="en-US" sz="1400" dirty="0">
                <a:solidFill>
                  <a:srgbClr val="4B5563"/>
                </a:solidFill>
                <a:latin typeface="Calibri" pitchFamily="34" charset="0"/>
                <a:ea typeface="Calibri" pitchFamily="34" charset="-122"/>
                <a:cs typeface="Calibri" pitchFamily="34" charset="-120"/>
              </a:rPr>
              <a:t>: Dışkılama, dışkı defetme</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dehydratatio (dehidrasyo)</a:t>
            </a:r>
            <a:r>
              <a:rPr lang="en-US" sz="1400" dirty="0">
                <a:solidFill>
                  <a:srgbClr val="4B5563"/>
                </a:solidFill>
                <a:latin typeface="Calibri" pitchFamily="34" charset="0"/>
                <a:ea typeface="Calibri" pitchFamily="34" charset="-122"/>
                <a:cs typeface="Calibri" pitchFamily="34" charset="-120"/>
              </a:rPr>
              <a:t>: Su kaybetme</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degeneratio (dejenerasyo)</a:t>
            </a:r>
            <a:r>
              <a:rPr lang="en-US" sz="1400" dirty="0">
                <a:solidFill>
                  <a:srgbClr val="4B5563"/>
                </a:solidFill>
                <a:latin typeface="Calibri" pitchFamily="34" charset="0"/>
                <a:ea typeface="Calibri" pitchFamily="34" charset="-122"/>
                <a:cs typeface="Calibri" pitchFamily="34" charset="-120"/>
              </a:rPr>
              <a:t>: Dokuların bozulması</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decollement (dekollement, dekolman)</a:t>
            </a:r>
            <a:r>
              <a:rPr lang="en-US" sz="1400" dirty="0">
                <a:solidFill>
                  <a:srgbClr val="4B5563"/>
                </a:solidFill>
                <a:latin typeface="Calibri" pitchFamily="34" charset="0"/>
                <a:ea typeface="Calibri" pitchFamily="34" charset="-122"/>
                <a:cs typeface="Calibri" pitchFamily="34" charset="-120"/>
              </a:rPr>
              <a:t>: Bir organın normal olrak üzerine tutunmuş olduğu dokudan ayrılması</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Çevresinde, Yanında, Her İki Yanda Anlamı Veren Önekler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55</a:t>
            </a:r>
            <a:endParaRPr lang="en-US" sz="1000" dirty="0"/>
          </a:p>
        </p:txBody>
      </p:sp>
      <p:sp>
        <p:nvSpPr>
          <p:cNvPr id="6" name="Shape 4"/>
          <p:cNvSpPr/>
          <p:nvPr/>
        </p:nvSpPr>
        <p:spPr>
          <a:xfrm>
            <a:off x="548640" y="1558544"/>
            <a:ext cx="5410048" cy="1827784"/>
          </a:xfrm>
          <a:prstGeom prst="roundRect">
            <a:avLst>
              <a:gd name="adj" fmla="val 3502"/>
            </a:avLst>
          </a:prstGeom>
          <a:solidFill>
            <a:srgbClr val="EAF6F4"/>
          </a:solidFill>
          <a:ln/>
        </p:spPr>
      </p:sp>
      <p:sp>
        <p:nvSpPr>
          <p:cNvPr id="7" name="Text 5"/>
          <p:cNvSpPr txBox="1"/>
          <p:nvPr/>
        </p:nvSpPr>
        <p:spPr>
          <a:xfrm>
            <a:off x="731520" y="1622552"/>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  </a:t>
            </a:r>
            <a:endParaRPr lang="en-US" sz="1400" dirty="0"/>
          </a:p>
        </p:txBody>
      </p:sp>
      <p:sp>
        <p:nvSpPr>
          <p:cNvPr id="8" name="Shape 6"/>
          <p:cNvSpPr/>
          <p:nvPr/>
        </p:nvSpPr>
        <p:spPr>
          <a:xfrm>
            <a:off x="850392" y="1926239"/>
            <a:ext cx="64008" cy="64008"/>
          </a:xfrm>
          <a:prstGeom prst="ellipse">
            <a:avLst/>
          </a:prstGeom>
          <a:solidFill>
            <a:srgbClr val="0F766E"/>
          </a:solidFill>
          <a:ln/>
        </p:spPr>
      </p:sp>
      <p:sp>
        <p:nvSpPr>
          <p:cNvPr id="9" name="Text 7"/>
          <p:cNvSpPr txBox="1"/>
          <p:nvPr/>
        </p:nvSpPr>
        <p:spPr>
          <a:xfrm>
            <a:off x="1005840" y="185775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par-, para- (G) (par-, para-)</a:t>
            </a:r>
            <a:r>
              <a:rPr lang="en-US" sz="1300" dirty="0">
                <a:solidFill>
                  <a:srgbClr val="4B5563"/>
                </a:solidFill>
                <a:latin typeface="Calibri" pitchFamily="34" charset="0"/>
                <a:ea typeface="Calibri" pitchFamily="34" charset="-122"/>
                <a:cs typeface="Calibri" pitchFamily="34" charset="-120"/>
              </a:rPr>
              <a:t>: Yan, yanında, komşu</a:t>
            </a:r>
            <a:endParaRPr lang="en-US" sz="1300" dirty="0"/>
          </a:p>
        </p:txBody>
      </p:sp>
      <p:sp>
        <p:nvSpPr>
          <p:cNvPr id="10" name="Shape 8"/>
          <p:cNvSpPr/>
          <p:nvPr/>
        </p:nvSpPr>
        <p:spPr>
          <a:xfrm>
            <a:off x="850392" y="2164237"/>
            <a:ext cx="64008" cy="64008"/>
          </a:xfrm>
          <a:prstGeom prst="ellipse">
            <a:avLst/>
          </a:prstGeom>
          <a:solidFill>
            <a:srgbClr val="0F766E"/>
          </a:solidFill>
          <a:ln/>
        </p:spPr>
      </p:sp>
      <p:sp>
        <p:nvSpPr>
          <p:cNvPr id="11" name="Text 9"/>
          <p:cNvSpPr txBox="1"/>
          <p:nvPr/>
        </p:nvSpPr>
        <p:spPr>
          <a:xfrm>
            <a:off x="1005840" y="209575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paroral (paroral)</a:t>
            </a:r>
            <a:r>
              <a:rPr lang="en-US" sz="1300" dirty="0">
                <a:solidFill>
                  <a:srgbClr val="4B5563"/>
                </a:solidFill>
                <a:latin typeface="Calibri" pitchFamily="34" charset="0"/>
                <a:ea typeface="Calibri" pitchFamily="34" charset="-122"/>
                <a:cs typeface="Calibri" pitchFamily="34" charset="-120"/>
              </a:rPr>
              <a:t>: Ağıza komşu</a:t>
            </a:r>
            <a:endParaRPr lang="en-US" sz="1300" dirty="0"/>
          </a:p>
        </p:txBody>
      </p:sp>
      <p:sp>
        <p:nvSpPr>
          <p:cNvPr id="12" name="Shape 10"/>
          <p:cNvSpPr/>
          <p:nvPr/>
        </p:nvSpPr>
        <p:spPr>
          <a:xfrm>
            <a:off x="850392" y="2402235"/>
            <a:ext cx="64008" cy="64008"/>
          </a:xfrm>
          <a:prstGeom prst="ellipse">
            <a:avLst/>
          </a:prstGeom>
          <a:solidFill>
            <a:srgbClr val="0F766E"/>
          </a:solidFill>
          <a:ln/>
        </p:spPr>
      </p:sp>
      <p:sp>
        <p:nvSpPr>
          <p:cNvPr id="13" name="Text 11"/>
          <p:cNvSpPr txBox="1"/>
          <p:nvPr/>
        </p:nvSpPr>
        <p:spPr>
          <a:xfrm>
            <a:off x="1005840" y="233375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parotit (parotit)</a:t>
            </a:r>
            <a:r>
              <a:rPr lang="en-US" sz="1300" dirty="0">
                <a:solidFill>
                  <a:srgbClr val="4B5563"/>
                </a:solidFill>
                <a:latin typeface="Calibri" pitchFamily="34" charset="0"/>
                <a:ea typeface="Calibri" pitchFamily="34" charset="-122"/>
                <a:cs typeface="Calibri" pitchFamily="34" charset="-120"/>
              </a:rPr>
              <a:t>: Kulağa yakın</a:t>
            </a:r>
            <a:endParaRPr lang="en-US" sz="1300" dirty="0"/>
          </a:p>
        </p:txBody>
      </p:sp>
      <p:sp>
        <p:nvSpPr>
          <p:cNvPr id="14" name="Shape 12"/>
          <p:cNvSpPr/>
          <p:nvPr/>
        </p:nvSpPr>
        <p:spPr>
          <a:xfrm>
            <a:off x="850392" y="2640233"/>
            <a:ext cx="64008" cy="64008"/>
          </a:xfrm>
          <a:prstGeom prst="ellipse">
            <a:avLst/>
          </a:prstGeom>
          <a:solidFill>
            <a:srgbClr val="0F766E"/>
          </a:solidFill>
          <a:ln/>
        </p:spPr>
      </p:sp>
      <p:sp>
        <p:nvSpPr>
          <p:cNvPr id="15" name="Text 13"/>
          <p:cNvSpPr txBox="1"/>
          <p:nvPr/>
        </p:nvSpPr>
        <p:spPr>
          <a:xfrm>
            <a:off x="1005840" y="257175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paranasalis (paranazal)</a:t>
            </a:r>
            <a:r>
              <a:rPr lang="en-US" sz="1300" dirty="0">
                <a:solidFill>
                  <a:srgbClr val="4B5563"/>
                </a:solidFill>
                <a:latin typeface="Calibri" pitchFamily="34" charset="0"/>
                <a:ea typeface="Calibri" pitchFamily="34" charset="-122"/>
                <a:cs typeface="Calibri" pitchFamily="34" charset="-120"/>
              </a:rPr>
              <a:t>: Burun boşluğuna komşu</a:t>
            </a:r>
            <a:endParaRPr lang="en-US" sz="1300" dirty="0"/>
          </a:p>
        </p:txBody>
      </p:sp>
      <p:sp>
        <p:nvSpPr>
          <p:cNvPr id="16" name="Shape 14"/>
          <p:cNvSpPr/>
          <p:nvPr/>
        </p:nvSpPr>
        <p:spPr>
          <a:xfrm>
            <a:off x="850392" y="2878231"/>
            <a:ext cx="64008" cy="64008"/>
          </a:xfrm>
          <a:prstGeom prst="ellipse">
            <a:avLst/>
          </a:prstGeom>
          <a:solidFill>
            <a:srgbClr val="0F766E"/>
          </a:solidFill>
          <a:ln/>
        </p:spPr>
      </p:sp>
      <p:sp>
        <p:nvSpPr>
          <p:cNvPr id="17" name="Text 15"/>
          <p:cNvSpPr txBox="1"/>
          <p:nvPr/>
        </p:nvSpPr>
        <p:spPr>
          <a:xfrm>
            <a:off x="1005840" y="2809748"/>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parathyroidea (parotiroid)</a:t>
            </a:r>
            <a:r>
              <a:rPr lang="en-US" sz="1300" dirty="0">
                <a:solidFill>
                  <a:srgbClr val="4B5563"/>
                </a:solidFill>
                <a:latin typeface="Calibri" pitchFamily="34" charset="0"/>
                <a:ea typeface="Calibri" pitchFamily="34" charset="-122"/>
                <a:cs typeface="Calibri" pitchFamily="34" charset="-120"/>
              </a:rPr>
              <a:t>: Tiroid bezi yakınında, paratiroid bezi</a:t>
            </a:r>
            <a:endParaRPr lang="en-US" sz="1300" dirty="0"/>
          </a:p>
        </p:txBody>
      </p:sp>
      <p:sp>
        <p:nvSpPr>
          <p:cNvPr id="18" name="Shape 16"/>
          <p:cNvSpPr/>
          <p:nvPr/>
        </p:nvSpPr>
        <p:spPr>
          <a:xfrm>
            <a:off x="548640" y="3477768"/>
            <a:ext cx="5410048" cy="1589786"/>
          </a:xfrm>
          <a:prstGeom prst="roundRect">
            <a:avLst>
              <a:gd name="adj" fmla="val 4026"/>
            </a:avLst>
          </a:prstGeom>
          <a:solidFill>
            <a:srgbClr val="EAF6F4"/>
          </a:solidFill>
          <a:ln/>
        </p:spPr>
      </p:sp>
      <p:sp>
        <p:nvSpPr>
          <p:cNvPr id="19" name="Text 17"/>
          <p:cNvSpPr txBox="1"/>
          <p:nvPr/>
        </p:nvSpPr>
        <p:spPr>
          <a:xfrm>
            <a:off x="731520" y="3541776"/>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2-  </a:t>
            </a:r>
            <a:endParaRPr lang="en-US" sz="1400" dirty="0"/>
          </a:p>
        </p:txBody>
      </p:sp>
      <p:sp>
        <p:nvSpPr>
          <p:cNvPr id="20" name="Shape 18"/>
          <p:cNvSpPr/>
          <p:nvPr/>
        </p:nvSpPr>
        <p:spPr>
          <a:xfrm>
            <a:off x="850392" y="3845463"/>
            <a:ext cx="64008" cy="64008"/>
          </a:xfrm>
          <a:prstGeom prst="ellipse">
            <a:avLst/>
          </a:prstGeom>
          <a:solidFill>
            <a:srgbClr val="0F766E"/>
          </a:solidFill>
          <a:ln/>
        </p:spPr>
      </p:sp>
      <p:sp>
        <p:nvSpPr>
          <p:cNvPr id="21" name="Text 19"/>
          <p:cNvSpPr txBox="1"/>
          <p:nvPr/>
        </p:nvSpPr>
        <p:spPr>
          <a:xfrm>
            <a:off x="1005840" y="3776980"/>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amb-, ambi- (L) (amb-, ambi-)</a:t>
            </a:r>
            <a:r>
              <a:rPr lang="en-US" sz="1300" dirty="0">
                <a:solidFill>
                  <a:srgbClr val="4B5563"/>
                </a:solidFill>
                <a:latin typeface="Calibri" pitchFamily="34" charset="0"/>
                <a:ea typeface="Calibri" pitchFamily="34" charset="-122"/>
                <a:cs typeface="Calibri" pitchFamily="34" charset="-120"/>
              </a:rPr>
              <a:t>: Çevresinde, yakınında, her iki yanda</a:t>
            </a:r>
            <a:endParaRPr lang="en-US" sz="1300" dirty="0"/>
          </a:p>
        </p:txBody>
      </p:sp>
      <p:sp>
        <p:nvSpPr>
          <p:cNvPr id="22" name="Shape 20"/>
          <p:cNvSpPr/>
          <p:nvPr/>
        </p:nvSpPr>
        <p:spPr>
          <a:xfrm>
            <a:off x="850392" y="4284883"/>
            <a:ext cx="64008" cy="64008"/>
          </a:xfrm>
          <a:prstGeom prst="ellipse">
            <a:avLst/>
          </a:prstGeom>
          <a:solidFill>
            <a:srgbClr val="0F766E"/>
          </a:solidFill>
          <a:ln/>
        </p:spPr>
      </p:sp>
      <p:sp>
        <p:nvSpPr>
          <p:cNvPr id="23" name="Text 21"/>
          <p:cNvSpPr txBox="1"/>
          <p:nvPr/>
        </p:nvSpPr>
        <p:spPr>
          <a:xfrm>
            <a:off x="1005840" y="421640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gyrus ambiens (girus ambiyens)</a:t>
            </a:r>
            <a:r>
              <a:rPr lang="en-US" sz="1300" dirty="0">
                <a:solidFill>
                  <a:srgbClr val="4B5563"/>
                </a:solidFill>
                <a:latin typeface="Calibri" pitchFamily="34" charset="0"/>
                <a:ea typeface="Calibri" pitchFamily="34" charset="-122"/>
                <a:cs typeface="Calibri" pitchFamily="34" charset="-120"/>
              </a:rPr>
              <a:t>: Bir kıvrım çevresinde</a:t>
            </a:r>
            <a:endParaRPr lang="en-US" sz="1300" dirty="0"/>
          </a:p>
        </p:txBody>
      </p:sp>
      <p:sp>
        <p:nvSpPr>
          <p:cNvPr id="24" name="Shape 22"/>
          <p:cNvSpPr/>
          <p:nvPr/>
        </p:nvSpPr>
        <p:spPr>
          <a:xfrm>
            <a:off x="850392" y="4522881"/>
            <a:ext cx="64008" cy="64008"/>
          </a:xfrm>
          <a:prstGeom prst="ellipse">
            <a:avLst/>
          </a:prstGeom>
          <a:solidFill>
            <a:srgbClr val="0F766E"/>
          </a:solidFill>
          <a:ln/>
        </p:spPr>
      </p:sp>
      <p:sp>
        <p:nvSpPr>
          <p:cNvPr id="25" name="Text 23"/>
          <p:cNvSpPr txBox="1"/>
          <p:nvPr/>
        </p:nvSpPr>
        <p:spPr>
          <a:xfrm>
            <a:off x="1005840" y="445439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ambilateral (ambilateral)</a:t>
            </a:r>
            <a:r>
              <a:rPr lang="en-US" sz="1300" dirty="0">
                <a:solidFill>
                  <a:srgbClr val="4B5563"/>
                </a:solidFill>
                <a:latin typeface="Calibri" pitchFamily="34" charset="0"/>
                <a:ea typeface="Calibri" pitchFamily="34" charset="-122"/>
                <a:cs typeface="Calibri" pitchFamily="34" charset="-120"/>
              </a:rPr>
              <a:t>: Her iki tarafı da ilgilendiren</a:t>
            </a:r>
            <a:endParaRPr lang="en-US" sz="1300" dirty="0"/>
          </a:p>
        </p:txBody>
      </p:sp>
      <p:sp>
        <p:nvSpPr>
          <p:cNvPr id="26" name="Shape 24"/>
          <p:cNvSpPr/>
          <p:nvPr/>
        </p:nvSpPr>
        <p:spPr>
          <a:xfrm>
            <a:off x="850392" y="4760879"/>
            <a:ext cx="64008" cy="64008"/>
          </a:xfrm>
          <a:prstGeom prst="ellipse">
            <a:avLst/>
          </a:prstGeom>
          <a:solidFill>
            <a:srgbClr val="0F766E"/>
          </a:solidFill>
          <a:ln/>
        </p:spPr>
      </p:sp>
      <p:sp>
        <p:nvSpPr>
          <p:cNvPr id="27" name="Text 25"/>
          <p:cNvSpPr txBox="1"/>
          <p:nvPr/>
        </p:nvSpPr>
        <p:spPr>
          <a:xfrm>
            <a:off x="1005840" y="469239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ambient (ambiyent)</a:t>
            </a:r>
            <a:r>
              <a:rPr lang="en-US" sz="1300" dirty="0">
                <a:solidFill>
                  <a:srgbClr val="4B5563"/>
                </a:solidFill>
                <a:latin typeface="Calibri" pitchFamily="34" charset="0"/>
                <a:ea typeface="Calibri" pitchFamily="34" charset="-122"/>
                <a:cs typeface="Calibri" pitchFamily="34" charset="-120"/>
              </a:rPr>
              <a:t>: Çevreleyen, kuşatan, saran</a:t>
            </a:r>
            <a:endParaRPr lang="en-US" sz="1300" dirty="0"/>
          </a:p>
        </p:txBody>
      </p:sp>
      <p:sp>
        <p:nvSpPr>
          <p:cNvPr id="28" name="Shape 26"/>
          <p:cNvSpPr/>
          <p:nvPr/>
        </p:nvSpPr>
        <p:spPr>
          <a:xfrm>
            <a:off x="548640" y="5158994"/>
            <a:ext cx="5410048" cy="1150366"/>
          </a:xfrm>
          <a:prstGeom prst="roundRect">
            <a:avLst>
              <a:gd name="adj" fmla="val 5564"/>
            </a:avLst>
          </a:prstGeom>
          <a:solidFill>
            <a:srgbClr val="EAF6F4"/>
          </a:solidFill>
          <a:ln/>
        </p:spPr>
      </p:sp>
      <p:sp>
        <p:nvSpPr>
          <p:cNvPr id="29" name="Text 27"/>
          <p:cNvSpPr txBox="1"/>
          <p:nvPr/>
        </p:nvSpPr>
        <p:spPr>
          <a:xfrm>
            <a:off x="731520" y="5223002"/>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3-  </a:t>
            </a:r>
            <a:endParaRPr lang="en-US" sz="1400" dirty="0"/>
          </a:p>
        </p:txBody>
      </p:sp>
      <p:sp>
        <p:nvSpPr>
          <p:cNvPr id="30" name="Shape 28"/>
          <p:cNvSpPr/>
          <p:nvPr/>
        </p:nvSpPr>
        <p:spPr>
          <a:xfrm>
            <a:off x="850392" y="5526689"/>
            <a:ext cx="64008" cy="64008"/>
          </a:xfrm>
          <a:prstGeom prst="ellipse">
            <a:avLst/>
          </a:prstGeom>
          <a:solidFill>
            <a:srgbClr val="0F766E"/>
          </a:solidFill>
          <a:ln/>
        </p:spPr>
      </p:sp>
      <p:sp>
        <p:nvSpPr>
          <p:cNvPr id="31" name="Text 29"/>
          <p:cNvSpPr txBox="1"/>
          <p:nvPr/>
        </p:nvSpPr>
        <p:spPr>
          <a:xfrm>
            <a:off x="1005840" y="545820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amphi- (G) (amfi-)</a:t>
            </a:r>
            <a:r>
              <a:rPr lang="en-US" sz="1300" dirty="0">
                <a:solidFill>
                  <a:srgbClr val="4B5563"/>
                </a:solidFill>
                <a:latin typeface="Calibri" pitchFamily="34" charset="0"/>
                <a:ea typeface="Calibri" pitchFamily="34" charset="-122"/>
                <a:cs typeface="Calibri" pitchFamily="34" charset="-120"/>
              </a:rPr>
              <a:t>: Çevresinde, çift olarak, her ikisi de</a:t>
            </a:r>
            <a:endParaRPr lang="en-US" sz="1300" dirty="0"/>
          </a:p>
        </p:txBody>
      </p:sp>
      <p:sp>
        <p:nvSpPr>
          <p:cNvPr id="32" name="Shape 30"/>
          <p:cNvSpPr/>
          <p:nvPr/>
        </p:nvSpPr>
        <p:spPr>
          <a:xfrm>
            <a:off x="850392" y="5764687"/>
            <a:ext cx="64008" cy="64008"/>
          </a:xfrm>
          <a:prstGeom prst="ellipse">
            <a:avLst/>
          </a:prstGeom>
          <a:solidFill>
            <a:srgbClr val="0F766E"/>
          </a:solidFill>
          <a:ln/>
        </p:spPr>
      </p:sp>
      <p:sp>
        <p:nvSpPr>
          <p:cNvPr id="33" name="Text 31"/>
          <p:cNvSpPr txBox="1"/>
          <p:nvPr/>
        </p:nvSpPr>
        <p:spPr>
          <a:xfrm>
            <a:off x="1005840" y="569620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amphibious (amfibyus)</a:t>
            </a:r>
            <a:r>
              <a:rPr lang="en-US" sz="1300" dirty="0">
                <a:solidFill>
                  <a:srgbClr val="4B5563"/>
                </a:solidFill>
                <a:latin typeface="Calibri" pitchFamily="34" charset="0"/>
                <a:ea typeface="Calibri" pitchFamily="34" charset="-122"/>
                <a:cs typeface="Calibri" pitchFamily="34" charset="-120"/>
              </a:rPr>
              <a:t>: Hem karada hem suda yaşayabilen</a:t>
            </a:r>
            <a:endParaRPr lang="en-US" sz="1300" dirty="0"/>
          </a:p>
        </p:txBody>
      </p:sp>
      <p:sp>
        <p:nvSpPr>
          <p:cNvPr id="34" name="Shape 32"/>
          <p:cNvSpPr/>
          <p:nvPr/>
        </p:nvSpPr>
        <p:spPr>
          <a:xfrm>
            <a:off x="850392" y="6002685"/>
            <a:ext cx="64008" cy="64008"/>
          </a:xfrm>
          <a:prstGeom prst="ellipse">
            <a:avLst/>
          </a:prstGeom>
          <a:solidFill>
            <a:srgbClr val="0F766E"/>
          </a:solidFill>
          <a:ln/>
        </p:spPr>
      </p:sp>
      <p:sp>
        <p:nvSpPr>
          <p:cNvPr id="35" name="Text 33"/>
          <p:cNvSpPr txBox="1"/>
          <p:nvPr/>
        </p:nvSpPr>
        <p:spPr>
          <a:xfrm>
            <a:off x="1005840" y="593420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amphicelous (amfiselus)</a:t>
            </a:r>
            <a:r>
              <a:rPr lang="en-US" sz="1300" dirty="0">
                <a:solidFill>
                  <a:srgbClr val="4B5563"/>
                </a:solidFill>
                <a:latin typeface="Calibri" pitchFamily="34" charset="0"/>
                <a:ea typeface="Calibri" pitchFamily="34" charset="-122"/>
                <a:cs typeface="Calibri" pitchFamily="34" charset="-120"/>
              </a:rPr>
              <a:t>: Her iki tarafı da içbükey</a:t>
            </a:r>
            <a:endParaRPr lang="en-US" sz="1300" dirty="0"/>
          </a:p>
        </p:txBody>
      </p:sp>
      <p:sp>
        <p:nvSpPr>
          <p:cNvPr id="36" name="Shape 34"/>
          <p:cNvSpPr/>
          <p:nvPr/>
        </p:nvSpPr>
        <p:spPr>
          <a:xfrm>
            <a:off x="6233008" y="1558544"/>
            <a:ext cx="5410048" cy="1791208"/>
          </a:xfrm>
          <a:prstGeom prst="roundRect">
            <a:avLst>
              <a:gd name="adj" fmla="val 3573"/>
            </a:avLst>
          </a:prstGeom>
          <a:solidFill>
            <a:srgbClr val="EAF6F4"/>
          </a:solidFill>
          <a:ln/>
        </p:spPr>
      </p:sp>
      <p:sp>
        <p:nvSpPr>
          <p:cNvPr id="37" name="Text 35"/>
          <p:cNvSpPr txBox="1"/>
          <p:nvPr/>
        </p:nvSpPr>
        <p:spPr>
          <a:xfrm>
            <a:off x="6415888" y="1622552"/>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4-  </a:t>
            </a:r>
            <a:endParaRPr lang="en-US" sz="1400" dirty="0"/>
          </a:p>
        </p:txBody>
      </p:sp>
      <p:sp>
        <p:nvSpPr>
          <p:cNvPr id="38" name="Shape 36"/>
          <p:cNvSpPr/>
          <p:nvPr/>
        </p:nvSpPr>
        <p:spPr>
          <a:xfrm>
            <a:off x="6534760" y="1926239"/>
            <a:ext cx="64008" cy="64008"/>
          </a:xfrm>
          <a:prstGeom prst="ellipse">
            <a:avLst/>
          </a:prstGeom>
          <a:solidFill>
            <a:srgbClr val="0F766E"/>
          </a:solidFill>
          <a:ln/>
        </p:spPr>
      </p:sp>
      <p:sp>
        <p:nvSpPr>
          <p:cNvPr id="39" name="Text 37"/>
          <p:cNvSpPr txBox="1"/>
          <p:nvPr/>
        </p:nvSpPr>
        <p:spPr>
          <a:xfrm>
            <a:off x="6690208" y="185775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circum- (L) (sirkum-)</a:t>
            </a:r>
            <a:r>
              <a:rPr lang="en-US" sz="1300" dirty="0">
                <a:solidFill>
                  <a:srgbClr val="4B5563"/>
                </a:solidFill>
                <a:latin typeface="Calibri" pitchFamily="34" charset="0"/>
                <a:ea typeface="Calibri" pitchFamily="34" charset="-122"/>
                <a:cs typeface="Calibri" pitchFamily="34" charset="-120"/>
              </a:rPr>
              <a:t>: Çevresinde</a:t>
            </a:r>
            <a:endParaRPr lang="en-US" sz="1300" dirty="0"/>
          </a:p>
        </p:txBody>
      </p:sp>
      <p:sp>
        <p:nvSpPr>
          <p:cNvPr id="40" name="Shape 38"/>
          <p:cNvSpPr/>
          <p:nvPr/>
        </p:nvSpPr>
        <p:spPr>
          <a:xfrm>
            <a:off x="6534760" y="2164237"/>
            <a:ext cx="64008" cy="64008"/>
          </a:xfrm>
          <a:prstGeom prst="ellipse">
            <a:avLst/>
          </a:prstGeom>
          <a:solidFill>
            <a:srgbClr val="0F766E"/>
          </a:solidFill>
          <a:ln/>
        </p:spPr>
      </p:sp>
      <p:sp>
        <p:nvSpPr>
          <p:cNvPr id="41" name="Text 39"/>
          <p:cNvSpPr txBox="1"/>
          <p:nvPr/>
        </p:nvSpPr>
        <p:spPr>
          <a:xfrm>
            <a:off x="6690208" y="2095754"/>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circumrenal (sirkumrenal)</a:t>
            </a:r>
            <a:r>
              <a:rPr lang="en-US" sz="1300" dirty="0">
                <a:solidFill>
                  <a:srgbClr val="4B5563"/>
                </a:solidFill>
                <a:latin typeface="Calibri" pitchFamily="34" charset="0"/>
                <a:ea typeface="Calibri" pitchFamily="34" charset="-122"/>
                <a:cs typeface="Calibri" pitchFamily="34" charset="-120"/>
              </a:rPr>
              <a:t>: Böbrek çevresinde, böbreği saran</a:t>
            </a:r>
            <a:endParaRPr lang="en-US" sz="1300" dirty="0"/>
          </a:p>
        </p:txBody>
      </p:sp>
      <p:sp>
        <p:nvSpPr>
          <p:cNvPr id="42" name="Shape 40"/>
          <p:cNvSpPr/>
          <p:nvPr/>
        </p:nvSpPr>
        <p:spPr>
          <a:xfrm>
            <a:off x="6534760" y="2603657"/>
            <a:ext cx="64008" cy="64008"/>
          </a:xfrm>
          <a:prstGeom prst="ellipse">
            <a:avLst/>
          </a:prstGeom>
          <a:solidFill>
            <a:srgbClr val="0F766E"/>
          </a:solidFill>
          <a:ln/>
        </p:spPr>
      </p:sp>
      <p:sp>
        <p:nvSpPr>
          <p:cNvPr id="43" name="Text 41"/>
          <p:cNvSpPr txBox="1"/>
          <p:nvPr/>
        </p:nvSpPr>
        <p:spPr>
          <a:xfrm>
            <a:off x="6690208" y="2535174"/>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circumvascular (sirkumvaskular)</a:t>
            </a:r>
            <a:r>
              <a:rPr lang="en-US" sz="1300" dirty="0">
                <a:solidFill>
                  <a:srgbClr val="4B5563"/>
                </a:solidFill>
                <a:latin typeface="Calibri" pitchFamily="34" charset="0"/>
                <a:ea typeface="Calibri" pitchFamily="34" charset="-122"/>
                <a:cs typeface="Calibri" pitchFamily="34" charset="-120"/>
              </a:rPr>
              <a:t>: Damar çevresinde, damarı çevreleyen</a:t>
            </a:r>
            <a:endParaRPr lang="en-US" sz="1300" dirty="0"/>
          </a:p>
        </p:txBody>
      </p:sp>
      <p:sp>
        <p:nvSpPr>
          <p:cNvPr id="44" name="Shape 42"/>
          <p:cNvSpPr/>
          <p:nvPr/>
        </p:nvSpPr>
        <p:spPr>
          <a:xfrm>
            <a:off x="6534760" y="3043077"/>
            <a:ext cx="64008" cy="64008"/>
          </a:xfrm>
          <a:prstGeom prst="ellipse">
            <a:avLst/>
          </a:prstGeom>
          <a:solidFill>
            <a:srgbClr val="0F766E"/>
          </a:solidFill>
          <a:ln/>
        </p:spPr>
      </p:sp>
      <p:sp>
        <p:nvSpPr>
          <p:cNvPr id="45" name="Text 43"/>
          <p:cNvSpPr txBox="1"/>
          <p:nvPr/>
        </p:nvSpPr>
        <p:spPr>
          <a:xfrm>
            <a:off x="6690208" y="297459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circumintestinal (circumintestinal)</a:t>
            </a:r>
            <a:r>
              <a:rPr lang="en-US" sz="1300" dirty="0">
                <a:solidFill>
                  <a:srgbClr val="4B5563"/>
                </a:solidFill>
                <a:latin typeface="Calibri" pitchFamily="34" charset="0"/>
                <a:ea typeface="Calibri" pitchFamily="34" charset="-122"/>
                <a:cs typeface="Calibri" pitchFamily="34" charset="-120"/>
              </a:rPr>
              <a:t>: Bağırsağı çevreleyen</a:t>
            </a:r>
            <a:endParaRPr lang="en-US" sz="1300" dirty="0"/>
          </a:p>
        </p:txBody>
      </p:sp>
      <p:sp>
        <p:nvSpPr>
          <p:cNvPr id="46" name="Shape 44"/>
          <p:cNvSpPr/>
          <p:nvPr/>
        </p:nvSpPr>
        <p:spPr>
          <a:xfrm>
            <a:off x="6233008" y="3441192"/>
            <a:ext cx="5410048" cy="1388364"/>
          </a:xfrm>
          <a:prstGeom prst="roundRect">
            <a:avLst>
              <a:gd name="adj" fmla="val 4610"/>
            </a:avLst>
          </a:prstGeom>
          <a:solidFill>
            <a:srgbClr val="EAF6F4"/>
          </a:solidFill>
          <a:ln/>
        </p:spPr>
      </p:sp>
      <p:sp>
        <p:nvSpPr>
          <p:cNvPr id="47" name="Text 45"/>
          <p:cNvSpPr txBox="1"/>
          <p:nvPr/>
        </p:nvSpPr>
        <p:spPr>
          <a:xfrm>
            <a:off x="6415888" y="3505200"/>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5-  </a:t>
            </a:r>
            <a:endParaRPr lang="en-US" sz="1400" dirty="0"/>
          </a:p>
        </p:txBody>
      </p:sp>
      <p:sp>
        <p:nvSpPr>
          <p:cNvPr id="48" name="Shape 46"/>
          <p:cNvSpPr/>
          <p:nvPr/>
        </p:nvSpPr>
        <p:spPr>
          <a:xfrm>
            <a:off x="6534760" y="3808887"/>
            <a:ext cx="64008" cy="64008"/>
          </a:xfrm>
          <a:prstGeom prst="ellipse">
            <a:avLst/>
          </a:prstGeom>
          <a:solidFill>
            <a:srgbClr val="0F766E"/>
          </a:solidFill>
          <a:ln/>
        </p:spPr>
      </p:sp>
      <p:sp>
        <p:nvSpPr>
          <p:cNvPr id="49" name="Text 47"/>
          <p:cNvSpPr txBox="1"/>
          <p:nvPr/>
        </p:nvSpPr>
        <p:spPr>
          <a:xfrm>
            <a:off x="6690208" y="374040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peri- (G) (peri-)</a:t>
            </a:r>
            <a:r>
              <a:rPr lang="en-US" sz="1300" dirty="0">
                <a:solidFill>
                  <a:srgbClr val="4B5563"/>
                </a:solidFill>
                <a:latin typeface="Calibri" pitchFamily="34" charset="0"/>
                <a:ea typeface="Calibri" pitchFamily="34" charset="-122"/>
                <a:cs typeface="Calibri" pitchFamily="34" charset="-120"/>
              </a:rPr>
              <a:t>: Çevresinde</a:t>
            </a:r>
            <a:endParaRPr lang="en-US" sz="1300" dirty="0"/>
          </a:p>
        </p:txBody>
      </p:sp>
      <p:sp>
        <p:nvSpPr>
          <p:cNvPr id="50" name="Shape 48"/>
          <p:cNvSpPr/>
          <p:nvPr/>
        </p:nvSpPr>
        <p:spPr>
          <a:xfrm>
            <a:off x="6534760" y="4046885"/>
            <a:ext cx="64008" cy="64008"/>
          </a:xfrm>
          <a:prstGeom prst="ellipse">
            <a:avLst/>
          </a:prstGeom>
          <a:solidFill>
            <a:srgbClr val="0F766E"/>
          </a:solidFill>
          <a:ln/>
        </p:spPr>
      </p:sp>
      <p:sp>
        <p:nvSpPr>
          <p:cNvPr id="51" name="Text 49"/>
          <p:cNvSpPr txBox="1"/>
          <p:nvPr/>
        </p:nvSpPr>
        <p:spPr>
          <a:xfrm>
            <a:off x="6690208" y="397840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periarterialis (periarteryal)</a:t>
            </a:r>
            <a:r>
              <a:rPr lang="en-US" sz="1300" dirty="0">
                <a:solidFill>
                  <a:srgbClr val="4B5563"/>
                </a:solidFill>
                <a:latin typeface="Calibri" pitchFamily="34" charset="0"/>
                <a:ea typeface="Calibri" pitchFamily="34" charset="-122"/>
                <a:cs typeface="Calibri" pitchFamily="34" charset="-120"/>
              </a:rPr>
              <a:t>: Atardamar çevresinde</a:t>
            </a:r>
            <a:endParaRPr lang="en-US" sz="1300" dirty="0"/>
          </a:p>
        </p:txBody>
      </p:sp>
      <p:sp>
        <p:nvSpPr>
          <p:cNvPr id="52" name="Shape 50"/>
          <p:cNvSpPr/>
          <p:nvPr/>
        </p:nvSpPr>
        <p:spPr>
          <a:xfrm>
            <a:off x="6534760" y="4284883"/>
            <a:ext cx="64008" cy="64008"/>
          </a:xfrm>
          <a:prstGeom prst="ellipse">
            <a:avLst/>
          </a:prstGeom>
          <a:solidFill>
            <a:srgbClr val="0F766E"/>
          </a:solidFill>
          <a:ln/>
        </p:spPr>
      </p:sp>
      <p:sp>
        <p:nvSpPr>
          <p:cNvPr id="53" name="Text 51"/>
          <p:cNvSpPr txBox="1"/>
          <p:nvPr/>
        </p:nvSpPr>
        <p:spPr>
          <a:xfrm>
            <a:off x="6690208" y="421640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pericardium (perikardiyum)</a:t>
            </a:r>
            <a:r>
              <a:rPr lang="en-US" sz="1300" dirty="0">
                <a:solidFill>
                  <a:srgbClr val="4B5563"/>
                </a:solidFill>
                <a:latin typeface="Calibri" pitchFamily="34" charset="0"/>
                <a:ea typeface="Calibri" pitchFamily="34" charset="-122"/>
                <a:cs typeface="Calibri" pitchFamily="34" charset="-120"/>
              </a:rPr>
              <a:t>: Kalbi saran zar</a:t>
            </a:r>
            <a:endParaRPr lang="en-US" sz="1300" dirty="0"/>
          </a:p>
        </p:txBody>
      </p:sp>
      <p:sp>
        <p:nvSpPr>
          <p:cNvPr id="54" name="Shape 52"/>
          <p:cNvSpPr/>
          <p:nvPr/>
        </p:nvSpPr>
        <p:spPr>
          <a:xfrm>
            <a:off x="6534760" y="4522881"/>
            <a:ext cx="64008" cy="64008"/>
          </a:xfrm>
          <a:prstGeom prst="ellipse">
            <a:avLst/>
          </a:prstGeom>
          <a:solidFill>
            <a:srgbClr val="0F766E"/>
          </a:solidFill>
          <a:ln/>
        </p:spPr>
      </p:sp>
      <p:sp>
        <p:nvSpPr>
          <p:cNvPr id="55" name="Text 53"/>
          <p:cNvSpPr txBox="1"/>
          <p:nvPr/>
        </p:nvSpPr>
        <p:spPr>
          <a:xfrm>
            <a:off x="6690208" y="445439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perihepatic (perihepatik)</a:t>
            </a:r>
            <a:r>
              <a:rPr lang="en-US" sz="1300" dirty="0">
                <a:solidFill>
                  <a:srgbClr val="4B5563"/>
                </a:solidFill>
                <a:latin typeface="Calibri" pitchFamily="34" charset="0"/>
                <a:ea typeface="Calibri" pitchFamily="34" charset="-122"/>
                <a:cs typeface="Calibri" pitchFamily="34" charset="-120"/>
              </a:rPr>
              <a:t>: Karaciğer çevresinde</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Ön, Önce, Önünde ve Sonra, Arka, Arkasında, Geri,… Sonrası Anlamı Veren Önekler</a:t>
            </a:r>
            <a:endParaRPr lang="en-US" sz="22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56</a:t>
            </a:r>
            <a:endParaRPr lang="en-US" sz="1000" dirty="0"/>
          </a:p>
        </p:txBody>
      </p:sp>
      <p:sp>
        <p:nvSpPr>
          <p:cNvPr id="6" name="Shape 4"/>
          <p:cNvSpPr/>
          <p:nvPr/>
        </p:nvSpPr>
        <p:spPr>
          <a:xfrm>
            <a:off x="548640" y="1496568"/>
            <a:ext cx="11094415" cy="1543304"/>
          </a:xfrm>
          <a:prstGeom prst="roundRect">
            <a:avLst>
              <a:gd name="adj" fmla="val 4147"/>
            </a:avLst>
          </a:prstGeom>
          <a:solidFill>
            <a:srgbClr val="EAF6F4"/>
          </a:solidFill>
          <a:ln/>
        </p:spPr>
      </p:sp>
      <p:sp>
        <p:nvSpPr>
          <p:cNvPr id="7" name="Text 5"/>
          <p:cNvSpPr txBox="1"/>
          <p:nvPr/>
        </p:nvSpPr>
        <p:spPr>
          <a:xfrm>
            <a:off x="731520" y="1560576"/>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1-a)  </a:t>
            </a:r>
            <a:endParaRPr lang="en-US" sz="1600" dirty="0"/>
          </a:p>
        </p:txBody>
      </p:sp>
      <p:sp>
        <p:nvSpPr>
          <p:cNvPr id="8" name="Shape 6"/>
          <p:cNvSpPr/>
          <p:nvPr/>
        </p:nvSpPr>
        <p:spPr>
          <a:xfrm>
            <a:off x="850392" y="1905787"/>
            <a:ext cx="64008" cy="64008"/>
          </a:xfrm>
          <a:prstGeom prst="ellipse">
            <a:avLst/>
          </a:prstGeom>
          <a:solidFill>
            <a:srgbClr val="0F766E"/>
          </a:solidFill>
          <a:ln/>
        </p:spPr>
      </p:sp>
      <p:sp>
        <p:nvSpPr>
          <p:cNvPr id="9" name="Text 7"/>
          <p:cNvSpPr txBox="1"/>
          <p:nvPr/>
        </p:nvSpPr>
        <p:spPr>
          <a:xfrm>
            <a:off x="1005840" y="182676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ante- (L) (ant-, ante-)</a:t>
            </a:r>
            <a:r>
              <a:rPr lang="en-US" sz="1500" dirty="0">
                <a:solidFill>
                  <a:srgbClr val="4B5563"/>
                </a:solidFill>
                <a:latin typeface="Calibri" pitchFamily="34" charset="0"/>
                <a:ea typeface="Calibri" pitchFamily="34" charset="-122"/>
                <a:cs typeface="Calibri" pitchFamily="34" charset="-120"/>
              </a:rPr>
              <a:t>: Önce, ön, önünde</a:t>
            </a:r>
            <a:endParaRPr lang="en-US" sz="1500" dirty="0"/>
          </a:p>
        </p:txBody>
      </p:sp>
      <p:sp>
        <p:nvSpPr>
          <p:cNvPr id="10" name="Shape 8"/>
          <p:cNvSpPr/>
          <p:nvPr/>
        </p:nvSpPr>
        <p:spPr>
          <a:xfrm>
            <a:off x="850392" y="2174773"/>
            <a:ext cx="64008" cy="64008"/>
          </a:xfrm>
          <a:prstGeom prst="ellipse">
            <a:avLst/>
          </a:prstGeom>
          <a:solidFill>
            <a:srgbClr val="0F766E"/>
          </a:solidFill>
          <a:ln/>
        </p:spPr>
      </p:sp>
      <p:sp>
        <p:nvSpPr>
          <p:cNvPr id="11" name="Text 9"/>
          <p:cNvSpPr txBox="1"/>
          <p:nvPr/>
        </p:nvSpPr>
        <p:spPr>
          <a:xfrm>
            <a:off x="1005840" y="209575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antebrachium (antebrakyum)</a:t>
            </a:r>
            <a:r>
              <a:rPr lang="en-US" sz="1500" dirty="0">
                <a:solidFill>
                  <a:srgbClr val="4B5563"/>
                </a:solidFill>
                <a:latin typeface="Calibri" pitchFamily="34" charset="0"/>
                <a:ea typeface="Calibri" pitchFamily="34" charset="-122"/>
                <a:cs typeface="Calibri" pitchFamily="34" charset="-120"/>
              </a:rPr>
              <a:t>: Ön kol</a:t>
            </a:r>
            <a:endParaRPr lang="en-US" sz="1500" dirty="0"/>
          </a:p>
        </p:txBody>
      </p:sp>
      <p:sp>
        <p:nvSpPr>
          <p:cNvPr id="12" name="Shape 10"/>
          <p:cNvSpPr/>
          <p:nvPr/>
        </p:nvSpPr>
        <p:spPr>
          <a:xfrm>
            <a:off x="850392" y="2443759"/>
            <a:ext cx="64008" cy="64008"/>
          </a:xfrm>
          <a:prstGeom prst="ellipse">
            <a:avLst/>
          </a:prstGeom>
          <a:solidFill>
            <a:srgbClr val="0F766E"/>
          </a:solidFill>
          <a:ln/>
        </p:spPr>
      </p:sp>
      <p:sp>
        <p:nvSpPr>
          <p:cNvPr id="13" name="Text 11"/>
          <p:cNvSpPr txBox="1"/>
          <p:nvPr/>
        </p:nvSpPr>
        <p:spPr>
          <a:xfrm>
            <a:off x="1005840" y="236474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antenatal (antenatal)</a:t>
            </a:r>
            <a:r>
              <a:rPr lang="en-US" sz="1500" dirty="0">
                <a:solidFill>
                  <a:srgbClr val="4B5563"/>
                </a:solidFill>
                <a:latin typeface="Calibri" pitchFamily="34" charset="0"/>
                <a:ea typeface="Calibri" pitchFamily="34" charset="-122"/>
                <a:cs typeface="Calibri" pitchFamily="34" charset="-120"/>
              </a:rPr>
              <a:t>: Doğum öncesi</a:t>
            </a:r>
            <a:endParaRPr lang="en-US" sz="1500" dirty="0"/>
          </a:p>
        </p:txBody>
      </p:sp>
      <p:sp>
        <p:nvSpPr>
          <p:cNvPr id="14" name="Shape 12"/>
          <p:cNvSpPr/>
          <p:nvPr/>
        </p:nvSpPr>
        <p:spPr>
          <a:xfrm>
            <a:off x="850392" y="2712745"/>
            <a:ext cx="64008" cy="64008"/>
          </a:xfrm>
          <a:prstGeom prst="ellipse">
            <a:avLst/>
          </a:prstGeom>
          <a:solidFill>
            <a:srgbClr val="0F766E"/>
          </a:solidFill>
          <a:ln/>
        </p:spPr>
      </p:sp>
      <p:sp>
        <p:nvSpPr>
          <p:cNvPr id="15" name="Text 13"/>
          <p:cNvSpPr txBox="1"/>
          <p:nvPr/>
        </p:nvSpPr>
        <p:spPr>
          <a:xfrm>
            <a:off x="1005840" y="263372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anteflexion (antefileksyon)</a:t>
            </a:r>
            <a:r>
              <a:rPr lang="en-US" sz="1500" dirty="0">
                <a:solidFill>
                  <a:srgbClr val="4B5563"/>
                </a:solidFill>
                <a:latin typeface="Calibri" pitchFamily="34" charset="0"/>
                <a:ea typeface="Calibri" pitchFamily="34" charset="-122"/>
                <a:cs typeface="Calibri" pitchFamily="34" charset="-120"/>
              </a:rPr>
              <a:t>: Öne doğru bükülme</a:t>
            </a:r>
            <a:endParaRPr lang="en-US" sz="1500" dirty="0"/>
          </a:p>
        </p:txBody>
      </p:sp>
      <p:sp>
        <p:nvSpPr>
          <p:cNvPr id="16" name="Shape 14"/>
          <p:cNvSpPr/>
          <p:nvPr/>
        </p:nvSpPr>
        <p:spPr>
          <a:xfrm>
            <a:off x="548640" y="3131312"/>
            <a:ext cx="11094415" cy="1543304"/>
          </a:xfrm>
          <a:prstGeom prst="roundRect">
            <a:avLst>
              <a:gd name="adj" fmla="val 4147"/>
            </a:avLst>
          </a:prstGeom>
          <a:solidFill>
            <a:srgbClr val="EAF6F4"/>
          </a:solidFill>
          <a:ln/>
        </p:spPr>
      </p:sp>
      <p:sp>
        <p:nvSpPr>
          <p:cNvPr id="17" name="Text 15"/>
          <p:cNvSpPr txBox="1"/>
          <p:nvPr/>
        </p:nvSpPr>
        <p:spPr>
          <a:xfrm>
            <a:off x="731520" y="3195320"/>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1-b)  </a:t>
            </a:r>
            <a:endParaRPr lang="en-US" sz="1600" dirty="0"/>
          </a:p>
        </p:txBody>
      </p:sp>
      <p:sp>
        <p:nvSpPr>
          <p:cNvPr id="18" name="Shape 16"/>
          <p:cNvSpPr/>
          <p:nvPr/>
        </p:nvSpPr>
        <p:spPr>
          <a:xfrm>
            <a:off x="850392" y="3540531"/>
            <a:ext cx="64008" cy="64008"/>
          </a:xfrm>
          <a:prstGeom prst="ellipse">
            <a:avLst/>
          </a:prstGeom>
          <a:solidFill>
            <a:srgbClr val="0F766E"/>
          </a:solidFill>
          <a:ln/>
        </p:spPr>
      </p:sp>
      <p:sp>
        <p:nvSpPr>
          <p:cNvPr id="19" name="Text 17"/>
          <p:cNvSpPr txBox="1"/>
          <p:nvPr/>
        </p:nvSpPr>
        <p:spPr>
          <a:xfrm>
            <a:off x="1005840" y="346151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pre- (L) (pre-)</a:t>
            </a:r>
            <a:r>
              <a:rPr lang="en-US" sz="1500" dirty="0">
                <a:solidFill>
                  <a:srgbClr val="4B5563"/>
                </a:solidFill>
                <a:latin typeface="Calibri" pitchFamily="34" charset="0"/>
                <a:ea typeface="Calibri" pitchFamily="34" charset="-122"/>
                <a:cs typeface="Calibri" pitchFamily="34" charset="-120"/>
              </a:rPr>
              <a:t>: Ön, önünde</a:t>
            </a:r>
            <a:endParaRPr lang="en-US" sz="1500" dirty="0"/>
          </a:p>
        </p:txBody>
      </p:sp>
      <p:sp>
        <p:nvSpPr>
          <p:cNvPr id="20" name="Shape 18"/>
          <p:cNvSpPr/>
          <p:nvPr/>
        </p:nvSpPr>
        <p:spPr>
          <a:xfrm>
            <a:off x="850392" y="3809517"/>
            <a:ext cx="64008" cy="64008"/>
          </a:xfrm>
          <a:prstGeom prst="ellipse">
            <a:avLst/>
          </a:prstGeom>
          <a:solidFill>
            <a:srgbClr val="0F766E"/>
          </a:solidFill>
          <a:ln/>
        </p:spPr>
      </p:sp>
      <p:sp>
        <p:nvSpPr>
          <p:cNvPr id="21" name="Text 19"/>
          <p:cNvSpPr txBox="1"/>
          <p:nvPr/>
        </p:nvSpPr>
        <p:spPr>
          <a:xfrm>
            <a:off x="1005840" y="373049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premature (premature)</a:t>
            </a:r>
            <a:r>
              <a:rPr lang="en-US" sz="1500" dirty="0">
                <a:solidFill>
                  <a:srgbClr val="4B5563"/>
                </a:solidFill>
                <a:latin typeface="Calibri" pitchFamily="34" charset="0"/>
                <a:ea typeface="Calibri" pitchFamily="34" charset="-122"/>
                <a:cs typeface="Calibri" pitchFamily="34" charset="-120"/>
              </a:rPr>
              <a:t>: Normal zamanından önce doğan bebek</a:t>
            </a:r>
            <a:endParaRPr lang="en-US" sz="1500" dirty="0"/>
          </a:p>
        </p:txBody>
      </p:sp>
      <p:sp>
        <p:nvSpPr>
          <p:cNvPr id="22" name="Shape 20"/>
          <p:cNvSpPr/>
          <p:nvPr/>
        </p:nvSpPr>
        <p:spPr>
          <a:xfrm>
            <a:off x="850392" y="4078503"/>
            <a:ext cx="64008" cy="64008"/>
          </a:xfrm>
          <a:prstGeom prst="ellipse">
            <a:avLst/>
          </a:prstGeom>
          <a:solidFill>
            <a:srgbClr val="0F766E"/>
          </a:solidFill>
          <a:ln/>
        </p:spPr>
      </p:sp>
      <p:sp>
        <p:nvSpPr>
          <p:cNvPr id="23" name="Text 21"/>
          <p:cNvSpPr txBox="1"/>
          <p:nvPr/>
        </p:nvSpPr>
        <p:spPr>
          <a:xfrm>
            <a:off x="1005840" y="399948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prenatalis (prenatal)</a:t>
            </a:r>
            <a:r>
              <a:rPr lang="en-US" sz="1500" dirty="0">
                <a:solidFill>
                  <a:srgbClr val="4B5563"/>
                </a:solidFill>
                <a:latin typeface="Calibri" pitchFamily="34" charset="0"/>
                <a:ea typeface="Calibri" pitchFamily="34" charset="-122"/>
                <a:cs typeface="Calibri" pitchFamily="34" charset="-120"/>
              </a:rPr>
              <a:t>: Doğum öncesi</a:t>
            </a:r>
            <a:endParaRPr lang="en-US" sz="1500" dirty="0"/>
          </a:p>
        </p:txBody>
      </p:sp>
      <p:sp>
        <p:nvSpPr>
          <p:cNvPr id="24" name="Shape 22"/>
          <p:cNvSpPr/>
          <p:nvPr/>
        </p:nvSpPr>
        <p:spPr>
          <a:xfrm>
            <a:off x="850392" y="4347489"/>
            <a:ext cx="64008" cy="64008"/>
          </a:xfrm>
          <a:prstGeom prst="ellipse">
            <a:avLst/>
          </a:prstGeom>
          <a:solidFill>
            <a:srgbClr val="0F766E"/>
          </a:solidFill>
          <a:ln/>
        </p:spPr>
      </p:sp>
      <p:sp>
        <p:nvSpPr>
          <p:cNvPr id="25" name="Text 23"/>
          <p:cNvSpPr txBox="1"/>
          <p:nvPr/>
        </p:nvSpPr>
        <p:spPr>
          <a:xfrm>
            <a:off x="1005840" y="426847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premolaris (premolar)</a:t>
            </a:r>
            <a:r>
              <a:rPr lang="en-US" sz="1500" dirty="0">
                <a:solidFill>
                  <a:srgbClr val="4B5563"/>
                </a:solidFill>
                <a:latin typeface="Calibri" pitchFamily="34" charset="0"/>
                <a:ea typeface="Calibri" pitchFamily="34" charset="-122"/>
                <a:cs typeface="Calibri" pitchFamily="34" charset="-120"/>
              </a:rPr>
              <a:t>: Ön azı dişi</a:t>
            </a:r>
            <a:endParaRPr lang="en-US" sz="1500" dirty="0"/>
          </a:p>
        </p:txBody>
      </p:sp>
      <p:sp>
        <p:nvSpPr>
          <p:cNvPr id="26" name="Shape 24"/>
          <p:cNvSpPr/>
          <p:nvPr/>
        </p:nvSpPr>
        <p:spPr>
          <a:xfrm>
            <a:off x="548640" y="4766056"/>
            <a:ext cx="11094415" cy="1543304"/>
          </a:xfrm>
          <a:prstGeom prst="roundRect">
            <a:avLst>
              <a:gd name="adj" fmla="val 4147"/>
            </a:avLst>
          </a:prstGeom>
          <a:solidFill>
            <a:srgbClr val="EAF6F4"/>
          </a:solidFill>
          <a:ln/>
        </p:spPr>
      </p:sp>
      <p:sp>
        <p:nvSpPr>
          <p:cNvPr id="27" name="Text 25"/>
          <p:cNvSpPr txBox="1"/>
          <p:nvPr/>
        </p:nvSpPr>
        <p:spPr>
          <a:xfrm>
            <a:off x="731520" y="4830064"/>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1-c)  </a:t>
            </a:r>
            <a:endParaRPr lang="en-US" sz="1600" dirty="0"/>
          </a:p>
        </p:txBody>
      </p:sp>
      <p:sp>
        <p:nvSpPr>
          <p:cNvPr id="28" name="Shape 26"/>
          <p:cNvSpPr/>
          <p:nvPr/>
        </p:nvSpPr>
        <p:spPr>
          <a:xfrm>
            <a:off x="850392" y="5175275"/>
            <a:ext cx="64008" cy="64008"/>
          </a:xfrm>
          <a:prstGeom prst="ellipse">
            <a:avLst/>
          </a:prstGeom>
          <a:solidFill>
            <a:srgbClr val="0F766E"/>
          </a:solidFill>
          <a:ln/>
        </p:spPr>
      </p:sp>
      <p:sp>
        <p:nvSpPr>
          <p:cNvPr id="29" name="Text 27"/>
          <p:cNvSpPr txBox="1"/>
          <p:nvPr/>
        </p:nvSpPr>
        <p:spPr>
          <a:xfrm>
            <a:off x="1005840" y="509625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pro- (L,G) (pro-)</a:t>
            </a:r>
            <a:r>
              <a:rPr lang="en-US" sz="1500" dirty="0">
                <a:solidFill>
                  <a:srgbClr val="4B5563"/>
                </a:solidFill>
                <a:latin typeface="Calibri" pitchFamily="34" charset="0"/>
                <a:ea typeface="Calibri" pitchFamily="34" charset="-122"/>
                <a:cs typeface="Calibri" pitchFamily="34" charset="-120"/>
              </a:rPr>
              <a:t>: Ön, önce</a:t>
            </a:r>
            <a:endParaRPr lang="en-US" sz="1500" dirty="0"/>
          </a:p>
        </p:txBody>
      </p:sp>
      <p:sp>
        <p:nvSpPr>
          <p:cNvPr id="30" name="Shape 28"/>
          <p:cNvSpPr/>
          <p:nvPr/>
        </p:nvSpPr>
        <p:spPr>
          <a:xfrm>
            <a:off x="850392" y="5444261"/>
            <a:ext cx="64008" cy="64008"/>
          </a:xfrm>
          <a:prstGeom prst="ellipse">
            <a:avLst/>
          </a:prstGeom>
          <a:solidFill>
            <a:srgbClr val="0F766E"/>
          </a:solidFill>
          <a:ln/>
        </p:spPr>
      </p:sp>
      <p:sp>
        <p:nvSpPr>
          <p:cNvPr id="31" name="Text 29"/>
          <p:cNvSpPr txBox="1"/>
          <p:nvPr/>
        </p:nvSpPr>
        <p:spPr>
          <a:xfrm>
            <a:off x="1005840" y="536524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pronephros (pronefros)</a:t>
            </a:r>
            <a:r>
              <a:rPr lang="en-US" sz="1500" dirty="0">
                <a:solidFill>
                  <a:srgbClr val="4B5563"/>
                </a:solidFill>
                <a:latin typeface="Calibri" pitchFamily="34" charset="0"/>
                <a:ea typeface="Calibri" pitchFamily="34" charset="-122"/>
                <a:cs typeface="Calibri" pitchFamily="34" charset="-120"/>
              </a:rPr>
              <a:t>: Embriyonal gelişimde böbreğin ilk şekli</a:t>
            </a:r>
            <a:endParaRPr lang="en-US" sz="1500" dirty="0"/>
          </a:p>
        </p:txBody>
      </p:sp>
      <p:sp>
        <p:nvSpPr>
          <p:cNvPr id="32" name="Shape 30"/>
          <p:cNvSpPr/>
          <p:nvPr/>
        </p:nvSpPr>
        <p:spPr>
          <a:xfrm>
            <a:off x="850392" y="5713247"/>
            <a:ext cx="64008" cy="64008"/>
          </a:xfrm>
          <a:prstGeom prst="ellipse">
            <a:avLst/>
          </a:prstGeom>
          <a:solidFill>
            <a:srgbClr val="0F766E"/>
          </a:solidFill>
          <a:ln/>
        </p:spPr>
      </p:sp>
      <p:sp>
        <p:nvSpPr>
          <p:cNvPr id="33" name="Text 31"/>
          <p:cNvSpPr txBox="1"/>
          <p:nvPr/>
        </p:nvSpPr>
        <p:spPr>
          <a:xfrm>
            <a:off x="1005840" y="563422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prophase (profaz)</a:t>
            </a:r>
            <a:r>
              <a:rPr lang="en-US" sz="1500" dirty="0">
                <a:solidFill>
                  <a:srgbClr val="4B5563"/>
                </a:solidFill>
                <a:latin typeface="Calibri" pitchFamily="34" charset="0"/>
                <a:ea typeface="Calibri" pitchFamily="34" charset="-122"/>
                <a:cs typeface="Calibri" pitchFamily="34" charset="-120"/>
              </a:rPr>
              <a:t>: Mitoz bölünmenin ilk evresi</a:t>
            </a:r>
            <a:endParaRPr lang="en-US" sz="1500" dirty="0"/>
          </a:p>
        </p:txBody>
      </p:sp>
      <p:sp>
        <p:nvSpPr>
          <p:cNvPr id="34" name="Shape 32"/>
          <p:cNvSpPr/>
          <p:nvPr/>
        </p:nvSpPr>
        <p:spPr>
          <a:xfrm>
            <a:off x="850392" y="5982233"/>
            <a:ext cx="64008" cy="64008"/>
          </a:xfrm>
          <a:prstGeom prst="ellipse">
            <a:avLst/>
          </a:prstGeom>
          <a:solidFill>
            <a:srgbClr val="0F766E"/>
          </a:solidFill>
          <a:ln/>
        </p:spPr>
      </p:sp>
      <p:sp>
        <p:nvSpPr>
          <p:cNvPr id="35" name="Text 33"/>
          <p:cNvSpPr txBox="1"/>
          <p:nvPr/>
        </p:nvSpPr>
        <p:spPr>
          <a:xfrm>
            <a:off x="1005840" y="590321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prophylaxis (profilaksi)</a:t>
            </a:r>
            <a:r>
              <a:rPr lang="en-US" sz="1500" dirty="0">
                <a:solidFill>
                  <a:srgbClr val="4B5563"/>
                </a:solidFill>
                <a:latin typeface="Calibri" pitchFamily="34" charset="0"/>
                <a:ea typeface="Calibri" pitchFamily="34" charset="-122"/>
                <a:cs typeface="Calibri" pitchFamily="34" charset="-120"/>
              </a:rPr>
              <a:t>: Hastalığın oluşmaması için uygulanan koruyucu önlemlerin hepsi, Ön koruma</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Ön, Önce, Önünde ve Sonra, Arka, Arkasında, Geri,… Sonrası Anlamı Veren Önekler</a:t>
            </a:r>
            <a:endParaRPr lang="en-US" sz="22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57</a:t>
            </a:r>
            <a:endParaRPr lang="en-US" sz="1000" dirty="0"/>
          </a:p>
        </p:txBody>
      </p:sp>
      <p:sp>
        <p:nvSpPr>
          <p:cNvPr id="6" name="Shape 4"/>
          <p:cNvSpPr/>
          <p:nvPr/>
        </p:nvSpPr>
        <p:spPr>
          <a:xfrm>
            <a:off x="548640" y="1475486"/>
            <a:ext cx="11094415" cy="1465834"/>
          </a:xfrm>
          <a:prstGeom prst="roundRect">
            <a:avLst>
              <a:gd name="adj" fmla="val 4367"/>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2-a)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post- (L) (post-)</a:t>
            </a:r>
            <a:r>
              <a:rPr lang="en-US" sz="1400" dirty="0">
                <a:solidFill>
                  <a:srgbClr val="4B5563"/>
                </a:solidFill>
                <a:latin typeface="Calibri" pitchFamily="34" charset="0"/>
                <a:ea typeface="Calibri" pitchFamily="34" charset="-122"/>
                <a:cs typeface="Calibri" pitchFamily="34" charset="-120"/>
              </a:rPr>
              <a:t>: Sonra, arka, ardından</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postnatalis (postnatal), postpartum (postpartum)</a:t>
            </a:r>
            <a:r>
              <a:rPr lang="en-US" sz="1400" dirty="0">
                <a:solidFill>
                  <a:srgbClr val="4B5563"/>
                </a:solidFill>
                <a:latin typeface="Calibri" pitchFamily="34" charset="0"/>
                <a:ea typeface="Calibri" pitchFamily="34" charset="-122"/>
                <a:cs typeface="Calibri" pitchFamily="34" charset="-120"/>
              </a:rPr>
              <a:t>: Doğum sonrası</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postoperative (postoperativ)</a:t>
            </a:r>
            <a:r>
              <a:rPr lang="en-US" sz="1400" dirty="0">
                <a:solidFill>
                  <a:srgbClr val="4B5563"/>
                </a:solidFill>
                <a:latin typeface="Calibri" pitchFamily="34" charset="0"/>
                <a:ea typeface="Calibri" pitchFamily="34" charset="-122"/>
                <a:cs typeface="Calibri" pitchFamily="34" charset="-120"/>
              </a:rPr>
              <a:t>: Ameliyat sonrası</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postcapillaris (postkapillar)</a:t>
            </a:r>
            <a:r>
              <a:rPr lang="en-US" sz="1400" dirty="0">
                <a:solidFill>
                  <a:srgbClr val="4B5563"/>
                </a:solidFill>
                <a:latin typeface="Calibri" pitchFamily="34" charset="0"/>
                <a:ea typeface="Calibri" pitchFamily="34" charset="-122"/>
                <a:cs typeface="Calibri" pitchFamily="34" charset="-120"/>
              </a:rPr>
              <a:t>: Kılcal damar sonrası</a:t>
            </a:r>
            <a:endParaRPr lang="en-US" sz="1400" dirty="0"/>
          </a:p>
        </p:txBody>
      </p:sp>
      <p:sp>
        <p:nvSpPr>
          <p:cNvPr id="16" name="Shape 14"/>
          <p:cNvSpPr/>
          <p:nvPr/>
        </p:nvSpPr>
        <p:spPr>
          <a:xfrm>
            <a:off x="548640" y="3032760"/>
            <a:ext cx="11094415" cy="1465834"/>
          </a:xfrm>
          <a:prstGeom prst="roundRect">
            <a:avLst>
              <a:gd name="adj" fmla="val 4367"/>
            </a:avLst>
          </a:prstGeom>
          <a:solidFill>
            <a:srgbClr val="EAF6F4"/>
          </a:solidFill>
          <a:ln/>
        </p:spPr>
      </p:sp>
      <p:sp>
        <p:nvSpPr>
          <p:cNvPr id="17" name="Text 15"/>
          <p:cNvSpPr txBox="1"/>
          <p:nvPr/>
        </p:nvSpPr>
        <p:spPr>
          <a:xfrm>
            <a:off x="731520" y="3096768"/>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2-b)  </a:t>
            </a:r>
            <a:endParaRPr lang="en-US" sz="1500" dirty="0"/>
          </a:p>
        </p:txBody>
      </p:sp>
      <p:sp>
        <p:nvSpPr>
          <p:cNvPr id="18" name="Shape 16"/>
          <p:cNvSpPr/>
          <p:nvPr/>
        </p:nvSpPr>
        <p:spPr>
          <a:xfrm>
            <a:off x="850392" y="3421217"/>
            <a:ext cx="64008" cy="64008"/>
          </a:xfrm>
          <a:prstGeom prst="ellipse">
            <a:avLst/>
          </a:prstGeom>
          <a:solidFill>
            <a:srgbClr val="0F766E"/>
          </a:solidFill>
          <a:ln/>
        </p:spPr>
      </p:sp>
      <p:sp>
        <p:nvSpPr>
          <p:cNvPr id="19" name="Text 17"/>
          <p:cNvSpPr txBox="1"/>
          <p:nvPr/>
        </p:nvSpPr>
        <p:spPr>
          <a:xfrm>
            <a:off x="1005840" y="334746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retro- (L) (Retro-)</a:t>
            </a:r>
            <a:r>
              <a:rPr lang="en-US" sz="1400" dirty="0">
                <a:solidFill>
                  <a:srgbClr val="4B5563"/>
                </a:solidFill>
                <a:latin typeface="Calibri" pitchFamily="34" charset="0"/>
                <a:ea typeface="Calibri" pitchFamily="34" charset="-122"/>
                <a:cs typeface="Calibri" pitchFamily="34" charset="-120"/>
              </a:rPr>
              <a:t>: Arka, geri</a:t>
            </a:r>
            <a:endParaRPr lang="en-US" sz="14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retromandibularis (retromandibular)</a:t>
            </a:r>
            <a:r>
              <a:rPr lang="en-US" sz="1400" dirty="0">
                <a:solidFill>
                  <a:srgbClr val="4B5563"/>
                </a:solidFill>
                <a:latin typeface="Calibri" pitchFamily="34" charset="0"/>
                <a:ea typeface="Calibri" pitchFamily="34" charset="-122"/>
                <a:cs typeface="Calibri" pitchFamily="34" charset="-120"/>
              </a:rPr>
              <a:t>: Alt çene kemiğiği ardı</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retroduodenalis (retroduodenal)</a:t>
            </a:r>
            <a:r>
              <a:rPr lang="en-US" sz="1400" dirty="0">
                <a:solidFill>
                  <a:srgbClr val="4B5563"/>
                </a:solidFill>
                <a:latin typeface="Calibri" pitchFamily="34" charset="0"/>
                <a:ea typeface="Calibri" pitchFamily="34" charset="-122"/>
                <a:cs typeface="Calibri" pitchFamily="34" charset="-120"/>
              </a:rPr>
              <a:t>: Onikiparmak bağırsağı arkası</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retroperitonealis (retroperitoneal)</a:t>
            </a:r>
            <a:r>
              <a:rPr lang="en-US" sz="1400" dirty="0">
                <a:solidFill>
                  <a:srgbClr val="4B5563"/>
                </a:solidFill>
                <a:latin typeface="Calibri" pitchFamily="34" charset="0"/>
                <a:ea typeface="Calibri" pitchFamily="34" charset="-122"/>
                <a:cs typeface="Calibri" pitchFamily="34" charset="-120"/>
              </a:rPr>
              <a:t>: Karın zarı ardı</a:t>
            </a:r>
            <a:endParaRPr lang="en-US" sz="1400" dirty="0"/>
          </a:p>
        </p:txBody>
      </p:sp>
      <p:sp>
        <p:nvSpPr>
          <p:cNvPr id="26" name="Shape 24"/>
          <p:cNvSpPr/>
          <p:nvPr/>
        </p:nvSpPr>
        <p:spPr>
          <a:xfrm>
            <a:off x="548640" y="4590034"/>
            <a:ext cx="11094415" cy="1719326"/>
          </a:xfrm>
          <a:prstGeom prst="roundRect">
            <a:avLst>
              <a:gd name="adj" fmla="val 3723"/>
            </a:avLst>
          </a:prstGeom>
          <a:solidFill>
            <a:srgbClr val="EAF6F4"/>
          </a:solidFill>
          <a:ln/>
        </p:spPr>
      </p:sp>
      <p:sp>
        <p:nvSpPr>
          <p:cNvPr id="27" name="Text 25"/>
          <p:cNvSpPr txBox="1"/>
          <p:nvPr/>
        </p:nvSpPr>
        <p:spPr>
          <a:xfrm>
            <a:off x="731520" y="4654042"/>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28" name="Shape 26"/>
          <p:cNvSpPr/>
          <p:nvPr/>
        </p:nvSpPr>
        <p:spPr>
          <a:xfrm>
            <a:off x="850392" y="4978491"/>
            <a:ext cx="64008" cy="64008"/>
          </a:xfrm>
          <a:prstGeom prst="ellipse">
            <a:avLst/>
          </a:prstGeom>
          <a:solidFill>
            <a:srgbClr val="0F766E"/>
          </a:solidFill>
          <a:ln/>
        </p:spPr>
      </p:sp>
      <p:sp>
        <p:nvSpPr>
          <p:cNvPr id="29" name="Text 27"/>
          <p:cNvSpPr txBox="1"/>
          <p:nvPr/>
        </p:nvSpPr>
        <p:spPr>
          <a:xfrm>
            <a:off x="1005840" y="490474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meta- (G) (meta-)</a:t>
            </a:r>
            <a:r>
              <a:rPr lang="en-US" sz="1400" dirty="0">
                <a:solidFill>
                  <a:srgbClr val="4B5563"/>
                </a:solidFill>
                <a:latin typeface="Calibri" pitchFamily="34" charset="0"/>
                <a:ea typeface="Calibri" pitchFamily="34" charset="-122"/>
                <a:cs typeface="Calibri" pitchFamily="34" charset="-120"/>
              </a:rPr>
              <a:t>: Değişme, dönüşme</a:t>
            </a:r>
            <a:endParaRPr lang="en-US" sz="14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metacarpus (metakarpus)</a:t>
            </a:r>
            <a:r>
              <a:rPr lang="en-US" sz="1400" dirty="0">
                <a:solidFill>
                  <a:srgbClr val="4B5563"/>
                </a:solidFill>
                <a:latin typeface="Calibri" pitchFamily="34" charset="0"/>
                <a:ea typeface="Calibri" pitchFamily="34" charset="-122"/>
                <a:cs typeface="Calibri" pitchFamily="34" charset="-120"/>
              </a:rPr>
              <a:t>: El tarağı</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metanephros (metanefros)</a:t>
            </a:r>
            <a:r>
              <a:rPr lang="en-US" sz="1400" dirty="0">
                <a:solidFill>
                  <a:srgbClr val="4B5563"/>
                </a:solidFill>
                <a:latin typeface="Calibri" pitchFamily="34" charset="0"/>
                <a:ea typeface="Calibri" pitchFamily="34" charset="-122"/>
                <a:cs typeface="Calibri" pitchFamily="34" charset="-120"/>
              </a:rPr>
              <a:t>: Embriyonun gelişimi sırasında böbreğin üçüncü oluşum evresi</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metaplasia (metaplazi)</a:t>
            </a:r>
            <a:r>
              <a:rPr lang="en-US" sz="1400" dirty="0">
                <a:solidFill>
                  <a:srgbClr val="4B5563"/>
                </a:solidFill>
                <a:latin typeface="Calibri" pitchFamily="34" charset="0"/>
                <a:ea typeface="Calibri" pitchFamily="34" charset="-122"/>
                <a:cs typeface="Calibri" pitchFamily="34" charset="-120"/>
              </a:rPr>
              <a:t>: Bir dokunun başka bir dokuya dönüşmesi</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metamorphosis (metamorfoz)</a:t>
            </a:r>
            <a:r>
              <a:rPr lang="en-US" sz="1400" dirty="0">
                <a:solidFill>
                  <a:srgbClr val="4B5563"/>
                </a:solidFill>
                <a:latin typeface="Calibri" pitchFamily="34" charset="0"/>
                <a:ea typeface="Calibri" pitchFamily="34" charset="-122"/>
                <a:cs typeface="Calibri" pitchFamily="34" charset="-120"/>
              </a:rPr>
              <a:t>: Canlıların veya dokuların yapılarının veya şekillerinin değişmesi</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İçinde ve Dışında Anlamı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58</a:t>
            </a:r>
            <a:endParaRPr lang="en-US" sz="1000" dirty="0"/>
          </a:p>
        </p:txBody>
      </p:sp>
      <p:sp>
        <p:nvSpPr>
          <p:cNvPr id="6" name="Shape 4"/>
          <p:cNvSpPr/>
          <p:nvPr/>
        </p:nvSpPr>
        <p:spPr>
          <a:xfrm>
            <a:off x="548640" y="1658112"/>
            <a:ext cx="5410048" cy="1719326"/>
          </a:xfrm>
          <a:prstGeom prst="roundRect">
            <a:avLst>
              <a:gd name="adj" fmla="val 3723"/>
            </a:avLst>
          </a:prstGeom>
          <a:solidFill>
            <a:srgbClr val="EAF6F4"/>
          </a:solidFill>
          <a:ln/>
        </p:spPr>
      </p:sp>
      <p:sp>
        <p:nvSpPr>
          <p:cNvPr id="7" name="Text 5"/>
          <p:cNvSpPr txBox="1"/>
          <p:nvPr/>
        </p:nvSpPr>
        <p:spPr>
          <a:xfrm>
            <a:off x="731520" y="172212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1-a)  </a:t>
            </a:r>
            <a:endParaRPr lang="en-US" sz="1500" dirty="0"/>
          </a:p>
        </p:txBody>
      </p:sp>
      <p:sp>
        <p:nvSpPr>
          <p:cNvPr id="8" name="Shape 6"/>
          <p:cNvSpPr/>
          <p:nvPr/>
        </p:nvSpPr>
        <p:spPr>
          <a:xfrm>
            <a:off x="850392" y="2046569"/>
            <a:ext cx="64008" cy="64008"/>
          </a:xfrm>
          <a:prstGeom prst="ellipse">
            <a:avLst/>
          </a:prstGeom>
          <a:solidFill>
            <a:srgbClr val="0F766E"/>
          </a:solidFill>
          <a:ln/>
        </p:spPr>
      </p:sp>
      <p:sp>
        <p:nvSpPr>
          <p:cNvPr id="9" name="Text 7"/>
          <p:cNvSpPr txBox="1"/>
          <p:nvPr/>
        </p:nvSpPr>
        <p:spPr>
          <a:xfrm>
            <a:off x="1005840" y="19728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 em- (G) (en-, em-)</a:t>
            </a:r>
            <a:r>
              <a:rPr lang="en-US" sz="1400" dirty="0">
                <a:solidFill>
                  <a:srgbClr val="4B5563"/>
                </a:solidFill>
                <a:latin typeface="Calibri" pitchFamily="34" charset="0"/>
                <a:ea typeface="Calibri" pitchFamily="34" charset="-122"/>
                <a:cs typeface="Calibri" pitchFamily="34" charset="-120"/>
              </a:rPr>
              <a:t>: İçinde</a:t>
            </a:r>
            <a:endParaRPr lang="en-US" sz="1400" dirty="0"/>
          </a:p>
        </p:txBody>
      </p:sp>
      <p:sp>
        <p:nvSpPr>
          <p:cNvPr id="10" name="Shape 8"/>
          <p:cNvSpPr/>
          <p:nvPr/>
        </p:nvSpPr>
        <p:spPr>
          <a:xfrm>
            <a:off x="850392" y="2300061"/>
            <a:ext cx="64008" cy="64008"/>
          </a:xfrm>
          <a:prstGeom prst="ellipse">
            <a:avLst/>
          </a:prstGeom>
          <a:solidFill>
            <a:srgbClr val="0F766E"/>
          </a:solidFill>
          <a:ln/>
        </p:spPr>
      </p:sp>
      <p:sp>
        <p:nvSpPr>
          <p:cNvPr id="11" name="Text 9"/>
          <p:cNvSpPr txBox="1"/>
          <p:nvPr/>
        </p:nvSpPr>
        <p:spPr>
          <a:xfrm>
            <a:off x="1005840" y="22263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encapsulation (enkapsulasyon)</a:t>
            </a:r>
            <a:r>
              <a:rPr lang="en-US" sz="1400" dirty="0">
                <a:solidFill>
                  <a:srgbClr val="4B5563"/>
                </a:solidFill>
                <a:latin typeface="Calibri" pitchFamily="34" charset="0"/>
                <a:ea typeface="Calibri" pitchFamily="34" charset="-122"/>
                <a:cs typeface="Calibri" pitchFamily="34" charset="-120"/>
              </a:rPr>
              <a:t>: Kapsül içerisinde</a:t>
            </a:r>
            <a:endParaRPr lang="en-US" sz="1400" dirty="0"/>
          </a:p>
        </p:txBody>
      </p:sp>
      <p:sp>
        <p:nvSpPr>
          <p:cNvPr id="12" name="Shape 10"/>
          <p:cNvSpPr/>
          <p:nvPr/>
        </p:nvSpPr>
        <p:spPr>
          <a:xfrm>
            <a:off x="850392" y="2553553"/>
            <a:ext cx="64008" cy="64008"/>
          </a:xfrm>
          <a:prstGeom prst="ellipse">
            <a:avLst/>
          </a:prstGeom>
          <a:solidFill>
            <a:srgbClr val="0F766E"/>
          </a:solidFill>
          <a:ln/>
        </p:spPr>
      </p:sp>
      <p:sp>
        <p:nvSpPr>
          <p:cNvPr id="13" name="Text 11"/>
          <p:cNvSpPr txBox="1"/>
          <p:nvPr/>
        </p:nvSpPr>
        <p:spPr>
          <a:xfrm>
            <a:off x="1005840" y="24798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enchondral (enkondral)</a:t>
            </a:r>
            <a:r>
              <a:rPr lang="en-US" sz="1400" dirty="0">
                <a:solidFill>
                  <a:srgbClr val="4B5563"/>
                </a:solidFill>
                <a:latin typeface="Calibri" pitchFamily="34" charset="0"/>
                <a:ea typeface="Calibri" pitchFamily="34" charset="-122"/>
                <a:cs typeface="Calibri" pitchFamily="34" charset="-120"/>
              </a:rPr>
              <a:t>: Kıkırdak içinde</a:t>
            </a:r>
            <a:endParaRPr lang="en-US" sz="1400" dirty="0"/>
          </a:p>
        </p:txBody>
      </p:sp>
      <p:sp>
        <p:nvSpPr>
          <p:cNvPr id="14" name="Shape 12"/>
          <p:cNvSpPr/>
          <p:nvPr/>
        </p:nvSpPr>
        <p:spPr>
          <a:xfrm>
            <a:off x="850392" y="2807045"/>
            <a:ext cx="64008" cy="64008"/>
          </a:xfrm>
          <a:prstGeom prst="ellipse">
            <a:avLst/>
          </a:prstGeom>
          <a:solidFill>
            <a:srgbClr val="0F766E"/>
          </a:solidFill>
          <a:ln/>
        </p:spPr>
      </p:sp>
      <p:sp>
        <p:nvSpPr>
          <p:cNvPr id="15" name="Text 13"/>
          <p:cNvSpPr txBox="1"/>
          <p:nvPr/>
        </p:nvSpPr>
        <p:spPr>
          <a:xfrm>
            <a:off x="1005840" y="273329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encranial (enkranyal)</a:t>
            </a:r>
            <a:r>
              <a:rPr lang="en-US" sz="1400" dirty="0">
                <a:solidFill>
                  <a:srgbClr val="4B5563"/>
                </a:solidFill>
                <a:latin typeface="Calibri" pitchFamily="34" charset="0"/>
                <a:ea typeface="Calibri" pitchFamily="34" charset="-122"/>
                <a:cs typeface="Calibri" pitchFamily="34" charset="-120"/>
              </a:rPr>
              <a:t>: Kafatası içerisinde</a:t>
            </a:r>
            <a:endParaRPr lang="en-US" sz="1400" dirty="0"/>
          </a:p>
        </p:txBody>
      </p:sp>
      <p:sp>
        <p:nvSpPr>
          <p:cNvPr id="16" name="Shape 14"/>
          <p:cNvSpPr/>
          <p:nvPr/>
        </p:nvSpPr>
        <p:spPr>
          <a:xfrm>
            <a:off x="850392" y="3060537"/>
            <a:ext cx="64008" cy="64008"/>
          </a:xfrm>
          <a:prstGeom prst="ellipse">
            <a:avLst/>
          </a:prstGeom>
          <a:solidFill>
            <a:srgbClr val="0F766E"/>
          </a:solidFill>
          <a:ln/>
        </p:spPr>
      </p:sp>
      <p:sp>
        <p:nvSpPr>
          <p:cNvPr id="17" name="Text 15"/>
          <p:cNvSpPr txBox="1"/>
          <p:nvPr/>
        </p:nvSpPr>
        <p:spPr>
          <a:xfrm>
            <a:off x="1005840" y="298678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emboly (emboli)</a:t>
            </a:r>
            <a:r>
              <a:rPr lang="en-US" sz="1400" dirty="0">
                <a:solidFill>
                  <a:srgbClr val="4B5563"/>
                </a:solidFill>
                <a:latin typeface="Calibri" pitchFamily="34" charset="0"/>
                <a:ea typeface="Calibri" pitchFamily="34" charset="-122"/>
                <a:cs typeface="Calibri" pitchFamily="34" charset="-120"/>
              </a:rPr>
              <a:t>: Bir damarın pıhtı ile tıkanması</a:t>
            </a:r>
            <a:endParaRPr lang="en-US" sz="1400" dirty="0"/>
          </a:p>
        </p:txBody>
      </p:sp>
      <p:sp>
        <p:nvSpPr>
          <p:cNvPr id="18" name="Shape 16"/>
          <p:cNvSpPr/>
          <p:nvPr/>
        </p:nvSpPr>
        <p:spPr>
          <a:xfrm>
            <a:off x="548640" y="3468878"/>
            <a:ext cx="5410048" cy="2840482"/>
          </a:xfrm>
          <a:prstGeom prst="roundRect">
            <a:avLst>
              <a:gd name="adj" fmla="val 2253"/>
            </a:avLst>
          </a:prstGeom>
          <a:solidFill>
            <a:srgbClr val="EAF6F4"/>
          </a:solidFill>
          <a:ln/>
        </p:spPr>
      </p:sp>
      <p:sp>
        <p:nvSpPr>
          <p:cNvPr id="19" name="Text 17"/>
          <p:cNvSpPr txBox="1"/>
          <p:nvPr/>
        </p:nvSpPr>
        <p:spPr>
          <a:xfrm>
            <a:off x="731520" y="353288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1-b)  </a:t>
            </a:r>
            <a:endParaRPr lang="en-US" sz="1500" dirty="0"/>
          </a:p>
        </p:txBody>
      </p:sp>
      <p:sp>
        <p:nvSpPr>
          <p:cNvPr id="20" name="Shape 18"/>
          <p:cNvSpPr/>
          <p:nvPr/>
        </p:nvSpPr>
        <p:spPr>
          <a:xfrm>
            <a:off x="850392" y="3857335"/>
            <a:ext cx="64008" cy="64008"/>
          </a:xfrm>
          <a:prstGeom prst="ellipse">
            <a:avLst/>
          </a:prstGeom>
          <a:solidFill>
            <a:srgbClr val="0F766E"/>
          </a:solidFill>
          <a:ln/>
        </p:spPr>
      </p:sp>
      <p:sp>
        <p:nvSpPr>
          <p:cNvPr id="21" name="Text 19"/>
          <p:cNvSpPr txBox="1"/>
          <p:nvPr/>
        </p:nvSpPr>
        <p:spPr>
          <a:xfrm>
            <a:off x="1005840" y="37835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 endo- (G) (end-, endo-)</a:t>
            </a:r>
            <a:r>
              <a:rPr lang="en-US" sz="1400" dirty="0">
                <a:solidFill>
                  <a:srgbClr val="4B5563"/>
                </a:solidFill>
                <a:latin typeface="Calibri" pitchFamily="34" charset="0"/>
                <a:ea typeface="Calibri" pitchFamily="34" charset="-122"/>
                <a:cs typeface="Calibri" pitchFamily="34" charset="-120"/>
              </a:rPr>
              <a:t>: İç, içerisinde</a:t>
            </a:r>
            <a:endParaRPr lang="en-US" sz="1400" dirty="0"/>
          </a:p>
        </p:txBody>
      </p:sp>
      <p:sp>
        <p:nvSpPr>
          <p:cNvPr id="22" name="Shape 20"/>
          <p:cNvSpPr/>
          <p:nvPr/>
        </p:nvSpPr>
        <p:spPr>
          <a:xfrm>
            <a:off x="850392" y="4110827"/>
            <a:ext cx="64008" cy="64008"/>
          </a:xfrm>
          <a:prstGeom prst="ellipse">
            <a:avLst/>
          </a:prstGeom>
          <a:solidFill>
            <a:srgbClr val="0F766E"/>
          </a:solidFill>
          <a:ln/>
        </p:spPr>
      </p:sp>
      <p:sp>
        <p:nvSpPr>
          <p:cNvPr id="23" name="Text 21"/>
          <p:cNvSpPr txBox="1"/>
          <p:nvPr/>
        </p:nvSpPr>
        <p:spPr>
          <a:xfrm>
            <a:off x="1005840" y="403707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endodontia (endodonti)</a:t>
            </a:r>
            <a:r>
              <a:rPr lang="en-US" sz="1400" dirty="0">
                <a:solidFill>
                  <a:srgbClr val="4B5563"/>
                </a:solidFill>
                <a:latin typeface="Calibri" pitchFamily="34" charset="0"/>
                <a:ea typeface="Calibri" pitchFamily="34" charset="-122"/>
                <a:cs typeface="Calibri" pitchFamily="34" charset="-120"/>
              </a:rPr>
              <a:t>: Dişlerin iç kısımlarıyla ilgilenen bilim diş hekimliği dalı</a:t>
            </a:r>
            <a:endParaRPr lang="en-US" sz="1400" dirty="0"/>
          </a:p>
        </p:txBody>
      </p:sp>
      <p:sp>
        <p:nvSpPr>
          <p:cNvPr id="24" name="Shape 22"/>
          <p:cNvSpPr/>
          <p:nvPr/>
        </p:nvSpPr>
        <p:spPr>
          <a:xfrm>
            <a:off x="850392" y="4581235"/>
            <a:ext cx="64008" cy="64008"/>
          </a:xfrm>
          <a:prstGeom prst="ellipse">
            <a:avLst/>
          </a:prstGeom>
          <a:solidFill>
            <a:srgbClr val="0F766E"/>
          </a:solidFill>
          <a:ln/>
        </p:spPr>
      </p:sp>
      <p:sp>
        <p:nvSpPr>
          <p:cNvPr id="25" name="Text 23"/>
          <p:cNvSpPr txBox="1"/>
          <p:nvPr/>
        </p:nvSpPr>
        <p:spPr>
          <a:xfrm>
            <a:off x="1005840" y="450748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endarteritis (endarterit)</a:t>
            </a:r>
            <a:r>
              <a:rPr lang="en-US" sz="1400" dirty="0">
                <a:solidFill>
                  <a:srgbClr val="4B5563"/>
                </a:solidFill>
                <a:latin typeface="Calibri" pitchFamily="34" charset="0"/>
                <a:ea typeface="Calibri" pitchFamily="34" charset="-122"/>
                <a:cs typeface="Calibri" pitchFamily="34" charset="-120"/>
              </a:rPr>
              <a:t>: Atardamarın iç tabakasının iltihabı</a:t>
            </a:r>
            <a:endParaRPr lang="en-US" sz="1400" dirty="0"/>
          </a:p>
        </p:txBody>
      </p:sp>
      <p:sp>
        <p:nvSpPr>
          <p:cNvPr id="26" name="Shape 24"/>
          <p:cNvSpPr/>
          <p:nvPr/>
        </p:nvSpPr>
        <p:spPr>
          <a:xfrm>
            <a:off x="850392" y="5051643"/>
            <a:ext cx="64008" cy="64008"/>
          </a:xfrm>
          <a:prstGeom prst="ellipse">
            <a:avLst/>
          </a:prstGeom>
          <a:solidFill>
            <a:srgbClr val="0F766E"/>
          </a:solidFill>
          <a:ln/>
        </p:spPr>
      </p:sp>
      <p:sp>
        <p:nvSpPr>
          <p:cNvPr id="27" name="Text 25"/>
          <p:cNvSpPr txBox="1"/>
          <p:nvPr/>
        </p:nvSpPr>
        <p:spPr>
          <a:xfrm>
            <a:off x="1005840" y="49778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endocrinocytus (endokrinosit)</a:t>
            </a:r>
            <a:r>
              <a:rPr lang="en-US" sz="1400" dirty="0">
                <a:solidFill>
                  <a:srgbClr val="4B5563"/>
                </a:solidFill>
                <a:latin typeface="Calibri" pitchFamily="34" charset="0"/>
                <a:ea typeface="Calibri" pitchFamily="34" charset="-122"/>
                <a:cs typeface="Calibri" pitchFamily="34" charset="-120"/>
              </a:rPr>
              <a:t>: Hormon salgılayan (iç salgı üreten) hücre</a:t>
            </a:r>
            <a:endParaRPr lang="en-US" sz="1400" dirty="0"/>
          </a:p>
        </p:txBody>
      </p:sp>
      <p:sp>
        <p:nvSpPr>
          <p:cNvPr id="28" name="Shape 26"/>
          <p:cNvSpPr/>
          <p:nvPr/>
        </p:nvSpPr>
        <p:spPr>
          <a:xfrm>
            <a:off x="850392" y="5522051"/>
            <a:ext cx="64008" cy="64008"/>
          </a:xfrm>
          <a:prstGeom prst="ellipse">
            <a:avLst/>
          </a:prstGeom>
          <a:solidFill>
            <a:srgbClr val="0F766E"/>
          </a:solidFill>
          <a:ln/>
        </p:spPr>
      </p:sp>
      <p:sp>
        <p:nvSpPr>
          <p:cNvPr id="29" name="Text 27"/>
          <p:cNvSpPr txBox="1"/>
          <p:nvPr/>
        </p:nvSpPr>
        <p:spPr>
          <a:xfrm>
            <a:off x="1005840"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endocardium (endokardiyum)</a:t>
            </a:r>
            <a:r>
              <a:rPr lang="en-US" sz="1400" dirty="0">
                <a:solidFill>
                  <a:srgbClr val="4B5563"/>
                </a:solidFill>
                <a:latin typeface="Calibri" pitchFamily="34" charset="0"/>
                <a:ea typeface="Calibri" pitchFamily="34" charset="-122"/>
                <a:cs typeface="Calibri" pitchFamily="34" charset="-120"/>
              </a:rPr>
              <a:t>: Kalbin içi zarı</a:t>
            </a:r>
            <a:endParaRPr lang="en-US" sz="1400" dirty="0"/>
          </a:p>
        </p:txBody>
      </p:sp>
      <p:sp>
        <p:nvSpPr>
          <p:cNvPr id="30" name="Shape 28"/>
          <p:cNvSpPr/>
          <p:nvPr/>
        </p:nvSpPr>
        <p:spPr>
          <a:xfrm>
            <a:off x="850392" y="5775543"/>
            <a:ext cx="64008" cy="64008"/>
          </a:xfrm>
          <a:prstGeom prst="ellipse">
            <a:avLst/>
          </a:prstGeom>
          <a:solidFill>
            <a:srgbClr val="0F766E"/>
          </a:solidFill>
          <a:ln/>
        </p:spPr>
      </p:sp>
      <p:sp>
        <p:nvSpPr>
          <p:cNvPr id="31" name="Text 29"/>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endoscope (endoskop)</a:t>
            </a:r>
            <a:r>
              <a:rPr lang="en-US" sz="1400" dirty="0">
                <a:solidFill>
                  <a:srgbClr val="4B5563"/>
                </a:solidFill>
                <a:latin typeface="Calibri" pitchFamily="34" charset="0"/>
                <a:ea typeface="Calibri" pitchFamily="34" charset="-122"/>
                <a:cs typeface="Calibri" pitchFamily="34" charset="-120"/>
              </a:rPr>
              <a:t>: İç organları incelemeye yarayan cihaz</a:t>
            </a:r>
            <a:endParaRPr lang="en-US" sz="1400" dirty="0"/>
          </a:p>
        </p:txBody>
      </p:sp>
      <p:sp>
        <p:nvSpPr>
          <p:cNvPr id="32" name="Shape 30"/>
          <p:cNvSpPr/>
          <p:nvPr/>
        </p:nvSpPr>
        <p:spPr>
          <a:xfrm>
            <a:off x="6233008" y="1658112"/>
            <a:ext cx="5410048" cy="1465834"/>
          </a:xfrm>
          <a:prstGeom prst="roundRect">
            <a:avLst>
              <a:gd name="adj" fmla="val 4367"/>
            </a:avLst>
          </a:prstGeom>
          <a:solidFill>
            <a:srgbClr val="EAF6F4"/>
          </a:solidFill>
          <a:ln/>
        </p:spPr>
      </p:sp>
      <p:sp>
        <p:nvSpPr>
          <p:cNvPr id="33" name="Text 31"/>
          <p:cNvSpPr txBox="1"/>
          <p:nvPr/>
        </p:nvSpPr>
        <p:spPr>
          <a:xfrm>
            <a:off x="6415888" y="172212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1-c)  </a:t>
            </a:r>
            <a:endParaRPr lang="en-US" sz="1500" dirty="0"/>
          </a:p>
        </p:txBody>
      </p:sp>
      <p:sp>
        <p:nvSpPr>
          <p:cNvPr id="34" name="Shape 32"/>
          <p:cNvSpPr/>
          <p:nvPr/>
        </p:nvSpPr>
        <p:spPr>
          <a:xfrm>
            <a:off x="6534760" y="2046569"/>
            <a:ext cx="64008" cy="64008"/>
          </a:xfrm>
          <a:prstGeom prst="ellipse">
            <a:avLst/>
          </a:prstGeom>
          <a:solidFill>
            <a:srgbClr val="0F766E"/>
          </a:solidFill>
          <a:ln/>
        </p:spPr>
      </p:sp>
      <p:sp>
        <p:nvSpPr>
          <p:cNvPr id="35" name="Text 33"/>
          <p:cNvSpPr txBox="1"/>
          <p:nvPr/>
        </p:nvSpPr>
        <p:spPr>
          <a:xfrm>
            <a:off x="6690208" y="19728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intra- (L) (intra-)</a:t>
            </a:r>
            <a:r>
              <a:rPr lang="en-US" sz="1400" dirty="0">
                <a:solidFill>
                  <a:srgbClr val="4B5563"/>
                </a:solidFill>
                <a:latin typeface="Calibri" pitchFamily="34" charset="0"/>
                <a:ea typeface="Calibri" pitchFamily="34" charset="-122"/>
                <a:cs typeface="Calibri" pitchFamily="34" charset="-120"/>
              </a:rPr>
              <a:t>: İçerisinde</a:t>
            </a:r>
            <a:endParaRPr lang="en-US" sz="1400" dirty="0"/>
          </a:p>
        </p:txBody>
      </p:sp>
      <p:sp>
        <p:nvSpPr>
          <p:cNvPr id="36" name="Shape 34"/>
          <p:cNvSpPr/>
          <p:nvPr/>
        </p:nvSpPr>
        <p:spPr>
          <a:xfrm>
            <a:off x="6534760" y="2300061"/>
            <a:ext cx="64008" cy="64008"/>
          </a:xfrm>
          <a:prstGeom prst="ellipse">
            <a:avLst/>
          </a:prstGeom>
          <a:solidFill>
            <a:srgbClr val="0F766E"/>
          </a:solidFill>
          <a:ln/>
        </p:spPr>
      </p:sp>
      <p:sp>
        <p:nvSpPr>
          <p:cNvPr id="37" name="Text 35"/>
          <p:cNvSpPr txBox="1"/>
          <p:nvPr/>
        </p:nvSpPr>
        <p:spPr>
          <a:xfrm>
            <a:off x="6690208" y="22263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intramuscularis (intramuskular)</a:t>
            </a:r>
            <a:r>
              <a:rPr lang="en-US" sz="1400" dirty="0">
                <a:solidFill>
                  <a:srgbClr val="4B5563"/>
                </a:solidFill>
                <a:latin typeface="Calibri" pitchFamily="34" charset="0"/>
                <a:ea typeface="Calibri" pitchFamily="34" charset="-122"/>
                <a:cs typeface="Calibri" pitchFamily="34" charset="-120"/>
              </a:rPr>
              <a:t>: Kas içi</a:t>
            </a:r>
            <a:endParaRPr lang="en-US" sz="1400" dirty="0"/>
          </a:p>
        </p:txBody>
      </p:sp>
      <p:sp>
        <p:nvSpPr>
          <p:cNvPr id="38" name="Shape 36"/>
          <p:cNvSpPr/>
          <p:nvPr/>
        </p:nvSpPr>
        <p:spPr>
          <a:xfrm>
            <a:off x="6534760" y="2553553"/>
            <a:ext cx="64008" cy="64008"/>
          </a:xfrm>
          <a:prstGeom prst="ellipse">
            <a:avLst/>
          </a:prstGeom>
          <a:solidFill>
            <a:srgbClr val="0F766E"/>
          </a:solidFill>
          <a:ln/>
        </p:spPr>
      </p:sp>
      <p:sp>
        <p:nvSpPr>
          <p:cNvPr id="39" name="Text 37"/>
          <p:cNvSpPr txBox="1"/>
          <p:nvPr/>
        </p:nvSpPr>
        <p:spPr>
          <a:xfrm>
            <a:off x="6690208" y="24798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intrapulmonary (intrapulmonari)</a:t>
            </a:r>
            <a:r>
              <a:rPr lang="en-US" sz="1400" dirty="0">
                <a:solidFill>
                  <a:srgbClr val="4B5563"/>
                </a:solidFill>
                <a:latin typeface="Calibri" pitchFamily="34" charset="0"/>
                <a:ea typeface="Calibri" pitchFamily="34" charset="-122"/>
                <a:cs typeface="Calibri" pitchFamily="34" charset="-120"/>
              </a:rPr>
              <a:t>: Akciğer içi</a:t>
            </a:r>
            <a:endParaRPr lang="en-US" sz="1400" dirty="0"/>
          </a:p>
        </p:txBody>
      </p:sp>
      <p:sp>
        <p:nvSpPr>
          <p:cNvPr id="40" name="Shape 38"/>
          <p:cNvSpPr/>
          <p:nvPr/>
        </p:nvSpPr>
        <p:spPr>
          <a:xfrm>
            <a:off x="6534760" y="2807045"/>
            <a:ext cx="64008" cy="64008"/>
          </a:xfrm>
          <a:prstGeom prst="ellipse">
            <a:avLst/>
          </a:prstGeom>
          <a:solidFill>
            <a:srgbClr val="0F766E"/>
          </a:solidFill>
          <a:ln/>
        </p:spPr>
      </p:sp>
      <p:sp>
        <p:nvSpPr>
          <p:cNvPr id="41" name="Text 39"/>
          <p:cNvSpPr txBox="1"/>
          <p:nvPr/>
        </p:nvSpPr>
        <p:spPr>
          <a:xfrm>
            <a:off x="6690208" y="273329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intracellularis (intraselular)</a:t>
            </a:r>
            <a:r>
              <a:rPr lang="en-US" sz="1400" dirty="0">
                <a:solidFill>
                  <a:srgbClr val="4B5563"/>
                </a:solidFill>
                <a:latin typeface="Calibri" pitchFamily="34" charset="0"/>
                <a:ea typeface="Calibri" pitchFamily="34" charset="-122"/>
                <a:cs typeface="Calibri" pitchFamily="34" charset="-120"/>
              </a:rPr>
              <a:t>: Hüçre içi</a:t>
            </a:r>
            <a:endParaRPr lang="en-US" sz="1400" dirty="0"/>
          </a:p>
        </p:txBody>
      </p:sp>
      <p:sp>
        <p:nvSpPr>
          <p:cNvPr id="42" name="Shape 40"/>
          <p:cNvSpPr/>
          <p:nvPr/>
        </p:nvSpPr>
        <p:spPr>
          <a:xfrm>
            <a:off x="6233008" y="3215386"/>
            <a:ext cx="5410048" cy="1682750"/>
          </a:xfrm>
          <a:prstGeom prst="roundRect">
            <a:avLst>
              <a:gd name="adj" fmla="val 3804"/>
            </a:avLst>
          </a:prstGeom>
          <a:solidFill>
            <a:srgbClr val="EAF6F4"/>
          </a:solidFill>
          <a:ln/>
        </p:spPr>
      </p:sp>
      <p:sp>
        <p:nvSpPr>
          <p:cNvPr id="43" name="Text 41"/>
          <p:cNvSpPr txBox="1"/>
          <p:nvPr/>
        </p:nvSpPr>
        <p:spPr>
          <a:xfrm>
            <a:off x="6415888" y="327939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1-d)  </a:t>
            </a:r>
            <a:endParaRPr lang="en-US" sz="1500" dirty="0"/>
          </a:p>
        </p:txBody>
      </p:sp>
      <p:sp>
        <p:nvSpPr>
          <p:cNvPr id="44" name="Shape 42"/>
          <p:cNvSpPr/>
          <p:nvPr/>
        </p:nvSpPr>
        <p:spPr>
          <a:xfrm>
            <a:off x="6534760" y="3603843"/>
            <a:ext cx="64008" cy="64008"/>
          </a:xfrm>
          <a:prstGeom prst="ellipse">
            <a:avLst/>
          </a:prstGeom>
          <a:solidFill>
            <a:srgbClr val="0F766E"/>
          </a:solidFill>
          <a:ln/>
        </p:spPr>
      </p:sp>
      <p:sp>
        <p:nvSpPr>
          <p:cNvPr id="45" name="Text 43"/>
          <p:cNvSpPr txBox="1"/>
          <p:nvPr/>
        </p:nvSpPr>
        <p:spPr>
          <a:xfrm>
            <a:off x="6690208" y="35300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per- (L) (per-)</a:t>
            </a:r>
            <a:r>
              <a:rPr lang="en-US" sz="1400" dirty="0">
                <a:solidFill>
                  <a:srgbClr val="4B5563"/>
                </a:solidFill>
                <a:latin typeface="Calibri" pitchFamily="34" charset="0"/>
                <a:ea typeface="Calibri" pitchFamily="34" charset="-122"/>
                <a:cs typeface="Calibri" pitchFamily="34" charset="-120"/>
              </a:rPr>
              <a:t>: İçerisinde, arasında, aracılığıyla</a:t>
            </a:r>
            <a:endParaRPr lang="en-US" sz="1400" dirty="0"/>
          </a:p>
        </p:txBody>
      </p:sp>
      <p:sp>
        <p:nvSpPr>
          <p:cNvPr id="46" name="Shape 44"/>
          <p:cNvSpPr/>
          <p:nvPr/>
        </p:nvSpPr>
        <p:spPr>
          <a:xfrm>
            <a:off x="6534760" y="3857335"/>
            <a:ext cx="64008" cy="64008"/>
          </a:xfrm>
          <a:prstGeom prst="ellipse">
            <a:avLst/>
          </a:prstGeom>
          <a:solidFill>
            <a:srgbClr val="0F766E"/>
          </a:solidFill>
          <a:ln/>
        </p:spPr>
      </p:sp>
      <p:sp>
        <p:nvSpPr>
          <p:cNvPr id="47" name="Text 45"/>
          <p:cNvSpPr txBox="1"/>
          <p:nvPr/>
        </p:nvSpPr>
        <p:spPr>
          <a:xfrm>
            <a:off x="6690208" y="37835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peroral (peroral)</a:t>
            </a:r>
            <a:r>
              <a:rPr lang="en-US" sz="1400" dirty="0">
                <a:solidFill>
                  <a:srgbClr val="4B5563"/>
                </a:solidFill>
                <a:latin typeface="Calibri" pitchFamily="34" charset="0"/>
                <a:ea typeface="Calibri" pitchFamily="34" charset="-122"/>
                <a:cs typeface="Calibri" pitchFamily="34" charset="-120"/>
              </a:rPr>
              <a:t>: Ağız yoluyla</a:t>
            </a:r>
            <a:endParaRPr lang="en-US" sz="1400" dirty="0"/>
          </a:p>
        </p:txBody>
      </p:sp>
      <p:sp>
        <p:nvSpPr>
          <p:cNvPr id="48" name="Shape 46"/>
          <p:cNvSpPr/>
          <p:nvPr/>
        </p:nvSpPr>
        <p:spPr>
          <a:xfrm>
            <a:off x="6534760" y="4110827"/>
            <a:ext cx="64008" cy="64008"/>
          </a:xfrm>
          <a:prstGeom prst="ellipse">
            <a:avLst/>
          </a:prstGeom>
          <a:solidFill>
            <a:srgbClr val="0F766E"/>
          </a:solidFill>
          <a:ln/>
        </p:spPr>
      </p:sp>
      <p:sp>
        <p:nvSpPr>
          <p:cNvPr id="49" name="Text 47"/>
          <p:cNvSpPr txBox="1"/>
          <p:nvPr/>
        </p:nvSpPr>
        <p:spPr>
          <a:xfrm>
            <a:off x="6690208" y="403707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perrectum (perrectum)</a:t>
            </a:r>
            <a:r>
              <a:rPr lang="en-US" sz="1400" dirty="0">
                <a:solidFill>
                  <a:srgbClr val="4B5563"/>
                </a:solidFill>
                <a:latin typeface="Calibri" pitchFamily="34" charset="0"/>
                <a:ea typeface="Calibri" pitchFamily="34" charset="-122"/>
                <a:cs typeface="Calibri" pitchFamily="34" charset="-120"/>
              </a:rPr>
              <a:t>: Rektum (düz bağırsak) yoluyla</a:t>
            </a:r>
            <a:endParaRPr lang="en-US" sz="1400" dirty="0"/>
          </a:p>
        </p:txBody>
      </p:sp>
      <p:sp>
        <p:nvSpPr>
          <p:cNvPr id="50" name="Shape 48"/>
          <p:cNvSpPr/>
          <p:nvPr/>
        </p:nvSpPr>
        <p:spPr>
          <a:xfrm>
            <a:off x="6534760" y="4364319"/>
            <a:ext cx="64008" cy="64008"/>
          </a:xfrm>
          <a:prstGeom prst="ellipse">
            <a:avLst/>
          </a:prstGeom>
          <a:solidFill>
            <a:srgbClr val="0F766E"/>
          </a:solidFill>
          <a:ln/>
        </p:spPr>
      </p:sp>
      <p:sp>
        <p:nvSpPr>
          <p:cNvPr id="51" name="Text 49"/>
          <p:cNvSpPr txBox="1"/>
          <p:nvPr/>
        </p:nvSpPr>
        <p:spPr>
          <a:xfrm>
            <a:off x="6690208" y="429056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perfusion (ferfuzyon)</a:t>
            </a:r>
            <a:r>
              <a:rPr lang="en-US" sz="1400" dirty="0">
                <a:solidFill>
                  <a:srgbClr val="4B5563"/>
                </a:solidFill>
                <a:latin typeface="Calibri" pitchFamily="34" charset="0"/>
                <a:ea typeface="Calibri" pitchFamily="34" charset="-122"/>
                <a:cs typeface="Calibri" pitchFamily="34" charset="-120"/>
              </a:rPr>
              <a:t>: Sızdırma, sıvı şeklinde ilaçları vücuda verme, içine dökme</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İçinde ve Dışında Anlamı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59</a:t>
            </a:r>
            <a:endParaRPr lang="en-US" sz="1000" dirty="0"/>
          </a:p>
        </p:txBody>
      </p:sp>
      <p:sp>
        <p:nvSpPr>
          <p:cNvPr id="6" name="Shape 4"/>
          <p:cNvSpPr/>
          <p:nvPr/>
        </p:nvSpPr>
        <p:spPr>
          <a:xfrm>
            <a:off x="548640" y="1496568"/>
            <a:ext cx="11094415" cy="1543304"/>
          </a:xfrm>
          <a:prstGeom prst="roundRect">
            <a:avLst>
              <a:gd name="adj" fmla="val 4147"/>
            </a:avLst>
          </a:prstGeom>
          <a:solidFill>
            <a:srgbClr val="EAF6F4"/>
          </a:solidFill>
          <a:ln/>
        </p:spPr>
      </p:sp>
      <p:sp>
        <p:nvSpPr>
          <p:cNvPr id="7" name="Text 5"/>
          <p:cNvSpPr txBox="1"/>
          <p:nvPr/>
        </p:nvSpPr>
        <p:spPr>
          <a:xfrm>
            <a:off x="731520" y="1560576"/>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2-a)  </a:t>
            </a:r>
            <a:endParaRPr lang="en-US" sz="1600" dirty="0"/>
          </a:p>
        </p:txBody>
      </p:sp>
      <p:sp>
        <p:nvSpPr>
          <p:cNvPr id="8" name="Shape 6"/>
          <p:cNvSpPr/>
          <p:nvPr/>
        </p:nvSpPr>
        <p:spPr>
          <a:xfrm>
            <a:off x="850392" y="1905787"/>
            <a:ext cx="64008" cy="64008"/>
          </a:xfrm>
          <a:prstGeom prst="ellipse">
            <a:avLst/>
          </a:prstGeom>
          <a:solidFill>
            <a:srgbClr val="0F766E"/>
          </a:solidFill>
          <a:ln/>
        </p:spPr>
      </p:sp>
      <p:sp>
        <p:nvSpPr>
          <p:cNvPr id="9" name="Text 7"/>
          <p:cNvSpPr txBox="1"/>
          <p:nvPr/>
        </p:nvSpPr>
        <p:spPr>
          <a:xfrm>
            <a:off x="1005840" y="182676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ecto- (G) (ekto-)</a:t>
            </a:r>
            <a:r>
              <a:rPr lang="en-US" sz="1500" dirty="0">
                <a:solidFill>
                  <a:srgbClr val="4B5563"/>
                </a:solidFill>
                <a:latin typeface="Calibri" pitchFamily="34" charset="0"/>
                <a:ea typeface="Calibri" pitchFamily="34" charset="-122"/>
                <a:cs typeface="Calibri" pitchFamily="34" charset="-120"/>
              </a:rPr>
              <a:t>: Dışarda, dış tarafta</a:t>
            </a:r>
            <a:endParaRPr lang="en-US" sz="1500" dirty="0"/>
          </a:p>
        </p:txBody>
      </p:sp>
      <p:sp>
        <p:nvSpPr>
          <p:cNvPr id="10" name="Shape 8"/>
          <p:cNvSpPr/>
          <p:nvPr/>
        </p:nvSpPr>
        <p:spPr>
          <a:xfrm>
            <a:off x="850392" y="2174773"/>
            <a:ext cx="64008" cy="64008"/>
          </a:xfrm>
          <a:prstGeom prst="ellipse">
            <a:avLst/>
          </a:prstGeom>
          <a:solidFill>
            <a:srgbClr val="0F766E"/>
          </a:solidFill>
          <a:ln/>
        </p:spPr>
      </p:sp>
      <p:sp>
        <p:nvSpPr>
          <p:cNvPr id="11" name="Text 9"/>
          <p:cNvSpPr txBox="1"/>
          <p:nvPr/>
        </p:nvSpPr>
        <p:spPr>
          <a:xfrm>
            <a:off x="1005840" y="209575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ectoderma (ektoderm)</a:t>
            </a:r>
            <a:r>
              <a:rPr lang="en-US" sz="1500" dirty="0">
                <a:solidFill>
                  <a:srgbClr val="4B5563"/>
                </a:solidFill>
                <a:latin typeface="Calibri" pitchFamily="34" charset="0"/>
                <a:ea typeface="Calibri" pitchFamily="34" charset="-122"/>
                <a:cs typeface="Calibri" pitchFamily="34" charset="-120"/>
              </a:rPr>
              <a:t>: Dış deri</a:t>
            </a:r>
            <a:endParaRPr lang="en-US" sz="1500" dirty="0"/>
          </a:p>
        </p:txBody>
      </p:sp>
      <p:sp>
        <p:nvSpPr>
          <p:cNvPr id="12" name="Shape 10"/>
          <p:cNvSpPr/>
          <p:nvPr/>
        </p:nvSpPr>
        <p:spPr>
          <a:xfrm>
            <a:off x="850392" y="2443759"/>
            <a:ext cx="64008" cy="64008"/>
          </a:xfrm>
          <a:prstGeom prst="ellipse">
            <a:avLst/>
          </a:prstGeom>
          <a:solidFill>
            <a:srgbClr val="0F766E"/>
          </a:solidFill>
          <a:ln/>
        </p:spPr>
      </p:sp>
      <p:sp>
        <p:nvSpPr>
          <p:cNvPr id="13" name="Text 11"/>
          <p:cNvSpPr txBox="1"/>
          <p:nvPr/>
        </p:nvSpPr>
        <p:spPr>
          <a:xfrm>
            <a:off x="1005840" y="236474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ectoscopy (ektoskopi)</a:t>
            </a:r>
            <a:r>
              <a:rPr lang="en-US" sz="1500" dirty="0">
                <a:solidFill>
                  <a:srgbClr val="4B5563"/>
                </a:solidFill>
                <a:latin typeface="Calibri" pitchFamily="34" charset="0"/>
                <a:ea typeface="Calibri" pitchFamily="34" charset="-122"/>
                <a:cs typeface="Calibri" pitchFamily="34" charset="-120"/>
              </a:rPr>
              <a:t>: Bir organın dıştan incelenmesi</a:t>
            </a:r>
            <a:endParaRPr lang="en-US" sz="1500" dirty="0"/>
          </a:p>
        </p:txBody>
      </p:sp>
      <p:sp>
        <p:nvSpPr>
          <p:cNvPr id="14" name="Shape 12"/>
          <p:cNvSpPr/>
          <p:nvPr/>
        </p:nvSpPr>
        <p:spPr>
          <a:xfrm>
            <a:off x="850392" y="2712745"/>
            <a:ext cx="64008" cy="64008"/>
          </a:xfrm>
          <a:prstGeom prst="ellipse">
            <a:avLst/>
          </a:prstGeom>
          <a:solidFill>
            <a:srgbClr val="0F766E"/>
          </a:solidFill>
          <a:ln/>
        </p:spPr>
      </p:sp>
      <p:sp>
        <p:nvSpPr>
          <p:cNvPr id="15" name="Text 13"/>
          <p:cNvSpPr txBox="1"/>
          <p:nvPr/>
        </p:nvSpPr>
        <p:spPr>
          <a:xfrm>
            <a:off x="1005840" y="263372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ectopic (ektopik)</a:t>
            </a:r>
            <a:r>
              <a:rPr lang="en-US" sz="1500" dirty="0">
                <a:solidFill>
                  <a:srgbClr val="4B5563"/>
                </a:solidFill>
                <a:latin typeface="Calibri" pitchFamily="34" charset="0"/>
                <a:ea typeface="Calibri" pitchFamily="34" charset="-122"/>
                <a:cs typeface="Calibri" pitchFamily="34" charset="-120"/>
              </a:rPr>
              <a:t>: Normal yerinden başka yerde bulunan, dışında bulunan</a:t>
            </a:r>
            <a:endParaRPr lang="en-US" sz="1500" dirty="0"/>
          </a:p>
        </p:txBody>
      </p:sp>
      <p:sp>
        <p:nvSpPr>
          <p:cNvPr id="16" name="Shape 14"/>
          <p:cNvSpPr/>
          <p:nvPr/>
        </p:nvSpPr>
        <p:spPr>
          <a:xfrm>
            <a:off x="548640" y="3131312"/>
            <a:ext cx="11094415" cy="1543304"/>
          </a:xfrm>
          <a:prstGeom prst="roundRect">
            <a:avLst>
              <a:gd name="adj" fmla="val 4147"/>
            </a:avLst>
          </a:prstGeom>
          <a:solidFill>
            <a:srgbClr val="EAF6F4"/>
          </a:solidFill>
          <a:ln/>
        </p:spPr>
      </p:sp>
      <p:sp>
        <p:nvSpPr>
          <p:cNvPr id="17" name="Text 15"/>
          <p:cNvSpPr txBox="1"/>
          <p:nvPr/>
        </p:nvSpPr>
        <p:spPr>
          <a:xfrm>
            <a:off x="731520" y="3195320"/>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2-b)  </a:t>
            </a:r>
            <a:endParaRPr lang="en-US" sz="1600" dirty="0"/>
          </a:p>
        </p:txBody>
      </p:sp>
      <p:sp>
        <p:nvSpPr>
          <p:cNvPr id="18" name="Shape 16"/>
          <p:cNvSpPr/>
          <p:nvPr/>
        </p:nvSpPr>
        <p:spPr>
          <a:xfrm>
            <a:off x="850392" y="3540531"/>
            <a:ext cx="64008" cy="64008"/>
          </a:xfrm>
          <a:prstGeom prst="ellipse">
            <a:avLst/>
          </a:prstGeom>
          <a:solidFill>
            <a:srgbClr val="0F766E"/>
          </a:solidFill>
          <a:ln/>
        </p:spPr>
      </p:sp>
      <p:sp>
        <p:nvSpPr>
          <p:cNvPr id="19" name="Text 17"/>
          <p:cNvSpPr txBox="1"/>
          <p:nvPr/>
        </p:nvSpPr>
        <p:spPr>
          <a:xfrm>
            <a:off x="1005840" y="346151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 exo- (L,G) (eks, ekso)</a:t>
            </a:r>
            <a:r>
              <a:rPr lang="en-US" sz="1500" dirty="0">
                <a:solidFill>
                  <a:srgbClr val="4B5563"/>
                </a:solidFill>
                <a:latin typeface="Calibri" pitchFamily="34" charset="0"/>
                <a:ea typeface="Calibri" pitchFamily="34" charset="-122"/>
                <a:cs typeface="Calibri" pitchFamily="34" charset="-120"/>
              </a:rPr>
              <a:t>: Dış, dışta, bitmiş, tamam</a:t>
            </a:r>
            <a:endParaRPr lang="en-US" sz="1500" dirty="0"/>
          </a:p>
        </p:txBody>
      </p:sp>
      <p:sp>
        <p:nvSpPr>
          <p:cNvPr id="20" name="Shape 18"/>
          <p:cNvSpPr/>
          <p:nvPr/>
        </p:nvSpPr>
        <p:spPr>
          <a:xfrm>
            <a:off x="850392" y="3809517"/>
            <a:ext cx="64008" cy="64008"/>
          </a:xfrm>
          <a:prstGeom prst="ellipse">
            <a:avLst/>
          </a:prstGeom>
          <a:solidFill>
            <a:srgbClr val="0F766E"/>
          </a:solidFill>
          <a:ln/>
        </p:spPr>
      </p:sp>
      <p:sp>
        <p:nvSpPr>
          <p:cNvPr id="21" name="Text 19"/>
          <p:cNvSpPr txBox="1"/>
          <p:nvPr/>
        </p:nvSpPr>
        <p:spPr>
          <a:xfrm>
            <a:off x="1005840" y="373049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exocrinus (eksokrin)</a:t>
            </a:r>
            <a:r>
              <a:rPr lang="en-US" sz="1500" dirty="0">
                <a:solidFill>
                  <a:srgbClr val="4B5563"/>
                </a:solidFill>
                <a:latin typeface="Calibri" pitchFamily="34" charset="0"/>
                <a:ea typeface="Calibri" pitchFamily="34" charset="-122"/>
                <a:cs typeface="Calibri" pitchFamily="34" charset="-120"/>
              </a:rPr>
              <a:t>: Dış salgı</a:t>
            </a:r>
            <a:endParaRPr lang="en-US" sz="1500" dirty="0"/>
          </a:p>
        </p:txBody>
      </p:sp>
      <p:sp>
        <p:nvSpPr>
          <p:cNvPr id="22" name="Shape 20"/>
          <p:cNvSpPr/>
          <p:nvPr/>
        </p:nvSpPr>
        <p:spPr>
          <a:xfrm>
            <a:off x="850392" y="4078503"/>
            <a:ext cx="64008" cy="64008"/>
          </a:xfrm>
          <a:prstGeom prst="ellipse">
            <a:avLst/>
          </a:prstGeom>
          <a:solidFill>
            <a:srgbClr val="0F766E"/>
          </a:solidFill>
          <a:ln/>
        </p:spPr>
      </p:sp>
      <p:sp>
        <p:nvSpPr>
          <p:cNvPr id="23" name="Text 21"/>
          <p:cNvSpPr txBox="1"/>
          <p:nvPr/>
        </p:nvSpPr>
        <p:spPr>
          <a:xfrm>
            <a:off x="1005840" y="399948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exocardial (eksokardiyal)</a:t>
            </a:r>
            <a:r>
              <a:rPr lang="en-US" sz="1500" dirty="0">
                <a:solidFill>
                  <a:srgbClr val="4B5563"/>
                </a:solidFill>
                <a:latin typeface="Calibri" pitchFamily="34" charset="0"/>
                <a:ea typeface="Calibri" pitchFamily="34" charset="-122"/>
                <a:cs typeface="Calibri" pitchFamily="34" charset="-120"/>
              </a:rPr>
              <a:t>: Yürek dışında</a:t>
            </a:r>
            <a:endParaRPr lang="en-US" sz="1500" dirty="0"/>
          </a:p>
        </p:txBody>
      </p:sp>
      <p:sp>
        <p:nvSpPr>
          <p:cNvPr id="24" name="Shape 22"/>
          <p:cNvSpPr/>
          <p:nvPr/>
        </p:nvSpPr>
        <p:spPr>
          <a:xfrm>
            <a:off x="850392" y="4347489"/>
            <a:ext cx="64008" cy="64008"/>
          </a:xfrm>
          <a:prstGeom prst="ellipse">
            <a:avLst/>
          </a:prstGeom>
          <a:solidFill>
            <a:srgbClr val="0F766E"/>
          </a:solidFill>
          <a:ln/>
        </p:spPr>
      </p:sp>
      <p:sp>
        <p:nvSpPr>
          <p:cNvPr id="25" name="Text 23"/>
          <p:cNvSpPr txBox="1"/>
          <p:nvPr/>
        </p:nvSpPr>
        <p:spPr>
          <a:xfrm>
            <a:off x="1005840" y="426847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expiration (ekspirasyon)</a:t>
            </a:r>
            <a:r>
              <a:rPr lang="en-US" sz="1500" dirty="0">
                <a:solidFill>
                  <a:srgbClr val="4B5563"/>
                </a:solidFill>
                <a:latin typeface="Calibri" pitchFamily="34" charset="0"/>
                <a:ea typeface="Calibri" pitchFamily="34" charset="-122"/>
                <a:cs typeface="Calibri" pitchFamily="34" charset="-120"/>
              </a:rPr>
              <a:t>: Nefes vermek, çıkarmak</a:t>
            </a:r>
            <a:endParaRPr lang="en-US" sz="1500" dirty="0"/>
          </a:p>
        </p:txBody>
      </p:sp>
      <p:sp>
        <p:nvSpPr>
          <p:cNvPr id="26" name="Shape 24"/>
          <p:cNvSpPr/>
          <p:nvPr/>
        </p:nvSpPr>
        <p:spPr>
          <a:xfrm>
            <a:off x="548640" y="4766056"/>
            <a:ext cx="11094415" cy="1543304"/>
          </a:xfrm>
          <a:prstGeom prst="roundRect">
            <a:avLst>
              <a:gd name="adj" fmla="val 4147"/>
            </a:avLst>
          </a:prstGeom>
          <a:solidFill>
            <a:srgbClr val="EAF6F4"/>
          </a:solidFill>
          <a:ln/>
        </p:spPr>
      </p:sp>
      <p:sp>
        <p:nvSpPr>
          <p:cNvPr id="27" name="Text 25"/>
          <p:cNvSpPr txBox="1"/>
          <p:nvPr/>
        </p:nvSpPr>
        <p:spPr>
          <a:xfrm>
            <a:off x="731520" y="4830064"/>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3-c)  </a:t>
            </a:r>
            <a:endParaRPr lang="en-US" sz="1600" dirty="0"/>
          </a:p>
        </p:txBody>
      </p:sp>
      <p:sp>
        <p:nvSpPr>
          <p:cNvPr id="28" name="Shape 26"/>
          <p:cNvSpPr/>
          <p:nvPr/>
        </p:nvSpPr>
        <p:spPr>
          <a:xfrm>
            <a:off x="850392" y="5175275"/>
            <a:ext cx="64008" cy="64008"/>
          </a:xfrm>
          <a:prstGeom prst="ellipse">
            <a:avLst/>
          </a:prstGeom>
          <a:solidFill>
            <a:srgbClr val="0F766E"/>
          </a:solidFill>
          <a:ln/>
        </p:spPr>
      </p:sp>
      <p:sp>
        <p:nvSpPr>
          <p:cNvPr id="29" name="Text 27"/>
          <p:cNvSpPr txBox="1"/>
          <p:nvPr/>
        </p:nvSpPr>
        <p:spPr>
          <a:xfrm>
            <a:off x="1005840" y="509625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extra- (L) (ekstra-)</a:t>
            </a:r>
            <a:r>
              <a:rPr lang="en-US" sz="1500" dirty="0">
                <a:solidFill>
                  <a:srgbClr val="4B5563"/>
                </a:solidFill>
                <a:latin typeface="Calibri" pitchFamily="34" charset="0"/>
                <a:ea typeface="Calibri" pitchFamily="34" charset="-122"/>
                <a:cs typeface="Calibri" pitchFamily="34" charset="-120"/>
              </a:rPr>
              <a:t>: Dışında, ötesinde, ek olarak, fazladan</a:t>
            </a:r>
            <a:endParaRPr lang="en-US" sz="1500" dirty="0"/>
          </a:p>
        </p:txBody>
      </p:sp>
      <p:sp>
        <p:nvSpPr>
          <p:cNvPr id="30" name="Shape 28"/>
          <p:cNvSpPr/>
          <p:nvPr/>
        </p:nvSpPr>
        <p:spPr>
          <a:xfrm>
            <a:off x="850392" y="5444261"/>
            <a:ext cx="64008" cy="64008"/>
          </a:xfrm>
          <a:prstGeom prst="ellipse">
            <a:avLst/>
          </a:prstGeom>
          <a:solidFill>
            <a:srgbClr val="0F766E"/>
          </a:solidFill>
          <a:ln/>
        </p:spPr>
      </p:sp>
      <p:sp>
        <p:nvSpPr>
          <p:cNvPr id="31" name="Text 29"/>
          <p:cNvSpPr txBox="1"/>
          <p:nvPr/>
        </p:nvSpPr>
        <p:spPr>
          <a:xfrm>
            <a:off x="1005840" y="536524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extracellular (ekstraselular)</a:t>
            </a:r>
            <a:r>
              <a:rPr lang="en-US" sz="1500" dirty="0">
                <a:solidFill>
                  <a:srgbClr val="4B5563"/>
                </a:solidFill>
                <a:latin typeface="Calibri" pitchFamily="34" charset="0"/>
                <a:ea typeface="Calibri" pitchFamily="34" charset="-122"/>
                <a:cs typeface="Calibri" pitchFamily="34" charset="-120"/>
              </a:rPr>
              <a:t>: Hücre dışında</a:t>
            </a:r>
            <a:endParaRPr lang="en-US" sz="1500" dirty="0"/>
          </a:p>
        </p:txBody>
      </p:sp>
      <p:sp>
        <p:nvSpPr>
          <p:cNvPr id="32" name="Shape 30"/>
          <p:cNvSpPr/>
          <p:nvPr/>
        </p:nvSpPr>
        <p:spPr>
          <a:xfrm>
            <a:off x="850392" y="5713247"/>
            <a:ext cx="64008" cy="64008"/>
          </a:xfrm>
          <a:prstGeom prst="ellipse">
            <a:avLst/>
          </a:prstGeom>
          <a:solidFill>
            <a:srgbClr val="0F766E"/>
          </a:solidFill>
          <a:ln/>
        </p:spPr>
      </p:sp>
      <p:sp>
        <p:nvSpPr>
          <p:cNvPr id="33" name="Text 31"/>
          <p:cNvSpPr txBox="1"/>
          <p:nvPr/>
        </p:nvSpPr>
        <p:spPr>
          <a:xfrm>
            <a:off x="1005840" y="563422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extrasensory (ekstrasensori)</a:t>
            </a:r>
            <a:r>
              <a:rPr lang="en-US" sz="1500" dirty="0">
                <a:solidFill>
                  <a:srgbClr val="4B5563"/>
                </a:solidFill>
                <a:latin typeface="Calibri" pitchFamily="34" charset="0"/>
                <a:ea typeface="Calibri" pitchFamily="34" charset="-122"/>
                <a:cs typeface="Calibri" pitchFamily="34" charset="-120"/>
              </a:rPr>
              <a:t>: Duyu ötesi, normal duyuların ötesinde</a:t>
            </a:r>
            <a:endParaRPr lang="en-US" sz="1500" dirty="0"/>
          </a:p>
        </p:txBody>
      </p:sp>
      <p:sp>
        <p:nvSpPr>
          <p:cNvPr id="34" name="Shape 32"/>
          <p:cNvSpPr/>
          <p:nvPr/>
        </p:nvSpPr>
        <p:spPr>
          <a:xfrm>
            <a:off x="850392" y="5982233"/>
            <a:ext cx="64008" cy="64008"/>
          </a:xfrm>
          <a:prstGeom prst="ellipse">
            <a:avLst/>
          </a:prstGeom>
          <a:solidFill>
            <a:srgbClr val="0F766E"/>
          </a:solidFill>
          <a:ln/>
        </p:spPr>
      </p:sp>
      <p:sp>
        <p:nvSpPr>
          <p:cNvPr id="35" name="Text 33"/>
          <p:cNvSpPr txBox="1"/>
          <p:nvPr/>
        </p:nvSpPr>
        <p:spPr>
          <a:xfrm>
            <a:off x="1005840" y="590321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extrasystole (ekstrasistol)</a:t>
            </a:r>
            <a:r>
              <a:rPr lang="en-US" sz="1500" dirty="0">
                <a:solidFill>
                  <a:srgbClr val="4B5563"/>
                </a:solidFill>
                <a:latin typeface="Calibri" pitchFamily="34" charset="0"/>
                <a:ea typeface="Calibri" pitchFamily="34" charset="-122"/>
                <a:cs typeface="Calibri" pitchFamily="34" charset="-120"/>
              </a:rPr>
              <a:t>: Kalp kaslarının normal kasılma ritmine sonradan eklenen kasılma</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Üzerinde, Üstünde, Çok ve Alt, Altında, Az, Anlamı Veren Önekler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60</a:t>
            </a:r>
            <a:endParaRPr lang="en-US" sz="1000" dirty="0"/>
          </a:p>
        </p:txBody>
      </p:sp>
      <p:sp>
        <p:nvSpPr>
          <p:cNvPr id="6" name="Shape 4"/>
          <p:cNvSpPr/>
          <p:nvPr/>
        </p:nvSpPr>
        <p:spPr>
          <a:xfrm>
            <a:off x="548640" y="1496568"/>
            <a:ext cx="11094415" cy="1543304"/>
          </a:xfrm>
          <a:prstGeom prst="roundRect">
            <a:avLst>
              <a:gd name="adj" fmla="val 4147"/>
            </a:avLst>
          </a:prstGeom>
          <a:solidFill>
            <a:srgbClr val="EAF6F4"/>
          </a:solidFill>
          <a:ln/>
        </p:spPr>
      </p:sp>
      <p:sp>
        <p:nvSpPr>
          <p:cNvPr id="7" name="Text 5"/>
          <p:cNvSpPr txBox="1"/>
          <p:nvPr/>
        </p:nvSpPr>
        <p:spPr>
          <a:xfrm>
            <a:off x="731520" y="1560576"/>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1-a)  </a:t>
            </a:r>
            <a:endParaRPr lang="en-US" sz="1600" dirty="0"/>
          </a:p>
        </p:txBody>
      </p:sp>
      <p:sp>
        <p:nvSpPr>
          <p:cNvPr id="8" name="Shape 6"/>
          <p:cNvSpPr/>
          <p:nvPr/>
        </p:nvSpPr>
        <p:spPr>
          <a:xfrm>
            <a:off x="850392" y="1905787"/>
            <a:ext cx="64008" cy="64008"/>
          </a:xfrm>
          <a:prstGeom prst="ellipse">
            <a:avLst/>
          </a:prstGeom>
          <a:solidFill>
            <a:srgbClr val="0F766E"/>
          </a:solidFill>
          <a:ln/>
        </p:spPr>
      </p:sp>
      <p:sp>
        <p:nvSpPr>
          <p:cNvPr id="9" name="Text 7"/>
          <p:cNvSpPr txBox="1"/>
          <p:nvPr/>
        </p:nvSpPr>
        <p:spPr>
          <a:xfrm>
            <a:off x="1005840" y="182676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epi- (G) (epi-)</a:t>
            </a:r>
            <a:r>
              <a:rPr lang="en-US" sz="1500" dirty="0">
                <a:solidFill>
                  <a:srgbClr val="4B5563"/>
                </a:solidFill>
                <a:latin typeface="Calibri" pitchFamily="34" charset="0"/>
                <a:ea typeface="Calibri" pitchFamily="34" charset="-122"/>
                <a:cs typeface="Calibri" pitchFamily="34" charset="-120"/>
              </a:rPr>
              <a:t>: Üstünde, üst</a:t>
            </a:r>
            <a:endParaRPr lang="en-US" sz="1500" dirty="0"/>
          </a:p>
        </p:txBody>
      </p:sp>
      <p:sp>
        <p:nvSpPr>
          <p:cNvPr id="10" name="Shape 8"/>
          <p:cNvSpPr/>
          <p:nvPr/>
        </p:nvSpPr>
        <p:spPr>
          <a:xfrm>
            <a:off x="850392" y="2174773"/>
            <a:ext cx="64008" cy="64008"/>
          </a:xfrm>
          <a:prstGeom prst="ellipse">
            <a:avLst/>
          </a:prstGeom>
          <a:solidFill>
            <a:srgbClr val="0F766E"/>
          </a:solidFill>
          <a:ln/>
        </p:spPr>
      </p:sp>
      <p:sp>
        <p:nvSpPr>
          <p:cNvPr id="11" name="Text 9"/>
          <p:cNvSpPr txBox="1"/>
          <p:nvPr/>
        </p:nvSpPr>
        <p:spPr>
          <a:xfrm>
            <a:off x="1005840" y="209575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epidermis (epidermis)</a:t>
            </a:r>
            <a:r>
              <a:rPr lang="en-US" sz="1500" dirty="0">
                <a:solidFill>
                  <a:srgbClr val="4B5563"/>
                </a:solidFill>
                <a:latin typeface="Calibri" pitchFamily="34" charset="0"/>
                <a:ea typeface="Calibri" pitchFamily="34" charset="-122"/>
                <a:cs typeface="Calibri" pitchFamily="34" charset="-120"/>
              </a:rPr>
              <a:t>: Derinin üst tabakası</a:t>
            </a:r>
            <a:endParaRPr lang="en-US" sz="1500" dirty="0"/>
          </a:p>
        </p:txBody>
      </p:sp>
      <p:sp>
        <p:nvSpPr>
          <p:cNvPr id="12" name="Shape 10"/>
          <p:cNvSpPr/>
          <p:nvPr/>
        </p:nvSpPr>
        <p:spPr>
          <a:xfrm>
            <a:off x="850392" y="2443759"/>
            <a:ext cx="64008" cy="64008"/>
          </a:xfrm>
          <a:prstGeom prst="ellipse">
            <a:avLst/>
          </a:prstGeom>
          <a:solidFill>
            <a:srgbClr val="0F766E"/>
          </a:solidFill>
          <a:ln/>
        </p:spPr>
      </p:sp>
      <p:sp>
        <p:nvSpPr>
          <p:cNvPr id="13" name="Text 11"/>
          <p:cNvSpPr txBox="1"/>
          <p:nvPr/>
        </p:nvSpPr>
        <p:spPr>
          <a:xfrm>
            <a:off x="1005840" y="236474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epidural (epidural)</a:t>
            </a:r>
            <a:r>
              <a:rPr lang="en-US" sz="1500" dirty="0">
                <a:solidFill>
                  <a:srgbClr val="4B5563"/>
                </a:solidFill>
                <a:latin typeface="Calibri" pitchFamily="34" charset="0"/>
                <a:ea typeface="Calibri" pitchFamily="34" charset="-122"/>
                <a:cs typeface="Calibri" pitchFamily="34" charset="-120"/>
              </a:rPr>
              <a:t>: Durameterin üst veya dış kısmında olan</a:t>
            </a:r>
            <a:endParaRPr lang="en-US" sz="1500" dirty="0"/>
          </a:p>
        </p:txBody>
      </p:sp>
      <p:sp>
        <p:nvSpPr>
          <p:cNvPr id="14" name="Shape 12"/>
          <p:cNvSpPr/>
          <p:nvPr/>
        </p:nvSpPr>
        <p:spPr>
          <a:xfrm>
            <a:off x="850392" y="2712745"/>
            <a:ext cx="64008" cy="64008"/>
          </a:xfrm>
          <a:prstGeom prst="ellipse">
            <a:avLst/>
          </a:prstGeom>
          <a:solidFill>
            <a:srgbClr val="0F766E"/>
          </a:solidFill>
          <a:ln/>
        </p:spPr>
      </p:sp>
      <p:sp>
        <p:nvSpPr>
          <p:cNvPr id="15" name="Text 13"/>
          <p:cNvSpPr txBox="1"/>
          <p:nvPr/>
        </p:nvSpPr>
        <p:spPr>
          <a:xfrm>
            <a:off x="1005840" y="263372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epigastricus (epigastrik)</a:t>
            </a:r>
            <a:r>
              <a:rPr lang="en-US" sz="1500" dirty="0">
                <a:solidFill>
                  <a:srgbClr val="4B5563"/>
                </a:solidFill>
                <a:latin typeface="Calibri" pitchFamily="34" charset="0"/>
                <a:ea typeface="Calibri" pitchFamily="34" charset="-122"/>
                <a:cs typeface="Calibri" pitchFamily="34" charset="-120"/>
              </a:rPr>
              <a:t>: Mide üstü ile ilgili</a:t>
            </a:r>
            <a:endParaRPr lang="en-US" sz="1500" dirty="0"/>
          </a:p>
        </p:txBody>
      </p:sp>
      <p:sp>
        <p:nvSpPr>
          <p:cNvPr id="16" name="Shape 14"/>
          <p:cNvSpPr/>
          <p:nvPr/>
        </p:nvSpPr>
        <p:spPr>
          <a:xfrm>
            <a:off x="548640" y="3131312"/>
            <a:ext cx="11094415" cy="1543304"/>
          </a:xfrm>
          <a:prstGeom prst="roundRect">
            <a:avLst>
              <a:gd name="adj" fmla="val 4147"/>
            </a:avLst>
          </a:prstGeom>
          <a:solidFill>
            <a:srgbClr val="EAF6F4"/>
          </a:solidFill>
          <a:ln/>
        </p:spPr>
      </p:sp>
      <p:sp>
        <p:nvSpPr>
          <p:cNvPr id="17" name="Text 15"/>
          <p:cNvSpPr txBox="1"/>
          <p:nvPr/>
        </p:nvSpPr>
        <p:spPr>
          <a:xfrm>
            <a:off x="731520" y="3195320"/>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1-b)  </a:t>
            </a:r>
            <a:endParaRPr lang="en-US" sz="1600" dirty="0"/>
          </a:p>
        </p:txBody>
      </p:sp>
      <p:sp>
        <p:nvSpPr>
          <p:cNvPr id="18" name="Shape 16"/>
          <p:cNvSpPr/>
          <p:nvPr/>
        </p:nvSpPr>
        <p:spPr>
          <a:xfrm>
            <a:off x="850392" y="3540531"/>
            <a:ext cx="64008" cy="64008"/>
          </a:xfrm>
          <a:prstGeom prst="ellipse">
            <a:avLst/>
          </a:prstGeom>
          <a:solidFill>
            <a:srgbClr val="0F766E"/>
          </a:solidFill>
          <a:ln/>
        </p:spPr>
      </p:sp>
      <p:sp>
        <p:nvSpPr>
          <p:cNvPr id="19" name="Text 17"/>
          <p:cNvSpPr txBox="1"/>
          <p:nvPr/>
        </p:nvSpPr>
        <p:spPr>
          <a:xfrm>
            <a:off x="1005840" y="346151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supra- (L) (supra-)</a:t>
            </a:r>
            <a:r>
              <a:rPr lang="en-US" sz="1500" dirty="0">
                <a:solidFill>
                  <a:srgbClr val="4B5563"/>
                </a:solidFill>
                <a:latin typeface="Calibri" pitchFamily="34" charset="0"/>
                <a:ea typeface="Calibri" pitchFamily="34" charset="-122"/>
                <a:cs typeface="Calibri" pitchFamily="34" charset="-120"/>
              </a:rPr>
              <a:t>: Üzerinde, üstünde</a:t>
            </a:r>
            <a:endParaRPr lang="en-US" sz="1500" dirty="0"/>
          </a:p>
        </p:txBody>
      </p:sp>
      <p:sp>
        <p:nvSpPr>
          <p:cNvPr id="20" name="Shape 18"/>
          <p:cNvSpPr/>
          <p:nvPr/>
        </p:nvSpPr>
        <p:spPr>
          <a:xfrm>
            <a:off x="850392" y="3809517"/>
            <a:ext cx="64008" cy="64008"/>
          </a:xfrm>
          <a:prstGeom prst="ellipse">
            <a:avLst/>
          </a:prstGeom>
          <a:solidFill>
            <a:srgbClr val="0F766E"/>
          </a:solidFill>
          <a:ln/>
        </p:spPr>
      </p:sp>
      <p:sp>
        <p:nvSpPr>
          <p:cNvPr id="21" name="Text 19"/>
          <p:cNvSpPr txBox="1"/>
          <p:nvPr/>
        </p:nvSpPr>
        <p:spPr>
          <a:xfrm>
            <a:off x="1005840" y="373049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suprascapularis (supraskapular)</a:t>
            </a:r>
            <a:r>
              <a:rPr lang="en-US" sz="1500" dirty="0">
                <a:solidFill>
                  <a:srgbClr val="4B5563"/>
                </a:solidFill>
                <a:latin typeface="Calibri" pitchFamily="34" charset="0"/>
                <a:ea typeface="Calibri" pitchFamily="34" charset="-122"/>
                <a:cs typeface="Calibri" pitchFamily="34" charset="-120"/>
              </a:rPr>
              <a:t>: Kürek kemiğinin üstü</a:t>
            </a:r>
            <a:endParaRPr lang="en-US" sz="1500" dirty="0"/>
          </a:p>
        </p:txBody>
      </p:sp>
      <p:sp>
        <p:nvSpPr>
          <p:cNvPr id="22" name="Shape 20"/>
          <p:cNvSpPr/>
          <p:nvPr/>
        </p:nvSpPr>
        <p:spPr>
          <a:xfrm>
            <a:off x="850392" y="4078503"/>
            <a:ext cx="64008" cy="64008"/>
          </a:xfrm>
          <a:prstGeom prst="ellipse">
            <a:avLst/>
          </a:prstGeom>
          <a:solidFill>
            <a:srgbClr val="0F766E"/>
          </a:solidFill>
          <a:ln/>
        </p:spPr>
      </p:sp>
      <p:sp>
        <p:nvSpPr>
          <p:cNvPr id="23" name="Text 21"/>
          <p:cNvSpPr txBox="1"/>
          <p:nvPr/>
        </p:nvSpPr>
        <p:spPr>
          <a:xfrm>
            <a:off x="1005840" y="399948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supraorbitalis (supraorbital)</a:t>
            </a:r>
            <a:r>
              <a:rPr lang="en-US" sz="1500" dirty="0">
                <a:solidFill>
                  <a:srgbClr val="4B5563"/>
                </a:solidFill>
                <a:latin typeface="Calibri" pitchFamily="34" charset="0"/>
                <a:ea typeface="Calibri" pitchFamily="34" charset="-122"/>
                <a:cs typeface="Calibri" pitchFamily="34" charset="-120"/>
              </a:rPr>
              <a:t>: Göz çukurunun üstü</a:t>
            </a:r>
            <a:endParaRPr lang="en-US" sz="1500" dirty="0"/>
          </a:p>
        </p:txBody>
      </p:sp>
      <p:sp>
        <p:nvSpPr>
          <p:cNvPr id="24" name="Shape 22"/>
          <p:cNvSpPr/>
          <p:nvPr/>
        </p:nvSpPr>
        <p:spPr>
          <a:xfrm>
            <a:off x="850392" y="4347489"/>
            <a:ext cx="64008" cy="64008"/>
          </a:xfrm>
          <a:prstGeom prst="ellipse">
            <a:avLst/>
          </a:prstGeom>
          <a:solidFill>
            <a:srgbClr val="0F766E"/>
          </a:solidFill>
          <a:ln/>
        </p:spPr>
      </p:sp>
      <p:sp>
        <p:nvSpPr>
          <p:cNvPr id="25" name="Text 23"/>
          <p:cNvSpPr txBox="1"/>
          <p:nvPr/>
        </p:nvSpPr>
        <p:spPr>
          <a:xfrm>
            <a:off x="1005840" y="426847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suprarenalis (suprarenal)</a:t>
            </a:r>
            <a:r>
              <a:rPr lang="en-US" sz="1500" dirty="0">
                <a:solidFill>
                  <a:srgbClr val="4B5563"/>
                </a:solidFill>
                <a:latin typeface="Calibri" pitchFamily="34" charset="0"/>
                <a:ea typeface="Calibri" pitchFamily="34" charset="-122"/>
                <a:cs typeface="Calibri" pitchFamily="34" charset="-120"/>
              </a:rPr>
              <a:t>: Böbrek üstü</a:t>
            </a:r>
            <a:endParaRPr lang="en-US" sz="1500" dirty="0"/>
          </a:p>
        </p:txBody>
      </p:sp>
      <p:sp>
        <p:nvSpPr>
          <p:cNvPr id="26" name="Shape 24"/>
          <p:cNvSpPr/>
          <p:nvPr/>
        </p:nvSpPr>
        <p:spPr>
          <a:xfrm>
            <a:off x="548640" y="4766056"/>
            <a:ext cx="11094415" cy="1543304"/>
          </a:xfrm>
          <a:prstGeom prst="roundRect">
            <a:avLst>
              <a:gd name="adj" fmla="val 4147"/>
            </a:avLst>
          </a:prstGeom>
          <a:solidFill>
            <a:srgbClr val="EAF6F4"/>
          </a:solidFill>
          <a:ln/>
        </p:spPr>
      </p:sp>
      <p:sp>
        <p:nvSpPr>
          <p:cNvPr id="27" name="Text 25"/>
          <p:cNvSpPr txBox="1"/>
          <p:nvPr/>
        </p:nvSpPr>
        <p:spPr>
          <a:xfrm>
            <a:off x="731520" y="4830064"/>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2-a)  </a:t>
            </a:r>
            <a:endParaRPr lang="en-US" sz="1600" dirty="0"/>
          </a:p>
        </p:txBody>
      </p:sp>
      <p:sp>
        <p:nvSpPr>
          <p:cNvPr id="28" name="Shape 26"/>
          <p:cNvSpPr/>
          <p:nvPr/>
        </p:nvSpPr>
        <p:spPr>
          <a:xfrm>
            <a:off x="850392" y="5175275"/>
            <a:ext cx="64008" cy="64008"/>
          </a:xfrm>
          <a:prstGeom prst="ellipse">
            <a:avLst/>
          </a:prstGeom>
          <a:solidFill>
            <a:srgbClr val="0F766E"/>
          </a:solidFill>
          <a:ln/>
        </p:spPr>
      </p:sp>
      <p:sp>
        <p:nvSpPr>
          <p:cNvPr id="29" name="Text 27"/>
          <p:cNvSpPr txBox="1"/>
          <p:nvPr/>
        </p:nvSpPr>
        <p:spPr>
          <a:xfrm>
            <a:off x="1005840" y="509625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hyper- (G) (hiper)</a:t>
            </a:r>
            <a:r>
              <a:rPr lang="en-US" sz="1500" dirty="0">
                <a:solidFill>
                  <a:srgbClr val="4B5563"/>
                </a:solidFill>
                <a:latin typeface="Calibri" pitchFamily="34" charset="0"/>
                <a:ea typeface="Calibri" pitchFamily="34" charset="-122"/>
                <a:cs typeface="Calibri" pitchFamily="34" charset="-120"/>
              </a:rPr>
              <a:t>: Üst, yukarı, fazla</a:t>
            </a:r>
            <a:endParaRPr lang="en-US" sz="1500" dirty="0"/>
          </a:p>
        </p:txBody>
      </p:sp>
      <p:sp>
        <p:nvSpPr>
          <p:cNvPr id="30" name="Shape 28"/>
          <p:cNvSpPr/>
          <p:nvPr/>
        </p:nvSpPr>
        <p:spPr>
          <a:xfrm>
            <a:off x="850392" y="5444261"/>
            <a:ext cx="64008" cy="64008"/>
          </a:xfrm>
          <a:prstGeom prst="ellipse">
            <a:avLst/>
          </a:prstGeom>
          <a:solidFill>
            <a:srgbClr val="0F766E"/>
          </a:solidFill>
          <a:ln/>
        </p:spPr>
      </p:sp>
      <p:sp>
        <p:nvSpPr>
          <p:cNvPr id="31" name="Text 29"/>
          <p:cNvSpPr txBox="1"/>
          <p:nvPr/>
        </p:nvSpPr>
        <p:spPr>
          <a:xfrm>
            <a:off x="1005840" y="536524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hyperpyrexia (hiperpireksi)</a:t>
            </a:r>
            <a:r>
              <a:rPr lang="en-US" sz="1500" dirty="0">
                <a:solidFill>
                  <a:srgbClr val="4B5563"/>
                </a:solidFill>
                <a:latin typeface="Calibri" pitchFamily="34" charset="0"/>
                <a:ea typeface="Calibri" pitchFamily="34" charset="-122"/>
                <a:cs typeface="Calibri" pitchFamily="34" charset="-120"/>
              </a:rPr>
              <a:t>: Yüksek ateş</a:t>
            </a:r>
            <a:endParaRPr lang="en-US" sz="1500" dirty="0"/>
          </a:p>
        </p:txBody>
      </p:sp>
      <p:sp>
        <p:nvSpPr>
          <p:cNvPr id="32" name="Shape 30"/>
          <p:cNvSpPr/>
          <p:nvPr/>
        </p:nvSpPr>
        <p:spPr>
          <a:xfrm>
            <a:off x="850392" y="5713247"/>
            <a:ext cx="64008" cy="64008"/>
          </a:xfrm>
          <a:prstGeom prst="ellipse">
            <a:avLst/>
          </a:prstGeom>
          <a:solidFill>
            <a:srgbClr val="0F766E"/>
          </a:solidFill>
          <a:ln/>
        </p:spPr>
      </p:sp>
      <p:sp>
        <p:nvSpPr>
          <p:cNvPr id="33" name="Text 31"/>
          <p:cNvSpPr txBox="1"/>
          <p:nvPr/>
        </p:nvSpPr>
        <p:spPr>
          <a:xfrm>
            <a:off x="1005840" y="563422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hypertrophia (hipertrofi)</a:t>
            </a:r>
            <a:r>
              <a:rPr lang="en-US" sz="1500" dirty="0">
                <a:solidFill>
                  <a:srgbClr val="4B5563"/>
                </a:solidFill>
                <a:latin typeface="Calibri" pitchFamily="34" charset="0"/>
                <a:ea typeface="Calibri" pitchFamily="34" charset="-122"/>
                <a:cs typeface="Calibri" pitchFamily="34" charset="-120"/>
              </a:rPr>
              <a:t>: İleri derece büyüme</a:t>
            </a:r>
            <a:endParaRPr lang="en-US" sz="1500" dirty="0"/>
          </a:p>
        </p:txBody>
      </p:sp>
      <p:sp>
        <p:nvSpPr>
          <p:cNvPr id="34" name="Shape 32"/>
          <p:cNvSpPr/>
          <p:nvPr/>
        </p:nvSpPr>
        <p:spPr>
          <a:xfrm>
            <a:off x="850392" y="5982233"/>
            <a:ext cx="64008" cy="64008"/>
          </a:xfrm>
          <a:prstGeom prst="ellipse">
            <a:avLst/>
          </a:prstGeom>
          <a:solidFill>
            <a:srgbClr val="0F766E"/>
          </a:solidFill>
          <a:ln/>
        </p:spPr>
      </p:sp>
      <p:sp>
        <p:nvSpPr>
          <p:cNvPr id="35" name="Text 33"/>
          <p:cNvSpPr txBox="1"/>
          <p:nvPr/>
        </p:nvSpPr>
        <p:spPr>
          <a:xfrm>
            <a:off x="1005840" y="590321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hypertension (hipertensiyon)</a:t>
            </a:r>
            <a:r>
              <a:rPr lang="en-US" sz="1500" dirty="0">
                <a:solidFill>
                  <a:srgbClr val="4B5563"/>
                </a:solidFill>
                <a:latin typeface="Calibri" pitchFamily="34" charset="0"/>
                <a:ea typeface="Calibri" pitchFamily="34" charset="-122"/>
                <a:cs typeface="Calibri" pitchFamily="34" charset="-120"/>
              </a:rPr>
              <a:t>: Yüksek kan basıncı</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Üzerinde, Üstünde, Çok ve Alt, Altında, Az, Anlamı Veren Önekler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61</a:t>
            </a:r>
            <a:endParaRPr lang="en-US" sz="1000" dirty="0"/>
          </a:p>
        </p:txBody>
      </p:sp>
      <p:sp>
        <p:nvSpPr>
          <p:cNvPr id="6" name="Shape 4"/>
          <p:cNvSpPr/>
          <p:nvPr/>
        </p:nvSpPr>
        <p:spPr>
          <a:xfrm>
            <a:off x="548640" y="1475486"/>
            <a:ext cx="11094415" cy="1465834"/>
          </a:xfrm>
          <a:prstGeom prst="roundRect">
            <a:avLst>
              <a:gd name="adj" fmla="val 4367"/>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2-b)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super- (L) (super-)</a:t>
            </a:r>
            <a:r>
              <a:rPr lang="en-US" sz="1400" dirty="0">
                <a:solidFill>
                  <a:srgbClr val="4B5563"/>
                </a:solidFill>
                <a:latin typeface="Calibri" pitchFamily="34" charset="0"/>
                <a:ea typeface="Calibri" pitchFamily="34" charset="-122"/>
                <a:cs typeface="Calibri" pitchFamily="34" charset="-120"/>
              </a:rPr>
              <a:t>: Üstünde, yukarısında, normalin üstünde, aşırı, fazla</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superolateral (superolateral)</a:t>
            </a:r>
            <a:r>
              <a:rPr lang="en-US" sz="1400" dirty="0">
                <a:solidFill>
                  <a:srgbClr val="4B5563"/>
                </a:solidFill>
                <a:latin typeface="Calibri" pitchFamily="34" charset="0"/>
                <a:ea typeface="Calibri" pitchFamily="34" charset="-122"/>
                <a:cs typeface="Calibri" pitchFamily="34" charset="-120"/>
              </a:rPr>
              <a:t>: Üst yan tarafta</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superlobatio (superlobasyo)</a:t>
            </a:r>
            <a:r>
              <a:rPr lang="en-US" sz="1400" dirty="0">
                <a:solidFill>
                  <a:srgbClr val="4B5563"/>
                </a:solidFill>
                <a:latin typeface="Calibri" pitchFamily="34" charset="0"/>
                <a:ea typeface="Calibri" pitchFamily="34" charset="-122"/>
                <a:cs typeface="Calibri" pitchFamily="34" charset="-120"/>
              </a:rPr>
              <a:t>: Çok loblu (parçalı)</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supercilium (supersilyum)</a:t>
            </a:r>
            <a:r>
              <a:rPr lang="en-US" sz="1400" dirty="0">
                <a:solidFill>
                  <a:srgbClr val="4B5563"/>
                </a:solidFill>
                <a:latin typeface="Calibri" pitchFamily="34" charset="0"/>
                <a:ea typeface="Calibri" pitchFamily="34" charset="-122"/>
                <a:cs typeface="Calibri" pitchFamily="34" charset="-120"/>
              </a:rPr>
              <a:t>: Kaş</a:t>
            </a:r>
            <a:endParaRPr lang="en-US" sz="1400" dirty="0"/>
          </a:p>
        </p:txBody>
      </p:sp>
      <p:sp>
        <p:nvSpPr>
          <p:cNvPr id="16" name="Shape 14"/>
          <p:cNvSpPr/>
          <p:nvPr/>
        </p:nvSpPr>
        <p:spPr>
          <a:xfrm>
            <a:off x="548640" y="3032760"/>
            <a:ext cx="11094415" cy="1465834"/>
          </a:xfrm>
          <a:prstGeom prst="roundRect">
            <a:avLst>
              <a:gd name="adj" fmla="val 4367"/>
            </a:avLst>
          </a:prstGeom>
          <a:solidFill>
            <a:srgbClr val="EAF6F4"/>
          </a:solidFill>
          <a:ln/>
        </p:spPr>
      </p:sp>
      <p:sp>
        <p:nvSpPr>
          <p:cNvPr id="17" name="Text 15"/>
          <p:cNvSpPr txBox="1"/>
          <p:nvPr/>
        </p:nvSpPr>
        <p:spPr>
          <a:xfrm>
            <a:off x="731520" y="3096768"/>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2-c)  </a:t>
            </a:r>
            <a:endParaRPr lang="en-US" sz="1500" dirty="0"/>
          </a:p>
        </p:txBody>
      </p:sp>
      <p:sp>
        <p:nvSpPr>
          <p:cNvPr id="18" name="Shape 16"/>
          <p:cNvSpPr/>
          <p:nvPr/>
        </p:nvSpPr>
        <p:spPr>
          <a:xfrm>
            <a:off x="850392" y="3421217"/>
            <a:ext cx="64008" cy="64008"/>
          </a:xfrm>
          <a:prstGeom prst="ellipse">
            <a:avLst/>
          </a:prstGeom>
          <a:solidFill>
            <a:srgbClr val="0F766E"/>
          </a:solidFill>
          <a:ln/>
        </p:spPr>
      </p:sp>
      <p:sp>
        <p:nvSpPr>
          <p:cNvPr id="19" name="Text 17"/>
          <p:cNvSpPr txBox="1"/>
          <p:nvPr/>
        </p:nvSpPr>
        <p:spPr>
          <a:xfrm>
            <a:off x="1005840" y="334746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mult-, multi- (L) (mult-, multi-)</a:t>
            </a:r>
            <a:r>
              <a:rPr lang="en-US" sz="1400" dirty="0">
                <a:solidFill>
                  <a:srgbClr val="4B5563"/>
                </a:solidFill>
                <a:latin typeface="Calibri" pitchFamily="34" charset="0"/>
                <a:ea typeface="Calibri" pitchFamily="34" charset="-122"/>
                <a:cs typeface="Calibri" pitchFamily="34" charset="-120"/>
              </a:rPr>
              <a:t>: Çok</a:t>
            </a:r>
            <a:endParaRPr lang="en-US" sz="14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multicellularis (multiselular)</a:t>
            </a:r>
            <a:r>
              <a:rPr lang="en-US" sz="1400" dirty="0">
                <a:solidFill>
                  <a:srgbClr val="4B5563"/>
                </a:solidFill>
                <a:latin typeface="Calibri" pitchFamily="34" charset="0"/>
                <a:ea typeface="Calibri" pitchFamily="34" charset="-122"/>
                <a:cs typeface="Calibri" pitchFamily="34" charset="-120"/>
              </a:rPr>
              <a:t>: Çok hücreli</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multipolaris (multipolar)</a:t>
            </a:r>
            <a:r>
              <a:rPr lang="en-US" sz="1400" dirty="0">
                <a:solidFill>
                  <a:srgbClr val="4B5563"/>
                </a:solidFill>
                <a:latin typeface="Calibri" pitchFamily="34" charset="0"/>
                <a:ea typeface="Calibri" pitchFamily="34" charset="-122"/>
                <a:cs typeface="Calibri" pitchFamily="34" charset="-120"/>
              </a:rPr>
              <a:t>: Çok kutuplu</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multiformis (multiform)</a:t>
            </a:r>
            <a:r>
              <a:rPr lang="en-US" sz="1400" dirty="0">
                <a:solidFill>
                  <a:srgbClr val="4B5563"/>
                </a:solidFill>
                <a:latin typeface="Calibri" pitchFamily="34" charset="0"/>
                <a:ea typeface="Calibri" pitchFamily="34" charset="-122"/>
                <a:cs typeface="Calibri" pitchFamily="34" charset="-120"/>
              </a:rPr>
              <a:t>: Çok şekilli</a:t>
            </a:r>
            <a:endParaRPr lang="en-US" sz="1400" dirty="0"/>
          </a:p>
        </p:txBody>
      </p:sp>
      <p:sp>
        <p:nvSpPr>
          <p:cNvPr id="26" name="Shape 24"/>
          <p:cNvSpPr/>
          <p:nvPr/>
        </p:nvSpPr>
        <p:spPr>
          <a:xfrm>
            <a:off x="548640" y="4590034"/>
            <a:ext cx="11094415" cy="1719326"/>
          </a:xfrm>
          <a:prstGeom prst="roundRect">
            <a:avLst>
              <a:gd name="adj" fmla="val 3723"/>
            </a:avLst>
          </a:prstGeom>
          <a:solidFill>
            <a:srgbClr val="EAF6F4"/>
          </a:solidFill>
          <a:ln/>
        </p:spPr>
      </p:sp>
      <p:sp>
        <p:nvSpPr>
          <p:cNvPr id="27" name="Text 25"/>
          <p:cNvSpPr txBox="1"/>
          <p:nvPr/>
        </p:nvSpPr>
        <p:spPr>
          <a:xfrm>
            <a:off x="731520" y="4654042"/>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2-d)  </a:t>
            </a:r>
            <a:endParaRPr lang="en-US" sz="1500" dirty="0"/>
          </a:p>
        </p:txBody>
      </p:sp>
      <p:sp>
        <p:nvSpPr>
          <p:cNvPr id="28" name="Shape 26"/>
          <p:cNvSpPr/>
          <p:nvPr/>
        </p:nvSpPr>
        <p:spPr>
          <a:xfrm>
            <a:off x="850392" y="4978491"/>
            <a:ext cx="64008" cy="64008"/>
          </a:xfrm>
          <a:prstGeom prst="ellipse">
            <a:avLst/>
          </a:prstGeom>
          <a:solidFill>
            <a:srgbClr val="0F766E"/>
          </a:solidFill>
          <a:ln/>
        </p:spPr>
      </p:sp>
      <p:sp>
        <p:nvSpPr>
          <p:cNvPr id="29" name="Text 27"/>
          <p:cNvSpPr txBox="1"/>
          <p:nvPr/>
        </p:nvSpPr>
        <p:spPr>
          <a:xfrm>
            <a:off x="1005840" y="490474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poly- (G) (poli-)</a:t>
            </a:r>
            <a:r>
              <a:rPr lang="en-US" sz="1400" dirty="0">
                <a:solidFill>
                  <a:srgbClr val="4B5563"/>
                </a:solidFill>
                <a:latin typeface="Calibri" pitchFamily="34" charset="0"/>
                <a:ea typeface="Calibri" pitchFamily="34" charset="-122"/>
                <a:cs typeface="Calibri" pitchFamily="34" charset="-120"/>
              </a:rPr>
              <a:t>: Çok</a:t>
            </a:r>
            <a:endParaRPr lang="en-US" sz="14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polyphagia (polifaji)</a:t>
            </a:r>
            <a:r>
              <a:rPr lang="en-US" sz="1400" dirty="0">
                <a:solidFill>
                  <a:srgbClr val="4B5563"/>
                </a:solidFill>
                <a:latin typeface="Calibri" pitchFamily="34" charset="0"/>
                <a:ea typeface="Calibri" pitchFamily="34" charset="-122"/>
                <a:cs typeface="Calibri" pitchFamily="34" charset="-120"/>
              </a:rPr>
              <a:t>: Çok yeme</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polyuria (poliuri)</a:t>
            </a:r>
            <a:r>
              <a:rPr lang="en-US" sz="1400" dirty="0">
                <a:solidFill>
                  <a:srgbClr val="4B5563"/>
                </a:solidFill>
                <a:latin typeface="Calibri" pitchFamily="34" charset="0"/>
                <a:ea typeface="Calibri" pitchFamily="34" charset="-122"/>
                <a:cs typeface="Calibri" pitchFamily="34" charset="-120"/>
              </a:rPr>
              <a:t>: Sık sık idrara çıkma</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polynuclearis (polinullear)</a:t>
            </a:r>
            <a:r>
              <a:rPr lang="en-US" sz="1400" dirty="0">
                <a:solidFill>
                  <a:srgbClr val="4B5563"/>
                </a:solidFill>
                <a:latin typeface="Calibri" pitchFamily="34" charset="0"/>
                <a:ea typeface="Calibri" pitchFamily="34" charset="-122"/>
                <a:cs typeface="Calibri" pitchFamily="34" charset="-120"/>
              </a:rPr>
              <a:t>: Çok çekirdekli</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polyarthritis (poliartrit)</a:t>
            </a:r>
            <a:r>
              <a:rPr lang="en-US" sz="1400" dirty="0">
                <a:solidFill>
                  <a:srgbClr val="4B5563"/>
                </a:solidFill>
                <a:latin typeface="Calibri" pitchFamily="34" charset="0"/>
                <a:ea typeface="Calibri" pitchFamily="34" charset="-122"/>
                <a:cs typeface="Calibri" pitchFamily="34" charset="-120"/>
              </a:rPr>
              <a:t>: Çok sayıda eklemin iltihabı</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Üzerinde, Üstünde, Çok ve Alt, Altında, Az, Anlamı Veren Önekler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62</a:t>
            </a:r>
            <a:endParaRPr lang="en-US" sz="1000" dirty="0"/>
          </a:p>
        </p:txBody>
      </p:sp>
      <p:sp>
        <p:nvSpPr>
          <p:cNvPr id="6" name="Shape 4"/>
          <p:cNvSpPr/>
          <p:nvPr/>
        </p:nvSpPr>
        <p:spPr>
          <a:xfrm>
            <a:off x="548640" y="2635504"/>
            <a:ext cx="5410048" cy="1682750"/>
          </a:xfrm>
          <a:prstGeom prst="roundRect">
            <a:avLst>
              <a:gd name="adj" fmla="val 3804"/>
            </a:avLst>
          </a:prstGeom>
          <a:solidFill>
            <a:srgbClr val="EAF6F4"/>
          </a:solidFill>
          <a:ln/>
        </p:spPr>
      </p:sp>
      <p:sp>
        <p:nvSpPr>
          <p:cNvPr id="7" name="Text 5"/>
          <p:cNvSpPr txBox="1"/>
          <p:nvPr/>
        </p:nvSpPr>
        <p:spPr>
          <a:xfrm>
            <a:off x="731520" y="269951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3-a)  </a:t>
            </a:r>
            <a:endParaRPr lang="en-US" sz="1500" dirty="0"/>
          </a:p>
        </p:txBody>
      </p:sp>
      <p:sp>
        <p:nvSpPr>
          <p:cNvPr id="8" name="Shape 6"/>
          <p:cNvSpPr/>
          <p:nvPr/>
        </p:nvSpPr>
        <p:spPr>
          <a:xfrm>
            <a:off x="850392" y="3023961"/>
            <a:ext cx="64008" cy="64008"/>
          </a:xfrm>
          <a:prstGeom prst="ellipse">
            <a:avLst/>
          </a:prstGeom>
          <a:solidFill>
            <a:srgbClr val="0F766E"/>
          </a:solidFill>
          <a:ln/>
        </p:spPr>
      </p:sp>
      <p:sp>
        <p:nvSpPr>
          <p:cNvPr id="9" name="Text 7"/>
          <p:cNvSpPr txBox="1"/>
          <p:nvPr/>
        </p:nvSpPr>
        <p:spPr>
          <a:xfrm>
            <a:off x="1005840" y="29502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hypo- (G) (hipo-)</a:t>
            </a:r>
            <a:r>
              <a:rPr lang="en-US" sz="1400" dirty="0">
                <a:solidFill>
                  <a:srgbClr val="4B5563"/>
                </a:solidFill>
                <a:latin typeface="Calibri" pitchFamily="34" charset="0"/>
                <a:ea typeface="Calibri" pitchFamily="34" charset="-122"/>
                <a:cs typeface="Calibri" pitchFamily="34" charset="-120"/>
              </a:rPr>
              <a:t>: Alt, aşağı, altında, az</a:t>
            </a:r>
            <a:endParaRPr lang="en-US" sz="1400" dirty="0"/>
          </a:p>
        </p:txBody>
      </p:sp>
      <p:sp>
        <p:nvSpPr>
          <p:cNvPr id="10" name="Shape 8"/>
          <p:cNvSpPr/>
          <p:nvPr/>
        </p:nvSpPr>
        <p:spPr>
          <a:xfrm>
            <a:off x="850392" y="3277453"/>
            <a:ext cx="64008" cy="64008"/>
          </a:xfrm>
          <a:prstGeom prst="ellipse">
            <a:avLst/>
          </a:prstGeom>
          <a:solidFill>
            <a:srgbClr val="0F766E"/>
          </a:solidFill>
          <a:ln/>
        </p:spPr>
      </p:sp>
      <p:sp>
        <p:nvSpPr>
          <p:cNvPr id="11" name="Text 9"/>
          <p:cNvSpPr txBox="1"/>
          <p:nvPr/>
        </p:nvSpPr>
        <p:spPr>
          <a:xfrm>
            <a:off x="1005840" y="32037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hypotension (hipotensiyon)</a:t>
            </a:r>
            <a:r>
              <a:rPr lang="en-US" sz="1400" dirty="0">
                <a:solidFill>
                  <a:srgbClr val="4B5563"/>
                </a:solidFill>
                <a:latin typeface="Calibri" pitchFamily="34" charset="0"/>
                <a:ea typeface="Calibri" pitchFamily="34" charset="-122"/>
                <a:cs typeface="Calibri" pitchFamily="34" charset="-120"/>
              </a:rPr>
              <a:t>: Düşük kan basıncı</a:t>
            </a:r>
            <a:endParaRPr lang="en-US" sz="1400" dirty="0"/>
          </a:p>
        </p:txBody>
      </p:sp>
      <p:sp>
        <p:nvSpPr>
          <p:cNvPr id="12" name="Shape 10"/>
          <p:cNvSpPr/>
          <p:nvPr/>
        </p:nvSpPr>
        <p:spPr>
          <a:xfrm>
            <a:off x="850392" y="3530945"/>
            <a:ext cx="64008" cy="64008"/>
          </a:xfrm>
          <a:prstGeom prst="ellipse">
            <a:avLst/>
          </a:prstGeom>
          <a:solidFill>
            <a:srgbClr val="0F766E"/>
          </a:solidFill>
          <a:ln/>
        </p:spPr>
      </p:sp>
      <p:sp>
        <p:nvSpPr>
          <p:cNvPr id="13" name="Text 11"/>
          <p:cNvSpPr txBox="1"/>
          <p:nvPr/>
        </p:nvSpPr>
        <p:spPr>
          <a:xfrm>
            <a:off x="1005840" y="345719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hypothermia (hipotermi)</a:t>
            </a:r>
            <a:r>
              <a:rPr lang="en-US" sz="1400" dirty="0">
                <a:solidFill>
                  <a:srgbClr val="4B5563"/>
                </a:solidFill>
                <a:latin typeface="Calibri" pitchFamily="34" charset="0"/>
                <a:ea typeface="Calibri" pitchFamily="34" charset="-122"/>
                <a:cs typeface="Calibri" pitchFamily="34" charset="-120"/>
              </a:rPr>
              <a:t>: Vücut ısının normal değerinin altına düşmesi</a:t>
            </a:r>
            <a:endParaRPr lang="en-US" sz="1400" dirty="0"/>
          </a:p>
        </p:txBody>
      </p:sp>
      <p:sp>
        <p:nvSpPr>
          <p:cNvPr id="14" name="Shape 12"/>
          <p:cNvSpPr/>
          <p:nvPr/>
        </p:nvSpPr>
        <p:spPr>
          <a:xfrm>
            <a:off x="850392" y="4001353"/>
            <a:ext cx="64008" cy="64008"/>
          </a:xfrm>
          <a:prstGeom prst="ellipse">
            <a:avLst/>
          </a:prstGeom>
          <a:solidFill>
            <a:srgbClr val="0F766E"/>
          </a:solidFill>
          <a:ln/>
        </p:spPr>
      </p:sp>
      <p:sp>
        <p:nvSpPr>
          <p:cNvPr id="15" name="Text 13"/>
          <p:cNvSpPr txBox="1"/>
          <p:nvPr/>
        </p:nvSpPr>
        <p:spPr>
          <a:xfrm>
            <a:off x="1005840" y="392760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hypoxemia (hipoksemi)</a:t>
            </a:r>
            <a:r>
              <a:rPr lang="en-US" sz="1400" dirty="0">
                <a:solidFill>
                  <a:srgbClr val="4B5563"/>
                </a:solidFill>
                <a:latin typeface="Calibri" pitchFamily="34" charset="0"/>
                <a:ea typeface="Calibri" pitchFamily="34" charset="-122"/>
                <a:cs typeface="Calibri" pitchFamily="34" charset="-120"/>
              </a:rPr>
              <a:t>: Kandaki oksijen azlığı</a:t>
            </a:r>
            <a:endParaRPr lang="en-US" sz="1400" dirty="0"/>
          </a:p>
        </p:txBody>
      </p:sp>
      <p:sp>
        <p:nvSpPr>
          <p:cNvPr id="16" name="Shape 14"/>
          <p:cNvSpPr/>
          <p:nvPr/>
        </p:nvSpPr>
        <p:spPr>
          <a:xfrm>
            <a:off x="548640" y="4409694"/>
            <a:ext cx="5410048" cy="1899666"/>
          </a:xfrm>
          <a:prstGeom prst="roundRect">
            <a:avLst>
              <a:gd name="adj" fmla="val 3369"/>
            </a:avLst>
          </a:prstGeom>
          <a:solidFill>
            <a:srgbClr val="EAF6F4"/>
          </a:solidFill>
          <a:ln/>
        </p:spPr>
      </p:sp>
      <p:sp>
        <p:nvSpPr>
          <p:cNvPr id="17" name="Text 15"/>
          <p:cNvSpPr txBox="1"/>
          <p:nvPr/>
        </p:nvSpPr>
        <p:spPr>
          <a:xfrm>
            <a:off x="731520" y="447370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3-b)  </a:t>
            </a:r>
            <a:endParaRPr lang="en-US" sz="1500" dirty="0"/>
          </a:p>
        </p:txBody>
      </p:sp>
      <p:sp>
        <p:nvSpPr>
          <p:cNvPr id="18" name="Shape 16"/>
          <p:cNvSpPr/>
          <p:nvPr/>
        </p:nvSpPr>
        <p:spPr>
          <a:xfrm>
            <a:off x="850392" y="4798151"/>
            <a:ext cx="64008" cy="64008"/>
          </a:xfrm>
          <a:prstGeom prst="ellipse">
            <a:avLst/>
          </a:prstGeom>
          <a:solidFill>
            <a:srgbClr val="0F766E"/>
          </a:solidFill>
          <a:ln/>
        </p:spPr>
      </p:sp>
      <p:sp>
        <p:nvSpPr>
          <p:cNvPr id="19" name="Text 17"/>
          <p:cNvSpPr txBox="1"/>
          <p:nvPr/>
        </p:nvSpPr>
        <p:spPr>
          <a:xfrm>
            <a:off x="1005840" y="472440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olig-, oligo- (G) (olig-, oligo-)</a:t>
            </a:r>
            <a:r>
              <a:rPr lang="en-US" sz="1400" dirty="0">
                <a:solidFill>
                  <a:srgbClr val="4B5563"/>
                </a:solidFill>
                <a:latin typeface="Calibri" pitchFamily="34" charset="0"/>
                <a:ea typeface="Calibri" pitchFamily="34" charset="-122"/>
                <a:cs typeface="Calibri" pitchFamily="34" charset="-120"/>
              </a:rPr>
              <a:t>: Az, seyrek, yetersiz miktarda</a:t>
            </a:r>
            <a:endParaRPr lang="en-US" sz="1400" dirty="0"/>
          </a:p>
        </p:txBody>
      </p:sp>
      <p:sp>
        <p:nvSpPr>
          <p:cNvPr id="20" name="Shape 18"/>
          <p:cNvSpPr/>
          <p:nvPr/>
        </p:nvSpPr>
        <p:spPr>
          <a:xfrm>
            <a:off x="850392" y="5268559"/>
            <a:ext cx="64008" cy="64008"/>
          </a:xfrm>
          <a:prstGeom prst="ellipse">
            <a:avLst/>
          </a:prstGeom>
          <a:solidFill>
            <a:srgbClr val="0F766E"/>
          </a:solidFill>
          <a:ln/>
        </p:spPr>
      </p:sp>
      <p:sp>
        <p:nvSpPr>
          <p:cNvPr id="21" name="Text 19"/>
          <p:cNvSpPr txBox="1"/>
          <p:nvPr/>
        </p:nvSpPr>
        <p:spPr>
          <a:xfrm>
            <a:off x="1005840" y="51948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oliguria (oliguri)</a:t>
            </a:r>
            <a:r>
              <a:rPr lang="en-US" sz="1400" dirty="0">
                <a:solidFill>
                  <a:srgbClr val="4B5563"/>
                </a:solidFill>
                <a:latin typeface="Calibri" pitchFamily="34" charset="0"/>
                <a:ea typeface="Calibri" pitchFamily="34" charset="-122"/>
                <a:cs typeface="Calibri" pitchFamily="34" charset="-120"/>
              </a:rPr>
              <a:t>: İdrar miktarının az olması</a:t>
            </a:r>
            <a:endParaRPr lang="en-US" sz="1400" dirty="0"/>
          </a:p>
        </p:txBody>
      </p:sp>
      <p:sp>
        <p:nvSpPr>
          <p:cNvPr id="22" name="Shape 20"/>
          <p:cNvSpPr/>
          <p:nvPr/>
        </p:nvSpPr>
        <p:spPr>
          <a:xfrm>
            <a:off x="850392" y="5522051"/>
            <a:ext cx="64008" cy="64008"/>
          </a:xfrm>
          <a:prstGeom prst="ellipse">
            <a:avLst/>
          </a:prstGeom>
          <a:solidFill>
            <a:srgbClr val="0F766E"/>
          </a:solidFill>
          <a:ln/>
        </p:spPr>
      </p:sp>
      <p:sp>
        <p:nvSpPr>
          <p:cNvPr id="23" name="Text 21"/>
          <p:cNvSpPr txBox="1"/>
          <p:nvPr/>
        </p:nvSpPr>
        <p:spPr>
          <a:xfrm>
            <a:off x="1005840"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oligomenorrhea (oligomenore)</a:t>
            </a:r>
            <a:r>
              <a:rPr lang="en-US" sz="1400" dirty="0">
                <a:solidFill>
                  <a:srgbClr val="4B5563"/>
                </a:solidFill>
                <a:latin typeface="Calibri" pitchFamily="34" charset="0"/>
                <a:ea typeface="Calibri" pitchFamily="34" charset="-122"/>
                <a:cs typeface="Calibri" pitchFamily="34" charset="-120"/>
              </a:rPr>
              <a:t>: Seyrek adet görme</a:t>
            </a:r>
            <a:endParaRPr lang="en-US" sz="1400" dirty="0"/>
          </a:p>
        </p:txBody>
      </p:sp>
      <p:sp>
        <p:nvSpPr>
          <p:cNvPr id="24" name="Shape 22"/>
          <p:cNvSpPr/>
          <p:nvPr/>
        </p:nvSpPr>
        <p:spPr>
          <a:xfrm>
            <a:off x="850392" y="5775543"/>
            <a:ext cx="64008" cy="64008"/>
          </a:xfrm>
          <a:prstGeom prst="ellipse">
            <a:avLst/>
          </a:prstGeom>
          <a:solidFill>
            <a:srgbClr val="0F766E"/>
          </a:solidFill>
          <a:ln/>
        </p:spPr>
      </p:sp>
      <p:sp>
        <p:nvSpPr>
          <p:cNvPr id="25" name="Text 23"/>
          <p:cNvSpPr txBox="1"/>
          <p:nvPr/>
        </p:nvSpPr>
        <p:spPr>
          <a:xfrm>
            <a:off x="1005840" y="570179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oligospermia (oligospermi)</a:t>
            </a:r>
            <a:r>
              <a:rPr lang="en-US" sz="1400" dirty="0">
                <a:solidFill>
                  <a:srgbClr val="4B5563"/>
                </a:solidFill>
                <a:latin typeface="Calibri" pitchFamily="34" charset="0"/>
                <a:ea typeface="Calibri" pitchFamily="34" charset="-122"/>
                <a:cs typeface="Calibri" pitchFamily="34" charset="-120"/>
              </a:rPr>
              <a:t>: Spermada normalden az sperm olması</a:t>
            </a:r>
            <a:endParaRPr lang="en-US" sz="1400" dirty="0"/>
          </a:p>
        </p:txBody>
      </p:sp>
      <p:sp>
        <p:nvSpPr>
          <p:cNvPr id="26" name="Shape 24"/>
          <p:cNvSpPr/>
          <p:nvPr/>
        </p:nvSpPr>
        <p:spPr>
          <a:xfrm>
            <a:off x="6233008" y="2635504"/>
            <a:ext cx="5410048" cy="1899666"/>
          </a:xfrm>
          <a:prstGeom prst="roundRect">
            <a:avLst>
              <a:gd name="adj" fmla="val 3369"/>
            </a:avLst>
          </a:prstGeom>
          <a:solidFill>
            <a:srgbClr val="EAF6F4"/>
          </a:solidFill>
          <a:ln/>
        </p:spPr>
      </p:sp>
      <p:sp>
        <p:nvSpPr>
          <p:cNvPr id="27" name="Text 25"/>
          <p:cNvSpPr txBox="1"/>
          <p:nvPr/>
        </p:nvSpPr>
        <p:spPr>
          <a:xfrm>
            <a:off x="6415888" y="269951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3-c)  </a:t>
            </a:r>
            <a:endParaRPr lang="en-US" sz="1500" dirty="0"/>
          </a:p>
        </p:txBody>
      </p:sp>
      <p:sp>
        <p:nvSpPr>
          <p:cNvPr id="28" name="Shape 26"/>
          <p:cNvSpPr/>
          <p:nvPr/>
        </p:nvSpPr>
        <p:spPr>
          <a:xfrm>
            <a:off x="6534760" y="3023961"/>
            <a:ext cx="64008" cy="64008"/>
          </a:xfrm>
          <a:prstGeom prst="ellipse">
            <a:avLst/>
          </a:prstGeom>
          <a:solidFill>
            <a:srgbClr val="0F766E"/>
          </a:solidFill>
          <a:ln/>
        </p:spPr>
      </p:sp>
      <p:sp>
        <p:nvSpPr>
          <p:cNvPr id="29" name="Text 27"/>
          <p:cNvSpPr txBox="1"/>
          <p:nvPr/>
        </p:nvSpPr>
        <p:spPr>
          <a:xfrm>
            <a:off x="6690208" y="29502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infra- (L) (infra-)</a:t>
            </a:r>
            <a:r>
              <a:rPr lang="en-US" sz="1400" dirty="0">
                <a:solidFill>
                  <a:srgbClr val="4B5563"/>
                </a:solidFill>
                <a:latin typeface="Calibri" pitchFamily="34" charset="0"/>
                <a:ea typeface="Calibri" pitchFamily="34" charset="-122"/>
                <a:cs typeface="Calibri" pitchFamily="34" charset="-120"/>
              </a:rPr>
              <a:t>: Alt, altında</a:t>
            </a:r>
            <a:endParaRPr lang="en-US" sz="1400" dirty="0"/>
          </a:p>
        </p:txBody>
      </p:sp>
      <p:sp>
        <p:nvSpPr>
          <p:cNvPr id="30" name="Shape 28"/>
          <p:cNvSpPr/>
          <p:nvPr/>
        </p:nvSpPr>
        <p:spPr>
          <a:xfrm>
            <a:off x="6534760" y="3277453"/>
            <a:ext cx="64008" cy="64008"/>
          </a:xfrm>
          <a:prstGeom prst="ellipse">
            <a:avLst/>
          </a:prstGeom>
          <a:solidFill>
            <a:srgbClr val="0F766E"/>
          </a:solidFill>
          <a:ln/>
        </p:spPr>
      </p:sp>
      <p:sp>
        <p:nvSpPr>
          <p:cNvPr id="31" name="Text 29"/>
          <p:cNvSpPr txBox="1"/>
          <p:nvPr/>
        </p:nvSpPr>
        <p:spPr>
          <a:xfrm>
            <a:off x="6690208" y="320370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infratemporalis (infratemporalis)</a:t>
            </a:r>
            <a:r>
              <a:rPr lang="en-US" sz="1400" dirty="0">
                <a:solidFill>
                  <a:srgbClr val="4B5563"/>
                </a:solidFill>
                <a:latin typeface="Calibri" pitchFamily="34" charset="0"/>
                <a:ea typeface="Calibri" pitchFamily="34" charset="-122"/>
                <a:cs typeface="Calibri" pitchFamily="34" charset="-120"/>
              </a:rPr>
              <a:t>: Şakak kemiğinin altında olan</a:t>
            </a:r>
            <a:endParaRPr lang="en-US" sz="1400" dirty="0"/>
          </a:p>
        </p:txBody>
      </p:sp>
      <p:sp>
        <p:nvSpPr>
          <p:cNvPr id="32" name="Shape 30"/>
          <p:cNvSpPr/>
          <p:nvPr/>
        </p:nvSpPr>
        <p:spPr>
          <a:xfrm>
            <a:off x="6534760" y="3747861"/>
            <a:ext cx="64008" cy="64008"/>
          </a:xfrm>
          <a:prstGeom prst="ellipse">
            <a:avLst/>
          </a:prstGeom>
          <a:solidFill>
            <a:srgbClr val="0F766E"/>
          </a:solidFill>
          <a:ln/>
        </p:spPr>
      </p:sp>
      <p:sp>
        <p:nvSpPr>
          <p:cNvPr id="33" name="Text 31"/>
          <p:cNvSpPr txBox="1"/>
          <p:nvPr/>
        </p:nvSpPr>
        <p:spPr>
          <a:xfrm>
            <a:off x="6690208" y="36741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infracardiacus (infrakardiyakus)</a:t>
            </a:r>
            <a:r>
              <a:rPr lang="en-US" sz="1400" dirty="0">
                <a:solidFill>
                  <a:srgbClr val="4B5563"/>
                </a:solidFill>
                <a:latin typeface="Calibri" pitchFamily="34" charset="0"/>
                <a:ea typeface="Calibri" pitchFamily="34" charset="-122"/>
                <a:cs typeface="Calibri" pitchFamily="34" charset="-120"/>
              </a:rPr>
              <a:t>: Kalp altı</a:t>
            </a:r>
            <a:endParaRPr lang="en-US" sz="1400" dirty="0"/>
          </a:p>
        </p:txBody>
      </p:sp>
      <p:sp>
        <p:nvSpPr>
          <p:cNvPr id="34" name="Shape 32"/>
          <p:cNvSpPr/>
          <p:nvPr/>
        </p:nvSpPr>
        <p:spPr>
          <a:xfrm>
            <a:off x="6534760" y="4001353"/>
            <a:ext cx="64008" cy="64008"/>
          </a:xfrm>
          <a:prstGeom prst="ellipse">
            <a:avLst/>
          </a:prstGeom>
          <a:solidFill>
            <a:srgbClr val="0F766E"/>
          </a:solidFill>
          <a:ln/>
        </p:spPr>
      </p:sp>
      <p:sp>
        <p:nvSpPr>
          <p:cNvPr id="35" name="Text 33"/>
          <p:cNvSpPr txBox="1"/>
          <p:nvPr/>
        </p:nvSpPr>
        <p:spPr>
          <a:xfrm>
            <a:off x="6690208" y="392760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infrasternalis (infrasternalis)</a:t>
            </a:r>
            <a:r>
              <a:rPr lang="en-US" sz="1400" dirty="0">
                <a:solidFill>
                  <a:srgbClr val="4B5563"/>
                </a:solidFill>
                <a:latin typeface="Calibri" pitchFamily="34" charset="0"/>
                <a:ea typeface="Calibri" pitchFamily="34" charset="-122"/>
                <a:cs typeface="Calibri" pitchFamily="34" charset="-120"/>
              </a:rPr>
              <a:t>: Göğüs kemiğinin altında olan</a:t>
            </a:r>
            <a:endParaRPr lang="en-US" sz="1400" dirty="0"/>
          </a:p>
        </p:txBody>
      </p:sp>
      <p:sp>
        <p:nvSpPr>
          <p:cNvPr id="36" name="Shape 34"/>
          <p:cNvSpPr/>
          <p:nvPr/>
        </p:nvSpPr>
        <p:spPr>
          <a:xfrm>
            <a:off x="6233008" y="4626610"/>
            <a:ext cx="5410048" cy="1465834"/>
          </a:xfrm>
          <a:prstGeom prst="roundRect">
            <a:avLst>
              <a:gd name="adj" fmla="val 4367"/>
            </a:avLst>
          </a:prstGeom>
          <a:solidFill>
            <a:srgbClr val="EAF6F4"/>
          </a:solidFill>
          <a:ln/>
        </p:spPr>
      </p:sp>
      <p:sp>
        <p:nvSpPr>
          <p:cNvPr id="37" name="Text 35"/>
          <p:cNvSpPr txBox="1"/>
          <p:nvPr/>
        </p:nvSpPr>
        <p:spPr>
          <a:xfrm>
            <a:off x="6415888" y="469061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3-d)  </a:t>
            </a:r>
            <a:endParaRPr lang="en-US" sz="1500" dirty="0"/>
          </a:p>
        </p:txBody>
      </p:sp>
      <p:sp>
        <p:nvSpPr>
          <p:cNvPr id="38" name="Shape 36"/>
          <p:cNvSpPr/>
          <p:nvPr/>
        </p:nvSpPr>
        <p:spPr>
          <a:xfrm>
            <a:off x="6534760" y="5015067"/>
            <a:ext cx="64008" cy="64008"/>
          </a:xfrm>
          <a:prstGeom prst="ellipse">
            <a:avLst/>
          </a:prstGeom>
          <a:solidFill>
            <a:srgbClr val="0F766E"/>
          </a:solidFill>
          <a:ln/>
        </p:spPr>
      </p:sp>
      <p:sp>
        <p:nvSpPr>
          <p:cNvPr id="39" name="Text 37"/>
          <p:cNvSpPr txBox="1"/>
          <p:nvPr/>
        </p:nvSpPr>
        <p:spPr>
          <a:xfrm>
            <a:off x="6690208" y="49413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sub- (L) (sub-)</a:t>
            </a:r>
            <a:r>
              <a:rPr lang="en-US" sz="1400" dirty="0">
                <a:solidFill>
                  <a:srgbClr val="4B5563"/>
                </a:solidFill>
                <a:latin typeface="Calibri" pitchFamily="34" charset="0"/>
                <a:ea typeface="Calibri" pitchFamily="34" charset="-122"/>
                <a:cs typeface="Calibri" pitchFamily="34" charset="-120"/>
              </a:rPr>
              <a:t>: Alt, altında</a:t>
            </a:r>
            <a:endParaRPr lang="en-US" sz="1400" dirty="0"/>
          </a:p>
        </p:txBody>
      </p:sp>
      <p:sp>
        <p:nvSpPr>
          <p:cNvPr id="40" name="Shape 38"/>
          <p:cNvSpPr/>
          <p:nvPr/>
        </p:nvSpPr>
        <p:spPr>
          <a:xfrm>
            <a:off x="6534760" y="5268559"/>
            <a:ext cx="64008" cy="64008"/>
          </a:xfrm>
          <a:prstGeom prst="ellipse">
            <a:avLst/>
          </a:prstGeom>
          <a:solidFill>
            <a:srgbClr val="0F766E"/>
          </a:solidFill>
          <a:ln/>
        </p:spPr>
      </p:sp>
      <p:sp>
        <p:nvSpPr>
          <p:cNvPr id="41" name="Text 39"/>
          <p:cNvSpPr txBox="1"/>
          <p:nvPr/>
        </p:nvSpPr>
        <p:spPr>
          <a:xfrm>
            <a:off x="6690208" y="51948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sublingualis (sublingualis)</a:t>
            </a:r>
            <a:r>
              <a:rPr lang="en-US" sz="1400" dirty="0">
                <a:solidFill>
                  <a:srgbClr val="4B5563"/>
                </a:solidFill>
                <a:latin typeface="Calibri" pitchFamily="34" charset="0"/>
                <a:ea typeface="Calibri" pitchFamily="34" charset="-122"/>
                <a:cs typeface="Calibri" pitchFamily="34" charset="-120"/>
              </a:rPr>
              <a:t>: Dil altıyla ilgli</a:t>
            </a:r>
            <a:endParaRPr lang="en-US" sz="1400" dirty="0"/>
          </a:p>
        </p:txBody>
      </p:sp>
      <p:sp>
        <p:nvSpPr>
          <p:cNvPr id="42" name="Shape 40"/>
          <p:cNvSpPr/>
          <p:nvPr/>
        </p:nvSpPr>
        <p:spPr>
          <a:xfrm>
            <a:off x="6534760" y="5522051"/>
            <a:ext cx="64008" cy="64008"/>
          </a:xfrm>
          <a:prstGeom prst="ellipse">
            <a:avLst/>
          </a:prstGeom>
          <a:solidFill>
            <a:srgbClr val="0F766E"/>
          </a:solidFill>
          <a:ln/>
        </p:spPr>
      </p:sp>
      <p:sp>
        <p:nvSpPr>
          <p:cNvPr id="43" name="Text 41"/>
          <p:cNvSpPr txBox="1"/>
          <p:nvPr/>
        </p:nvSpPr>
        <p:spPr>
          <a:xfrm>
            <a:off x="6690208" y="544830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subcutaneus (subkutanöz)</a:t>
            </a:r>
            <a:r>
              <a:rPr lang="en-US" sz="1400" dirty="0">
                <a:solidFill>
                  <a:srgbClr val="4B5563"/>
                </a:solidFill>
                <a:latin typeface="Calibri" pitchFamily="34" charset="0"/>
                <a:ea typeface="Calibri" pitchFamily="34" charset="-122"/>
                <a:cs typeface="Calibri" pitchFamily="34" charset="-120"/>
              </a:rPr>
              <a:t>: Seri altı</a:t>
            </a:r>
            <a:endParaRPr lang="en-US" sz="1400" dirty="0"/>
          </a:p>
        </p:txBody>
      </p:sp>
      <p:sp>
        <p:nvSpPr>
          <p:cNvPr id="44" name="Shape 42"/>
          <p:cNvSpPr/>
          <p:nvPr/>
        </p:nvSpPr>
        <p:spPr>
          <a:xfrm>
            <a:off x="6534760" y="5775543"/>
            <a:ext cx="64008" cy="64008"/>
          </a:xfrm>
          <a:prstGeom prst="ellipse">
            <a:avLst/>
          </a:prstGeom>
          <a:solidFill>
            <a:srgbClr val="0F766E"/>
          </a:solidFill>
          <a:ln/>
        </p:spPr>
      </p:sp>
      <p:sp>
        <p:nvSpPr>
          <p:cNvPr id="45" name="Text 43"/>
          <p:cNvSpPr txBox="1"/>
          <p:nvPr/>
        </p:nvSpPr>
        <p:spPr>
          <a:xfrm>
            <a:off x="6690208" y="57017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subcostalis (subkostalis)</a:t>
            </a:r>
            <a:r>
              <a:rPr lang="en-US" sz="1400" dirty="0">
                <a:solidFill>
                  <a:srgbClr val="4B5563"/>
                </a:solidFill>
                <a:latin typeface="Calibri" pitchFamily="34" charset="0"/>
                <a:ea typeface="Calibri" pitchFamily="34" charset="-122"/>
                <a:cs typeface="Calibri" pitchFamily="34" charset="-120"/>
              </a:rPr>
              <a:t>: Kaburga altı</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Orta, Ortasında, Arasında Anlamı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63</a:t>
            </a:r>
            <a:endParaRPr lang="en-US" sz="1000" dirty="0"/>
          </a:p>
        </p:txBody>
      </p:sp>
      <p:sp>
        <p:nvSpPr>
          <p:cNvPr id="6" name="Shape 4"/>
          <p:cNvSpPr/>
          <p:nvPr/>
        </p:nvSpPr>
        <p:spPr>
          <a:xfrm>
            <a:off x="548640" y="2858008"/>
            <a:ext cx="11094415" cy="1698244"/>
          </a:xfrm>
          <a:prstGeom prst="roundRect">
            <a:avLst>
              <a:gd name="adj" fmla="val 3769"/>
            </a:avLst>
          </a:prstGeom>
          <a:solidFill>
            <a:srgbClr val="EAF6F4"/>
          </a:solidFill>
          <a:ln/>
        </p:spPr>
      </p:sp>
      <p:sp>
        <p:nvSpPr>
          <p:cNvPr id="7" name="Text 5"/>
          <p:cNvSpPr txBox="1"/>
          <p:nvPr/>
        </p:nvSpPr>
        <p:spPr>
          <a:xfrm>
            <a:off x="731520" y="2922016"/>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  </a:t>
            </a:r>
            <a:endParaRPr lang="en-US" sz="1800" dirty="0"/>
          </a:p>
        </p:txBody>
      </p:sp>
      <p:sp>
        <p:nvSpPr>
          <p:cNvPr id="8" name="Shape 6"/>
          <p:cNvSpPr/>
          <p:nvPr/>
        </p:nvSpPr>
        <p:spPr>
          <a:xfrm>
            <a:off x="850392" y="3308751"/>
            <a:ext cx="64008" cy="64008"/>
          </a:xfrm>
          <a:prstGeom prst="ellipse">
            <a:avLst/>
          </a:prstGeom>
          <a:solidFill>
            <a:srgbClr val="0F766E"/>
          </a:solidFill>
          <a:ln/>
        </p:spPr>
      </p:sp>
      <p:sp>
        <p:nvSpPr>
          <p:cNvPr id="9" name="Text 7"/>
          <p:cNvSpPr txBox="1"/>
          <p:nvPr/>
        </p:nvSpPr>
        <p:spPr>
          <a:xfrm>
            <a:off x="1005840" y="321919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inter- (L) (inter-)</a:t>
            </a:r>
            <a:r>
              <a:rPr lang="en-US" sz="1700" dirty="0">
                <a:solidFill>
                  <a:srgbClr val="4B5563"/>
                </a:solidFill>
                <a:latin typeface="Calibri" pitchFamily="34" charset="0"/>
                <a:ea typeface="Calibri" pitchFamily="34" charset="-122"/>
                <a:cs typeface="Calibri" pitchFamily="34" charset="-120"/>
              </a:rPr>
              <a:t>: Arasında</a:t>
            </a:r>
            <a:endParaRPr lang="en-US" sz="1700" dirty="0"/>
          </a:p>
        </p:txBody>
      </p:sp>
      <p:sp>
        <p:nvSpPr>
          <p:cNvPr id="10" name="Shape 8"/>
          <p:cNvSpPr/>
          <p:nvPr/>
        </p:nvSpPr>
        <p:spPr>
          <a:xfrm>
            <a:off x="850392" y="3608725"/>
            <a:ext cx="64008" cy="64008"/>
          </a:xfrm>
          <a:prstGeom prst="ellipse">
            <a:avLst/>
          </a:prstGeom>
          <a:solidFill>
            <a:srgbClr val="0F766E"/>
          </a:solidFill>
          <a:ln/>
        </p:spPr>
      </p:sp>
      <p:sp>
        <p:nvSpPr>
          <p:cNvPr id="11" name="Text 9"/>
          <p:cNvSpPr txBox="1"/>
          <p:nvPr/>
        </p:nvSpPr>
        <p:spPr>
          <a:xfrm>
            <a:off x="1005840" y="351917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intervertebralis (intervertebral)</a:t>
            </a:r>
            <a:r>
              <a:rPr lang="en-US" sz="1700" dirty="0">
                <a:solidFill>
                  <a:srgbClr val="4B5563"/>
                </a:solidFill>
                <a:latin typeface="Calibri" pitchFamily="34" charset="0"/>
                <a:ea typeface="Calibri" pitchFamily="34" charset="-122"/>
                <a:cs typeface="Calibri" pitchFamily="34" charset="-120"/>
              </a:rPr>
              <a:t>: Omurlar arası</a:t>
            </a:r>
            <a:endParaRPr lang="en-US" sz="1700" dirty="0"/>
          </a:p>
        </p:txBody>
      </p:sp>
      <p:sp>
        <p:nvSpPr>
          <p:cNvPr id="12" name="Shape 10"/>
          <p:cNvSpPr/>
          <p:nvPr/>
        </p:nvSpPr>
        <p:spPr>
          <a:xfrm>
            <a:off x="850392" y="3908699"/>
            <a:ext cx="64008" cy="64008"/>
          </a:xfrm>
          <a:prstGeom prst="ellipse">
            <a:avLst/>
          </a:prstGeom>
          <a:solidFill>
            <a:srgbClr val="0F766E"/>
          </a:solidFill>
          <a:ln/>
        </p:spPr>
      </p:sp>
      <p:sp>
        <p:nvSpPr>
          <p:cNvPr id="13" name="Text 11"/>
          <p:cNvSpPr txBox="1"/>
          <p:nvPr/>
        </p:nvSpPr>
        <p:spPr>
          <a:xfrm>
            <a:off x="1005840" y="381914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intercelluraris (interselular)</a:t>
            </a:r>
            <a:r>
              <a:rPr lang="en-US" sz="1700" dirty="0">
                <a:solidFill>
                  <a:srgbClr val="4B5563"/>
                </a:solidFill>
                <a:latin typeface="Calibri" pitchFamily="34" charset="0"/>
                <a:ea typeface="Calibri" pitchFamily="34" charset="-122"/>
                <a:cs typeface="Calibri" pitchFamily="34" charset="-120"/>
              </a:rPr>
              <a:t>: Hücreler arası</a:t>
            </a:r>
            <a:endParaRPr lang="en-US" sz="1700" dirty="0"/>
          </a:p>
        </p:txBody>
      </p:sp>
      <p:sp>
        <p:nvSpPr>
          <p:cNvPr id="14" name="Shape 12"/>
          <p:cNvSpPr/>
          <p:nvPr/>
        </p:nvSpPr>
        <p:spPr>
          <a:xfrm>
            <a:off x="850392" y="4208673"/>
            <a:ext cx="64008" cy="64008"/>
          </a:xfrm>
          <a:prstGeom prst="ellipse">
            <a:avLst/>
          </a:prstGeom>
          <a:solidFill>
            <a:srgbClr val="0F766E"/>
          </a:solidFill>
          <a:ln/>
        </p:spPr>
      </p:sp>
      <p:sp>
        <p:nvSpPr>
          <p:cNvPr id="15" name="Text 13"/>
          <p:cNvSpPr txBox="1"/>
          <p:nvPr/>
        </p:nvSpPr>
        <p:spPr>
          <a:xfrm>
            <a:off x="1005840" y="411911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intercostalis (interkostalis)</a:t>
            </a:r>
            <a:r>
              <a:rPr lang="en-US" sz="1700" dirty="0">
                <a:solidFill>
                  <a:srgbClr val="4B5563"/>
                </a:solidFill>
                <a:latin typeface="Calibri" pitchFamily="34" charset="0"/>
                <a:ea typeface="Calibri" pitchFamily="34" charset="-122"/>
                <a:cs typeface="Calibri" pitchFamily="34" charset="-120"/>
              </a:rPr>
              <a:t>: Kaburgalar arası</a:t>
            </a:r>
            <a:endParaRPr lang="en-US" sz="1700" dirty="0"/>
          </a:p>
        </p:txBody>
      </p:sp>
      <p:sp>
        <p:nvSpPr>
          <p:cNvPr id="16" name="Shape 14"/>
          <p:cNvSpPr/>
          <p:nvPr/>
        </p:nvSpPr>
        <p:spPr>
          <a:xfrm>
            <a:off x="548640" y="4647692"/>
            <a:ext cx="11094415" cy="1661668"/>
          </a:xfrm>
          <a:prstGeom prst="roundRect">
            <a:avLst>
              <a:gd name="adj" fmla="val 3852"/>
            </a:avLst>
          </a:prstGeom>
          <a:solidFill>
            <a:srgbClr val="EAF6F4"/>
          </a:solidFill>
          <a:ln/>
        </p:spPr>
      </p:sp>
      <p:sp>
        <p:nvSpPr>
          <p:cNvPr id="17" name="Text 15"/>
          <p:cNvSpPr txBox="1"/>
          <p:nvPr/>
        </p:nvSpPr>
        <p:spPr>
          <a:xfrm>
            <a:off x="731520" y="471170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2-  </a:t>
            </a:r>
            <a:endParaRPr lang="en-US" sz="1800" dirty="0"/>
          </a:p>
        </p:txBody>
      </p:sp>
      <p:sp>
        <p:nvSpPr>
          <p:cNvPr id="18" name="Shape 16"/>
          <p:cNvSpPr/>
          <p:nvPr/>
        </p:nvSpPr>
        <p:spPr>
          <a:xfrm>
            <a:off x="850392" y="5098435"/>
            <a:ext cx="64008" cy="64008"/>
          </a:xfrm>
          <a:prstGeom prst="ellipse">
            <a:avLst/>
          </a:prstGeom>
          <a:solidFill>
            <a:srgbClr val="0F766E"/>
          </a:solidFill>
          <a:ln/>
        </p:spPr>
      </p:sp>
      <p:sp>
        <p:nvSpPr>
          <p:cNvPr id="19" name="Text 17"/>
          <p:cNvSpPr txBox="1"/>
          <p:nvPr/>
        </p:nvSpPr>
        <p:spPr>
          <a:xfrm>
            <a:off x="1005840" y="500888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meso- (G) (mezo-)</a:t>
            </a:r>
            <a:r>
              <a:rPr lang="en-US" sz="1700" dirty="0">
                <a:solidFill>
                  <a:srgbClr val="4B5563"/>
                </a:solidFill>
                <a:latin typeface="Calibri" pitchFamily="34" charset="0"/>
                <a:ea typeface="Calibri" pitchFamily="34" charset="-122"/>
                <a:cs typeface="Calibri" pitchFamily="34" charset="-120"/>
              </a:rPr>
              <a:t>: Arasında, ortada</a:t>
            </a:r>
            <a:endParaRPr lang="en-US" sz="1700" dirty="0"/>
          </a:p>
        </p:txBody>
      </p:sp>
      <p:sp>
        <p:nvSpPr>
          <p:cNvPr id="20" name="Shape 18"/>
          <p:cNvSpPr/>
          <p:nvPr/>
        </p:nvSpPr>
        <p:spPr>
          <a:xfrm>
            <a:off x="850392" y="5398409"/>
            <a:ext cx="64008" cy="64008"/>
          </a:xfrm>
          <a:prstGeom prst="ellipse">
            <a:avLst/>
          </a:prstGeom>
          <a:solidFill>
            <a:srgbClr val="0F766E"/>
          </a:solidFill>
          <a:ln/>
        </p:spPr>
      </p:sp>
      <p:sp>
        <p:nvSpPr>
          <p:cNvPr id="21" name="Text 19"/>
          <p:cNvSpPr txBox="1"/>
          <p:nvPr/>
        </p:nvSpPr>
        <p:spPr>
          <a:xfrm>
            <a:off x="1005840" y="5308854"/>
            <a:ext cx="10454335" cy="56337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mesoderma (mezoder)</a:t>
            </a:r>
            <a:r>
              <a:rPr lang="en-US" sz="1700" dirty="0">
                <a:solidFill>
                  <a:srgbClr val="4B5563"/>
                </a:solidFill>
                <a:latin typeface="Calibri" pitchFamily="34" charset="0"/>
                <a:ea typeface="Calibri" pitchFamily="34" charset="-122"/>
                <a:cs typeface="Calibri" pitchFamily="34" charset="-120"/>
              </a:rPr>
              <a:t>: Embriyogenez sırasında ortada olan hücre tabakası. Ektoderm ve endoderm tabakaları arasında oluşur.</a:t>
            </a:r>
            <a:endParaRPr lang="en-US" sz="1700" dirty="0"/>
          </a:p>
        </p:txBody>
      </p:sp>
      <p:sp>
        <p:nvSpPr>
          <p:cNvPr id="22" name="Shape 20"/>
          <p:cNvSpPr/>
          <p:nvPr/>
        </p:nvSpPr>
        <p:spPr>
          <a:xfrm>
            <a:off x="850392" y="5961781"/>
            <a:ext cx="64008" cy="64008"/>
          </a:xfrm>
          <a:prstGeom prst="ellipse">
            <a:avLst/>
          </a:prstGeom>
          <a:solidFill>
            <a:srgbClr val="0F766E"/>
          </a:solidFill>
          <a:ln/>
        </p:spPr>
      </p:sp>
      <p:sp>
        <p:nvSpPr>
          <p:cNvPr id="23" name="Text 21"/>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mesonephros (mezonefros)</a:t>
            </a:r>
            <a:r>
              <a:rPr lang="en-US" sz="1700" dirty="0">
                <a:solidFill>
                  <a:srgbClr val="4B5563"/>
                </a:solidFill>
                <a:latin typeface="Calibri" pitchFamily="34" charset="0"/>
                <a:ea typeface="Calibri" pitchFamily="34" charset="-122"/>
                <a:cs typeface="Calibri" pitchFamily="34" charset="-120"/>
              </a:rPr>
              <a:t>: Embriyonal yaşamda böbreğin ikinci oluşum evresi</a:t>
            </a:r>
            <a:endParaRPr lang="en-US" sz="17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Küçük ve Büyük Anlamı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64</a:t>
            </a:r>
            <a:endParaRPr lang="en-US" sz="1000" dirty="0"/>
          </a:p>
        </p:txBody>
      </p:sp>
      <p:sp>
        <p:nvSpPr>
          <p:cNvPr id="6" name="Shape 4"/>
          <p:cNvSpPr/>
          <p:nvPr/>
        </p:nvSpPr>
        <p:spPr>
          <a:xfrm>
            <a:off x="548640" y="1475486"/>
            <a:ext cx="11094415" cy="1719326"/>
          </a:xfrm>
          <a:prstGeom prst="roundRect">
            <a:avLst>
              <a:gd name="adj" fmla="val 3723"/>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micr-, micro- (G) (mikr-, mikro-)</a:t>
            </a:r>
            <a:r>
              <a:rPr lang="en-US" sz="1400" dirty="0">
                <a:solidFill>
                  <a:srgbClr val="4B5563"/>
                </a:solidFill>
                <a:latin typeface="Calibri" pitchFamily="34" charset="0"/>
                <a:ea typeface="Calibri" pitchFamily="34" charset="-122"/>
                <a:cs typeface="Calibri" pitchFamily="34" charset="-120"/>
              </a:rPr>
              <a:t>: Küçük, kısa</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micrencephaly (mikrensefali)</a:t>
            </a:r>
            <a:r>
              <a:rPr lang="en-US" sz="1400" dirty="0">
                <a:solidFill>
                  <a:srgbClr val="4B5563"/>
                </a:solidFill>
                <a:latin typeface="Calibri" pitchFamily="34" charset="0"/>
                <a:ea typeface="Calibri" pitchFamily="34" charset="-122"/>
                <a:cs typeface="Calibri" pitchFamily="34" charset="-120"/>
              </a:rPr>
              <a:t>: Beynin küçük ve tam gelişmemiş olması</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microcytus (mikrosit)</a:t>
            </a:r>
            <a:r>
              <a:rPr lang="en-US" sz="1400" dirty="0">
                <a:solidFill>
                  <a:srgbClr val="4B5563"/>
                </a:solidFill>
                <a:latin typeface="Calibri" pitchFamily="34" charset="0"/>
                <a:ea typeface="Calibri" pitchFamily="34" charset="-122"/>
                <a:cs typeface="Calibri" pitchFamily="34" charset="-120"/>
              </a:rPr>
              <a:t>: Hücrelerin normale oranla küçük olması</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microscope (mikroskop)</a:t>
            </a:r>
            <a:r>
              <a:rPr lang="en-US" sz="1400" dirty="0">
                <a:solidFill>
                  <a:srgbClr val="4B5563"/>
                </a:solidFill>
                <a:latin typeface="Calibri" pitchFamily="34" charset="0"/>
                <a:ea typeface="Calibri" pitchFamily="34" charset="-122"/>
                <a:cs typeface="Calibri" pitchFamily="34" charset="-120"/>
              </a:rPr>
              <a:t>: Çok küçük cisimleri incelemeye yarayan cihaz</a:t>
            </a:r>
            <a:endParaRPr lang="en-US" sz="1400" dirty="0"/>
          </a:p>
        </p:txBody>
      </p:sp>
      <p:sp>
        <p:nvSpPr>
          <p:cNvPr id="16" name="Shape 14"/>
          <p:cNvSpPr/>
          <p:nvPr/>
        </p:nvSpPr>
        <p:spPr>
          <a:xfrm>
            <a:off x="850392" y="2877911"/>
            <a:ext cx="64008" cy="64008"/>
          </a:xfrm>
          <a:prstGeom prst="ellipse">
            <a:avLst/>
          </a:prstGeom>
          <a:solidFill>
            <a:srgbClr val="0F766E"/>
          </a:solidFill>
          <a:ln/>
        </p:spPr>
      </p:sp>
      <p:sp>
        <p:nvSpPr>
          <p:cNvPr id="17" name="Text 15"/>
          <p:cNvSpPr txBox="1"/>
          <p:nvPr/>
        </p:nvSpPr>
        <p:spPr>
          <a:xfrm>
            <a:off x="1005840" y="28041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micromelia (mikromeli)</a:t>
            </a:r>
            <a:r>
              <a:rPr lang="en-US" sz="1400" dirty="0">
                <a:solidFill>
                  <a:srgbClr val="4B5563"/>
                </a:solidFill>
                <a:latin typeface="Calibri" pitchFamily="34" charset="0"/>
                <a:ea typeface="Calibri" pitchFamily="34" charset="-122"/>
                <a:cs typeface="Calibri" pitchFamily="34" charset="-120"/>
              </a:rPr>
              <a:t>: El ve ayakların normalden daha kısa, küçük olması</a:t>
            </a:r>
            <a:endParaRPr lang="en-US" sz="1400" dirty="0"/>
          </a:p>
        </p:txBody>
      </p:sp>
      <p:sp>
        <p:nvSpPr>
          <p:cNvPr id="18" name="Shape 16"/>
          <p:cNvSpPr/>
          <p:nvPr/>
        </p:nvSpPr>
        <p:spPr>
          <a:xfrm>
            <a:off x="548640" y="3286252"/>
            <a:ext cx="11094415" cy="1465834"/>
          </a:xfrm>
          <a:prstGeom prst="roundRect">
            <a:avLst>
              <a:gd name="adj" fmla="val 4367"/>
            </a:avLst>
          </a:prstGeom>
          <a:solidFill>
            <a:srgbClr val="EAF6F4"/>
          </a:solidFill>
          <a:ln/>
        </p:spPr>
      </p:sp>
      <p:sp>
        <p:nvSpPr>
          <p:cNvPr id="19" name="Text 17"/>
          <p:cNvSpPr txBox="1"/>
          <p:nvPr/>
        </p:nvSpPr>
        <p:spPr>
          <a:xfrm>
            <a:off x="731520" y="335026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2-a)  </a:t>
            </a:r>
            <a:endParaRPr lang="en-US" sz="15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macro- (G) (makro-)</a:t>
            </a:r>
            <a:r>
              <a:rPr lang="en-US" sz="1400" dirty="0">
                <a:solidFill>
                  <a:srgbClr val="4B5563"/>
                </a:solidFill>
                <a:latin typeface="Calibri" pitchFamily="34" charset="0"/>
                <a:ea typeface="Calibri" pitchFamily="34" charset="-122"/>
                <a:cs typeface="Calibri" pitchFamily="34" charset="-120"/>
              </a:rPr>
              <a:t>: Büyük, iri</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macrocephalia (makrosefali)</a:t>
            </a:r>
            <a:r>
              <a:rPr lang="en-US" sz="1400" dirty="0">
                <a:solidFill>
                  <a:srgbClr val="4B5563"/>
                </a:solidFill>
                <a:latin typeface="Calibri" pitchFamily="34" charset="0"/>
                <a:ea typeface="Calibri" pitchFamily="34" charset="-122"/>
                <a:cs typeface="Calibri" pitchFamily="34" charset="-120"/>
              </a:rPr>
              <a:t>: Başın büyük olması</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macrobrachia (makrobraki)</a:t>
            </a:r>
            <a:r>
              <a:rPr lang="en-US" sz="1400" dirty="0">
                <a:solidFill>
                  <a:srgbClr val="4B5563"/>
                </a:solidFill>
                <a:latin typeface="Calibri" pitchFamily="34" charset="0"/>
                <a:ea typeface="Calibri" pitchFamily="34" charset="-122"/>
                <a:cs typeface="Calibri" pitchFamily="34" charset="-120"/>
              </a:rPr>
              <a:t>: Kolun büyük olması</a:t>
            </a:r>
            <a:endParaRPr lang="en-US" sz="1400" dirty="0"/>
          </a:p>
        </p:txBody>
      </p:sp>
      <p:sp>
        <p:nvSpPr>
          <p:cNvPr id="26" name="Shape 24"/>
          <p:cNvSpPr/>
          <p:nvPr/>
        </p:nvSpPr>
        <p:spPr>
          <a:xfrm>
            <a:off x="850392" y="4435185"/>
            <a:ext cx="64008" cy="64008"/>
          </a:xfrm>
          <a:prstGeom prst="ellipse">
            <a:avLst/>
          </a:prstGeom>
          <a:solidFill>
            <a:srgbClr val="0F766E"/>
          </a:solidFill>
          <a:ln/>
        </p:spPr>
      </p:sp>
      <p:sp>
        <p:nvSpPr>
          <p:cNvPr id="27" name="Text 25"/>
          <p:cNvSpPr txBox="1"/>
          <p:nvPr/>
        </p:nvSpPr>
        <p:spPr>
          <a:xfrm>
            <a:off x="1005840" y="43614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macrocytus (makrosit)</a:t>
            </a:r>
            <a:r>
              <a:rPr lang="en-US" sz="1400" dirty="0">
                <a:solidFill>
                  <a:srgbClr val="4B5563"/>
                </a:solidFill>
                <a:latin typeface="Calibri" pitchFamily="34" charset="0"/>
                <a:ea typeface="Calibri" pitchFamily="34" charset="-122"/>
                <a:cs typeface="Calibri" pitchFamily="34" charset="-120"/>
              </a:rPr>
              <a:t>: Büyük, iri hücre</a:t>
            </a:r>
            <a:endParaRPr lang="en-US" sz="1400" dirty="0"/>
          </a:p>
        </p:txBody>
      </p:sp>
      <p:sp>
        <p:nvSpPr>
          <p:cNvPr id="28" name="Shape 26"/>
          <p:cNvSpPr/>
          <p:nvPr/>
        </p:nvSpPr>
        <p:spPr>
          <a:xfrm>
            <a:off x="548640" y="4843526"/>
            <a:ext cx="11094415" cy="1465834"/>
          </a:xfrm>
          <a:prstGeom prst="roundRect">
            <a:avLst>
              <a:gd name="adj" fmla="val 4367"/>
            </a:avLst>
          </a:prstGeom>
          <a:solidFill>
            <a:srgbClr val="EAF6F4"/>
          </a:solidFill>
          <a:ln/>
        </p:spPr>
      </p:sp>
      <p:sp>
        <p:nvSpPr>
          <p:cNvPr id="29" name="Text 27"/>
          <p:cNvSpPr txBox="1"/>
          <p:nvPr/>
        </p:nvSpPr>
        <p:spPr>
          <a:xfrm>
            <a:off x="731520" y="490753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2-b)  </a:t>
            </a:r>
            <a:endParaRPr lang="en-US" sz="15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mega- (G) (mega-)</a:t>
            </a:r>
            <a:r>
              <a:rPr lang="en-US" sz="1400" dirty="0">
                <a:solidFill>
                  <a:srgbClr val="4B5563"/>
                </a:solidFill>
                <a:latin typeface="Calibri" pitchFamily="34" charset="0"/>
                <a:ea typeface="Calibri" pitchFamily="34" charset="-122"/>
                <a:cs typeface="Calibri" pitchFamily="34" charset="-120"/>
              </a:rPr>
              <a:t>: Büyük</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megacaryocytus (megakaryosit)</a:t>
            </a:r>
            <a:r>
              <a:rPr lang="en-US" sz="1400" dirty="0">
                <a:solidFill>
                  <a:srgbClr val="4B5563"/>
                </a:solidFill>
                <a:latin typeface="Calibri" pitchFamily="34" charset="0"/>
                <a:ea typeface="Calibri" pitchFamily="34" charset="-122"/>
                <a:cs typeface="Calibri" pitchFamily="34" charset="-120"/>
              </a:rPr>
              <a:t>: Trombositlerin ana hücresi (dev hücre)</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megacolon (megakolon)</a:t>
            </a:r>
            <a:r>
              <a:rPr lang="en-US" sz="1400" dirty="0">
                <a:solidFill>
                  <a:srgbClr val="4B5563"/>
                </a:solidFill>
                <a:latin typeface="Calibri" pitchFamily="34" charset="0"/>
                <a:ea typeface="Calibri" pitchFamily="34" charset="-122"/>
                <a:cs typeface="Calibri" pitchFamily="34" charset="-120"/>
              </a:rPr>
              <a:t>: Anormal büyüklükte kalın bağırsak</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megacadia (megakardi)</a:t>
            </a:r>
            <a:r>
              <a:rPr lang="en-US" sz="1400" dirty="0">
                <a:solidFill>
                  <a:srgbClr val="4B5563"/>
                </a:solidFill>
                <a:latin typeface="Calibri" pitchFamily="34" charset="0"/>
                <a:ea typeface="Calibri" pitchFamily="34" charset="-122"/>
                <a:cs typeface="Calibri" pitchFamily="34" charset="-120"/>
              </a:rPr>
              <a:t>: Kalp büyümesi</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Bütün ve Yarım Anlamı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65</a:t>
            </a:r>
            <a:endParaRPr lang="en-US" sz="1000" dirty="0"/>
          </a:p>
        </p:txBody>
      </p:sp>
      <p:sp>
        <p:nvSpPr>
          <p:cNvPr id="6" name="Shape 4"/>
          <p:cNvSpPr/>
          <p:nvPr/>
        </p:nvSpPr>
        <p:spPr>
          <a:xfrm>
            <a:off x="548640" y="1475486"/>
            <a:ext cx="11094415" cy="1719326"/>
          </a:xfrm>
          <a:prstGeom prst="roundRect">
            <a:avLst>
              <a:gd name="adj" fmla="val 3723"/>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 panto- (G) (pan-, panto-)</a:t>
            </a:r>
            <a:r>
              <a:rPr lang="en-US" sz="1400" dirty="0">
                <a:solidFill>
                  <a:srgbClr val="4B5563"/>
                </a:solidFill>
                <a:latin typeface="Calibri" pitchFamily="34" charset="0"/>
                <a:ea typeface="Calibri" pitchFamily="34" charset="-122"/>
                <a:cs typeface="Calibri" pitchFamily="34" charset="-120"/>
              </a:rPr>
              <a:t>: Tüm, bütün, tamamı</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pancarditis (pankardit)</a:t>
            </a:r>
            <a:r>
              <a:rPr lang="en-US" sz="1400" dirty="0">
                <a:solidFill>
                  <a:srgbClr val="4B5563"/>
                </a:solidFill>
                <a:latin typeface="Calibri" pitchFamily="34" charset="0"/>
                <a:ea typeface="Calibri" pitchFamily="34" charset="-122"/>
                <a:cs typeface="Calibri" pitchFamily="34" charset="-120"/>
              </a:rPr>
              <a:t>: Kalbin tüm tabakalarının iltihabı</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panangitis (panangit)</a:t>
            </a:r>
            <a:r>
              <a:rPr lang="en-US" sz="1400" dirty="0">
                <a:solidFill>
                  <a:srgbClr val="4B5563"/>
                </a:solidFill>
                <a:latin typeface="Calibri" pitchFamily="34" charset="0"/>
                <a:ea typeface="Calibri" pitchFamily="34" charset="-122"/>
                <a:cs typeface="Calibri" pitchFamily="34" charset="-120"/>
              </a:rPr>
              <a:t>: Bütün damar tabakalarına yayılan iltihap</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pandemia (pandemi)</a:t>
            </a:r>
            <a:r>
              <a:rPr lang="en-US" sz="1400" dirty="0">
                <a:solidFill>
                  <a:srgbClr val="4B5563"/>
                </a:solidFill>
                <a:latin typeface="Calibri" pitchFamily="34" charset="0"/>
                <a:ea typeface="Calibri" pitchFamily="34" charset="-122"/>
                <a:cs typeface="Calibri" pitchFamily="34" charset="-120"/>
              </a:rPr>
              <a:t>: Bir hastalığın çok ülkeye birden bulaşması</a:t>
            </a:r>
            <a:endParaRPr lang="en-US" sz="1400" dirty="0"/>
          </a:p>
        </p:txBody>
      </p:sp>
      <p:sp>
        <p:nvSpPr>
          <p:cNvPr id="16" name="Shape 14"/>
          <p:cNvSpPr/>
          <p:nvPr/>
        </p:nvSpPr>
        <p:spPr>
          <a:xfrm>
            <a:off x="850392" y="2877911"/>
            <a:ext cx="64008" cy="64008"/>
          </a:xfrm>
          <a:prstGeom prst="ellipse">
            <a:avLst/>
          </a:prstGeom>
          <a:solidFill>
            <a:srgbClr val="0F766E"/>
          </a:solidFill>
          <a:ln/>
        </p:spPr>
      </p:sp>
      <p:sp>
        <p:nvSpPr>
          <p:cNvPr id="17" name="Text 15"/>
          <p:cNvSpPr txBox="1"/>
          <p:nvPr/>
        </p:nvSpPr>
        <p:spPr>
          <a:xfrm>
            <a:off x="1005840" y="28041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pantophobia (pantofobi)</a:t>
            </a:r>
            <a:r>
              <a:rPr lang="en-US" sz="1400" dirty="0">
                <a:solidFill>
                  <a:srgbClr val="4B5563"/>
                </a:solidFill>
                <a:latin typeface="Calibri" pitchFamily="34" charset="0"/>
                <a:ea typeface="Calibri" pitchFamily="34" charset="-122"/>
                <a:cs typeface="Calibri" pitchFamily="34" charset="-120"/>
              </a:rPr>
              <a:t>: Gereksiz yere herşeyden korkma</a:t>
            </a:r>
            <a:endParaRPr lang="en-US" sz="1400" dirty="0"/>
          </a:p>
        </p:txBody>
      </p:sp>
      <p:sp>
        <p:nvSpPr>
          <p:cNvPr id="18" name="Shape 16"/>
          <p:cNvSpPr/>
          <p:nvPr/>
        </p:nvSpPr>
        <p:spPr>
          <a:xfrm>
            <a:off x="548640" y="3286252"/>
            <a:ext cx="11094415" cy="1465834"/>
          </a:xfrm>
          <a:prstGeom prst="roundRect">
            <a:avLst>
              <a:gd name="adj" fmla="val 4367"/>
            </a:avLst>
          </a:prstGeom>
          <a:solidFill>
            <a:srgbClr val="EAF6F4"/>
          </a:solidFill>
          <a:ln/>
        </p:spPr>
      </p:sp>
      <p:sp>
        <p:nvSpPr>
          <p:cNvPr id="19" name="Text 17"/>
          <p:cNvSpPr txBox="1"/>
          <p:nvPr/>
        </p:nvSpPr>
        <p:spPr>
          <a:xfrm>
            <a:off x="731520" y="335026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2-a)  </a:t>
            </a:r>
            <a:endParaRPr lang="en-US" sz="15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hemi- (G) (hemi-)</a:t>
            </a:r>
            <a:r>
              <a:rPr lang="en-US" sz="1400" dirty="0">
                <a:solidFill>
                  <a:srgbClr val="4B5563"/>
                </a:solidFill>
                <a:latin typeface="Calibri" pitchFamily="34" charset="0"/>
                <a:ea typeface="Calibri" pitchFamily="34" charset="-122"/>
                <a:cs typeface="Calibri" pitchFamily="34" charset="-120"/>
              </a:rPr>
              <a:t>: Yarım</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hemispherium (hemisfer)</a:t>
            </a:r>
            <a:r>
              <a:rPr lang="en-US" sz="1400" dirty="0">
                <a:solidFill>
                  <a:srgbClr val="4B5563"/>
                </a:solidFill>
                <a:latin typeface="Calibri" pitchFamily="34" charset="0"/>
                <a:ea typeface="Calibri" pitchFamily="34" charset="-122"/>
                <a:cs typeface="Calibri" pitchFamily="34" charset="-120"/>
              </a:rPr>
              <a:t>: Yarım küre</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hemiplegia (hemipleji)</a:t>
            </a:r>
            <a:r>
              <a:rPr lang="en-US" sz="1400" dirty="0">
                <a:solidFill>
                  <a:srgbClr val="4B5563"/>
                </a:solidFill>
                <a:latin typeface="Calibri" pitchFamily="34" charset="0"/>
                <a:ea typeface="Calibri" pitchFamily="34" charset="-122"/>
                <a:cs typeface="Calibri" pitchFamily="34" charset="-120"/>
              </a:rPr>
              <a:t>: Vücudun bir yarısını etkileyen felç, inme</a:t>
            </a:r>
            <a:endParaRPr lang="en-US" sz="1400" dirty="0"/>
          </a:p>
        </p:txBody>
      </p:sp>
      <p:sp>
        <p:nvSpPr>
          <p:cNvPr id="26" name="Shape 24"/>
          <p:cNvSpPr/>
          <p:nvPr/>
        </p:nvSpPr>
        <p:spPr>
          <a:xfrm>
            <a:off x="850392" y="4435185"/>
            <a:ext cx="64008" cy="64008"/>
          </a:xfrm>
          <a:prstGeom prst="ellipse">
            <a:avLst/>
          </a:prstGeom>
          <a:solidFill>
            <a:srgbClr val="0F766E"/>
          </a:solidFill>
          <a:ln/>
        </p:spPr>
      </p:sp>
      <p:sp>
        <p:nvSpPr>
          <p:cNvPr id="27" name="Text 25"/>
          <p:cNvSpPr txBox="1"/>
          <p:nvPr/>
        </p:nvSpPr>
        <p:spPr>
          <a:xfrm>
            <a:off x="1005840" y="43614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hemialgia (hemialji)</a:t>
            </a:r>
            <a:r>
              <a:rPr lang="en-US" sz="1400" dirty="0">
                <a:solidFill>
                  <a:srgbClr val="4B5563"/>
                </a:solidFill>
                <a:latin typeface="Calibri" pitchFamily="34" charset="0"/>
                <a:ea typeface="Calibri" pitchFamily="34" charset="-122"/>
                <a:cs typeface="Calibri" pitchFamily="34" charset="-120"/>
              </a:rPr>
              <a:t>: Tek taraflı duyulan ağrı</a:t>
            </a:r>
            <a:endParaRPr lang="en-US" sz="1400" dirty="0"/>
          </a:p>
        </p:txBody>
      </p:sp>
      <p:sp>
        <p:nvSpPr>
          <p:cNvPr id="28" name="Shape 26"/>
          <p:cNvSpPr/>
          <p:nvPr/>
        </p:nvSpPr>
        <p:spPr>
          <a:xfrm>
            <a:off x="548640" y="4843526"/>
            <a:ext cx="11094415" cy="1465834"/>
          </a:xfrm>
          <a:prstGeom prst="roundRect">
            <a:avLst>
              <a:gd name="adj" fmla="val 4367"/>
            </a:avLst>
          </a:prstGeom>
          <a:solidFill>
            <a:srgbClr val="EAF6F4"/>
          </a:solidFill>
          <a:ln/>
        </p:spPr>
      </p:sp>
      <p:sp>
        <p:nvSpPr>
          <p:cNvPr id="29" name="Text 27"/>
          <p:cNvSpPr txBox="1"/>
          <p:nvPr/>
        </p:nvSpPr>
        <p:spPr>
          <a:xfrm>
            <a:off x="731520" y="490753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2-b)  </a:t>
            </a:r>
            <a:endParaRPr lang="en-US" sz="15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semi- (L) (semi-)</a:t>
            </a:r>
            <a:r>
              <a:rPr lang="en-US" sz="1400" dirty="0">
                <a:solidFill>
                  <a:srgbClr val="4B5563"/>
                </a:solidFill>
                <a:latin typeface="Calibri" pitchFamily="34" charset="0"/>
                <a:ea typeface="Calibri" pitchFamily="34" charset="-122"/>
                <a:cs typeface="Calibri" pitchFamily="34" charset="-120"/>
              </a:rPr>
              <a:t>: Yarım, yarı</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semipermeable (semipermeabl)</a:t>
            </a:r>
            <a:r>
              <a:rPr lang="en-US" sz="1400" dirty="0">
                <a:solidFill>
                  <a:srgbClr val="4B5563"/>
                </a:solidFill>
                <a:latin typeface="Calibri" pitchFamily="34" charset="0"/>
                <a:ea typeface="Calibri" pitchFamily="34" charset="-122"/>
                <a:cs typeface="Calibri" pitchFamily="34" charset="-120"/>
              </a:rPr>
              <a:t>: Yarı geçirgen</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semiluna (semiluna)</a:t>
            </a:r>
            <a:r>
              <a:rPr lang="en-US" sz="1400" dirty="0">
                <a:solidFill>
                  <a:srgbClr val="4B5563"/>
                </a:solidFill>
                <a:latin typeface="Calibri" pitchFamily="34" charset="0"/>
                <a:ea typeface="Calibri" pitchFamily="34" charset="-122"/>
                <a:cs typeface="Calibri" pitchFamily="34" charset="-120"/>
              </a:rPr>
              <a:t>: Yarım ay</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semi-fowler (semifowler)</a:t>
            </a:r>
            <a:r>
              <a:rPr lang="en-US" sz="1400" dirty="0">
                <a:solidFill>
                  <a:srgbClr val="4B5563"/>
                </a:solidFill>
                <a:latin typeface="Calibri" pitchFamily="34" charset="0"/>
                <a:ea typeface="Calibri" pitchFamily="34" charset="-122"/>
                <a:cs typeface="Calibri" pitchFamily="34" charset="-120"/>
              </a:rPr>
              <a:t>: Yarı oturur pozisyon</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Ortak, Ortaklaşa, Birlikte Anlamı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66</a:t>
            </a:r>
            <a:endParaRPr lang="en-US" sz="1000" dirty="0"/>
          </a:p>
        </p:txBody>
      </p:sp>
      <p:sp>
        <p:nvSpPr>
          <p:cNvPr id="6" name="Shape 4"/>
          <p:cNvSpPr/>
          <p:nvPr/>
        </p:nvSpPr>
        <p:spPr>
          <a:xfrm>
            <a:off x="548640" y="2221484"/>
            <a:ext cx="11094415" cy="1998218"/>
          </a:xfrm>
          <a:prstGeom prst="roundRect">
            <a:avLst>
              <a:gd name="adj" fmla="val 3203"/>
            </a:avLst>
          </a:prstGeom>
          <a:solidFill>
            <a:srgbClr val="EAF6F4"/>
          </a:solidFill>
          <a:ln/>
        </p:spPr>
      </p:sp>
      <p:sp>
        <p:nvSpPr>
          <p:cNvPr id="7" name="Text 5"/>
          <p:cNvSpPr txBox="1"/>
          <p:nvPr/>
        </p:nvSpPr>
        <p:spPr>
          <a:xfrm>
            <a:off x="731520" y="2285492"/>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  </a:t>
            </a:r>
            <a:endParaRPr lang="en-US" sz="1800" dirty="0"/>
          </a:p>
        </p:txBody>
      </p:sp>
      <p:sp>
        <p:nvSpPr>
          <p:cNvPr id="8" name="Shape 6"/>
          <p:cNvSpPr/>
          <p:nvPr/>
        </p:nvSpPr>
        <p:spPr>
          <a:xfrm>
            <a:off x="850392" y="2672227"/>
            <a:ext cx="64008" cy="64008"/>
          </a:xfrm>
          <a:prstGeom prst="ellipse">
            <a:avLst/>
          </a:prstGeom>
          <a:solidFill>
            <a:srgbClr val="0F766E"/>
          </a:solidFill>
          <a:ln/>
        </p:spPr>
      </p:sp>
      <p:sp>
        <p:nvSpPr>
          <p:cNvPr id="9" name="Text 7"/>
          <p:cNvSpPr txBox="1"/>
          <p:nvPr/>
        </p:nvSpPr>
        <p:spPr>
          <a:xfrm>
            <a:off x="1005840" y="258267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co-, com-, con-, cum- (L) (ko-, kom-, kon-, kum-)</a:t>
            </a:r>
            <a:r>
              <a:rPr lang="en-US" sz="1700" dirty="0">
                <a:solidFill>
                  <a:srgbClr val="4B5563"/>
                </a:solidFill>
                <a:latin typeface="Calibri" pitchFamily="34" charset="0"/>
                <a:ea typeface="Calibri" pitchFamily="34" charset="-122"/>
                <a:cs typeface="Calibri" pitchFamily="34" charset="-120"/>
              </a:rPr>
              <a:t>: Ortaklaşa, birlikete</a:t>
            </a:r>
            <a:endParaRPr lang="en-US" sz="1700" dirty="0"/>
          </a:p>
        </p:txBody>
      </p:sp>
      <p:sp>
        <p:nvSpPr>
          <p:cNvPr id="10" name="Shape 8"/>
          <p:cNvSpPr/>
          <p:nvPr/>
        </p:nvSpPr>
        <p:spPr>
          <a:xfrm>
            <a:off x="850392" y="2972201"/>
            <a:ext cx="64008" cy="64008"/>
          </a:xfrm>
          <a:prstGeom prst="ellipse">
            <a:avLst/>
          </a:prstGeom>
          <a:solidFill>
            <a:srgbClr val="0F766E"/>
          </a:solidFill>
          <a:ln/>
        </p:spPr>
      </p:sp>
      <p:sp>
        <p:nvSpPr>
          <p:cNvPr id="11" name="Text 9"/>
          <p:cNvSpPr txBox="1"/>
          <p:nvPr/>
        </p:nvSpPr>
        <p:spPr>
          <a:xfrm>
            <a:off x="1005840" y="288264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coagulatio (koagulasyo)</a:t>
            </a:r>
            <a:r>
              <a:rPr lang="en-US" sz="1700" dirty="0">
                <a:solidFill>
                  <a:srgbClr val="4B5563"/>
                </a:solidFill>
                <a:latin typeface="Calibri" pitchFamily="34" charset="0"/>
                <a:ea typeface="Calibri" pitchFamily="34" charset="-122"/>
                <a:cs typeface="Calibri" pitchFamily="34" charset="-120"/>
              </a:rPr>
              <a:t>: Pıhtılaşma</a:t>
            </a:r>
            <a:endParaRPr lang="en-US" sz="1700" dirty="0"/>
          </a:p>
        </p:txBody>
      </p:sp>
      <p:sp>
        <p:nvSpPr>
          <p:cNvPr id="12" name="Shape 10"/>
          <p:cNvSpPr/>
          <p:nvPr/>
        </p:nvSpPr>
        <p:spPr>
          <a:xfrm>
            <a:off x="850392" y="3272175"/>
            <a:ext cx="64008" cy="64008"/>
          </a:xfrm>
          <a:prstGeom prst="ellipse">
            <a:avLst/>
          </a:prstGeom>
          <a:solidFill>
            <a:srgbClr val="0F766E"/>
          </a:solidFill>
          <a:ln/>
        </p:spPr>
      </p:sp>
      <p:sp>
        <p:nvSpPr>
          <p:cNvPr id="13" name="Text 11"/>
          <p:cNvSpPr txBox="1"/>
          <p:nvPr/>
        </p:nvSpPr>
        <p:spPr>
          <a:xfrm>
            <a:off x="1005840" y="318262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comminus (komminus)</a:t>
            </a:r>
            <a:r>
              <a:rPr lang="en-US" sz="1700" dirty="0">
                <a:solidFill>
                  <a:srgbClr val="4B5563"/>
                </a:solidFill>
                <a:latin typeface="Calibri" pitchFamily="34" charset="0"/>
                <a:ea typeface="Calibri" pitchFamily="34" charset="-122"/>
                <a:cs typeface="Calibri" pitchFamily="34" charset="-120"/>
              </a:rPr>
              <a:t>: Ortak, birlikte</a:t>
            </a:r>
            <a:endParaRPr lang="en-US" sz="1700" dirty="0"/>
          </a:p>
        </p:txBody>
      </p:sp>
      <p:sp>
        <p:nvSpPr>
          <p:cNvPr id="14" name="Shape 12"/>
          <p:cNvSpPr/>
          <p:nvPr/>
        </p:nvSpPr>
        <p:spPr>
          <a:xfrm>
            <a:off x="850392" y="3572149"/>
            <a:ext cx="64008" cy="64008"/>
          </a:xfrm>
          <a:prstGeom prst="ellipse">
            <a:avLst/>
          </a:prstGeom>
          <a:solidFill>
            <a:srgbClr val="0F766E"/>
          </a:solidFill>
          <a:ln/>
        </p:spPr>
      </p:sp>
      <p:sp>
        <p:nvSpPr>
          <p:cNvPr id="15" name="Text 13"/>
          <p:cNvSpPr txBox="1"/>
          <p:nvPr/>
        </p:nvSpPr>
        <p:spPr>
          <a:xfrm>
            <a:off x="1005840" y="348259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congenital (konjenital)</a:t>
            </a:r>
            <a:r>
              <a:rPr lang="en-US" sz="1700" dirty="0">
                <a:solidFill>
                  <a:srgbClr val="4B5563"/>
                </a:solidFill>
                <a:latin typeface="Calibri" pitchFamily="34" charset="0"/>
                <a:ea typeface="Calibri" pitchFamily="34" charset="-122"/>
                <a:cs typeface="Calibri" pitchFamily="34" charset="-120"/>
              </a:rPr>
              <a:t>: Doğumsal</a:t>
            </a:r>
            <a:endParaRPr lang="en-US" sz="1700" dirty="0"/>
          </a:p>
        </p:txBody>
      </p:sp>
      <p:sp>
        <p:nvSpPr>
          <p:cNvPr id="16" name="Shape 14"/>
          <p:cNvSpPr/>
          <p:nvPr/>
        </p:nvSpPr>
        <p:spPr>
          <a:xfrm>
            <a:off x="850392" y="3872123"/>
            <a:ext cx="64008" cy="64008"/>
          </a:xfrm>
          <a:prstGeom prst="ellipse">
            <a:avLst/>
          </a:prstGeom>
          <a:solidFill>
            <a:srgbClr val="0F766E"/>
          </a:solidFill>
          <a:ln/>
        </p:spPr>
      </p:sp>
      <p:sp>
        <p:nvSpPr>
          <p:cNvPr id="17" name="Text 15"/>
          <p:cNvSpPr txBox="1"/>
          <p:nvPr/>
        </p:nvSpPr>
        <p:spPr>
          <a:xfrm>
            <a:off x="1005840" y="378256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cumulative (kümülativ)</a:t>
            </a:r>
            <a:r>
              <a:rPr lang="en-US" sz="1700" dirty="0">
                <a:solidFill>
                  <a:srgbClr val="4B5563"/>
                </a:solidFill>
                <a:latin typeface="Calibri" pitchFamily="34" charset="0"/>
                <a:ea typeface="Calibri" pitchFamily="34" charset="-122"/>
                <a:cs typeface="Calibri" pitchFamily="34" charset="-120"/>
              </a:rPr>
              <a:t>: Birikerek oluşmuş, toplanmış</a:t>
            </a:r>
            <a:endParaRPr lang="en-US" sz="1700" dirty="0"/>
          </a:p>
        </p:txBody>
      </p:sp>
      <p:sp>
        <p:nvSpPr>
          <p:cNvPr id="18" name="Shape 16"/>
          <p:cNvSpPr/>
          <p:nvPr/>
        </p:nvSpPr>
        <p:spPr>
          <a:xfrm>
            <a:off x="548640" y="4311142"/>
            <a:ext cx="11094415" cy="1998218"/>
          </a:xfrm>
          <a:prstGeom prst="roundRect">
            <a:avLst>
              <a:gd name="adj" fmla="val 3203"/>
            </a:avLst>
          </a:prstGeom>
          <a:solidFill>
            <a:srgbClr val="EAF6F4"/>
          </a:solidFill>
          <a:ln/>
        </p:spPr>
      </p:sp>
      <p:sp>
        <p:nvSpPr>
          <p:cNvPr id="19" name="Text 17"/>
          <p:cNvSpPr txBox="1"/>
          <p:nvPr/>
        </p:nvSpPr>
        <p:spPr>
          <a:xfrm>
            <a:off x="731520" y="437515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2-  </a:t>
            </a:r>
            <a:endParaRPr lang="en-US" sz="1800" dirty="0"/>
          </a:p>
        </p:txBody>
      </p:sp>
      <p:sp>
        <p:nvSpPr>
          <p:cNvPr id="20" name="Shape 18"/>
          <p:cNvSpPr/>
          <p:nvPr/>
        </p:nvSpPr>
        <p:spPr>
          <a:xfrm>
            <a:off x="850392" y="4761885"/>
            <a:ext cx="64008" cy="64008"/>
          </a:xfrm>
          <a:prstGeom prst="ellipse">
            <a:avLst/>
          </a:prstGeom>
          <a:solidFill>
            <a:srgbClr val="0F766E"/>
          </a:solidFill>
          <a:ln/>
        </p:spPr>
      </p:sp>
      <p:sp>
        <p:nvSpPr>
          <p:cNvPr id="21" name="Text 19"/>
          <p:cNvSpPr txBox="1"/>
          <p:nvPr/>
        </p:nvSpPr>
        <p:spPr>
          <a:xfrm>
            <a:off x="1005840" y="467233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sym-, syn- (G) (sim-, sin-)</a:t>
            </a:r>
            <a:r>
              <a:rPr lang="en-US" sz="1700" dirty="0">
                <a:solidFill>
                  <a:srgbClr val="4B5563"/>
                </a:solidFill>
                <a:latin typeface="Calibri" pitchFamily="34" charset="0"/>
                <a:ea typeface="Calibri" pitchFamily="34" charset="-122"/>
                <a:cs typeface="Calibri" pitchFamily="34" charset="-120"/>
              </a:rPr>
              <a:t>: Ortak, ile, birlikte</a:t>
            </a:r>
            <a:endParaRPr lang="en-US" sz="1700" dirty="0"/>
          </a:p>
        </p:txBody>
      </p:sp>
      <p:sp>
        <p:nvSpPr>
          <p:cNvPr id="22" name="Shape 20"/>
          <p:cNvSpPr/>
          <p:nvPr/>
        </p:nvSpPr>
        <p:spPr>
          <a:xfrm>
            <a:off x="850392" y="5061859"/>
            <a:ext cx="64008" cy="64008"/>
          </a:xfrm>
          <a:prstGeom prst="ellipse">
            <a:avLst/>
          </a:prstGeom>
          <a:solidFill>
            <a:srgbClr val="0F766E"/>
          </a:solidFill>
          <a:ln/>
        </p:spPr>
      </p:sp>
      <p:sp>
        <p:nvSpPr>
          <p:cNvPr id="23" name="Text 21"/>
          <p:cNvSpPr txBox="1"/>
          <p:nvPr/>
        </p:nvSpPr>
        <p:spPr>
          <a:xfrm>
            <a:off x="1005840" y="497230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symbiosus (simbiyoz)</a:t>
            </a:r>
            <a:r>
              <a:rPr lang="en-US" sz="1700" dirty="0">
                <a:solidFill>
                  <a:srgbClr val="4B5563"/>
                </a:solidFill>
                <a:latin typeface="Calibri" pitchFamily="34" charset="0"/>
                <a:ea typeface="Calibri" pitchFamily="34" charset="-122"/>
                <a:cs typeface="Calibri" pitchFamily="34" charset="-120"/>
              </a:rPr>
              <a:t>: Ortak yaşam</a:t>
            </a:r>
            <a:endParaRPr lang="en-US" sz="1700" dirty="0"/>
          </a:p>
        </p:txBody>
      </p:sp>
      <p:sp>
        <p:nvSpPr>
          <p:cNvPr id="24" name="Shape 22"/>
          <p:cNvSpPr/>
          <p:nvPr/>
        </p:nvSpPr>
        <p:spPr>
          <a:xfrm>
            <a:off x="850392" y="5361833"/>
            <a:ext cx="64008" cy="64008"/>
          </a:xfrm>
          <a:prstGeom prst="ellipse">
            <a:avLst/>
          </a:prstGeom>
          <a:solidFill>
            <a:srgbClr val="0F766E"/>
          </a:solidFill>
          <a:ln/>
        </p:spPr>
      </p:sp>
      <p:sp>
        <p:nvSpPr>
          <p:cNvPr id="25" name="Text 23"/>
          <p:cNvSpPr txBox="1"/>
          <p:nvPr/>
        </p:nvSpPr>
        <p:spPr>
          <a:xfrm>
            <a:off x="1005840" y="527227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sympodia (simpodya)</a:t>
            </a:r>
            <a:r>
              <a:rPr lang="en-US" sz="1700" dirty="0">
                <a:solidFill>
                  <a:srgbClr val="4B5563"/>
                </a:solidFill>
                <a:latin typeface="Calibri" pitchFamily="34" charset="0"/>
                <a:ea typeface="Calibri" pitchFamily="34" charset="-122"/>
                <a:cs typeface="Calibri" pitchFamily="34" charset="-120"/>
              </a:rPr>
              <a:t>: Birleşik ayaklılık</a:t>
            </a:r>
            <a:endParaRPr lang="en-US" sz="1700" dirty="0"/>
          </a:p>
        </p:txBody>
      </p:sp>
      <p:sp>
        <p:nvSpPr>
          <p:cNvPr id="26" name="Shape 24"/>
          <p:cNvSpPr/>
          <p:nvPr/>
        </p:nvSpPr>
        <p:spPr>
          <a:xfrm>
            <a:off x="850392" y="5661807"/>
            <a:ext cx="64008" cy="64008"/>
          </a:xfrm>
          <a:prstGeom prst="ellipse">
            <a:avLst/>
          </a:prstGeom>
          <a:solidFill>
            <a:srgbClr val="0F766E"/>
          </a:solidFill>
          <a:ln/>
        </p:spPr>
      </p:sp>
      <p:sp>
        <p:nvSpPr>
          <p:cNvPr id="27" name="Text 25"/>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syndrome (sendrom)</a:t>
            </a:r>
            <a:r>
              <a:rPr lang="en-US" sz="1700" dirty="0">
                <a:solidFill>
                  <a:srgbClr val="4B5563"/>
                </a:solidFill>
                <a:latin typeface="Calibri" pitchFamily="34" charset="0"/>
                <a:ea typeface="Calibri" pitchFamily="34" charset="-122"/>
                <a:cs typeface="Calibri" pitchFamily="34" charset="-120"/>
              </a:rPr>
              <a:t>: Birçok semptomun birlikte görülmesi</a:t>
            </a:r>
            <a:endParaRPr lang="en-US" sz="1700" dirty="0"/>
          </a:p>
        </p:txBody>
      </p:sp>
      <p:sp>
        <p:nvSpPr>
          <p:cNvPr id="28" name="Shape 26"/>
          <p:cNvSpPr/>
          <p:nvPr/>
        </p:nvSpPr>
        <p:spPr>
          <a:xfrm>
            <a:off x="850392" y="5961781"/>
            <a:ext cx="64008" cy="64008"/>
          </a:xfrm>
          <a:prstGeom prst="ellipse">
            <a:avLst/>
          </a:prstGeom>
          <a:solidFill>
            <a:srgbClr val="0F766E"/>
          </a:solidFill>
          <a:ln/>
        </p:spPr>
      </p:sp>
      <p:sp>
        <p:nvSpPr>
          <p:cNvPr id="29" name="Text 27"/>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synergigus (sinerjik)</a:t>
            </a:r>
            <a:r>
              <a:rPr lang="en-US" sz="1700" dirty="0">
                <a:solidFill>
                  <a:srgbClr val="4B5563"/>
                </a:solidFill>
                <a:latin typeface="Calibri" pitchFamily="34" charset="0"/>
                <a:ea typeface="Calibri" pitchFamily="34" charset="-122"/>
                <a:cs typeface="Calibri" pitchFamily="34" charset="-120"/>
              </a:rPr>
              <a:t>: Birlikte aynı yönde etkili olan</a:t>
            </a:r>
            <a:endParaRPr lang="en-US" sz="17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Hızlı ve Yavaş Anlam Veren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67</a:t>
            </a:r>
            <a:endParaRPr lang="en-US" sz="1000" dirty="0"/>
          </a:p>
        </p:txBody>
      </p:sp>
      <p:sp>
        <p:nvSpPr>
          <p:cNvPr id="6" name="Shape 4"/>
          <p:cNvSpPr/>
          <p:nvPr/>
        </p:nvSpPr>
        <p:spPr>
          <a:xfrm>
            <a:off x="548640" y="2821432"/>
            <a:ext cx="11094415" cy="1998218"/>
          </a:xfrm>
          <a:prstGeom prst="roundRect">
            <a:avLst>
              <a:gd name="adj" fmla="val 3203"/>
            </a:avLst>
          </a:prstGeom>
          <a:solidFill>
            <a:srgbClr val="EAF6F4"/>
          </a:solidFill>
          <a:ln/>
        </p:spPr>
      </p:sp>
      <p:sp>
        <p:nvSpPr>
          <p:cNvPr id="7" name="Text 5"/>
          <p:cNvSpPr txBox="1"/>
          <p:nvPr/>
        </p:nvSpPr>
        <p:spPr>
          <a:xfrm>
            <a:off x="731520" y="288544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  </a:t>
            </a:r>
            <a:endParaRPr lang="en-US" sz="1800" dirty="0"/>
          </a:p>
        </p:txBody>
      </p:sp>
      <p:sp>
        <p:nvSpPr>
          <p:cNvPr id="8" name="Shape 6"/>
          <p:cNvSpPr/>
          <p:nvPr/>
        </p:nvSpPr>
        <p:spPr>
          <a:xfrm>
            <a:off x="850392" y="3272175"/>
            <a:ext cx="64008" cy="64008"/>
          </a:xfrm>
          <a:prstGeom prst="ellipse">
            <a:avLst/>
          </a:prstGeom>
          <a:solidFill>
            <a:srgbClr val="0F766E"/>
          </a:solidFill>
          <a:ln/>
        </p:spPr>
      </p:sp>
      <p:sp>
        <p:nvSpPr>
          <p:cNvPr id="9" name="Text 7"/>
          <p:cNvSpPr txBox="1"/>
          <p:nvPr/>
        </p:nvSpPr>
        <p:spPr>
          <a:xfrm>
            <a:off x="1005840" y="318262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tacho-, tachy- (G) (tako-, taki-)</a:t>
            </a:r>
            <a:r>
              <a:rPr lang="en-US" sz="1700" dirty="0">
                <a:solidFill>
                  <a:srgbClr val="4B5563"/>
                </a:solidFill>
                <a:latin typeface="Calibri" pitchFamily="34" charset="0"/>
                <a:ea typeface="Calibri" pitchFamily="34" charset="-122"/>
                <a:cs typeface="Calibri" pitchFamily="34" charset="-120"/>
              </a:rPr>
              <a:t>: Çabuk, hızlı</a:t>
            </a:r>
            <a:endParaRPr lang="en-US" sz="1700" dirty="0"/>
          </a:p>
        </p:txBody>
      </p:sp>
      <p:sp>
        <p:nvSpPr>
          <p:cNvPr id="10" name="Shape 8"/>
          <p:cNvSpPr/>
          <p:nvPr/>
        </p:nvSpPr>
        <p:spPr>
          <a:xfrm>
            <a:off x="850392" y="3572149"/>
            <a:ext cx="64008" cy="64008"/>
          </a:xfrm>
          <a:prstGeom prst="ellipse">
            <a:avLst/>
          </a:prstGeom>
          <a:solidFill>
            <a:srgbClr val="0F766E"/>
          </a:solidFill>
          <a:ln/>
        </p:spPr>
      </p:sp>
      <p:sp>
        <p:nvSpPr>
          <p:cNvPr id="11" name="Text 9"/>
          <p:cNvSpPr txBox="1"/>
          <p:nvPr/>
        </p:nvSpPr>
        <p:spPr>
          <a:xfrm>
            <a:off x="1005840" y="348259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tachometer (takometre)</a:t>
            </a:r>
            <a:r>
              <a:rPr lang="en-US" sz="1700" dirty="0">
                <a:solidFill>
                  <a:srgbClr val="4B5563"/>
                </a:solidFill>
                <a:latin typeface="Calibri" pitchFamily="34" charset="0"/>
                <a:ea typeface="Calibri" pitchFamily="34" charset="-122"/>
                <a:cs typeface="Calibri" pitchFamily="34" charset="-120"/>
              </a:rPr>
              <a:t>: Kan akım hızının ölçülmesinde kullanılan alet</a:t>
            </a:r>
            <a:endParaRPr lang="en-US" sz="1700" dirty="0"/>
          </a:p>
        </p:txBody>
      </p:sp>
      <p:sp>
        <p:nvSpPr>
          <p:cNvPr id="12" name="Shape 10"/>
          <p:cNvSpPr/>
          <p:nvPr/>
        </p:nvSpPr>
        <p:spPr>
          <a:xfrm>
            <a:off x="850392" y="3872123"/>
            <a:ext cx="64008" cy="64008"/>
          </a:xfrm>
          <a:prstGeom prst="ellipse">
            <a:avLst/>
          </a:prstGeom>
          <a:solidFill>
            <a:srgbClr val="0F766E"/>
          </a:solidFill>
          <a:ln/>
        </p:spPr>
      </p:sp>
      <p:sp>
        <p:nvSpPr>
          <p:cNvPr id="13" name="Text 11"/>
          <p:cNvSpPr txBox="1"/>
          <p:nvPr/>
        </p:nvSpPr>
        <p:spPr>
          <a:xfrm>
            <a:off x="1005840" y="378256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tachycardia (taşikardi)</a:t>
            </a:r>
            <a:r>
              <a:rPr lang="en-US" sz="1700" dirty="0">
                <a:solidFill>
                  <a:srgbClr val="4B5563"/>
                </a:solidFill>
                <a:latin typeface="Calibri" pitchFamily="34" charset="0"/>
                <a:ea typeface="Calibri" pitchFamily="34" charset="-122"/>
                <a:cs typeface="Calibri" pitchFamily="34" charset="-120"/>
              </a:rPr>
              <a:t>: Kalp atım sayısının normalden faza olması</a:t>
            </a:r>
            <a:endParaRPr lang="en-US" sz="1700" dirty="0"/>
          </a:p>
        </p:txBody>
      </p:sp>
      <p:sp>
        <p:nvSpPr>
          <p:cNvPr id="14" name="Shape 12"/>
          <p:cNvSpPr/>
          <p:nvPr/>
        </p:nvSpPr>
        <p:spPr>
          <a:xfrm>
            <a:off x="850392" y="4172097"/>
            <a:ext cx="64008" cy="64008"/>
          </a:xfrm>
          <a:prstGeom prst="ellipse">
            <a:avLst/>
          </a:prstGeom>
          <a:solidFill>
            <a:srgbClr val="0F766E"/>
          </a:solidFill>
          <a:ln/>
        </p:spPr>
      </p:sp>
      <p:sp>
        <p:nvSpPr>
          <p:cNvPr id="15" name="Text 13"/>
          <p:cNvSpPr txBox="1"/>
          <p:nvPr/>
        </p:nvSpPr>
        <p:spPr>
          <a:xfrm>
            <a:off x="1005840" y="408254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tachyonea (takipne)</a:t>
            </a:r>
            <a:r>
              <a:rPr lang="en-US" sz="1700" dirty="0">
                <a:solidFill>
                  <a:srgbClr val="4B5563"/>
                </a:solidFill>
                <a:latin typeface="Calibri" pitchFamily="34" charset="0"/>
                <a:ea typeface="Calibri" pitchFamily="34" charset="-122"/>
                <a:cs typeface="Calibri" pitchFamily="34" charset="-120"/>
              </a:rPr>
              <a:t>: Hızlı solunum</a:t>
            </a:r>
            <a:endParaRPr lang="en-US" sz="1700" dirty="0"/>
          </a:p>
        </p:txBody>
      </p:sp>
      <p:sp>
        <p:nvSpPr>
          <p:cNvPr id="16" name="Shape 14"/>
          <p:cNvSpPr/>
          <p:nvPr/>
        </p:nvSpPr>
        <p:spPr>
          <a:xfrm>
            <a:off x="850392" y="4472071"/>
            <a:ext cx="64008" cy="64008"/>
          </a:xfrm>
          <a:prstGeom prst="ellipse">
            <a:avLst/>
          </a:prstGeom>
          <a:solidFill>
            <a:srgbClr val="0F766E"/>
          </a:solidFill>
          <a:ln/>
        </p:spPr>
      </p:sp>
      <p:sp>
        <p:nvSpPr>
          <p:cNvPr id="17" name="Text 15"/>
          <p:cNvSpPr txBox="1"/>
          <p:nvPr/>
        </p:nvSpPr>
        <p:spPr>
          <a:xfrm>
            <a:off x="1005840" y="438251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tachophobia (takofobi)</a:t>
            </a:r>
            <a:r>
              <a:rPr lang="en-US" sz="1700" dirty="0">
                <a:solidFill>
                  <a:srgbClr val="4B5563"/>
                </a:solidFill>
                <a:latin typeface="Calibri" pitchFamily="34" charset="0"/>
                <a:ea typeface="Calibri" pitchFamily="34" charset="-122"/>
                <a:cs typeface="Calibri" pitchFamily="34" charset="-120"/>
              </a:rPr>
              <a:t>: Hız korkusu</a:t>
            </a:r>
            <a:endParaRPr lang="en-US" sz="1700" dirty="0"/>
          </a:p>
        </p:txBody>
      </p:sp>
      <p:sp>
        <p:nvSpPr>
          <p:cNvPr id="18" name="Shape 16"/>
          <p:cNvSpPr/>
          <p:nvPr/>
        </p:nvSpPr>
        <p:spPr>
          <a:xfrm>
            <a:off x="548640" y="4911090"/>
            <a:ext cx="11094415" cy="1398270"/>
          </a:xfrm>
          <a:prstGeom prst="roundRect">
            <a:avLst>
              <a:gd name="adj" fmla="val 4578"/>
            </a:avLst>
          </a:prstGeom>
          <a:solidFill>
            <a:srgbClr val="EAF6F4"/>
          </a:solidFill>
          <a:ln/>
        </p:spPr>
      </p:sp>
      <p:sp>
        <p:nvSpPr>
          <p:cNvPr id="19" name="Text 17"/>
          <p:cNvSpPr txBox="1"/>
          <p:nvPr/>
        </p:nvSpPr>
        <p:spPr>
          <a:xfrm>
            <a:off x="731520" y="4975098"/>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2-  </a:t>
            </a:r>
            <a:endParaRPr lang="en-US" sz="1800" dirty="0"/>
          </a:p>
        </p:txBody>
      </p:sp>
      <p:sp>
        <p:nvSpPr>
          <p:cNvPr id="20" name="Shape 18"/>
          <p:cNvSpPr/>
          <p:nvPr/>
        </p:nvSpPr>
        <p:spPr>
          <a:xfrm>
            <a:off x="850392" y="5361833"/>
            <a:ext cx="64008" cy="64008"/>
          </a:xfrm>
          <a:prstGeom prst="ellipse">
            <a:avLst/>
          </a:prstGeom>
          <a:solidFill>
            <a:srgbClr val="0F766E"/>
          </a:solidFill>
          <a:ln/>
        </p:spPr>
      </p:sp>
      <p:sp>
        <p:nvSpPr>
          <p:cNvPr id="21" name="Text 19"/>
          <p:cNvSpPr txBox="1"/>
          <p:nvPr/>
        </p:nvSpPr>
        <p:spPr>
          <a:xfrm>
            <a:off x="1005840" y="527227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brady- (G) (bradi-)</a:t>
            </a:r>
            <a:r>
              <a:rPr lang="en-US" sz="1700" dirty="0">
                <a:solidFill>
                  <a:srgbClr val="4B5563"/>
                </a:solidFill>
                <a:latin typeface="Calibri" pitchFamily="34" charset="0"/>
                <a:ea typeface="Calibri" pitchFamily="34" charset="-122"/>
                <a:cs typeface="Calibri" pitchFamily="34" charset="-120"/>
              </a:rPr>
              <a:t>: Ağır, yavaş</a:t>
            </a:r>
            <a:endParaRPr lang="en-US" sz="1700" dirty="0"/>
          </a:p>
        </p:txBody>
      </p:sp>
      <p:sp>
        <p:nvSpPr>
          <p:cNvPr id="22" name="Shape 20"/>
          <p:cNvSpPr/>
          <p:nvPr/>
        </p:nvSpPr>
        <p:spPr>
          <a:xfrm>
            <a:off x="850392" y="5661807"/>
            <a:ext cx="64008" cy="64008"/>
          </a:xfrm>
          <a:prstGeom prst="ellipse">
            <a:avLst/>
          </a:prstGeom>
          <a:solidFill>
            <a:srgbClr val="0F766E"/>
          </a:solidFill>
          <a:ln/>
        </p:spPr>
      </p:sp>
      <p:sp>
        <p:nvSpPr>
          <p:cNvPr id="23" name="Text 21"/>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bradycardia (bradikadi)</a:t>
            </a:r>
            <a:r>
              <a:rPr lang="en-US" sz="1700" dirty="0">
                <a:solidFill>
                  <a:srgbClr val="4B5563"/>
                </a:solidFill>
                <a:latin typeface="Calibri" pitchFamily="34" charset="0"/>
                <a:ea typeface="Calibri" pitchFamily="34" charset="-122"/>
                <a:cs typeface="Calibri" pitchFamily="34" charset="-120"/>
              </a:rPr>
              <a:t>: Kalp atım hızının normalden az olması</a:t>
            </a:r>
            <a:endParaRPr lang="en-US" sz="1700" dirty="0"/>
          </a:p>
        </p:txBody>
      </p:sp>
      <p:sp>
        <p:nvSpPr>
          <p:cNvPr id="24" name="Shape 22"/>
          <p:cNvSpPr/>
          <p:nvPr/>
        </p:nvSpPr>
        <p:spPr>
          <a:xfrm>
            <a:off x="850392" y="5961781"/>
            <a:ext cx="64008" cy="64008"/>
          </a:xfrm>
          <a:prstGeom prst="ellipse">
            <a:avLst/>
          </a:prstGeom>
          <a:solidFill>
            <a:srgbClr val="0F766E"/>
          </a:solidFill>
          <a:ln/>
        </p:spPr>
      </p:sp>
      <p:sp>
        <p:nvSpPr>
          <p:cNvPr id="25" name="Text 23"/>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bradypnea (bradipne)</a:t>
            </a:r>
            <a:r>
              <a:rPr lang="en-US" sz="1700" dirty="0">
                <a:solidFill>
                  <a:srgbClr val="4B5563"/>
                </a:solidFill>
                <a:latin typeface="Calibri" pitchFamily="34" charset="0"/>
                <a:ea typeface="Calibri" pitchFamily="34" charset="-122"/>
                <a:cs typeface="Calibri" pitchFamily="34" charset="-120"/>
              </a:rPr>
              <a:t>: Solunum sayısının azalması</a:t>
            </a:r>
            <a:endParaRPr lang="en-US" sz="1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Normal, Düzgün, Sağlıklı ve Anormal, Kötü, Bozuk, Hasta Anlamı Veren Önekler</a:t>
            </a:r>
            <a:endParaRPr lang="en-US" sz="22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68</a:t>
            </a:r>
            <a:endParaRPr lang="en-US" sz="1000" dirty="0"/>
          </a:p>
        </p:txBody>
      </p:sp>
      <p:sp>
        <p:nvSpPr>
          <p:cNvPr id="6" name="Shape 4"/>
          <p:cNvSpPr/>
          <p:nvPr/>
        </p:nvSpPr>
        <p:spPr>
          <a:xfrm>
            <a:off x="548640" y="1668272"/>
            <a:ext cx="11094415" cy="1398270"/>
          </a:xfrm>
          <a:prstGeom prst="roundRect">
            <a:avLst>
              <a:gd name="adj" fmla="val 4578"/>
            </a:avLst>
          </a:prstGeom>
          <a:solidFill>
            <a:srgbClr val="EAF6F4"/>
          </a:solidFill>
          <a:ln/>
        </p:spPr>
      </p:sp>
      <p:sp>
        <p:nvSpPr>
          <p:cNvPr id="7" name="Text 5"/>
          <p:cNvSpPr txBox="1"/>
          <p:nvPr/>
        </p:nvSpPr>
        <p:spPr>
          <a:xfrm>
            <a:off x="731520" y="173228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1-a)  </a:t>
            </a:r>
            <a:endParaRPr lang="en-US" sz="1800" dirty="0"/>
          </a:p>
        </p:txBody>
      </p:sp>
      <p:sp>
        <p:nvSpPr>
          <p:cNvPr id="8" name="Shape 6"/>
          <p:cNvSpPr/>
          <p:nvPr/>
        </p:nvSpPr>
        <p:spPr>
          <a:xfrm>
            <a:off x="850392" y="2119015"/>
            <a:ext cx="64008" cy="64008"/>
          </a:xfrm>
          <a:prstGeom prst="ellipse">
            <a:avLst/>
          </a:prstGeom>
          <a:solidFill>
            <a:srgbClr val="0F766E"/>
          </a:solidFill>
          <a:ln/>
        </p:spPr>
      </p:sp>
      <p:sp>
        <p:nvSpPr>
          <p:cNvPr id="9" name="Text 7"/>
          <p:cNvSpPr txBox="1"/>
          <p:nvPr/>
        </p:nvSpPr>
        <p:spPr>
          <a:xfrm>
            <a:off x="1005840" y="202946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eu- (G) (ö-)</a:t>
            </a:r>
            <a:r>
              <a:rPr lang="en-US" sz="1700" dirty="0">
                <a:solidFill>
                  <a:srgbClr val="4B5563"/>
                </a:solidFill>
                <a:latin typeface="Calibri" pitchFamily="34" charset="0"/>
                <a:ea typeface="Calibri" pitchFamily="34" charset="-122"/>
                <a:cs typeface="Calibri" pitchFamily="34" charset="-120"/>
              </a:rPr>
              <a:t>: Normal, uygun, iyi, sağlıklı, zinde</a:t>
            </a:r>
            <a:endParaRPr lang="en-US" sz="1700" dirty="0"/>
          </a:p>
        </p:txBody>
      </p:sp>
      <p:sp>
        <p:nvSpPr>
          <p:cNvPr id="10" name="Shape 8"/>
          <p:cNvSpPr/>
          <p:nvPr/>
        </p:nvSpPr>
        <p:spPr>
          <a:xfrm>
            <a:off x="850392" y="2418989"/>
            <a:ext cx="64008" cy="64008"/>
          </a:xfrm>
          <a:prstGeom prst="ellipse">
            <a:avLst/>
          </a:prstGeom>
          <a:solidFill>
            <a:srgbClr val="0F766E"/>
          </a:solidFill>
          <a:ln/>
        </p:spPr>
      </p:sp>
      <p:sp>
        <p:nvSpPr>
          <p:cNvPr id="11" name="Text 9"/>
          <p:cNvSpPr txBox="1"/>
          <p:nvPr/>
        </p:nvSpPr>
        <p:spPr>
          <a:xfrm>
            <a:off x="1005840" y="232943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eupnea (öpne)</a:t>
            </a:r>
            <a:r>
              <a:rPr lang="en-US" sz="1700" dirty="0">
                <a:solidFill>
                  <a:srgbClr val="4B5563"/>
                </a:solidFill>
                <a:latin typeface="Calibri" pitchFamily="34" charset="0"/>
                <a:ea typeface="Calibri" pitchFamily="34" charset="-122"/>
                <a:cs typeface="Calibri" pitchFamily="34" charset="-120"/>
              </a:rPr>
              <a:t>: Normal solunum</a:t>
            </a:r>
            <a:endParaRPr lang="en-US" sz="1700" dirty="0"/>
          </a:p>
        </p:txBody>
      </p:sp>
      <p:sp>
        <p:nvSpPr>
          <p:cNvPr id="12" name="Shape 10"/>
          <p:cNvSpPr/>
          <p:nvPr/>
        </p:nvSpPr>
        <p:spPr>
          <a:xfrm>
            <a:off x="850392" y="2718963"/>
            <a:ext cx="64008" cy="64008"/>
          </a:xfrm>
          <a:prstGeom prst="ellipse">
            <a:avLst/>
          </a:prstGeom>
          <a:solidFill>
            <a:srgbClr val="0F766E"/>
          </a:solidFill>
          <a:ln/>
        </p:spPr>
      </p:sp>
      <p:sp>
        <p:nvSpPr>
          <p:cNvPr id="13" name="Text 11"/>
          <p:cNvSpPr txBox="1"/>
          <p:nvPr/>
        </p:nvSpPr>
        <p:spPr>
          <a:xfrm>
            <a:off x="1005840" y="262940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euplasia (öplazi)</a:t>
            </a:r>
            <a:r>
              <a:rPr lang="en-US" sz="1700" dirty="0">
                <a:solidFill>
                  <a:srgbClr val="4B5563"/>
                </a:solidFill>
                <a:latin typeface="Calibri" pitchFamily="34" charset="0"/>
                <a:ea typeface="Calibri" pitchFamily="34" charset="-122"/>
                <a:cs typeface="Calibri" pitchFamily="34" charset="-120"/>
              </a:rPr>
              <a:t>: Dokunun normal oluşumu</a:t>
            </a:r>
            <a:endParaRPr lang="en-US" sz="1700" dirty="0"/>
          </a:p>
        </p:txBody>
      </p:sp>
      <p:sp>
        <p:nvSpPr>
          <p:cNvPr id="14" name="Shape 12"/>
          <p:cNvSpPr/>
          <p:nvPr/>
        </p:nvSpPr>
        <p:spPr>
          <a:xfrm>
            <a:off x="548640" y="3157982"/>
            <a:ext cx="11094415" cy="1398270"/>
          </a:xfrm>
          <a:prstGeom prst="roundRect">
            <a:avLst>
              <a:gd name="adj" fmla="val 4578"/>
            </a:avLst>
          </a:prstGeom>
          <a:solidFill>
            <a:srgbClr val="EAF6F4"/>
          </a:solidFill>
          <a:ln/>
        </p:spPr>
      </p:sp>
      <p:sp>
        <p:nvSpPr>
          <p:cNvPr id="15" name="Text 13"/>
          <p:cNvSpPr txBox="1"/>
          <p:nvPr/>
        </p:nvSpPr>
        <p:spPr>
          <a:xfrm>
            <a:off x="731520" y="322199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1-b)  </a:t>
            </a:r>
            <a:endParaRPr lang="en-US" sz="1800" dirty="0"/>
          </a:p>
        </p:txBody>
      </p:sp>
      <p:sp>
        <p:nvSpPr>
          <p:cNvPr id="16" name="Shape 14"/>
          <p:cNvSpPr/>
          <p:nvPr/>
        </p:nvSpPr>
        <p:spPr>
          <a:xfrm>
            <a:off x="850392" y="3608725"/>
            <a:ext cx="64008" cy="64008"/>
          </a:xfrm>
          <a:prstGeom prst="ellipse">
            <a:avLst/>
          </a:prstGeom>
          <a:solidFill>
            <a:srgbClr val="0F766E"/>
          </a:solidFill>
          <a:ln/>
        </p:spPr>
      </p:sp>
      <p:sp>
        <p:nvSpPr>
          <p:cNvPr id="17" name="Text 15"/>
          <p:cNvSpPr txBox="1"/>
          <p:nvPr/>
        </p:nvSpPr>
        <p:spPr>
          <a:xfrm>
            <a:off x="1005840" y="351917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normo- (G) (normo-)</a:t>
            </a:r>
            <a:r>
              <a:rPr lang="en-US" sz="1700" dirty="0">
                <a:solidFill>
                  <a:srgbClr val="4B5563"/>
                </a:solidFill>
                <a:latin typeface="Calibri" pitchFamily="34" charset="0"/>
                <a:ea typeface="Calibri" pitchFamily="34" charset="-122"/>
                <a:cs typeface="Calibri" pitchFamily="34" charset="-120"/>
              </a:rPr>
              <a:t>: Normal, tabii</a:t>
            </a:r>
            <a:endParaRPr lang="en-US" sz="1700" dirty="0"/>
          </a:p>
        </p:txBody>
      </p:sp>
      <p:sp>
        <p:nvSpPr>
          <p:cNvPr id="18" name="Shape 16"/>
          <p:cNvSpPr/>
          <p:nvPr/>
        </p:nvSpPr>
        <p:spPr>
          <a:xfrm>
            <a:off x="850392" y="3908699"/>
            <a:ext cx="64008" cy="64008"/>
          </a:xfrm>
          <a:prstGeom prst="ellipse">
            <a:avLst/>
          </a:prstGeom>
          <a:solidFill>
            <a:srgbClr val="0F766E"/>
          </a:solidFill>
          <a:ln/>
        </p:spPr>
      </p:sp>
      <p:sp>
        <p:nvSpPr>
          <p:cNvPr id="19" name="Text 17"/>
          <p:cNvSpPr txBox="1"/>
          <p:nvPr/>
        </p:nvSpPr>
        <p:spPr>
          <a:xfrm>
            <a:off x="1005840" y="381914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normocyte (normosit)</a:t>
            </a:r>
            <a:r>
              <a:rPr lang="en-US" sz="1700" dirty="0">
                <a:solidFill>
                  <a:srgbClr val="4B5563"/>
                </a:solidFill>
                <a:latin typeface="Calibri" pitchFamily="34" charset="0"/>
                <a:ea typeface="Calibri" pitchFamily="34" charset="-122"/>
                <a:cs typeface="Calibri" pitchFamily="34" charset="-120"/>
              </a:rPr>
              <a:t>: Normal alyuvar hücresi</a:t>
            </a:r>
            <a:endParaRPr lang="en-US" sz="1700" dirty="0"/>
          </a:p>
        </p:txBody>
      </p:sp>
      <p:sp>
        <p:nvSpPr>
          <p:cNvPr id="20" name="Shape 18"/>
          <p:cNvSpPr/>
          <p:nvPr/>
        </p:nvSpPr>
        <p:spPr>
          <a:xfrm>
            <a:off x="850392" y="4208673"/>
            <a:ext cx="64008" cy="64008"/>
          </a:xfrm>
          <a:prstGeom prst="ellipse">
            <a:avLst/>
          </a:prstGeom>
          <a:solidFill>
            <a:srgbClr val="0F766E"/>
          </a:solidFill>
          <a:ln/>
        </p:spPr>
      </p:sp>
      <p:sp>
        <p:nvSpPr>
          <p:cNvPr id="21" name="Text 19"/>
          <p:cNvSpPr txBox="1"/>
          <p:nvPr/>
        </p:nvSpPr>
        <p:spPr>
          <a:xfrm>
            <a:off x="1005840" y="411911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normothermia (normotermi)</a:t>
            </a:r>
            <a:r>
              <a:rPr lang="en-US" sz="1700" dirty="0">
                <a:solidFill>
                  <a:srgbClr val="4B5563"/>
                </a:solidFill>
                <a:latin typeface="Calibri" pitchFamily="34" charset="0"/>
                <a:ea typeface="Calibri" pitchFamily="34" charset="-122"/>
                <a:cs typeface="Calibri" pitchFamily="34" charset="-120"/>
              </a:rPr>
              <a:t>: Vücudun normal ısısını değiştermeksizin koruması</a:t>
            </a:r>
            <a:endParaRPr lang="en-US" sz="1700" dirty="0"/>
          </a:p>
        </p:txBody>
      </p:sp>
      <p:sp>
        <p:nvSpPr>
          <p:cNvPr id="22" name="Shape 20"/>
          <p:cNvSpPr/>
          <p:nvPr/>
        </p:nvSpPr>
        <p:spPr>
          <a:xfrm>
            <a:off x="548640" y="4647692"/>
            <a:ext cx="11094415" cy="1661668"/>
          </a:xfrm>
          <a:prstGeom prst="roundRect">
            <a:avLst>
              <a:gd name="adj" fmla="val 3852"/>
            </a:avLst>
          </a:prstGeom>
          <a:solidFill>
            <a:srgbClr val="EAF6F4"/>
          </a:solidFill>
          <a:ln/>
        </p:spPr>
      </p:sp>
      <p:sp>
        <p:nvSpPr>
          <p:cNvPr id="23" name="Text 21"/>
          <p:cNvSpPr txBox="1"/>
          <p:nvPr/>
        </p:nvSpPr>
        <p:spPr>
          <a:xfrm>
            <a:off x="731520" y="471170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1-c)  </a:t>
            </a:r>
            <a:endParaRPr lang="en-US" sz="1800" dirty="0"/>
          </a:p>
        </p:txBody>
      </p:sp>
      <p:sp>
        <p:nvSpPr>
          <p:cNvPr id="24" name="Shape 22"/>
          <p:cNvSpPr/>
          <p:nvPr/>
        </p:nvSpPr>
        <p:spPr>
          <a:xfrm>
            <a:off x="850392" y="5098435"/>
            <a:ext cx="64008" cy="64008"/>
          </a:xfrm>
          <a:prstGeom prst="ellipse">
            <a:avLst/>
          </a:prstGeom>
          <a:solidFill>
            <a:srgbClr val="0F766E"/>
          </a:solidFill>
          <a:ln/>
        </p:spPr>
      </p:sp>
      <p:sp>
        <p:nvSpPr>
          <p:cNvPr id="25" name="Text 23"/>
          <p:cNvSpPr txBox="1"/>
          <p:nvPr/>
        </p:nvSpPr>
        <p:spPr>
          <a:xfrm>
            <a:off x="1005840" y="500888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orth (o)- (G) (ort-, orto-)</a:t>
            </a:r>
            <a:r>
              <a:rPr lang="en-US" sz="1700" dirty="0">
                <a:solidFill>
                  <a:srgbClr val="4B5563"/>
                </a:solidFill>
                <a:latin typeface="Calibri" pitchFamily="34" charset="0"/>
                <a:ea typeface="Calibri" pitchFamily="34" charset="-122"/>
                <a:cs typeface="Calibri" pitchFamily="34" charset="-120"/>
              </a:rPr>
              <a:t>: Normal, düzgün</a:t>
            </a:r>
            <a:endParaRPr lang="en-US" sz="1700" dirty="0"/>
          </a:p>
        </p:txBody>
      </p:sp>
      <p:sp>
        <p:nvSpPr>
          <p:cNvPr id="26" name="Shape 24"/>
          <p:cNvSpPr/>
          <p:nvPr/>
        </p:nvSpPr>
        <p:spPr>
          <a:xfrm>
            <a:off x="850392" y="5398409"/>
            <a:ext cx="64008" cy="64008"/>
          </a:xfrm>
          <a:prstGeom prst="ellipse">
            <a:avLst/>
          </a:prstGeom>
          <a:solidFill>
            <a:srgbClr val="0F766E"/>
          </a:solidFill>
          <a:ln/>
        </p:spPr>
      </p:sp>
      <p:sp>
        <p:nvSpPr>
          <p:cNvPr id="27" name="Text 25"/>
          <p:cNvSpPr txBox="1"/>
          <p:nvPr/>
        </p:nvSpPr>
        <p:spPr>
          <a:xfrm>
            <a:off x="1005840" y="530885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orthopedia (ortopedi)</a:t>
            </a:r>
            <a:r>
              <a:rPr lang="en-US" sz="1700" dirty="0">
                <a:solidFill>
                  <a:srgbClr val="4B5563"/>
                </a:solidFill>
                <a:latin typeface="Calibri" pitchFamily="34" charset="0"/>
                <a:ea typeface="Calibri" pitchFamily="34" charset="-122"/>
                <a:cs typeface="Calibri" pitchFamily="34" charset="-120"/>
              </a:rPr>
              <a:t>: İskeletin şekil bozukluklarını önleyen ve tedavi eden bilim dalı</a:t>
            </a:r>
            <a:endParaRPr lang="en-US" sz="1700" dirty="0"/>
          </a:p>
        </p:txBody>
      </p:sp>
      <p:sp>
        <p:nvSpPr>
          <p:cNvPr id="28" name="Shape 26"/>
          <p:cNvSpPr/>
          <p:nvPr/>
        </p:nvSpPr>
        <p:spPr>
          <a:xfrm>
            <a:off x="850392" y="5698383"/>
            <a:ext cx="64008" cy="64008"/>
          </a:xfrm>
          <a:prstGeom prst="ellipse">
            <a:avLst/>
          </a:prstGeom>
          <a:solidFill>
            <a:srgbClr val="0F766E"/>
          </a:solidFill>
          <a:ln/>
        </p:spPr>
      </p:sp>
      <p:sp>
        <p:nvSpPr>
          <p:cNvPr id="29" name="Text 27"/>
          <p:cNvSpPr txBox="1"/>
          <p:nvPr/>
        </p:nvSpPr>
        <p:spPr>
          <a:xfrm>
            <a:off x="1005840" y="5608828"/>
            <a:ext cx="10454335" cy="563372"/>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orthodontia (ortodonti)</a:t>
            </a:r>
            <a:r>
              <a:rPr lang="en-US" sz="1700" dirty="0">
                <a:solidFill>
                  <a:srgbClr val="4B5563"/>
                </a:solidFill>
                <a:latin typeface="Calibri" pitchFamily="34" charset="0"/>
                <a:ea typeface="Calibri" pitchFamily="34" charset="-122"/>
                <a:cs typeface="Calibri" pitchFamily="34" charset="-120"/>
              </a:rPr>
              <a:t>: Dişlerin şekil ve diziliş bozukluklarının tedavisini konu alan dişçilik dalı</a:t>
            </a:r>
            <a:endParaRPr lang="en-US" sz="17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Sayılarla İlgili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69</a:t>
            </a:r>
            <a:endParaRPr lang="en-US" sz="1000" dirty="0"/>
          </a:p>
        </p:txBody>
      </p:sp>
      <p:sp>
        <p:nvSpPr>
          <p:cNvPr id="6" name="Shape 4"/>
          <p:cNvSpPr/>
          <p:nvPr/>
        </p:nvSpPr>
        <p:spPr>
          <a:xfrm>
            <a:off x="548640" y="1485392"/>
            <a:ext cx="11094415" cy="1388364"/>
          </a:xfrm>
          <a:prstGeom prst="roundRect">
            <a:avLst>
              <a:gd name="adj" fmla="val 4610"/>
            </a:avLst>
          </a:prstGeom>
          <a:solidFill>
            <a:srgbClr val="EAF6F4"/>
          </a:solidFill>
          <a:ln/>
        </p:spPr>
      </p:sp>
      <p:sp>
        <p:nvSpPr>
          <p:cNvPr id="7" name="Text 5"/>
          <p:cNvSpPr txBox="1"/>
          <p:nvPr/>
        </p:nvSpPr>
        <p:spPr>
          <a:xfrm>
            <a:off x="731520" y="1549400"/>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1-a)  </a:t>
            </a:r>
            <a:endParaRPr lang="en-US" sz="1400" dirty="0"/>
          </a:p>
        </p:txBody>
      </p:sp>
      <p:sp>
        <p:nvSpPr>
          <p:cNvPr id="8" name="Shape 6"/>
          <p:cNvSpPr/>
          <p:nvPr/>
        </p:nvSpPr>
        <p:spPr>
          <a:xfrm>
            <a:off x="850392" y="1853087"/>
            <a:ext cx="64008" cy="64008"/>
          </a:xfrm>
          <a:prstGeom prst="ellipse">
            <a:avLst/>
          </a:prstGeom>
          <a:solidFill>
            <a:srgbClr val="0F766E"/>
          </a:solidFill>
          <a:ln/>
        </p:spPr>
      </p:sp>
      <p:sp>
        <p:nvSpPr>
          <p:cNvPr id="9" name="Text 7"/>
          <p:cNvSpPr txBox="1"/>
          <p:nvPr/>
        </p:nvSpPr>
        <p:spPr>
          <a:xfrm>
            <a:off x="1005840" y="1784604"/>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uni-,  unus- (L) (uni-, unus-)</a:t>
            </a:r>
            <a:r>
              <a:rPr lang="en-US" sz="1300" dirty="0">
                <a:solidFill>
                  <a:srgbClr val="4B5563"/>
                </a:solidFill>
                <a:latin typeface="Calibri" pitchFamily="34" charset="0"/>
                <a:ea typeface="Calibri" pitchFamily="34" charset="-122"/>
                <a:cs typeface="Calibri" pitchFamily="34" charset="-120"/>
              </a:rPr>
              <a:t>: Bir, tek</a:t>
            </a:r>
            <a:endParaRPr lang="en-US" sz="1300" dirty="0"/>
          </a:p>
        </p:txBody>
      </p:sp>
      <p:sp>
        <p:nvSpPr>
          <p:cNvPr id="10" name="Shape 8"/>
          <p:cNvSpPr/>
          <p:nvPr/>
        </p:nvSpPr>
        <p:spPr>
          <a:xfrm>
            <a:off x="850392" y="2091085"/>
            <a:ext cx="64008" cy="64008"/>
          </a:xfrm>
          <a:prstGeom prst="ellipse">
            <a:avLst/>
          </a:prstGeom>
          <a:solidFill>
            <a:srgbClr val="0F766E"/>
          </a:solidFill>
          <a:ln/>
        </p:spPr>
      </p:sp>
      <p:sp>
        <p:nvSpPr>
          <p:cNvPr id="11" name="Text 9"/>
          <p:cNvSpPr txBox="1"/>
          <p:nvPr/>
        </p:nvSpPr>
        <p:spPr>
          <a:xfrm>
            <a:off x="1005840" y="2022602"/>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unilateralis (unilateral)</a:t>
            </a:r>
            <a:r>
              <a:rPr lang="en-US" sz="1300" dirty="0">
                <a:solidFill>
                  <a:srgbClr val="4B5563"/>
                </a:solidFill>
                <a:latin typeface="Calibri" pitchFamily="34" charset="0"/>
                <a:ea typeface="Calibri" pitchFamily="34" charset="-122"/>
                <a:cs typeface="Calibri" pitchFamily="34" charset="-120"/>
              </a:rPr>
              <a:t>: Tek yanlı</a:t>
            </a:r>
            <a:endParaRPr lang="en-US" sz="1300" dirty="0"/>
          </a:p>
        </p:txBody>
      </p:sp>
      <p:sp>
        <p:nvSpPr>
          <p:cNvPr id="12" name="Shape 10"/>
          <p:cNvSpPr/>
          <p:nvPr/>
        </p:nvSpPr>
        <p:spPr>
          <a:xfrm>
            <a:off x="850392" y="2329083"/>
            <a:ext cx="64008" cy="64008"/>
          </a:xfrm>
          <a:prstGeom prst="ellipse">
            <a:avLst/>
          </a:prstGeom>
          <a:solidFill>
            <a:srgbClr val="0F766E"/>
          </a:solidFill>
          <a:ln/>
        </p:spPr>
      </p:sp>
      <p:sp>
        <p:nvSpPr>
          <p:cNvPr id="13" name="Text 11"/>
          <p:cNvSpPr txBox="1"/>
          <p:nvPr/>
        </p:nvSpPr>
        <p:spPr>
          <a:xfrm>
            <a:off x="1005840" y="2260600"/>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unilaminaris (unilaminar)</a:t>
            </a:r>
            <a:r>
              <a:rPr lang="en-US" sz="1300" dirty="0">
                <a:solidFill>
                  <a:srgbClr val="4B5563"/>
                </a:solidFill>
                <a:latin typeface="Calibri" pitchFamily="34" charset="0"/>
                <a:ea typeface="Calibri" pitchFamily="34" charset="-122"/>
                <a:cs typeface="Calibri" pitchFamily="34" charset="-120"/>
              </a:rPr>
              <a:t>: Tek katlı</a:t>
            </a:r>
            <a:endParaRPr lang="en-US" sz="1300" dirty="0"/>
          </a:p>
        </p:txBody>
      </p:sp>
      <p:sp>
        <p:nvSpPr>
          <p:cNvPr id="14" name="Shape 12"/>
          <p:cNvSpPr/>
          <p:nvPr/>
        </p:nvSpPr>
        <p:spPr>
          <a:xfrm>
            <a:off x="850392" y="2567081"/>
            <a:ext cx="64008" cy="64008"/>
          </a:xfrm>
          <a:prstGeom prst="ellipse">
            <a:avLst/>
          </a:prstGeom>
          <a:solidFill>
            <a:srgbClr val="0F766E"/>
          </a:solidFill>
          <a:ln/>
        </p:spPr>
      </p:sp>
      <p:sp>
        <p:nvSpPr>
          <p:cNvPr id="15" name="Text 13"/>
          <p:cNvSpPr txBox="1"/>
          <p:nvPr/>
        </p:nvSpPr>
        <p:spPr>
          <a:xfrm>
            <a:off x="1005840" y="2498598"/>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unipolaris (unipolar)</a:t>
            </a:r>
            <a:r>
              <a:rPr lang="en-US" sz="1300" dirty="0">
                <a:solidFill>
                  <a:srgbClr val="4B5563"/>
                </a:solidFill>
                <a:latin typeface="Calibri" pitchFamily="34" charset="0"/>
                <a:ea typeface="Calibri" pitchFamily="34" charset="-122"/>
                <a:cs typeface="Calibri" pitchFamily="34" charset="-120"/>
              </a:rPr>
              <a:t>: Tek kutuplu</a:t>
            </a:r>
            <a:endParaRPr lang="en-US" sz="1300" dirty="0"/>
          </a:p>
        </p:txBody>
      </p:sp>
      <p:sp>
        <p:nvSpPr>
          <p:cNvPr id="16" name="Shape 14"/>
          <p:cNvSpPr/>
          <p:nvPr/>
        </p:nvSpPr>
        <p:spPr>
          <a:xfrm>
            <a:off x="548640" y="2965196"/>
            <a:ext cx="11094415" cy="1388364"/>
          </a:xfrm>
          <a:prstGeom prst="roundRect">
            <a:avLst>
              <a:gd name="adj" fmla="val 4610"/>
            </a:avLst>
          </a:prstGeom>
          <a:solidFill>
            <a:srgbClr val="EAF6F4"/>
          </a:solidFill>
          <a:ln/>
        </p:spPr>
      </p:sp>
      <p:sp>
        <p:nvSpPr>
          <p:cNvPr id="17" name="Text 15"/>
          <p:cNvSpPr txBox="1"/>
          <p:nvPr/>
        </p:nvSpPr>
        <p:spPr>
          <a:xfrm>
            <a:off x="731520" y="3029204"/>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1-b)  </a:t>
            </a:r>
            <a:endParaRPr lang="en-US" sz="1400" dirty="0"/>
          </a:p>
        </p:txBody>
      </p:sp>
      <p:sp>
        <p:nvSpPr>
          <p:cNvPr id="18" name="Shape 16"/>
          <p:cNvSpPr/>
          <p:nvPr/>
        </p:nvSpPr>
        <p:spPr>
          <a:xfrm>
            <a:off x="850392" y="3332891"/>
            <a:ext cx="64008" cy="64008"/>
          </a:xfrm>
          <a:prstGeom prst="ellipse">
            <a:avLst/>
          </a:prstGeom>
          <a:solidFill>
            <a:srgbClr val="0F766E"/>
          </a:solidFill>
          <a:ln/>
        </p:spPr>
      </p:sp>
      <p:sp>
        <p:nvSpPr>
          <p:cNvPr id="19" name="Text 17"/>
          <p:cNvSpPr txBox="1"/>
          <p:nvPr/>
        </p:nvSpPr>
        <p:spPr>
          <a:xfrm>
            <a:off x="1005840" y="3264408"/>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mon-, mono- (G) (mon-, mono-)</a:t>
            </a:r>
            <a:r>
              <a:rPr lang="en-US" sz="1300" dirty="0">
                <a:solidFill>
                  <a:srgbClr val="4B5563"/>
                </a:solidFill>
                <a:latin typeface="Calibri" pitchFamily="34" charset="0"/>
                <a:ea typeface="Calibri" pitchFamily="34" charset="-122"/>
                <a:cs typeface="Calibri" pitchFamily="34" charset="-120"/>
              </a:rPr>
              <a:t>: Bir, tek</a:t>
            </a:r>
            <a:endParaRPr lang="en-US" sz="1300" dirty="0"/>
          </a:p>
        </p:txBody>
      </p:sp>
      <p:sp>
        <p:nvSpPr>
          <p:cNvPr id="20" name="Shape 18"/>
          <p:cNvSpPr/>
          <p:nvPr/>
        </p:nvSpPr>
        <p:spPr>
          <a:xfrm>
            <a:off x="850392" y="3570889"/>
            <a:ext cx="64008" cy="64008"/>
          </a:xfrm>
          <a:prstGeom prst="ellipse">
            <a:avLst/>
          </a:prstGeom>
          <a:solidFill>
            <a:srgbClr val="0F766E"/>
          </a:solidFill>
          <a:ln/>
        </p:spPr>
      </p:sp>
      <p:sp>
        <p:nvSpPr>
          <p:cNvPr id="21" name="Text 19"/>
          <p:cNvSpPr txBox="1"/>
          <p:nvPr/>
        </p:nvSpPr>
        <p:spPr>
          <a:xfrm>
            <a:off x="1005840" y="3502406"/>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mononuclearis (mononüklear)</a:t>
            </a:r>
            <a:r>
              <a:rPr lang="en-US" sz="1300" dirty="0">
                <a:solidFill>
                  <a:srgbClr val="4B5563"/>
                </a:solidFill>
                <a:latin typeface="Calibri" pitchFamily="34" charset="0"/>
                <a:ea typeface="Calibri" pitchFamily="34" charset="-122"/>
                <a:cs typeface="Calibri" pitchFamily="34" charset="-120"/>
              </a:rPr>
              <a:t>: Tek çekirdekli</a:t>
            </a:r>
            <a:endParaRPr lang="en-US" sz="1300" dirty="0"/>
          </a:p>
        </p:txBody>
      </p:sp>
      <p:sp>
        <p:nvSpPr>
          <p:cNvPr id="22" name="Shape 20"/>
          <p:cNvSpPr/>
          <p:nvPr/>
        </p:nvSpPr>
        <p:spPr>
          <a:xfrm>
            <a:off x="850392" y="3808887"/>
            <a:ext cx="64008" cy="64008"/>
          </a:xfrm>
          <a:prstGeom prst="ellipse">
            <a:avLst/>
          </a:prstGeom>
          <a:solidFill>
            <a:srgbClr val="0F766E"/>
          </a:solidFill>
          <a:ln/>
        </p:spPr>
      </p:sp>
      <p:sp>
        <p:nvSpPr>
          <p:cNvPr id="23" name="Text 21"/>
          <p:cNvSpPr txBox="1"/>
          <p:nvPr/>
        </p:nvSpPr>
        <p:spPr>
          <a:xfrm>
            <a:off x="1005840" y="3740404"/>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monoplegia (monopleji)</a:t>
            </a:r>
            <a:r>
              <a:rPr lang="en-US" sz="1300" dirty="0">
                <a:solidFill>
                  <a:srgbClr val="4B5563"/>
                </a:solidFill>
                <a:latin typeface="Calibri" pitchFamily="34" charset="0"/>
                <a:ea typeface="Calibri" pitchFamily="34" charset="-122"/>
                <a:cs typeface="Calibri" pitchFamily="34" charset="-120"/>
              </a:rPr>
              <a:t>: Bir kolun veya bacağın felç olması</a:t>
            </a:r>
            <a:endParaRPr lang="en-US" sz="1300" dirty="0"/>
          </a:p>
        </p:txBody>
      </p:sp>
      <p:sp>
        <p:nvSpPr>
          <p:cNvPr id="24" name="Shape 22"/>
          <p:cNvSpPr/>
          <p:nvPr/>
        </p:nvSpPr>
        <p:spPr>
          <a:xfrm>
            <a:off x="850392" y="4046885"/>
            <a:ext cx="64008" cy="64008"/>
          </a:xfrm>
          <a:prstGeom prst="ellipse">
            <a:avLst/>
          </a:prstGeom>
          <a:solidFill>
            <a:srgbClr val="0F766E"/>
          </a:solidFill>
          <a:ln/>
        </p:spPr>
      </p:sp>
      <p:sp>
        <p:nvSpPr>
          <p:cNvPr id="25" name="Text 23"/>
          <p:cNvSpPr txBox="1"/>
          <p:nvPr/>
        </p:nvSpPr>
        <p:spPr>
          <a:xfrm>
            <a:off x="1005840" y="3978402"/>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monarthritis (monartrit)</a:t>
            </a:r>
            <a:r>
              <a:rPr lang="en-US" sz="1300" dirty="0">
                <a:solidFill>
                  <a:srgbClr val="4B5563"/>
                </a:solidFill>
                <a:latin typeface="Calibri" pitchFamily="34" charset="0"/>
                <a:ea typeface="Calibri" pitchFamily="34" charset="-122"/>
                <a:cs typeface="Calibri" pitchFamily="34" charset="-120"/>
              </a:rPr>
              <a:t>: Tek eklemin iltihabı</a:t>
            </a:r>
            <a:endParaRPr lang="en-US" sz="1300" dirty="0"/>
          </a:p>
        </p:txBody>
      </p:sp>
      <p:sp>
        <p:nvSpPr>
          <p:cNvPr id="26" name="Shape 24"/>
          <p:cNvSpPr/>
          <p:nvPr/>
        </p:nvSpPr>
        <p:spPr>
          <a:xfrm>
            <a:off x="548640" y="4445000"/>
            <a:ext cx="11094415" cy="1864360"/>
          </a:xfrm>
          <a:prstGeom prst="roundRect">
            <a:avLst>
              <a:gd name="adj" fmla="val 3433"/>
            </a:avLst>
          </a:prstGeom>
          <a:solidFill>
            <a:srgbClr val="EAF6F4"/>
          </a:solidFill>
          <a:ln/>
        </p:spPr>
      </p:sp>
      <p:sp>
        <p:nvSpPr>
          <p:cNvPr id="27" name="Text 25"/>
          <p:cNvSpPr txBox="1"/>
          <p:nvPr/>
        </p:nvSpPr>
        <p:spPr>
          <a:xfrm>
            <a:off x="731520" y="4509008"/>
            <a:ext cx="10728655"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2-a)  </a:t>
            </a:r>
            <a:endParaRPr lang="en-US" sz="1400" dirty="0"/>
          </a:p>
        </p:txBody>
      </p:sp>
      <p:sp>
        <p:nvSpPr>
          <p:cNvPr id="28" name="Shape 26"/>
          <p:cNvSpPr/>
          <p:nvPr/>
        </p:nvSpPr>
        <p:spPr>
          <a:xfrm>
            <a:off x="850392" y="4812695"/>
            <a:ext cx="64008" cy="64008"/>
          </a:xfrm>
          <a:prstGeom prst="ellipse">
            <a:avLst/>
          </a:prstGeom>
          <a:solidFill>
            <a:srgbClr val="0F766E"/>
          </a:solidFill>
          <a:ln/>
        </p:spPr>
      </p:sp>
      <p:sp>
        <p:nvSpPr>
          <p:cNvPr id="29" name="Text 27"/>
          <p:cNvSpPr txBox="1"/>
          <p:nvPr/>
        </p:nvSpPr>
        <p:spPr>
          <a:xfrm>
            <a:off x="1005840" y="4744212"/>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bi-, bin-, bis- (L) (bi-,bin-, bis-)</a:t>
            </a:r>
            <a:r>
              <a:rPr lang="en-US" sz="1300" dirty="0">
                <a:solidFill>
                  <a:srgbClr val="4B5563"/>
                </a:solidFill>
                <a:latin typeface="Calibri" pitchFamily="34" charset="0"/>
                <a:ea typeface="Calibri" pitchFamily="34" charset="-122"/>
                <a:cs typeface="Calibri" pitchFamily="34" charset="-120"/>
              </a:rPr>
              <a:t>: İki, çift</a:t>
            </a:r>
            <a:endParaRPr lang="en-US" sz="1300" dirty="0"/>
          </a:p>
        </p:txBody>
      </p:sp>
      <p:sp>
        <p:nvSpPr>
          <p:cNvPr id="30" name="Shape 28"/>
          <p:cNvSpPr/>
          <p:nvPr/>
        </p:nvSpPr>
        <p:spPr>
          <a:xfrm>
            <a:off x="850392" y="5050693"/>
            <a:ext cx="64008" cy="64008"/>
          </a:xfrm>
          <a:prstGeom prst="ellipse">
            <a:avLst/>
          </a:prstGeom>
          <a:solidFill>
            <a:srgbClr val="0F766E"/>
          </a:solidFill>
          <a:ln/>
        </p:spPr>
      </p:sp>
      <p:sp>
        <p:nvSpPr>
          <p:cNvPr id="31" name="Text 29"/>
          <p:cNvSpPr txBox="1"/>
          <p:nvPr/>
        </p:nvSpPr>
        <p:spPr>
          <a:xfrm>
            <a:off x="1005840" y="4982210"/>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bisaxillary (bisaksillari)</a:t>
            </a:r>
            <a:r>
              <a:rPr lang="en-US" sz="1300" dirty="0">
                <a:solidFill>
                  <a:srgbClr val="4B5563"/>
                </a:solidFill>
                <a:latin typeface="Calibri" pitchFamily="34" charset="0"/>
                <a:ea typeface="Calibri" pitchFamily="34" charset="-122"/>
                <a:cs typeface="Calibri" pitchFamily="34" charset="-120"/>
              </a:rPr>
              <a:t>: Her iki koltuk altı ile ilgili</a:t>
            </a:r>
            <a:endParaRPr lang="en-US" sz="1300" dirty="0"/>
          </a:p>
        </p:txBody>
      </p:sp>
      <p:sp>
        <p:nvSpPr>
          <p:cNvPr id="32" name="Shape 30"/>
          <p:cNvSpPr/>
          <p:nvPr/>
        </p:nvSpPr>
        <p:spPr>
          <a:xfrm>
            <a:off x="850392" y="5288691"/>
            <a:ext cx="64008" cy="64008"/>
          </a:xfrm>
          <a:prstGeom prst="ellipse">
            <a:avLst/>
          </a:prstGeom>
          <a:solidFill>
            <a:srgbClr val="0F766E"/>
          </a:solidFill>
          <a:ln/>
        </p:spPr>
      </p:sp>
      <p:sp>
        <p:nvSpPr>
          <p:cNvPr id="33" name="Text 31"/>
          <p:cNvSpPr txBox="1"/>
          <p:nvPr/>
        </p:nvSpPr>
        <p:spPr>
          <a:xfrm>
            <a:off x="1005840" y="5220208"/>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binoculus (biokulus)</a:t>
            </a:r>
            <a:r>
              <a:rPr lang="en-US" sz="1300" dirty="0">
                <a:solidFill>
                  <a:srgbClr val="4B5563"/>
                </a:solidFill>
                <a:latin typeface="Calibri" pitchFamily="34" charset="0"/>
                <a:ea typeface="Calibri" pitchFamily="34" charset="-122"/>
                <a:cs typeface="Calibri" pitchFamily="34" charset="-120"/>
              </a:rPr>
              <a:t>: İki gözlü</a:t>
            </a:r>
            <a:endParaRPr lang="en-US" sz="1300" dirty="0"/>
          </a:p>
        </p:txBody>
      </p:sp>
      <p:sp>
        <p:nvSpPr>
          <p:cNvPr id="34" name="Shape 32"/>
          <p:cNvSpPr/>
          <p:nvPr/>
        </p:nvSpPr>
        <p:spPr>
          <a:xfrm>
            <a:off x="850392" y="5526689"/>
            <a:ext cx="64008" cy="64008"/>
          </a:xfrm>
          <a:prstGeom prst="ellipse">
            <a:avLst/>
          </a:prstGeom>
          <a:solidFill>
            <a:srgbClr val="0F766E"/>
          </a:solidFill>
          <a:ln/>
        </p:spPr>
      </p:sp>
      <p:sp>
        <p:nvSpPr>
          <p:cNvPr id="35" name="Text 33"/>
          <p:cNvSpPr txBox="1"/>
          <p:nvPr/>
        </p:nvSpPr>
        <p:spPr>
          <a:xfrm>
            <a:off x="1005840" y="5458206"/>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bicuspis (bikuspis)</a:t>
            </a:r>
            <a:r>
              <a:rPr lang="en-US" sz="1300" dirty="0">
                <a:solidFill>
                  <a:srgbClr val="4B5563"/>
                </a:solidFill>
                <a:latin typeface="Calibri" pitchFamily="34" charset="0"/>
                <a:ea typeface="Calibri" pitchFamily="34" charset="-122"/>
                <a:cs typeface="Calibri" pitchFamily="34" charset="-120"/>
              </a:rPr>
              <a:t>: İki kapaklı</a:t>
            </a:r>
            <a:endParaRPr lang="en-US" sz="1300" dirty="0"/>
          </a:p>
        </p:txBody>
      </p:sp>
      <p:sp>
        <p:nvSpPr>
          <p:cNvPr id="36" name="Shape 34"/>
          <p:cNvSpPr/>
          <p:nvPr/>
        </p:nvSpPr>
        <p:spPr>
          <a:xfrm>
            <a:off x="850392" y="5764687"/>
            <a:ext cx="64008" cy="64008"/>
          </a:xfrm>
          <a:prstGeom prst="ellipse">
            <a:avLst/>
          </a:prstGeom>
          <a:solidFill>
            <a:srgbClr val="0F766E"/>
          </a:solidFill>
          <a:ln/>
        </p:spPr>
      </p:sp>
      <p:sp>
        <p:nvSpPr>
          <p:cNvPr id="37" name="Text 35"/>
          <p:cNvSpPr txBox="1"/>
          <p:nvPr/>
        </p:nvSpPr>
        <p:spPr>
          <a:xfrm>
            <a:off x="1005840" y="5696204"/>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biceps (biseps)</a:t>
            </a:r>
            <a:r>
              <a:rPr lang="en-US" sz="1300" dirty="0">
                <a:solidFill>
                  <a:srgbClr val="4B5563"/>
                </a:solidFill>
                <a:latin typeface="Calibri" pitchFamily="34" charset="0"/>
                <a:ea typeface="Calibri" pitchFamily="34" charset="-122"/>
                <a:cs typeface="Calibri" pitchFamily="34" charset="-120"/>
              </a:rPr>
              <a:t>: İki başlı</a:t>
            </a:r>
            <a:endParaRPr lang="en-US" sz="1300" dirty="0"/>
          </a:p>
        </p:txBody>
      </p:sp>
      <p:sp>
        <p:nvSpPr>
          <p:cNvPr id="38" name="Shape 36"/>
          <p:cNvSpPr/>
          <p:nvPr/>
        </p:nvSpPr>
        <p:spPr>
          <a:xfrm>
            <a:off x="850392" y="6002685"/>
            <a:ext cx="64008" cy="64008"/>
          </a:xfrm>
          <a:prstGeom prst="ellipse">
            <a:avLst/>
          </a:prstGeom>
          <a:solidFill>
            <a:srgbClr val="0F766E"/>
          </a:solidFill>
          <a:ln/>
        </p:spPr>
      </p:sp>
      <p:sp>
        <p:nvSpPr>
          <p:cNvPr id="39" name="Text 37"/>
          <p:cNvSpPr txBox="1"/>
          <p:nvPr/>
        </p:nvSpPr>
        <p:spPr>
          <a:xfrm>
            <a:off x="1005840" y="5934202"/>
            <a:ext cx="10454335"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bilateral (bilateral)</a:t>
            </a:r>
            <a:r>
              <a:rPr lang="en-US" sz="1300" dirty="0">
                <a:solidFill>
                  <a:srgbClr val="4B5563"/>
                </a:solidFill>
                <a:latin typeface="Calibri" pitchFamily="34" charset="0"/>
                <a:ea typeface="Calibri" pitchFamily="34" charset="-122"/>
                <a:cs typeface="Calibri" pitchFamily="34" charset="-120"/>
              </a:rPr>
              <a:t>: İki taraflı, her iki tarafa ait</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Sayılarla İlgili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70</a:t>
            </a:r>
            <a:endParaRPr lang="en-US" sz="1000" dirty="0"/>
          </a:p>
        </p:txBody>
      </p:sp>
      <p:sp>
        <p:nvSpPr>
          <p:cNvPr id="6" name="Shape 4"/>
          <p:cNvSpPr/>
          <p:nvPr/>
        </p:nvSpPr>
        <p:spPr>
          <a:xfrm>
            <a:off x="548640" y="1496568"/>
            <a:ext cx="11094415" cy="1543304"/>
          </a:xfrm>
          <a:prstGeom prst="roundRect">
            <a:avLst>
              <a:gd name="adj" fmla="val 4147"/>
            </a:avLst>
          </a:prstGeom>
          <a:solidFill>
            <a:srgbClr val="EAF6F4"/>
          </a:solidFill>
          <a:ln/>
        </p:spPr>
      </p:sp>
      <p:sp>
        <p:nvSpPr>
          <p:cNvPr id="7" name="Text 5"/>
          <p:cNvSpPr txBox="1"/>
          <p:nvPr/>
        </p:nvSpPr>
        <p:spPr>
          <a:xfrm>
            <a:off x="731520" y="1560576"/>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2-b)  </a:t>
            </a:r>
            <a:endParaRPr lang="en-US" sz="1600" dirty="0"/>
          </a:p>
        </p:txBody>
      </p:sp>
      <p:sp>
        <p:nvSpPr>
          <p:cNvPr id="8" name="Shape 6"/>
          <p:cNvSpPr/>
          <p:nvPr/>
        </p:nvSpPr>
        <p:spPr>
          <a:xfrm>
            <a:off x="850392" y="1905787"/>
            <a:ext cx="64008" cy="64008"/>
          </a:xfrm>
          <a:prstGeom prst="ellipse">
            <a:avLst/>
          </a:prstGeom>
          <a:solidFill>
            <a:srgbClr val="0F766E"/>
          </a:solidFill>
          <a:ln/>
        </p:spPr>
      </p:sp>
      <p:sp>
        <p:nvSpPr>
          <p:cNvPr id="9" name="Text 7"/>
          <p:cNvSpPr txBox="1"/>
          <p:nvPr/>
        </p:nvSpPr>
        <p:spPr>
          <a:xfrm>
            <a:off x="1005840" y="182676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di-, diplo- (G) (di-, diplo-)</a:t>
            </a:r>
            <a:r>
              <a:rPr lang="en-US" sz="1500" dirty="0">
                <a:solidFill>
                  <a:srgbClr val="4B5563"/>
                </a:solidFill>
                <a:latin typeface="Calibri" pitchFamily="34" charset="0"/>
                <a:ea typeface="Calibri" pitchFamily="34" charset="-122"/>
                <a:cs typeface="Calibri" pitchFamily="34" charset="-120"/>
              </a:rPr>
              <a:t>: İki</a:t>
            </a:r>
            <a:endParaRPr lang="en-US" sz="1500" dirty="0"/>
          </a:p>
        </p:txBody>
      </p:sp>
      <p:sp>
        <p:nvSpPr>
          <p:cNvPr id="10" name="Shape 8"/>
          <p:cNvSpPr/>
          <p:nvPr/>
        </p:nvSpPr>
        <p:spPr>
          <a:xfrm>
            <a:off x="850392" y="2174773"/>
            <a:ext cx="64008" cy="64008"/>
          </a:xfrm>
          <a:prstGeom prst="ellipse">
            <a:avLst/>
          </a:prstGeom>
          <a:solidFill>
            <a:srgbClr val="0F766E"/>
          </a:solidFill>
          <a:ln/>
        </p:spPr>
      </p:sp>
      <p:sp>
        <p:nvSpPr>
          <p:cNvPr id="11" name="Text 9"/>
          <p:cNvSpPr txBox="1"/>
          <p:nvPr/>
        </p:nvSpPr>
        <p:spPr>
          <a:xfrm>
            <a:off x="1005840" y="209575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diembryonicus (diembriyonik)</a:t>
            </a:r>
            <a:r>
              <a:rPr lang="en-US" sz="1500" dirty="0">
                <a:solidFill>
                  <a:srgbClr val="4B5563"/>
                </a:solidFill>
                <a:latin typeface="Calibri" pitchFamily="34" charset="0"/>
                <a:ea typeface="Calibri" pitchFamily="34" charset="-122"/>
                <a:cs typeface="Calibri" pitchFamily="34" charset="-120"/>
              </a:rPr>
              <a:t>: İki dölütlü, iki embriyolu</a:t>
            </a:r>
            <a:endParaRPr lang="en-US" sz="1500" dirty="0"/>
          </a:p>
        </p:txBody>
      </p:sp>
      <p:sp>
        <p:nvSpPr>
          <p:cNvPr id="12" name="Shape 10"/>
          <p:cNvSpPr/>
          <p:nvPr/>
        </p:nvSpPr>
        <p:spPr>
          <a:xfrm>
            <a:off x="850392" y="2443759"/>
            <a:ext cx="64008" cy="64008"/>
          </a:xfrm>
          <a:prstGeom prst="ellipse">
            <a:avLst/>
          </a:prstGeom>
          <a:solidFill>
            <a:srgbClr val="0F766E"/>
          </a:solidFill>
          <a:ln/>
        </p:spPr>
      </p:sp>
      <p:sp>
        <p:nvSpPr>
          <p:cNvPr id="13" name="Text 11"/>
          <p:cNvSpPr txBox="1"/>
          <p:nvPr/>
        </p:nvSpPr>
        <p:spPr>
          <a:xfrm>
            <a:off x="1005840" y="236474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dicentricus (disentrik)</a:t>
            </a:r>
            <a:r>
              <a:rPr lang="en-US" sz="1500" dirty="0">
                <a:solidFill>
                  <a:srgbClr val="4B5563"/>
                </a:solidFill>
                <a:latin typeface="Calibri" pitchFamily="34" charset="0"/>
                <a:ea typeface="Calibri" pitchFamily="34" charset="-122"/>
                <a:cs typeface="Calibri" pitchFamily="34" charset="-120"/>
              </a:rPr>
              <a:t>: İki merkezli</a:t>
            </a:r>
            <a:endParaRPr lang="en-US" sz="1500" dirty="0"/>
          </a:p>
        </p:txBody>
      </p:sp>
      <p:sp>
        <p:nvSpPr>
          <p:cNvPr id="14" name="Shape 12"/>
          <p:cNvSpPr/>
          <p:nvPr/>
        </p:nvSpPr>
        <p:spPr>
          <a:xfrm>
            <a:off x="850392" y="2712745"/>
            <a:ext cx="64008" cy="64008"/>
          </a:xfrm>
          <a:prstGeom prst="ellipse">
            <a:avLst/>
          </a:prstGeom>
          <a:solidFill>
            <a:srgbClr val="0F766E"/>
          </a:solidFill>
          <a:ln/>
        </p:spPr>
      </p:sp>
      <p:sp>
        <p:nvSpPr>
          <p:cNvPr id="15" name="Text 13"/>
          <p:cNvSpPr txBox="1"/>
          <p:nvPr/>
        </p:nvSpPr>
        <p:spPr>
          <a:xfrm>
            <a:off x="1005840" y="263372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diplogenesis (diplojenez)</a:t>
            </a:r>
            <a:r>
              <a:rPr lang="en-US" sz="1500" dirty="0">
                <a:solidFill>
                  <a:srgbClr val="4B5563"/>
                </a:solidFill>
                <a:latin typeface="Calibri" pitchFamily="34" charset="0"/>
                <a:ea typeface="Calibri" pitchFamily="34" charset="-122"/>
                <a:cs typeface="Calibri" pitchFamily="34" charset="-120"/>
              </a:rPr>
              <a:t>: Bir organın tek yerine çift olması</a:t>
            </a:r>
            <a:endParaRPr lang="en-US" sz="1500" dirty="0"/>
          </a:p>
        </p:txBody>
      </p:sp>
      <p:sp>
        <p:nvSpPr>
          <p:cNvPr id="16" name="Shape 14"/>
          <p:cNvSpPr/>
          <p:nvPr/>
        </p:nvSpPr>
        <p:spPr>
          <a:xfrm>
            <a:off x="548640" y="3131312"/>
            <a:ext cx="11094415" cy="1543304"/>
          </a:xfrm>
          <a:prstGeom prst="roundRect">
            <a:avLst>
              <a:gd name="adj" fmla="val 4147"/>
            </a:avLst>
          </a:prstGeom>
          <a:solidFill>
            <a:srgbClr val="EAF6F4"/>
          </a:solidFill>
          <a:ln/>
        </p:spPr>
      </p:sp>
      <p:sp>
        <p:nvSpPr>
          <p:cNvPr id="17" name="Text 15"/>
          <p:cNvSpPr txBox="1"/>
          <p:nvPr/>
        </p:nvSpPr>
        <p:spPr>
          <a:xfrm>
            <a:off x="731520" y="3195320"/>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3-  </a:t>
            </a:r>
            <a:endParaRPr lang="en-US" sz="1600" dirty="0"/>
          </a:p>
        </p:txBody>
      </p:sp>
      <p:sp>
        <p:nvSpPr>
          <p:cNvPr id="18" name="Shape 16"/>
          <p:cNvSpPr/>
          <p:nvPr/>
        </p:nvSpPr>
        <p:spPr>
          <a:xfrm>
            <a:off x="850392" y="3540531"/>
            <a:ext cx="64008" cy="64008"/>
          </a:xfrm>
          <a:prstGeom prst="ellipse">
            <a:avLst/>
          </a:prstGeom>
          <a:solidFill>
            <a:srgbClr val="0F766E"/>
          </a:solidFill>
          <a:ln/>
        </p:spPr>
      </p:sp>
      <p:sp>
        <p:nvSpPr>
          <p:cNvPr id="19" name="Text 17"/>
          <p:cNvSpPr txBox="1"/>
          <p:nvPr/>
        </p:nvSpPr>
        <p:spPr>
          <a:xfrm>
            <a:off x="1005840" y="346151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tri- (L) (tri-)</a:t>
            </a:r>
            <a:r>
              <a:rPr lang="en-US" sz="1500" dirty="0">
                <a:solidFill>
                  <a:srgbClr val="4B5563"/>
                </a:solidFill>
                <a:latin typeface="Calibri" pitchFamily="34" charset="0"/>
                <a:ea typeface="Calibri" pitchFamily="34" charset="-122"/>
                <a:cs typeface="Calibri" pitchFamily="34" charset="-120"/>
              </a:rPr>
              <a:t>: Üç</a:t>
            </a:r>
            <a:endParaRPr lang="en-US" sz="1500" dirty="0"/>
          </a:p>
        </p:txBody>
      </p:sp>
      <p:sp>
        <p:nvSpPr>
          <p:cNvPr id="20" name="Shape 18"/>
          <p:cNvSpPr/>
          <p:nvPr/>
        </p:nvSpPr>
        <p:spPr>
          <a:xfrm>
            <a:off x="850392" y="3809517"/>
            <a:ext cx="64008" cy="64008"/>
          </a:xfrm>
          <a:prstGeom prst="ellipse">
            <a:avLst/>
          </a:prstGeom>
          <a:solidFill>
            <a:srgbClr val="0F766E"/>
          </a:solidFill>
          <a:ln/>
        </p:spPr>
      </p:sp>
      <p:sp>
        <p:nvSpPr>
          <p:cNvPr id="21" name="Text 19"/>
          <p:cNvSpPr txBox="1"/>
          <p:nvPr/>
        </p:nvSpPr>
        <p:spPr>
          <a:xfrm>
            <a:off x="1005840" y="373049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trimester (trimestr)</a:t>
            </a:r>
            <a:r>
              <a:rPr lang="en-US" sz="1500" dirty="0">
                <a:solidFill>
                  <a:srgbClr val="4B5563"/>
                </a:solidFill>
                <a:latin typeface="Calibri" pitchFamily="34" charset="0"/>
                <a:ea typeface="Calibri" pitchFamily="34" charset="-122"/>
                <a:cs typeface="Calibri" pitchFamily="34" charset="-120"/>
              </a:rPr>
              <a:t>: Üç aylık süre</a:t>
            </a:r>
            <a:endParaRPr lang="en-US" sz="1500" dirty="0"/>
          </a:p>
        </p:txBody>
      </p:sp>
      <p:sp>
        <p:nvSpPr>
          <p:cNvPr id="22" name="Shape 20"/>
          <p:cNvSpPr/>
          <p:nvPr/>
        </p:nvSpPr>
        <p:spPr>
          <a:xfrm>
            <a:off x="850392" y="4078503"/>
            <a:ext cx="64008" cy="64008"/>
          </a:xfrm>
          <a:prstGeom prst="ellipse">
            <a:avLst/>
          </a:prstGeom>
          <a:solidFill>
            <a:srgbClr val="0F766E"/>
          </a:solidFill>
          <a:ln/>
        </p:spPr>
      </p:sp>
      <p:sp>
        <p:nvSpPr>
          <p:cNvPr id="23" name="Text 21"/>
          <p:cNvSpPr txBox="1"/>
          <p:nvPr/>
        </p:nvSpPr>
        <p:spPr>
          <a:xfrm>
            <a:off x="1005840" y="399948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trilobatus (trilobat)</a:t>
            </a:r>
            <a:r>
              <a:rPr lang="en-US" sz="1500" dirty="0">
                <a:solidFill>
                  <a:srgbClr val="4B5563"/>
                </a:solidFill>
                <a:latin typeface="Calibri" pitchFamily="34" charset="0"/>
                <a:ea typeface="Calibri" pitchFamily="34" charset="-122"/>
                <a:cs typeface="Calibri" pitchFamily="34" charset="-120"/>
              </a:rPr>
              <a:t>: Üç loblu</a:t>
            </a:r>
            <a:endParaRPr lang="en-US" sz="1500" dirty="0"/>
          </a:p>
        </p:txBody>
      </p:sp>
      <p:sp>
        <p:nvSpPr>
          <p:cNvPr id="24" name="Shape 22"/>
          <p:cNvSpPr/>
          <p:nvPr/>
        </p:nvSpPr>
        <p:spPr>
          <a:xfrm>
            <a:off x="850392" y="4347489"/>
            <a:ext cx="64008" cy="64008"/>
          </a:xfrm>
          <a:prstGeom prst="ellipse">
            <a:avLst/>
          </a:prstGeom>
          <a:solidFill>
            <a:srgbClr val="0F766E"/>
          </a:solidFill>
          <a:ln/>
        </p:spPr>
      </p:sp>
      <p:sp>
        <p:nvSpPr>
          <p:cNvPr id="25" name="Text 23"/>
          <p:cNvSpPr txBox="1"/>
          <p:nvPr/>
        </p:nvSpPr>
        <p:spPr>
          <a:xfrm>
            <a:off x="1005840" y="4268470"/>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tricuspis (trikuspis)</a:t>
            </a:r>
            <a:r>
              <a:rPr lang="en-US" sz="1500" dirty="0">
                <a:solidFill>
                  <a:srgbClr val="4B5563"/>
                </a:solidFill>
                <a:latin typeface="Calibri" pitchFamily="34" charset="0"/>
                <a:ea typeface="Calibri" pitchFamily="34" charset="-122"/>
                <a:cs typeface="Calibri" pitchFamily="34" charset="-120"/>
              </a:rPr>
              <a:t>: Üç parçalı</a:t>
            </a:r>
            <a:endParaRPr lang="en-US" sz="1500" dirty="0"/>
          </a:p>
        </p:txBody>
      </p:sp>
      <p:sp>
        <p:nvSpPr>
          <p:cNvPr id="26" name="Shape 24"/>
          <p:cNvSpPr/>
          <p:nvPr/>
        </p:nvSpPr>
        <p:spPr>
          <a:xfrm>
            <a:off x="548640" y="4766056"/>
            <a:ext cx="11094415" cy="1543304"/>
          </a:xfrm>
          <a:prstGeom prst="roundRect">
            <a:avLst>
              <a:gd name="adj" fmla="val 4147"/>
            </a:avLst>
          </a:prstGeom>
          <a:solidFill>
            <a:srgbClr val="EAF6F4"/>
          </a:solidFill>
          <a:ln/>
        </p:spPr>
      </p:sp>
      <p:sp>
        <p:nvSpPr>
          <p:cNvPr id="27" name="Text 25"/>
          <p:cNvSpPr txBox="1"/>
          <p:nvPr/>
        </p:nvSpPr>
        <p:spPr>
          <a:xfrm>
            <a:off x="731520" y="4830064"/>
            <a:ext cx="10728655" cy="302768"/>
          </a:xfrm>
          <a:prstGeom prst="rect">
            <a:avLst/>
          </a:prstGeom>
          <a:noFill/>
          <a:ln/>
        </p:spPr>
        <p:txBody>
          <a:bodyPr wrap="square" lIns="0" tIns="0" rIns="0" bIns="0" rtlCol="0" anchor="t"/>
          <a:lstStyle/>
          <a:p>
            <a:pPr marL="0" indent="0">
              <a:lnSpc>
                <a:spcPct val="105000"/>
              </a:lnSpc>
              <a:buNone/>
            </a:pPr>
            <a:r>
              <a:rPr lang="en-US" sz="1600" b="1" dirty="0">
                <a:solidFill>
                  <a:srgbClr val="0F766E"/>
                </a:solidFill>
                <a:latin typeface="Calibri" pitchFamily="34" charset="0"/>
                <a:ea typeface="Calibri" pitchFamily="34" charset="-122"/>
                <a:cs typeface="Calibri" pitchFamily="34" charset="-120"/>
              </a:rPr>
              <a:t>4-  </a:t>
            </a:r>
            <a:endParaRPr lang="en-US" sz="1600" dirty="0"/>
          </a:p>
        </p:txBody>
      </p:sp>
      <p:sp>
        <p:nvSpPr>
          <p:cNvPr id="28" name="Shape 26"/>
          <p:cNvSpPr/>
          <p:nvPr/>
        </p:nvSpPr>
        <p:spPr>
          <a:xfrm>
            <a:off x="850392" y="5175275"/>
            <a:ext cx="64008" cy="64008"/>
          </a:xfrm>
          <a:prstGeom prst="ellipse">
            <a:avLst/>
          </a:prstGeom>
          <a:solidFill>
            <a:srgbClr val="0F766E"/>
          </a:solidFill>
          <a:ln/>
        </p:spPr>
      </p:sp>
      <p:sp>
        <p:nvSpPr>
          <p:cNvPr id="29" name="Text 27"/>
          <p:cNvSpPr txBox="1"/>
          <p:nvPr/>
        </p:nvSpPr>
        <p:spPr>
          <a:xfrm>
            <a:off x="1005840" y="5096256"/>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quadr (i)- (L) (kuadr-, kuadri-)</a:t>
            </a:r>
            <a:r>
              <a:rPr lang="en-US" sz="1500" dirty="0">
                <a:solidFill>
                  <a:srgbClr val="4B5563"/>
                </a:solidFill>
                <a:latin typeface="Calibri" pitchFamily="34" charset="0"/>
                <a:ea typeface="Calibri" pitchFamily="34" charset="-122"/>
                <a:cs typeface="Calibri" pitchFamily="34" charset="-120"/>
              </a:rPr>
              <a:t>: Dört</a:t>
            </a:r>
            <a:endParaRPr lang="en-US" sz="1500" dirty="0"/>
          </a:p>
        </p:txBody>
      </p:sp>
      <p:sp>
        <p:nvSpPr>
          <p:cNvPr id="30" name="Shape 28"/>
          <p:cNvSpPr/>
          <p:nvPr/>
        </p:nvSpPr>
        <p:spPr>
          <a:xfrm>
            <a:off x="850392" y="5444261"/>
            <a:ext cx="64008" cy="64008"/>
          </a:xfrm>
          <a:prstGeom prst="ellipse">
            <a:avLst/>
          </a:prstGeom>
          <a:solidFill>
            <a:srgbClr val="0F766E"/>
          </a:solidFill>
          <a:ln/>
        </p:spPr>
      </p:sp>
      <p:sp>
        <p:nvSpPr>
          <p:cNvPr id="31" name="Text 29"/>
          <p:cNvSpPr txBox="1"/>
          <p:nvPr/>
        </p:nvSpPr>
        <p:spPr>
          <a:xfrm>
            <a:off x="1005840" y="5365242"/>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quadricameratus (kuadrikameratus)</a:t>
            </a:r>
            <a:r>
              <a:rPr lang="en-US" sz="1500" dirty="0">
                <a:solidFill>
                  <a:srgbClr val="4B5563"/>
                </a:solidFill>
                <a:latin typeface="Calibri" pitchFamily="34" charset="0"/>
                <a:ea typeface="Calibri" pitchFamily="34" charset="-122"/>
                <a:cs typeface="Calibri" pitchFamily="34" charset="-120"/>
              </a:rPr>
              <a:t>: Dört odalı</a:t>
            </a:r>
            <a:endParaRPr lang="en-US" sz="1500" dirty="0"/>
          </a:p>
        </p:txBody>
      </p:sp>
      <p:sp>
        <p:nvSpPr>
          <p:cNvPr id="32" name="Shape 30"/>
          <p:cNvSpPr/>
          <p:nvPr/>
        </p:nvSpPr>
        <p:spPr>
          <a:xfrm>
            <a:off x="850392" y="5713247"/>
            <a:ext cx="64008" cy="64008"/>
          </a:xfrm>
          <a:prstGeom prst="ellipse">
            <a:avLst/>
          </a:prstGeom>
          <a:solidFill>
            <a:srgbClr val="0F766E"/>
          </a:solidFill>
          <a:ln/>
        </p:spPr>
      </p:sp>
      <p:sp>
        <p:nvSpPr>
          <p:cNvPr id="33" name="Text 31"/>
          <p:cNvSpPr txBox="1"/>
          <p:nvPr/>
        </p:nvSpPr>
        <p:spPr>
          <a:xfrm>
            <a:off x="1005840" y="5634228"/>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quadriceps (kuadriseps)</a:t>
            </a:r>
            <a:r>
              <a:rPr lang="en-US" sz="1500" dirty="0">
                <a:solidFill>
                  <a:srgbClr val="4B5563"/>
                </a:solidFill>
                <a:latin typeface="Calibri" pitchFamily="34" charset="0"/>
                <a:ea typeface="Calibri" pitchFamily="34" charset="-122"/>
                <a:cs typeface="Calibri" pitchFamily="34" charset="-120"/>
              </a:rPr>
              <a:t>: Dör başlı</a:t>
            </a:r>
            <a:endParaRPr lang="en-US" sz="1500" dirty="0"/>
          </a:p>
        </p:txBody>
      </p:sp>
      <p:sp>
        <p:nvSpPr>
          <p:cNvPr id="34" name="Shape 32"/>
          <p:cNvSpPr/>
          <p:nvPr/>
        </p:nvSpPr>
        <p:spPr>
          <a:xfrm>
            <a:off x="850392" y="5982233"/>
            <a:ext cx="64008" cy="64008"/>
          </a:xfrm>
          <a:prstGeom prst="ellipse">
            <a:avLst/>
          </a:prstGeom>
          <a:solidFill>
            <a:srgbClr val="0F766E"/>
          </a:solidFill>
          <a:ln/>
        </p:spPr>
      </p:sp>
      <p:sp>
        <p:nvSpPr>
          <p:cNvPr id="35" name="Text 33"/>
          <p:cNvSpPr txBox="1"/>
          <p:nvPr/>
        </p:nvSpPr>
        <p:spPr>
          <a:xfrm>
            <a:off x="1005840" y="5903214"/>
            <a:ext cx="10454335" cy="268986"/>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quadriparesis (kuadriparez)</a:t>
            </a:r>
            <a:r>
              <a:rPr lang="en-US" sz="1500" dirty="0">
                <a:solidFill>
                  <a:srgbClr val="4B5563"/>
                </a:solidFill>
                <a:latin typeface="Calibri" pitchFamily="34" charset="0"/>
                <a:ea typeface="Calibri" pitchFamily="34" charset="-122"/>
                <a:cs typeface="Calibri" pitchFamily="34" charset="-120"/>
              </a:rPr>
              <a:t>: Dört ekstremitedeki kaslarda görülen güç azalması</a:t>
            </a:r>
            <a:endParaRPr lang="en-US" sz="15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Diğer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71</a:t>
            </a:r>
            <a:endParaRPr lang="en-US" sz="1000" dirty="0"/>
          </a:p>
        </p:txBody>
      </p:sp>
      <p:sp>
        <p:nvSpPr>
          <p:cNvPr id="6" name="Shape 4"/>
          <p:cNvSpPr/>
          <p:nvPr/>
        </p:nvSpPr>
        <p:spPr>
          <a:xfrm>
            <a:off x="548640" y="2852420"/>
            <a:ext cx="5410048" cy="1429258"/>
          </a:xfrm>
          <a:prstGeom prst="roundRect">
            <a:avLst>
              <a:gd name="adj" fmla="val 4478"/>
            </a:avLst>
          </a:prstGeom>
          <a:solidFill>
            <a:srgbClr val="EAF6F4"/>
          </a:solidFill>
          <a:ln/>
        </p:spPr>
      </p:sp>
      <p:sp>
        <p:nvSpPr>
          <p:cNvPr id="7" name="Text 5"/>
          <p:cNvSpPr txBox="1"/>
          <p:nvPr/>
        </p:nvSpPr>
        <p:spPr>
          <a:xfrm>
            <a:off x="731520" y="291642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3240877"/>
            <a:ext cx="64008" cy="64008"/>
          </a:xfrm>
          <a:prstGeom prst="ellipse">
            <a:avLst/>
          </a:prstGeom>
          <a:solidFill>
            <a:srgbClr val="0F766E"/>
          </a:solidFill>
          <a:ln/>
        </p:spPr>
      </p:sp>
      <p:sp>
        <p:nvSpPr>
          <p:cNvPr id="9" name="Text 7"/>
          <p:cNvSpPr txBox="1"/>
          <p:nvPr/>
        </p:nvSpPr>
        <p:spPr>
          <a:xfrm>
            <a:off x="1005840" y="31671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anti- (G) (ant-, anti-)</a:t>
            </a:r>
            <a:r>
              <a:rPr lang="en-US" sz="1400" dirty="0">
                <a:solidFill>
                  <a:srgbClr val="4B5563"/>
                </a:solidFill>
                <a:latin typeface="Calibri" pitchFamily="34" charset="0"/>
                <a:ea typeface="Calibri" pitchFamily="34" charset="-122"/>
                <a:cs typeface="Calibri" pitchFamily="34" charset="-120"/>
              </a:rPr>
              <a:t>: Zıt, karşı, karşısında</a:t>
            </a:r>
            <a:endParaRPr lang="en-US" sz="1400" dirty="0"/>
          </a:p>
        </p:txBody>
      </p:sp>
      <p:sp>
        <p:nvSpPr>
          <p:cNvPr id="10" name="Shape 8"/>
          <p:cNvSpPr/>
          <p:nvPr/>
        </p:nvSpPr>
        <p:spPr>
          <a:xfrm>
            <a:off x="850392" y="3494369"/>
            <a:ext cx="64008" cy="64008"/>
          </a:xfrm>
          <a:prstGeom prst="ellipse">
            <a:avLst/>
          </a:prstGeom>
          <a:solidFill>
            <a:srgbClr val="0F766E"/>
          </a:solidFill>
          <a:ln/>
        </p:spPr>
      </p:sp>
      <p:sp>
        <p:nvSpPr>
          <p:cNvPr id="11" name="Text 9"/>
          <p:cNvSpPr txBox="1"/>
          <p:nvPr/>
        </p:nvSpPr>
        <p:spPr>
          <a:xfrm>
            <a:off x="1005840" y="342061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antitoxic (antitoksik)</a:t>
            </a:r>
            <a:r>
              <a:rPr lang="en-US" sz="1400" dirty="0">
                <a:solidFill>
                  <a:srgbClr val="4B5563"/>
                </a:solidFill>
                <a:latin typeface="Calibri" pitchFamily="34" charset="0"/>
                <a:ea typeface="Calibri" pitchFamily="34" charset="-122"/>
                <a:cs typeface="Calibri" pitchFamily="34" charset="-120"/>
              </a:rPr>
              <a:t>: Toksin (zehirli madde) giderici</a:t>
            </a:r>
            <a:endParaRPr lang="en-US" sz="1400" dirty="0"/>
          </a:p>
        </p:txBody>
      </p:sp>
      <p:sp>
        <p:nvSpPr>
          <p:cNvPr id="12" name="Shape 10"/>
          <p:cNvSpPr/>
          <p:nvPr/>
        </p:nvSpPr>
        <p:spPr>
          <a:xfrm>
            <a:off x="850392" y="3964777"/>
            <a:ext cx="64008" cy="64008"/>
          </a:xfrm>
          <a:prstGeom prst="ellipse">
            <a:avLst/>
          </a:prstGeom>
          <a:solidFill>
            <a:srgbClr val="0F766E"/>
          </a:solidFill>
          <a:ln/>
        </p:spPr>
      </p:sp>
      <p:sp>
        <p:nvSpPr>
          <p:cNvPr id="13" name="Text 11"/>
          <p:cNvSpPr txBox="1"/>
          <p:nvPr/>
        </p:nvSpPr>
        <p:spPr>
          <a:xfrm>
            <a:off x="1005840" y="38910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antiemetic (antiemetik)</a:t>
            </a:r>
            <a:r>
              <a:rPr lang="en-US" sz="1400" dirty="0">
                <a:solidFill>
                  <a:srgbClr val="4B5563"/>
                </a:solidFill>
                <a:latin typeface="Calibri" pitchFamily="34" charset="0"/>
                <a:ea typeface="Calibri" pitchFamily="34" charset="-122"/>
                <a:cs typeface="Calibri" pitchFamily="34" charset="-120"/>
              </a:rPr>
              <a:t>: Kusmaya karşı</a:t>
            </a:r>
            <a:endParaRPr lang="en-US" sz="1400" dirty="0"/>
          </a:p>
        </p:txBody>
      </p:sp>
      <p:sp>
        <p:nvSpPr>
          <p:cNvPr id="14" name="Shape 12"/>
          <p:cNvSpPr/>
          <p:nvPr/>
        </p:nvSpPr>
        <p:spPr>
          <a:xfrm>
            <a:off x="548640" y="4373118"/>
            <a:ext cx="5410048" cy="1936242"/>
          </a:xfrm>
          <a:prstGeom prst="roundRect">
            <a:avLst>
              <a:gd name="adj" fmla="val 3306"/>
            </a:avLst>
          </a:prstGeom>
          <a:solidFill>
            <a:srgbClr val="EAF6F4"/>
          </a:solidFill>
          <a:ln/>
        </p:spPr>
      </p:sp>
      <p:sp>
        <p:nvSpPr>
          <p:cNvPr id="15" name="Text 13"/>
          <p:cNvSpPr txBox="1"/>
          <p:nvPr/>
        </p:nvSpPr>
        <p:spPr>
          <a:xfrm>
            <a:off x="731520" y="443712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6" name="Shape 14"/>
          <p:cNvSpPr/>
          <p:nvPr/>
        </p:nvSpPr>
        <p:spPr>
          <a:xfrm>
            <a:off x="850392" y="4761575"/>
            <a:ext cx="64008" cy="64008"/>
          </a:xfrm>
          <a:prstGeom prst="ellipse">
            <a:avLst/>
          </a:prstGeom>
          <a:solidFill>
            <a:srgbClr val="0F766E"/>
          </a:solidFill>
          <a:ln/>
        </p:spPr>
      </p:sp>
      <p:sp>
        <p:nvSpPr>
          <p:cNvPr id="17" name="Text 15"/>
          <p:cNvSpPr txBox="1"/>
          <p:nvPr/>
        </p:nvSpPr>
        <p:spPr>
          <a:xfrm>
            <a:off x="1005840" y="46878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 (L) (re-)</a:t>
            </a:r>
            <a:r>
              <a:rPr lang="en-US" sz="1400" dirty="0">
                <a:solidFill>
                  <a:srgbClr val="4B5563"/>
                </a:solidFill>
                <a:latin typeface="Calibri" pitchFamily="34" charset="0"/>
                <a:ea typeface="Calibri" pitchFamily="34" charset="-122"/>
                <a:cs typeface="Calibri" pitchFamily="34" charset="-120"/>
              </a:rPr>
              <a:t>: Tekrar, yeniden, geriye doğru</a:t>
            </a:r>
            <a:endParaRPr lang="en-US" sz="1400" dirty="0"/>
          </a:p>
        </p:txBody>
      </p:sp>
      <p:sp>
        <p:nvSpPr>
          <p:cNvPr id="18" name="Shape 16"/>
          <p:cNvSpPr/>
          <p:nvPr/>
        </p:nvSpPr>
        <p:spPr>
          <a:xfrm>
            <a:off x="850392" y="5015067"/>
            <a:ext cx="64008" cy="64008"/>
          </a:xfrm>
          <a:prstGeom prst="ellipse">
            <a:avLst/>
          </a:prstGeom>
          <a:solidFill>
            <a:srgbClr val="0F766E"/>
          </a:solidFill>
          <a:ln/>
        </p:spPr>
      </p:sp>
      <p:sp>
        <p:nvSpPr>
          <p:cNvPr id="19" name="Text 17"/>
          <p:cNvSpPr txBox="1"/>
          <p:nvPr/>
        </p:nvSpPr>
        <p:spPr>
          <a:xfrm>
            <a:off x="1005840" y="49413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regeneratio (rejenerasyo)</a:t>
            </a:r>
            <a:r>
              <a:rPr lang="en-US" sz="1400" dirty="0">
                <a:solidFill>
                  <a:srgbClr val="4B5563"/>
                </a:solidFill>
                <a:latin typeface="Calibri" pitchFamily="34" charset="0"/>
                <a:ea typeface="Calibri" pitchFamily="34" charset="-122"/>
                <a:cs typeface="Calibri" pitchFamily="34" charset="-120"/>
              </a:rPr>
              <a:t>: Yenileme, onarma</a:t>
            </a:r>
            <a:endParaRPr lang="en-US" sz="1400" dirty="0"/>
          </a:p>
        </p:txBody>
      </p:sp>
      <p:sp>
        <p:nvSpPr>
          <p:cNvPr id="20" name="Shape 18"/>
          <p:cNvSpPr/>
          <p:nvPr/>
        </p:nvSpPr>
        <p:spPr>
          <a:xfrm>
            <a:off x="850392" y="5268559"/>
            <a:ext cx="64008" cy="64008"/>
          </a:xfrm>
          <a:prstGeom prst="ellipse">
            <a:avLst/>
          </a:prstGeom>
          <a:solidFill>
            <a:srgbClr val="0F766E"/>
          </a:solidFill>
          <a:ln/>
        </p:spPr>
      </p:sp>
      <p:sp>
        <p:nvSpPr>
          <p:cNvPr id="21" name="Text 19"/>
          <p:cNvSpPr txBox="1"/>
          <p:nvPr/>
        </p:nvSpPr>
        <p:spPr>
          <a:xfrm>
            <a:off x="1005840" y="519480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reabsorption (reabsorbsiyon)</a:t>
            </a:r>
            <a:r>
              <a:rPr lang="en-US" sz="1400" dirty="0">
                <a:solidFill>
                  <a:srgbClr val="4B5563"/>
                </a:solidFill>
                <a:latin typeface="Calibri" pitchFamily="34" charset="0"/>
                <a:ea typeface="Calibri" pitchFamily="34" charset="-122"/>
                <a:cs typeface="Calibri" pitchFamily="34" charset="-120"/>
              </a:rPr>
              <a:t>: Tekrar emilme, yeniden emilme</a:t>
            </a:r>
            <a:endParaRPr lang="en-US" sz="1400" dirty="0"/>
          </a:p>
        </p:txBody>
      </p:sp>
      <p:sp>
        <p:nvSpPr>
          <p:cNvPr id="22" name="Shape 20"/>
          <p:cNvSpPr/>
          <p:nvPr/>
        </p:nvSpPr>
        <p:spPr>
          <a:xfrm>
            <a:off x="850392" y="5738967"/>
            <a:ext cx="64008" cy="64008"/>
          </a:xfrm>
          <a:prstGeom prst="ellipse">
            <a:avLst/>
          </a:prstGeom>
          <a:solidFill>
            <a:srgbClr val="0F766E"/>
          </a:solidFill>
          <a:ln/>
        </p:spPr>
      </p:sp>
      <p:sp>
        <p:nvSpPr>
          <p:cNvPr id="23" name="Text 21"/>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restenosis (restenoz)</a:t>
            </a:r>
            <a:r>
              <a:rPr lang="en-US" sz="1400" dirty="0">
                <a:solidFill>
                  <a:srgbClr val="4B5563"/>
                </a:solidFill>
                <a:latin typeface="Calibri" pitchFamily="34" charset="0"/>
                <a:ea typeface="Calibri" pitchFamily="34" charset="-122"/>
                <a:cs typeface="Calibri" pitchFamily="34" charset="-120"/>
              </a:rPr>
              <a:t>: Tekrar tıkanma, daralma</a:t>
            </a:r>
            <a:endParaRPr lang="en-US" sz="1400" dirty="0"/>
          </a:p>
        </p:txBody>
      </p:sp>
      <p:sp>
        <p:nvSpPr>
          <p:cNvPr id="24" name="Shape 22"/>
          <p:cNvSpPr/>
          <p:nvPr/>
        </p:nvSpPr>
        <p:spPr>
          <a:xfrm>
            <a:off x="850392" y="5992459"/>
            <a:ext cx="64008" cy="64008"/>
          </a:xfrm>
          <a:prstGeom prst="ellipse">
            <a:avLst/>
          </a:prstGeom>
          <a:solidFill>
            <a:srgbClr val="0F766E"/>
          </a:solidFill>
          <a:ln/>
        </p:spPr>
      </p:sp>
      <p:sp>
        <p:nvSpPr>
          <p:cNvPr id="25" name="Text 23"/>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reflux (reflü)</a:t>
            </a:r>
            <a:r>
              <a:rPr lang="en-US" sz="1400" dirty="0">
                <a:solidFill>
                  <a:srgbClr val="4B5563"/>
                </a:solidFill>
                <a:latin typeface="Calibri" pitchFamily="34" charset="0"/>
                <a:ea typeface="Calibri" pitchFamily="34" charset="-122"/>
                <a:cs typeface="Calibri" pitchFamily="34" charset="-120"/>
              </a:rPr>
              <a:t>: Geriye doğru akma</a:t>
            </a:r>
            <a:endParaRPr lang="en-US" sz="1400" dirty="0"/>
          </a:p>
        </p:txBody>
      </p:sp>
      <p:sp>
        <p:nvSpPr>
          <p:cNvPr id="26" name="Shape 24"/>
          <p:cNvSpPr/>
          <p:nvPr/>
        </p:nvSpPr>
        <p:spPr>
          <a:xfrm>
            <a:off x="6233008" y="2852420"/>
            <a:ext cx="5410048" cy="1646174"/>
          </a:xfrm>
          <a:prstGeom prst="roundRect">
            <a:avLst>
              <a:gd name="adj" fmla="val 3888"/>
            </a:avLst>
          </a:prstGeom>
          <a:solidFill>
            <a:srgbClr val="EAF6F4"/>
          </a:solidFill>
          <a:ln/>
        </p:spPr>
      </p:sp>
      <p:sp>
        <p:nvSpPr>
          <p:cNvPr id="27" name="Text 25"/>
          <p:cNvSpPr txBox="1"/>
          <p:nvPr/>
        </p:nvSpPr>
        <p:spPr>
          <a:xfrm>
            <a:off x="6415888" y="291642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28" name="Shape 26"/>
          <p:cNvSpPr/>
          <p:nvPr/>
        </p:nvSpPr>
        <p:spPr>
          <a:xfrm>
            <a:off x="6534760" y="3240877"/>
            <a:ext cx="64008" cy="64008"/>
          </a:xfrm>
          <a:prstGeom prst="ellipse">
            <a:avLst/>
          </a:prstGeom>
          <a:solidFill>
            <a:srgbClr val="0F766E"/>
          </a:solidFill>
          <a:ln/>
        </p:spPr>
      </p:sp>
      <p:sp>
        <p:nvSpPr>
          <p:cNvPr id="29" name="Text 27"/>
          <p:cNvSpPr txBox="1"/>
          <p:nvPr/>
        </p:nvSpPr>
        <p:spPr>
          <a:xfrm>
            <a:off x="6690208" y="31671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trans- (L) (trans-)</a:t>
            </a:r>
            <a:r>
              <a:rPr lang="en-US" sz="1400" dirty="0">
                <a:solidFill>
                  <a:srgbClr val="4B5563"/>
                </a:solidFill>
                <a:latin typeface="Calibri" pitchFamily="34" charset="0"/>
                <a:ea typeface="Calibri" pitchFamily="34" charset="-122"/>
                <a:cs typeface="Calibri" pitchFamily="34" charset="-120"/>
              </a:rPr>
              <a:t>: İçerisinden, bir baştan bir başa</a:t>
            </a:r>
            <a:endParaRPr lang="en-US" sz="1400" dirty="0"/>
          </a:p>
        </p:txBody>
      </p:sp>
      <p:sp>
        <p:nvSpPr>
          <p:cNvPr id="30" name="Shape 28"/>
          <p:cNvSpPr/>
          <p:nvPr/>
        </p:nvSpPr>
        <p:spPr>
          <a:xfrm>
            <a:off x="6534760" y="3494369"/>
            <a:ext cx="64008" cy="64008"/>
          </a:xfrm>
          <a:prstGeom prst="ellipse">
            <a:avLst/>
          </a:prstGeom>
          <a:solidFill>
            <a:srgbClr val="0F766E"/>
          </a:solidFill>
          <a:ln/>
        </p:spPr>
      </p:sp>
      <p:sp>
        <p:nvSpPr>
          <p:cNvPr id="31" name="Text 29"/>
          <p:cNvSpPr txBox="1"/>
          <p:nvPr/>
        </p:nvSpPr>
        <p:spPr>
          <a:xfrm>
            <a:off x="6690208" y="342061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transcutaneus (transkutanöz)</a:t>
            </a:r>
            <a:r>
              <a:rPr lang="en-US" sz="1400" dirty="0">
                <a:solidFill>
                  <a:srgbClr val="4B5563"/>
                </a:solidFill>
                <a:latin typeface="Calibri" pitchFamily="34" charset="0"/>
                <a:ea typeface="Calibri" pitchFamily="34" charset="-122"/>
                <a:cs typeface="Calibri" pitchFamily="34" charset="-120"/>
              </a:rPr>
              <a:t>: Deri içinden, deri yoluyla</a:t>
            </a:r>
            <a:endParaRPr lang="en-US" sz="1400" dirty="0"/>
          </a:p>
        </p:txBody>
      </p:sp>
      <p:sp>
        <p:nvSpPr>
          <p:cNvPr id="32" name="Shape 30"/>
          <p:cNvSpPr/>
          <p:nvPr/>
        </p:nvSpPr>
        <p:spPr>
          <a:xfrm>
            <a:off x="6534760" y="3964777"/>
            <a:ext cx="64008" cy="64008"/>
          </a:xfrm>
          <a:prstGeom prst="ellipse">
            <a:avLst/>
          </a:prstGeom>
          <a:solidFill>
            <a:srgbClr val="0F766E"/>
          </a:solidFill>
          <a:ln/>
        </p:spPr>
      </p:sp>
      <p:sp>
        <p:nvSpPr>
          <p:cNvPr id="33" name="Text 31"/>
          <p:cNvSpPr txBox="1"/>
          <p:nvPr/>
        </p:nvSpPr>
        <p:spPr>
          <a:xfrm>
            <a:off x="6690208" y="389102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transduodenal (transduodenal)</a:t>
            </a:r>
            <a:r>
              <a:rPr lang="en-US" sz="1400" dirty="0">
                <a:solidFill>
                  <a:srgbClr val="4B5563"/>
                </a:solidFill>
                <a:latin typeface="Calibri" pitchFamily="34" charset="0"/>
                <a:ea typeface="Calibri" pitchFamily="34" charset="-122"/>
                <a:cs typeface="Calibri" pitchFamily="34" charset="-120"/>
              </a:rPr>
              <a:t>: Onikiparmak bağırsağı içinden veya üzerinden</a:t>
            </a:r>
            <a:endParaRPr lang="en-US" sz="1400" dirty="0"/>
          </a:p>
        </p:txBody>
      </p:sp>
      <p:sp>
        <p:nvSpPr>
          <p:cNvPr id="34" name="Shape 32"/>
          <p:cNvSpPr/>
          <p:nvPr/>
        </p:nvSpPr>
        <p:spPr>
          <a:xfrm>
            <a:off x="6233008" y="4590034"/>
            <a:ext cx="5410048" cy="1682750"/>
          </a:xfrm>
          <a:prstGeom prst="roundRect">
            <a:avLst>
              <a:gd name="adj" fmla="val 3804"/>
            </a:avLst>
          </a:prstGeom>
          <a:solidFill>
            <a:srgbClr val="EAF6F4"/>
          </a:solidFill>
          <a:ln/>
        </p:spPr>
      </p:sp>
      <p:sp>
        <p:nvSpPr>
          <p:cNvPr id="35" name="Text 33"/>
          <p:cNvSpPr txBox="1"/>
          <p:nvPr/>
        </p:nvSpPr>
        <p:spPr>
          <a:xfrm>
            <a:off x="6415888" y="465404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36" name="Shape 34"/>
          <p:cNvSpPr/>
          <p:nvPr/>
        </p:nvSpPr>
        <p:spPr>
          <a:xfrm>
            <a:off x="6534760" y="4978491"/>
            <a:ext cx="64008" cy="64008"/>
          </a:xfrm>
          <a:prstGeom prst="ellipse">
            <a:avLst/>
          </a:prstGeom>
          <a:solidFill>
            <a:srgbClr val="0F766E"/>
          </a:solidFill>
          <a:ln/>
        </p:spPr>
      </p:sp>
      <p:sp>
        <p:nvSpPr>
          <p:cNvPr id="37" name="Text 35"/>
          <p:cNvSpPr txBox="1"/>
          <p:nvPr/>
        </p:nvSpPr>
        <p:spPr>
          <a:xfrm>
            <a:off x="6690208" y="490474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iso- (G) (izo-)</a:t>
            </a:r>
            <a:r>
              <a:rPr lang="en-US" sz="1400" dirty="0">
                <a:solidFill>
                  <a:srgbClr val="4B5563"/>
                </a:solidFill>
                <a:latin typeface="Calibri" pitchFamily="34" charset="0"/>
                <a:ea typeface="Calibri" pitchFamily="34" charset="-122"/>
                <a:cs typeface="Calibri" pitchFamily="34" charset="-120"/>
              </a:rPr>
              <a:t>: Eşit, aynı</a:t>
            </a:r>
            <a:endParaRPr lang="en-US" sz="1400" dirty="0"/>
          </a:p>
        </p:txBody>
      </p:sp>
      <p:sp>
        <p:nvSpPr>
          <p:cNvPr id="38" name="Shape 36"/>
          <p:cNvSpPr/>
          <p:nvPr/>
        </p:nvSpPr>
        <p:spPr>
          <a:xfrm>
            <a:off x="6534760" y="5231983"/>
            <a:ext cx="64008" cy="64008"/>
          </a:xfrm>
          <a:prstGeom prst="ellipse">
            <a:avLst/>
          </a:prstGeom>
          <a:solidFill>
            <a:srgbClr val="0F766E"/>
          </a:solidFill>
          <a:ln/>
        </p:spPr>
      </p:sp>
      <p:sp>
        <p:nvSpPr>
          <p:cNvPr id="39" name="Text 37"/>
          <p:cNvSpPr txBox="1"/>
          <p:nvPr/>
        </p:nvSpPr>
        <p:spPr>
          <a:xfrm>
            <a:off x="6690208" y="515823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isothermal (izotermal)</a:t>
            </a:r>
            <a:r>
              <a:rPr lang="en-US" sz="1400" dirty="0">
                <a:solidFill>
                  <a:srgbClr val="4B5563"/>
                </a:solidFill>
                <a:latin typeface="Calibri" pitchFamily="34" charset="0"/>
                <a:ea typeface="Calibri" pitchFamily="34" charset="-122"/>
                <a:cs typeface="Calibri" pitchFamily="34" charset="-120"/>
              </a:rPr>
              <a:t>: Isı derecesi değişmeyen, aynı ısılı</a:t>
            </a:r>
            <a:endParaRPr lang="en-US" sz="1400" dirty="0"/>
          </a:p>
        </p:txBody>
      </p:sp>
      <p:sp>
        <p:nvSpPr>
          <p:cNvPr id="40" name="Shape 38"/>
          <p:cNvSpPr/>
          <p:nvPr/>
        </p:nvSpPr>
        <p:spPr>
          <a:xfrm>
            <a:off x="6534760" y="5702391"/>
            <a:ext cx="64008" cy="64008"/>
          </a:xfrm>
          <a:prstGeom prst="ellipse">
            <a:avLst/>
          </a:prstGeom>
          <a:solidFill>
            <a:srgbClr val="0F766E"/>
          </a:solidFill>
          <a:ln/>
        </p:spPr>
      </p:sp>
      <p:sp>
        <p:nvSpPr>
          <p:cNvPr id="41" name="Text 39"/>
          <p:cNvSpPr txBox="1"/>
          <p:nvPr/>
        </p:nvSpPr>
        <p:spPr>
          <a:xfrm>
            <a:off x="6690208" y="562864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isogenesis (izogenez)</a:t>
            </a:r>
            <a:r>
              <a:rPr lang="en-US" sz="1400" dirty="0">
                <a:solidFill>
                  <a:srgbClr val="4B5563"/>
                </a:solidFill>
                <a:latin typeface="Calibri" pitchFamily="34" charset="0"/>
                <a:ea typeface="Calibri" pitchFamily="34" charset="-122"/>
                <a:cs typeface="Calibri" pitchFamily="34" charset="-120"/>
              </a:rPr>
              <a:t>: Gelişimde benzerlik</a:t>
            </a:r>
            <a:endParaRPr lang="en-US" sz="1400" dirty="0"/>
          </a:p>
        </p:txBody>
      </p:sp>
      <p:sp>
        <p:nvSpPr>
          <p:cNvPr id="42" name="Shape 40"/>
          <p:cNvSpPr/>
          <p:nvPr/>
        </p:nvSpPr>
        <p:spPr>
          <a:xfrm>
            <a:off x="6534760" y="5955883"/>
            <a:ext cx="64008" cy="64008"/>
          </a:xfrm>
          <a:prstGeom prst="ellipse">
            <a:avLst/>
          </a:prstGeom>
          <a:solidFill>
            <a:srgbClr val="0F766E"/>
          </a:solidFill>
          <a:ln/>
        </p:spPr>
      </p:sp>
      <p:sp>
        <p:nvSpPr>
          <p:cNvPr id="43" name="Text 41"/>
          <p:cNvSpPr txBox="1"/>
          <p:nvPr/>
        </p:nvSpPr>
        <p:spPr>
          <a:xfrm>
            <a:off x="6690208" y="58821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isocellular (izoselular)</a:t>
            </a:r>
            <a:r>
              <a:rPr lang="en-US" sz="1400" dirty="0">
                <a:solidFill>
                  <a:srgbClr val="4B5563"/>
                </a:solidFill>
                <a:latin typeface="Calibri" pitchFamily="34" charset="0"/>
                <a:ea typeface="Calibri" pitchFamily="34" charset="-122"/>
                <a:cs typeface="Calibri" pitchFamily="34" charset="-120"/>
              </a:rPr>
              <a:t>: Aynı hücreden oluşan</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Diğer Önekler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72</a:t>
            </a:r>
            <a:endParaRPr lang="en-US" sz="1000" dirty="0"/>
          </a:p>
        </p:txBody>
      </p:sp>
      <p:sp>
        <p:nvSpPr>
          <p:cNvPr id="6" name="Shape 4"/>
          <p:cNvSpPr/>
          <p:nvPr/>
        </p:nvSpPr>
        <p:spPr>
          <a:xfrm>
            <a:off x="548640" y="1512062"/>
            <a:ext cx="11094415" cy="1465834"/>
          </a:xfrm>
          <a:prstGeom prst="roundRect">
            <a:avLst>
              <a:gd name="adj" fmla="val 4367"/>
            </a:avLst>
          </a:prstGeom>
          <a:solidFill>
            <a:srgbClr val="EAF6F4"/>
          </a:solidFill>
          <a:ln/>
        </p:spPr>
      </p:sp>
      <p:sp>
        <p:nvSpPr>
          <p:cNvPr id="7" name="Text 5"/>
          <p:cNvSpPr txBox="1"/>
          <p:nvPr/>
        </p:nvSpPr>
        <p:spPr>
          <a:xfrm>
            <a:off x="731520" y="157607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  </a:t>
            </a:r>
            <a:endParaRPr lang="en-US" sz="1500" dirty="0"/>
          </a:p>
        </p:txBody>
      </p:sp>
      <p:sp>
        <p:nvSpPr>
          <p:cNvPr id="8" name="Shape 6"/>
          <p:cNvSpPr/>
          <p:nvPr/>
        </p:nvSpPr>
        <p:spPr>
          <a:xfrm>
            <a:off x="850392" y="1900519"/>
            <a:ext cx="64008" cy="64008"/>
          </a:xfrm>
          <a:prstGeom prst="ellipse">
            <a:avLst/>
          </a:prstGeom>
          <a:solidFill>
            <a:srgbClr val="0F766E"/>
          </a:solidFill>
          <a:ln/>
        </p:spPr>
      </p:sp>
      <p:sp>
        <p:nvSpPr>
          <p:cNvPr id="9" name="Text 7"/>
          <p:cNvSpPr txBox="1"/>
          <p:nvPr/>
        </p:nvSpPr>
        <p:spPr>
          <a:xfrm>
            <a:off x="1005840" y="18267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tele-, telo- (G) (tele-, telo-)</a:t>
            </a:r>
            <a:r>
              <a:rPr lang="en-US" sz="1400" dirty="0">
                <a:solidFill>
                  <a:srgbClr val="4B5563"/>
                </a:solidFill>
                <a:latin typeface="Calibri" pitchFamily="34" charset="0"/>
                <a:ea typeface="Calibri" pitchFamily="34" charset="-122"/>
                <a:cs typeface="Calibri" pitchFamily="34" charset="-120"/>
              </a:rPr>
              <a:t>: Uzak, uzaktan, son, sonunda</a:t>
            </a:r>
            <a:endParaRPr lang="en-US" sz="1400" dirty="0"/>
          </a:p>
        </p:txBody>
      </p:sp>
      <p:sp>
        <p:nvSpPr>
          <p:cNvPr id="10" name="Shape 8"/>
          <p:cNvSpPr/>
          <p:nvPr/>
        </p:nvSpPr>
        <p:spPr>
          <a:xfrm>
            <a:off x="850392" y="2154011"/>
            <a:ext cx="64008" cy="64008"/>
          </a:xfrm>
          <a:prstGeom prst="ellipse">
            <a:avLst/>
          </a:prstGeom>
          <a:solidFill>
            <a:srgbClr val="0F766E"/>
          </a:solidFill>
          <a:ln/>
        </p:spPr>
      </p:sp>
      <p:sp>
        <p:nvSpPr>
          <p:cNvPr id="11" name="Text 9"/>
          <p:cNvSpPr txBox="1"/>
          <p:nvPr/>
        </p:nvSpPr>
        <p:spPr>
          <a:xfrm>
            <a:off x="1005840" y="20802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telophase (telofaz)</a:t>
            </a:r>
            <a:r>
              <a:rPr lang="en-US" sz="1400" dirty="0">
                <a:solidFill>
                  <a:srgbClr val="4B5563"/>
                </a:solidFill>
                <a:latin typeface="Calibri" pitchFamily="34" charset="0"/>
                <a:ea typeface="Calibri" pitchFamily="34" charset="-122"/>
                <a:cs typeface="Calibri" pitchFamily="34" charset="-120"/>
              </a:rPr>
              <a:t>: Mitoz bölünmenin son safhası</a:t>
            </a:r>
            <a:endParaRPr lang="en-US" sz="1400" dirty="0"/>
          </a:p>
        </p:txBody>
      </p:sp>
      <p:sp>
        <p:nvSpPr>
          <p:cNvPr id="12" name="Shape 10"/>
          <p:cNvSpPr/>
          <p:nvPr/>
        </p:nvSpPr>
        <p:spPr>
          <a:xfrm>
            <a:off x="850392" y="2407503"/>
            <a:ext cx="64008" cy="64008"/>
          </a:xfrm>
          <a:prstGeom prst="ellipse">
            <a:avLst/>
          </a:prstGeom>
          <a:solidFill>
            <a:srgbClr val="0F766E"/>
          </a:solidFill>
          <a:ln/>
        </p:spPr>
      </p:sp>
      <p:sp>
        <p:nvSpPr>
          <p:cNvPr id="13" name="Text 11"/>
          <p:cNvSpPr txBox="1"/>
          <p:nvPr/>
        </p:nvSpPr>
        <p:spPr>
          <a:xfrm>
            <a:off x="1005840" y="233375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telognosis (telegnoz)</a:t>
            </a:r>
            <a:r>
              <a:rPr lang="en-US" sz="1400" dirty="0">
                <a:solidFill>
                  <a:srgbClr val="4B5563"/>
                </a:solidFill>
                <a:latin typeface="Calibri" pitchFamily="34" charset="0"/>
                <a:ea typeface="Calibri" pitchFamily="34" charset="-122"/>
                <a:cs typeface="Calibri" pitchFamily="34" charset="-120"/>
              </a:rPr>
              <a:t>: Hastalığa uzaktan tanı koyma</a:t>
            </a:r>
            <a:endParaRPr lang="en-US" sz="1400" dirty="0"/>
          </a:p>
        </p:txBody>
      </p:sp>
      <p:sp>
        <p:nvSpPr>
          <p:cNvPr id="14" name="Shape 12"/>
          <p:cNvSpPr/>
          <p:nvPr/>
        </p:nvSpPr>
        <p:spPr>
          <a:xfrm>
            <a:off x="850392" y="2660995"/>
            <a:ext cx="64008" cy="64008"/>
          </a:xfrm>
          <a:prstGeom prst="ellipse">
            <a:avLst/>
          </a:prstGeom>
          <a:solidFill>
            <a:srgbClr val="0F766E"/>
          </a:solidFill>
          <a:ln/>
        </p:spPr>
      </p:sp>
      <p:sp>
        <p:nvSpPr>
          <p:cNvPr id="15" name="Text 13"/>
          <p:cNvSpPr txBox="1"/>
          <p:nvPr/>
        </p:nvSpPr>
        <p:spPr>
          <a:xfrm>
            <a:off x="1005840" y="258724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teleceptor (teleseptor)</a:t>
            </a:r>
            <a:r>
              <a:rPr lang="en-US" sz="1400" dirty="0">
                <a:solidFill>
                  <a:srgbClr val="4B5563"/>
                </a:solidFill>
                <a:latin typeface="Calibri" pitchFamily="34" charset="0"/>
                <a:ea typeface="Calibri" pitchFamily="34" charset="-122"/>
                <a:cs typeface="Calibri" pitchFamily="34" charset="-120"/>
              </a:rPr>
              <a:t>: Uzaktan alıcı, uzaktan gelen uyarıları alabilen duyu organı (göz, kulak gibi)</a:t>
            </a:r>
            <a:endParaRPr lang="en-US" sz="1400" dirty="0"/>
          </a:p>
        </p:txBody>
      </p:sp>
      <p:sp>
        <p:nvSpPr>
          <p:cNvPr id="16" name="Shape 14"/>
          <p:cNvSpPr/>
          <p:nvPr/>
        </p:nvSpPr>
        <p:spPr>
          <a:xfrm>
            <a:off x="548640" y="3069336"/>
            <a:ext cx="11094415" cy="1465834"/>
          </a:xfrm>
          <a:prstGeom prst="roundRect">
            <a:avLst>
              <a:gd name="adj" fmla="val 4367"/>
            </a:avLst>
          </a:prstGeom>
          <a:solidFill>
            <a:srgbClr val="EAF6F4"/>
          </a:solidFill>
          <a:ln/>
        </p:spPr>
      </p:sp>
      <p:sp>
        <p:nvSpPr>
          <p:cNvPr id="17" name="Text 15"/>
          <p:cNvSpPr txBox="1"/>
          <p:nvPr/>
        </p:nvSpPr>
        <p:spPr>
          <a:xfrm>
            <a:off x="731520" y="313334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6-  </a:t>
            </a:r>
            <a:endParaRPr lang="en-US" sz="1500" dirty="0"/>
          </a:p>
        </p:txBody>
      </p:sp>
      <p:sp>
        <p:nvSpPr>
          <p:cNvPr id="18" name="Shape 16"/>
          <p:cNvSpPr/>
          <p:nvPr/>
        </p:nvSpPr>
        <p:spPr>
          <a:xfrm>
            <a:off x="850392" y="3457793"/>
            <a:ext cx="64008" cy="64008"/>
          </a:xfrm>
          <a:prstGeom prst="ellipse">
            <a:avLst/>
          </a:prstGeom>
          <a:solidFill>
            <a:srgbClr val="0F766E"/>
          </a:solidFill>
          <a:ln/>
        </p:spPr>
      </p:sp>
      <p:sp>
        <p:nvSpPr>
          <p:cNvPr id="19" name="Text 17"/>
          <p:cNvSpPr txBox="1"/>
          <p:nvPr/>
        </p:nvSpPr>
        <p:spPr>
          <a:xfrm>
            <a:off x="1005840" y="33840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pseudo- (G) (psödo-)</a:t>
            </a:r>
            <a:r>
              <a:rPr lang="en-US" sz="1400" dirty="0">
                <a:solidFill>
                  <a:srgbClr val="4B5563"/>
                </a:solidFill>
                <a:latin typeface="Calibri" pitchFamily="34" charset="0"/>
                <a:ea typeface="Calibri" pitchFamily="34" charset="-122"/>
                <a:cs typeface="Calibri" pitchFamily="34" charset="-120"/>
              </a:rPr>
              <a:t>: Yalancı, yanlış</a:t>
            </a:r>
            <a:endParaRPr lang="en-US" sz="1400" dirty="0"/>
          </a:p>
        </p:txBody>
      </p:sp>
      <p:sp>
        <p:nvSpPr>
          <p:cNvPr id="20" name="Shape 18"/>
          <p:cNvSpPr/>
          <p:nvPr/>
        </p:nvSpPr>
        <p:spPr>
          <a:xfrm>
            <a:off x="850392" y="3711285"/>
            <a:ext cx="64008" cy="64008"/>
          </a:xfrm>
          <a:prstGeom prst="ellipse">
            <a:avLst/>
          </a:prstGeom>
          <a:solidFill>
            <a:srgbClr val="0F766E"/>
          </a:solidFill>
          <a:ln/>
        </p:spPr>
      </p:sp>
      <p:sp>
        <p:nvSpPr>
          <p:cNvPr id="21" name="Text 19"/>
          <p:cNvSpPr txBox="1"/>
          <p:nvPr/>
        </p:nvSpPr>
        <p:spPr>
          <a:xfrm>
            <a:off x="1005840" y="36375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pseudopregnatia (psödopregnansi)</a:t>
            </a:r>
            <a:r>
              <a:rPr lang="en-US" sz="1400" dirty="0">
                <a:solidFill>
                  <a:srgbClr val="4B5563"/>
                </a:solidFill>
                <a:latin typeface="Calibri" pitchFamily="34" charset="0"/>
                <a:ea typeface="Calibri" pitchFamily="34" charset="-122"/>
                <a:cs typeface="Calibri" pitchFamily="34" charset="-120"/>
              </a:rPr>
              <a:t>: Yalancı gebelik</a:t>
            </a:r>
            <a:endParaRPr lang="en-US" sz="1400" dirty="0"/>
          </a:p>
        </p:txBody>
      </p:sp>
      <p:sp>
        <p:nvSpPr>
          <p:cNvPr id="22" name="Shape 20"/>
          <p:cNvSpPr/>
          <p:nvPr/>
        </p:nvSpPr>
        <p:spPr>
          <a:xfrm>
            <a:off x="850392" y="3964777"/>
            <a:ext cx="64008" cy="64008"/>
          </a:xfrm>
          <a:prstGeom prst="ellipse">
            <a:avLst/>
          </a:prstGeom>
          <a:solidFill>
            <a:srgbClr val="0F766E"/>
          </a:solidFill>
          <a:ln/>
        </p:spPr>
      </p:sp>
      <p:sp>
        <p:nvSpPr>
          <p:cNvPr id="23" name="Text 21"/>
          <p:cNvSpPr txBox="1"/>
          <p:nvPr/>
        </p:nvSpPr>
        <p:spPr>
          <a:xfrm>
            <a:off x="1005840" y="389102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pseudounipolaris (psödounipolar)</a:t>
            </a:r>
            <a:r>
              <a:rPr lang="en-US" sz="1400" dirty="0">
                <a:solidFill>
                  <a:srgbClr val="4B5563"/>
                </a:solidFill>
                <a:latin typeface="Calibri" pitchFamily="34" charset="0"/>
                <a:ea typeface="Calibri" pitchFamily="34" charset="-122"/>
                <a:cs typeface="Calibri" pitchFamily="34" charset="-120"/>
              </a:rPr>
              <a:t>: Yalancı tek kutuplu</a:t>
            </a:r>
            <a:endParaRPr lang="en-US" sz="1400" dirty="0"/>
          </a:p>
        </p:txBody>
      </p:sp>
      <p:sp>
        <p:nvSpPr>
          <p:cNvPr id="24" name="Shape 22"/>
          <p:cNvSpPr/>
          <p:nvPr/>
        </p:nvSpPr>
        <p:spPr>
          <a:xfrm>
            <a:off x="850392" y="4218269"/>
            <a:ext cx="64008" cy="64008"/>
          </a:xfrm>
          <a:prstGeom prst="ellipse">
            <a:avLst/>
          </a:prstGeom>
          <a:solidFill>
            <a:srgbClr val="0F766E"/>
          </a:solidFill>
          <a:ln/>
        </p:spPr>
      </p:sp>
      <p:sp>
        <p:nvSpPr>
          <p:cNvPr id="25" name="Text 23"/>
          <p:cNvSpPr txBox="1"/>
          <p:nvPr/>
        </p:nvSpPr>
        <p:spPr>
          <a:xfrm>
            <a:off x="1005840" y="414451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pseudoglandularis (psödoglandular)</a:t>
            </a:r>
            <a:r>
              <a:rPr lang="en-US" sz="1400" dirty="0">
                <a:solidFill>
                  <a:srgbClr val="4B5563"/>
                </a:solidFill>
                <a:latin typeface="Calibri" pitchFamily="34" charset="0"/>
                <a:ea typeface="Calibri" pitchFamily="34" charset="-122"/>
                <a:cs typeface="Calibri" pitchFamily="34" charset="-120"/>
              </a:rPr>
              <a:t>: Salgı bezi görünümünde</a:t>
            </a:r>
            <a:endParaRPr lang="en-US" sz="1400" dirty="0"/>
          </a:p>
        </p:txBody>
      </p:sp>
      <p:sp>
        <p:nvSpPr>
          <p:cNvPr id="26" name="Shape 24"/>
          <p:cNvSpPr/>
          <p:nvPr/>
        </p:nvSpPr>
        <p:spPr>
          <a:xfrm>
            <a:off x="548640" y="4626610"/>
            <a:ext cx="11094415" cy="1682750"/>
          </a:xfrm>
          <a:prstGeom prst="roundRect">
            <a:avLst>
              <a:gd name="adj" fmla="val 3804"/>
            </a:avLst>
          </a:prstGeom>
          <a:solidFill>
            <a:srgbClr val="EAF6F4"/>
          </a:solidFill>
          <a:ln/>
        </p:spPr>
      </p:sp>
      <p:sp>
        <p:nvSpPr>
          <p:cNvPr id="27" name="Text 25"/>
          <p:cNvSpPr txBox="1"/>
          <p:nvPr/>
        </p:nvSpPr>
        <p:spPr>
          <a:xfrm>
            <a:off x="731520" y="4690618"/>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7-  </a:t>
            </a:r>
            <a:endParaRPr lang="en-US" sz="1500" dirty="0"/>
          </a:p>
        </p:txBody>
      </p:sp>
      <p:sp>
        <p:nvSpPr>
          <p:cNvPr id="28" name="Shape 26"/>
          <p:cNvSpPr/>
          <p:nvPr/>
        </p:nvSpPr>
        <p:spPr>
          <a:xfrm>
            <a:off x="850392" y="5015067"/>
            <a:ext cx="64008" cy="64008"/>
          </a:xfrm>
          <a:prstGeom prst="ellipse">
            <a:avLst/>
          </a:prstGeom>
          <a:solidFill>
            <a:srgbClr val="0F766E"/>
          </a:solidFill>
          <a:ln/>
        </p:spPr>
      </p:sp>
      <p:sp>
        <p:nvSpPr>
          <p:cNvPr id="29" name="Text 27"/>
          <p:cNvSpPr txBox="1"/>
          <p:nvPr/>
        </p:nvSpPr>
        <p:spPr>
          <a:xfrm>
            <a:off x="1005840" y="49413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auto- (G) (oto-)</a:t>
            </a:r>
            <a:r>
              <a:rPr lang="en-US" sz="1400" dirty="0">
                <a:solidFill>
                  <a:srgbClr val="4B5563"/>
                </a:solidFill>
                <a:latin typeface="Calibri" pitchFamily="34" charset="0"/>
                <a:ea typeface="Calibri" pitchFamily="34" charset="-122"/>
                <a:cs typeface="Calibri" pitchFamily="34" charset="-120"/>
              </a:rPr>
              <a:t>: Kendi</a:t>
            </a:r>
            <a:endParaRPr lang="en-US" sz="1400" dirty="0"/>
          </a:p>
        </p:txBody>
      </p:sp>
      <p:sp>
        <p:nvSpPr>
          <p:cNvPr id="30" name="Shape 28"/>
          <p:cNvSpPr/>
          <p:nvPr/>
        </p:nvSpPr>
        <p:spPr>
          <a:xfrm>
            <a:off x="850392" y="5268559"/>
            <a:ext cx="64008" cy="64008"/>
          </a:xfrm>
          <a:prstGeom prst="ellipse">
            <a:avLst/>
          </a:prstGeom>
          <a:solidFill>
            <a:srgbClr val="0F766E"/>
          </a:solidFill>
          <a:ln/>
        </p:spPr>
      </p:sp>
      <p:sp>
        <p:nvSpPr>
          <p:cNvPr id="31" name="Text 29"/>
          <p:cNvSpPr txBox="1"/>
          <p:nvPr/>
        </p:nvSpPr>
        <p:spPr>
          <a:xfrm>
            <a:off x="1005840" y="5194808"/>
            <a:ext cx="10454335"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autophagy (otofaji)</a:t>
            </a:r>
            <a:r>
              <a:rPr lang="en-US" sz="1400" dirty="0">
                <a:solidFill>
                  <a:srgbClr val="4B5563"/>
                </a:solidFill>
                <a:latin typeface="Calibri" pitchFamily="34" charset="0"/>
                <a:ea typeface="Calibri" pitchFamily="34" charset="-122"/>
                <a:cs typeface="Calibri" pitchFamily="34" charset="-120"/>
              </a:rPr>
              <a:t>: Kendi kendini yeme. Hücrenin, hücre içi unsurara yönelik lizozim etkisi ilekendini sindirerek yok etmesi</a:t>
            </a:r>
            <a:endParaRPr lang="en-US" sz="1400" dirty="0"/>
          </a:p>
        </p:txBody>
      </p:sp>
      <p:sp>
        <p:nvSpPr>
          <p:cNvPr id="32" name="Shape 30"/>
          <p:cNvSpPr/>
          <p:nvPr/>
        </p:nvSpPr>
        <p:spPr>
          <a:xfrm>
            <a:off x="850392" y="5738967"/>
            <a:ext cx="64008" cy="64008"/>
          </a:xfrm>
          <a:prstGeom prst="ellipse">
            <a:avLst/>
          </a:prstGeom>
          <a:solidFill>
            <a:srgbClr val="0F766E"/>
          </a:solidFill>
          <a:ln/>
        </p:spPr>
      </p:sp>
      <p:sp>
        <p:nvSpPr>
          <p:cNvPr id="33" name="Text 31"/>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autonomy (otonom)</a:t>
            </a:r>
            <a:r>
              <a:rPr lang="en-US" sz="1400" dirty="0">
                <a:solidFill>
                  <a:srgbClr val="4B5563"/>
                </a:solidFill>
                <a:latin typeface="Calibri" pitchFamily="34" charset="0"/>
                <a:ea typeface="Calibri" pitchFamily="34" charset="-122"/>
                <a:cs typeface="Calibri" pitchFamily="34" charset="-120"/>
              </a:rPr>
              <a:t>: Kendi kendine işleyen, çalışan</a:t>
            </a:r>
            <a:endParaRPr lang="en-US" sz="1400" dirty="0"/>
          </a:p>
        </p:txBody>
      </p:sp>
      <p:sp>
        <p:nvSpPr>
          <p:cNvPr id="34" name="Shape 32"/>
          <p:cNvSpPr/>
          <p:nvPr/>
        </p:nvSpPr>
        <p:spPr>
          <a:xfrm>
            <a:off x="850392" y="5992459"/>
            <a:ext cx="64008" cy="64008"/>
          </a:xfrm>
          <a:prstGeom prst="ellipse">
            <a:avLst/>
          </a:prstGeom>
          <a:solidFill>
            <a:srgbClr val="0F766E"/>
          </a:solidFill>
          <a:ln/>
        </p:spPr>
      </p:sp>
      <p:sp>
        <p:nvSpPr>
          <p:cNvPr id="35" name="Text 33"/>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autolysis (otoliz)</a:t>
            </a:r>
            <a:r>
              <a:rPr lang="en-US" sz="1400" dirty="0">
                <a:solidFill>
                  <a:srgbClr val="4B5563"/>
                </a:solidFill>
                <a:latin typeface="Calibri" pitchFamily="34" charset="0"/>
                <a:ea typeface="Calibri" pitchFamily="34" charset="-122"/>
                <a:cs typeface="Calibri" pitchFamily="34" charset="-120"/>
              </a:rPr>
              <a:t>: Hücrenin kendi kendini eritmesi</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Sonekler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73</a:t>
            </a:r>
            <a:endParaRPr lang="en-US" sz="1000" dirty="0"/>
          </a:p>
        </p:txBody>
      </p:sp>
      <p:sp>
        <p:nvSpPr>
          <p:cNvPr id="6" name="Shape 4"/>
          <p:cNvSpPr/>
          <p:nvPr/>
        </p:nvSpPr>
        <p:spPr>
          <a:xfrm>
            <a:off x="548640" y="2953512"/>
            <a:ext cx="11094415" cy="542239"/>
          </a:xfrm>
          <a:prstGeom prst="roundRect">
            <a:avLst>
              <a:gd name="adj" fmla="val 11804"/>
            </a:avLst>
          </a:prstGeom>
          <a:solidFill>
            <a:srgbClr val="EAF6F4"/>
          </a:solidFill>
          <a:ln/>
        </p:spPr>
      </p:sp>
      <p:sp>
        <p:nvSpPr>
          <p:cNvPr id="7" name="Text 5"/>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Bütün dillerde sonekler öneklere göre daha çoktur.</a:t>
            </a:r>
            <a:endParaRPr lang="en-US" sz="1800" dirty="0"/>
          </a:p>
        </p:txBody>
      </p:sp>
      <p:sp>
        <p:nvSpPr>
          <p:cNvPr id="8" name="Shape 6"/>
          <p:cNvSpPr/>
          <p:nvPr/>
        </p:nvSpPr>
        <p:spPr>
          <a:xfrm>
            <a:off x="548640" y="3587191"/>
            <a:ext cx="11094415" cy="542239"/>
          </a:xfrm>
          <a:prstGeom prst="roundRect">
            <a:avLst>
              <a:gd name="adj" fmla="val 11804"/>
            </a:avLst>
          </a:prstGeom>
          <a:solidFill>
            <a:srgbClr val="EAF6F4"/>
          </a:solidFill>
          <a:ln/>
        </p:spPr>
      </p:sp>
      <p:sp>
        <p:nvSpPr>
          <p:cNvPr id="9" name="Text 7"/>
          <p:cNvSpPr txBox="1"/>
          <p:nvPr/>
        </p:nvSpPr>
        <p:spPr>
          <a:xfrm>
            <a:off x="704088" y="3660343"/>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Bunlar kök sözcüklerin sonlarına eklenirler ve yeni anlam kazandırırlar.</a:t>
            </a:r>
            <a:endParaRPr lang="en-US" sz="1800" dirty="0"/>
          </a:p>
        </p:txBody>
      </p:sp>
      <p:sp>
        <p:nvSpPr>
          <p:cNvPr id="10" name="Shape 8"/>
          <p:cNvSpPr/>
          <p:nvPr/>
        </p:nvSpPr>
        <p:spPr>
          <a:xfrm>
            <a:off x="548640" y="4220870"/>
            <a:ext cx="11094415" cy="542239"/>
          </a:xfrm>
          <a:prstGeom prst="roundRect">
            <a:avLst>
              <a:gd name="adj" fmla="val 11804"/>
            </a:avLst>
          </a:prstGeom>
          <a:solidFill>
            <a:srgbClr val="EAF6F4"/>
          </a:solidFill>
          <a:ln/>
        </p:spPr>
      </p:sp>
      <p:sp>
        <p:nvSpPr>
          <p:cNvPr id="11" name="Text 9"/>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bilimlerinde Latince ve Grekçe sonekli çok sayıda terim bulunmaktadır.</a:t>
            </a:r>
            <a:endParaRPr lang="en-US" sz="1800" dirty="0"/>
          </a:p>
        </p:txBody>
      </p:sp>
      <p:sp>
        <p:nvSpPr>
          <p:cNvPr id="12" name="Shape 10"/>
          <p:cNvSpPr/>
          <p:nvPr/>
        </p:nvSpPr>
        <p:spPr>
          <a:xfrm>
            <a:off x="548640" y="4854550"/>
            <a:ext cx="11094415" cy="542239"/>
          </a:xfrm>
          <a:prstGeom prst="roundRect">
            <a:avLst>
              <a:gd name="adj" fmla="val 11804"/>
            </a:avLst>
          </a:prstGeom>
          <a:solidFill>
            <a:srgbClr val="EAF6F4"/>
          </a:solidFill>
          <a:ln/>
        </p:spPr>
      </p:sp>
      <p:sp>
        <p:nvSpPr>
          <p:cNvPr id="13" name="Text 11"/>
          <p:cNvSpPr txBox="1"/>
          <p:nvPr/>
        </p:nvSpPr>
        <p:spPr>
          <a:xfrm>
            <a:off x="704088" y="492770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Aşağıda en çok kullanılan Latince ve Grekçe sonekleri yer almaktadır.</a:t>
            </a:r>
            <a:endParaRPr lang="en-US" sz="1800" dirty="0"/>
          </a:p>
        </p:txBody>
      </p:sp>
      <p:sp>
        <p:nvSpPr>
          <p:cNvPr id="14" name="Shape 12"/>
          <p:cNvSpPr/>
          <p:nvPr/>
        </p:nvSpPr>
        <p:spPr>
          <a:xfrm>
            <a:off x="548640" y="5488229"/>
            <a:ext cx="11094415" cy="821131"/>
          </a:xfrm>
          <a:prstGeom prst="roundRect">
            <a:avLst>
              <a:gd name="adj" fmla="val 7795"/>
            </a:avLst>
          </a:prstGeom>
          <a:solidFill>
            <a:srgbClr val="EAF6F4"/>
          </a:solidFill>
          <a:ln/>
        </p:spPr>
      </p:sp>
      <p:sp>
        <p:nvSpPr>
          <p:cNvPr id="15" name="Text 13"/>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Öğrenmede kolaylık sağlaması için eş anlamlı, benzer anlamlı ve zıt anlamlı sonekler bir araya getirilerek gruplandırıldı.</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Azaltma ve Küçültme Anlamı Veren Sonekler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74</a:t>
            </a:r>
            <a:endParaRPr lang="en-US" sz="1000" dirty="0"/>
          </a:p>
        </p:txBody>
      </p:sp>
      <p:sp>
        <p:nvSpPr>
          <p:cNvPr id="6" name="Shape 4"/>
          <p:cNvSpPr/>
          <p:nvPr/>
        </p:nvSpPr>
        <p:spPr>
          <a:xfrm>
            <a:off x="548640" y="1838452"/>
            <a:ext cx="5410048" cy="2443226"/>
          </a:xfrm>
          <a:prstGeom prst="roundRect">
            <a:avLst>
              <a:gd name="adj" fmla="val 2620"/>
            </a:avLst>
          </a:prstGeom>
          <a:solidFill>
            <a:srgbClr val="EAF6F4"/>
          </a:solidFill>
          <a:ln/>
        </p:spPr>
      </p:sp>
      <p:sp>
        <p:nvSpPr>
          <p:cNvPr id="7" name="Text 5"/>
          <p:cNvSpPr txBox="1"/>
          <p:nvPr/>
        </p:nvSpPr>
        <p:spPr>
          <a:xfrm>
            <a:off x="731520" y="190246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2226909"/>
            <a:ext cx="64008" cy="64008"/>
          </a:xfrm>
          <a:prstGeom prst="ellipse">
            <a:avLst/>
          </a:prstGeom>
          <a:solidFill>
            <a:srgbClr val="0F766E"/>
          </a:solidFill>
          <a:ln/>
        </p:spPr>
      </p:sp>
      <p:sp>
        <p:nvSpPr>
          <p:cNvPr id="9" name="Text 7"/>
          <p:cNvSpPr txBox="1"/>
          <p:nvPr/>
        </p:nvSpPr>
        <p:spPr>
          <a:xfrm>
            <a:off x="1005840" y="215315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-ulus, -ula, -ulum (L) (-ulus, -ula, -ulum)</a:t>
            </a:r>
            <a:r>
              <a:rPr lang="en-US" sz="1400" dirty="0">
                <a:solidFill>
                  <a:srgbClr val="4B5563"/>
                </a:solidFill>
                <a:latin typeface="Calibri" pitchFamily="34" charset="0"/>
                <a:ea typeface="Calibri" pitchFamily="34" charset="-122"/>
                <a:cs typeface="Calibri" pitchFamily="34" charset="-120"/>
              </a:rPr>
              <a:t>: Azaltma, küçültme</a:t>
            </a:r>
            <a:endParaRPr lang="en-US" sz="1400" dirty="0"/>
          </a:p>
        </p:txBody>
      </p:sp>
      <p:sp>
        <p:nvSpPr>
          <p:cNvPr id="10" name="Shape 8"/>
          <p:cNvSpPr/>
          <p:nvPr/>
        </p:nvSpPr>
        <p:spPr>
          <a:xfrm>
            <a:off x="850392" y="2697317"/>
            <a:ext cx="64008" cy="64008"/>
          </a:xfrm>
          <a:prstGeom prst="ellipse">
            <a:avLst/>
          </a:prstGeom>
          <a:solidFill>
            <a:srgbClr val="0F766E"/>
          </a:solidFill>
          <a:ln/>
        </p:spPr>
      </p:sp>
      <p:sp>
        <p:nvSpPr>
          <p:cNvPr id="11" name="Text 9"/>
          <p:cNvSpPr txBox="1"/>
          <p:nvPr/>
        </p:nvSpPr>
        <p:spPr>
          <a:xfrm>
            <a:off x="1005840" y="262356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canaliculus (kanalikulus)</a:t>
            </a:r>
            <a:r>
              <a:rPr lang="en-US" sz="1400" dirty="0">
                <a:solidFill>
                  <a:srgbClr val="4B5563"/>
                </a:solidFill>
                <a:latin typeface="Calibri" pitchFamily="34" charset="0"/>
                <a:ea typeface="Calibri" pitchFamily="34" charset="-122"/>
                <a:cs typeface="Calibri" pitchFamily="34" charset="-120"/>
              </a:rPr>
              <a:t>: Küçük kanal</a:t>
            </a:r>
            <a:endParaRPr lang="en-US" sz="1400" dirty="0"/>
          </a:p>
        </p:txBody>
      </p:sp>
      <p:sp>
        <p:nvSpPr>
          <p:cNvPr id="12" name="Shape 10"/>
          <p:cNvSpPr/>
          <p:nvPr/>
        </p:nvSpPr>
        <p:spPr>
          <a:xfrm>
            <a:off x="850392" y="2950809"/>
            <a:ext cx="64008" cy="64008"/>
          </a:xfrm>
          <a:prstGeom prst="ellipse">
            <a:avLst/>
          </a:prstGeom>
          <a:solidFill>
            <a:srgbClr val="0F766E"/>
          </a:solidFill>
          <a:ln/>
        </p:spPr>
      </p:sp>
      <p:sp>
        <p:nvSpPr>
          <p:cNvPr id="13" name="Text 11"/>
          <p:cNvSpPr txBox="1"/>
          <p:nvPr/>
        </p:nvSpPr>
        <p:spPr>
          <a:xfrm>
            <a:off x="1005840" y="28770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lobulus (lobulus)</a:t>
            </a:r>
            <a:r>
              <a:rPr lang="en-US" sz="1400" dirty="0">
                <a:solidFill>
                  <a:srgbClr val="4B5563"/>
                </a:solidFill>
                <a:latin typeface="Calibri" pitchFamily="34" charset="0"/>
                <a:ea typeface="Calibri" pitchFamily="34" charset="-122"/>
                <a:cs typeface="Calibri" pitchFamily="34" charset="-120"/>
              </a:rPr>
              <a:t>: Lobcuk</a:t>
            </a:r>
            <a:endParaRPr lang="en-US" sz="1400" dirty="0"/>
          </a:p>
        </p:txBody>
      </p:sp>
      <p:sp>
        <p:nvSpPr>
          <p:cNvPr id="14" name="Shape 12"/>
          <p:cNvSpPr/>
          <p:nvPr/>
        </p:nvSpPr>
        <p:spPr>
          <a:xfrm>
            <a:off x="850392" y="3204301"/>
            <a:ext cx="64008" cy="64008"/>
          </a:xfrm>
          <a:prstGeom prst="ellipse">
            <a:avLst/>
          </a:prstGeom>
          <a:solidFill>
            <a:srgbClr val="0F766E"/>
          </a:solidFill>
          <a:ln/>
        </p:spPr>
      </p:sp>
      <p:sp>
        <p:nvSpPr>
          <p:cNvPr id="15" name="Text 13"/>
          <p:cNvSpPr txBox="1"/>
          <p:nvPr/>
        </p:nvSpPr>
        <p:spPr>
          <a:xfrm>
            <a:off x="1005840" y="31305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glomerulus (glomerulus)</a:t>
            </a:r>
            <a:r>
              <a:rPr lang="en-US" sz="1400" dirty="0">
                <a:solidFill>
                  <a:srgbClr val="4B5563"/>
                </a:solidFill>
                <a:latin typeface="Calibri" pitchFamily="34" charset="0"/>
                <a:ea typeface="Calibri" pitchFamily="34" charset="-122"/>
                <a:cs typeface="Calibri" pitchFamily="34" charset="-120"/>
              </a:rPr>
              <a:t>: Küçük yumak</a:t>
            </a:r>
            <a:endParaRPr lang="en-US" sz="1400" dirty="0"/>
          </a:p>
        </p:txBody>
      </p:sp>
      <p:sp>
        <p:nvSpPr>
          <p:cNvPr id="16" name="Shape 14"/>
          <p:cNvSpPr/>
          <p:nvPr/>
        </p:nvSpPr>
        <p:spPr>
          <a:xfrm>
            <a:off x="850392" y="3457793"/>
            <a:ext cx="64008" cy="64008"/>
          </a:xfrm>
          <a:prstGeom prst="ellipse">
            <a:avLst/>
          </a:prstGeom>
          <a:solidFill>
            <a:srgbClr val="0F766E"/>
          </a:solidFill>
          <a:ln/>
        </p:spPr>
      </p:sp>
      <p:sp>
        <p:nvSpPr>
          <p:cNvPr id="17" name="Text 15"/>
          <p:cNvSpPr txBox="1"/>
          <p:nvPr/>
        </p:nvSpPr>
        <p:spPr>
          <a:xfrm>
            <a:off x="1005840" y="33840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venula (venul)</a:t>
            </a:r>
            <a:r>
              <a:rPr lang="en-US" sz="1400" dirty="0">
                <a:solidFill>
                  <a:srgbClr val="4B5563"/>
                </a:solidFill>
                <a:latin typeface="Calibri" pitchFamily="34" charset="0"/>
                <a:ea typeface="Calibri" pitchFamily="34" charset="-122"/>
                <a:cs typeface="Calibri" pitchFamily="34" charset="-120"/>
              </a:rPr>
              <a:t>: Küçük toplardamar</a:t>
            </a:r>
            <a:endParaRPr lang="en-US" sz="1400" dirty="0"/>
          </a:p>
        </p:txBody>
      </p:sp>
      <p:sp>
        <p:nvSpPr>
          <p:cNvPr id="18" name="Shape 16"/>
          <p:cNvSpPr/>
          <p:nvPr/>
        </p:nvSpPr>
        <p:spPr>
          <a:xfrm>
            <a:off x="850392" y="3711285"/>
            <a:ext cx="64008" cy="64008"/>
          </a:xfrm>
          <a:prstGeom prst="ellipse">
            <a:avLst/>
          </a:prstGeom>
          <a:solidFill>
            <a:srgbClr val="0F766E"/>
          </a:solidFill>
          <a:ln/>
        </p:spPr>
      </p:sp>
      <p:sp>
        <p:nvSpPr>
          <p:cNvPr id="19" name="Text 17"/>
          <p:cNvSpPr txBox="1"/>
          <p:nvPr/>
        </p:nvSpPr>
        <p:spPr>
          <a:xfrm>
            <a:off x="1005840" y="36375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ossiculum (osikulum)</a:t>
            </a:r>
            <a:r>
              <a:rPr lang="en-US" sz="1400" dirty="0">
                <a:solidFill>
                  <a:srgbClr val="4B5563"/>
                </a:solidFill>
                <a:latin typeface="Calibri" pitchFamily="34" charset="0"/>
                <a:ea typeface="Calibri" pitchFamily="34" charset="-122"/>
                <a:cs typeface="Calibri" pitchFamily="34" charset="-120"/>
              </a:rPr>
              <a:t>: Kemikçik</a:t>
            </a:r>
            <a:endParaRPr lang="en-US" sz="1400" dirty="0"/>
          </a:p>
        </p:txBody>
      </p:sp>
      <p:sp>
        <p:nvSpPr>
          <p:cNvPr id="20" name="Shape 18"/>
          <p:cNvSpPr/>
          <p:nvPr/>
        </p:nvSpPr>
        <p:spPr>
          <a:xfrm>
            <a:off x="850392" y="3964777"/>
            <a:ext cx="64008" cy="64008"/>
          </a:xfrm>
          <a:prstGeom prst="ellipse">
            <a:avLst/>
          </a:prstGeom>
          <a:solidFill>
            <a:srgbClr val="0F766E"/>
          </a:solidFill>
          <a:ln/>
        </p:spPr>
      </p:sp>
      <p:sp>
        <p:nvSpPr>
          <p:cNvPr id="21" name="Text 19"/>
          <p:cNvSpPr txBox="1"/>
          <p:nvPr/>
        </p:nvSpPr>
        <p:spPr>
          <a:xfrm>
            <a:off x="1005840" y="38910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septulum (septulum)</a:t>
            </a:r>
            <a:r>
              <a:rPr lang="en-US" sz="1400" dirty="0">
                <a:solidFill>
                  <a:srgbClr val="4B5563"/>
                </a:solidFill>
                <a:latin typeface="Calibri" pitchFamily="34" charset="0"/>
                <a:ea typeface="Calibri" pitchFamily="34" charset="-122"/>
                <a:cs typeface="Calibri" pitchFamily="34" charset="-120"/>
              </a:rPr>
              <a:t>: Bölmecik, duvarcık</a:t>
            </a:r>
            <a:endParaRPr lang="en-US" sz="1400" dirty="0"/>
          </a:p>
        </p:txBody>
      </p:sp>
      <p:sp>
        <p:nvSpPr>
          <p:cNvPr id="22" name="Shape 20"/>
          <p:cNvSpPr/>
          <p:nvPr/>
        </p:nvSpPr>
        <p:spPr>
          <a:xfrm>
            <a:off x="548640" y="4373118"/>
            <a:ext cx="5410048" cy="1936242"/>
          </a:xfrm>
          <a:prstGeom prst="roundRect">
            <a:avLst>
              <a:gd name="adj" fmla="val 3306"/>
            </a:avLst>
          </a:prstGeom>
          <a:solidFill>
            <a:srgbClr val="EAF6F4"/>
          </a:solidFill>
          <a:ln/>
        </p:spPr>
      </p:sp>
      <p:sp>
        <p:nvSpPr>
          <p:cNvPr id="23" name="Text 21"/>
          <p:cNvSpPr txBox="1"/>
          <p:nvPr/>
        </p:nvSpPr>
        <p:spPr>
          <a:xfrm>
            <a:off x="731520" y="443712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24" name="Shape 22"/>
          <p:cNvSpPr/>
          <p:nvPr/>
        </p:nvSpPr>
        <p:spPr>
          <a:xfrm>
            <a:off x="850392" y="4761575"/>
            <a:ext cx="64008" cy="64008"/>
          </a:xfrm>
          <a:prstGeom prst="ellipse">
            <a:avLst/>
          </a:prstGeom>
          <a:solidFill>
            <a:srgbClr val="0F766E"/>
          </a:solidFill>
          <a:ln/>
        </p:spPr>
      </p:sp>
      <p:sp>
        <p:nvSpPr>
          <p:cNvPr id="25" name="Text 23"/>
          <p:cNvSpPr txBox="1"/>
          <p:nvPr/>
        </p:nvSpPr>
        <p:spPr>
          <a:xfrm>
            <a:off x="1005840" y="468782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-ella, -ellum (L) (-ellus, -ella, -ellum)</a:t>
            </a:r>
            <a:r>
              <a:rPr lang="en-US" sz="1400" dirty="0">
                <a:solidFill>
                  <a:srgbClr val="4B5563"/>
                </a:solidFill>
                <a:latin typeface="Calibri" pitchFamily="34" charset="0"/>
                <a:ea typeface="Calibri" pitchFamily="34" charset="-122"/>
                <a:cs typeface="Calibri" pitchFamily="34" charset="-120"/>
              </a:rPr>
              <a:t>: Azalma, küçülme</a:t>
            </a:r>
            <a:endParaRPr lang="en-US" sz="1400" dirty="0"/>
          </a:p>
        </p:txBody>
      </p:sp>
      <p:sp>
        <p:nvSpPr>
          <p:cNvPr id="26" name="Shape 24"/>
          <p:cNvSpPr/>
          <p:nvPr/>
        </p:nvSpPr>
        <p:spPr>
          <a:xfrm>
            <a:off x="850392" y="5231983"/>
            <a:ext cx="64008" cy="64008"/>
          </a:xfrm>
          <a:prstGeom prst="ellipse">
            <a:avLst/>
          </a:prstGeom>
          <a:solidFill>
            <a:srgbClr val="0F766E"/>
          </a:solidFill>
          <a:ln/>
        </p:spPr>
      </p:sp>
      <p:sp>
        <p:nvSpPr>
          <p:cNvPr id="27" name="Text 25"/>
          <p:cNvSpPr txBox="1"/>
          <p:nvPr/>
        </p:nvSpPr>
        <p:spPr>
          <a:xfrm>
            <a:off x="1005840" y="51582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rubella (rubella)</a:t>
            </a:r>
            <a:r>
              <a:rPr lang="en-US" sz="1400" dirty="0">
                <a:solidFill>
                  <a:srgbClr val="4B5563"/>
                </a:solidFill>
                <a:latin typeface="Calibri" pitchFamily="34" charset="0"/>
                <a:ea typeface="Calibri" pitchFamily="34" charset="-122"/>
                <a:cs typeface="Calibri" pitchFamily="34" charset="-120"/>
              </a:rPr>
              <a:t>: Kızamıkçık</a:t>
            </a:r>
            <a:endParaRPr lang="en-US" sz="1400" dirty="0"/>
          </a:p>
        </p:txBody>
      </p:sp>
      <p:sp>
        <p:nvSpPr>
          <p:cNvPr id="28" name="Shape 26"/>
          <p:cNvSpPr/>
          <p:nvPr/>
        </p:nvSpPr>
        <p:spPr>
          <a:xfrm>
            <a:off x="850392" y="5485475"/>
            <a:ext cx="64008" cy="64008"/>
          </a:xfrm>
          <a:prstGeom prst="ellipse">
            <a:avLst/>
          </a:prstGeom>
          <a:solidFill>
            <a:srgbClr val="0F766E"/>
          </a:solidFill>
          <a:ln/>
        </p:spPr>
      </p:sp>
      <p:sp>
        <p:nvSpPr>
          <p:cNvPr id="29" name="Text 27"/>
          <p:cNvSpPr txBox="1"/>
          <p:nvPr/>
        </p:nvSpPr>
        <p:spPr>
          <a:xfrm>
            <a:off x="1005840"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columella (kolumella)</a:t>
            </a:r>
            <a:r>
              <a:rPr lang="en-US" sz="1400" dirty="0">
                <a:solidFill>
                  <a:srgbClr val="4B5563"/>
                </a:solidFill>
                <a:latin typeface="Calibri" pitchFamily="34" charset="0"/>
                <a:ea typeface="Calibri" pitchFamily="34" charset="-122"/>
                <a:cs typeface="Calibri" pitchFamily="34" charset="-120"/>
              </a:rPr>
              <a:t>: Sütuncuk, küçük direk</a:t>
            </a:r>
            <a:endParaRPr lang="en-US" sz="1400" dirty="0"/>
          </a:p>
        </p:txBody>
      </p:sp>
      <p:sp>
        <p:nvSpPr>
          <p:cNvPr id="30" name="Shape 28"/>
          <p:cNvSpPr/>
          <p:nvPr/>
        </p:nvSpPr>
        <p:spPr>
          <a:xfrm>
            <a:off x="850392" y="5738967"/>
            <a:ext cx="64008" cy="64008"/>
          </a:xfrm>
          <a:prstGeom prst="ellipse">
            <a:avLst/>
          </a:prstGeom>
          <a:solidFill>
            <a:srgbClr val="0F766E"/>
          </a:solidFill>
          <a:ln/>
        </p:spPr>
      </p:sp>
      <p:sp>
        <p:nvSpPr>
          <p:cNvPr id="31" name="Text 29"/>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cerebellum (serebellum)</a:t>
            </a:r>
            <a:r>
              <a:rPr lang="en-US" sz="1400" dirty="0">
                <a:solidFill>
                  <a:srgbClr val="4B5563"/>
                </a:solidFill>
                <a:latin typeface="Calibri" pitchFamily="34" charset="0"/>
                <a:ea typeface="Calibri" pitchFamily="34" charset="-122"/>
                <a:cs typeface="Calibri" pitchFamily="34" charset="-120"/>
              </a:rPr>
              <a:t>: Beyincik</a:t>
            </a:r>
            <a:endParaRPr lang="en-US" sz="1400" dirty="0"/>
          </a:p>
        </p:txBody>
      </p:sp>
      <p:sp>
        <p:nvSpPr>
          <p:cNvPr id="32" name="Shape 30"/>
          <p:cNvSpPr/>
          <p:nvPr/>
        </p:nvSpPr>
        <p:spPr>
          <a:xfrm>
            <a:off x="850392" y="5992459"/>
            <a:ext cx="64008" cy="64008"/>
          </a:xfrm>
          <a:prstGeom prst="ellipse">
            <a:avLst/>
          </a:prstGeom>
          <a:solidFill>
            <a:srgbClr val="0F766E"/>
          </a:solidFill>
          <a:ln/>
        </p:spPr>
      </p:sp>
      <p:sp>
        <p:nvSpPr>
          <p:cNvPr id="33" name="Text 31"/>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organellum (organellum)</a:t>
            </a:r>
            <a:r>
              <a:rPr lang="en-US" sz="1400" dirty="0">
                <a:solidFill>
                  <a:srgbClr val="4B5563"/>
                </a:solidFill>
                <a:latin typeface="Calibri" pitchFamily="34" charset="0"/>
                <a:ea typeface="Calibri" pitchFamily="34" charset="-122"/>
                <a:cs typeface="Calibri" pitchFamily="34" charset="-120"/>
              </a:rPr>
              <a:t>: Küçük organ</a:t>
            </a:r>
            <a:endParaRPr lang="en-US" sz="1400" dirty="0"/>
          </a:p>
        </p:txBody>
      </p:sp>
      <p:sp>
        <p:nvSpPr>
          <p:cNvPr id="34" name="Shape 32"/>
          <p:cNvSpPr/>
          <p:nvPr/>
        </p:nvSpPr>
        <p:spPr>
          <a:xfrm>
            <a:off x="6233008" y="1838452"/>
            <a:ext cx="5410048" cy="1212342"/>
          </a:xfrm>
          <a:prstGeom prst="roundRect">
            <a:avLst>
              <a:gd name="adj" fmla="val 5280"/>
            </a:avLst>
          </a:prstGeom>
          <a:solidFill>
            <a:srgbClr val="EAF6F4"/>
          </a:solidFill>
          <a:ln/>
        </p:spPr>
      </p:sp>
      <p:sp>
        <p:nvSpPr>
          <p:cNvPr id="35" name="Text 33"/>
          <p:cNvSpPr txBox="1"/>
          <p:nvPr/>
        </p:nvSpPr>
        <p:spPr>
          <a:xfrm>
            <a:off x="6415888" y="190246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36" name="Shape 34"/>
          <p:cNvSpPr/>
          <p:nvPr/>
        </p:nvSpPr>
        <p:spPr>
          <a:xfrm>
            <a:off x="6534760" y="2226909"/>
            <a:ext cx="64008" cy="64008"/>
          </a:xfrm>
          <a:prstGeom prst="ellipse">
            <a:avLst/>
          </a:prstGeom>
          <a:solidFill>
            <a:srgbClr val="0F766E"/>
          </a:solidFill>
          <a:ln/>
        </p:spPr>
      </p:sp>
      <p:sp>
        <p:nvSpPr>
          <p:cNvPr id="37" name="Text 35"/>
          <p:cNvSpPr txBox="1"/>
          <p:nvPr/>
        </p:nvSpPr>
        <p:spPr>
          <a:xfrm>
            <a:off x="6690208" y="21531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-illa (L) (-illa)</a:t>
            </a:r>
            <a:r>
              <a:rPr lang="en-US" sz="1400" dirty="0">
                <a:solidFill>
                  <a:srgbClr val="4B5563"/>
                </a:solidFill>
                <a:latin typeface="Calibri" pitchFamily="34" charset="0"/>
                <a:ea typeface="Calibri" pitchFamily="34" charset="-122"/>
                <a:cs typeface="Calibri" pitchFamily="34" charset="-120"/>
              </a:rPr>
              <a:t>: Azaltma, küçülme</a:t>
            </a:r>
            <a:endParaRPr lang="en-US" sz="1400" dirty="0"/>
          </a:p>
        </p:txBody>
      </p:sp>
      <p:sp>
        <p:nvSpPr>
          <p:cNvPr id="38" name="Shape 36"/>
          <p:cNvSpPr/>
          <p:nvPr/>
        </p:nvSpPr>
        <p:spPr>
          <a:xfrm>
            <a:off x="6534760" y="2480401"/>
            <a:ext cx="64008" cy="64008"/>
          </a:xfrm>
          <a:prstGeom prst="ellipse">
            <a:avLst/>
          </a:prstGeom>
          <a:solidFill>
            <a:srgbClr val="0F766E"/>
          </a:solidFill>
          <a:ln/>
        </p:spPr>
      </p:sp>
      <p:sp>
        <p:nvSpPr>
          <p:cNvPr id="39" name="Text 37"/>
          <p:cNvSpPr txBox="1"/>
          <p:nvPr/>
        </p:nvSpPr>
        <p:spPr>
          <a:xfrm>
            <a:off x="6690208" y="24066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fibrilla (fibrilla)</a:t>
            </a:r>
            <a:r>
              <a:rPr lang="en-US" sz="1400" dirty="0">
                <a:solidFill>
                  <a:srgbClr val="4B5563"/>
                </a:solidFill>
                <a:latin typeface="Calibri" pitchFamily="34" charset="0"/>
                <a:ea typeface="Calibri" pitchFamily="34" charset="-122"/>
                <a:cs typeface="Calibri" pitchFamily="34" charset="-120"/>
              </a:rPr>
              <a:t>: Telcik, fibrilcik</a:t>
            </a:r>
            <a:endParaRPr lang="en-US" sz="1400" dirty="0"/>
          </a:p>
        </p:txBody>
      </p:sp>
      <p:sp>
        <p:nvSpPr>
          <p:cNvPr id="40" name="Shape 38"/>
          <p:cNvSpPr/>
          <p:nvPr/>
        </p:nvSpPr>
        <p:spPr>
          <a:xfrm>
            <a:off x="6534760" y="2733893"/>
            <a:ext cx="64008" cy="64008"/>
          </a:xfrm>
          <a:prstGeom prst="ellipse">
            <a:avLst/>
          </a:prstGeom>
          <a:solidFill>
            <a:srgbClr val="0F766E"/>
          </a:solidFill>
          <a:ln/>
        </p:spPr>
      </p:sp>
      <p:sp>
        <p:nvSpPr>
          <p:cNvPr id="41" name="Text 39"/>
          <p:cNvSpPr txBox="1"/>
          <p:nvPr/>
        </p:nvSpPr>
        <p:spPr>
          <a:xfrm>
            <a:off x="6690208" y="26601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tonsilla (tonsilla)</a:t>
            </a:r>
            <a:r>
              <a:rPr lang="en-US" sz="1400" dirty="0">
                <a:solidFill>
                  <a:srgbClr val="4B5563"/>
                </a:solidFill>
                <a:latin typeface="Calibri" pitchFamily="34" charset="0"/>
                <a:ea typeface="Calibri" pitchFamily="34" charset="-122"/>
                <a:cs typeface="Calibri" pitchFamily="34" charset="-120"/>
              </a:rPr>
              <a:t>: Bademcik</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Azaltma ve Küçültme Anlamı Veren Sonekler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75</a:t>
            </a:r>
            <a:endParaRPr lang="en-US" sz="1000" dirty="0"/>
          </a:p>
        </p:txBody>
      </p:sp>
      <p:sp>
        <p:nvSpPr>
          <p:cNvPr id="6" name="Shape 4"/>
          <p:cNvSpPr/>
          <p:nvPr/>
        </p:nvSpPr>
        <p:spPr>
          <a:xfrm>
            <a:off x="548640" y="3474720"/>
            <a:ext cx="11094415" cy="2298192"/>
          </a:xfrm>
          <a:prstGeom prst="roundRect">
            <a:avLst>
              <a:gd name="adj" fmla="val 2785"/>
            </a:avLst>
          </a:prstGeom>
          <a:solidFill>
            <a:srgbClr val="EAF6F4"/>
          </a:solidFill>
          <a:ln/>
        </p:spPr>
      </p:sp>
      <p:sp>
        <p:nvSpPr>
          <p:cNvPr id="7" name="Text 5"/>
          <p:cNvSpPr txBox="1"/>
          <p:nvPr/>
        </p:nvSpPr>
        <p:spPr>
          <a:xfrm>
            <a:off x="731520" y="3538728"/>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4-  </a:t>
            </a:r>
            <a:endParaRPr lang="en-US" sz="1800" dirty="0"/>
          </a:p>
        </p:txBody>
      </p:sp>
      <p:sp>
        <p:nvSpPr>
          <p:cNvPr id="8" name="Shape 6"/>
          <p:cNvSpPr/>
          <p:nvPr/>
        </p:nvSpPr>
        <p:spPr>
          <a:xfrm>
            <a:off x="850392" y="3925463"/>
            <a:ext cx="64008" cy="64008"/>
          </a:xfrm>
          <a:prstGeom prst="ellipse">
            <a:avLst/>
          </a:prstGeom>
          <a:solidFill>
            <a:srgbClr val="0F766E"/>
          </a:solidFill>
          <a:ln/>
        </p:spPr>
      </p:sp>
      <p:sp>
        <p:nvSpPr>
          <p:cNvPr id="9" name="Text 7"/>
          <p:cNvSpPr txBox="1"/>
          <p:nvPr/>
        </p:nvSpPr>
        <p:spPr>
          <a:xfrm>
            <a:off x="1005840" y="383590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-olus, -ola (L) (-olus, -ola)</a:t>
            </a:r>
            <a:r>
              <a:rPr lang="en-US" sz="1700" dirty="0">
                <a:solidFill>
                  <a:srgbClr val="4B5563"/>
                </a:solidFill>
                <a:latin typeface="Calibri" pitchFamily="34" charset="0"/>
                <a:ea typeface="Calibri" pitchFamily="34" charset="-122"/>
                <a:cs typeface="Calibri" pitchFamily="34" charset="-120"/>
              </a:rPr>
              <a:t>: Azaltma, küçültme</a:t>
            </a:r>
            <a:endParaRPr lang="en-US" sz="1700" dirty="0"/>
          </a:p>
        </p:txBody>
      </p:sp>
      <p:sp>
        <p:nvSpPr>
          <p:cNvPr id="10" name="Shape 8"/>
          <p:cNvSpPr/>
          <p:nvPr/>
        </p:nvSpPr>
        <p:spPr>
          <a:xfrm>
            <a:off x="850392" y="4225437"/>
            <a:ext cx="64008" cy="64008"/>
          </a:xfrm>
          <a:prstGeom prst="ellipse">
            <a:avLst/>
          </a:prstGeom>
          <a:solidFill>
            <a:srgbClr val="0F766E"/>
          </a:solidFill>
          <a:ln/>
        </p:spPr>
      </p:sp>
      <p:sp>
        <p:nvSpPr>
          <p:cNvPr id="11" name="Text 9"/>
          <p:cNvSpPr txBox="1"/>
          <p:nvPr/>
        </p:nvSpPr>
        <p:spPr>
          <a:xfrm>
            <a:off x="1005840" y="413588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alveolus (alveolus)</a:t>
            </a:r>
            <a:r>
              <a:rPr lang="en-US" sz="1700" dirty="0">
                <a:solidFill>
                  <a:srgbClr val="4B5563"/>
                </a:solidFill>
                <a:latin typeface="Calibri" pitchFamily="34" charset="0"/>
                <a:ea typeface="Calibri" pitchFamily="34" charset="-122"/>
                <a:cs typeface="Calibri" pitchFamily="34" charset="-120"/>
              </a:rPr>
              <a:t>: Kesecik (örnek akciğerdeki hava kesecikleri)</a:t>
            </a:r>
            <a:endParaRPr lang="en-US" sz="1700" dirty="0"/>
          </a:p>
        </p:txBody>
      </p:sp>
      <p:sp>
        <p:nvSpPr>
          <p:cNvPr id="12" name="Shape 10"/>
          <p:cNvSpPr/>
          <p:nvPr/>
        </p:nvSpPr>
        <p:spPr>
          <a:xfrm>
            <a:off x="850392" y="4525411"/>
            <a:ext cx="64008" cy="64008"/>
          </a:xfrm>
          <a:prstGeom prst="ellipse">
            <a:avLst/>
          </a:prstGeom>
          <a:solidFill>
            <a:srgbClr val="0F766E"/>
          </a:solidFill>
          <a:ln/>
        </p:spPr>
      </p:sp>
      <p:sp>
        <p:nvSpPr>
          <p:cNvPr id="13" name="Text 11"/>
          <p:cNvSpPr txBox="1"/>
          <p:nvPr/>
        </p:nvSpPr>
        <p:spPr>
          <a:xfrm>
            <a:off x="1005840" y="443585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nucleolus (nukleolus)</a:t>
            </a:r>
            <a:r>
              <a:rPr lang="en-US" sz="1700" dirty="0">
                <a:solidFill>
                  <a:srgbClr val="4B5563"/>
                </a:solidFill>
                <a:latin typeface="Calibri" pitchFamily="34" charset="0"/>
                <a:ea typeface="Calibri" pitchFamily="34" charset="-122"/>
                <a:cs typeface="Calibri" pitchFamily="34" charset="-120"/>
              </a:rPr>
              <a:t>: Çekirdekçik</a:t>
            </a:r>
            <a:endParaRPr lang="en-US" sz="1700" dirty="0"/>
          </a:p>
        </p:txBody>
      </p:sp>
      <p:sp>
        <p:nvSpPr>
          <p:cNvPr id="14" name="Shape 12"/>
          <p:cNvSpPr/>
          <p:nvPr/>
        </p:nvSpPr>
        <p:spPr>
          <a:xfrm>
            <a:off x="850392" y="4825385"/>
            <a:ext cx="64008" cy="64008"/>
          </a:xfrm>
          <a:prstGeom prst="ellipse">
            <a:avLst/>
          </a:prstGeom>
          <a:solidFill>
            <a:srgbClr val="0F766E"/>
          </a:solidFill>
          <a:ln/>
        </p:spPr>
      </p:sp>
      <p:sp>
        <p:nvSpPr>
          <p:cNvPr id="15" name="Text 13"/>
          <p:cNvSpPr txBox="1"/>
          <p:nvPr/>
        </p:nvSpPr>
        <p:spPr>
          <a:xfrm>
            <a:off x="1005840" y="473583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bronchiolus (bronşiyol)</a:t>
            </a:r>
            <a:r>
              <a:rPr lang="en-US" sz="1700" dirty="0">
                <a:solidFill>
                  <a:srgbClr val="4B5563"/>
                </a:solidFill>
                <a:latin typeface="Calibri" pitchFamily="34" charset="0"/>
                <a:ea typeface="Calibri" pitchFamily="34" charset="-122"/>
                <a:cs typeface="Calibri" pitchFamily="34" charset="-120"/>
              </a:rPr>
              <a:t>: Bronşçuk</a:t>
            </a:r>
            <a:endParaRPr lang="en-US" sz="1700" dirty="0"/>
          </a:p>
        </p:txBody>
      </p:sp>
      <p:sp>
        <p:nvSpPr>
          <p:cNvPr id="16" name="Shape 14"/>
          <p:cNvSpPr/>
          <p:nvPr/>
        </p:nvSpPr>
        <p:spPr>
          <a:xfrm>
            <a:off x="850392" y="5125359"/>
            <a:ext cx="64008" cy="64008"/>
          </a:xfrm>
          <a:prstGeom prst="ellipse">
            <a:avLst/>
          </a:prstGeom>
          <a:solidFill>
            <a:srgbClr val="0F766E"/>
          </a:solidFill>
          <a:ln/>
        </p:spPr>
      </p:sp>
      <p:sp>
        <p:nvSpPr>
          <p:cNvPr id="17" name="Text 15"/>
          <p:cNvSpPr txBox="1"/>
          <p:nvPr/>
        </p:nvSpPr>
        <p:spPr>
          <a:xfrm>
            <a:off x="1005840" y="503580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vacuola (vakuol)</a:t>
            </a:r>
            <a:r>
              <a:rPr lang="en-US" sz="1700" dirty="0">
                <a:solidFill>
                  <a:srgbClr val="4B5563"/>
                </a:solidFill>
                <a:latin typeface="Calibri" pitchFamily="34" charset="0"/>
                <a:ea typeface="Calibri" pitchFamily="34" charset="-122"/>
                <a:cs typeface="Calibri" pitchFamily="34" charset="-120"/>
              </a:rPr>
              <a:t>: Küçük boşluk</a:t>
            </a:r>
            <a:endParaRPr lang="en-US" sz="1700" dirty="0"/>
          </a:p>
        </p:txBody>
      </p:sp>
      <p:sp>
        <p:nvSpPr>
          <p:cNvPr id="18" name="Shape 16"/>
          <p:cNvSpPr/>
          <p:nvPr/>
        </p:nvSpPr>
        <p:spPr>
          <a:xfrm>
            <a:off x="850392" y="5425333"/>
            <a:ext cx="64008" cy="64008"/>
          </a:xfrm>
          <a:prstGeom prst="ellipse">
            <a:avLst/>
          </a:prstGeom>
          <a:solidFill>
            <a:srgbClr val="0F766E"/>
          </a:solidFill>
          <a:ln/>
        </p:spPr>
      </p:sp>
      <p:sp>
        <p:nvSpPr>
          <p:cNvPr id="19" name="Text 17"/>
          <p:cNvSpPr txBox="1"/>
          <p:nvPr/>
        </p:nvSpPr>
        <p:spPr>
          <a:xfrm>
            <a:off x="1005840" y="533577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arteriola (arteriyol)</a:t>
            </a:r>
            <a:r>
              <a:rPr lang="en-US" sz="1700" dirty="0">
                <a:solidFill>
                  <a:srgbClr val="4B5563"/>
                </a:solidFill>
                <a:latin typeface="Calibri" pitchFamily="34" charset="0"/>
                <a:ea typeface="Calibri" pitchFamily="34" charset="-122"/>
                <a:cs typeface="Calibri" pitchFamily="34" charset="-120"/>
              </a:rPr>
              <a:t>: Küçük atardamar</a:t>
            </a:r>
            <a:endParaRPr lang="en-US" sz="17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İlgili, Ait Anlamı Veren Sonekler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76</a:t>
            </a:r>
            <a:endParaRPr lang="en-US" sz="1000" dirty="0"/>
          </a:p>
        </p:txBody>
      </p:sp>
      <p:sp>
        <p:nvSpPr>
          <p:cNvPr id="6" name="Shape 4"/>
          <p:cNvSpPr/>
          <p:nvPr/>
        </p:nvSpPr>
        <p:spPr>
          <a:xfrm>
            <a:off x="548640" y="1728978"/>
            <a:ext cx="5410048" cy="1465834"/>
          </a:xfrm>
          <a:prstGeom prst="roundRect">
            <a:avLst>
              <a:gd name="adj" fmla="val 4367"/>
            </a:avLst>
          </a:prstGeom>
          <a:solidFill>
            <a:srgbClr val="EAF6F4"/>
          </a:solidFill>
          <a:ln/>
        </p:spPr>
      </p:sp>
      <p:sp>
        <p:nvSpPr>
          <p:cNvPr id="7" name="Text 5"/>
          <p:cNvSpPr txBox="1"/>
          <p:nvPr/>
        </p:nvSpPr>
        <p:spPr>
          <a:xfrm>
            <a:off x="731520" y="179298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2117435"/>
            <a:ext cx="64008" cy="64008"/>
          </a:xfrm>
          <a:prstGeom prst="ellipse">
            <a:avLst/>
          </a:prstGeom>
          <a:solidFill>
            <a:srgbClr val="0F766E"/>
          </a:solidFill>
          <a:ln/>
        </p:spPr>
      </p:sp>
      <p:sp>
        <p:nvSpPr>
          <p:cNvPr id="9" name="Text 7"/>
          <p:cNvSpPr txBox="1"/>
          <p:nvPr/>
        </p:nvSpPr>
        <p:spPr>
          <a:xfrm>
            <a:off x="1005840" y="20436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-ic (İ) (-ik)</a:t>
            </a:r>
            <a:r>
              <a:rPr lang="en-US" sz="1400" dirty="0">
                <a:solidFill>
                  <a:srgbClr val="4B5563"/>
                </a:solidFill>
                <a:latin typeface="Calibri" pitchFamily="34" charset="0"/>
                <a:ea typeface="Calibri" pitchFamily="34" charset="-122"/>
                <a:cs typeface="Calibri" pitchFamily="34" charset="-120"/>
              </a:rPr>
              <a:t>: İlgili</a:t>
            </a:r>
            <a:endParaRPr lang="en-US" sz="1400" dirty="0"/>
          </a:p>
        </p:txBody>
      </p:sp>
      <p:sp>
        <p:nvSpPr>
          <p:cNvPr id="10" name="Shape 8"/>
          <p:cNvSpPr/>
          <p:nvPr/>
        </p:nvSpPr>
        <p:spPr>
          <a:xfrm>
            <a:off x="850392" y="2370927"/>
            <a:ext cx="64008" cy="64008"/>
          </a:xfrm>
          <a:prstGeom prst="ellipse">
            <a:avLst/>
          </a:prstGeom>
          <a:solidFill>
            <a:srgbClr val="0F766E"/>
          </a:solidFill>
          <a:ln/>
        </p:spPr>
      </p:sp>
      <p:sp>
        <p:nvSpPr>
          <p:cNvPr id="11" name="Text 9"/>
          <p:cNvSpPr txBox="1"/>
          <p:nvPr/>
        </p:nvSpPr>
        <p:spPr>
          <a:xfrm>
            <a:off x="1005840" y="229717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dermatic (dermatik)</a:t>
            </a:r>
            <a:r>
              <a:rPr lang="en-US" sz="1400" dirty="0">
                <a:solidFill>
                  <a:srgbClr val="4B5563"/>
                </a:solidFill>
                <a:latin typeface="Calibri" pitchFamily="34" charset="0"/>
                <a:ea typeface="Calibri" pitchFamily="34" charset="-122"/>
                <a:cs typeface="Calibri" pitchFamily="34" charset="-120"/>
              </a:rPr>
              <a:t>: Deriyle ilgili</a:t>
            </a:r>
            <a:endParaRPr lang="en-US" sz="1400" dirty="0"/>
          </a:p>
        </p:txBody>
      </p:sp>
      <p:sp>
        <p:nvSpPr>
          <p:cNvPr id="12" name="Shape 10"/>
          <p:cNvSpPr/>
          <p:nvPr/>
        </p:nvSpPr>
        <p:spPr>
          <a:xfrm>
            <a:off x="850392" y="2624419"/>
            <a:ext cx="64008" cy="64008"/>
          </a:xfrm>
          <a:prstGeom prst="ellipse">
            <a:avLst/>
          </a:prstGeom>
          <a:solidFill>
            <a:srgbClr val="0F766E"/>
          </a:solidFill>
          <a:ln/>
        </p:spPr>
      </p:sp>
      <p:sp>
        <p:nvSpPr>
          <p:cNvPr id="13" name="Text 11"/>
          <p:cNvSpPr txBox="1"/>
          <p:nvPr/>
        </p:nvSpPr>
        <p:spPr>
          <a:xfrm>
            <a:off x="1005840" y="255066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gastric (gastrik)</a:t>
            </a:r>
            <a:r>
              <a:rPr lang="en-US" sz="1400" dirty="0">
                <a:solidFill>
                  <a:srgbClr val="4B5563"/>
                </a:solidFill>
                <a:latin typeface="Calibri" pitchFamily="34" charset="0"/>
                <a:ea typeface="Calibri" pitchFamily="34" charset="-122"/>
                <a:cs typeface="Calibri" pitchFamily="34" charset="-120"/>
              </a:rPr>
              <a:t>: Mideye ait</a:t>
            </a:r>
            <a:endParaRPr lang="en-US" sz="1400" dirty="0"/>
          </a:p>
        </p:txBody>
      </p:sp>
      <p:sp>
        <p:nvSpPr>
          <p:cNvPr id="14" name="Shape 12"/>
          <p:cNvSpPr/>
          <p:nvPr/>
        </p:nvSpPr>
        <p:spPr>
          <a:xfrm>
            <a:off x="850392" y="2877911"/>
            <a:ext cx="64008" cy="64008"/>
          </a:xfrm>
          <a:prstGeom prst="ellipse">
            <a:avLst/>
          </a:prstGeom>
          <a:solidFill>
            <a:srgbClr val="0F766E"/>
          </a:solidFill>
          <a:ln/>
        </p:spPr>
      </p:sp>
      <p:sp>
        <p:nvSpPr>
          <p:cNvPr id="15" name="Text 13"/>
          <p:cNvSpPr txBox="1"/>
          <p:nvPr/>
        </p:nvSpPr>
        <p:spPr>
          <a:xfrm>
            <a:off x="1005840" y="280416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prostatic (prostatik)</a:t>
            </a:r>
            <a:r>
              <a:rPr lang="en-US" sz="1400" dirty="0">
                <a:solidFill>
                  <a:srgbClr val="4B5563"/>
                </a:solidFill>
                <a:latin typeface="Calibri" pitchFamily="34" charset="0"/>
                <a:ea typeface="Calibri" pitchFamily="34" charset="-122"/>
                <a:cs typeface="Calibri" pitchFamily="34" charset="-120"/>
              </a:rPr>
              <a:t>: Prostat bezine ait</a:t>
            </a:r>
            <a:endParaRPr lang="en-US" sz="1400" dirty="0"/>
          </a:p>
        </p:txBody>
      </p:sp>
      <p:sp>
        <p:nvSpPr>
          <p:cNvPr id="16" name="Shape 14"/>
          <p:cNvSpPr/>
          <p:nvPr/>
        </p:nvSpPr>
        <p:spPr>
          <a:xfrm>
            <a:off x="548640" y="3286252"/>
            <a:ext cx="5410048" cy="1719326"/>
          </a:xfrm>
          <a:prstGeom prst="roundRect">
            <a:avLst>
              <a:gd name="adj" fmla="val 3723"/>
            </a:avLst>
          </a:prstGeom>
          <a:solidFill>
            <a:srgbClr val="EAF6F4"/>
          </a:solidFill>
          <a:ln/>
        </p:spPr>
      </p:sp>
      <p:sp>
        <p:nvSpPr>
          <p:cNvPr id="17" name="Text 15"/>
          <p:cNvSpPr txBox="1"/>
          <p:nvPr/>
        </p:nvSpPr>
        <p:spPr>
          <a:xfrm>
            <a:off x="731520" y="335026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8" name="Shape 16"/>
          <p:cNvSpPr/>
          <p:nvPr/>
        </p:nvSpPr>
        <p:spPr>
          <a:xfrm>
            <a:off x="850392" y="3674709"/>
            <a:ext cx="64008" cy="64008"/>
          </a:xfrm>
          <a:prstGeom prst="ellipse">
            <a:avLst/>
          </a:prstGeom>
          <a:solidFill>
            <a:srgbClr val="0F766E"/>
          </a:solidFill>
          <a:ln/>
        </p:spPr>
      </p:sp>
      <p:sp>
        <p:nvSpPr>
          <p:cNvPr id="19" name="Text 17"/>
          <p:cNvSpPr txBox="1"/>
          <p:nvPr/>
        </p:nvSpPr>
        <p:spPr>
          <a:xfrm>
            <a:off x="1005840" y="36009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-icus (G) (-ikus)</a:t>
            </a:r>
            <a:r>
              <a:rPr lang="en-US" sz="1400" dirty="0">
                <a:solidFill>
                  <a:srgbClr val="4B5563"/>
                </a:solidFill>
                <a:latin typeface="Calibri" pitchFamily="34" charset="0"/>
                <a:ea typeface="Calibri" pitchFamily="34" charset="-122"/>
                <a:cs typeface="Calibri" pitchFamily="34" charset="-120"/>
              </a:rPr>
              <a:t>: İlgili, ait, benzeri, -imsi</a:t>
            </a:r>
            <a:endParaRPr lang="en-US" sz="1400" dirty="0"/>
          </a:p>
        </p:txBody>
      </p:sp>
      <p:sp>
        <p:nvSpPr>
          <p:cNvPr id="20" name="Shape 18"/>
          <p:cNvSpPr/>
          <p:nvPr/>
        </p:nvSpPr>
        <p:spPr>
          <a:xfrm>
            <a:off x="850392" y="3928201"/>
            <a:ext cx="64008" cy="64008"/>
          </a:xfrm>
          <a:prstGeom prst="ellipse">
            <a:avLst/>
          </a:prstGeom>
          <a:solidFill>
            <a:srgbClr val="0F766E"/>
          </a:solidFill>
          <a:ln/>
        </p:spPr>
      </p:sp>
      <p:sp>
        <p:nvSpPr>
          <p:cNvPr id="21" name="Text 19"/>
          <p:cNvSpPr txBox="1"/>
          <p:nvPr/>
        </p:nvSpPr>
        <p:spPr>
          <a:xfrm>
            <a:off x="1005840" y="38544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cephalicus (sefalikus)</a:t>
            </a:r>
            <a:r>
              <a:rPr lang="en-US" sz="1400" dirty="0">
                <a:solidFill>
                  <a:srgbClr val="4B5563"/>
                </a:solidFill>
                <a:latin typeface="Calibri" pitchFamily="34" charset="0"/>
                <a:ea typeface="Calibri" pitchFamily="34" charset="-122"/>
                <a:cs typeface="Calibri" pitchFamily="34" charset="-120"/>
              </a:rPr>
              <a:t>: Başla ilgili</a:t>
            </a:r>
            <a:endParaRPr lang="en-US" sz="1400" dirty="0"/>
          </a:p>
        </p:txBody>
      </p:sp>
      <p:sp>
        <p:nvSpPr>
          <p:cNvPr id="22" name="Shape 20"/>
          <p:cNvSpPr/>
          <p:nvPr/>
        </p:nvSpPr>
        <p:spPr>
          <a:xfrm>
            <a:off x="850392" y="4181693"/>
            <a:ext cx="64008" cy="64008"/>
          </a:xfrm>
          <a:prstGeom prst="ellipse">
            <a:avLst/>
          </a:prstGeom>
          <a:solidFill>
            <a:srgbClr val="0F766E"/>
          </a:solidFill>
          <a:ln/>
        </p:spPr>
      </p:sp>
      <p:sp>
        <p:nvSpPr>
          <p:cNvPr id="23" name="Text 21"/>
          <p:cNvSpPr txBox="1"/>
          <p:nvPr/>
        </p:nvSpPr>
        <p:spPr>
          <a:xfrm>
            <a:off x="1005840" y="41079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hepaticus (hepatikus)</a:t>
            </a:r>
            <a:r>
              <a:rPr lang="en-US" sz="1400" dirty="0">
                <a:solidFill>
                  <a:srgbClr val="4B5563"/>
                </a:solidFill>
                <a:latin typeface="Calibri" pitchFamily="34" charset="0"/>
                <a:ea typeface="Calibri" pitchFamily="34" charset="-122"/>
                <a:cs typeface="Calibri" pitchFamily="34" charset="-120"/>
              </a:rPr>
              <a:t>: Karaciğerle ilgili</a:t>
            </a:r>
            <a:endParaRPr lang="en-US" sz="1400" dirty="0"/>
          </a:p>
        </p:txBody>
      </p:sp>
      <p:sp>
        <p:nvSpPr>
          <p:cNvPr id="24" name="Shape 22"/>
          <p:cNvSpPr/>
          <p:nvPr/>
        </p:nvSpPr>
        <p:spPr>
          <a:xfrm>
            <a:off x="850392" y="4435185"/>
            <a:ext cx="64008" cy="64008"/>
          </a:xfrm>
          <a:prstGeom prst="ellipse">
            <a:avLst/>
          </a:prstGeom>
          <a:solidFill>
            <a:srgbClr val="0F766E"/>
          </a:solidFill>
          <a:ln/>
        </p:spPr>
      </p:sp>
      <p:sp>
        <p:nvSpPr>
          <p:cNvPr id="25" name="Text 23"/>
          <p:cNvSpPr txBox="1"/>
          <p:nvPr/>
        </p:nvSpPr>
        <p:spPr>
          <a:xfrm>
            <a:off x="1005840" y="43614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gastricus (gastrikus)</a:t>
            </a:r>
            <a:r>
              <a:rPr lang="en-US" sz="1400" dirty="0">
                <a:solidFill>
                  <a:srgbClr val="4B5563"/>
                </a:solidFill>
                <a:latin typeface="Calibri" pitchFamily="34" charset="0"/>
                <a:ea typeface="Calibri" pitchFamily="34" charset="-122"/>
                <a:cs typeface="Calibri" pitchFamily="34" charset="-120"/>
              </a:rPr>
              <a:t>: Mide ile ilgili, mideye ait</a:t>
            </a:r>
            <a:endParaRPr lang="en-US" sz="1400" dirty="0"/>
          </a:p>
        </p:txBody>
      </p:sp>
      <p:sp>
        <p:nvSpPr>
          <p:cNvPr id="26" name="Shape 24"/>
          <p:cNvSpPr/>
          <p:nvPr/>
        </p:nvSpPr>
        <p:spPr>
          <a:xfrm>
            <a:off x="850392" y="4688677"/>
            <a:ext cx="64008" cy="64008"/>
          </a:xfrm>
          <a:prstGeom prst="ellipse">
            <a:avLst/>
          </a:prstGeom>
          <a:solidFill>
            <a:srgbClr val="0F766E"/>
          </a:solidFill>
          <a:ln/>
        </p:spPr>
      </p:sp>
      <p:sp>
        <p:nvSpPr>
          <p:cNvPr id="27" name="Text 25"/>
          <p:cNvSpPr txBox="1"/>
          <p:nvPr/>
        </p:nvSpPr>
        <p:spPr>
          <a:xfrm>
            <a:off x="1005840" y="46149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entericus (enterikus)</a:t>
            </a:r>
            <a:r>
              <a:rPr lang="en-US" sz="1400" dirty="0">
                <a:solidFill>
                  <a:srgbClr val="4B5563"/>
                </a:solidFill>
                <a:latin typeface="Calibri" pitchFamily="34" charset="0"/>
                <a:ea typeface="Calibri" pitchFamily="34" charset="-122"/>
                <a:cs typeface="Calibri" pitchFamily="34" charset="-120"/>
              </a:rPr>
              <a:t>: Bağırsakla ilgili, air</a:t>
            </a:r>
            <a:endParaRPr lang="en-US" sz="1400" dirty="0"/>
          </a:p>
        </p:txBody>
      </p:sp>
      <p:sp>
        <p:nvSpPr>
          <p:cNvPr id="28" name="Shape 26"/>
          <p:cNvSpPr/>
          <p:nvPr/>
        </p:nvSpPr>
        <p:spPr>
          <a:xfrm>
            <a:off x="548640" y="5097018"/>
            <a:ext cx="5410048" cy="1212342"/>
          </a:xfrm>
          <a:prstGeom prst="roundRect">
            <a:avLst>
              <a:gd name="adj" fmla="val 5280"/>
            </a:avLst>
          </a:prstGeom>
          <a:solidFill>
            <a:srgbClr val="EAF6F4"/>
          </a:solidFill>
          <a:ln/>
        </p:spPr>
      </p:sp>
      <p:sp>
        <p:nvSpPr>
          <p:cNvPr id="29" name="Text 27"/>
          <p:cNvSpPr txBox="1"/>
          <p:nvPr/>
        </p:nvSpPr>
        <p:spPr>
          <a:xfrm>
            <a:off x="731520" y="516102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30" name="Shape 28"/>
          <p:cNvSpPr/>
          <p:nvPr/>
        </p:nvSpPr>
        <p:spPr>
          <a:xfrm>
            <a:off x="850392" y="5485475"/>
            <a:ext cx="64008" cy="64008"/>
          </a:xfrm>
          <a:prstGeom prst="ellipse">
            <a:avLst/>
          </a:prstGeom>
          <a:solidFill>
            <a:srgbClr val="0F766E"/>
          </a:solidFill>
          <a:ln/>
        </p:spPr>
      </p:sp>
      <p:sp>
        <p:nvSpPr>
          <p:cNvPr id="31" name="Text 29"/>
          <p:cNvSpPr txBox="1"/>
          <p:nvPr/>
        </p:nvSpPr>
        <p:spPr>
          <a:xfrm>
            <a:off x="1005840"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-ac (İ) (-ak)</a:t>
            </a:r>
            <a:r>
              <a:rPr lang="en-US" sz="1400" dirty="0">
                <a:solidFill>
                  <a:srgbClr val="4B5563"/>
                </a:solidFill>
                <a:latin typeface="Calibri" pitchFamily="34" charset="0"/>
                <a:ea typeface="Calibri" pitchFamily="34" charset="-122"/>
                <a:cs typeface="Calibri" pitchFamily="34" charset="-120"/>
              </a:rPr>
              <a:t>: İlgli, ait</a:t>
            </a:r>
            <a:endParaRPr lang="en-US" sz="1400" dirty="0"/>
          </a:p>
        </p:txBody>
      </p:sp>
      <p:sp>
        <p:nvSpPr>
          <p:cNvPr id="32" name="Shape 30"/>
          <p:cNvSpPr/>
          <p:nvPr/>
        </p:nvSpPr>
        <p:spPr>
          <a:xfrm>
            <a:off x="850392" y="5738967"/>
            <a:ext cx="64008" cy="64008"/>
          </a:xfrm>
          <a:prstGeom prst="ellipse">
            <a:avLst/>
          </a:prstGeom>
          <a:solidFill>
            <a:srgbClr val="0F766E"/>
          </a:solidFill>
          <a:ln/>
        </p:spPr>
      </p:sp>
      <p:sp>
        <p:nvSpPr>
          <p:cNvPr id="33" name="Text 31"/>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cardiac (kardiyak)</a:t>
            </a:r>
            <a:r>
              <a:rPr lang="en-US" sz="1400" dirty="0">
                <a:solidFill>
                  <a:srgbClr val="4B5563"/>
                </a:solidFill>
                <a:latin typeface="Calibri" pitchFamily="34" charset="0"/>
                <a:ea typeface="Calibri" pitchFamily="34" charset="-122"/>
                <a:cs typeface="Calibri" pitchFamily="34" charset="-120"/>
              </a:rPr>
              <a:t>: Kalple ilgili</a:t>
            </a:r>
            <a:endParaRPr lang="en-US" sz="1400" dirty="0"/>
          </a:p>
        </p:txBody>
      </p:sp>
      <p:sp>
        <p:nvSpPr>
          <p:cNvPr id="34" name="Shape 32"/>
          <p:cNvSpPr/>
          <p:nvPr/>
        </p:nvSpPr>
        <p:spPr>
          <a:xfrm>
            <a:off x="850392" y="5992459"/>
            <a:ext cx="64008" cy="64008"/>
          </a:xfrm>
          <a:prstGeom prst="ellipse">
            <a:avLst/>
          </a:prstGeom>
          <a:solidFill>
            <a:srgbClr val="0F766E"/>
          </a:solidFill>
          <a:ln/>
        </p:spPr>
      </p:sp>
      <p:sp>
        <p:nvSpPr>
          <p:cNvPr id="35" name="Text 33"/>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celiac (selyak)</a:t>
            </a:r>
            <a:r>
              <a:rPr lang="en-US" sz="1400" dirty="0">
                <a:solidFill>
                  <a:srgbClr val="4B5563"/>
                </a:solidFill>
                <a:latin typeface="Calibri" pitchFamily="34" charset="0"/>
                <a:ea typeface="Calibri" pitchFamily="34" charset="-122"/>
                <a:cs typeface="Calibri" pitchFamily="34" charset="-120"/>
              </a:rPr>
              <a:t>: Karın boşluğu ile ilgli</a:t>
            </a:r>
            <a:endParaRPr lang="en-US" sz="1400" dirty="0"/>
          </a:p>
        </p:txBody>
      </p:sp>
      <p:sp>
        <p:nvSpPr>
          <p:cNvPr id="36" name="Shape 34"/>
          <p:cNvSpPr/>
          <p:nvPr/>
        </p:nvSpPr>
        <p:spPr>
          <a:xfrm>
            <a:off x="6233008" y="1728978"/>
            <a:ext cx="5410048" cy="1465834"/>
          </a:xfrm>
          <a:prstGeom prst="roundRect">
            <a:avLst>
              <a:gd name="adj" fmla="val 4367"/>
            </a:avLst>
          </a:prstGeom>
          <a:solidFill>
            <a:srgbClr val="EAF6F4"/>
          </a:solidFill>
          <a:ln/>
        </p:spPr>
      </p:sp>
      <p:sp>
        <p:nvSpPr>
          <p:cNvPr id="37" name="Text 35"/>
          <p:cNvSpPr txBox="1"/>
          <p:nvPr/>
        </p:nvSpPr>
        <p:spPr>
          <a:xfrm>
            <a:off x="6415888" y="179298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38" name="Shape 36"/>
          <p:cNvSpPr/>
          <p:nvPr/>
        </p:nvSpPr>
        <p:spPr>
          <a:xfrm>
            <a:off x="6534760" y="2117435"/>
            <a:ext cx="64008" cy="64008"/>
          </a:xfrm>
          <a:prstGeom prst="ellipse">
            <a:avLst/>
          </a:prstGeom>
          <a:solidFill>
            <a:srgbClr val="0F766E"/>
          </a:solidFill>
          <a:ln/>
        </p:spPr>
      </p:sp>
      <p:sp>
        <p:nvSpPr>
          <p:cNvPr id="39" name="Text 37"/>
          <p:cNvSpPr txBox="1"/>
          <p:nvPr/>
        </p:nvSpPr>
        <p:spPr>
          <a:xfrm>
            <a:off x="6690208" y="20436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-acus (G) (-akus)</a:t>
            </a:r>
            <a:r>
              <a:rPr lang="en-US" sz="1400" dirty="0">
                <a:solidFill>
                  <a:srgbClr val="4B5563"/>
                </a:solidFill>
                <a:latin typeface="Calibri" pitchFamily="34" charset="0"/>
                <a:ea typeface="Calibri" pitchFamily="34" charset="-122"/>
                <a:cs typeface="Calibri" pitchFamily="34" charset="-120"/>
              </a:rPr>
              <a:t>: İlgili, ait</a:t>
            </a:r>
            <a:endParaRPr lang="en-US" sz="1400" dirty="0"/>
          </a:p>
        </p:txBody>
      </p:sp>
      <p:sp>
        <p:nvSpPr>
          <p:cNvPr id="40" name="Shape 38"/>
          <p:cNvSpPr/>
          <p:nvPr/>
        </p:nvSpPr>
        <p:spPr>
          <a:xfrm>
            <a:off x="6534760" y="2370927"/>
            <a:ext cx="64008" cy="64008"/>
          </a:xfrm>
          <a:prstGeom prst="ellipse">
            <a:avLst/>
          </a:prstGeom>
          <a:solidFill>
            <a:srgbClr val="0F766E"/>
          </a:solidFill>
          <a:ln/>
        </p:spPr>
      </p:sp>
      <p:sp>
        <p:nvSpPr>
          <p:cNvPr id="41" name="Text 39"/>
          <p:cNvSpPr txBox="1"/>
          <p:nvPr/>
        </p:nvSpPr>
        <p:spPr>
          <a:xfrm>
            <a:off x="6690208" y="229717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celiacus (selyakus)</a:t>
            </a:r>
            <a:r>
              <a:rPr lang="en-US" sz="1400" dirty="0">
                <a:solidFill>
                  <a:srgbClr val="4B5563"/>
                </a:solidFill>
                <a:latin typeface="Calibri" pitchFamily="34" charset="0"/>
                <a:ea typeface="Calibri" pitchFamily="34" charset="-122"/>
                <a:cs typeface="Calibri" pitchFamily="34" charset="-120"/>
              </a:rPr>
              <a:t>: Karın boşluğuyla ilgli</a:t>
            </a:r>
            <a:endParaRPr lang="en-US" sz="1400" dirty="0"/>
          </a:p>
        </p:txBody>
      </p:sp>
      <p:sp>
        <p:nvSpPr>
          <p:cNvPr id="42" name="Shape 40"/>
          <p:cNvSpPr/>
          <p:nvPr/>
        </p:nvSpPr>
        <p:spPr>
          <a:xfrm>
            <a:off x="6534760" y="2624419"/>
            <a:ext cx="64008" cy="64008"/>
          </a:xfrm>
          <a:prstGeom prst="ellipse">
            <a:avLst/>
          </a:prstGeom>
          <a:solidFill>
            <a:srgbClr val="0F766E"/>
          </a:solidFill>
          <a:ln/>
        </p:spPr>
      </p:sp>
      <p:sp>
        <p:nvSpPr>
          <p:cNvPr id="43" name="Text 41"/>
          <p:cNvSpPr txBox="1"/>
          <p:nvPr/>
        </p:nvSpPr>
        <p:spPr>
          <a:xfrm>
            <a:off x="6690208" y="255066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cardiacus (kardiyakus)</a:t>
            </a:r>
            <a:r>
              <a:rPr lang="en-US" sz="1400" dirty="0">
                <a:solidFill>
                  <a:srgbClr val="4B5563"/>
                </a:solidFill>
                <a:latin typeface="Calibri" pitchFamily="34" charset="0"/>
                <a:ea typeface="Calibri" pitchFamily="34" charset="-122"/>
                <a:cs typeface="Calibri" pitchFamily="34" charset="-120"/>
              </a:rPr>
              <a:t>: Kalple ilgli</a:t>
            </a:r>
            <a:endParaRPr lang="en-US" sz="1400" dirty="0"/>
          </a:p>
        </p:txBody>
      </p:sp>
      <p:sp>
        <p:nvSpPr>
          <p:cNvPr id="44" name="Shape 42"/>
          <p:cNvSpPr/>
          <p:nvPr/>
        </p:nvSpPr>
        <p:spPr>
          <a:xfrm>
            <a:off x="6534760" y="2877911"/>
            <a:ext cx="64008" cy="64008"/>
          </a:xfrm>
          <a:prstGeom prst="ellipse">
            <a:avLst/>
          </a:prstGeom>
          <a:solidFill>
            <a:srgbClr val="0F766E"/>
          </a:solidFill>
          <a:ln/>
        </p:spPr>
      </p:sp>
      <p:sp>
        <p:nvSpPr>
          <p:cNvPr id="45" name="Text 43"/>
          <p:cNvSpPr txBox="1"/>
          <p:nvPr/>
        </p:nvSpPr>
        <p:spPr>
          <a:xfrm>
            <a:off x="6690208" y="280416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iliacus (ilyakus)</a:t>
            </a:r>
            <a:r>
              <a:rPr lang="en-US" sz="1400" dirty="0">
                <a:solidFill>
                  <a:srgbClr val="4B5563"/>
                </a:solidFill>
                <a:latin typeface="Calibri" pitchFamily="34" charset="0"/>
                <a:ea typeface="Calibri" pitchFamily="34" charset="-122"/>
                <a:cs typeface="Calibri" pitchFamily="34" charset="-120"/>
              </a:rPr>
              <a:t>: Kalça ve böğüre ait</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İlgili, Ait Anlamı Veren Sonekler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77</a:t>
            </a:r>
            <a:endParaRPr lang="en-US" sz="1000" dirty="0"/>
          </a:p>
        </p:txBody>
      </p:sp>
      <p:sp>
        <p:nvSpPr>
          <p:cNvPr id="6" name="Shape 4"/>
          <p:cNvSpPr/>
          <p:nvPr/>
        </p:nvSpPr>
        <p:spPr>
          <a:xfrm>
            <a:off x="548640" y="2562352"/>
            <a:ext cx="5410048" cy="1465834"/>
          </a:xfrm>
          <a:prstGeom prst="roundRect">
            <a:avLst>
              <a:gd name="adj" fmla="val 4367"/>
            </a:avLst>
          </a:prstGeom>
          <a:solidFill>
            <a:srgbClr val="EAF6F4"/>
          </a:solidFill>
          <a:ln/>
        </p:spPr>
      </p:sp>
      <p:sp>
        <p:nvSpPr>
          <p:cNvPr id="7" name="Text 5"/>
          <p:cNvSpPr txBox="1"/>
          <p:nvPr/>
        </p:nvSpPr>
        <p:spPr>
          <a:xfrm>
            <a:off x="731520" y="262636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  </a:t>
            </a:r>
            <a:endParaRPr lang="en-US" sz="1500" dirty="0"/>
          </a:p>
        </p:txBody>
      </p:sp>
      <p:sp>
        <p:nvSpPr>
          <p:cNvPr id="8" name="Shape 6"/>
          <p:cNvSpPr/>
          <p:nvPr/>
        </p:nvSpPr>
        <p:spPr>
          <a:xfrm>
            <a:off x="850392" y="2950809"/>
            <a:ext cx="64008" cy="64008"/>
          </a:xfrm>
          <a:prstGeom prst="ellipse">
            <a:avLst/>
          </a:prstGeom>
          <a:solidFill>
            <a:srgbClr val="0F766E"/>
          </a:solidFill>
          <a:ln/>
        </p:spPr>
      </p:sp>
      <p:sp>
        <p:nvSpPr>
          <p:cNvPr id="9" name="Text 7"/>
          <p:cNvSpPr txBox="1"/>
          <p:nvPr/>
        </p:nvSpPr>
        <p:spPr>
          <a:xfrm>
            <a:off x="1005840" y="28770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-al (İ, F) (-al)</a:t>
            </a:r>
            <a:r>
              <a:rPr lang="en-US" sz="1400" dirty="0">
                <a:solidFill>
                  <a:srgbClr val="4B5563"/>
                </a:solidFill>
                <a:latin typeface="Calibri" pitchFamily="34" charset="0"/>
                <a:ea typeface="Calibri" pitchFamily="34" charset="-122"/>
                <a:cs typeface="Calibri" pitchFamily="34" charset="-120"/>
              </a:rPr>
              <a:t>: İlgili, ait</a:t>
            </a:r>
            <a:endParaRPr lang="en-US" sz="1400" dirty="0"/>
          </a:p>
        </p:txBody>
      </p:sp>
      <p:sp>
        <p:nvSpPr>
          <p:cNvPr id="10" name="Shape 8"/>
          <p:cNvSpPr/>
          <p:nvPr/>
        </p:nvSpPr>
        <p:spPr>
          <a:xfrm>
            <a:off x="850392" y="3204301"/>
            <a:ext cx="64008" cy="64008"/>
          </a:xfrm>
          <a:prstGeom prst="ellipse">
            <a:avLst/>
          </a:prstGeom>
          <a:solidFill>
            <a:srgbClr val="0F766E"/>
          </a:solidFill>
          <a:ln/>
        </p:spPr>
      </p:sp>
      <p:sp>
        <p:nvSpPr>
          <p:cNvPr id="11" name="Text 9"/>
          <p:cNvSpPr txBox="1"/>
          <p:nvPr/>
        </p:nvSpPr>
        <p:spPr>
          <a:xfrm>
            <a:off x="1005840" y="31305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buccal (bukkal)</a:t>
            </a:r>
            <a:r>
              <a:rPr lang="en-US" sz="1400" dirty="0">
                <a:solidFill>
                  <a:srgbClr val="4B5563"/>
                </a:solidFill>
                <a:latin typeface="Calibri" pitchFamily="34" charset="0"/>
                <a:ea typeface="Calibri" pitchFamily="34" charset="-122"/>
                <a:cs typeface="Calibri" pitchFamily="34" charset="-120"/>
              </a:rPr>
              <a:t>: Yanakla ilgili</a:t>
            </a:r>
            <a:endParaRPr lang="en-US" sz="1400" dirty="0"/>
          </a:p>
        </p:txBody>
      </p:sp>
      <p:sp>
        <p:nvSpPr>
          <p:cNvPr id="12" name="Shape 10"/>
          <p:cNvSpPr/>
          <p:nvPr/>
        </p:nvSpPr>
        <p:spPr>
          <a:xfrm>
            <a:off x="850392" y="3457793"/>
            <a:ext cx="64008" cy="64008"/>
          </a:xfrm>
          <a:prstGeom prst="ellipse">
            <a:avLst/>
          </a:prstGeom>
          <a:solidFill>
            <a:srgbClr val="0F766E"/>
          </a:solidFill>
          <a:ln/>
        </p:spPr>
      </p:sp>
      <p:sp>
        <p:nvSpPr>
          <p:cNvPr id="13" name="Text 11"/>
          <p:cNvSpPr txBox="1"/>
          <p:nvPr/>
        </p:nvSpPr>
        <p:spPr>
          <a:xfrm>
            <a:off x="1005840" y="33840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dental (dental)</a:t>
            </a:r>
            <a:r>
              <a:rPr lang="en-US" sz="1400" dirty="0">
                <a:solidFill>
                  <a:srgbClr val="4B5563"/>
                </a:solidFill>
                <a:latin typeface="Calibri" pitchFamily="34" charset="0"/>
                <a:ea typeface="Calibri" pitchFamily="34" charset="-122"/>
                <a:cs typeface="Calibri" pitchFamily="34" charset="-120"/>
              </a:rPr>
              <a:t>: Dişle ilgili</a:t>
            </a:r>
            <a:endParaRPr lang="en-US" sz="1400" dirty="0"/>
          </a:p>
        </p:txBody>
      </p:sp>
      <p:sp>
        <p:nvSpPr>
          <p:cNvPr id="14" name="Shape 12"/>
          <p:cNvSpPr/>
          <p:nvPr/>
        </p:nvSpPr>
        <p:spPr>
          <a:xfrm>
            <a:off x="850392" y="3711285"/>
            <a:ext cx="64008" cy="64008"/>
          </a:xfrm>
          <a:prstGeom prst="ellipse">
            <a:avLst/>
          </a:prstGeom>
          <a:solidFill>
            <a:srgbClr val="0F766E"/>
          </a:solidFill>
          <a:ln/>
        </p:spPr>
      </p:sp>
      <p:sp>
        <p:nvSpPr>
          <p:cNvPr id="15" name="Text 13"/>
          <p:cNvSpPr txBox="1"/>
          <p:nvPr/>
        </p:nvSpPr>
        <p:spPr>
          <a:xfrm>
            <a:off x="1005840" y="36375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vertebral (vertebral)</a:t>
            </a:r>
            <a:r>
              <a:rPr lang="en-US" sz="1400" dirty="0">
                <a:solidFill>
                  <a:srgbClr val="4B5563"/>
                </a:solidFill>
                <a:latin typeface="Calibri" pitchFamily="34" charset="0"/>
                <a:ea typeface="Calibri" pitchFamily="34" charset="-122"/>
                <a:cs typeface="Calibri" pitchFamily="34" charset="-120"/>
              </a:rPr>
              <a:t>: Omura ait</a:t>
            </a:r>
            <a:endParaRPr lang="en-US" sz="1400" dirty="0"/>
          </a:p>
        </p:txBody>
      </p:sp>
      <p:sp>
        <p:nvSpPr>
          <p:cNvPr id="16" name="Shape 14"/>
          <p:cNvSpPr/>
          <p:nvPr/>
        </p:nvSpPr>
        <p:spPr>
          <a:xfrm>
            <a:off x="548640" y="4119626"/>
            <a:ext cx="5410048" cy="2189734"/>
          </a:xfrm>
          <a:prstGeom prst="roundRect">
            <a:avLst>
              <a:gd name="adj" fmla="val 2923"/>
            </a:avLst>
          </a:prstGeom>
          <a:solidFill>
            <a:srgbClr val="EAF6F4"/>
          </a:solidFill>
          <a:ln/>
        </p:spPr>
      </p:sp>
      <p:sp>
        <p:nvSpPr>
          <p:cNvPr id="17" name="Text 15"/>
          <p:cNvSpPr txBox="1"/>
          <p:nvPr/>
        </p:nvSpPr>
        <p:spPr>
          <a:xfrm>
            <a:off x="731520" y="418363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6-  </a:t>
            </a:r>
            <a:endParaRPr lang="en-US" sz="1500" dirty="0"/>
          </a:p>
        </p:txBody>
      </p:sp>
      <p:sp>
        <p:nvSpPr>
          <p:cNvPr id="18" name="Shape 16"/>
          <p:cNvSpPr/>
          <p:nvPr/>
        </p:nvSpPr>
        <p:spPr>
          <a:xfrm>
            <a:off x="850392" y="4508083"/>
            <a:ext cx="64008" cy="64008"/>
          </a:xfrm>
          <a:prstGeom prst="ellipse">
            <a:avLst/>
          </a:prstGeom>
          <a:solidFill>
            <a:srgbClr val="0F766E"/>
          </a:solidFill>
          <a:ln/>
        </p:spPr>
      </p:sp>
      <p:sp>
        <p:nvSpPr>
          <p:cNvPr id="19" name="Text 17"/>
          <p:cNvSpPr txBox="1"/>
          <p:nvPr/>
        </p:nvSpPr>
        <p:spPr>
          <a:xfrm>
            <a:off x="1005840" y="44343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-alis (L) (-alis)</a:t>
            </a:r>
            <a:r>
              <a:rPr lang="en-US" sz="1400" dirty="0">
                <a:solidFill>
                  <a:srgbClr val="4B5563"/>
                </a:solidFill>
                <a:latin typeface="Calibri" pitchFamily="34" charset="0"/>
                <a:ea typeface="Calibri" pitchFamily="34" charset="-122"/>
                <a:cs typeface="Calibri" pitchFamily="34" charset="-120"/>
              </a:rPr>
              <a:t>: İlgili, ilintili, ait</a:t>
            </a:r>
            <a:endParaRPr lang="en-US" sz="1400" dirty="0"/>
          </a:p>
        </p:txBody>
      </p:sp>
      <p:sp>
        <p:nvSpPr>
          <p:cNvPr id="20" name="Shape 18"/>
          <p:cNvSpPr/>
          <p:nvPr/>
        </p:nvSpPr>
        <p:spPr>
          <a:xfrm>
            <a:off x="850392" y="4761575"/>
            <a:ext cx="64008" cy="64008"/>
          </a:xfrm>
          <a:prstGeom prst="ellipse">
            <a:avLst/>
          </a:prstGeom>
          <a:solidFill>
            <a:srgbClr val="0F766E"/>
          </a:solidFill>
          <a:ln/>
        </p:spPr>
      </p:sp>
      <p:sp>
        <p:nvSpPr>
          <p:cNvPr id="21" name="Text 19"/>
          <p:cNvSpPr txBox="1"/>
          <p:nvPr/>
        </p:nvSpPr>
        <p:spPr>
          <a:xfrm>
            <a:off x="1005840" y="46878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abdominalis (abdominalis)</a:t>
            </a:r>
            <a:r>
              <a:rPr lang="en-US" sz="1400" dirty="0">
                <a:solidFill>
                  <a:srgbClr val="4B5563"/>
                </a:solidFill>
                <a:latin typeface="Calibri" pitchFamily="34" charset="0"/>
                <a:ea typeface="Calibri" pitchFamily="34" charset="-122"/>
                <a:cs typeface="Calibri" pitchFamily="34" charset="-120"/>
              </a:rPr>
              <a:t>: Karınla ilgili</a:t>
            </a:r>
            <a:endParaRPr lang="en-US" sz="1400" dirty="0"/>
          </a:p>
        </p:txBody>
      </p:sp>
      <p:sp>
        <p:nvSpPr>
          <p:cNvPr id="22" name="Shape 20"/>
          <p:cNvSpPr/>
          <p:nvPr/>
        </p:nvSpPr>
        <p:spPr>
          <a:xfrm>
            <a:off x="850392" y="5015067"/>
            <a:ext cx="64008" cy="64008"/>
          </a:xfrm>
          <a:prstGeom prst="ellipse">
            <a:avLst/>
          </a:prstGeom>
          <a:solidFill>
            <a:srgbClr val="0F766E"/>
          </a:solidFill>
          <a:ln/>
        </p:spPr>
      </p:sp>
      <p:sp>
        <p:nvSpPr>
          <p:cNvPr id="23" name="Text 21"/>
          <p:cNvSpPr txBox="1"/>
          <p:nvPr/>
        </p:nvSpPr>
        <p:spPr>
          <a:xfrm>
            <a:off x="1005840" y="49413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vesicalis (vezikalis)</a:t>
            </a:r>
            <a:r>
              <a:rPr lang="en-US" sz="1400" dirty="0">
                <a:solidFill>
                  <a:srgbClr val="4B5563"/>
                </a:solidFill>
                <a:latin typeface="Calibri" pitchFamily="34" charset="0"/>
                <a:ea typeface="Calibri" pitchFamily="34" charset="-122"/>
                <a:cs typeface="Calibri" pitchFamily="34" charset="-120"/>
              </a:rPr>
              <a:t>: Keseyle ilgli</a:t>
            </a:r>
            <a:endParaRPr lang="en-US" sz="1400" dirty="0"/>
          </a:p>
        </p:txBody>
      </p:sp>
      <p:sp>
        <p:nvSpPr>
          <p:cNvPr id="24" name="Shape 22"/>
          <p:cNvSpPr/>
          <p:nvPr/>
        </p:nvSpPr>
        <p:spPr>
          <a:xfrm>
            <a:off x="850392" y="5268559"/>
            <a:ext cx="64008" cy="64008"/>
          </a:xfrm>
          <a:prstGeom prst="ellipse">
            <a:avLst/>
          </a:prstGeom>
          <a:solidFill>
            <a:srgbClr val="0F766E"/>
          </a:solidFill>
          <a:ln/>
        </p:spPr>
      </p:sp>
      <p:sp>
        <p:nvSpPr>
          <p:cNvPr id="25" name="Text 23"/>
          <p:cNvSpPr txBox="1"/>
          <p:nvPr/>
        </p:nvSpPr>
        <p:spPr>
          <a:xfrm>
            <a:off x="1005840" y="519480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vertebralis (vertebralis)</a:t>
            </a:r>
            <a:r>
              <a:rPr lang="en-US" sz="1400" dirty="0">
                <a:solidFill>
                  <a:srgbClr val="4B5563"/>
                </a:solidFill>
                <a:latin typeface="Calibri" pitchFamily="34" charset="0"/>
                <a:ea typeface="Calibri" pitchFamily="34" charset="-122"/>
                <a:cs typeface="Calibri" pitchFamily="34" charset="-120"/>
              </a:rPr>
              <a:t>: Omurgaya ait, omurgayla ilgili</a:t>
            </a:r>
            <a:endParaRPr lang="en-US" sz="1400" dirty="0"/>
          </a:p>
        </p:txBody>
      </p:sp>
      <p:sp>
        <p:nvSpPr>
          <p:cNvPr id="26" name="Shape 24"/>
          <p:cNvSpPr/>
          <p:nvPr/>
        </p:nvSpPr>
        <p:spPr>
          <a:xfrm>
            <a:off x="850392" y="5738967"/>
            <a:ext cx="64008" cy="64008"/>
          </a:xfrm>
          <a:prstGeom prst="ellipse">
            <a:avLst/>
          </a:prstGeom>
          <a:solidFill>
            <a:srgbClr val="0F766E"/>
          </a:solidFill>
          <a:ln/>
        </p:spPr>
      </p:sp>
      <p:sp>
        <p:nvSpPr>
          <p:cNvPr id="27" name="Text 25"/>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costalis (kostalis)</a:t>
            </a:r>
            <a:r>
              <a:rPr lang="en-US" sz="1400" dirty="0">
                <a:solidFill>
                  <a:srgbClr val="4B5563"/>
                </a:solidFill>
                <a:latin typeface="Calibri" pitchFamily="34" charset="0"/>
                <a:ea typeface="Calibri" pitchFamily="34" charset="-122"/>
                <a:cs typeface="Calibri" pitchFamily="34" charset="-120"/>
              </a:rPr>
              <a:t>: Kaburgaya ait, kaburgayla ilgili</a:t>
            </a:r>
            <a:endParaRPr lang="en-US" sz="1400" dirty="0"/>
          </a:p>
        </p:txBody>
      </p:sp>
      <p:sp>
        <p:nvSpPr>
          <p:cNvPr id="28" name="Shape 26"/>
          <p:cNvSpPr/>
          <p:nvPr/>
        </p:nvSpPr>
        <p:spPr>
          <a:xfrm>
            <a:off x="850392" y="5992459"/>
            <a:ext cx="64008" cy="64008"/>
          </a:xfrm>
          <a:prstGeom prst="ellipse">
            <a:avLst/>
          </a:prstGeom>
          <a:solidFill>
            <a:srgbClr val="0F766E"/>
          </a:solidFill>
          <a:ln/>
        </p:spPr>
      </p:sp>
      <p:sp>
        <p:nvSpPr>
          <p:cNvPr id="29" name="Text 27"/>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renalis (renalis)</a:t>
            </a:r>
            <a:r>
              <a:rPr lang="en-US" sz="1400" dirty="0">
                <a:solidFill>
                  <a:srgbClr val="4B5563"/>
                </a:solidFill>
                <a:latin typeface="Calibri" pitchFamily="34" charset="0"/>
                <a:ea typeface="Calibri" pitchFamily="34" charset="-122"/>
                <a:cs typeface="Calibri" pitchFamily="34" charset="-120"/>
              </a:rPr>
              <a:t>: Börekle ilgli</a:t>
            </a:r>
            <a:endParaRPr lang="en-US" sz="1400" dirty="0"/>
          </a:p>
        </p:txBody>
      </p:sp>
      <p:sp>
        <p:nvSpPr>
          <p:cNvPr id="30" name="Shape 28"/>
          <p:cNvSpPr/>
          <p:nvPr/>
        </p:nvSpPr>
        <p:spPr>
          <a:xfrm>
            <a:off x="6233008" y="2562352"/>
            <a:ext cx="5410048" cy="1429258"/>
          </a:xfrm>
          <a:prstGeom prst="roundRect">
            <a:avLst>
              <a:gd name="adj" fmla="val 4478"/>
            </a:avLst>
          </a:prstGeom>
          <a:solidFill>
            <a:srgbClr val="EAF6F4"/>
          </a:solidFill>
          <a:ln/>
        </p:spPr>
      </p:sp>
      <p:sp>
        <p:nvSpPr>
          <p:cNvPr id="31" name="Text 29"/>
          <p:cNvSpPr txBox="1"/>
          <p:nvPr/>
        </p:nvSpPr>
        <p:spPr>
          <a:xfrm>
            <a:off x="6415888" y="262636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7-  </a:t>
            </a:r>
            <a:endParaRPr lang="en-US" sz="1500" dirty="0"/>
          </a:p>
        </p:txBody>
      </p:sp>
      <p:sp>
        <p:nvSpPr>
          <p:cNvPr id="32" name="Shape 30"/>
          <p:cNvSpPr/>
          <p:nvPr/>
        </p:nvSpPr>
        <p:spPr>
          <a:xfrm>
            <a:off x="6534760" y="2950809"/>
            <a:ext cx="64008" cy="64008"/>
          </a:xfrm>
          <a:prstGeom prst="ellipse">
            <a:avLst/>
          </a:prstGeom>
          <a:solidFill>
            <a:srgbClr val="0F766E"/>
          </a:solidFill>
          <a:ln/>
        </p:spPr>
      </p:sp>
      <p:sp>
        <p:nvSpPr>
          <p:cNvPr id="33" name="Text 31"/>
          <p:cNvSpPr txBox="1"/>
          <p:nvPr/>
        </p:nvSpPr>
        <p:spPr>
          <a:xfrm>
            <a:off x="6690208" y="28770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-aris (L) (-aris)</a:t>
            </a:r>
            <a:r>
              <a:rPr lang="en-US" sz="1400" dirty="0">
                <a:solidFill>
                  <a:srgbClr val="4B5563"/>
                </a:solidFill>
                <a:latin typeface="Calibri" pitchFamily="34" charset="0"/>
                <a:ea typeface="Calibri" pitchFamily="34" charset="-122"/>
                <a:cs typeface="Calibri" pitchFamily="34" charset="-120"/>
              </a:rPr>
              <a:t>: İlgili, ait</a:t>
            </a:r>
            <a:endParaRPr lang="en-US" sz="1400" dirty="0"/>
          </a:p>
        </p:txBody>
      </p:sp>
      <p:sp>
        <p:nvSpPr>
          <p:cNvPr id="34" name="Shape 32"/>
          <p:cNvSpPr/>
          <p:nvPr/>
        </p:nvSpPr>
        <p:spPr>
          <a:xfrm>
            <a:off x="6534760" y="3204301"/>
            <a:ext cx="64008" cy="64008"/>
          </a:xfrm>
          <a:prstGeom prst="ellipse">
            <a:avLst/>
          </a:prstGeom>
          <a:solidFill>
            <a:srgbClr val="0F766E"/>
          </a:solidFill>
          <a:ln/>
        </p:spPr>
      </p:sp>
      <p:sp>
        <p:nvSpPr>
          <p:cNvPr id="35" name="Text 33"/>
          <p:cNvSpPr txBox="1"/>
          <p:nvPr/>
        </p:nvSpPr>
        <p:spPr>
          <a:xfrm>
            <a:off x="6690208" y="31305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alveolaris (alveolaris)</a:t>
            </a:r>
            <a:r>
              <a:rPr lang="en-US" sz="1400" dirty="0">
                <a:solidFill>
                  <a:srgbClr val="4B5563"/>
                </a:solidFill>
                <a:latin typeface="Calibri" pitchFamily="34" charset="0"/>
                <a:ea typeface="Calibri" pitchFamily="34" charset="-122"/>
                <a:cs typeface="Calibri" pitchFamily="34" charset="-120"/>
              </a:rPr>
              <a:t>: Alveole ait</a:t>
            </a:r>
            <a:endParaRPr lang="en-US" sz="1400" dirty="0"/>
          </a:p>
        </p:txBody>
      </p:sp>
      <p:sp>
        <p:nvSpPr>
          <p:cNvPr id="36" name="Shape 34"/>
          <p:cNvSpPr/>
          <p:nvPr/>
        </p:nvSpPr>
        <p:spPr>
          <a:xfrm>
            <a:off x="6534760" y="3457793"/>
            <a:ext cx="64008" cy="64008"/>
          </a:xfrm>
          <a:prstGeom prst="ellipse">
            <a:avLst/>
          </a:prstGeom>
          <a:solidFill>
            <a:srgbClr val="0F766E"/>
          </a:solidFill>
          <a:ln/>
        </p:spPr>
      </p:sp>
      <p:sp>
        <p:nvSpPr>
          <p:cNvPr id="37" name="Text 35"/>
          <p:cNvSpPr txBox="1"/>
          <p:nvPr/>
        </p:nvSpPr>
        <p:spPr>
          <a:xfrm>
            <a:off x="6690208" y="338404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mandibularis (mandibularis)</a:t>
            </a:r>
            <a:r>
              <a:rPr lang="en-US" sz="1400" dirty="0">
                <a:solidFill>
                  <a:srgbClr val="4B5563"/>
                </a:solidFill>
                <a:latin typeface="Calibri" pitchFamily="34" charset="0"/>
                <a:ea typeface="Calibri" pitchFamily="34" charset="-122"/>
                <a:cs typeface="Calibri" pitchFamily="34" charset="-120"/>
              </a:rPr>
              <a:t>: Alt çene kemiği ile ilgli</a:t>
            </a:r>
            <a:endParaRPr lang="en-US" sz="1400" dirty="0"/>
          </a:p>
        </p:txBody>
      </p:sp>
      <p:sp>
        <p:nvSpPr>
          <p:cNvPr id="38" name="Shape 36"/>
          <p:cNvSpPr/>
          <p:nvPr/>
        </p:nvSpPr>
        <p:spPr>
          <a:xfrm>
            <a:off x="6233008" y="4083050"/>
            <a:ext cx="5410048" cy="1429258"/>
          </a:xfrm>
          <a:prstGeom prst="roundRect">
            <a:avLst>
              <a:gd name="adj" fmla="val 4478"/>
            </a:avLst>
          </a:prstGeom>
          <a:solidFill>
            <a:srgbClr val="EAF6F4"/>
          </a:solidFill>
          <a:ln/>
        </p:spPr>
      </p:sp>
      <p:sp>
        <p:nvSpPr>
          <p:cNvPr id="39" name="Text 37"/>
          <p:cNvSpPr txBox="1"/>
          <p:nvPr/>
        </p:nvSpPr>
        <p:spPr>
          <a:xfrm>
            <a:off x="6415888" y="414705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8-  </a:t>
            </a:r>
            <a:endParaRPr lang="en-US" sz="1500" dirty="0"/>
          </a:p>
        </p:txBody>
      </p:sp>
      <p:sp>
        <p:nvSpPr>
          <p:cNvPr id="40" name="Shape 38"/>
          <p:cNvSpPr/>
          <p:nvPr/>
        </p:nvSpPr>
        <p:spPr>
          <a:xfrm>
            <a:off x="6534760" y="4471507"/>
            <a:ext cx="64008" cy="64008"/>
          </a:xfrm>
          <a:prstGeom prst="ellipse">
            <a:avLst/>
          </a:prstGeom>
          <a:solidFill>
            <a:srgbClr val="0F766E"/>
          </a:solidFill>
          <a:ln/>
        </p:spPr>
      </p:sp>
      <p:sp>
        <p:nvSpPr>
          <p:cNvPr id="41" name="Text 39"/>
          <p:cNvSpPr txBox="1"/>
          <p:nvPr/>
        </p:nvSpPr>
        <p:spPr>
          <a:xfrm>
            <a:off x="6690208" y="439775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-orius (L) (-oryus)</a:t>
            </a:r>
            <a:r>
              <a:rPr lang="en-US" sz="1400" dirty="0">
                <a:solidFill>
                  <a:srgbClr val="4B5563"/>
                </a:solidFill>
                <a:latin typeface="Calibri" pitchFamily="34" charset="0"/>
                <a:ea typeface="Calibri" pitchFamily="34" charset="-122"/>
                <a:cs typeface="Calibri" pitchFamily="34" charset="-120"/>
              </a:rPr>
              <a:t>: Ait veya ilişkili olmak</a:t>
            </a:r>
            <a:endParaRPr lang="en-US" sz="1400" dirty="0"/>
          </a:p>
        </p:txBody>
      </p:sp>
      <p:sp>
        <p:nvSpPr>
          <p:cNvPr id="42" name="Shape 40"/>
          <p:cNvSpPr/>
          <p:nvPr/>
        </p:nvSpPr>
        <p:spPr>
          <a:xfrm>
            <a:off x="6534760" y="4724999"/>
            <a:ext cx="64008" cy="64008"/>
          </a:xfrm>
          <a:prstGeom prst="ellipse">
            <a:avLst/>
          </a:prstGeom>
          <a:solidFill>
            <a:srgbClr val="0F766E"/>
          </a:solidFill>
          <a:ln/>
        </p:spPr>
      </p:sp>
      <p:sp>
        <p:nvSpPr>
          <p:cNvPr id="43" name="Text 41"/>
          <p:cNvSpPr txBox="1"/>
          <p:nvPr/>
        </p:nvSpPr>
        <p:spPr>
          <a:xfrm>
            <a:off x="6690208" y="465124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auditorius (avditoryus)</a:t>
            </a:r>
            <a:r>
              <a:rPr lang="en-US" sz="1400" dirty="0">
                <a:solidFill>
                  <a:srgbClr val="4B5563"/>
                </a:solidFill>
                <a:latin typeface="Calibri" pitchFamily="34" charset="0"/>
                <a:ea typeface="Calibri" pitchFamily="34" charset="-122"/>
                <a:cs typeface="Calibri" pitchFamily="34" charset="-120"/>
              </a:rPr>
              <a:t>: İşitmeyle ilgli</a:t>
            </a:r>
            <a:endParaRPr lang="en-US" sz="1400" dirty="0"/>
          </a:p>
        </p:txBody>
      </p:sp>
      <p:sp>
        <p:nvSpPr>
          <p:cNvPr id="44" name="Shape 42"/>
          <p:cNvSpPr/>
          <p:nvPr/>
        </p:nvSpPr>
        <p:spPr>
          <a:xfrm>
            <a:off x="6534760" y="4978491"/>
            <a:ext cx="64008" cy="64008"/>
          </a:xfrm>
          <a:prstGeom prst="ellipse">
            <a:avLst/>
          </a:prstGeom>
          <a:solidFill>
            <a:srgbClr val="0F766E"/>
          </a:solidFill>
          <a:ln/>
        </p:spPr>
      </p:sp>
      <p:sp>
        <p:nvSpPr>
          <p:cNvPr id="45" name="Text 43"/>
          <p:cNvSpPr txBox="1"/>
          <p:nvPr/>
        </p:nvSpPr>
        <p:spPr>
          <a:xfrm>
            <a:off x="6690208" y="490474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respiratorius (respiratoryus)</a:t>
            </a:r>
            <a:r>
              <a:rPr lang="en-US" sz="1400" dirty="0">
                <a:solidFill>
                  <a:srgbClr val="4B5563"/>
                </a:solidFill>
                <a:latin typeface="Calibri" pitchFamily="34" charset="0"/>
                <a:ea typeface="Calibri" pitchFamily="34" charset="-122"/>
                <a:cs typeface="Calibri" pitchFamily="34" charset="-120"/>
              </a:rPr>
              <a:t>: Solunumla ilgili, solunuma yardımcı</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Şeklinde, Biçiminde, Benzer, Anlamı Veren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78</a:t>
            </a:r>
            <a:endParaRPr lang="en-US" sz="1000" dirty="0"/>
          </a:p>
        </p:txBody>
      </p:sp>
      <p:sp>
        <p:nvSpPr>
          <p:cNvPr id="6" name="Shape 4"/>
          <p:cNvSpPr/>
          <p:nvPr/>
        </p:nvSpPr>
        <p:spPr>
          <a:xfrm>
            <a:off x="548640" y="3032760"/>
            <a:ext cx="5410048" cy="1465834"/>
          </a:xfrm>
          <a:prstGeom prst="roundRect">
            <a:avLst>
              <a:gd name="adj" fmla="val 4367"/>
            </a:avLst>
          </a:prstGeom>
          <a:solidFill>
            <a:srgbClr val="EAF6F4"/>
          </a:solidFill>
          <a:ln/>
        </p:spPr>
      </p:sp>
      <p:sp>
        <p:nvSpPr>
          <p:cNvPr id="7" name="Text 5"/>
          <p:cNvSpPr txBox="1"/>
          <p:nvPr/>
        </p:nvSpPr>
        <p:spPr>
          <a:xfrm>
            <a:off x="731520" y="309676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3421217"/>
            <a:ext cx="64008" cy="64008"/>
          </a:xfrm>
          <a:prstGeom prst="ellipse">
            <a:avLst/>
          </a:prstGeom>
          <a:solidFill>
            <a:srgbClr val="0F766E"/>
          </a:solidFill>
          <a:ln/>
        </p:spPr>
      </p:sp>
      <p:sp>
        <p:nvSpPr>
          <p:cNvPr id="9" name="Text 7"/>
          <p:cNvSpPr txBox="1"/>
          <p:nvPr/>
        </p:nvSpPr>
        <p:spPr>
          <a:xfrm>
            <a:off x="1005840" y="334746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-eus (L) (-öz)</a:t>
            </a:r>
            <a:r>
              <a:rPr lang="en-US" sz="1400" dirty="0">
                <a:solidFill>
                  <a:srgbClr val="4B5563"/>
                </a:solidFill>
                <a:latin typeface="Calibri" pitchFamily="34" charset="0"/>
                <a:ea typeface="Calibri" pitchFamily="34" charset="-122"/>
                <a:cs typeface="Calibri" pitchFamily="34" charset="-120"/>
              </a:rPr>
              <a:t>: Benzeri, -imsi, -si</a:t>
            </a:r>
            <a:endParaRPr lang="en-US" sz="1400" dirty="0"/>
          </a:p>
        </p:txBody>
      </p:sp>
      <p:sp>
        <p:nvSpPr>
          <p:cNvPr id="10" name="Shape 8"/>
          <p:cNvSpPr/>
          <p:nvPr/>
        </p:nvSpPr>
        <p:spPr>
          <a:xfrm>
            <a:off x="850392" y="3674709"/>
            <a:ext cx="64008" cy="64008"/>
          </a:xfrm>
          <a:prstGeom prst="ellipse">
            <a:avLst/>
          </a:prstGeom>
          <a:solidFill>
            <a:srgbClr val="0F766E"/>
          </a:solidFill>
          <a:ln/>
        </p:spPr>
      </p:sp>
      <p:sp>
        <p:nvSpPr>
          <p:cNvPr id="11" name="Text 9"/>
          <p:cNvSpPr txBox="1"/>
          <p:nvPr/>
        </p:nvSpPr>
        <p:spPr>
          <a:xfrm>
            <a:off x="1005840" y="36009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cartilagineus (Kartilajinöz)</a:t>
            </a:r>
            <a:r>
              <a:rPr lang="en-US" sz="1400" dirty="0">
                <a:solidFill>
                  <a:srgbClr val="4B5563"/>
                </a:solidFill>
                <a:latin typeface="Calibri" pitchFamily="34" charset="0"/>
                <a:ea typeface="Calibri" pitchFamily="34" charset="-122"/>
                <a:cs typeface="Calibri" pitchFamily="34" charset="-120"/>
              </a:rPr>
              <a:t>: Kıkırdaksı</a:t>
            </a:r>
            <a:endParaRPr lang="en-US" sz="1400" dirty="0"/>
          </a:p>
        </p:txBody>
      </p:sp>
      <p:sp>
        <p:nvSpPr>
          <p:cNvPr id="12" name="Shape 10"/>
          <p:cNvSpPr/>
          <p:nvPr/>
        </p:nvSpPr>
        <p:spPr>
          <a:xfrm>
            <a:off x="850392" y="3928201"/>
            <a:ext cx="64008" cy="64008"/>
          </a:xfrm>
          <a:prstGeom prst="ellipse">
            <a:avLst/>
          </a:prstGeom>
          <a:solidFill>
            <a:srgbClr val="0F766E"/>
          </a:solidFill>
          <a:ln/>
        </p:spPr>
      </p:sp>
      <p:sp>
        <p:nvSpPr>
          <p:cNvPr id="13" name="Text 11"/>
          <p:cNvSpPr txBox="1"/>
          <p:nvPr/>
        </p:nvSpPr>
        <p:spPr>
          <a:xfrm>
            <a:off x="1005840" y="38544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sigmoideus (sigmoidöz)</a:t>
            </a:r>
            <a:r>
              <a:rPr lang="en-US" sz="1400" dirty="0">
                <a:solidFill>
                  <a:srgbClr val="4B5563"/>
                </a:solidFill>
                <a:latin typeface="Calibri" pitchFamily="34" charset="0"/>
                <a:ea typeface="Calibri" pitchFamily="34" charset="-122"/>
                <a:cs typeface="Calibri" pitchFamily="34" charset="-120"/>
              </a:rPr>
              <a:t>: ‘‘S’’ harfi biçimli</a:t>
            </a:r>
            <a:endParaRPr lang="en-US" sz="1400" dirty="0"/>
          </a:p>
        </p:txBody>
      </p:sp>
      <p:sp>
        <p:nvSpPr>
          <p:cNvPr id="14" name="Shape 12"/>
          <p:cNvSpPr/>
          <p:nvPr/>
        </p:nvSpPr>
        <p:spPr>
          <a:xfrm>
            <a:off x="850392" y="4181693"/>
            <a:ext cx="64008" cy="64008"/>
          </a:xfrm>
          <a:prstGeom prst="ellipse">
            <a:avLst/>
          </a:prstGeom>
          <a:solidFill>
            <a:srgbClr val="0F766E"/>
          </a:solidFill>
          <a:ln/>
        </p:spPr>
      </p:sp>
      <p:sp>
        <p:nvSpPr>
          <p:cNvPr id="15" name="Text 13"/>
          <p:cNvSpPr txBox="1"/>
          <p:nvPr/>
        </p:nvSpPr>
        <p:spPr>
          <a:xfrm>
            <a:off x="1005840" y="41079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osseus (ossöz)</a:t>
            </a:r>
            <a:r>
              <a:rPr lang="en-US" sz="1400" dirty="0">
                <a:solidFill>
                  <a:srgbClr val="4B5563"/>
                </a:solidFill>
                <a:latin typeface="Calibri" pitchFamily="34" charset="0"/>
                <a:ea typeface="Calibri" pitchFamily="34" charset="-122"/>
                <a:cs typeface="Calibri" pitchFamily="34" charset="-120"/>
              </a:rPr>
              <a:t>: Kemiksi, kemik gibi</a:t>
            </a:r>
            <a:endParaRPr lang="en-US" sz="1400" dirty="0"/>
          </a:p>
        </p:txBody>
      </p:sp>
      <p:sp>
        <p:nvSpPr>
          <p:cNvPr id="16" name="Shape 14"/>
          <p:cNvSpPr/>
          <p:nvPr/>
        </p:nvSpPr>
        <p:spPr>
          <a:xfrm>
            <a:off x="548640" y="4590034"/>
            <a:ext cx="5410048" cy="1719326"/>
          </a:xfrm>
          <a:prstGeom prst="roundRect">
            <a:avLst>
              <a:gd name="adj" fmla="val 3723"/>
            </a:avLst>
          </a:prstGeom>
          <a:solidFill>
            <a:srgbClr val="EAF6F4"/>
          </a:solidFill>
          <a:ln/>
        </p:spPr>
      </p:sp>
      <p:sp>
        <p:nvSpPr>
          <p:cNvPr id="17" name="Text 15"/>
          <p:cNvSpPr txBox="1"/>
          <p:nvPr/>
        </p:nvSpPr>
        <p:spPr>
          <a:xfrm>
            <a:off x="731520" y="4654042"/>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8" name="Shape 16"/>
          <p:cNvSpPr/>
          <p:nvPr/>
        </p:nvSpPr>
        <p:spPr>
          <a:xfrm>
            <a:off x="850392" y="4978491"/>
            <a:ext cx="64008" cy="64008"/>
          </a:xfrm>
          <a:prstGeom prst="ellipse">
            <a:avLst/>
          </a:prstGeom>
          <a:solidFill>
            <a:srgbClr val="0F766E"/>
          </a:solidFill>
          <a:ln/>
        </p:spPr>
      </p:sp>
      <p:sp>
        <p:nvSpPr>
          <p:cNvPr id="19" name="Text 17"/>
          <p:cNvSpPr txBox="1"/>
          <p:nvPr/>
        </p:nvSpPr>
        <p:spPr>
          <a:xfrm>
            <a:off x="1005840" y="490474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-oid, -oideus (G) (-oid, -oidöz)</a:t>
            </a:r>
            <a:r>
              <a:rPr lang="en-US" sz="1400" dirty="0">
                <a:solidFill>
                  <a:srgbClr val="4B5563"/>
                </a:solidFill>
                <a:latin typeface="Calibri" pitchFamily="34" charset="0"/>
                <a:ea typeface="Calibri" pitchFamily="34" charset="-122"/>
                <a:cs typeface="Calibri" pitchFamily="34" charset="-120"/>
              </a:rPr>
              <a:t>: Biçiminde, benzer</a:t>
            </a:r>
            <a:endParaRPr lang="en-US" sz="1400" dirty="0"/>
          </a:p>
        </p:txBody>
      </p:sp>
      <p:sp>
        <p:nvSpPr>
          <p:cNvPr id="20" name="Shape 18"/>
          <p:cNvSpPr/>
          <p:nvPr/>
        </p:nvSpPr>
        <p:spPr>
          <a:xfrm>
            <a:off x="850392" y="5231983"/>
            <a:ext cx="64008" cy="64008"/>
          </a:xfrm>
          <a:prstGeom prst="ellipse">
            <a:avLst/>
          </a:prstGeom>
          <a:solidFill>
            <a:srgbClr val="0F766E"/>
          </a:solidFill>
          <a:ln/>
        </p:spPr>
      </p:sp>
      <p:sp>
        <p:nvSpPr>
          <p:cNvPr id="21" name="Text 19"/>
          <p:cNvSpPr txBox="1"/>
          <p:nvPr/>
        </p:nvSpPr>
        <p:spPr>
          <a:xfrm>
            <a:off x="1005840" y="51582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lipoid (lipoid)</a:t>
            </a:r>
            <a:r>
              <a:rPr lang="en-US" sz="1400" dirty="0">
                <a:solidFill>
                  <a:srgbClr val="4B5563"/>
                </a:solidFill>
                <a:latin typeface="Calibri" pitchFamily="34" charset="0"/>
                <a:ea typeface="Calibri" pitchFamily="34" charset="-122"/>
                <a:cs typeface="Calibri" pitchFamily="34" charset="-120"/>
              </a:rPr>
              <a:t>: Yağa benzer</a:t>
            </a:r>
            <a:endParaRPr lang="en-US" sz="1400" dirty="0"/>
          </a:p>
        </p:txBody>
      </p:sp>
      <p:sp>
        <p:nvSpPr>
          <p:cNvPr id="22" name="Shape 20"/>
          <p:cNvSpPr/>
          <p:nvPr/>
        </p:nvSpPr>
        <p:spPr>
          <a:xfrm>
            <a:off x="850392" y="5485475"/>
            <a:ext cx="64008" cy="64008"/>
          </a:xfrm>
          <a:prstGeom prst="ellipse">
            <a:avLst/>
          </a:prstGeom>
          <a:solidFill>
            <a:srgbClr val="0F766E"/>
          </a:solidFill>
          <a:ln/>
        </p:spPr>
      </p:sp>
      <p:sp>
        <p:nvSpPr>
          <p:cNvPr id="23" name="Text 21"/>
          <p:cNvSpPr txBox="1"/>
          <p:nvPr/>
        </p:nvSpPr>
        <p:spPr>
          <a:xfrm>
            <a:off x="1005840"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pterygoideus (pterigoidöz)</a:t>
            </a:r>
            <a:r>
              <a:rPr lang="en-US" sz="1400" dirty="0">
                <a:solidFill>
                  <a:srgbClr val="4B5563"/>
                </a:solidFill>
                <a:latin typeface="Calibri" pitchFamily="34" charset="0"/>
                <a:ea typeface="Calibri" pitchFamily="34" charset="-122"/>
                <a:cs typeface="Calibri" pitchFamily="34" charset="-120"/>
              </a:rPr>
              <a:t>: Kanat benzeri</a:t>
            </a:r>
            <a:endParaRPr lang="en-US" sz="1400" dirty="0"/>
          </a:p>
        </p:txBody>
      </p:sp>
      <p:sp>
        <p:nvSpPr>
          <p:cNvPr id="24" name="Shape 22"/>
          <p:cNvSpPr/>
          <p:nvPr/>
        </p:nvSpPr>
        <p:spPr>
          <a:xfrm>
            <a:off x="850392" y="5738967"/>
            <a:ext cx="64008" cy="64008"/>
          </a:xfrm>
          <a:prstGeom prst="ellipse">
            <a:avLst/>
          </a:prstGeom>
          <a:solidFill>
            <a:srgbClr val="0F766E"/>
          </a:solidFill>
          <a:ln/>
        </p:spPr>
      </p:sp>
      <p:sp>
        <p:nvSpPr>
          <p:cNvPr id="25" name="Text 23"/>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dermoideus (dermoidöz)</a:t>
            </a:r>
            <a:r>
              <a:rPr lang="en-US" sz="1400" dirty="0">
                <a:solidFill>
                  <a:srgbClr val="4B5563"/>
                </a:solidFill>
                <a:latin typeface="Calibri" pitchFamily="34" charset="0"/>
                <a:ea typeface="Calibri" pitchFamily="34" charset="-122"/>
                <a:cs typeface="Calibri" pitchFamily="34" charset="-120"/>
              </a:rPr>
              <a:t>: Deri benzeri, derimsi</a:t>
            </a:r>
            <a:endParaRPr lang="en-US" sz="1400" dirty="0"/>
          </a:p>
        </p:txBody>
      </p:sp>
      <p:sp>
        <p:nvSpPr>
          <p:cNvPr id="26" name="Shape 24"/>
          <p:cNvSpPr/>
          <p:nvPr/>
        </p:nvSpPr>
        <p:spPr>
          <a:xfrm>
            <a:off x="850392" y="5992459"/>
            <a:ext cx="64008" cy="64008"/>
          </a:xfrm>
          <a:prstGeom prst="ellipse">
            <a:avLst/>
          </a:prstGeom>
          <a:solidFill>
            <a:srgbClr val="0F766E"/>
          </a:solidFill>
          <a:ln/>
        </p:spPr>
      </p:sp>
      <p:sp>
        <p:nvSpPr>
          <p:cNvPr id="27" name="Text 25"/>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conoideus (konoidöz)</a:t>
            </a:r>
            <a:r>
              <a:rPr lang="en-US" sz="1400" dirty="0">
                <a:solidFill>
                  <a:srgbClr val="4B5563"/>
                </a:solidFill>
                <a:latin typeface="Calibri" pitchFamily="34" charset="0"/>
                <a:ea typeface="Calibri" pitchFamily="34" charset="-122"/>
                <a:cs typeface="Calibri" pitchFamily="34" charset="-120"/>
              </a:rPr>
              <a:t>: Koni biçiminde</a:t>
            </a:r>
            <a:endParaRPr lang="en-US" sz="1400" dirty="0"/>
          </a:p>
        </p:txBody>
      </p:sp>
      <p:sp>
        <p:nvSpPr>
          <p:cNvPr id="28" name="Shape 26"/>
          <p:cNvSpPr/>
          <p:nvPr/>
        </p:nvSpPr>
        <p:spPr>
          <a:xfrm>
            <a:off x="6233008" y="3032760"/>
            <a:ext cx="5410048" cy="1719326"/>
          </a:xfrm>
          <a:prstGeom prst="roundRect">
            <a:avLst>
              <a:gd name="adj" fmla="val 3723"/>
            </a:avLst>
          </a:prstGeom>
          <a:solidFill>
            <a:srgbClr val="EAF6F4"/>
          </a:solidFill>
          <a:ln/>
        </p:spPr>
      </p:sp>
      <p:sp>
        <p:nvSpPr>
          <p:cNvPr id="29" name="Text 27"/>
          <p:cNvSpPr txBox="1"/>
          <p:nvPr/>
        </p:nvSpPr>
        <p:spPr>
          <a:xfrm>
            <a:off x="6415888" y="309676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30" name="Shape 28"/>
          <p:cNvSpPr/>
          <p:nvPr/>
        </p:nvSpPr>
        <p:spPr>
          <a:xfrm>
            <a:off x="6534760" y="3421217"/>
            <a:ext cx="64008" cy="64008"/>
          </a:xfrm>
          <a:prstGeom prst="ellipse">
            <a:avLst/>
          </a:prstGeom>
          <a:solidFill>
            <a:srgbClr val="0F766E"/>
          </a:solidFill>
          <a:ln/>
        </p:spPr>
      </p:sp>
      <p:sp>
        <p:nvSpPr>
          <p:cNvPr id="31" name="Text 29"/>
          <p:cNvSpPr txBox="1"/>
          <p:nvPr/>
        </p:nvSpPr>
        <p:spPr>
          <a:xfrm>
            <a:off x="6690208" y="334746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-formis (L) (-formis)</a:t>
            </a:r>
            <a:r>
              <a:rPr lang="en-US" sz="1400" dirty="0">
                <a:solidFill>
                  <a:srgbClr val="4B5563"/>
                </a:solidFill>
                <a:latin typeface="Calibri" pitchFamily="34" charset="0"/>
                <a:ea typeface="Calibri" pitchFamily="34" charset="-122"/>
                <a:cs typeface="Calibri" pitchFamily="34" charset="-120"/>
              </a:rPr>
              <a:t>: Biçiminde</a:t>
            </a:r>
            <a:endParaRPr lang="en-US" sz="1400" dirty="0"/>
          </a:p>
        </p:txBody>
      </p:sp>
      <p:sp>
        <p:nvSpPr>
          <p:cNvPr id="32" name="Shape 30"/>
          <p:cNvSpPr/>
          <p:nvPr/>
        </p:nvSpPr>
        <p:spPr>
          <a:xfrm>
            <a:off x="6534760" y="3674709"/>
            <a:ext cx="64008" cy="64008"/>
          </a:xfrm>
          <a:prstGeom prst="ellipse">
            <a:avLst/>
          </a:prstGeom>
          <a:solidFill>
            <a:srgbClr val="0F766E"/>
          </a:solidFill>
          <a:ln/>
        </p:spPr>
      </p:sp>
      <p:sp>
        <p:nvSpPr>
          <p:cNvPr id="33" name="Text 31"/>
          <p:cNvSpPr txBox="1"/>
          <p:nvPr/>
        </p:nvSpPr>
        <p:spPr>
          <a:xfrm>
            <a:off x="6690208" y="36009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bulbiformis (bulbiformis)</a:t>
            </a:r>
            <a:r>
              <a:rPr lang="en-US" sz="1400" dirty="0">
                <a:solidFill>
                  <a:srgbClr val="4B5563"/>
                </a:solidFill>
                <a:latin typeface="Calibri" pitchFamily="34" charset="0"/>
                <a:ea typeface="Calibri" pitchFamily="34" charset="-122"/>
                <a:cs typeface="Calibri" pitchFamily="34" charset="-120"/>
              </a:rPr>
              <a:t>: Soğan biçiminde</a:t>
            </a:r>
            <a:endParaRPr lang="en-US" sz="1400" dirty="0"/>
          </a:p>
        </p:txBody>
      </p:sp>
      <p:sp>
        <p:nvSpPr>
          <p:cNvPr id="34" name="Shape 32"/>
          <p:cNvSpPr/>
          <p:nvPr/>
        </p:nvSpPr>
        <p:spPr>
          <a:xfrm>
            <a:off x="6534760" y="3928201"/>
            <a:ext cx="64008" cy="64008"/>
          </a:xfrm>
          <a:prstGeom prst="ellipse">
            <a:avLst/>
          </a:prstGeom>
          <a:solidFill>
            <a:srgbClr val="0F766E"/>
          </a:solidFill>
          <a:ln/>
        </p:spPr>
      </p:sp>
      <p:sp>
        <p:nvSpPr>
          <p:cNvPr id="35" name="Text 33"/>
          <p:cNvSpPr txBox="1"/>
          <p:nvPr/>
        </p:nvSpPr>
        <p:spPr>
          <a:xfrm>
            <a:off x="6690208" y="38544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vermiformis (vermiformis)</a:t>
            </a:r>
            <a:r>
              <a:rPr lang="en-US" sz="1400" dirty="0">
                <a:solidFill>
                  <a:srgbClr val="4B5563"/>
                </a:solidFill>
                <a:latin typeface="Calibri" pitchFamily="34" charset="0"/>
                <a:ea typeface="Calibri" pitchFamily="34" charset="-122"/>
                <a:cs typeface="Calibri" pitchFamily="34" charset="-120"/>
              </a:rPr>
              <a:t>: Solucan biçiminde</a:t>
            </a:r>
            <a:endParaRPr lang="en-US" sz="1400" dirty="0"/>
          </a:p>
        </p:txBody>
      </p:sp>
      <p:sp>
        <p:nvSpPr>
          <p:cNvPr id="36" name="Shape 34"/>
          <p:cNvSpPr/>
          <p:nvPr/>
        </p:nvSpPr>
        <p:spPr>
          <a:xfrm>
            <a:off x="6534760" y="4181693"/>
            <a:ext cx="64008" cy="64008"/>
          </a:xfrm>
          <a:prstGeom prst="ellipse">
            <a:avLst/>
          </a:prstGeom>
          <a:solidFill>
            <a:srgbClr val="0F766E"/>
          </a:solidFill>
          <a:ln/>
        </p:spPr>
      </p:sp>
      <p:sp>
        <p:nvSpPr>
          <p:cNvPr id="37" name="Text 35"/>
          <p:cNvSpPr txBox="1"/>
          <p:nvPr/>
        </p:nvSpPr>
        <p:spPr>
          <a:xfrm>
            <a:off x="6690208" y="41079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piriformis (piriformis)</a:t>
            </a:r>
            <a:r>
              <a:rPr lang="en-US" sz="1400" dirty="0">
                <a:solidFill>
                  <a:srgbClr val="4B5563"/>
                </a:solidFill>
                <a:latin typeface="Calibri" pitchFamily="34" charset="0"/>
                <a:ea typeface="Calibri" pitchFamily="34" charset="-122"/>
                <a:cs typeface="Calibri" pitchFamily="34" charset="-120"/>
              </a:rPr>
              <a:t>: Armut biçiminde</a:t>
            </a:r>
            <a:endParaRPr lang="en-US" sz="1400" dirty="0"/>
          </a:p>
        </p:txBody>
      </p:sp>
      <p:sp>
        <p:nvSpPr>
          <p:cNvPr id="38" name="Shape 36"/>
          <p:cNvSpPr/>
          <p:nvPr/>
        </p:nvSpPr>
        <p:spPr>
          <a:xfrm>
            <a:off x="6534760" y="4435185"/>
            <a:ext cx="64008" cy="64008"/>
          </a:xfrm>
          <a:prstGeom prst="ellipse">
            <a:avLst/>
          </a:prstGeom>
          <a:solidFill>
            <a:srgbClr val="0F766E"/>
          </a:solidFill>
          <a:ln/>
        </p:spPr>
      </p:sp>
      <p:sp>
        <p:nvSpPr>
          <p:cNvPr id="39" name="Text 37"/>
          <p:cNvSpPr txBox="1"/>
          <p:nvPr/>
        </p:nvSpPr>
        <p:spPr>
          <a:xfrm>
            <a:off x="6690208" y="43614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reniformis (reniformis)</a:t>
            </a:r>
            <a:r>
              <a:rPr lang="en-US" sz="1400" dirty="0">
                <a:solidFill>
                  <a:srgbClr val="4B5563"/>
                </a:solidFill>
                <a:latin typeface="Calibri" pitchFamily="34" charset="0"/>
                <a:ea typeface="Calibri" pitchFamily="34" charset="-122"/>
                <a:cs typeface="Calibri" pitchFamily="34" charset="-120"/>
              </a:rPr>
              <a:t>: Böbrek biçiminde</a:t>
            </a:r>
            <a:endParaRPr lang="en-US" sz="1400" dirty="0"/>
          </a:p>
        </p:txBody>
      </p:sp>
      <p:sp>
        <p:nvSpPr>
          <p:cNvPr id="40" name="Shape 38"/>
          <p:cNvSpPr/>
          <p:nvPr/>
        </p:nvSpPr>
        <p:spPr>
          <a:xfrm>
            <a:off x="6233008" y="4843526"/>
            <a:ext cx="5410048" cy="1212342"/>
          </a:xfrm>
          <a:prstGeom prst="roundRect">
            <a:avLst>
              <a:gd name="adj" fmla="val 5280"/>
            </a:avLst>
          </a:prstGeom>
          <a:solidFill>
            <a:srgbClr val="EAF6F4"/>
          </a:solidFill>
          <a:ln/>
        </p:spPr>
      </p:sp>
      <p:sp>
        <p:nvSpPr>
          <p:cNvPr id="41" name="Text 39"/>
          <p:cNvSpPr txBox="1"/>
          <p:nvPr/>
        </p:nvSpPr>
        <p:spPr>
          <a:xfrm>
            <a:off x="6415888" y="490753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42" name="Shape 40"/>
          <p:cNvSpPr/>
          <p:nvPr/>
        </p:nvSpPr>
        <p:spPr>
          <a:xfrm>
            <a:off x="6534760" y="5231983"/>
            <a:ext cx="64008" cy="64008"/>
          </a:xfrm>
          <a:prstGeom prst="ellipse">
            <a:avLst/>
          </a:prstGeom>
          <a:solidFill>
            <a:srgbClr val="0F766E"/>
          </a:solidFill>
          <a:ln/>
        </p:spPr>
      </p:sp>
      <p:sp>
        <p:nvSpPr>
          <p:cNvPr id="43" name="Text 41"/>
          <p:cNvSpPr txBox="1"/>
          <p:nvPr/>
        </p:nvSpPr>
        <p:spPr>
          <a:xfrm>
            <a:off x="6690208" y="51582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-icus (G) (-ikus)</a:t>
            </a:r>
            <a:r>
              <a:rPr lang="en-US" sz="1400" dirty="0">
                <a:solidFill>
                  <a:srgbClr val="4B5563"/>
                </a:solidFill>
                <a:latin typeface="Calibri" pitchFamily="34" charset="0"/>
                <a:ea typeface="Calibri" pitchFamily="34" charset="-122"/>
                <a:cs typeface="Calibri" pitchFamily="34" charset="-120"/>
              </a:rPr>
              <a:t>: Benzeri, -imsi, ilgili, ait</a:t>
            </a:r>
            <a:endParaRPr lang="en-US" sz="1400" dirty="0"/>
          </a:p>
        </p:txBody>
      </p:sp>
      <p:sp>
        <p:nvSpPr>
          <p:cNvPr id="44" name="Shape 42"/>
          <p:cNvSpPr/>
          <p:nvPr/>
        </p:nvSpPr>
        <p:spPr>
          <a:xfrm>
            <a:off x="6534760" y="5485475"/>
            <a:ext cx="64008" cy="64008"/>
          </a:xfrm>
          <a:prstGeom prst="ellipse">
            <a:avLst/>
          </a:prstGeom>
          <a:solidFill>
            <a:srgbClr val="0F766E"/>
          </a:solidFill>
          <a:ln/>
        </p:spPr>
      </p:sp>
      <p:sp>
        <p:nvSpPr>
          <p:cNvPr id="45" name="Text 43"/>
          <p:cNvSpPr txBox="1"/>
          <p:nvPr/>
        </p:nvSpPr>
        <p:spPr>
          <a:xfrm>
            <a:off x="6690208"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dendriticus (dendriticus)</a:t>
            </a:r>
            <a:r>
              <a:rPr lang="en-US" sz="1400" dirty="0">
                <a:solidFill>
                  <a:srgbClr val="4B5563"/>
                </a:solidFill>
                <a:latin typeface="Calibri" pitchFamily="34" charset="0"/>
                <a:ea typeface="Calibri" pitchFamily="34" charset="-122"/>
                <a:cs typeface="Calibri" pitchFamily="34" charset="-120"/>
              </a:rPr>
              <a:t>: Ağaç benzeri</a:t>
            </a:r>
            <a:endParaRPr lang="en-US" sz="1400" dirty="0"/>
          </a:p>
        </p:txBody>
      </p:sp>
      <p:sp>
        <p:nvSpPr>
          <p:cNvPr id="46" name="Shape 44"/>
          <p:cNvSpPr/>
          <p:nvPr/>
        </p:nvSpPr>
        <p:spPr>
          <a:xfrm>
            <a:off x="6534760" y="5738967"/>
            <a:ext cx="64008" cy="64008"/>
          </a:xfrm>
          <a:prstGeom prst="ellipse">
            <a:avLst/>
          </a:prstGeom>
          <a:solidFill>
            <a:srgbClr val="0F766E"/>
          </a:solidFill>
          <a:ln/>
        </p:spPr>
      </p:sp>
      <p:sp>
        <p:nvSpPr>
          <p:cNvPr id="47" name="Text 45"/>
          <p:cNvSpPr txBox="1"/>
          <p:nvPr/>
        </p:nvSpPr>
        <p:spPr>
          <a:xfrm>
            <a:off x="6690208"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plasmaricus (plazmatikus)</a:t>
            </a:r>
            <a:r>
              <a:rPr lang="en-US" sz="1400" dirty="0">
                <a:solidFill>
                  <a:srgbClr val="4B5563"/>
                </a:solidFill>
                <a:latin typeface="Calibri" pitchFamily="34" charset="0"/>
                <a:ea typeface="Calibri" pitchFamily="34" charset="-122"/>
                <a:cs typeface="Calibri" pitchFamily="34" charset="-120"/>
              </a:rPr>
              <a:t>: Plazmamsı, plazma gibi</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Oluşma, Oluşturma, Meydana Gelme, Neden Olma Anlamı Veren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79</a:t>
            </a:r>
            <a:endParaRPr lang="en-US" sz="1000" dirty="0"/>
          </a:p>
        </p:txBody>
      </p:sp>
      <p:sp>
        <p:nvSpPr>
          <p:cNvPr id="6" name="Shape 4"/>
          <p:cNvSpPr/>
          <p:nvPr/>
        </p:nvSpPr>
        <p:spPr>
          <a:xfrm>
            <a:off x="548640" y="1475486"/>
            <a:ext cx="11094415" cy="1719326"/>
          </a:xfrm>
          <a:prstGeom prst="roundRect">
            <a:avLst>
              <a:gd name="adj" fmla="val 3723"/>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-gen, -genic (G) (-jen, -jenic)</a:t>
            </a:r>
            <a:r>
              <a:rPr lang="en-US" sz="1400" dirty="0">
                <a:solidFill>
                  <a:srgbClr val="4B5563"/>
                </a:solidFill>
                <a:latin typeface="Calibri" pitchFamily="34" charset="0"/>
                <a:ea typeface="Calibri" pitchFamily="34" charset="-122"/>
                <a:cs typeface="Calibri" pitchFamily="34" charset="-120"/>
              </a:rPr>
              <a:t>: Oluşturma veya sebep olucu etken</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nephrogen (nefrojen)</a:t>
            </a:r>
            <a:r>
              <a:rPr lang="en-US" sz="1400" dirty="0">
                <a:solidFill>
                  <a:srgbClr val="4B5563"/>
                </a:solidFill>
                <a:latin typeface="Calibri" pitchFamily="34" charset="0"/>
                <a:ea typeface="Calibri" pitchFamily="34" charset="-122"/>
                <a:cs typeface="Calibri" pitchFamily="34" charset="-120"/>
              </a:rPr>
              <a:t>: Kaynağını böbrekten alan</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hematogen (hematojen)</a:t>
            </a:r>
            <a:r>
              <a:rPr lang="en-US" sz="1400" dirty="0">
                <a:solidFill>
                  <a:srgbClr val="4B5563"/>
                </a:solidFill>
                <a:latin typeface="Calibri" pitchFamily="34" charset="0"/>
                <a:ea typeface="Calibri" pitchFamily="34" charset="-122"/>
                <a:cs typeface="Calibri" pitchFamily="34" charset="-120"/>
              </a:rPr>
              <a:t>: Kan yapıcı madde</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hepatogenic (hepatojenik)</a:t>
            </a:r>
            <a:r>
              <a:rPr lang="en-US" sz="1400" dirty="0">
                <a:solidFill>
                  <a:srgbClr val="4B5563"/>
                </a:solidFill>
                <a:latin typeface="Calibri" pitchFamily="34" charset="0"/>
                <a:ea typeface="Calibri" pitchFamily="34" charset="-122"/>
                <a:cs typeface="Calibri" pitchFamily="34" charset="-120"/>
              </a:rPr>
              <a:t>: Karaciğerden gelişen</a:t>
            </a:r>
            <a:endParaRPr lang="en-US" sz="1400" dirty="0"/>
          </a:p>
        </p:txBody>
      </p:sp>
      <p:sp>
        <p:nvSpPr>
          <p:cNvPr id="16" name="Shape 14"/>
          <p:cNvSpPr/>
          <p:nvPr/>
        </p:nvSpPr>
        <p:spPr>
          <a:xfrm>
            <a:off x="850392" y="2877911"/>
            <a:ext cx="64008" cy="64008"/>
          </a:xfrm>
          <a:prstGeom prst="ellipse">
            <a:avLst/>
          </a:prstGeom>
          <a:solidFill>
            <a:srgbClr val="0F766E"/>
          </a:solidFill>
          <a:ln/>
        </p:spPr>
      </p:sp>
      <p:sp>
        <p:nvSpPr>
          <p:cNvPr id="17" name="Text 15"/>
          <p:cNvSpPr txBox="1"/>
          <p:nvPr/>
        </p:nvSpPr>
        <p:spPr>
          <a:xfrm>
            <a:off x="1005840" y="28041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cytogenic (sitojenik)</a:t>
            </a:r>
            <a:r>
              <a:rPr lang="en-US" sz="1400" dirty="0">
                <a:solidFill>
                  <a:srgbClr val="4B5563"/>
                </a:solidFill>
                <a:latin typeface="Calibri" pitchFamily="34" charset="0"/>
                <a:ea typeface="Calibri" pitchFamily="34" charset="-122"/>
                <a:cs typeface="Calibri" pitchFamily="34" charset="-120"/>
              </a:rPr>
              <a:t>: Hücre oluşturan</a:t>
            </a:r>
            <a:endParaRPr lang="en-US" sz="1400" dirty="0"/>
          </a:p>
        </p:txBody>
      </p:sp>
      <p:sp>
        <p:nvSpPr>
          <p:cNvPr id="18" name="Shape 16"/>
          <p:cNvSpPr/>
          <p:nvPr/>
        </p:nvSpPr>
        <p:spPr>
          <a:xfrm>
            <a:off x="548640" y="3286252"/>
            <a:ext cx="11094415" cy="1465834"/>
          </a:xfrm>
          <a:prstGeom prst="roundRect">
            <a:avLst>
              <a:gd name="adj" fmla="val 4367"/>
            </a:avLst>
          </a:prstGeom>
          <a:solidFill>
            <a:srgbClr val="EAF6F4"/>
          </a:solidFill>
          <a:ln/>
        </p:spPr>
      </p:sp>
      <p:sp>
        <p:nvSpPr>
          <p:cNvPr id="19" name="Text 17"/>
          <p:cNvSpPr txBox="1"/>
          <p:nvPr/>
        </p:nvSpPr>
        <p:spPr>
          <a:xfrm>
            <a:off x="731520" y="335026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-genus, -genous (G) (-jenus, -jenus)</a:t>
            </a:r>
            <a:r>
              <a:rPr lang="en-US" sz="1400" dirty="0">
                <a:solidFill>
                  <a:srgbClr val="4B5563"/>
                </a:solidFill>
                <a:latin typeface="Calibri" pitchFamily="34" charset="0"/>
                <a:ea typeface="Calibri" pitchFamily="34" charset="-122"/>
                <a:cs typeface="Calibri" pitchFamily="34" charset="-120"/>
              </a:rPr>
              <a:t>: Yapan, eden, üreten</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mucigenus (musijenus)</a:t>
            </a:r>
            <a:r>
              <a:rPr lang="en-US" sz="1400" dirty="0">
                <a:solidFill>
                  <a:srgbClr val="4B5563"/>
                </a:solidFill>
                <a:latin typeface="Calibri" pitchFamily="34" charset="0"/>
                <a:ea typeface="Calibri" pitchFamily="34" charset="-122"/>
                <a:cs typeface="Calibri" pitchFamily="34" charset="-120"/>
              </a:rPr>
              <a:t>: Mukus (mukoza salgısı) üreten</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zymogenus (zimojenus)</a:t>
            </a:r>
            <a:r>
              <a:rPr lang="en-US" sz="1400" dirty="0">
                <a:solidFill>
                  <a:srgbClr val="4B5563"/>
                </a:solidFill>
                <a:latin typeface="Calibri" pitchFamily="34" charset="0"/>
                <a:ea typeface="Calibri" pitchFamily="34" charset="-122"/>
                <a:cs typeface="Calibri" pitchFamily="34" charset="-120"/>
              </a:rPr>
              <a:t>: Proenzim (kendisinden enzim oluşturan madde) madde</a:t>
            </a:r>
            <a:endParaRPr lang="en-US" sz="1400" dirty="0"/>
          </a:p>
        </p:txBody>
      </p:sp>
      <p:sp>
        <p:nvSpPr>
          <p:cNvPr id="26" name="Shape 24"/>
          <p:cNvSpPr/>
          <p:nvPr/>
        </p:nvSpPr>
        <p:spPr>
          <a:xfrm>
            <a:off x="850392" y="4435185"/>
            <a:ext cx="64008" cy="64008"/>
          </a:xfrm>
          <a:prstGeom prst="ellipse">
            <a:avLst/>
          </a:prstGeom>
          <a:solidFill>
            <a:srgbClr val="0F766E"/>
          </a:solidFill>
          <a:ln/>
        </p:spPr>
      </p:sp>
      <p:sp>
        <p:nvSpPr>
          <p:cNvPr id="27" name="Text 25"/>
          <p:cNvSpPr txBox="1"/>
          <p:nvPr/>
        </p:nvSpPr>
        <p:spPr>
          <a:xfrm>
            <a:off x="1005840" y="43614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cytogenous (sitogenus)</a:t>
            </a:r>
            <a:r>
              <a:rPr lang="en-US" sz="1400" dirty="0">
                <a:solidFill>
                  <a:srgbClr val="4B5563"/>
                </a:solidFill>
                <a:latin typeface="Calibri" pitchFamily="34" charset="0"/>
                <a:ea typeface="Calibri" pitchFamily="34" charset="-122"/>
                <a:cs typeface="Calibri" pitchFamily="34" charset="-120"/>
              </a:rPr>
              <a:t>: Hücre oluşturan</a:t>
            </a:r>
            <a:endParaRPr lang="en-US" sz="1400" dirty="0"/>
          </a:p>
        </p:txBody>
      </p:sp>
      <p:sp>
        <p:nvSpPr>
          <p:cNvPr id="28" name="Shape 26"/>
          <p:cNvSpPr/>
          <p:nvPr/>
        </p:nvSpPr>
        <p:spPr>
          <a:xfrm>
            <a:off x="548640" y="4843526"/>
            <a:ext cx="11094415" cy="1465834"/>
          </a:xfrm>
          <a:prstGeom prst="roundRect">
            <a:avLst>
              <a:gd name="adj" fmla="val 4367"/>
            </a:avLst>
          </a:prstGeom>
          <a:solidFill>
            <a:srgbClr val="EAF6F4"/>
          </a:solidFill>
          <a:ln/>
        </p:spPr>
      </p:sp>
      <p:sp>
        <p:nvSpPr>
          <p:cNvPr id="29" name="Text 27"/>
          <p:cNvSpPr txBox="1"/>
          <p:nvPr/>
        </p:nvSpPr>
        <p:spPr>
          <a:xfrm>
            <a:off x="731520" y="490753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-poiesis, -poesis (G) (-poyezis, -poezis)</a:t>
            </a:r>
            <a:r>
              <a:rPr lang="en-US" sz="1400" dirty="0">
                <a:solidFill>
                  <a:srgbClr val="4B5563"/>
                </a:solidFill>
                <a:latin typeface="Calibri" pitchFamily="34" charset="0"/>
                <a:ea typeface="Calibri" pitchFamily="34" charset="-122"/>
                <a:cs typeface="Calibri" pitchFamily="34" charset="-120"/>
              </a:rPr>
              <a:t>: Oluşturma, meydana getirme</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galactopoiesis (galaktopoyezis)</a:t>
            </a:r>
            <a:r>
              <a:rPr lang="en-US" sz="1400" dirty="0">
                <a:solidFill>
                  <a:srgbClr val="4B5563"/>
                </a:solidFill>
                <a:latin typeface="Calibri" pitchFamily="34" charset="0"/>
                <a:ea typeface="Calibri" pitchFamily="34" charset="-122"/>
                <a:cs typeface="Calibri" pitchFamily="34" charset="-120"/>
              </a:rPr>
              <a:t>: Sütün oluşması</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erythropoiesis (eritropoyezis)</a:t>
            </a:r>
            <a:r>
              <a:rPr lang="en-US" sz="1400" dirty="0">
                <a:solidFill>
                  <a:srgbClr val="4B5563"/>
                </a:solidFill>
                <a:latin typeface="Calibri" pitchFamily="34" charset="0"/>
                <a:ea typeface="Calibri" pitchFamily="34" charset="-122"/>
                <a:cs typeface="Calibri" pitchFamily="34" charset="-120"/>
              </a:rPr>
              <a:t>: Alyuvar oluşması</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hemacytopoiesis (hemasitopoyezis)</a:t>
            </a:r>
            <a:r>
              <a:rPr lang="en-US" sz="1400" dirty="0">
                <a:solidFill>
                  <a:srgbClr val="4B5563"/>
                </a:solidFill>
                <a:latin typeface="Calibri" pitchFamily="34" charset="0"/>
                <a:ea typeface="Calibri" pitchFamily="34" charset="-122"/>
                <a:cs typeface="Calibri" pitchFamily="34" charset="-120"/>
              </a:rPr>
              <a:t>: Kan hücrelerinin oluşması</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Tıbbi Aletler ve Bu Aletlerin İşlevleriyle İlgili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80</a:t>
            </a:r>
            <a:endParaRPr lang="en-US" sz="1000" dirty="0"/>
          </a:p>
        </p:txBody>
      </p:sp>
      <p:sp>
        <p:nvSpPr>
          <p:cNvPr id="6" name="Shape 4"/>
          <p:cNvSpPr/>
          <p:nvPr/>
        </p:nvSpPr>
        <p:spPr>
          <a:xfrm>
            <a:off x="548640" y="2521458"/>
            <a:ext cx="11094415" cy="1998218"/>
          </a:xfrm>
          <a:prstGeom prst="roundRect">
            <a:avLst>
              <a:gd name="adj" fmla="val 3203"/>
            </a:avLst>
          </a:prstGeom>
          <a:solidFill>
            <a:srgbClr val="EAF6F4"/>
          </a:solidFill>
          <a:ln/>
        </p:spPr>
      </p:sp>
      <p:sp>
        <p:nvSpPr>
          <p:cNvPr id="7" name="Text 5"/>
          <p:cNvSpPr txBox="1"/>
          <p:nvPr/>
        </p:nvSpPr>
        <p:spPr>
          <a:xfrm>
            <a:off x="731520" y="2585466"/>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1-a)  </a:t>
            </a:r>
            <a:endParaRPr lang="en-US" sz="1800" dirty="0"/>
          </a:p>
        </p:txBody>
      </p:sp>
      <p:sp>
        <p:nvSpPr>
          <p:cNvPr id="8" name="Shape 6"/>
          <p:cNvSpPr/>
          <p:nvPr/>
        </p:nvSpPr>
        <p:spPr>
          <a:xfrm>
            <a:off x="850392" y="2972201"/>
            <a:ext cx="64008" cy="64008"/>
          </a:xfrm>
          <a:prstGeom prst="ellipse">
            <a:avLst/>
          </a:prstGeom>
          <a:solidFill>
            <a:srgbClr val="0F766E"/>
          </a:solidFill>
          <a:ln/>
        </p:spPr>
      </p:sp>
      <p:sp>
        <p:nvSpPr>
          <p:cNvPr id="9" name="Text 7"/>
          <p:cNvSpPr txBox="1"/>
          <p:nvPr/>
        </p:nvSpPr>
        <p:spPr>
          <a:xfrm>
            <a:off x="1005840" y="288264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-meter (L) (-metre)</a:t>
            </a:r>
            <a:r>
              <a:rPr lang="en-US" sz="1700" dirty="0">
                <a:solidFill>
                  <a:srgbClr val="4B5563"/>
                </a:solidFill>
                <a:latin typeface="Calibri" pitchFamily="34" charset="0"/>
                <a:ea typeface="Calibri" pitchFamily="34" charset="-122"/>
                <a:cs typeface="Calibri" pitchFamily="34" charset="-120"/>
              </a:rPr>
              <a:t>: Ölçen alet</a:t>
            </a:r>
            <a:endParaRPr lang="en-US" sz="1700" dirty="0"/>
          </a:p>
        </p:txBody>
      </p:sp>
      <p:sp>
        <p:nvSpPr>
          <p:cNvPr id="10" name="Shape 8"/>
          <p:cNvSpPr/>
          <p:nvPr/>
        </p:nvSpPr>
        <p:spPr>
          <a:xfrm>
            <a:off x="850392" y="3272175"/>
            <a:ext cx="64008" cy="64008"/>
          </a:xfrm>
          <a:prstGeom prst="ellipse">
            <a:avLst/>
          </a:prstGeom>
          <a:solidFill>
            <a:srgbClr val="0F766E"/>
          </a:solidFill>
          <a:ln/>
        </p:spPr>
      </p:sp>
      <p:sp>
        <p:nvSpPr>
          <p:cNvPr id="11" name="Text 9"/>
          <p:cNvSpPr txBox="1"/>
          <p:nvPr/>
        </p:nvSpPr>
        <p:spPr>
          <a:xfrm>
            <a:off x="1005840" y="318262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sphygmomanometer (sfigmomanometre)</a:t>
            </a:r>
            <a:r>
              <a:rPr lang="en-US" sz="1700" dirty="0">
                <a:solidFill>
                  <a:srgbClr val="4B5563"/>
                </a:solidFill>
                <a:latin typeface="Calibri" pitchFamily="34" charset="0"/>
                <a:ea typeface="Calibri" pitchFamily="34" charset="-122"/>
                <a:cs typeface="Calibri" pitchFamily="34" charset="-120"/>
              </a:rPr>
              <a:t>: Kan basıncını ölçen alet</a:t>
            </a:r>
            <a:endParaRPr lang="en-US" sz="1700" dirty="0"/>
          </a:p>
        </p:txBody>
      </p:sp>
      <p:sp>
        <p:nvSpPr>
          <p:cNvPr id="12" name="Shape 10"/>
          <p:cNvSpPr/>
          <p:nvPr/>
        </p:nvSpPr>
        <p:spPr>
          <a:xfrm>
            <a:off x="850392" y="3572149"/>
            <a:ext cx="64008" cy="64008"/>
          </a:xfrm>
          <a:prstGeom prst="ellipse">
            <a:avLst/>
          </a:prstGeom>
          <a:solidFill>
            <a:srgbClr val="0F766E"/>
          </a:solidFill>
          <a:ln/>
        </p:spPr>
      </p:sp>
      <p:sp>
        <p:nvSpPr>
          <p:cNvPr id="13" name="Text 11"/>
          <p:cNvSpPr txBox="1"/>
          <p:nvPr/>
        </p:nvSpPr>
        <p:spPr>
          <a:xfrm>
            <a:off x="1005840" y="348259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densitometer (densitometre)</a:t>
            </a:r>
            <a:r>
              <a:rPr lang="en-US" sz="1700" dirty="0">
                <a:solidFill>
                  <a:srgbClr val="4B5563"/>
                </a:solidFill>
                <a:latin typeface="Calibri" pitchFamily="34" charset="0"/>
                <a:ea typeface="Calibri" pitchFamily="34" charset="-122"/>
                <a:cs typeface="Calibri" pitchFamily="34" charset="-120"/>
              </a:rPr>
              <a:t>: Yoğunluk ölçen alet</a:t>
            </a:r>
            <a:endParaRPr lang="en-US" sz="1700" dirty="0"/>
          </a:p>
        </p:txBody>
      </p:sp>
      <p:sp>
        <p:nvSpPr>
          <p:cNvPr id="14" name="Shape 12"/>
          <p:cNvSpPr/>
          <p:nvPr/>
        </p:nvSpPr>
        <p:spPr>
          <a:xfrm>
            <a:off x="850392" y="3872123"/>
            <a:ext cx="64008" cy="64008"/>
          </a:xfrm>
          <a:prstGeom prst="ellipse">
            <a:avLst/>
          </a:prstGeom>
          <a:solidFill>
            <a:srgbClr val="0F766E"/>
          </a:solidFill>
          <a:ln/>
        </p:spPr>
      </p:sp>
      <p:sp>
        <p:nvSpPr>
          <p:cNvPr id="15" name="Text 13"/>
          <p:cNvSpPr txBox="1"/>
          <p:nvPr/>
        </p:nvSpPr>
        <p:spPr>
          <a:xfrm>
            <a:off x="1005840" y="378256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spirometer (spirometre)</a:t>
            </a:r>
            <a:r>
              <a:rPr lang="en-US" sz="1700" dirty="0">
                <a:solidFill>
                  <a:srgbClr val="4B5563"/>
                </a:solidFill>
                <a:latin typeface="Calibri" pitchFamily="34" charset="0"/>
                <a:ea typeface="Calibri" pitchFamily="34" charset="-122"/>
                <a:cs typeface="Calibri" pitchFamily="34" charset="-120"/>
              </a:rPr>
              <a:t>: Akciğerlere giren ve çıkan hava miktarını ölçen alet</a:t>
            </a:r>
            <a:endParaRPr lang="en-US" sz="1700" dirty="0"/>
          </a:p>
        </p:txBody>
      </p:sp>
      <p:sp>
        <p:nvSpPr>
          <p:cNvPr id="16" name="Shape 14"/>
          <p:cNvSpPr/>
          <p:nvPr/>
        </p:nvSpPr>
        <p:spPr>
          <a:xfrm>
            <a:off x="850392" y="4172097"/>
            <a:ext cx="64008" cy="64008"/>
          </a:xfrm>
          <a:prstGeom prst="ellipse">
            <a:avLst/>
          </a:prstGeom>
          <a:solidFill>
            <a:srgbClr val="0F766E"/>
          </a:solidFill>
          <a:ln/>
        </p:spPr>
      </p:sp>
      <p:sp>
        <p:nvSpPr>
          <p:cNvPr id="17" name="Text 15"/>
          <p:cNvSpPr txBox="1"/>
          <p:nvPr/>
        </p:nvSpPr>
        <p:spPr>
          <a:xfrm>
            <a:off x="1005840" y="408254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audiometer (odyometre)</a:t>
            </a:r>
            <a:r>
              <a:rPr lang="en-US" sz="1700" dirty="0">
                <a:solidFill>
                  <a:srgbClr val="4B5563"/>
                </a:solidFill>
                <a:latin typeface="Calibri" pitchFamily="34" charset="0"/>
                <a:ea typeface="Calibri" pitchFamily="34" charset="-122"/>
                <a:cs typeface="Calibri" pitchFamily="34" charset="-120"/>
              </a:rPr>
              <a:t>: İşitme yeteneğinin derecesini ölçen alet</a:t>
            </a:r>
            <a:endParaRPr lang="en-US" sz="1700" dirty="0"/>
          </a:p>
        </p:txBody>
      </p:sp>
      <p:sp>
        <p:nvSpPr>
          <p:cNvPr id="18" name="Shape 16"/>
          <p:cNvSpPr/>
          <p:nvPr/>
        </p:nvSpPr>
        <p:spPr>
          <a:xfrm>
            <a:off x="548640" y="4611116"/>
            <a:ext cx="11094415" cy="1698244"/>
          </a:xfrm>
          <a:prstGeom prst="roundRect">
            <a:avLst>
              <a:gd name="adj" fmla="val 3769"/>
            </a:avLst>
          </a:prstGeom>
          <a:solidFill>
            <a:srgbClr val="EAF6F4"/>
          </a:solidFill>
          <a:ln/>
        </p:spPr>
      </p:sp>
      <p:sp>
        <p:nvSpPr>
          <p:cNvPr id="19" name="Text 17"/>
          <p:cNvSpPr txBox="1"/>
          <p:nvPr/>
        </p:nvSpPr>
        <p:spPr>
          <a:xfrm>
            <a:off x="731520" y="4675124"/>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1-b)  </a:t>
            </a:r>
            <a:endParaRPr lang="en-US" sz="1800" dirty="0"/>
          </a:p>
        </p:txBody>
      </p:sp>
      <p:sp>
        <p:nvSpPr>
          <p:cNvPr id="20" name="Shape 18"/>
          <p:cNvSpPr/>
          <p:nvPr/>
        </p:nvSpPr>
        <p:spPr>
          <a:xfrm>
            <a:off x="850392" y="5061859"/>
            <a:ext cx="64008" cy="64008"/>
          </a:xfrm>
          <a:prstGeom prst="ellipse">
            <a:avLst/>
          </a:prstGeom>
          <a:solidFill>
            <a:srgbClr val="0F766E"/>
          </a:solidFill>
          <a:ln/>
        </p:spPr>
      </p:sp>
      <p:sp>
        <p:nvSpPr>
          <p:cNvPr id="21" name="Text 19"/>
          <p:cNvSpPr txBox="1"/>
          <p:nvPr/>
        </p:nvSpPr>
        <p:spPr>
          <a:xfrm>
            <a:off x="1005840" y="497230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-metry (İ) (-metri)</a:t>
            </a:r>
            <a:r>
              <a:rPr lang="en-US" sz="1700" dirty="0">
                <a:solidFill>
                  <a:srgbClr val="4B5563"/>
                </a:solidFill>
                <a:latin typeface="Calibri" pitchFamily="34" charset="0"/>
                <a:ea typeface="Calibri" pitchFamily="34" charset="-122"/>
                <a:cs typeface="Calibri" pitchFamily="34" charset="-120"/>
              </a:rPr>
              <a:t>: Ölçme</a:t>
            </a:r>
            <a:endParaRPr lang="en-US" sz="1700" dirty="0"/>
          </a:p>
        </p:txBody>
      </p:sp>
      <p:sp>
        <p:nvSpPr>
          <p:cNvPr id="22" name="Shape 20"/>
          <p:cNvSpPr/>
          <p:nvPr/>
        </p:nvSpPr>
        <p:spPr>
          <a:xfrm>
            <a:off x="850392" y="5361833"/>
            <a:ext cx="64008" cy="64008"/>
          </a:xfrm>
          <a:prstGeom prst="ellipse">
            <a:avLst/>
          </a:prstGeom>
          <a:solidFill>
            <a:srgbClr val="0F766E"/>
          </a:solidFill>
          <a:ln/>
        </p:spPr>
      </p:sp>
      <p:sp>
        <p:nvSpPr>
          <p:cNvPr id="23" name="Text 21"/>
          <p:cNvSpPr txBox="1"/>
          <p:nvPr/>
        </p:nvSpPr>
        <p:spPr>
          <a:xfrm>
            <a:off x="1005840" y="527227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audiometry (odyometri)</a:t>
            </a:r>
            <a:r>
              <a:rPr lang="en-US" sz="1700" dirty="0">
                <a:solidFill>
                  <a:srgbClr val="4B5563"/>
                </a:solidFill>
                <a:latin typeface="Calibri" pitchFamily="34" charset="0"/>
                <a:ea typeface="Calibri" pitchFamily="34" charset="-122"/>
                <a:cs typeface="Calibri" pitchFamily="34" charset="-120"/>
              </a:rPr>
              <a:t>: İşitme yeteneğinin derecesini ölçme</a:t>
            </a:r>
            <a:endParaRPr lang="en-US" sz="1700" dirty="0"/>
          </a:p>
        </p:txBody>
      </p:sp>
      <p:sp>
        <p:nvSpPr>
          <p:cNvPr id="24" name="Shape 22"/>
          <p:cNvSpPr/>
          <p:nvPr/>
        </p:nvSpPr>
        <p:spPr>
          <a:xfrm>
            <a:off x="850392" y="5661807"/>
            <a:ext cx="64008" cy="64008"/>
          </a:xfrm>
          <a:prstGeom prst="ellipse">
            <a:avLst/>
          </a:prstGeom>
          <a:solidFill>
            <a:srgbClr val="0F766E"/>
          </a:solidFill>
          <a:ln/>
        </p:spPr>
      </p:sp>
      <p:sp>
        <p:nvSpPr>
          <p:cNvPr id="25" name="Text 23"/>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spirometry (spirometri)</a:t>
            </a:r>
            <a:r>
              <a:rPr lang="en-US" sz="1700" dirty="0">
                <a:solidFill>
                  <a:srgbClr val="4B5563"/>
                </a:solidFill>
                <a:latin typeface="Calibri" pitchFamily="34" charset="0"/>
                <a:ea typeface="Calibri" pitchFamily="34" charset="-122"/>
                <a:cs typeface="Calibri" pitchFamily="34" charset="-120"/>
              </a:rPr>
              <a:t>: Akciğerlerin nefes alma yeteneğini ölçme</a:t>
            </a:r>
            <a:endParaRPr lang="en-US" sz="1700" dirty="0"/>
          </a:p>
        </p:txBody>
      </p:sp>
      <p:sp>
        <p:nvSpPr>
          <p:cNvPr id="26" name="Shape 24"/>
          <p:cNvSpPr/>
          <p:nvPr/>
        </p:nvSpPr>
        <p:spPr>
          <a:xfrm>
            <a:off x="850392" y="5961781"/>
            <a:ext cx="64008" cy="64008"/>
          </a:xfrm>
          <a:prstGeom prst="ellipse">
            <a:avLst/>
          </a:prstGeom>
          <a:solidFill>
            <a:srgbClr val="0F766E"/>
          </a:solidFill>
          <a:ln/>
        </p:spPr>
      </p:sp>
      <p:sp>
        <p:nvSpPr>
          <p:cNvPr id="27" name="Text 25"/>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dosimetry (dozimetri)</a:t>
            </a:r>
            <a:r>
              <a:rPr lang="en-US" sz="1700" dirty="0">
                <a:solidFill>
                  <a:srgbClr val="4B5563"/>
                </a:solidFill>
                <a:latin typeface="Calibri" pitchFamily="34" charset="0"/>
                <a:ea typeface="Calibri" pitchFamily="34" charset="-122"/>
                <a:cs typeface="Calibri" pitchFamily="34" charset="-120"/>
              </a:rPr>
              <a:t>: Doz ölçümü, ilaç veya ışın dozunun tespiti</a:t>
            </a:r>
            <a:endParaRPr lang="en-US" sz="17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Tıbbi Aletler ve Bu Aletlerin İşlevleriyle İlgili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81</a:t>
            </a:r>
            <a:endParaRPr lang="en-US" sz="1000" dirty="0"/>
          </a:p>
        </p:txBody>
      </p:sp>
      <p:sp>
        <p:nvSpPr>
          <p:cNvPr id="6" name="Shape 4"/>
          <p:cNvSpPr/>
          <p:nvPr/>
        </p:nvSpPr>
        <p:spPr>
          <a:xfrm>
            <a:off x="548640" y="1663700"/>
            <a:ext cx="11094415" cy="1905254"/>
          </a:xfrm>
          <a:prstGeom prst="roundRect">
            <a:avLst>
              <a:gd name="adj" fmla="val 3360"/>
            </a:avLst>
          </a:prstGeom>
          <a:solidFill>
            <a:srgbClr val="EAF6F4"/>
          </a:solidFill>
          <a:ln/>
        </p:spPr>
      </p:sp>
      <p:sp>
        <p:nvSpPr>
          <p:cNvPr id="7" name="Text 5"/>
          <p:cNvSpPr txBox="1"/>
          <p:nvPr/>
        </p:nvSpPr>
        <p:spPr>
          <a:xfrm>
            <a:off x="731520" y="1727708"/>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2-a)  </a:t>
            </a:r>
            <a:endParaRPr lang="en-US" sz="1700" dirty="0"/>
          </a:p>
        </p:txBody>
      </p:sp>
      <p:sp>
        <p:nvSpPr>
          <p:cNvPr id="8" name="Shape 6"/>
          <p:cNvSpPr/>
          <p:nvPr/>
        </p:nvSpPr>
        <p:spPr>
          <a:xfrm>
            <a:off x="850392" y="2093681"/>
            <a:ext cx="64008" cy="64008"/>
          </a:xfrm>
          <a:prstGeom prst="ellipse">
            <a:avLst/>
          </a:prstGeom>
          <a:solidFill>
            <a:srgbClr val="0F766E"/>
          </a:solidFill>
          <a:ln/>
        </p:spPr>
      </p:sp>
      <p:sp>
        <p:nvSpPr>
          <p:cNvPr id="9" name="Text 7"/>
          <p:cNvSpPr txBox="1"/>
          <p:nvPr/>
        </p:nvSpPr>
        <p:spPr>
          <a:xfrm>
            <a:off x="1005840" y="2009394"/>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-graph (G) (-graf)</a:t>
            </a:r>
            <a:r>
              <a:rPr lang="en-US" sz="1600" dirty="0">
                <a:solidFill>
                  <a:srgbClr val="4B5563"/>
                </a:solidFill>
                <a:latin typeface="Calibri" pitchFamily="34" charset="0"/>
                <a:ea typeface="Calibri" pitchFamily="34" charset="-122"/>
                <a:cs typeface="Calibri" pitchFamily="34" charset="-120"/>
              </a:rPr>
              <a:t>: Kaydedici alet</a:t>
            </a:r>
            <a:endParaRPr lang="en-US" sz="1600" dirty="0"/>
          </a:p>
        </p:txBody>
      </p:sp>
      <p:sp>
        <p:nvSpPr>
          <p:cNvPr id="10" name="Shape 8"/>
          <p:cNvSpPr/>
          <p:nvPr/>
        </p:nvSpPr>
        <p:spPr>
          <a:xfrm>
            <a:off x="850392" y="2378161"/>
            <a:ext cx="64008" cy="64008"/>
          </a:xfrm>
          <a:prstGeom prst="ellipse">
            <a:avLst/>
          </a:prstGeom>
          <a:solidFill>
            <a:srgbClr val="0F766E"/>
          </a:solidFill>
          <a:ln/>
        </p:spPr>
      </p:sp>
      <p:sp>
        <p:nvSpPr>
          <p:cNvPr id="11" name="Text 9"/>
          <p:cNvSpPr txBox="1"/>
          <p:nvPr/>
        </p:nvSpPr>
        <p:spPr>
          <a:xfrm>
            <a:off x="1005840" y="2293874"/>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micrograph (mikrograf)</a:t>
            </a:r>
            <a:r>
              <a:rPr lang="en-US" sz="1600" dirty="0">
                <a:solidFill>
                  <a:srgbClr val="4B5563"/>
                </a:solidFill>
                <a:latin typeface="Calibri" pitchFamily="34" charset="0"/>
                <a:ea typeface="Calibri" pitchFamily="34" charset="-122"/>
                <a:cs typeface="Calibri" pitchFamily="34" charset="-120"/>
              </a:rPr>
              <a:t>: Gözle görülmeyecek derecede küçük hareketleri grafik halinde kaydeden alet</a:t>
            </a:r>
            <a:endParaRPr lang="en-US" sz="1600" dirty="0"/>
          </a:p>
        </p:txBody>
      </p:sp>
      <p:sp>
        <p:nvSpPr>
          <p:cNvPr id="12" name="Shape 10"/>
          <p:cNvSpPr/>
          <p:nvPr/>
        </p:nvSpPr>
        <p:spPr>
          <a:xfrm>
            <a:off x="850392" y="2662641"/>
            <a:ext cx="64008" cy="64008"/>
          </a:xfrm>
          <a:prstGeom prst="ellipse">
            <a:avLst/>
          </a:prstGeom>
          <a:solidFill>
            <a:srgbClr val="0F766E"/>
          </a:solidFill>
          <a:ln/>
        </p:spPr>
      </p:sp>
      <p:sp>
        <p:nvSpPr>
          <p:cNvPr id="13" name="Text 11"/>
          <p:cNvSpPr txBox="1"/>
          <p:nvPr/>
        </p:nvSpPr>
        <p:spPr>
          <a:xfrm>
            <a:off x="1005840" y="2578354"/>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eloctrocardiograph (elektrokardiyograf)</a:t>
            </a:r>
            <a:r>
              <a:rPr lang="en-US" sz="1600" dirty="0">
                <a:solidFill>
                  <a:srgbClr val="4B5563"/>
                </a:solidFill>
                <a:latin typeface="Calibri" pitchFamily="34" charset="0"/>
                <a:ea typeface="Calibri" pitchFamily="34" charset="-122"/>
                <a:cs typeface="Calibri" pitchFamily="34" charset="-120"/>
              </a:rPr>
              <a:t>: Kalp kasının faaliyetlerini grafik halinde kaydeden alet</a:t>
            </a:r>
            <a:endParaRPr lang="en-US" sz="1600" dirty="0"/>
          </a:p>
        </p:txBody>
      </p:sp>
      <p:sp>
        <p:nvSpPr>
          <p:cNvPr id="14" name="Shape 12"/>
          <p:cNvSpPr/>
          <p:nvPr/>
        </p:nvSpPr>
        <p:spPr>
          <a:xfrm>
            <a:off x="850392" y="2947121"/>
            <a:ext cx="64008" cy="64008"/>
          </a:xfrm>
          <a:prstGeom prst="ellipse">
            <a:avLst/>
          </a:prstGeom>
          <a:solidFill>
            <a:srgbClr val="0F766E"/>
          </a:solidFill>
          <a:ln/>
        </p:spPr>
      </p:sp>
      <p:sp>
        <p:nvSpPr>
          <p:cNvPr id="15" name="Text 13"/>
          <p:cNvSpPr txBox="1"/>
          <p:nvPr/>
        </p:nvSpPr>
        <p:spPr>
          <a:xfrm>
            <a:off x="1005840" y="2862834"/>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spirograph (spirograf)</a:t>
            </a:r>
            <a:r>
              <a:rPr lang="en-US" sz="1600" dirty="0">
                <a:solidFill>
                  <a:srgbClr val="4B5563"/>
                </a:solidFill>
                <a:latin typeface="Calibri" pitchFamily="34" charset="0"/>
                <a:ea typeface="Calibri" pitchFamily="34" charset="-122"/>
                <a:cs typeface="Calibri" pitchFamily="34" charset="-120"/>
              </a:rPr>
              <a:t>: Solunum hareketini kaydeden alet</a:t>
            </a:r>
            <a:endParaRPr lang="en-US" sz="1600" dirty="0"/>
          </a:p>
        </p:txBody>
      </p:sp>
      <p:sp>
        <p:nvSpPr>
          <p:cNvPr id="16" name="Shape 14"/>
          <p:cNvSpPr/>
          <p:nvPr/>
        </p:nvSpPr>
        <p:spPr>
          <a:xfrm>
            <a:off x="850392" y="3231601"/>
            <a:ext cx="64008" cy="64008"/>
          </a:xfrm>
          <a:prstGeom prst="ellipse">
            <a:avLst/>
          </a:prstGeom>
          <a:solidFill>
            <a:srgbClr val="0F766E"/>
          </a:solidFill>
          <a:ln/>
        </p:spPr>
      </p:sp>
      <p:sp>
        <p:nvSpPr>
          <p:cNvPr id="17" name="Text 15"/>
          <p:cNvSpPr txBox="1"/>
          <p:nvPr/>
        </p:nvSpPr>
        <p:spPr>
          <a:xfrm>
            <a:off x="1005840" y="3147314"/>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sphygmograph (sfigmograf)</a:t>
            </a:r>
            <a:r>
              <a:rPr lang="en-US" sz="1600" dirty="0">
                <a:solidFill>
                  <a:srgbClr val="4B5563"/>
                </a:solidFill>
                <a:latin typeface="Calibri" pitchFamily="34" charset="0"/>
                <a:ea typeface="Calibri" pitchFamily="34" charset="-122"/>
                <a:cs typeface="Calibri" pitchFamily="34" charset="-120"/>
              </a:rPr>
              <a:t>: Nabız dalgalarını çizelge halinde kaydeden alet</a:t>
            </a:r>
            <a:endParaRPr lang="en-US" sz="1600" dirty="0"/>
          </a:p>
        </p:txBody>
      </p:sp>
      <p:sp>
        <p:nvSpPr>
          <p:cNvPr id="18" name="Shape 16"/>
          <p:cNvSpPr/>
          <p:nvPr/>
        </p:nvSpPr>
        <p:spPr>
          <a:xfrm>
            <a:off x="548640" y="3660394"/>
            <a:ext cx="11094415" cy="2648966"/>
          </a:xfrm>
          <a:prstGeom prst="roundRect">
            <a:avLst>
              <a:gd name="adj" fmla="val 2416"/>
            </a:avLst>
          </a:prstGeom>
          <a:solidFill>
            <a:srgbClr val="EAF6F4"/>
          </a:solidFill>
          <a:ln/>
        </p:spPr>
      </p:sp>
      <p:sp>
        <p:nvSpPr>
          <p:cNvPr id="19" name="Text 17"/>
          <p:cNvSpPr txBox="1"/>
          <p:nvPr/>
        </p:nvSpPr>
        <p:spPr>
          <a:xfrm>
            <a:off x="731520" y="3724402"/>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0F766E"/>
                </a:solidFill>
                <a:latin typeface="Calibri" pitchFamily="34" charset="0"/>
                <a:ea typeface="Calibri" pitchFamily="34" charset="-122"/>
                <a:cs typeface="Calibri" pitchFamily="34" charset="-120"/>
              </a:rPr>
              <a:t>2-b)  </a:t>
            </a:r>
            <a:endParaRPr lang="en-US" sz="1700" dirty="0"/>
          </a:p>
        </p:txBody>
      </p:sp>
      <p:sp>
        <p:nvSpPr>
          <p:cNvPr id="20" name="Shape 18"/>
          <p:cNvSpPr/>
          <p:nvPr/>
        </p:nvSpPr>
        <p:spPr>
          <a:xfrm>
            <a:off x="850392" y="4090375"/>
            <a:ext cx="64008" cy="64008"/>
          </a:xfrm>
          <a:prstGeom prst="ellipse">
            <a:avLst/>
          </a:prstGeom>
          <a:solidFill>
            <a:srgbClr val="0F766E"/>
          </a:solidFill>
          <a:ln/>
        </p:spPr>
      </p:sp>
      <p:sp>
        <p:nvSpPr>
          <p:cNvPr id="21" name="Text 19"/>
          <p:cNvSpPr txBox="1"/>
          <p:nvPr/>
        </p:nvSpPr>
        <p:spPr>
          <a:xfrm>
            <a:off x="1005840" y="4006088"/>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-graphy (G) (-grafi)</a:t>
            </a:r>
            <a:r>
              <a:rPr lang="en-US" sz="1600" dirty="0">
                <a:solidFill>
                  <a:srgbClr val="4B5563"/>
                </a:solidFill>
                <a:latin typeface="Calibri" pitchFamily="34" charset="0"/>
                <a:ea typeface="Calibri" pitchFamily="34" charset="-122"/>
                <a:cs typeface="Calibri" pitchFamily="34" charset="-120"/>
              </a:rPr>
              <a:t>: Grafik halinde kaydetme, yazma</a:t>
            </a:r>
            <a:endParaRPr lang="en-US" sz="1600" dirty="0"/>
          </a:p>
        </p:txBody>
      </p:sp>
      <p:sp>
        <p:nvSpPr>
          <p:cNvPr id="22" name="Shape 20"/>
          <p:cNvSpPr/>
          <p:nvPr/>
        </p:nvSpPr>
        <p:spPr>
          <a:xfrm>
            <a:off x="850392" y="4374855"/>
            <a:ext cx="64008" cy="64008"/>
          </a:xfrm>
          <a:prstGeom prst="ellipse">
            <a:avLst/>
          </a:prstGeom>
          <a:solidFill>
            <a:srgbClr val="0F766E"/>
          </a:solidFill>
          <a:ln/>
        </p:spPr>
      </p:sp>
      <p:sp>
        <p:nvSpPr>
          <p:cNvPr id="23" name="Text 21"/>
          <p:cNvSpPr txBox="1"/>
          <p:nvPr/>
        </p:nvSpPr>
        <p:spPr>
          <a:xfrm>
            <a:off x="1005840" y="4290568"/>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eloctrocardiography (elektrokardiyografi)</a:t>
            </a:r>
            <a:r>
              <a:rPr lang="en-US" sz="1600" dirty="0">
                <a:solidFill>
                  <a:srgbClr val="4B5563"/>
                </a:solidFill>
                <a:latin typeface="Calibri" pitchFamily="34" charset="0"/>
                <a:ea typeface="Calibri" pitchFamily="34" charset="-122"/>
                <a:cs typeface="Calibri" pitchFamily="34" charset="-120"/>
              </a:rPr>
              <a:t>: Kalp kasının faaliyetinden oluşan elektrik akımı ve bu akım değişikliğinin grafik şeklin kaydedilmesi</a:t>
            </a:r>
            <a:endParaRPr lang="en-US" sz="1600" dirty="0"/>
          </a:p>
        </p:txBody>
      </p:sp>
      <p:sp>
        <p:nvSpPr>
          <p:cNvPr id="24" name="Shape 22"/>
          <p:cNvSpPr/>
          <p:nvPr/>
        </p:nvSpPr>
        <p:spPr>
          <a:xfrm>
            <a:off x="850392" y="4907239"/>
            <a:ext cx="64008" cy="64008"/>
          </a:xfrm>
          <a:prstGeom prst="ellipse">
            <a:avLst/>
          </a:prstGeom>
          <a:solidFill>
            <a:srgbClr val="0F766E"/>
          </a:solidFill>
          <a:ln/>
        </p:spPr>
      </p:sp>
      <p:sp>
        <p:nvSpPr>
          <p:cNvPr id="25" name="Text 23"/>
          <p:cNvSpPr txBox="1"/>
          <p:nvPr/>
        </p:nvSpPr>
        <p:spPr>
          <a:xfrm>
            <a:off x="1005840" y="4822952"/>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spirography (spirografi)</a:t>
            </a:r>
            <a:r>
              <a:rPr lang="en-US" sz="1600" dirty="0">
                <a:solidFill>
                  <a:srgbClr val="4B5563"/>
                </a:solidFill>
                <a:latin typeface="Calibri" pitchFamily="34" charset="0"/>
                <a:ea typeface="Calibri" pitchFamily="34" charset="-122"/>
                <a:cs typeface="Calibri" pitchFamily="34" charset="-120"/>
              </a:rPr>
              <a:t>: Solunum hareketlerinin spirograf aracılığıyla kaydedilmesi</a:t>
            </a:r>
            <a:endParaRPr lang="en-US" sz="1600" dirty="0"/>
          </a:p>
        </p:txBody>
      </p:sp>
      <p:sp>
        <p:nvSpPr>
          <p:cNvPr id="26" name="Shape 24"/>
          <p:cNvSpPr/>
          <p:nvPr/>
        </p:nvSpPr>
        <p:spPr>
          <a:xfrm>
            <a:off x="850392" y="5191719"/>
            <a:ext cx="64008" cy="64008"/>
          </a:xfrm>
          <a:prstGeom prst="ellipse">
            <a:avLst/>
          </a:prstGeom>
          <a:solidFill>
            <a:srgbClr val="0F766E"/>
          </a:solidFill>
          <a:ln/>
        </p:spPr>
      </p:sp>
      <p:sp>
        <p:nvSpPr>
          <p:cNvPr id="27" name="Text 25"/>
          <p:cNvSpPr txBox="1"/>
          <p:nvPr/>
        </p:nvSpPr>
        <p:spPr>
          <a:xfrm>
            <a:off x="1005840" y="5107432"/>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lienography (liyenografi)</a:t>
            </a:r>
            <a:r>
              <a:rPr lang="en-US" sz="1600" dirty="0">
                <a:solidFill>
                  <a:srgbClr val="4B5563"/>
                </a:solidFill>
                <a:latin typeface="Calibri" pitchFamily="34" charset="0"/>
                <a:ea typeface="Calibri" pitchFamily="34" charset="-122"/>
                <a:cs typeface="Calibri" pitchFamily="34" charset="-120"/>
              </a:rPr>
              <a:t>: Dalak toplardamarlarına radyoopak enjeksiyonundan sonra X ışınları aracılığıyla dalak filminin alınması</a:t>
            </a:r>
            <a:endParaRPr lang="en-US" sz="1600" dirty="0"/>
          </a:p>
        </p:txBody>
      </p:sp>
      <p:sp>
        <p:nvSpPr>
          <p:cNvPr id="28" name="Shape 26"/>
          <p:cNvSpPr/>
          <p:nvPr/>
        </p:nvSpPr>
        <p:spPr>
          <a:xfrm>
            <a:off x="850392" y="5724103"/>
            <a:ext cx="64008" cy="64008"/>
          </a:xfrm>
          <a:prstGeom prst="ellipse">
            <a:avLst/>
          </a:prstGeom>
          <a:solidFill>
            <a:srgbClr val="0F766E"/>
          </a:solidFill>
          <a:ln/>
        </p:spPr>
      </p:sp>
      <p:sp>
        <p:nvSpPr>
          <p:cNvPr id="29" name="Text 27"/>
          <p:cNvSpPr txBox="1"/>
          <p:nvPr/>
        </p:nvSpPr>
        <p:spPr>
          <a:xfrm>
            <a:off x="1005840" y="5639816"/>
            <a:ext cx="10454335" cy="532384"/>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pyelography (piyelografi)</a:t>
            </a:r>
            <a:r>
              <a:rPr lang="en-US" sz="1600" dirty="0">
                <a:solidFill>
                  <a:srgbClr val="4B5563"/>
                </a:solidFill>
                <a:latin typeface="Calibri" pitchFamily="34" charset="0"/>
                <a:ea typeface="Calibri" pitchFamily="34" charset="-122"/>
                <a:cs typeface="Calibri" pitchFamily="34" charset="-120"/>
              </a:rPr>
              <a:t>: Radyoopak maddeyle dolduktan sonra böbrek ve idrar borularının röntgen filmlerinin alınması</a:t>
            </a:r>
            <a:endParaRPr 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Tıbbi Aletler ve Bu Aletlerin İşlevleriyle İlgili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82</a:t>
            </a:r>
            <a:endParaRPr lang="en-US" sz="1000" dirty="0"/>
          </a:p>
        </p:txBody>
      </p:sp>
      <p:sp>
        <p:nvSpPr>
          <p:cNvPr id="6" name="Shape 4"/>
          <p:cNvSpPr/>
          <p:nvPr/>
        </p:nvSpPr>
        <p:spPr>
          <a:xfrm>
            <a:off x="548640" y="1475486"/>
            <a:ext cx="11094415" cy="1719326"/>
          </a:xfrm>
          <a:prstGeom prst="roundRect">
            <a:avLst>
              <a:gd name="adj" fmla="val 3723"/>
            </a:avLst>
          </a:prstGeom>
          <a:solidFill>
            <a:srgbClr val="EAF6F4"/>
          </a:solidFill>
          <a:ln/>
        </p:spPr>
      </p:sp>
      <p:sp>
        <p:nvSpPr>
          <p:cNvPr id="7" name="Text 5"/>
          <p:cNvSpPr txBox="1"/>
          <p:nvPr/>
        </p:nvSpPr>
        <p:spPr>
          <a:xfrm>
            <a:off x="731520" y="153949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2-c)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-gram (G) (-gram)</a:t>
            </a:r>
            <a:r>
              <a:rPr lang="en-US" sz="1400" dirty="0">
                <a:solidFill>
                  <a:srgbClr val="4B5563"/>
                </a:solidFill>
                <a:latin typeface="Calibri" pitchFamily="34" charset="0"/>
                <a:ea typeface="Calibri" pitchFamily="34" charset="-122"/>
                <a:cs typeface="Calibri" pitchFamily="34" charset="-120"/>
              </a:rPr>
              <a:t>: Yazım, döküm, kayıt, elde edilen grafik, çekilen film</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eloctrocardiogram (elektrokardiyogram)</a:t>
            </a:r>
            <a:r>
              <a:rPr lang="en-US" sz="1400" dirty="0">
                <a:solidFill>
                  <a:srgbClr val="4B5563"/>
                </a:solidFill>
                <a:latin typeface="Calibri" pitchFamily="34" charset="0"/>
                <a:ea typeface="Calibri" pitchFamily="34" charset="-122"/>
                <a:cs typeface="Calibri" pitchFamily="34" charset="-120"/>
              </a:rPr>
              <a:t>: Kalbin elektrikseldeğişimlerinin kaydedildiği kağıt</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spirogram (spirogram)</a:t>
            </a:r>
            <a:r>
              <a:rPr lang="en-US" sz="1400" dirty="0">
                <a:solidFill>
                  <a:srgbClr val="4B5563"/>
                </a:solidFill>
                <a:latin typeface="Calibri" pitchFamily="34" charset="0"/>
                <a:ea typeface="Calibri" pitchFamily="34" charset="-122"/>
                <a:cs typeface="Calibri" pitchFamily="34" charset="-120"/>
              </a:rPr>
              <a:t>: Solunum hareketlerinin grafiği (dökümü)</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hemogram (hemogram)</a:t>
            </a:r>
            <a:r>
              <a:rPr lang="en-US" sz="1400" dirty="0">
                <a:solidFill>
                  <a:srgbClr val="4B5563"/>
                </a:solidFill>
                <a:latin typeface="Calibri" pitchFamily="34" charset="0"/>
                <a:ea typeface="Calibri" pitchFamily="34" charset="-122"/>
                <a:cs typeface="Calibri" pitchFamily="34" charset="-120"/>
              </a:rPr>
              <a:t>: Kanı oluşturan maddeleri gösteren cetvel</a:t>
            </a:r>
            <a:endParaRPr lang="en-US" sz="1400" dirty="0"/>
          </a:p>
        </p:txBody>
      </p:sp>
      <p:sp>
        <p:nvSpPr>
          <p:cNvPr id="16" name="Shape 14"/>
          <p:cNvSpPr/>
          <p:nvPr/>
        </p:nvSpPr>
        <p:spPr>
          <a:xfrm>
            <a:off x="850392" y="2877911"/>
            <a:ext cx="64008" cy="64008"/>
          </a:xfrm>
          <a:prstGeom prst="ellipse">
            <a:avLst/>
          </a:prstGeom>
          <a:solidFill>
            <a:srgbClr val="0F766E"/>
          </a:solidFill>
          <a:ln/>
        </p:spPr>
      </p:sp>
      <p:sp>
        <p:nvSpPr>
          <p:cNvPr id="17" name="Text 15"/>
          <p:cNvSpPr txBox="1"/>
          <p:nvPr/>
        </p:nvSpPr>
        <p:spPr>
          <a:xfrm>
            <a:off x="1005840" y="28041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hepatogram (hepatogram)</a:t>
            </a:r>
            <a:r>
              <a:rPr lang="en-US" sz="1400" dirty="0">
                <a:solidFill>
                  <a:srgbClr val="4B5563"/>
                </a:solidFill>
                <a:latin typeface="Calibri" pitchFamily="34" charset="0"/>
                <a:ea typeface="Calibri" pitchFamily="34" charset="-122"/>
                <a:cs typeface="Calibri" pitchFamily="34" charset="-120"/>
              </a:rPr>
              <a:t>: Karaciğer filmi</a:t>
            </a:r>
            <a:endParaRPr lang="en-US" sz="1400" dirty="0"/>
          </a:p>
        </p:txBody>
      </p:sp>
      <p:sp>
        <p:nvSpPr>
          <p:cNvPr id="18" name="Shape 16"/>
          <p:cNvSpPr/>
          <p:nvPr/>
        </p:nvSpPr>
        <p:spPr>
          <a:xfrm>
            <a:off x="548640" y="3286252"/>
            <a:ext cx="11094415" cy="1465834"/>
          </a:xfrm>
          <a:prstGeom prst="roundRect">
            <a:avLst>
              <a:gd name="adj" fmla="val 4367"/>
            </a:avLst>
          </a:prstGeom>
          <a:solidFill>
            <a:srgbClr val="EAF6F4"/>
          </a:solidFill>
          <a:ln/>
        </p:spPr>
      </p:sp>
      <p:sp>
        <p:nvSpPr>
          <p:cNvPr id="19" name="Text 17"/>
          <p:cNvSpPr txBox="1"/>
          <p:nvPr/>
        </p:nvSpPr>
        <p:spPr>
          <a:xfrm>
            <a:off x="731520" y="335026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3-a)  </a:t>
            </a:r>
            <a:endParaRPr lang="en-US" sz="15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-scope (İ) (-skop)</a:t>
            </a:r>
            <a:r>
              <a:rPr lang="en-US" sz="1400" dirty="0">
                <a:solidFill>
                  <a:srgbClr val="4B5563"/>
                </a:solidFill>
                <a:latin typeface="Calibri" pitchFamily="34" charset="0"/>
                <a:ea typeface="Calibri" pitchFamily="34" charset="-122"/>
                <a:cs typeface="Calibri" pitchFamily="34" charset="-120"/>
              </a:rPr>
              <a:t>: İnceleme aracı</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gastroscope (gastroskop)</a:t>
            </a:r>
            <a:r>
              <a:rPr lang="en-US" sz="1400" dirty="0">
                <a:solidFill>
                  <a:srgbClr val="4B5563"/>
                </a:solidFill>
                <a:latin typeface="Calibri" pitchFamily="34" charset="0"/>
                <a:ea typeface="Calibri" pitchFamily="34" charset="-122"/>
                <a:cs typeface="Calibri" pitchFamily="34" charset="-120"/>
              </a:rPr>
              <a:t>: Mideyi incelemede kullanılan alet</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stethoscope (stetoskop)</a:t>
            </a:r>
            <a:r>
              <a:rPr lang="en-US" sz="1400" dirty="0">
                <a:solidFill>
                  <a:srgbClr val="4B5563"/>
                </a:solidFill>
                <a:latin typeface="Calibri" pitchFamily="34" charset="0"/>
                <a:ea typeface="Calibri" pitchFamily="34" charset="-122"/>
                <a:cs typeface="Calibri" pitchFamily="34" charset="-120"/>
              </a:rPr>
              <a:t>: Göğüs boşluğundaki organları dinlemede kullanılan alet</a:t>
            </a:r>
            <a:endParaRPr lang="en-US" sz="1400" dirty="0"/>
          </a:p>
        </p:txBody>
      </p:sp>
      <p:sp>
        <p:nvSpPr>
          <p:cNvPr id="26" name="Shape 24"/>
          <p:cNvSpPr/>
          <p:nvPr/>
        </p:nvSpPr>
        <p:spPr>
          <a:xfrm>
            <a:off x="850392" y="4435185"/>
            <a:ext cx="64008" cy="64008"/>
          </a:xfrm>
          <a:prstGeom prst="ellipse">
            <a:avLst/>
          </a:prstGeom>
          <a:solidFill>
            <a:srgbClr val="0F766E"/>
          </a:solidFill>
          <a:ln/>
        </p:spPr>
      </p:sp>
      <p:sp>
        <p:nvSpPr>
          <p:cNvPr id="27" name="Text 25"/>
          <p:cNvSpPr txBox="1"/>
          <p:nvPr/>
        </p:nvSpPr>
        <p:spPr>
          <a:xfrm>
            <a:off x="1005840" y="43614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tracheoscope (trakeoskop)</a:t>
            </a:r>
            <a:r>
              <a:rPr lang="en-US" sz="1400" dirty="0">
                <a:solidFill>
                  <a:srgbClr val="4B5563"/>
                </a:solidFill>
                <a:latin typeface="Calibri" pitchFamily="34" charset="0"/>
                <a:ea typeface="Calibri" pitchFamily="34" charset="-122"/>
                <a:cs typeface="Calibri" pitchFamily="34" charset="-120"/>
              </a:rPr>
              <a:t>: Nefes borusunu incelemede kullanılan alet</a:t>
            </a:r>
            <a:endParaRPr lang="en-US" sz="1400" dirty="0"/>
          </a:p>
        </p:txBody>
      </p:sp>
      <p:sp>
        <p:nvSpPr>
          <p:cNvPr id="28" name="Shape 26"/>
          <p:cNvSpPr/>
          <p:nvPr/>
        </p:nvSpPr>
        <p:spPr>
          <a:xfrm>
            <a:off x="548640" y="4843526"/>
            <a:ext cx="11094415" cy="1465834"/>
          </a:xfrm>
          <a:prstGeom prst="roundRect">
            <a:avLst>
              <a:gd name="adj" fmla="val 4367"/>
            </a:avLst>
          </a:prstGeom>
          <a:solidFill>
            <a:srgbClr val="EAF6F4"/>
          </a:solidFill>
          <a:ln/>
        </p:spPr>
      </p:sp>
      <p:sp>
        <p:nvSpPr>
          <p:cNvPr id="29" name="Text 27"/>
          <p:cNvSpPr txBox="1"/>
          <p:nvPr/>
        </p:nvSpPr>
        <p:spPr>
          <a:xfrm>
            <a:off x="731520" y="490753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3-b)  </a:t>
            </a:r>
            <a:endParaRPr lang="en-US" sz="15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-scopy (İ) (-skopi)</a:t>
            </a:r>
            <a:r>
              <a:rPr lang="en-US" sz="1400" dirty="0">
                <a:solidFill>
                  <a:srgbClr val="4B5563"/>
                </a:solidFill>
                <a:latin typeface="Calibri" pitchFamily="34" charset="0"/>
                <a:ea typeface="Calibri" pitchFamily="34" charset="-122"/>
                <a:cs typeface="Calibri" pitchFamily="34" charset="-120"/>
              </a:rPr>
              <a:t>: Araçla inceleme</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gastroscopy (gastroskopi)</a:t>
            </a:r>
            <a:r>
              <a:rPr lang="en-US" sz="1400" dirty="0">
                <a:solidFill>
                  <a:srgbClr val="4B5563"/>
                </a:solidFill>
                <a:latin typeface="Calibri" pitchFamily="34" charset="0"/>
                <a:ea typeface="Calibri" pitchFamily="34" charset="-122"/>
                <a:cs typeface="Calibri" pitchFamily="34" charset="-120"/>
              </a:rPr>
              <a:t>: Mideyi gastroskop ile inceleme</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endoscopy (endoskopi)</a:t>
            </a:r>
            <a:r>
              <a:rPr lang="en-US" sz="1400" dirty="0">
                <a:solidFill>
                  <a:srgbClr val="4B5563"/>
                </a:solidFill>
                <a:latin typeface="Calibri" pitchFamily="34" charset="0"/>
                <a:ea typeface="Calibri" pitchFamily="34" charset="-122"/>
                <a:cs typeface="Calibri" pitchFamily="34" charset="-120"/>
              </a:rPr>
              <a:t>: Vücut içinin alet ile incelenmesi</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pharyngoscopy (faringoskopi)</a:t>
            </a:r>
            <a:r>
              <a:rPr lang="en-US" sz="1400" dirty="0">
                <a:solidFill>
                  <a:srgbClr val="4B5563"/>
                </a:solidFill>
                <a:latin typeface="Calibri" pitchFamily="34" charset="0"/>
                <a:ea typeface="Calibri" pitchFamily="34" charset="-122"/>
                <a:cs typeface="Calibri" pitchFamily="34" charset="-120"/>
              </a:rPr>
              <a:t>: Yutağın faringoskop ile incelenmesi</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Tıbbi Aletler ve Bu Aletlerin İşlevleriyle İlgili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83</a:t>
            </a:r>
            <a:endParaRPr lang="en-US" sz="1000" dirty="0"/>
          </a:p>
        </p:txBody>
      </p:sp>
      <p:sp>
        <p:nvSpPr>
          <p:cNvPr id="6" name="Shape 4"/>
          <p:cNvSpPr/>
          <p:nvPr/>
        </p:nvSpPr>
        <p:spPr>
          <a:xfrm>
            <a:off x="548640" y="1984756"/>
            <a:ext cx="5410048" cy="1682750"/>
          </a:xfrm>
          <a:prstGeom prst="roundRect">
            <a:avLst>
              <a:gd name="adj" fmla="val 3804"/>
            </a:avLst>
          </a:prstGeom>
          <a:solidFill>
            <a:srgbClr val="EAF6F4"/>
          </a:solidFill>
          <a:ln/>
        </p:spPr>
      </p:sp>
      <p:sp>
        <p:nvSpPr>
          <p:cNvPr id="7" name="Text 5"/>
          <p:cNvSpPr txBox="1"/>
          <p:nvPr/>
        </p:nvSpPr>
        <p:spPr>
          <a:xfrm>
            <a:off x="731520" y="204876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4-a)  </a:t>
            </a:r>
            <a:endParaRPr lang="en-US" sz="1500" dirty="0"/>
          </a:p>
        </p:txBody>
      </p:sp>
      <p:sp>
        <p:nvSpPr>
          <p:cNvPr id="8" name="Shape 6"/>
          <p:cNvSpPr/>
          <p:nvPr/>
        </p:nvSpPr>
        <p:spPr>
          <a:xfrm>
            <a:off x="850392" y="2373213"/>
            <a:ext cx="64008" cy="64008"/>
          </a:xfrm>
          <a:prstGeom prst="ellipse">
            <a:avLst/>
          </a:prstGeom>
          <a:solidFill>
            <a:srgbClr val="0F766E"/>
          </a:solidFill>
          <a:ln/>
        </p:spPr>
      </p:sp>
      <p:sp>
        <p:nvSpPr>
          <p:cNvPr id="9" name="Text 7"/>
          <p:cNvSpPr txBox="1"/>
          <p:nvPr/>
        </p:nvSpPr>
        <p:spPr>
          <a:xfrm>
            <a:off x="1005840" y="229946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-tome (İ) (-tom), tomea (G)</a:t>
            </a:r>
            <a:r>
              <a:rPr lang="en-US" sz="1400" dirty="0">
                <a:solidFill>
                  <a:srgbClr val="4B5563"/>
                </a:solidFill>
                <a:latin typeface="Calibri" pitchFamily="34" charset="0"/>
                <a:ea typeface="Calibri" pitchFamily="34" charset="-122"/>
                <a:cs typeface="Calibri" pitchFamily="34" charset="-120"/>
              </a:rPr>
              <a:t>: Kesme aracı</a:t>
            </a:r>
            <a:endParaRPr lang="en-US" sz="1400" dirty="0"/>
          </a:p>
        </p:txBody>
      </p:sp>
      <p:sp>
        <p:nvSpPr>
          <p:cNvPr id="10" name="Shape 8"/>
          <p:cNvSpPr/>
          <p:nvPr/>
        </p:nvSpPr>
        <p:spPr>
          <a:xfrm>
            <a:off x="850392" y="2626705"/>
            <a:ext cx="64008" cy="64008"/>
          </a:xfrm>
          <a:prstGeom prst="ellipse">
            <a:avLst/>
          </a:prstGeom>
          <a:solidFill>
            <a:srgbClr val="0F766E"/>
          </a:solidFill>
          <a:ln/>
        </p:spPr>
      </p:sp>
      <p:sp>
        <p:nvSpPr>
          <p:cNvPr id="11" name="Text 9"/>
          <p:cNvSpPr txBox="1"/>
          <p:nvPr/>
        </p:nvSpPr>
        <p:spPr>
          <a:xfrm>
            <a:off x="1005840" y="255295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myotome (miyotom)</a:t>
            </a:r>
            <a:r>
              <a:rPr lang="en-US" sz="1400" dirty="0">
                <a:solidFill>
                  <a:srgbClr val="4B5563"/>
                </a:solidFill>
                <a:latin typeface="Calibri" pitchFamily="34" charset="0"/>
                <a:ea typeface="Calibri" pitchFamily="34" charset="-122"/>
                <a:cs typeface="Calibri" pitchFamily="34" charset="-120"/>
              </a:rPr>
              <a:t>: Kas kesme aleti</a:t>
            </a:r>
            <a:endParaRPr lang="en-US" sz="1400" dirty="0"/>
          </a:p>
        </p:txBody>
      </p:sp>
      <p:sp>
        <p:nvSpPr>
          <p:cNvPr id="12" name="Shape 10"/>
          <p:cNvSpPr/>
          <p:nvPr/>
        </p:nvSpPr>
        <p:spPr>
          <a:xfrm>
            <a:off x="850392" y="2880197"/>
            <a:ext cx="64008" cy="64008"/>
          </a:xfrm>
          <a:prstGeom prst="ellipse">
            <a:avLst/>
          </a:prstGeom>
          <a:solidFill>
            <a:srgbClr val="0F766E"/>
          </a:solidFill>
          <a:ln/>
        </p:spPr>
      </p:sp>
      <p:sp>
        <p:nvSpPr>
          <p:cNvPr id="13" name="Text 11"/>
          <p:cNvSpPr txBox="1"/>
          <p:nvPr/>
        </p:nvSpPr>
        <p:spPr>
          <a:xfrm>
            <a:off x="1005840" y="280644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osteotome (osteotom)</a:t>
            </a:r>
            <a:r>
              <a:rPr lang="en-US" sz="1400" dirty="0">
                <a:solidFill>
                  <a:srgbClr val="4B5563"/>
                </a:solidFill>
                <a:latin typeface="Calibri" pitchFamily="34" charset="0"/>
                <a:ea typeface="Calibri" pitchFamily="34" charset="-122"/>
                <a:cs typeface="Calibri" pitchFamily="34" charset="-120"/>
              </a:rPr>
              <a:t>: Kemik kesme aleti</a:t>
            </a:r>
            <a:endParaRPr lang="en-US" sz="1400" dirty="0"/>
          </a:p>
        </p:txBody>
      </p:sp>
      <p:sp>
        <p:nvSpPr>
          <p:cNvPr id="14" name="Shape 12"/>
          <p:cNvSpPr/>
          <p:nvPr/>
        </p:nvSpPr>
        <p:spPr>
          <a:xfrm>
            <a:off x="850392" y="3133689"/>
            <a:ext cx="64008" cy="64008"/>
          </a:xfrm>
          <a:prstGeom prst="ellipse">
            <a:avLst/>
          </a:prstGeom>
          <a:solidFill>
            <a:srgbClr val="0F766E"/>
          </a:solidFill>
          <a:ln/>
        </p:spPr>
      </p:sp>
      <p:sp>
        <p:nvSpPr>
          <p:cNvPr id="15" name="Text 13"/>
          <p:cNvSpPr txBox="1"/>
          <p:nvPr/>
        </p:nvSpPr>
        <p:spPr>
          <a:xfrm>
            <a:off x="1005840" y="305993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phlebotome (flebotom)</a:t>
            </a:r>
            <a:r>
              <a:rPr lang="en-US" sz="1400" dirty="0">
                <a:solidFill>
                  <a:srgbClr val="4B5563"/>
                </a:solidFill>
                <a:latin typeface="Calibri" pitchFamily="34" charset="0"/>
                <a:ea typeface="Calibri" pitchFamily="34" charset="-122"/>
                <a:cs typeface="Calibri" pitchFamily="34" charset="-120"/>
              </a:rPr>
              <a:t>: Toplardamarları açmakta kullanılan alet</a:t>
            </a:r>
            <a:endParaRPr lang="en-US" sz="1400" dirty="0"/>
          </a:p>
        </p:txBody>
      </p:sp>
      <p:sp>
        <p:nvSpPr>
          <p:cNvPr id="16" name="Shape 14"/>
          <p:cNvSpPr/>
          <p:nvPr/>
        </p:nvSpPr>
        <p:spPr>
          <a:xfrm>
            <a:off x="548640" y="3758946"/>
            <a:ext cx="5410048" cy="1899666"/>
          </a:xfrm>
          <a:prstGeom prst="roundRect">
            <a:avLst>
              <a:gd name="adj" fmla="val 3369"/>
            </a:avLst>
          </a:prstGeom>
          <a:solidFill>
            <a:srgbClr val="EAF6F4"/>
          </a:solidFill>
          <a:ln/>
        </p:spPr>
      </p:sp>
      <p:sp>
        <p:nvSpPr>
          <p:cNvPr id="17" name="Text 15"/>
          <p:cNvSpPr txBox="1"/>
          <p:nvPr/>
        </p:nvSpPr>
        <p:spPr>
          <a:xfrm>
            <a:off x="731520" y="382295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4-b)  </a:t>
            </a:r>
            <a:endParaRPr lang="en-US" sz="1500" dirty="0"/>
          </a:p>
        </p:txBody>
      </p:sp>
      <p:sp>
        <p:nvSpPr>
          <p:cNvPr id="18" name="Shape 16"/>
          <p:cNvSpPr/>
          <p:nvPr/>
        </p:nvSpPr>
        <p:spPr>
          <a:xfrm>
            <a:off x="850392" y="4147403"/>
            <a:ext cx="64008" cy="64008"/>
          </a:xfrm>
          <a:prstGeom prst="ellipse">
            <a:avLst/>
          </a:prstGeom>
          <a:solidFill>
            <a:srgbClr val="0F766E"/>
          </a:solidFill>
          <a:ln/>
        </p:spPr>
      </p:sp>
      <p:sp>
        <p:nvSpPr>
          <p:cNvPr id="19" name="Text 17"/>
          <p:cNvSpPr txBox="1"/>
          <p:nvPr/>
        </p:nvSpPr>
        <p:spPr>
          <a:xfrm>
            <a:off x="1005840" y="407365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-tomy (İ) (-tomi)</a:t>
            </a:r>
            <a:r>
              <a:rPr lang="en-US" sz="1400" dirty="0">
                <a:solidFill>
                  <a:srgbClr val="4B5563"/>
                </a:solidFill>
                <a:latin typeface="Calibri" pitchFamily="34" charset="0"/>
                <a:ea typeface="Calibri" pitchFamily="34" charset="-122"/>
                <a:cs typeface="Calibri" pitchFamily="34" charset="-120"/>
              </a:rPr>
              <a:t>: Kesme, ameliyat</a:t>
            </a:r>
            <a:endParaRPr lang="en-US" sz="1400" dirty="0"/>
          </a:p>
        </p:txBody>
      </p:sp>
      <p:sp>
        <p:nvSpPr>
          <p:cNvPr id="20" name="Shape 18"/>
          <p:cNvSpPr/>
          <p:nvPr/>
        </p:nvSpPr>
        <p:spPr>
          <a:xfrm>
            <a:off x="850392" y="4400895"/>
            <a:ext cx="64008" cy="64008"/>
          </a:xfrm>
          <a:prstGeom prst="ellipse">
            <a:avLst/>
          </a:prstGeom>
          <a:solidFill>
            <a:srgbClr val="0F766E"/>
          </a:solidFill>
          <a:ln/>
        </p:spPr>
      </p:sp>
      <p:sp>
        <p:nvSpPr>
          <p:cNvPr id="21" name="Text 19"/>
          <p:cNvSpPr txBox="1"/>
          <p:nvPr/>
        </p:nvSpPr>
        <p:spPr>
          <a:xfrm>
            <a:off x="1005840" y="432714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nephrotomy (nefrotomi)</a:t>
            </a:r>
            <a:r>
              <a:rPr lang="en-US" sz="1400" dirty="0">
                <a:solidFill>
                  <a:srgbClr val="4B5563"/>
                </a:solidFill>
                <a:latin typeface="Calibri" pitchFamily="34" charset="0"/>
                <a:ea typeface="Calibri" pitchFamily="34" charset="-122"/>
                <a:cs typeface="Calibri" pitchFamily="34" charset="-120"/>
              </a:rPr>
              <a:t>: Böbreğin açılarak operasyon yapılması</a:t>
            </a:r>
            <a:endParaRPr lang="en-US" sz="1400" dirty="0"/>
          </a:p>
        </p:txBody>
      </p:sp>
      <p:sp>
        <p:nvSpPr>
          <p:cNvPr id="22" name="Shape 20"/>
          <p:cNvSpPr/>
          <p:nvPr/>
        </p:nvSpPr>
        <p:spPr>
          <a:xfrm>
            <a:off x="850392" y="4871303"/>
            <a:ext cx="64008" cy="64008"/>
          </a:xfrm>
          <a:prstGeom prst="ellipse">
            <a:avLst/>
          </a:prstGeom>
          <a:solidFill>
            <a:srgbClr val="0F766E"/>
          </a:solidFill>
          <a:ln/>
        </p:spPr>
      </p:sp>
      <p:sp>
        <p:nvSpPr>
          <p:cNvPr id="23" name="Text 21"/>
          <p:cNvSpPr txBox="1"/>
          <p:nvPr/>
        </p:nvSpPr>
        <p:spPr>
          <a:xfrm>
            <a:off x="1005840" y="479755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cystotomy (sistotomi)</a:t>
            </a:r>
            <a:r>
              <a:rPr lang="en-US" sz="1400" dirty="0">
                <a:solidFill>
                  <a:srgbClr val="4B5563"/>
                </a:solidFill>
                <a:latin typeface="Calibri" pitchFamily="34" charset="0"/>
                <a:ea typeface="Calibri" pitchFamily="34" charset="-122"/>
                <a:cs typeface="Calibri" pitchFamily="34" charset="-120"/>
              </a:rPr>
              <a:t>: İdrar kesesinin açılarak operasyon yapılması</a:t>
            </a:r>
            <a:endParaRPr lang="en-US" sz="1400" dirty="0"/>
          </a:p>
        </p:txBody>
      </p:sp>
      <p:sp>
        <p:nvSpPr>
          <p:cNvPr id="24" name="Shape 22"/>
          <p:cNvSpPr/>
          <p:nvPr/>
        </p:nvSpPr>
        <p:spPr>
          <a:xfrm>
            <a:off x="850392" y="5341711"/>
            <a:ext cx="64008" cy="64008"/>
          </a:xfrm>
          <a:prstGeom prst="ellipse">
            <a:avLst/>
          </a:prstGeom>
          <a:solidFill>
            <a:srgbClr val="0F766E"/>
          </a:solidFill>
          <a:ln/>
        </p:spPr>
      </p:sp>
      <p:sp>
        <p:nvSpPr>
          <p:cNvPr id="25" name="Text 23"/>
          <p:cNvSpPr txBox="1"/>
          <p:nvPr/>
        </p:nvSpPr>
        <p:spPr>
          <a:xfrm>
            <a:off x="1005840" y="526796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enterotomy (enterotomi)</a:t>
            </a:r>
            <a:r>
              <a:rPr lang="en-US" sz="1400" dirty="0">
                <a:solidFill>
                  <a:srgbClr val="4B5563"/>
                </a:solidFill>
                <a:latin typeface="Calibri" pitchFamily="34" charset="0"/>
                <a:ea typeface="Calibri" pitchFamily="34" charset="-122"/>
                <a:cs typeface="Calibri" pitchFamily="34" charset="-120"/>
              </a:rPr>
              <a:t>: Kesit yaparak bağırsağı açma</a:t>
            </a:r>
            <a:endParaRPr lang="en-US" sz="1400" dirty="0"/>
          </a:p>
        </p:txBody>
      </p:sp>
      <p:sp>
        <p:nvSpPr>
          <p:cNvPr id="26" name="Shape 24"/>
          <p:cNvSpPr/>
          <p:nvPr/>
        </p:nvSpPr>
        <p:spPr>
          <a:xfrm>
            <a:off x="6233008" y="1984756"/>
            <a:ext cx="5410048" cy="1682750"/>
          </a:xfrm>
          <a:prstGeom prst="roundRect">
            <a:avLst>
              <a:gd name="adj" fmla="val 3804"/>
            </a:avLst>
          </a:prstGeom>
          <a:solidFill>
            <a:srgbClr val="EAF6F4"/>
          </a:solidFill>
          <a:ln/>
        </p:spPr>
      </p:sp>
      <p:sp>
        <p:nvSpPr>
          <p:cNvPr id="27" name="Text 25"/>
          <p:cNvSpPr txBox="1"/>
          <p:nvPr/>
        </p:nvSpPr>
        <p:spPr>
          <a:xfrm>
            <a:off x="6415888" y="204876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4-c)  </a:t>
            </a:r>
            <a:endParaRPr lang="en-US" sz="1500" dirty="0"/>
          </a:p>
        </p:txBody>
      </p:sp>
      <p:sp>
        <p:nvSpPr>
          <p:cNvPr id="28" name="Shape 26"/>
          <p:cNvSpPr/>
          <p:nvPr/>
        </p:nvSpPr>
        <p:spPr>
          <a:xfrm>
            <a:off x="6534760" y="2373213"/>
            <a:ext cx="64008" cy="64008"/>
          </a:xfrm>
          <a:prstGeom prst="ellipse">
            <a:avLst/>
          </a:prstGeom>
          <a:solidFill>
            <a:srgbClr val="0F766E"/>
          </a:solidFill>
          <a:ln/>
        </p:spPr>
      </p:sp>
      <p:sp>
        <p:nvSpPr>
          <p:cNvPr id="29" name="Text 27"/>
          <p:cNvSpPr txBox="1"/>
          <p:nvPr/>
        </p:nvSpPr>
        <p:spPr>
          <a:xfrm>
            <a:off x="6690208" y="229946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-ectomy (İ) (ektomi), ektome (G)</a:t>
            </a:r>
            <a:r>
              <a:rPr lang="en-US" sz="1400" dirty="0">
                <a:solidFill>
                  <a:srgbClr val="4B5563"/>
                </a:solidFill>
                <a:latin typeface="Calibri" pitchFamily="34" charset="0"/>
                <a:ea typeface="Calibri" pitchFamily="34" charset="-122"/>
                <a:cs typeface="Calibri" pitchFamily="34" charset="-120"/>
              </a:rPr>
              <a:t>: Kesip çıkarma</a:t>
            </a:r>
            <a:endParaRPr lang="en-US" sz="1400" dirty="0"/>
          </a:p>
        </p:txBody>
      </p:sp>
      <p:sp>
        <p:nvSpPr>
          <p:cNvPr id="30" name="Shape 28"/>
          <p:cNvSpPr/>
          <p:nvPr/>
        </p:nvSpPr>
        <p:spPr>
          <a:xfrm>
            <a:off x="6534760" y="2626705"/>
            <a:ext cx="64008" cy="64008"/>
          </a:xfrm>
          <a:prstGeom prst="ellipse">
            <a:avLst/>
          </a:prstGeom>
          <a:solidFill>
            <a:srgbClr val="0F766E"/>
          </a:solidFill>
          <a:ln/>
        </p:spPr>
      </p:sp>
      <p:sp>
        <p:nvSpPr>
          <p:cNvPr id="31" name="Text 29"/>
          <p:cNvSpPr txBox="1"/>
          <p:nvPr/>
        </p:nvSpPr>
        <p:spPr>
          <a:xfrm>
            <a:off x="6690208" y="255295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nephrectomy (nefrektomi)</a:t>
            </a:r>
            <a:r>
              <a:rPr lang="en-US" sz="1400" dirty="0">
                <a:solidFill>
                  <a:srgbClr val="4B5563"/>
                </a:solidFill>
                <a:latin typeface="Calibri" pitchFamily="34" charset="0"/>
                <a:ea typeface="Calibri" pitchFamily="34" charset="-122"/>
                <a:cs typeface="Calibri" pitchFamily="34" charset="-120"/>
              </a:rPr>
              <a:t>: Böbreğin çıkarılması</a:t>
            </a:r>
            <a:endParaRPr lang="en-US" sz="1400" dirty="0"/>
          </a:p>
        </p:txBody>
      </p:sp>
      <p:sp>
        <p:nvSpPr>
          <p:cNvPr id="32" name="Shape 30"/>
          <p:cNvSpPr/>
          <p:nvPr/>
        </p:nvSpPr>
        <p:spPr>
          <a:xfrm>
            <a:off x="6534760" y="2880197"/>
            <a:ext cx="64008" cy="64008"/>
          </a:xfrm>
          <a:prstGeom prst="ellipse">
            <a:avLst/>
          </a:prstGeom>
          <a:solidFill>
            <a:srgbClr val="0F766E"/>
          </a:solidFill>
          <a:ln/>
        </p:spPr>
      </p:sp>
      <p:sp>
        <p:nvSpPr>
          <p:cNvPr id="33" name="Text 31"/>
          <p:cNvSpPr txBox="1"/>
          <p:nvPr/>
        </p:nvSpPr>
        <p:spPr>
          <a:xfrm>
            <a:off x="6690208" y="280644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cystectomy (sistektomi)</a:t>
            </a:r>
            <a:r>
              <a:rPr lang="en-US" sz="1400" dirty="0">
                <a:solidFill>
                  <a:srgbClr val="4B5563"/>
                </a:solidFill>
                <a:latin typeface="Calibri" pitchFamily="34" charset="0"/>
                <a:ea typeface="Calibri" pitchFamily="34" charset="-122"/>
                <a:cs typeface="Calibri" pitchFamily="34" charset="-120"/>
              </a:rPr>
              <a:t>: İdrar kesesinin çıkarılması</a:t>
            </a:r>
            <a:endParaRPr lang="en-US" sz="1400" dirty="0"/>
          </a:p>
        </p:txBody>
      </p:sp>
      <p:sp>
        <p:nvSpPr>
          <p:cNvPr id="34" name="Shape 32"/>
          <p:cNvSpPr/>
          <p:nvPr/>
        </p:nvSpPr>
        <p:spPr>
          <a:xfrm>
            <a:off x="6534760" y="3133689"/>
            <a:ext cx="64008" cy="64008"/>
          </a:xfrm>
          <a:prstGeom prst="ellipse">
            <a:avLst/>
          </a:prstGeom>
          <a:solidFill>
            <a:srgbClr val="0F766E"/>
          </a:solidFill>
          <a:ln/>
        </p:spPr>
      </p:sp>
      <p:sp>
        <p:nvSpPr>
          <p:cNvPr id="35" name="Text 33"/>
          <p:cNvSpPr txBox="1"/>
          <p:nvPr/>
        </p:nvSpPr>
        <p:spPr>
          <a:xfrm>
            <a:off x="6690208" y="305993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enterectomy (enterektomi)</a:t>
            </a:r>
            <a:r>
              <a:rPr lang="en-US" sz="1400" dirty="0">
                <a:solidFill>
                  <a:srgbClr val="4B5563"/>
                </a:solidFill>
                <a:latin typeface="Calibri" pitchFamily="34" charset="0"/>
                <a:ea typeface="Calibri" pitchFamily="34" charset="-122"/>
                <a:cs typeface="Calibri" pitchFamily="34" charset="-120"/>
              </a:rPr>
              <a:t>: Bağırsağın bir kısmının çıkarılması</a:t>
            </a:r>
            <a:endParaRPr lang="en-US" sz="1400" dirty="0"/>
          </a:p>
        </p:txBody>
      </p:sp>
      <p:sp>
        <p:nvSpPr>
          <p:cNvPr id="36" name="Shape 34"/>
          <p:cNvSpPr/>
          <p:nvPr/>
        </p:nvSpPr>
        <p:spPr>
          <a:xfrm>
            <a:off x="6233008" y="3758946"/>
            <a:ext cx="5410048" cy="2550414"/>
          </a:xfrm>
          <a:prstGeom prst="roundRect">
            <a:avLst>
              <a:gd name="adj" fmla="val 2510"/>
            </a:avLst>
          </a:prstGeom>
          <a:solidFill>
            <a:srgbClr val="EAF6F4"/>
          </a:solidFill>
          <a:ln/>
        </p:spPr>
      </p:sp>
      <p:sp>
        <p:nvSpPr>
          <p:cNvPr id="37" name="Text 35"/>
          <p:cNvSpPr txBox="1"/>
          <p:nvPr/>
        </p:nvSpPr>
        <p:spPr>
          <a:xfrm>
            <a:off x="6415888" y="382295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4-d)  </a:t>
            </a:r>
            <a:endParaRPr lang="en-US" sz="1500" dirty="0"/>
          </a:p>
        </p:txBody>
      </p:sp>
      <p:sp>
        <p:nvSpPr>
          <p:cNvPr id="38" name="Shape 36"/>
          <p:cNvSpPr/>
          <p:nvPr/>
        </p:nvSpPr>
        <p:spPr>
          <a:xfrm>
            <a:off x="6534760" y="4147403"/>
            <a:ext cx="64008" cy="64008"/>
          </a:xfrm>
          <a:prstGeom prst="ellipse">
            <a:avLst/>
          </a:prstGeom>
          <a:solidFill>
            <a:srgbClr val="0F766E"/>
          </a:solidFill>
          <a:ln/>
        </p:spPr>
      </p:sp>
      <p:sp>
        <p:nvSpPr>
          <p:cNvPr id="39" name="Text 37"/>
          <p:cNvSpPr txBox="1"/>
          <p:nvPr/>
        </p:nvSpPr>
        <p:spPr>
          <a:xfrm>
            <a:off x="6690208" y="407365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-stomy (İ) (-stomi) stomoun (G)</a:t>
            </a:r>
            <a:r>
              <a:rPr lang="en-US" sz="1400" dirty="0">
                <a:solidFill>
                  <a:srgbClr val="4B5563"/>
                </a:solidFill>
                <a:latin typeface="Calibri" pitchFamily="34" charset="0"/>
                <a:ea typeface="Calibri" pitchFamily="34" charset="-122"/>
                <a:cs typeface="Calibri" pitchFamily="34" charset="-120"/>
              </a:rPr>
              <a:t>: Bir organa delik açma, ağızlaştırma, birleştirme</a:t>
            </a:r>
            <a:endParaRPr lang="en-US" sz="1400" dirty="0"/>
          </a:p>
        </p:txBody>
      </p:sp>
      <p:sp>
        <p:nvSpPr>
          <p:cNvPr id="40" name="Shape 38"/>
          <p:cNvSpPr/>
          <p:nvPr/>
        </p:nvSpPr>
        <p:spPr>
          <a:xfrm>
            <a:off x="6534760" y="4617811"/>
            <a:ext cx="64008" cy="64008"/>
          </a:xfrm>
          <a:prstGeom prst="ellipse">
            <a:avLst/>
          </a:prstGeom>
          <a:solidFill>
            <a:srgbClr val="0F766E"/>
          </a:solidFill>
          <a:ln/>
        </p:spPr>
      </p:sp>
      <p:sp>
        <p:nvSpPr>
          <p:cNvPr id="41" name="Text 39"/>
          <p:cNvSpPr txBox="1"/>
          <p:nvPr/>
        </p:nvSpPr>
        <p:spPr>
          <a:xfrm>
            <a:off x="6690208" y="454406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colostomy (kolostomi)</a:t>
            </a:r>
            <a:r>
              <a:rPr lang="en-US" sz="1400" dirty="0">
                <a:solidFill>
                  <a:srgbClr val="4B5563"/>
                </a:solidFill>
                <a:latin typeface="Calibri" pitchFamily="34" charset="0"/>
                <a:ea typeface="Calibri" pitchFamily="34" charset="-122"/>
                <a:cs typeface="Calibri" pitchFamily="34" charset="-120"/>
              </a:rPr>
              <a:t>: Kolonda açılan bir yarıkla yapay anüs oluşturma</a:t>
            </a:r>
            <a:endParaRPr lang="en-US" sz="1400" dirty="0"/>
          </a:p>
        </p:txBody>
      </p:sp>
      <p:sp>
        <p:nvSpPr>
          <p:cNvPr id="42" name="Shape 40"/>
          <p:cNvSpPr/>
          <p:nvPr/>
        </p:nvSpPr>
        <p:spPr>
          <a:xfrm>
            <a:off x="6534760" y="5088219"/>
            <a:ext cx="64008" cy="64008"/>
          </a:xfrm>
          <a:prstGeom prst="ellipse">
            <a:avLst/>
          </a:prstGeom>
          <a:solidFill>
            <a:srgbClr val="0F766E"/>
          </a:solidFill>
          <a:ln/>
        </p:spPr>
      </p:sp>
      <p:sp>
        <p:nvSpPr>
          <p:cNvPr id="43" name="Text 41"/>
          <p:cNvSpPr txBox="1"/>
          <p:nvPr/>
        </p:nvSpPr>
        <p:spPr>
          <a:xfrm>
            <a:off x="6690208" y="501446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gastrojejunostomy (gastroyeyunostomi)</a:t>
            </a:r>
            <a:r>
              <a:rPr lang="en-US" sz="1400" dirty="0">
                <a:solidFill>
                  <a:srgbClr val="4B5563"/>
                </a:solidFill>
                <a:latin typeface="Calibri" pitchFamily="34" charset="0"/>
                <a:ea typeface="Calibri" pitchFamily="34" charset="-122"/>
                <a:cs typeface="Calibri" pitchFamily="34" charset="-120"/>
              </a:rPr>
              <a:t>: Mide ile ince bağırsağın ikinci parçasının birleştirilmesi</a:t>
            </a:r>
            <a:endParaRPr lang="en-US" sz="1400" dirty="0"/>
          </a:p>
        </p:txBody>
      </p:sp>
      <p:sp>
        <p:nvSpPr>
          <p:cNvPr id="44" name="Shape 42"/>
          <p:cNvSpPr/>
          <p:nvPr/>
        </p:nvSpPr>
        <p:spPr>
          <a:xfrm>
            <a:off x="6534760" y="5558627"/>
            <a:ext cx="64008" cy="64008"/>
          </a:xfrm>
          <a:prstGeom prst="ellipse">
            <a:avLst/>
          </a:prstGeom>
          <a:solidFill>
            <a:srgbClr val="0F766E"/>
          </a:solidFill>
          <a:ln/>
        </p:spPr>
      </p:sp>
      <p:sp>
        <p:nvSpPr>
          <p:cNvPr id="45" name="Text 43"/>
          <p:cNvSpPr txBox="1"/>
          <p:nvPr/>
        </p:nvSpPr>
        <p:spPr>
          <a:xfrm>
            <a:off x="6690208" y="5484876"/>
            <a:ext cx="4769968" cy="687324"/>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thraceostomy (trakeostomi)</a:t>
            </a:r>
            <a:r>
              <a:rPr lang="en-US" sz="1400" dirty="0">
                <a:solidFill>
                  <a:srgbClr val="4B5563"/>
                </a:solidFill>
                <a:latin typeface="Calibri" pitchFamily="34" charset="0"/>
                <a:ea typeface="Calibri" pitchFamily="34" charset="-122"/>
                <a:cs typeface="Calibri" pitchFamily="34" charset="-120"/>
              </a:rPr>
              <a:t>: Nefes borusunun ön duvarında (boğazda), küçük daire şeklinde bir parça çıkarılarak açılan pencere</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Hastalık, Hastalık Belirtileri ve Tedaviye İlişkin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84</a:t>
            </a:r>
            <a:endParaRPr lang="en-US" sz="1000" dirty="0"/>
          </a:p>
        </p:txBody>
      </p:sp>
      <p:sp>
        <p:nvSpPr>
          <p:cNvPr id="6" name="Shape 4"/>
          <p:cNvSpPr/>
          <p:nvPr/>
        </p:nvSpPr>
        <p:spPr>
          <a:xfrm>
            <a:off x="548640" y="2418588"/>
            <a:ext cx="5410048" cy="1863090"/>
          </a:xfrm>
          <a:prstGeom prst="roundRect">
            <a:avLst>
              <a:gd name="adj" fmla="val 3436"/>
            </a:avLst>
          </a:prstGeom>
          <a:solidFill>
            <a:srgbClr val="EAF6F4"/>
          </a:solidFill>
          <a:ln/>
        </p:spPr>
      </p:sp>
      <p:sp>
        <p:nvSpPr>
          <p:cNvPr id="7" name="Text 5"/>
          <p:cNvSpPr txBox="1"/>
          <p:nvPr/>
        </p:nvSpPr>
        <p:spPr>
          <a:xfrm>
            <a:off x="731520" y="248259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2807045"/>
            <a:ext cx="64008" cy="64008"/>
          </a:xfrm>
          <a:prstGeom prst="ellipse">
            <a:avLst/>
          </a:prstGeom>
          <a:solidFill>
            <a:srgbClr val="0F766E"/>
          </a:solidFill>
          <a:ln/>
        </p:spPr>
      </p:sp>
      <p:sp>
        <p:nvSpPr>
          <p:cNvPr id="9" name="Text 7"/>
          <p:cNvSpPr txBox="1"/>
          <p:nvPr/>
        </p:nvSpPr>
        <p:spPr>
          <a:xfrm>
            <a:off x="1005840" y="273329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-pathy (G) (-pati)</a:t>
            </a:r>
            <a:r>
              <a:rPr lang="en-US" sz="1400" dirty="0">
                <a:solidFill>
                  <a:srgbClr val="4B5563"/>
                </a:solidFill>
                <a:latin typeface="Calibri" pitchFamily="34" charset="0"/>
                <a:ea typeface="Calibri" pitchFamily="34" charset="-122"/>
                <a:cs typeface="Calibri" pitchFamily="34" charset="-120"/>
              </a:rPr>
              <a:t>: Hastalık, normal dışı durum, duygu, his</a:t>
            </a:r>
            <a:endParaRPr lang="en-US" sz="1400" dirty="0"/>
          </a:p>
        </p:txBody>
      </p:sp>
      <p:sp>
        <p:nvSpPr>
          <p:cNvPr id="10" name="Shape 8"/>
          <p:cNvSpPr/>
          <p:nvPr/>
        </p:nvSpPr>
        <p:spPr>
          <a:xfrm>
            <a:off x="850392" y="3277453"/>
            <a:ext cx="64008" cy="64008"/>
          </a:xfrm>
          <a:prstGeom prst="ellipse">
            <a:avLst/>
          </a:prstGeom>
          <a:solidFill>
            <a:srgbClr val="0F766E"/>
          </a:solidFill>
          <a:ln/>
        </p:spPr>
      </p:sp>
      <p:sp>
        <p:nvSpPr>
          <p:cNvPr id="11" name="Text 9"/>
          <p:cNvSpPr txBox="1"/>
          <p:nvPr/>
        </p:nvSpPr>
        <p:spPr>
          <a:xfrm>
            <a:off x="1005840" y="320370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neuropathy (nöropati)</a:t>
            </a:r>
            <a:r>
              <a:rPr lang="en-US" sz="1400" dirty="0">
                <a:solidFill>
                  <a:srgbClr val="4B5563"/>
                </a:solidFill>
                <a:latin typeface="Calibri" pitchFamily="34" charset="0"/>
                <a:ea typeface="Calibri" pitchFamily="34" charset="-122"/>
                <a:cs typeface="Calibri" pitchFamily="34" charset="-120"/>
              </a:rPr>
              <a:t>: Herhangi bir sinirsel hastalık veya bozukluk</a:t>
            </a:r>
            <a:endParaRPr lang="en-US" sz="1400" dirty="0"/>
          </a:p>
        </p:txBody>
      </p:sp>
      <p:sp>
        <p:nvSpPr>
          <p:cNvPr id="12" name="Shape 10"/>
          <p:cNvSpPr/>
          <p:nvPr/>
        </p:nvSpPr>
        <p:spPr>
          <a:xfrm>
            <a:off x="850392" y="3747861"/>
            <a:ext cx="64008" cy="64008"/>
          </a:xfrm>
          <a:prstGeom prst="ellipse">
            <a:avLst/>
          </a:prstGeom>
          <a:solidFill>
            <a:srgbClr val="0F766E"/>
          </a:solidFill>
          <a:ln/>
        </p:spPr>
      </p:sp>
      <p:sp>
        <p:nvSpPr>
          <p:cNvPr id="13" name="Text 11"/>
          <p:cNvSpPr txBox="1"/>
          <p:nvPr/>
        </p:nvSpPr>
        <p:spPr>
          <a:xfrm>
            <a:off x="1005840" y="367411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nephropathy (nefropati)</a:t>
            </a:r>
            <a:r>
              <a:rPr lang="en-US" sz="1400" dirty="0">
                <a:solidFill>
                  <a:srgbClr val="4B5563"/>
                </a:solidFill>
                <a:latin typeface="Calibri" pitchFamily="34" charset="0"/>
                <a:ea typeface="Calibri" pitchFamily="34" charset="-122"/>
                <a:cs typeface="Calibri" pitchFamily="34" charset="-120"/>
              </a:rPr>
              <a:t>: Herhangi bir böbrek hastalığı</a:t>
            </a:r>
            <a:endParaRPr lang="en-US" sz="1400" dirty="0"/>
          </a:p>
        </p:txBody>
      </p:sp>
      <p:sp>
        <p:nvSpPr>
          <p:cNvPr id="14" name="Shape 12"/>
          <p:cNvSpPr/>
          <p:nvPr/>
        </p:nvSpPr>
        <p:spPr>
          <a:xfrm>
            <a:off x="548640" y="4373118"/>
            <a:ext cx="5410048" cy="1936242"/>
          </a:xfrm>
          <a:prstGeom prst="roundRect">
            <a:avLst>
              <a:gd name="adj" fmla="val 3306"/>
            </a:avLst>
          </a:prstGeom>
          <a:solidFill>
            <a:srgbClr val="EAF6F4"/>
          </a:solidFill>
          <a:ln/>
        </p:spPr>
      </p:sp>
      <p:sp>
        <p:nvSpPr>
          <p:cNvPr id="15" name="Text 13"/>
          <p:cNvSpPr txBox="1"/>
          <p:nvPr/>
        </p:nvSpPr>
        <p:spPr>
          <a:xfrm>
            <a:off x="731520" y="443712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16" name="Shape 14"/>
          <p:cNvSpPr/>
          <p:nvPr/>
        </p:nvSpPr>
        <p:spPr>
          <a:xfrm>
            <a:off x="850392" y="4761575"/>
            <a:ext cx="64008" cy="64008"/>
          </a:xfrm>
          <a:prstGeom prst="ellipse">
            <a:avLst/>
          </a:prstGeom>
          <a:solidFill>
            <a:srgbClr val="0F766E"/>
          </a:solidFill>
          <a:ln/>
        </p:spPr>
      </p:sp>
      <p:sp>
        <p:nvSpPr>
          <p:cNvPr id="17" name="Text 15"/>
          <p:cNvSpPr txBox="1"/>
          <p:nvPr/>
        </p:nvSpPr>
        <p:spPr>
          <a:xfrm>
            <a:off x="1005840" y="46878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-therapy (G) (-terapi)</a:t>
            </a:r>
            <a:r>
              <a:rPr lang="en-US" sz="1400" dirty="0">
                <a:solidFill>
                  <a:srgbClr val="4B5563"/>
                </a:solidFill>
                <a:latin typeface="Calibri" pitchFamily="34" charset="0"/>
                <a:ea typeface="Calibri" pitchFamily="34" charset="-122"/>
                <a:cs typeface="Calibri" pitchFamily="34" charset="-120"/>
              </a:rPr>
              <a:t>: Tedavi</a:t>
            </a:r>
            <a:endParaRPr lang="en-US" sz="1400" dirty="0"/>
          </a:p>
        </p:txBody>
      </p:sp>
      <p:sp>
        <p:nvSpPr>
          <p:cNvPr id="18" name="Shape 16"/>
          <p:cNvSpPr/>
          <p:nvPr/>
        </p:nvSpPr>
        <p:spPr>
          <a:xfrm>
            <a:off x="850392" y="5015067"/>
            <a:ext cx="64008" cy="64008"/>
          </a:xfrm>
          <a:prstGeom prst="ellipse">
            <a:avLst/>
          </a:prstGeom>
          <a:solidFill>
            <a:srgbClr val="0F766E"/>
          </a:solidFill>
          <a:ln/>
        </p:spPr>
      </p:sp>
      <p:sp>
        <p:nvSpPr>
          <p:cNvPr id="19" name="Text 17"/>
          <p:cNvSpPr txBox="1"/>
          <p:nvPr/>
        </p:nvSpPr>
        <p:spPr>
          <a:xfrm>
            <a:off x="1005840" y="49413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hormonotherapy (hormonotherapi)</a:t>
            </a:r>
            <a:r>
              <a:rPr lang="en-US" sz="1400" dirty="0">
                <a:solidFill>
                  <a:srgbClr val="4B5563"/>
                </a:solidFill>
                <a:latin typeface="Calibri" pitchFamily="34" charset="0"/>
                <a:ea typeface="Calibri" pitchFamily="34" charset="-122"/>
                <a:cs typeface="Calibri" pitchFamily="34" charset="-120"/>
              </a:rPr>
              <a:t>: Hormon tedavisi</a:t>
            </a:r>
            <a:endParaRPr lang="en-US" sz="1400" dirty="0"/>
          </a:p>
        </p:txBody>
      </p:sp>
      <p:sp>
        <p:nvSpPr>
          <p:cNvPr id="20" name="Shape 18"/>
          <p:cNvSpPr/>
          <p:nvPr/>
        </p:nvSpPr>
        <p:spPr>
          <a:xfrm>
            <a:off x="850392" y="5268559"/>
            <a:ext cx="64008" cy="64008"/>
          </a:xfrm>
          <a:prstGeom prst="ellipse">
            <a:avLst/>
          </a:prstGeom>
          <a:solidFill>
            <a:srgbClr val="0F766E"/>
          </a:solidFill>
          <a:ln/>
        </p:spPr>
      </p:sp>
      <p:sp>
        <p:nvSpPr>
          <p:cNvPr id="21" name="Text 19"/>
          <p:cNvSpPr txBox="1"/>
          <p:nvPr/>
        </p:nvSpPr>
        <p:spPr>
          <a:xfrm>
            <a:off x="1005840" y="519480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ergotherapy (ergoterapi)</a:t>
            </a:r>
            <a:r>
              <a:rPr lang="en-US" sz="1400" dirty="0">
                <a:solidFill>
                  <a:srgbClr val="4B5563"/>
                </a:solidFill>
                <a:latin typeface="Calibri" pitchFamily="34" charset="0"/>
                <a:ea typeface="Calibri" pitchFamily="34" charset="-122"/>
                <a:cs typeface="Calibri" pitchFamily="34" charset="-120"/>
              </a:rPr>
              <a:t>: Kişiyi fiziksel bir uğraşıyla tedavi etme</a:t>
            </a:r>
            <a:endParaRPr lang="en-US" sz="1400" dirty="0"/>
          </a:p>
        </p:txBody>
      </p:sp>
      <p:sp>
        <p:nvSpPr>
          <p:cNvPr id="22" name="Shape 20"/>
          <p:cNvSpPr/>
          <p:nvPr/>
        </p:nvSpPr>
        <p:spPr>
          <a:xfrm>
            <a:off x="850392" y="5738967"/>
            <a:ext cx="64008" cy="64008"/>
          </a:xfrm>
          <a:prstGeom prst="ellipse">
            <a:avLst/>
          </a:prstGeom>
          <a:solidFill>
            <a:srgbClr val="0F766E"/>
          </a:solidFill>
          <a:ln/>
        </p:spPr>
      </p:sp>
      <p:sp>
        <p:nvSpPr>
          <p:cNvPr id="23" name="Text 21"/>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chemotherapy (kemoterapi)</a:t>
            </a:r>
            <a:r>
              <a:rPr lang="en-US" sz="1400" dirty="0">
                <a:solidFill>
                  <a:srgbClr val="4B5563"/>
                </a:solidFill>
                <a:latin typeface="Calibri" pitchFamily="34" charset="0"/>
                <a:ea typeface="Calibri" pitchFamily="34" charset="-122"/>
                <a:cs typeface="Calibri" pitchFamily="34" charset="-120"/>
              </a:rPr>
              <a:t>: Hastalığın ilaçla tedavisi</a:t>
            </a:r>
            <a:endParaRPr lang="en-US" sz="1400" dirty="0"/>
          </a:p>
        </p:txBody>
      </p:sp>
      <p:sp>
        <p:nvSpPr>
          <p:cNvPr id="24" name="Shape 22"/>
          <p:cNvSpPr/>
          <p:nvPr/>
        </p:nvSpPr>
        <p:spPr>
          <a:xfrm>
            <a:off x="850392" y="5992459"/>
            <a:ext cx="64008" cy="64008"/>
          </a:xfrm>
          <a:prstGeom prst="ellipse">
            <a:avLst/>
          </a:prstGeom>
          <a:solidFill>
            <a:srgbClr val="0F766E"/>
          </a:solidFill>
          <a:ln/>
        </p:spPr>
      </p:sp>
      <p:sp>
        <p:nvSpPr>
          <p:cNvPr id="25" name="Text 23"/>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phytothrepy (fitoterapi)</a:t>
            </a:r>
            <a:r>
              <a:rPr lang="en-US" sz="1400" dirty="0">
                <a:solidFill>
                  <a:srgbClr val="4B5563"/>
                </a:solidFill>
                <a:latin typeface="Calibri" pitchFamily="34" charset="0"/>
                <a:ea typeface="Calibri" pitchFamily="34" charset="-122"/>
                <a:cs typeface="Calibri" pitchFamily="34" charset="-120"/>
              </a:rPr>
              <a:t>: Bitkisel tedavi</a:t>
            </a:r>
            <a:endParaRPr lang="en-US" sz="1400" dirty="0"/>
          </a:p>
        </p:txBody>
      </p:sp>
      <p:sp>
        <p:nvSpPr>
          <p:cNvPr id="26" name="Shape 24"/>
          <p:cNvSpPr/>
          <p:nvPr/>
        </p:nvSpPr>
        <p:spPr>
          <a:xfrm>
            <a:off x="6233008" y="2418588"/>
            <a:ext cx="5410048" cy="1682750"/>
          </a:xfrm>
          <a:prstGeom prst="roundRect">
            <a:avLst>
              <a:gd name="adj" fmla="val 3804"/>
            </a:avLst>
          </a:prstGeom>
          <a:solidFill>
            <a:srgbClr val="EAF6F4"/>
          </a:solidFill>
          <a:ln/>
        </p:spPr>
      </p:sp>
      <p:sp>
        <p:nvSpPr>
          <p:cNvPr id="27" name="Text 25"/>
          <p:cNvSpPr txBox="1"/>
          <p:nvPr/>
        </p:nvSpPr>
        <p:spPr>
          <a:xfrm>
            <a:off x="6415888" y="248259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28" name="Shape 26"/>
          <p:cNvSpPr/>
          <p:nvPr/>
        </p:nvSpPr>
        <p:spPr>
          <a:xfrm>
            <a:off x="6534760" y="2807045"/>
            <a:ext cx="64008" cy="64008"/>
          </a:xfrm>
          <a:prstGeom prst="ellipse">
            <a:avLst/>
          </a:prstGeom>
          <a:solidFill>
            <a:srgbClr val="0F766E"/>
          </a:solidFill>
          <a:ln/>
        </p:spPr>
      </p:sp>
      <p:sp>
        <p:nvSpPr>
          <p:cNvPr id="29" name="Text 27"/>
          <p:cNvSpPr txBox="1"/>
          <p:nvPr/>
        </p:nvSpPr>
        <p:spPr>
          <a:xfrm>
            <a:off x="6690208" y="273329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-phagia, -phagy (G) (-faji)</a:t>
            </a:r>
            <a:r>
              <a:rPr lang="en-US" sz="1400" dirty="0">
                <a:solidFill>
                  <a:srgbClr val="4B5563"/>
                </a:solidFill>
                <a:latin typeface="Calibri" pitchFamily="34" charset="0"/>
                <a:ea typeface="Calibri" pitchFamily="34" charset="-122"/>
                <a:cs typeface="Calibri" pitchFamily="34" charset="-120"/>
              </a:rPr>
              <a:t>: Yeme, yutma</a:t>
            </a:r>
            <a:endParaRPr lang="en-US" sz="1400" dirty="0"/>
          </a:p>
        </p:txBody>
      </p:sp>
      <p:sp>
        <p:nvSpPr>
          <p:cNvPr id="30" name="Shape 28"/>
          <p:cNvSpPr/>
          <p:nvPr/>
        </p:nvSpPr>
        <p:spPr>
          <a:xfrm>
            <a:off x="6534760" y="3060537"/>
            <a:ext cx="64008" cy="64008"/>
          </a:xfrm>
          <a:prstGeom prst="ellipse">
            <a:avLst/>
          </a:prstGeom>
          <a:solidFill>
            <a:srgbClr val="0F766E"/>
          </a:solidFill>
          <a:ln/>
        </p:spPr>
      </p:sp>
      <p:sp>
        <p:nvSpPr>
          <p:cNvPr id="31" name="Text 29"/>
          <p:cNvSpPr txBox="1"/>
          <p:nvPr/>
        </p:nvSpPr>
        <p:spPr>
          <a:xfrm>
            <a:off x="6690208" y="298678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polyphagia (polifaji)</a:t>
            </a:r>
            <a:r>
              <a:rPr lang="en-US" sz="1400" dirty="0">
                <a:solidFill>
                  <a:srgbClr val="4B5563"/>
                </a:solidFill>
                <a:latin typeface="Calibri" pitchFamily="34" charset="0"/>
                <a:ea typeface="Calibri" pitchFamily="34" charset="-122"/>
                <a:cs typeface="Calibri" pitchFamily="34" charset="-120"/>
              </a:rPr>
              <a:t>: Aşırı yeme</a:t>
            </a:r>
            <a:endParaRPr lang="en-US" sz="1400" dirty="0"/>
          </a:p>
        </p:txBody>
      </p:sp>
      <p:sp>
        <p:nvSpPr>
          <p:cNvPr id="32" name="Shape 30"/>
          <p:cNvSpPr/>
          <p:nvPr/>
        </p:nvSpPr>
        <p:spPr>
          <a:xfrm>
            <a:off x="6534760" y="3314029"/>
            <a:ext cx="64008" cy="64008"/>
          </a:xfrm>
          <a:prstGeom prst="ellipse">
            <a:avLst/>
          </a:prstGeom>
          <a:solidFill>
            <a:srgbClr val="0F766E"/>
          </a:solidFill>
          <a:ln/>
        </p:spPr>
      </p:sp>
      <p:sp>
        <p:nvSpPr>
          <p:cNvPr id="33" name="Text 31"/>
          <p:cNvSpPr txBox="1"/>
          <p:nvPr/>
        </p:nvSpPr>
        <p:spPr>
          <a:xfrm>
            <a:off x="6690208" y="324027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aphagia (afaji)</a:t>
            </a:r>
            <a:r>
              <a:rPr lang="en-US" sz="1400" dirty="0">
                <a:solidFill>
                  <a:srgbClr val="4B5563"/>
                </a:solidFill>
                <a:latin typeface="Calibri" pitchFamily="34" charset="0"/>
                <a:ea typeface="Calibri" pitchFamily="34" charset="-122"/>
                <a:cs typeface="Calibri" pitchFamily="34" charset="-120"/>
              </a:rPr>
              <a:t>: Yutma yeteneğinin gitmesi, yutamamazlık</a:t>
            </a:r>
            <a:endParaRPr lang="en-US" sz="1400" dirty="0"/>
          </a:p>
        </p:txBody>
      </p:sp>
      <p:sp>
        <p:nvSpPr>
          <p:cNvPr id="34" name="Shape 32"/>
          <p:cNvSpPr/>
          <p:nvPr/>
        </p:nvSpPr>
        <p:spPr>
          <a:xfrm>
            <a:off x="6534760" y="3784437"/>
            <a:ext cx="64008" cy="64008"/>
          </a:xfrm>
          <a:prstGeom prst="ellipse">
            <a:avLst/>
          </a:prstGeom>
          <a:solidFill>
            <a:srgbClr val="0F766E"/>
          </a:solidFill>
          <a:ln/>
        </p:spPr>
      </p:sp>
      <p:sp>
        <p:nvSpPr>
          <p:cNvPr id="35" name="Text 33"/>
          <p:cNvSpPr txBox="1"/>
          <p:nvPr/>
        </p:nvSpPr>
        <p:spPr>
          <a:xfrm>
            <a:off x="6690208" y="371068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geophagy (jeofaji)</a:t>
            </a:r>
            <a:r>
              <a:rPr lang="en-US" sz="1400" dirty="0">
                <a:solidFill>
                  <a:srgbClr val="4B5563"/>
                </a:solidFill>
                <a:latin typeface="Calibri" pitchFamily="34" charset="0"/>
                <a:ea typeface="Calibri" pitchFamily="34" charset="-122"/>
                <a:cs typeface="Calibri" pitchFamily="34" charset="-120"/>
              </a:rPr>
              <a:t>: Toprak yeme alışkanlığı</a:t>
            </a:r>
            <a:endParaRPr lang="en-US" sz="1400" dirty="0"/>
          </a:p>
        </p:txBody>
      </p:sp>
      <p:sp>
        <p:nvSpPr>
          <p:cNvPr id="36" name="Shape 34"/>
          <p:cNvSpPr/>
          <p:nvPr/>
        </p:nvSpPr>
        <p:spPr>
          <a:xfrm>
            <a:off x="6233008" y="4192778"/>
            <a:ext cx="5410048" cy="1899666"/>
          </a:xfrm>
          <a:prstGeom prst="roundRect">
            <a:avLst>
              <a:gd name="adj" fmla="val 3369"/>
            </a:avLst>
          </a:prstGeom>
          <a:solidFill>
            <a:srgbClr val="EAF6F4"/>
          </a:solidFill>
          <a:ln/>
        </p:spPr>
      </p:sp>
      <p:sp>
        <p:nvSpPr>
          <p:cNvPr id="37" name="Text 35"/>
          <p:cNvSpPr txBox="1"/>
          <p:nvPr/>
        </p:nvSpPr>
        <p:spPr>
          <a:xfrm>
            <a:off x="6415888" y="425678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38" name="Shape 36"/>
          <p:cNvSpPr/>
          <p:nvPr/>
        </p:nvSpPr>
        <p:spPr>
          <a:xfrm>
            <a:off x="6534760" y="4581235"/>
            <a:ext cx="64008" cy="64008"/>
          </a:xfrm>
          <a:prstGeom prst="ellipse">
            <a:avLst/>
          </a:prstGeom>
          <a:solidFill>
            <a:srgbClr val="0F766E"/>
          </a:solidFill>
          <a:ln/>
        </p:spPr>
      </p:sp>
      <p:sp>
        <p:nvSpPr>
          <p:cNvPr id="39" name="Text 37"/>
          <p:cNvSpPr txBox="1"/>
          <p:nvPr/>
        </p:nvSpPr>
        <p:spPr>
          <a:xfrm>
            <a:off x="6690208" y="4507484"/>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-osis (G) (-oz, -ozis)</a:t>
            </a:r>
            <a:r>
              <a:rPr lang="en-US" sz="1400" dirty="0">
                <a:solidFill>
                  <a:srgbClr val="4B5563"/>
                </a:solidFill>
                <a:latin typeface="Calibri" pitchFamily="34" charset="0"/>
                <a:ea typeface="Calibri" pitchFamily="34" charset="-122"/>
                <a:cs typeface="Calibri" pitchFamily="34" charset="-120"/>
              </a:rPr>
              <a:t>: Anormallik, hastalık, aşırı artış</a:t>
            </a:r>
            <a:endParaRPr lang="en-US" sz="1400" dirty="0"/>
          </a:p>
        </p:txBody>
      </p:sp>
      <p:sp>
        <p:nvSpPr>
          <p:cNvPr id="40" name="Shape 38"/>
          <p:cNvSpPr/>
          <p:nvPr/>
        </p:nvSpPr>
        <p:spPr>
          <a:xfrm>
            <a:off x="6534760" y="5051643"/>
            <a:ext cx="64008" cy="64008"/>
          </a:xfrm>
          <a:prstGeom prst="ellipse">
            <a:avLst/>
          </a:prstGeom>
          <a:solidFill>
            <a:srgbClr val="0F766E"/>
          </a:solidFill>
          <a:ln/>
        </p:spPr>
      </p:sp>
      <p:sp>
        <p:nvSpPr>
          <p:cNvPr id="41" name="Text 39"/>
          <p:cNvSpPr txBox="1"/>
          <p:nvPr/>
        </p:nvSpPr>
        <p:spPr>
          <a:xfrm>
            <a:off x="6690208" y="49778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leukocytosis (lökositoz)</a:t>
            </a:r>
            <a:r>
              <a:rPr lang="en-US" sz="1400" dirty="0">
                <a:solidFill>
                  <a:srgbClr val="4B5563"/>
                </a:solidFill>
                <a:latin typeface="Calibri" pitchFamily="34" charset="0"/>
                <a:ea typeface="Calibri" pitchFamily="34" charset="-122"/>
                <a:cs typeface="Calibri" pitchFamily="34" charset="-120"/>
              </a:rPr>
              <a:t>: Akyuvar sayısının artması</a:t>
            </a:r>
            <a:endParaRPr lang="en-US" sz="1400" dirty="0"/>
          </a:p>
        </p:txBody>
      </p:sp>
      <p:sp>
        <p:nvSpPr>
          <p:cNvPr id="42" name="Shape 40"/>
          <p:cNvSpPr/>
          <p:nvPr/>
        </p:nvSpPr>
        <p:spPr>
          <a:xfrm>
            <a:off x="6534760" y="5305135"/>
            <a:ext cx="64008" cy="64008"/>
          </a:xfrm>
          <a:prstGeom prst="ellipse">
            <a:avLst/>
          </a:prstGeom>
          <a:solidFill>
            <a:srgbClr val="0F766E"/>
          </a:solidFill>
          <a:ln/>
        </p:spPr>
      </p:sp>
      <p:sp>
        <p:nvSpPr>
          <p:cNvPr id="43" name="Text 41"/>
          <p:cNvSpPr txBox="1"/>
          <p:nvPr/>
        </p:nvSpPr>
        <p:spPr>
          <a:xfrm>
            <a:off x="6690208" y="52313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toxicosis (toksikoz)</a:t>
            </a:r>
            <a:r>
              <a:rPr lang="en-US" sz="1400" dirty="0">
                <a:solidFill>
                  <a:srgbClr val="4B5563"/>
                </a:solidFill>
                <a:latin typeface="Calibri" pitchFamily="34" charset="0"/>
                <a:ea typeface="Calibri" pitchFamily="34" charset="-122"/>
                <a:cs typeface="Calibri" pitchFamily="34" charset="-120"/>
              </a:rPr>
              <a:t>: Zehirlenme</a:t>
            </a:r>
            <a:endParaRPr lang="en-US" sz="1400" dirty="0"/>
          </a:p>
        </p:txBody>
      </p:sp>
      <p:sp>
        <p:nvSpPr>
          <p:cNvPr id="44" name="Shape 42"/>
          <p:cNvSpPr/>
          <p:nvPr/>
        </p:nvSpPr>
        <p:spPr>
          <a:xfrm>
            <a:off x="6534760" y="5558627"/>
            <a:ext cx="64008" cy="64008"/>
          </a:xfrm>
          <a:prstGeom prst="ellipse">
            <a:avLst/>
          </a:prstGeom>
          <a:solidFill>
            <a:srgbClr val="0F766E"/>
          </a:solidFill>
          <a:ln/>
        </p:spPr>
      </p:sp>
      <p:sp>
        <p:nvSpPr>
          <p:cNvPr id="45" name="Text 43"/>
          <p:cNvSpPr txBox="1"/>
          <p:nvPr/>
        </p:nvSpPr>
        <p:spPr>
          <a:xfrm>
            <a:off x="6690208" y="548487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panhidrosis (panhidrozis)</a:t>
            </a:r>
            <a:r>
              <a:rPr lang="en-US" sz="1400" dirty="0">
                <a:solidFill>
                  <a:srgbClr val="4B5563"/>
                </a:solidFill>
                <a:latin typeface="Calibri" pitchFamily="34" charset="0"/>
                <a:ea typeface="Calibri" pitchFamily="34" charset="-122"/>
                <a:cs typeface="Calibri" pitchFamily="34" charset="-120"/>
              </a:rPr>
              <a:t>: Vücudun tüm yüzeyinin terlemesi</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Hastalık, Hastalık Belirtileri ve Tedaviye İlişkin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85</a:t>
            </a:r>
            <a:endParaRPr lang="en-US" sz="1000" dirty="0"/>
          </a:p>
        </p:txBody>
      </p:sp>
      <p:sp>
        <p:nvSpPr>
          <p:cNvPr id="6" name="Shape 4"/>
          <p:cNvSpPr/>
          <p:nvPr/>
        </p:nvSpPr>
        <p:spPr>
          <a:xfrm>
            <a:off x="548640" y="1875028"/>
            <a:ext cx="5410048" cy="1682750"/>
          </a:xfrm>
          <a:prstGeom prst="roundRect">
            <a:avLst>
              <a:gd name="adj" fmla="val 3804"/>
            </a:avLst>
          </a:prstGeom>
          <a:solidFill>
            <a:srgbClr val="EAF6F4"/>
          </a:solidFill>
          <a:ln/>
        </p:spPr>
      </p:sp>
      <p:sp>
        <p:nvSpPr>
          <p:cNvPr id="7" name="Text 5"/>
          <p:cNvSpPr txBox="1"/>
          <p:nvPr/>
        </p:nvSpPr>
        <p:spPr>
          <a:xfrm>
            <a:off x="731520" y="193903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5-  </a:t>
            </a:r>
            <a:endParaRPr lang="en-US" sz="1500" dirty="0"/>
          </a:p>
        </p:txBody>
      </p:sp>
      <p:sp>
        <p:nvSpPr>
          <p:cNvPr id="8" name="Shape 6"/>
          <p:cNvSpPr/>
          <p:nvPr/>
        </p:nvSpPr>
        <p:spPr>
          <a:xfrm>
            <a:off x="850392" y="2263485"/>
            <a:ext cx="64008" cy="64008"/>
          </a:xfrm>
          <a:prstGeom prst="ellipse">
            <a:avLst/>
          </a:prstGeom>
          <a:solidFill>
            <a:srgbClr val="0F766E"/>
          </a:solidFill>
          <a:ln/>
        </p:spPr>
      </p:sp>
      <p:sp>
        <p:nvSpPr>
          <p:cNvPr id="9" name="Text 7"/>
          <p:cNvSpPr txBox="1"/>
          <p:nvPr/>
        </p:nvSpPr>
        <p:spPr>
          <a:xfrm>
            <a:off x="1005840" y="21897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-penia (G) (-peni)</a:t>
            </a:r>
            <a:r>
              <a:rPr lang="en-US" sz="1400" dirty="0">
                <a:solidFill>
                  <a:srgbClr val="4B5563"/>
                </a:solidFill>
                <a:latin typeface="Calibri" pitchFamily="34" charset="0"/>
                <a:ea typeface="Calibri" pitchFamily="34" charset="-122"/>
                <a:cs typeface="Calibri" pitchFamily="34" charset="-120"/>
              </a:rPr>
              <a:t>: Azlık, eksiklik</a:t>
            </a:r>
            <a:endParaRPr lang="en-US" sz="1400" dirty="0"/>
          </a:p>
        </p:txBody>
      </p:sp>
      <p:sp>
        <p:nvSpPr>
          <p:cNvPr id="10" name="Shape 8"/>
          <p:cNvSpPr/>
          <p:nvPr/>
        </p:nvSpPr>
        <p:spPr>
          <a:xfrm>
            <a:off x="850392" y="2516977"/>
            <a:ext cx="64008" cy="64008"/>
          </a:xfrm>
          <a:prstGeom prst="ellipse">
            <a:avLst/>
          </a:prstGeom>
          <a:solidFill>
            <a:srgbClr val="0F766E"/>
          </a:solidFill>
          <a:ln/>
        </p:spPr>
      </p:sp>
      <p:sp>
        <p:nvSpPr>
          <p:cNvPr id="11" name="Text 9"/>
          <p:cNvSpPr txBox="1"/>
          <p:nvPr/>
        </p:nvSpPr>
        <p:spPr>
          <a:xfrm>
            <a:off x="1005840" y="24432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leukopenia (lökopeni)</a:t>
            </a:r>
            <a:r>
              <a:rPr lang="en-US" sz="1400" dirty="0">
                <a:solidFill>
                  <a:srgbClr val="4B5563"/>
                </a:solidFill>
                <a:latin typeface="Calibri" pitchFamily="34" charset="0"/>
                <a:ea typeface="Calibri" pitchFamily="34" charset="-122"/>
                <a:cs typeface="Calibri" pitchFamily="34" charset="-120"/>
              </a:rPr>
              <a:t>: Akyuvar sayısının azalması</a:t>
            </a:r>
            <a:endParaRPr lang="en-US" sz="1400" dirty="0"/>
          </a:p>
        </p:txBody>
      </p:sp>
      <p:sp>
        <p:nvSpPr>
          <p:cNvPr id="12" name="Shape 10"/>
          <p:cNvSpPr/>
          <p:nvPr/>
        </p:nvSpPr>
        <p:spPr>
          <a:xfrm>
            <a:off x="850392" y="2770469"/>
            <a:ext cx="64008" cy="64008"/>
          </a:xfrm>
          <a:prstGeom prst="ellipse">
            <a:avLst/>
          </a:prstGeom>
          <a:solidFill>
            <a:srgbClr val="0F766E"/>
          </a:solidFill>
          <a:ln/>
        </p:spPr>
      </p:sp>
      <p:sp>
        <p:nvSpPr>
          <p:cNvPr id="13" name="Text 11"/>
          <p:cNvSpPr txBox="1"/>
          <p:nvPr/>
        </p:nvSpPr>
        <p:spPr>
          <a:xfrm>
            <a:off x="1005840" y="269671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thrombocytopenia (trombositopeni)</a:t>
            </a:r>
            <a:r>
              <a:rPr lang="en-US" sz="1400" dirty="0">
                <a:solidFill>
                  <a:srgbClr val="4B5563"/>
                </a:solidFill>
                <a:latin typeface="Calibri" pitchFamily="34" charset="0"/>
                <a:ea typeface="Calibri" pitchFamily="34" charset="-122"/>
                <a:cs typeface="Calibri" pitchFamily="34" charset="-120"/>
              </a:rPr>
              <a:t>: Trombosiz sayısının azalması</a:t>
            </a:r>
            <a:endParaRPr lang="en-US" sz="1400" dirty="0"/>
          </a:p>
        </p:txBody>
      </p:sp>
      <p:sp>
        <p:nvSpPr>
          <p:cNvPr id="14" name="Shape 12"/>
          <p:cNvSpPr/>
          <p:nvPr/>
        </p:nvSpPr>
        <p:spPr>
          <a:xfrm>
            <a:off x="850392" y="3240877"/>
            <a:ext cx="64008" cy="64008"/>
          </a:xfrm>
          <a:prstGeom prst="ellipse">
            <a:avLst/>
          </a:prstGeom>
          <a:solidFill>
            <a:srgbClr val="0F766E"/>
          </a:solidFill>
          <a:ln/>
        </p:spPr>
      </p:sp>
      <p:sp>
        <p:nvSpPr>
          <p:cNvPr id="15" name="Text 13"/>
          <p:cNvSpPr txBox="1"/>
          <p:nvPr/>
        </p:nvSpPr>
        <p:spPr>
          <a:xfrm>
            <a:off x="1005840" y="31671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osteopenia (osteopeni)</a:t>
            </a:r>
            <a:r>
              <a:rPr lang="en-US" sz="1400" dirty="0">
                <a:solidFill>
                  <a:srgbClr val="4B5563"/>
                </a:solidFill>
                <a:latin typeface="Calibri" pitchFamily="34" charset="0"/>
                <a:ea typeface="Calibri" pitchFamily="34" charset="-122"/>
                <a:cs typeface="Calibri" pitchFamily="34" charset="-120"/>
              </a:rPr>
              <a:t>: Kemik dokusunun azalması</a:t>
            </a:r>
            <a:endParaRPr lang="en-US" sz="1400" dirty="0"/>
          </a:p>
        </p:txBody>
      </p:sp>
      <p:sp>
        <p:nvSpPr>
          <p:cNvPr id="16" name="Shape 14"/>
          <p:cNvSpPr/>
          <p:nvPr/>
        </p:nvSpPr>
        <p:spPr>
          <a:xfrm>
            <a:off x="548640" y="3649218"/>
            <a:ext cx="5410048" cy="1429258"/>
          </a:xfrm>
          <a:prstGeom prst="roundRect">
            <a:avLst>
              <a:gd name="adj" fmla="val 4478"/>
            </a:avLst>
          </a:prstGeom>
          <a:solidFill>
            <a:srgbClr val="EAF6F4"/>
          </a:solidFill>
          <a:ln/>
        </p:spPr>
      </p:sp>
      <p:sp>
        <p:nvSpPr>
          <p:cNvPr id="17" name="Text 15"/>
          <p:cNvSpPr txBox="1"/>
          <p:nvPr/>
        </p:nvSpPr>
        <p:spPr>
          <a:xfrm>
            <a:off x="731520" y="371322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6-  </a:t>
            </a:r>
            <a:endParaRPr lang="en-US" sz="1500" dirty="0"/>
          </a:p>
        </p:txBody>
      </p:sp>
      <p:sp>
        <p:nvSpPr>
          <p:cNvPr id="18" name="Shape 16"/>
          <p:cNvSpPr/>
          <p:nvPr/>
        </p:nvSpPr>
        <p:spPr>
          <a:xfrm>
            <a:off x="850392" y="4037675"/>
            <a:ext cx="64008" cy="64008"/>
          </a:xfrm>
          <a:prstGeom prst="ellipse">
            <a:avLst/>
          </a:prstGeom>
          <a:solidFill>
            <a:srgbClr val="0F766E"/>
          </a:solidFill>
          <a:ln/>
        </p:spPr>
      </p:sp>
      <p:sp>
        <p:nvSpPr>
          <p:cNvPr id="19" name="Text 17"/>
          <p:cNvSpPr txBox="1"/>
          <p:nvPr/>
        </p:nvSpPr>
        <p:spPr>
          <a:xfrm>
            <a:off x="1005840" y="39639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-pnea (G) (-pne)</a:t>
            </a:r>
            <a:r>
              <a:rPr lang="en-US" sz="1400" dirty="0">
                <a:solidFill>
                  <a:srgbClr val="4B5563"/>
                </a:solidFill>
                <a:latin typeface="Calibri" pitchFamily="34" charset="0"/>
                <a:ea typeface="Calibri" pitchFamily="34" charset="-122"/>
                <a:cs typeface="Calibri" pitchFamily="34" charset="-120"/>
              </a:rPr>
              <a:t>: Soluk alıp verme, solunum</a:t>
            </a:r>
            <a:endParaRPr lang="en-US" sz="1400" dirty="0"/>
          </a:p>
        </p:txBody>
      </p:sp>
      <p:sp>
        <p:nvSpPr>
          <p:cNvPr id="20" name="Shape 18"/>
          <p:cNvSpPr/>
          <p:nvPr/>
        </p:nvSpPr>
        <p:spPr>
          <a:xfrm>
            <a:off x="850392" y="4291167"/>
            <a:ext cx="64008" cy="64008"/>
          </a:xfrm>
          <a:prstGeom prst="ellipse">
            <a:avLst/>
          </a:prstGeom>
          <a:solidFill>
            <a:srgbClr val="0F766E"/>
          </a:solidFill>
          <a:ln/>
        </p:spPr>
      </p:sp>
      <p:sp>
        <p:nvSpPr>
          <p:cNvPr id="21" name="Text 19"/>
          <p:cNvSpPr txBox="1"/>
          <p:nvPr/>
        </p:nvSpPr>
        <p:spPr>
          <a:xfrm>
            <a:off x="1005840" y="421741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dyspnea (dispne)</a:t>
            </a:r>
            <a:r>
              <a:rPr lang="en-US" sz="1400" dirty="0">
                <a:solidFill>
                  <a:srgbClr val="4B5563"/>
                </a:solidFill>
                <a:latin typeface="Calibri" pitchFamily="34" charset="0"/>
                <a:ea typeface="Calibri" pitchFamily="34" charset="-122"/>
                <a:cs typeface="Calibri" pitchFamily="34" charset="-120"/>
              </a:rPr>
              <a:t>: Nefes almada güçlük çekme, nefes darlığı</a:t>
            </a:r>
            <a:endParaRPr lang="en-US" sz="1400" dirty="0"/>
          </a:p>
        </p:txBody>
      </p:sp>
      <p:sp>
        <p:nvSpPr>
          <p:cNvPr id="22" name="Shape 20"/>
          <p:cNvSpPr/>
          <p:nvPr/>
        </p:nvSpPr>
        <p:spPr>
          <a:xfrm>
            <a:off x="850392" y="4761575"/>
            <a:ext cx="64008" cy="64008"/>
          </a:xfrm>
          <a:prstGeom prst="ellipse">
            <a:avLst/>
          </a:prstGeom>
          <a:solidFill>
            <a:srgbClr val="0F766E"/>
          </a:solidFill>
          <a:ln/>
        </p:spPr>
      </p:sp>
      <p:sp>
        <p:nvSpPr>
          <p:cNvPr id="23" name="Text 21"/>
          <p:cNvSpPr txBox="1"/>
          <p:nvPr/>
        </p:nvSpPr>
        <p:spPr>
          <a:xfrm>
            <a:off x="1005840" y="46878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eupnea (öpne)</a:t>
            </a:r>
            <a:r>
              <a:rPr lang="en-US" sz="1400" dirty="0">
                <a:solidFill>
                  <a:srgbClr val="4B5563"/>
                </a:solidFill>
                <a:latin typeface="Calibri" pitchFamily="34" charset="0"/>
                <a:ea typeface="Calibri" pitchFamily="34" charset="-122"/>
                <a:cs typeface="Calibri" pitchFamily="34" charset="-120"/>
              </a:rPr>
              <a:t>: Normal solunum</a:t>
            </a:r>
            <a:endParaRPr lang="en-US" sz="1400" dirty="0"/>
          </a:p>
        </p:txBody>
      </p:sp>
      <p:sp>
        <p:nvSpPr>
          <p:cNvPr id="24" name="Shape 22"/>
          <p:cNvSpPr/>
          <p:nvPr/>
        </p:nvSpPr>
        <p:spPr>
          <a:xfrm>
            <a:off x="6233008" y="1875028"/>
            <a:ext cx="5410048" cy="1936242"/>
          </a:xfrm>
          <a:prstGeom prst="roundRect">
            <a:avLst>
              <a:gd name="adj" fmla="val 3306"/>
            </a:avLst>
          </a:prstGeom>
          <a:solidFill>
            <a:srgbClr val="EAF6F4"/>
          </a:solidFill>
          <a:ln/>
        </p:spPr>
      </p:sp>
      <p:sp>
        <p:nvSpPr>
          <p:cNvPr id="25" name="Text 23"/>
          <p:cNvSpPr txBox="1"/>
          <p:nvPr/>
        </p:nvSpPr>
        <p:spPr>
          <a:xfrm>
            <a:off x="6415888" y="1939036"/>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7-  </a:t>
            </a:r>
            <a:endParaRPr lang="en-US" sz="1500" dirty="0"/>
          </a:p>
        </p:txBody>
      </p:sp>
      <p:sp>
        <p:nvSpPr>
          <p:cNvPr id="26" name="Shape 24"/>
          <p:cNvSpPr/>
          <p:nvPr/>
        </p:nvSpPr>
        <p:spPr>
          <a:xfrm>
            <a:off x="6534760" y="2263485"/>
            <a:ext cx="64008" cy="64008"/>
          </a:xfrm>
          <a:prstGeom prst="ellipse">
            <a:avLst/>
          </a:prstGeom>
          <a:solidFill>
            <a:srgbClr val="0F766E"/>
          </a:solidFill>
          <a:ln/>
        </p:spPr>
      </p:sp>
      <p:sp>
        <p:nvSpPr>
          <p:cNvPr id="27" name="Text 25"/>
          <p:cNvSpPr txBox="1"/>
          <p:nvPr/>
        </p:nvSpPr>
        <p:spPr>
          <a:xfrm>
            <a:off x="6690208" y="21897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-ia, iasis (G) (-i, -yaz)</a:t>
            </a:r>
            <a:r>
              <a:rPr lang="en-US" sz="1400" dirty="0">
                <a:solidFill>
                  <a:srgbClr val="4B5563"/>
                </a:solidFill>
                <a:latin typeface="Calibri" pitchFamily="34" charset="0"/>
                <a:ea typeface="Calibri" pitchFamily="34" charset="-122"/>
                <a:cs typeface="Calibri" pitchFamily="34" charset="-120"/>
              </a:rPr>
              <a:t>: Olgu, durum</a:t>
            </a:r>
            <a:endParaRPr lang="en-US" sz="1400" dirty="0"/>
          </a:p>
        </p:txBody>
      </p:sp>
      <p:sp>
        <p:nvSpPr>
          <p:cNvPr id="28" name="Shape 26"/>
          <p:cNvSpPr/>
          <p:nvPr/>
        </p:nvSpPr>
        <p:spPr>
          <a:xfrm>
            <a:off x="6534760" y="2516977"/>
            <a:ext cx="64008" cy="64008"/>
          </a:xfrm>
          <a:prstGeom prst="ellipse">
            <a:avLst/>
          </a:prstGeom>
          <a:solidFill>
            <a:srgbClr val="0F766E"/>
          </a:solidFill>
          <a:ln/>
        </p:spPr>
      </p:sp>
      <p:sp>
        <p:nvSpPr>
          <p:cNvPr id="29" name="Text 27"/>
          <p:cNvSpPr txBox="1"/>
          <p:nvPr/>
        </p:nvSpPr>
        <p:spPr>
          <a:xfrm>
            <a:off x="6690208" y="244322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lithiasis (lityaz)</a:t>
            </a:r>
            <a:r>
              <a:rPr lang="en-US" sz="1400" dirty="0">
                <a:solidFill>
                  <a:srgbClr val="4B5563"/>
                </a:solidFill>
                <a:latin typeface="Calibri" pitchFamily="34" charset="0"/>
                <a:ea typeface="Calibri" pitchFamily="34" charset="-122"/>
                <a:cs typeface="Calibri" pitchFamily="34" charset="-120"/>
              </a:rPr>
              <a:t>: Taş oluşması</a:t>
            </a:r>
            <a:endParaRPr lang="en-US" sz="1400" dirty="0"/>
          </a:p>
        </p:txBody>
      </p:sp>
      <p:sp>
        <p:nvSpPr>
          <p:cNvPr id="30" name="Shape 28"/>
          <p:cNvSpPr/>
          <p:nvPr/>
        </p:nvSpPr>
        <p:spPr>
          <a:xfrm>
            <a:off x="6534760" y="2770469"/>
            <a:ext cx="64008" cy="64008"/>
          </a:xfrm>
          <a:prstGeom prst="ellipse">
            <a:avLst/>
          </a:prstGeom>
          <a:solidFill>
            <a:srgbClr val="0F766E"/>
          </a:solidFill>
          <a:ln/>
        </p:spPr>
      </p:sp>
      <p:sp>
        <p:nvSpPr>
          <p:cNvPr id="31" name="Text 29"/>
          <p:cNvSpPr txBox="1"/>
          <p:nvPr/>
        </p:nvSpPr>
        <p:spPr>
          <a:xfrm>
            <a:off x="6690208" y="269671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megalosplenia (megalospleni)</a:t>
            </a:r>
            <a:r>
              <a:rPr lang="en-US" sz="1400" dirty="0">
                <a:solidFill>
                  <a:srgbClr val="4B5563"/>
                </a:solidFill>
                <a:latin typeface="Calibri" pitchFamily="34" charset="0"/>
                <a:ea typeface="Calibri" pitchFamily="34" charset="-122"/>
                <a:cs typeface="Calibri" pitchFamily="34" charset="-120"/>
              </a:rPr>
              <a:t>: Dalak büyümesi</a:t>
            </a:r>
            <a:endParaRPr lang="en-US" sz="1400" dirty="0"/>
          </a:p>
        </p:txBody>
      </p:sp>
      <p:sp>
        <p:nvSpPr>
          <p:cNvPr id="32" name="Shape 30"/>
          <p:cNvSpPr/>
          <p:nvPr/>
        </p:nvSpPr>
        <p:spPr>
          <a:xfrm>
            <a:off x="6534760" y="3023961"/>
            <a:ext cx="64008" cy="64008"/>
          </a:xfrm>
          <a:prstGeom prst="ellipse">
            <a:avLst/>
          </a:prstGeom>
          <a:solidFill>
            <a:srgbClr val="0F766E"/>
          </a:solidFill>
          <a:ln/>
        </p:spPr>
      </p:sp>
      <p:sp>
        <p:nvSpPr>
          <p:cNvPr id="33" name="Text 31"/>
          <p:cNvSpPr txBox="1"/>
          <p:nvPr/>
        </p:nvSpPr>
        <p:spPr>
          <a:xfrm>
            <a:off x="6690208" y="295021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hyperdactylia (hiperdaktili)</a:t>
            </a:r>
            <a:r>
              <a:rPr lang="en-US" sz="1400" dirty="0">
                <a:solidFill>
                  <a:srgbClr val="4B5563"/>
                </a:solidFill>
                <a:latin typeface="Calibri" pitchFamily="34" charset="0"/>
                <a:ea typeface="Calibri" pitchFamily="34" charset="-122"/>
                <a:cs typeface="Calibri" pitchFamily="34" charset="-120"/>
              </a:rPr>
              <a:t>: Fazla parmaklılık</a:t>
            </a:r>
            <a:endParaRPr lang="en-US" sz="1400" dirty="0"/>
          </a:p>
        </p:txBody>
      </p:sp>
      <p:sp>
        <p:nvSpPr>
          <p:cNvPr id="34" name="Shape 32"/>
          <p:cNvSpPr/>
          <p:nvPr/>
        </p:nvSpPr>
        <p:spPr>
          <a:xfrm>
            <a:off x="6534760" y="3277453"/>
            <a:ext cx="64008" cy="64008"/>
          </a:xfrm>
          <a:prstGeom prst="ellipse">
            <a:avLst/>
          </a:prstGeom>
          <a:solidFill>
            <a:srgbClr val="0F766E"/>
          </a:solidFill>
          <a:ln/>
        </p:spPr>
      </p:sp>
      <p:sp>
        <p:nvSpPr>
          <p:cNvPr id="35" name="Text 33"/>
          <p:cNvSpPr txBox="1"/>
          <p:nvPr/>
        </p:nvSpPr>
        <p:spPr>
          <a:xfrm>
            <a:off x="6690208" y="3203702"/>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glucosuria (glukozuri)</a:t>
            </a:r>
            <a:r>
              <a:rPr lang="en-US" sz="1400" dirty="0">
                <a:solidFill>
                  <a:srgbClr val="4B5563"/>
                </a:solidFill>
                <a:latin typeface="Calibri" pitchFamily="34" charset="0"/>
                <a:ea typeface="Calibri" pitchFamily="34" charset="-122"/>
                <a:cs typeface="Calibri" pitchFamily="34" charset="-120"/>
              </a:rPr>
              <a:t>: İdrarda şeker oranının artması</a:t>
            </a:r>
            <a:endParaRPr lang="en-US" sz="1400" dirty="0"/>
          </a:p>
        </p:txBody>
      </p:sp>
      <p:sp>
        <p:nvSpPr>
          <p:cNvPr id="36" name="Shape 34"/>
          <p:cNvSpPr/>
          <p:nvPr/>
        </p:nvSpPr>
        <p:spPr>
          <a:xfrm>
            <a:off x="6233008" y="3902710"/>
            <a:ext cx="5410048" cy="2406650"/>
          </a:xfrm>
          <a:prstGeom prst="roundRect">
            <a:avLst>
              <a:gd name="adj" fmla="val 2660"/>
            </a:avLst>
          </a:prstGeom>
          <a:solidFill>
            <a:srgbClr val="EAF6F4"/>
          </a:solidFill>
          <a:ln/>
        </p:spPr>
      </p:sp>
      <p:sp>
        <p:nvSpPr>
          <p:cNvPr id="37" name="Text 35"/>
          <p:cNvSpPr txBox="1"/>
          <p:nvPr/>
        </p:nvSpPr>
        <p:spPr>
          <a:xfrm>
            <a:off x="6415888" y="3966718"/>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8-  </a:t>
            </a:r>
            <a:endParaRPr lang="en-US" sz="1500" dirty="0"/>
          </a:p>
        </p:txBody>
      </p:sp>
      <p:sp>
        <p:nvSpPr>
          <p:cNvPr id="38" name="Shape 36"/>
          <p:cNvSpPr/>
          <p:nvPr/>
        </p:nvSpPr>
        <p:spPr>
          <a:xfrm>
            <a:off x="6534760" y="4291167"/>
            <a:ext cx="64008" cy="64008"/>
          </a:xfrm>
          <a:prstGeom prst="ellipse">
            <a:avLst/>
          </a:prstGeom>
          <a:solidFill>
            <a:srgbClr val="0F766E"/>
          </a:solidFill>
          <a:ln/>
        </p:spPr>
      </p:sp>
      <p:sp>
        <p:nvSpPr>
          <p:cNvPr id="39" name="Text 37"/>
          <p:cNvSpPr txBox="1"/>
          <p:nvPr/>
        </p:nvSpPr>
        <p:spPr>
          <a:xfrm>
            <a:off x="6690208" y="42174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-emia (G) (-emi)</a:t>
            </a:r>
            <a:r>
              <a:rPr lang="en-US" sz="1400" dirty="0">
                <a:solidFill>
                  <a:srgbClr val="4B5563"/>
                </a:solidFill>
                <a:latin typeface="Calibri" pitchFamily="34" charset="0"/>
                <a:ea typeface="Calibri" pitchFamily="34" charset="-122"/>
                <a:cs typeface="Calibri" pitchFamily="34" charset="-120"/>
              </a:rPr>
              <a:t>: Kan</a:t>
            </a:r>
            <a:endParaRPr lang="en-US" sz="1400" dirty="0"/>
          </a:p>
        </p:txBody>
      </p:sp>
      <p:sp>
        <p:nvSpPr>
          <p:cNvPr id="40" name="Shape 38"/>
          <p:cNvSpPr/>
          <p:nvPr/>
        </p:nvSpPr>
        <p:spPr>
          <a:xfrm>
            <a:off x="6534760" y="4544659"/>
            <a:ext cx="64008" cy="64008"/>
          </a:xfrm>
          <a:prstGeom prst="ellipse">
            <a:avLst/>
          </a:prstGeom>
          <a:solidFill>
            <a:srgbClr val="0F766E"/>
          </a:solidFill>
          <a:ln/>
        </p:spPr>
      </p:sp>
      <p:sp>
        <p:nvSpPr>
          <p:cNvPr id="41" name="Text 39"/>
          <p:cNvSpPr txBox="1"/>
          <p:nvPr/>
        </p:nvSpPr>
        <p:spPr>
          <a:xfrm>
            <a:off x="6690208" y="44709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hypoxemia (hipoksemi)</a:t>
            </a:r>
            <a:r>
              <a:rPr lang="en-US" sz="1400" dirty="0">
                <a:solidFill>
                  <a:srgbClr val="4B5563"/>
                </a:solidFill>
                <a:latin typeface="Calibri" pitchFamily="34" charset="0"/>
                <a:ea typeface="Calibri" pitchFamily="34" charset="-122"/>
                <a:cs typeface="Calibri" pitchFamily="34" charset="-120"/>
              </a:rPr>
              <a:t>: Kanda oksijen azlığı</a:t>
            </a:r>
            <a:endParaRPr lang="en-US" sz="1400" dirty="0"/>
          </a:p>
        </p:txBody>
      </p:sp>
      <p:sp>
        <p:nvSpPr>
          <p:cNvPr id="42" name="Shape 40"/>
          <p:cNvSpPr/>
          <p:nvPr/>
        </p:nvSpPr>
        <p:spPr>
          <a:xfrm>
            <a:off x="6534760" y="4798151"/>
            <a:ext cx="64008" cy="64008"/>
          </a:xfrm>
          <a:prstGeom prst="ellipse">
            <a:avLst/>
          </a:prstGeom>
          <a:solidFill>
            <a:srgbClr val="0F766E"/>
          </a:solidFill>
          <a:ln/>
        </p:spPr>
      </p:sp>
      <p:sp>
        <p:nvSpPr>
          <p:cNvPr id="43" name="Text 41"/>
          <p:cNvSpPr txBox="1"/>
          <p:nvPr/>
        </p:nvSpPr>
        <p:spPr>
          <a:xfrm>
            <a:off x="6690208" y="4724400"/>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hypoglycemia (hipoglisemi)</a:t>
            </a:r>
            <a:r>
              <a:rPr lang="en-US" sz="1400" dirty="0">
                <a:solidFill>
                  <a:srgbClr val="4B5563"/>
                </a:solidFill>
                <a:latin typeface="Calibri" pitchFamily="34" charset="0"/>
                <a:ea typeface="Calibri" pitchFamily="34" charset="-122"/>
                <a:cs typeface="Calibri" pitchFamily="34" charset="-120"/>
              </a:rPr>
              <a:t>: Kanda aşırı miktarda yağ bulunuşu</a:t>
            </a:r>
            <a:endParaRPr lang="en-US" sz="1400" dirty="0"/>
          </a:p>
        </p:txBody>
      </p:sp>
      <p:sp>
        <p:nvSpPr>
          <p:cNvPr id="44" name="Shape 42"/>
          <p:cNvSpPr/>
          <p:nvPr/>
        </p:nvSpPr>
        <p:spPr>
          <a:xfrm>
            <a:off x="6534760" y="5268559"/>
            <a:ext cx="64008" cy="64008"/>
          </a:xfrm>
          <a:prstGeom prst="ellipse">
            <a:avLst/>
          </a:prstGeom>
          <a:solidFill>
            <a:srgbClr val="0F766E"/>
          </a:solidFill>
          <a:ln/>
        </p:spPr>
      </p:sp>
      <p:sp>
        <p:nvSpPr>
          <p:cNvPr id="45" name="Text 43"/>
          <p:cNvSpPr txBox="1"/>
          <p:nvPr/>
        </p:nvSpPr>
        <p:spPr>
          <a:xfrm>
            <a:off x="6690208" y="5194808"/>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hyperlipemia (hiperlipemi)</a:t>
            </a:r>
            <a:r>
              <a:rPr lang="en-US" sz="1400" dirty="0">
                <a:solidFill>
                  <a:srgbClr val="4B5563"/>
                </a:solidFill>
                <a:latin typeface="Calibri" pitchFamily="34" charset="0"/>
                <a:ea typeface="Calibri" pitchFamily="34" charset="-122"/>
                <a:cs typeface="Calibri" pitchFamily="34" charset="-120"/>
              </a:rPr>
              <a:t>: Kanda aşırı miktarda yağ bulunuşu</a:t>
            </a:r>
            <a:endParaRPr lang="en-US" sz="1400" dirty="0"/>
          </a:p>
        </p:txBody>
      </p:sp>
      <p:sp>
        <p:nvSpPr>
          <p:cNvPr id="46" name="Shape 44"/>
          <p:cNvSpPr/>
          <p:nvPr/>
        </p:nvSpPr>
        <p:spPr>
          <a:xfrm>
            <a:off x="6534760" y="5738967"/>
            <a:ext cx="64008" cy="64008"/>
          </a:xfrm>
          <a:prstGeom prst="ellipse">
            <a:avLst/>
          </a:prstGeom>
          <a:solidFill>
            <a:srgbClr val="0F766E"/>
          </a:solidFill>
          <a:ln/>
        </p:spPr>
      </p:sp>
      <p:sp>
        <p:nvSpPr>
          <p:cNvPr id="47" name="Text 45"/>
          <p:cNvSpPr txBox="1"/>
          <p:nvPr/>
        </p:nvSpPr>
        <p:spPr>
          <a:xfrm>
            <a:off x="6690208"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anemia (anemi)</a:t>
            </a:r>
            <a:r>
              <a:rPr lang="en-US" sz="1400" dirty="0">
                <a:solidFill>
                  <a:srgbClr val="4B5563"/>
                </a:solidFill>
                <a:latin typeface="Calibri" pitchFamily="34" charset="0"/>
                <a:ea typeface="Calibri" pitchFamily="34" charset="-122"/>
                <a:cs typeface="Calibri" pitchFamily="34" charset="-120"/>
              </a:rPr>
              <a:t>: Kanda alyuvar sayısının azalması</a:t>
            </a:r>
            <a:endParaRPr lang="en-US" sz="1400" dirty="0"/>
          </a:p>
        </p:txBody>
      </p:sp>
      <p:sp>
        <p:nvSpPr>
          <p:cNvPr id="48" name="Shape 46"/>
          <p:cNvSpPr/>
          <p:nvPr/>
        </p:nvSpPr>
        <p:spPr>
          <a:xfrm>
            <a:off x="6534760" y="5992459"/>
            <a:ext cx="64008" cy="64008"/>
          </a:xfrm>
          <a:prstGeom prst="ellipse">
            <a:avLst/>
          </a:prstGeom>
          <a:solidFill>
            <a:srgbClr val="0F766E"/>
          </a:solidFill>
          <a:ln/>
        </p:spPr>
      </p:sp>
      <p:sp>
        <p:nvSpPr>
          <p:cNvPr id="49" name="Text 47"/>
          <p:cNvSpPr txBox="1"/>
          <p:nvPr/>
        </p:nvSpPr>
        <p:spPr>
          <a:xfrm>
            <a:off x="6690208"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hyperemia (hiperemi)</a:t>
            </a:r>
            <a:r>
              <a:rPr lang="en-US" sz="1400" dirty="0">
                <a:solidFill>
                  <a:srgbClr val="4B5563"/>
                </a:solidFill>
                <a:latin typeface="Calibri" pitchFamily="34" charset="0"/>
                <a:ea typeface="Calibri" pitchFamily="34" charset="-122"/>
                <a:cs typeface="Calibri" pitchFamily="34" charset="-120"/>
              </a:rPr>
              <a:t>: Bir bölgenin fazla kanlanması</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Hastalık, Hastalık Belirtileri ve Tedaviye İlişkin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86</a:t>
            </a:r>
            <a:endParaRPr lang="en-US" sz="1000" dirty="0"/>
          </a:p>
        </p:txBody>
      </p:sp>
      <p:sp>
        <p:nvSpPr>
          <p:cNvPr id="6" name="Shape 4"/>
          <p:cNvSpPr/>
          <p:nvPr/>
        </p:nvSpPr>
        <p:spPr>
          <a:xfrm>
            <a:off x="548640" y="1728978"/>
            <a:ext cx="11094415" cy="1465834"/>
          </a:xfrm>
          <a:prstGeom prst="roundRect">
            <a:avLst>
              <a:gd name="adj" fmla="val 4367"/>
            </a:avLst>
          </a:prstGeom>
          <a:solidFill>
            <a:srgbClr val="EAF6F4"/>
          </a:solidFill>
          <a:ln/>
        </p:spPr>
      </p:sp>
      <p:sp>
        <p:nvSpPr>
          <p:cNvPr id="7" name="Text 5"/>
          <p:cNvSpPr txBox="1"/>
          <p:nvPr/>
        </p:nvSpPr>
        <p:spPr>
          <a:xfrm>
            <a:off x="731520" y="1792986"/>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9-  </a:t>
            </a:r>
            <a:endParaRPr lang="en-US" sz="1500" dirty="0"/>
          </a:p>
        </p:txBody>
      </p:sp>
      <p:sp>
        <p:nvSpPr>
          <p:cNvPr id="8" name="Shape 6"/>
          <p:cNvSpPr/>
          <p:nvPr/>
        </p:nvSpPr>
        <p:spPr>
          <a:xfrm>
            <a:off x="850392" y="2117435"/>
            <a:ext cx="64008" cy="64008"/>
          </a:xfrm>
          <a:prstGeom prst="ellipse">
            <a:avLst/>
          </a:prstGeom>
          <a:solidFill>
            <a:srgbClr val="0F766E"/>
          </a:solidFill>
          <a:ln/>
        </p:spPr>
      </p:sp>
      <p:sp>
        <p:nvSpPr>
          <p:cNvPr id="9" name="Text 7"/>
          <p:cNvSpPr txBox="1"/>
          <p:nvPr/>
        </p:nvSpPr>
        <p:spPr>
          <a:xfrm>
            <a:off x="1005840" y="204368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-rrhagia (G) (-raji)</a:t>
            </a:r>
            <a:r>
              <a:rPr lang="en-US" sz="1400" dirty="0">
                <a:solidFill>
                  <a:srgbClr val="4B5563"/>
                </a:solidFill>
                <a:latin typeface="Calibri" pitchFamily="34" charset="0"/>
                <a:ea typeface="Calibri" pitchFamily="34" charset="-122"/>
                <a:cs typeface="Calibri" pitchFamily="34" charset="-120"/>
              </a:rPr>
              <a:t>: Kanama, aşırı akış</a:t>
            </a:r>
            <a:endParaRPr lang="en-US" sz="1400" dirty="0"/>
          </a:p>
        </p:txBody>
      </p:sp>
      <p:sp>
        <p:nvSpPr>
          <p:cNvPr id="10" name="Shape 8"/>
          <p:cNvSpPr/>
          <p:nvPr/>
        </p:nvSpPr>
        <p:spPr>
          <a:xfrm>
            <a:off x="850392" y="2370927"/>
            <a:ext cx="64008" cy="64008"/>
          </a:xfrm>
          <a:prstGeom prst="ellipse">
            <a:avLst/>
          </a:prstGeom>
          <a:solidFill>
            <a:srgbClr val="0F766E"/>
          </a:solidFill>
          <a:ln/>
        </p:spPr>
      </p:sp>
      <p:sp>
        <p:nvSpPr>
          <p:cNvPr id="11" name="Text 9"/>
          <p:cNvSpPr txBox="1"/>
          <p:nvPr/>
        </p:nvSpPr>
        <p:spPr>
          <a:xfrm>
            <a:off x="1005840" y="229717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gastrorrhagia (gastroraji)</a:t>
            </a:r>
            <a:r>
              <a:rPr lang="en-US" sz="1400" dirty="0">
                <a:solidFill>
                  <a:srgbClr val="4B5563"/>
                </a:solidFill>
                <a:latin typeface="Calibri" pitchFamily="34" charset="0"/>
                <a:ea typeface="Calibri" pitchFamily="34" charset="-122"/>
                <a:cs typeface="Calibri" pitchFamily="34" charset="-120"/>
              </a:rPr>
              <a:t>: Mide kanaması</a:t>
            </a:r>
            <a:endParaRPr lang="en-US" sz="1400" dirty="0"/>
          </a:p>
        </p:txBody>
      </p:sp>
      <p:sp>
        <p:nvSpPr>
          <p:cNvPr id="12" name="Shape 10"/>
          <p:cNvSpPr/>
          <p:nvPr/>
        </p:nvSpPr>
        <p:spPr>
          <a:xfrm>
            <a:off x="850392" y="2624419"/>
            <a:ext cx="64008" cy="64008"/>
          </a:xfrm>
          <a:prstGeom prst="ellipse">
            <a:avLst/>
          </a:prstGeom>
          <a:solidFill>
            <a:srgbClr val="0F766E"/>
          </a:solidFill>
          <a:ln/>
        </p:spPr>
      </p:sp>
      <p:sp>
        <p:nvSpPr>
          <p:cNvPr id="13" name="Text 11"/>
          <p:cNvSpPr txBox="1"/>
          <p:nvPr/>
        </p:nvSpPr>
        <p:spPr>
          <a:xfrm>
            <a:off x="1005840" y="255066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rhinorrhagia (rinoraji)</a:t>
            </a:r>
            <a:r>
              <a:rPr lang="en-US" sz="1400" dirty="0">
                <a:solidFill>
                  <a:srgbClr val="4B5563"/>
                </a:solidFill>
                <a:latin typeface="Calibri" pitchFamily="34" charset="0"/>
                <a:ea typeface="Calibri" pitchFamily="34" charset="-122"/>
                <a:cs typeface="Calibri" pitchFamily="34" charset="-120"/>
              </a:rPr>
              <a:t>: Burun kanaması</a:t>
            </a:r>
            <a:endParaRPr lang="en-US" sz="1400" dirty="0"/>
          </a:p>
        </p:txBody>
      </p:sp>
      <p:sp>
        <p:nvSpPr>
          <p:cNvPr id="14" name="Shape 12"/>
          <p:cNvSpPr/>
          <p:nvPr/>
        </p:nvSpPr>
        <p:spPr>
          <a:xfrm>
            <a:off x="850392" y="2877911"/>
            <a:ext cx="64008" cy="64008"/>
          </a:xfrm>
          <a:prstGeom prst="ellipse">
            <a:avLst/>
          </a:prstGeom>
          <a:solidFill>
            <a:srgbClr val="0F766E"/>
          </a:solidFill>
          <a:ln/>
        </p:spPr>
      </p:sp>
      <p:sp>
        <p:nvSpPr>
          <p:cNvPr id="15" name="Text 13"/>
          <p:cNvSpPr txBox="1"/>
          <p:nvPr/>
        </p:nvSpPr>
        <p:spPr>
          <a:xfrm>
            <a:off x="1005840" y="280416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cholerrhagia (koleraji)</a:t>
            </a:r>
            <a:r>
              <a:rPr lang="en-US" sz="1400" dirty="0">
                <a:solidFill>
                  <a:srgbClr val="4B5563"/>
                </a:solidFill>
                <a:latin typeface="Calibri" pitchFamily="34" charset="0"/>
                <a:ea typeface="Calibri" pitchFamily="34" charset="-122"/>
                <a:cs typeface="Calibri" pitchFamily="34" charset="-120"/>
              </a:rPr>
              <a:t>: Bağırsağa fazla miktarda safra akması</a:t>
            </a:r>
            <a:endParaRPr lang="en-US" sz="1400" dirty="0"/>
          </a:p>
        </p:txBody>
      </p:sp>
      <p:sp>
        <p:nvSpPr>
          <p:cNvPr id="16" name="Shape 14"/>
          <p:cNvSpPr/>
          <p:nvPr/>
        </p:nvSpPr>
        <p:spPr>
          <a:xfrm>
            <a:off x="548640" y="3286252"/>
            <a:ext cx="11094415" cy="1465834"/>
          </a:xfrm>
          <a:prstGeom prst="roundRect">
            <a:avLst>
              <a:gd name="adj" fmla="val 4367"/>
            </a:avLst>
          </a:prstGeom>
          <a:solidFill>
            <a:srgbClr val="EAF6F4"/>
          </a:solidFill>
          <a:ln/>
        </p:spPr>
      </p:sp>
      <p:sp>
        <p:nvSpPr>
          <p:cNvPr id="17" name="Text 15"/>
          <p:cNvSpPr txBox="1"/>
          <p:nvPr/>
        </p:nvSpPr>
        <p:spPr>
          <a:xfrm>
            <a:off x="731520" y="3350260"/>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10-  </a:t>
            </a:r>
            <a:endParaRPr lang="en-US" sz="1500" dirty="0"/>
          </a:p>
        </p:txBody>
      </p:sp>
      <p:sp>
        <p:nvSpPr>
          <p:cNvPr id="18" name="Shape 16"/>
          <p:cNvSpPr/>
          <p:nvPr/>
        </p:nvSpPr>
        <p:spPr>
          <a:xfrm>
            <a:off x="850392" y="3674709"/>
            <a:ext cx="64008" cy="64008"/>
          </a:xfrm>
          <a:prstGeom prst="ellipse">
            <a:avLst/>
          </a:prstGeom>
          <a:solidFill>
            <a:srgbClr val="0F766E"/>
          </a:solidFill>
          <a:ln/>
        </p:spPr>
      </p:sp>
      <p:sp>
        <p:nvSpPr>
          <p:cNvPr id="19" name="Text 17"/>
          <p:cNvSpPr txBox="1"/>
          <p:nvPr/>
        </p:nvSpPr>
        <p:spPr>
          <a:xfrm>
            <a:off x="1005840" y="360095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-lysis (G) (-liz)</a:t>
            </a:r>
            <a:r>
              <a:rPr lang="en-US" sz="1400" dirty="0">
                <a:solidFill>
                  <a:srgbClr val="4B5563"/>
                </a:solidFill>
                <a:latin typeface="Calibri" pitchFamily="34" charset="0"/>
                <a:ea typeface="Calibri" pitchFamily="34" charset="-122"/>
                <a:cs typeface="Calibri" pitchFamily="34" charset="-120"/>
              </a:rPr>
              <a:t>: Erime, çözülme</a:t>
            </a:r>
            <a:endParaRPr lang="en-US" sz="1400" dirty="0"/>
          </a:p>
        </p:txBody>
      </p:sp>
      <p:sp>
        <p:nvSpPr>
          <p:cNvPr id="20" name="Shape 18"/>
          <p:cNvSpPr/>
          <p:nvPr/>
        </p:nvSpPr>
        <p:spPr>
          <a:xfrm>
            <a:off x="850392" y="3928201"/>
            <a:ext cx="64008" cy="64008"/>
          </a:xfrm>
          <a:prstGeom prst="ellipse">
            <a:avLst/>
          </a:prstGeom>
          <a:solidFill>
            <a:srgbClr val="0F766E"/>
          </a:solidFill>
          <a:ln/>
        </p:spPr>
      </p:sp>
      <p:sp>
        <p:nvSpPr>
          <p:cNvPr id="21" name="Text 19"/>
          <p:cNvSpPr txBox="1"/>
          <p:nvPr/>
        </p:nvSpPr>
        <p:spPr>
          <a:xfrm>
            <a:off x="1005840" y="3854450"/>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cytolysis (sitoliz)</a:t>
            </a:r>
            <a:r>
              <a:rPr lang="en-US" sz="1400" dirty="0">
                <a:solidFill>
                  <a:srgbClr val="4B5563"/>
                </a:solidFill>
                <a:latin typeface="Calibri" pitchFamily="34" charset="0"/>
                <a:ea typeface="Calibri" pitchFamily="34" charset="-122"/>
                <a:cs typeface="Calibri" pitchFamily="34" charset="-120"/>
              </a:rPr>
              <a:t>: Hücre erimesi</a:t>
            </a:r>
            <a:endParaRPr lang="en-US" sz="1400" dirty="0"/>
          </a:p>
        </p:txBody>
      </p:sp>
      <p:sp>
        <p:nvSpPr>
          <p:cNvPr id="22" name="Shape 20"/>
          <p:cNvSpPr/>
          <p:nvPr/>
        </p:nvSpPr>
        <p:spPr>
          <a:xfrm>
            <a:off x="850392" y="4181693"/>
            <a:ext cx="64008" cy="64008"/>
          </a:xfrm>
          <a:prstGeom prst="ellipse">
            <a:avLst/>
          </a:prstGeom>
          <a:solidFill>
            <a:srgbClr val="0F766E"/>
          </a:solidFill>
          <a:ln/>
        </p:spPr>
      </p:sp>
      <p:sp>
        <p:nvSpPr>
          <p:cNvPr id="23" name="Text 21"/>
          <p:cNvSpPr txBox="1"/>
          <p:nvPr/>
        </p:nvSpPr>
        <p:spPr>
          <a:xfrm>
            <a:off x="1005840" y="410794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hemolysis (hemoliz)</a:t>
            </a:r>
            <a:r>
              <a:rPr lang="en-US" sz="1400" dirty="0">
                <a:solidFill>
                  <a:srgbClr val="4B5563"/>
                </a:solidFill>
                <a:latin typeface="Calibri" pitchFamily="34" charset="0"/>
                <a:ea typeface="Calibri" pitchFamily="34" charset="-122"/>
                <a:cs typeface="Calibri" pitchFamily="34" charset="-120"/>
              </a:rPr>
              <a:t>: Alyuvarların erimesi</a:t>
            </a:r>
            <a:endParaRPr lang="en-US" sz="1400" dirty="0"/>
          </a:p>
        </p:txBody>
      </p:sp>
      <p:sp>
        <p:nvSpPr>
          <p:cNvPr id="24" name="Shape 22"/>
          <p:cNvSpPr/>
          <p:nvPr/>
        </p:nvSpPr>
        <p:spPr>
          <a:xfrm>
            <a:off x="850392" y="4435185"/>
            <a:ext cx="64008" cy="64008"/>
          </a:xfrm>
          <a:prstGeom prst="ellipse">
            <a:avLst/>
          </a:prstGeom>
          <a:solidFill>
            <a:srgbClr val="0F766E"/>
          </a:solidFill>
          <a:ln/>
        </p:spPr>
      </p:sp>
      <p:sp>
        <p:nvSpPr>
          <p:cNvPr id="25" name="Text 23"/>
          <p:cNvSpPr txBox="1"/>
          <p:nvPr/>
        </p:nvSpPr>
        <p:spPr>
          <a:xfrm>
            <a:off x="1005840" y="436143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arthrolysis (artroliz)</a:t>
            </a:r>
            <a:r>
              <a:rPr lang="en-US" sz="1400" dirty="0">
                <a:solidFill>
                  <a:srgbClr val="4B5563"/>
                </a:solidFill>
                <a:latin typeface="Calibri" pitchFamily="34" charset="0"/>
                <a:ea typeface="Calibri" pitchFamily="34" charset="-122"/>
                <a:cs typeface="Calibri" pitchFamily="34" charset="-120"/>
              </a:rPr>
              <a:t>: Cerrahi yöntemle eklem içi yapışıkların çözülerek eklemin yeniden hareket kazandırılması</a:t>
            </a:r>
            <a:endParaRPr lang="en-US" sz="1400" dirty="0"/>
          </a:p>
        </p:txBody>
      </p:sp>
      <p:sp>
        <p:nvSpPr>
          <p:cNvPr id="26" name="Shape 24"/>
          <p:cNvSpPr/>
          <p:nvPr/>
        </p:nvSpPr>
        <p:spPr>
          <a:xfrm>
            <a:off x="548640" y="4843526"/>
            <a:ext cx="11094415" cy="1465834"/>
          </a:xfrm>
          <a:prstGeom prst="roundRect">
            <a:avLst>
              <a:gd name="adj" fmla="val 4367"/>
            </a:avLst>
          </a:prstGeom>
          <a:solidFill>
            <a:srgbClr val="EAF6F4"/>
          </a:solidFill>
          <a:ln/>
        </p:spPr>
      </p:sp>
      <p:sp>
        <p:nvSpPr>
          <p:cNvPr id="27" name="Text 25"/>
          <p:cNvSpPr txBox="1"/>
          <p:nvPr/>
        </p:nvSpPr>
        <p:spPr>
          <a:xfrm>
            <a:off x="731520" y="4907534"/>
            <a:ext cx="10728655"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11-  </a:t>
            </a:r>
            <a:endParaRPr lang="en-US" sz="1500" dirty="0"/>
          </a:p>
        </p:txBody>
      </p:sp>
      <p:sp>
        <p:nvSpPr>
          <p:cNvPr id="28" name="Shape 26"/>
          <p:cNvSpPr/>
          <p:nvPr/>
        </p:nvSpPr>
        <p:spPr>
          <a:xfrm>
            <a:off x="850392" y="5231983"/>
            <a:ext cx="64008" cy="64008"/>
          </a:xfrm>
          <a:prstGeom prst="ellipse">
            <a:avLst/>
          </a:prstGeom>
          <a:solidFill>
            <a:srgbClr val="0F766E"/>
          </a:solidFill>
          <a:ln/>
        </p:spPr>
      </p:sp>
      <p:sp>
        <p:nvSpPr>
          <p:cNvPr id="29" name="Text 27"/>
          <p:cNvSpPr txBox="1"/>
          <p:nvPr/>
        </p:nvSpPr>
        <p:spPr>
          <a:xfrm>
            <a:off x="1005840" y="5158232"/>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-ectasia, -ectasis (G) (-ektazi)</a:t>
            </a:r>
            <a:r>
              <a:rPr lang="en-US" sz="1400" dirty="0">
                <a:solidFill>
                  <a:srgbClr val="4B5563"/>
                </a:solidFill>
                <a:latin typeface="Calibri" pitchFamily="34" charset="0"/>
                <a:ea typeface="Calibri" pitchFamily="34" charset="-122"/>
                <a:cs typeface="Calibri" pitchFamily="34" charset="-120"/>
              </a:rPr>
              <a:t>: Genişleme</a:t>
            </a:r>
            <a:endParaRPr lang="en-US" sz="1400" dirty="0"/>
          </a:p>
        </p:txBody>
      </p:sp>
      <p:sp>
        <p:nvSpPr>
          <p:cNvPr id="30" name="Shape 28"/>
          <p:cNvSpPr/>
          <p:nvPr/>
        </p:nvSpPr>
        <p:spPr>
          <a:xfrm>
            <a:off x="850392" y="5485475"/>
            <a:ext cx="64008" cy="64008"/>
          </a:xfrm>
          <a:prstGeom prst="ellipse">
            <a:avLst/>
          </a:prstGeom>
          <a:solidFill>
            <a:srgbClr val="0F766E"/>
          </a:solidFill>
          <a:ln/>
        </p:spPr>
      </p:sp>
      <p:sp>
        <p:nvSpPr>
          <p:cNvPr id="31" name="Text 29"/>
          <p:cNvSpPr txBox="1"/>
          <p:nvPr/>
        </p:nvSpPr>
        <p:spPr>
          <a:xfrm>
            <a:off x="1005840" y="5411724"/>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bronchiectasia (bronşektazi)</a:t>
            </a:r>
            <a:r>
              <a:rPr lang="en-US" sz="1400" dirty="0">
                <a:solidFill>
                  <a:srgbClr val="4B5563"/>
                </a:solidFill>
                <a:latin typeface="Calibri" pitchFamily="34" charset="0"/>
                <a:ea typeface="Calibri" pitchFamily="34" charset="-122"/>
                <a:cs typeface="Calibri" pitchFamily="34" charset="-120"/>
              </a:rPr>
              <a:t>: Bronşların genişlemesi</a:t>
            </a:r>
            <a:endParaRPr lang="en-US" sz="1400" dirty="0"/>
          </a:p>
        </p:txBody>
      </p:sp>
      <p:sp>
        <p:nvSpPr>
          <p:cNvPr id="32" name="Shape 30"/>
          <p:cNvSpPr/>
          <p:nvPr/>
        </p:nvSpPr>
        <p:spPr>
          <a:xfrm>
            <a:off x="850392" y="5738967"/>
            <a:ext cx="64008" cy="64008"/>
          </a:xfrm>
          <a:prstGeom prst="ellipse">
            <a:avLst/>
          </a:prstGeom>
          <a:solidFill>
            <a:srgbClr val="0F766E"/>
          </a:solidFill>
          <a:ln/>
        </p:spPr>
      </p:sp>
      <p:sp>
        <p:nvSpPr>
          <p:cNvPr id="33" name="Text 31"/>
          <p:cNvSpPr txBox="1"/>
          <p:nvPr/>
        </p:nvSpPr>
        <p:spPr>
          <a:xfrm>
            <a:off x="1005840" y="5665216"/>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enterectasis (enterektazi)</a:t>
            </a:r>
            <a:r>
              <a:rPr lang="en-US" sz="1400" dirty="0">
                <a:solidFill>
                  <a:srgbClr val="4B5563"/>
                </a:solidFill>
                <a:latin typeface="Calibri" pitchFamily="34" charset="0"/>
                <a:ea typeface="Calibri" pitchFamily="34" charset="-122"/>
                <a:cs typeface="Calibri" pitchFamily="34" charset="-120"/>
              </a:rPr>
              <a:t>: Bağırsakların genişlemesi</a:t>
            </a:r>
            <a:endParaRPr lang="en-US" sz="1400" dirty="0"/>
          </a:p>
        </p:txBody>
      </p:sp>
      <p:sp>
        <p:nvSpPr>
          <p:cNvPr id="34" name="Shape 32"/>
          <p:cNvSpPr/>
          <p:nvPr/>
        </p:nvSpPr>
        <p:spPr>
          <a:xfrm>
            <a:off x="850392" y="5992459"/>
            <a:ext cx="64008" cy="64008"/>
          </a:xfrm>
          <a:prstGeom prst="ellipse">
            <a:avLst/>
          </a:prstGeom>
          <a:solidFill>
            <a:srgbClr val="0F766E"/>
          </a:solidFill>
          <a:ln/>
        </p:spPr>
      </p:sp>
      <p:sp>
        <p:nvSpPr>
          <p:cNvPr id="35" name="Text 33"/>
          <p:cNvSpPr txBox="1"/>
          <p:nvPr/>
        </p:nvSpPr>
        <p:spPr>
          <a:xfrm>
            <a:off x="1005840" y="5918708"/>
            <a:ext cx="10454335"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atelectasis (atelektazi)</a:t>
            </a:r>
            <a:r>
              <a:rPr lang="en-US" sz="1400" dirty="0">
                <a:solidFill>
                  <a:srgbClr val="4B5563"/>
                </a:solidFill>
                <a:latin typeface="Calibri" pitchFamily="34" charset="0"/>
                <a:ea typeface="Calibri" pitchFamily="34" charset="-122"/>
                <a:cs typeface="Calibri" pitchFamily="34" charset="-120"/>
              </a:rPr>
              <a:t>: Uç kısımların (alveollerin) genişlemesi, sönmesi (a+tele+ectasis)</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Hastalık, Hastalık Belirtileri ve Tedaviye İlişkin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87</a:t>
            </a:r>
            <a:endParaRPr lang="en-US" sz="1000" dirty="0"/>
          </a:p>
        </p:txBody>
      </p:sp>
      <p:sp>
        <p:nvSpPr>
          <p:cNvPr id="6" name="Shape 4"/>
          <p:cNvSpPr/>
          <p:nvPr/>
        </p:nvSpPr>
        <p:spPr>
          <a:xfrm>
            <a:off x="548640" y="1641856"/>
            <a:ext cx="11094415" cy="1098296"/>
          </a:xfrm>
          <a:prstGeom prst="roundRect">
            <a:avLst>
              <a:gd name="adj" fmla="val 5828"/>
            </a:avLst>
          </a:prstGeom>
          <a:solidFill>
            <a:srgbClr val="EAF6F4"/>
          </a:solidFill>
          <a:ln/>
        </p:spPr>
      </p:sp>
      <p:sp>
        <p:nvSpPr>
          <p:cNvPr id="7" name="Text 5"/>
          <p:cNvSpPr txBox="1"/>
          <p:nvPr/>
        </p:nvSpPr>
        <p:spPr>
          <a:xfrm>
            <a:off x="731520" y="1705864"/>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12-a)  -rrhexis (G) (-reksis): </a:t>
            </a:r>
            <a:r>
              <a:rPr lang="en-US" sz="1800" dirty="0">
                <a:solidFill>
                  <a:srgbClr val="1F2937"/>
                </a:solidFill>
                <a:latin typeface="Calibri" pitchFamily="34" charset="0"/>
                <a:ea typeface="Calibri" pitchFamily="34" charset="-122"/>
                <a:cs typeface="Calibri" pitchFamily="34" charset="-120"/>
              </a:rPr>
              <a:t>Yırtılma, yarılma</a:t>
            </a:r>
            <a:endParaRPr lang="en-US" sz="1800" dirty="0"/>
          </a:p>
        </p:txBody>
      </p:sp>
      <p:sp>
        <p:nvSpPr>
          <p:cNvPr id="8" name="Shape 6"/>
          <p:cNvSpPr/>
          <p:nvPr/>
        </p:nvSpPr>
        <p:spPr>
          <a:xfrm>
            <a:off x="850392" y="2092599"/>
            <a:ext cx="64008" cy="64008"/>
          </a:xfrm>
          <a:prstGeom prst="ellipse">
            <a:avLst/>
          </a:prstGeom>
          <a:solidFill>
            <a:srgbClr val="0F766E"/>
          </a:solidFill>
          <a:ln/>
        </p:spPr>
      </p:sp>
      <p:sp>
        <p:nvSpPr>
          <p:cNvPr id="9" name="Text 7"/>
          <p:cNvSpPr txBox="1"/>
          <p:nvPr/>
        </p:nvSpPr>
        <p:spPr>
          <a:xfrm>
            <a:off x="1005840" y="200304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gastrorrhexis (gastroreksis)</a:t>
            </a:r>
            <a:r>
              <a:rPr lang="en-US" sz="1700" dirty="0">
                <a:solidFill>
                  <a:srgbClr val="4B5563"/>
                </a:solidFill>
                <a:latin typeface="Calibri" pitchFamily="34" charset="0"/>
                <a:ea typeface="Calibri" pitchFamily="34" charset="-122"/>
                <a:cs typeface="Calibri" pitchFamily="34" charset="-120"/>
              </a:rPr>
              <a:t>: Mide duvarının yırtılması</a:t>
            </a:r>
            <a:endParaRPr lang="en-US" sz="1700" dirty="0"/>
          </a:p>
        </p:txBody>
      </p:sp>
      <p:sp>
        <p:nvSpPr>
          <p:cNvPr id="10" name="Shape 8"/>
          <p:cNvSpPr/>
          <p:nvPr/>
        </p:nvSpPr>
        <p:spPr>
          <a:xfrm>
            <a:off x="850392" y="2392573"/>
            <a:ext cx="64008" cy="64008"/>
          </a:xfrm>
          <a:prstGeom prst="ellipse">
            <a:avLst/>
          </a:prstGeom>
          <a:solidFill>
            <a:srgbClr val="0F766E"/>
          </a:solidFill>
          <a:ln/>
        </p:spPr>
      </p:sp>
      <p:sp>
        <p:nvSpPr>
          <p:cNvPr id="11" name="Text 9"/>
          <p:cNvSpPr txBox="1"/>
          <p:nvPr/>
        </p:nvSpPr>
        <p:spPr>
          <a:xfrm>
            <a:off x="1005840" y="2303018"/>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hysterorrhexis (histeroreksis)</a:t>
            </a:r>
            <a:r>
              <a:rPr lang="en-US" sz="1700" dirty="0">
                <a:solidFill>
                  <a:srgbClr val="4B5563"/>
                </a:solidFill>
                <a:latin typeface="Calibri" pitchFamily="34" charset="0"/>
                <a:ea typeface="Calibri" pitchFamily="34" charset="-122"/>
                <a:cs typeface="Calibri" pitchFamily="34" charset="-120"/>
              </a:rPr>
              <a:t>: Döl yatağı duvarının yırtılması</a:t>
            </a:r>
            <a:endParaRPr lang="en-US" sz="1700" dirty="0"/>
          </a:p>
        </p:txBody>
      </p:sp>
      <p:sp>
        <p:nvSpPr>
          <p:cNvPr id="12" name="Shape 10"/>
          <p:cNvSpPr/>
          <p:nvPr/>
        </p:nvSpPr>
        <p:spPr>
          <a:xfrm>
            <a:off x="548640" y="2831592"/>
            <a:ext cx="11094415" cy="1098296"/>
          </a:xfrm>
          <a:prstGeom prst="roundRect">
            <a:avLst>
              <a:gd name="adj" fmla="val 5828"/>
            </a:avLst>
          </a:prstGeom>
          <a:solidFill>
            <a:srgbClr val="EAF6F4"/>
          </a:solidFill>
          <a:ln/>
        </p:spPr>
      </p:sp>
      <p:sp>
        <p:nvSpPr>
          <p:cNvPr id="13" name="Text 11"/>
          <p:cNvSpPr txBox="1"/>
          <p:nvPr/>
        </p:nvSpPr>
        <p:spPr>
          <a:xfrm>
            <a:off x="731520" y="2895600"/>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12-b)  -rrhaphy (G) (-rafi): </a:t>
            </a:r>
            <a:r>
              <a:rPr lang="en-US" sz="1800" dirty="0">
                <a:solidFill>
                  <a:srgbClr val="1F2937"/>
                </a:solidFill>
                <a:latin typeface="Calibri" pitchFamily="34" charset="0"/>
                <a:ea typeface="Calibri" pitchFamily="34" charset="-122"/>
                <a:cs typeface="Calibri" pitchFamily="34" charset="-120"/>
              </a:rPr>
              <a:t>Dikme, dikiş koyma</a:t>
            </a:r>
            <a:endParaRPr lang="en-US" sz="1800" dirty="0"/>
          </a:p>
        </p:txBody>
      </p:sp>
      <p:sp>
        <p:nvSpPr>
          <p:cNvPr id="14" name="Shape 12"/>
          <p:cNvSpPr/>
          <p:nvPr/>
        </p:nvSpPr>
        <p:spPr>
          <a:xfrm>
            <a:off x="850392" y="3282335"/>
            <a:ext cx="64008" cy="64008"/>
          </a:xfrm>
          <a:prstGeom prst="ellipse">
            <a:avLst/>
          </a:prstGeom>
          <a:solidFill>
            <a:srgbClr val="0F766E"/>
          </a:solidFill>
          <a:ln/>
        </p:spPr>
      </p:sp>
      <p:sp>
        <p:nvSpPr>
          <p:cNvPr id="15" name="Text 13"/>
          <p:cNvSpPr txBox="1"/>
          <p:nvPr/>
        </p:nvSpPr>
        <p:spPr>
          <a:xfrm>
            <a:off x="1005840" y="319278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gastrorrhaphy (gastrorafi)</a:t>
            </a:r>
            <a:r>
              <a:rPr lang="en-US" sz="1700" dirty="0">
                <a:solidFill>
                  <a:srgbClr val="4B5563"/>
                </a:solidFill>
                <a:latin typeface="Calibri" pitchFamily="34" charset="0"/>
                <a:ea typeface="Calibri" pitchFamily="34" charset="-122"/>
                <a:cs typeface="Calibri" pitchFamily="34" charset="-120"/>
              </a:rPr>
              <a:t>: Delinen veya yırtılan mide duvarının yırtılması</a:t>
            </a:r>
            <a:endParaRPr lang="en-US" sz="1700" dirty="0"/>
          </a:p>
        </p:txBody>
      </p:sp>
      <p:sp>
        <p:nvSpPr>
          <p:cNvPr id="16" name="Shape 14"/>
          <p:cNvSpPr/>
          <p:nvPr/>
        </p:nvSpPr>
        <p:spPr>
          <a:xfrm>
            <a:off x="850392" y="3582309"/>
            <a:ext cx="64008" cy="64008"/>
          </a:xfrm>
          <a:prstGeom prst="ellipse">
            <a:avLst/>
          </a:prstGeom>
          <a:solidFill>
            <a:srgbClr val="0F766E"/>
          </a:solidFill>
          <a:ln/>
        </p:spPr>
      </p:sp>
      <p:sp>
        <p:nvSpPr>
          <p:cNvPr id="17" name="Text 15"/>
          <p:cNvSpPr txBox="1"/>
          <p:nvPr/>
        </p:nvSpPr>
        <p:spPr>
          <a:xfrm>
            <a:off x="1005840" y="3492754"/>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hysterorrhaphy (histerorafi)</a:t>
            </a:r>
            <a:r>
              <a:rPr lang="en-US" sz="1700" dirty="0">
                <a:solidFill>
                  <a:srgbClr val="4B5563"/>
                </a:solidFill>
                <a:latin typeface="Calibri" pitchFamily="34" charset="0"/>
                <a:ea typeface="Calibri" pitchFamily="34" charset="-122"/>
                <a:cs typeface="Calibri" pitchFamily="34" charset="-120"/>
              </a:rPr>
              <a:t>: Döl yatağının duvarındaki kesiği dikme</a:t>
            </a:r>
            <a:endParaRPr lang="en-US" sz="1700" dirty="0"/>
          </a:p>
        </p:txBody>
      </p:sp>
      <p:sp>
        <p:nvSpPr>
          <p:cNvPr id="18" name="Shape 16"/>
          <p:cNvSpPr/>
          <p:nvPr/>
        </p:nvSpPr>
        <p:spPr>
          <a:xfrm>
            <a:off x="548640" y="4021328"/>
            <a:ext cx="11094415" cy="1098296"/>
          </a:xfrm>
          <a:prstGeom prst="roundRect">
            <a:avLst>
              <a:gd name="adj" fmla="val 5828"/>
            </a:avLst>
          </a:prstGeom>
          <a:solidFill>
            <a:srgbClr val="EAF6F4"/>
          </a:solidFill>
          <a:ln/>
        </p:spPr>
      </p:sp>
      <p:sp>
        <p:nvSpPr>
          <p:cNvPr id="19" name="Text 17"/>
          <p:cNvSpPr txBox="1"/>
          <p:nvPr/>
        </p:nvSpPr>
        <p:spPr>
          <a:xfrm>
            <a:off x="731520" y="4085336"/>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13-a)  -ptosis (G) (-ptoz): </a:t>
            </a:r>
            <a:r>
              <a:rPr lang="en-US" sz="1800" dirty="0">
                <a:solidFill>
                  <a:srgbClr val="1F2937"/>
                </a:solidFill>
                <a:latin typeface="Calibri" pitchFamily="34" charset="0"/>
                <a:ea typeface="Calibri" pitchFamily="34" charset="-122"/>
                <a:cs typeface="Calibri" pitchFamily="34" charset="-120"/>
              </a:rPr>
              <a:t>Sarkma, düşme, aşağı inme</a:t>
            </a:r>
            <a:endParaRPr lang="en-US" sz="1800" dirty="0"/>
          </a:p>
        </p:txBody>
      </p:sp>
      <p:sp>
        <p:nvSpPr>
          <p:cNvPr id="20" name="Shape 18"/>
          <p:cNvSpPr/>
          <p:nvPr/>
        </p:nvSpPr>
        <p:spPr>
          <a:xfrm>
            <a:off x="850392" y="4472071"/>
            <a:ext cx="64008" cy="64008"/>
          </a:xfrm>
          <a:prstGeom prst="ellipse">
            <a:avLst/>
          </a:prstGeom>
          <a:solidFill>
            <a:srgbClr val="0F766E"/>
          </a:solidFill>
          <a:ln/>
        </p:spPr>
      </p:sp>
      <p:sp>
        <p:nvSpPr>
          <p:cNvPr id="21" name="Text 19"/>
          <p:cNvSpPr txBox="1"/>
          <p:nvPr/>
        </p:nvSpPr>
        <p:spPr>
          <a:xfrm>
            <a:off x="1005840" y="438251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blepharoptosis (blefaroptoz)</a:t>
            </a:r>
            <a:r>
              <a:rPr lang="en-US" sz="1700" dirty="0">
                <a:solidFill>
                  <a:srgbClr val="4B5563"/>
                </a:solidFill>
                <a:latin typeface="Calibri" pitchFamily="34" charset="0"/>
                <a:ea typeface="Calibri" pitchFamily="34" charset="-122"/>
                <a:cs typeface="Calibri" pitchFamily="34" charset="-120"/>
              </a:rPr>
              <a:t>: Göz kapağının aşağı düşmesi</a:t>
            </a:r>
            <a:endParaRPr lang="en-US" sz="1700" dirty="0"/>
          </a:p>
        </p:txBody>
      </p:sp>
      <p:sp>
        <p:nvSpPr>
          <p:cNvPr id="22" name="Shape 20"/>
          <p:cNvSpPr/>
          <p:nvPr/>
        </p:nvSpPr>
        <p:spPr>
          <a:xfrm>
            <a:off x="850392" y="4772045"/>
            <a:ext cx="64008" cy="64008"/>
          </a:xfrm>
          <a:prstGeom prst="ellipse">
            <a:avLst/>
          </a:prstGeom>
          <a:solidFill>
            <a:srgbClr val="0F766E"/>
          </a:solidFill>
          <a:ln/>
        </p:spPr>
      </p:sp>
      <p:sp>
        <p:nvSpPr>
          <p:cNvPr id="23" name="Text 21"/>
          <p:cNvSpPr txBox="1"/>
          <p:nvPr/>
        </p:nvSpPr>
        <p:spPr>
          <a:xfrm>
            <a:off x="1005840" y="4682490"/>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gastroptosis (gastroptoz)</a:t>
            </a:r>
            <a:r>
              <a:rPr lang="en-US" sz="1700" dirty="0">
                <a:solidFill>
                  <a:srgbClr val="4B5563"/>
                </a:solidFill>
                <a:latin typeface="Calibri" pitchFamily="34" charset="0"/>
                <a:ea typeface="Calibri" pitchFamily="34" charset="-122"/>
                <a:cs typeface="Calibri" pitchFamily="34" charset="-120"/>
              </a:rPr>
              <a:t>: mide düşüklüğü</a:t>
            </a:r>
            <a:endParaRPr lang="en-US" sz="1700" dirty="0"/>
          </a:p>
        </p:txBody>
      </p:sp>
      <p:sp>
        <p:nvSpPr>
          <p:cNvPr id="24" name="Shape 22"/>
          <p:cNvSpPr/>
          <p:nvPr/>
        </p:nvSpPr>
        <p:spPr>
          <a:xfrm>
            <a:off x="548640" y="5211064"/>
            <a:ext cx="11094415" cy="1098296"/>
          </a:xfrm>
          <a:prstGeom prst="roundRect">
            <a:avLst>
              <a:gd name="adj" fmla="val 5828"/>
            </a:avLst>
          </a:prstGeom>
          <a:solidFill>
            <a:srgbClr val="EAF6F4"/>
          </a:solidFill>
          <a:ln/>
        </p:spPr>
      </p:sp>
      <p:sp>
        <p:nvSpPr>
          <p:cNvPr id="25" name="Text 23"/>
          <p:cNvSpPr txBox="1"/>
          <p:nvPr/>
        </p:nvSpPr>
        <p:spPr>
          <a:xfrm>
            <a:off x="731520" y="5275072"/>
            <a:ext cx="10728655" cy="333756"/>
          </a:xfrm>
          <a:prstGeom prst="rect">
            <a:avLst/>
          </a:prstGeom>
          <a:noFill/>
          <a:ln/>
        </p:spPr>
        <p:txBody>
          <a:bodyPr wrap="square" lIns="0" tIns="0" rIns="0" bIns="0" rtlCol="0" anchor="t"/>
          <a:lstStyle/>
          <a:p>
            <a:pPr marL="0" indent="0">
              <a:lnSpc>
                <a:spcPct val="105000"/>
              </a:lnSpc>
              <a:buNone/>
            </a:pPr>
            <a:r>
              <a:rPr lang="en-US" sz="1800" b="1" dirty="0">
                <a:solidFill>
                  <a:srgbClr val="0F766E"/>
                </a:solidFill>
                <a:latin typeface="Calibri" pitchFamily="34" charset="0"/>
                <a:ea typeface="Calibri" pitchFamily="34" charset="-122"/>
                <a:cs typeface="Calibri" pitchFamily="34" charset="-120"/>
              </a:rPr>
              <a:t>13-b)  -pexy (G) (-peksi): </a:t>
            </a:r>
            <a:r>
              <a:rPr lang="en-US" sz="1800" dirty="0">
                <a:solidFill>
                  <a:srgbClr val="1F2937"/>
                </a:solidFill>
                <a:latin typeface="Calibri" pitchFamily="34" charset="0"/>
                <a:ea typeface="Calibri" pitchFamily="34" charset="-122"/>
                <a:cs typeface="Calibri" pitchFamily="34" charset="-120"/>
              </a:rPr>
              <a:t>Yerinden uzaklaşmış bir yapıyı tekrar yerine tespit etme</a:t>
            </a:r>
            <a:endParaRPr lang="en-US" sz="1800" dirty="0"/>
          </a:p>
        </p:txBody>
      </p:sp>
      <p:sp>
        <p:nvSpPr>
          <p:cNvPr id="26" name="Shape 24"/>
          <p:cNvSpPr/>
          <p:nvPr/>
        </p:nvSpPr>
        <p:spPr>
          <a:xfrm>
            <a:off x="850392" y="5661807"/>
            <a:ext cx="64008" cy="64008"/>
          </a:xfrm>
          <a:prstGeom prst="ellipse">
            <a:avLst/>
          </a:prstGeom>
          <a:solidFill>
            <a:srgbClr val="0F766E"/>
          </a:solidFill>
          <a:ln/>
        </p:spPr>
      </p:sp>
      <p:sp>
        <p:nvSpPr>
          <p:cNvPr id="27" name="Text 25"/>
          <p:cNvSpPr txBox="1"/>
          <p:nvPr/>
        </p:nvSpPr>
        <p:spPr>
          <a:xfrm>
            <a:off x="1005840" y="5572252"/>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gastropexy (gastropeksi)</a:t>
            </a:r>
            <a:r>
              <a:rPr lang="en-US" sz="1700" dirty="0">
                <a:solidFill>
                  <a:srgbClr val="4B5563"/>
                </a:solidFill>
                <a:latin typeface="Calibri" pitchFamily="34" charset="0"/>
                <a:ea typeface="Calibri" pitchFamily="34" charset="-122"/>
                <a:cs typeface="Calibri" pitchFamily="34" charset="-120"/>
              </a:rPr>
              <a:t>: Normal yerinden ayrılan mideyi ameliyatla karın duvarına tespit etme</a:t>
            </a:r>
            <a:endParaRPr lang="en-US" sz="1700" dirty="0"/>
          </a:p>
        </p:txBody>
      </p:sp>
      <p:sp>
        <p:nvSpPr>
          <p:cNvPr id="28" name="Shape 26"/>
          <p:cNvSpPr/>
          <p:nvPr/>
        </p:nvSpPr>
        <p:spPr>
          <a:xfrm>
            <a:off x="850392" y="5961781"/>
            <a:ext cx="64008" cy="64008"/>
          </a:xfrm>
          <a:prstGeom prst="ellipse">
            <a:avLst/>
          </a:prstGeom>
          <a:solidFill>
            <a:srgbClr val="0F766E"/>
          </a:solidFill>
          <a:ln/>
        </p:spPr>
      </p:sp>
      <p:sp>
        <p:nvSpPr>
          <p:cNvPr id="29" name="Text 27"/>
          <p:cNvSpPr txBox="1"/>
          <p:nvPr/>
        </p:nvSpPr>
        <p:spPr>
          <a:xfrm>
            <a:off x="1005840" y="5872226"/>
            <a:ext cx="10454335" cy="299974"/>
          </a:xfrm>
          <a:prstGeom prst="rect">
            <a:avLst/>
          </a:prstGeom>
          <a:noFill/>
          <a:ln/>
        </p:spPr>
        <p:txBody>
          <a:bodyPr wrap="square" lIns="0" tIns="0" rIns="0" bIns="0" rtlCol="0" anchor="t"/>
          <a:lstStyle/>
          <a:p>
            <a:pPr marL="0" indent="0">
              <a:lnSpc>
                <a:spcPct val="105000"/>
              </a:lnSpc>
              <a:buNone/>
            </a:pPr>
            <a:r>
              <a:rPr lang="en-US" sz="1700" b="1" dirty="0">
                <a:solidFill>
                  <a:srgbClr val="1F2937"/>
                </a:solidFill>
                <a:latin typeface="Calibri" pitchFamily="34" charset="0"/>
                <a:ea typeface="Calibri" pitchFamily="34" charset="-122"/>
                <a:cs typeface="Calibri" pitchFamily="34" charset="-120"/>
              </a:rPr>
              <a:t>hepatopexy (hepatopeksi)</a:t>
            </a:r>
            <a:r>
              <a:rPr lang="en-US" sz="1700" dirty="0">
                <a:solidFill>
                  <a:srgbClr val="4B5563"/>
                </a:solidFill>
                <a:latin typeface="Calibri" pitchFamily="34" charset="0"/>
                <a:ea typeface="Calibri" pitchFamily="34" charset="-122"/>
                <a:cs typeface="Calibri" pitchFamily="34" charset="-120"/>
              </a:rPr>
              <a:t>: Düşük karaciğerin ameliyatla karın duvarına tespit edilmesi</a:t>
            </a:r>
            <a:endParaRPr lang="en-US" sz="17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Hastalık, Hastalık Belirtileri ve Tedaviye İlişkin Sonekler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88</a:t>
            </a:r>
            <a:endParaRPr lang="en-US" sz="1000" dirty="0"/>
          </a:p>
        </p:txBody>
      </p:sp>
      <p:sp>
        <p:nvSpPr>
          <p:cNvPr id="6" name="Shape 4"/>
          <p:cNvSpPr/>
          <p:nvPr/>
        </p:nvSpPr>
        <p:spPr>
          <a:xfrm>
            <a:off x="548640" y="1595120"/>
            <a:ext cx="5410048" cy="1553210"/>
          </a:xfrm>
          <a:prstGeom prst="roundRect">
            <a:avLst>
              <a:gd name="adj" fmla="val 4121"/>
            </a:avLst>
          </a:prstGeom>
          <a:solidFill>
            <a:srgbClr val="EAF6F4"/>
          </a:solidFill>
          <a:ln/>
        </p:spPr>
      </p:sp>
      <p:sp>
        <p:nvSpPr>
          <p:cNvPr id="7" name="Text 5"/>
          <p:cNvSpPr txBox="1"/>
          <p:nvPr/>
        </p:nvSpPr>
        <p:spPr>
          <a:xfrm>
            <a:off x="731520" y="1659128"/>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14-  </a:t>
            </a:r>
            <a:endParaRPr lang="en-US" sz="1400" dirty="0"/>
          </a:p>
        </p:txBody>
      </p:sp>
      <p:sp>
        <p:nvSpPr>
          <p:cNvPr id="8" name="Shape 6"/>
          <p:cNvSpPr/>
          <p:nvPr/>
        </p:nvSpPr>
        <p:spPr>
          <a:xfrm>
            <a:off x="850392" y="1962815"/>
            <a:ext cx="64008" cy="64008"/>
          </a:xfrm>
          <a:prstGeom prst="ellipse">
            <a:avLst/>
          </a:prstGeom>
          <a:solidFill>
            <a:srgbClr val="0F766E"/>
          </a:solidFill>
          <a:ln/>
        </p:spPr>
      </p:sp>
      <p:sp>
        <p:nvSpPr>
          <p:cNvPr id="9" name="Text 7"/>
          <p:cNvSpPr txBox="1"/>
          <p:nvPr/>
        </p:nvSpPr>
        <p:spPr>
          <a:xfrm>
            <a:off x="1005840" y="1894332"/>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-plasty (G) (-plasti)</a:t>
            </a:r>
            <a:r>
              <a:rPr lang="en-US" sz="1300" dirty="0">
                <a:solidFill>
                  <a:srgbClr val="4B5563"/>
                </a:solidFill>
                <a:latin typeface="Calibri" pitchFamily="34" charset="0"/>
                <a:ea typeface="Calibri" pitchFamily="34" charset="-122"/>
                <a:cs typeface="Calibri" pitchFamily="34" charset="-120"/>
              </a:rPr>
              <a:t>: Herhangi bir şekil bozukluğunu düzeltme veya onarma ameliyatı, estetik ameliyatı</a:t>
            </a:r>
            <a:endParaRPr lang="en-US" sz="1300" dirty="0"/>
          </a:p>
        </p:txBody>
      </p:sp>
      <p:sp>
        <p:nvSpPr>
          <p:cNvPr id="10" name="Shape 8"/>
          <p:cNvSpPr/>
          <p:nvPr/>
        </p:nvSpPr>
        <p:spPr>
          <a:xfrm>
            <a:off x="850392" y="2402235"/>
            <a:ext cx="64008" cy="64008"/>
          </a:xfrm>
          <a:prstGeom prst="ellipse">
            <a:avLst/>
          </a:prstGeom>
          <a:solidFill>
            <a:srgbClr val="0F766E"/>
          </a:solidFill>
          <a:ln/>
        </p:spPr>
      </p:sp>
      <p:sp>
        <p:nvSpPr>
          <p:cNvPr id="11" name="Text 9"/>
          <p:cNvSpPr txBox="1"/>
          <p:nvPr/>
        </p:nvSpPr>
        <p:spPr>
          <a:xfrm>
            <a:off x="1005840" y="233375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rhinoplasty (rinoplasti)</a:t>
            </a:r>
            <a:r>
              <a:rPr lang="en-US" sz="1300" dirty="0">
                <a:solidFill>
                  <a:srgbClr val="4B5563"/>
                </a:solidFill>
                <a:latin typeface="Calibri" pitchFamily="34" charset="0"/>
                <a:ea typeface="Calibri" pitchFamily="34" charset="-122"/>
                <a:cs typeface="Calibri" pitchFamily="34" charset="-120"/>
              </a:rPr>
              <a:t>: Buruna yapılan estetik ameliyat</a:t>
            </a:r>
            <a:endParaRPr lang="en-US" sz="1300" dirty="0"/>
          </a:p>
        </p:txBody>
      </p:sp>
      <p:sp>
        <p:nvSpPr>
          <p:cNvPr id="12" name="Shape 10"/>
          <p:cNvSpPr/>
          <p:nvPr/>
        </p:nvSpPr>
        <p:spPr>
          <a:xfrm>
            <a:off x="850392" y="2640233"/>
            <a:ext cx="64008" cy="64008"/>
          </a:xfrm>
          <a:prstGeom prst="ellipse">
            <a:avLst/>
          </a:prstGeom>
          <a:solidFill>
            <a:srgbClr val="0F766E"/>
          </a:solidFill>
          <a:ln/>
        </p:spPr>
      </p:sp>
      <p:sp>
        <p:nvSpPr>
          <p:cNvPr id="13" name="Text 11"/>
          <p:cNvSpPr txBox="1"/>
          <p:nvPr/>
        </p:nvSpPr>
        <p:spPr>
          <a:xfrm>
            <a:off x="1005840" y="2571750"/>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facioplasty (fasyoplasti)</a:t>
            </a:r>
            <a:r>
              <a:rPr lang="en-US" sz="1300" dirty="0">
                <a:solidFill>
                  <a:srgbClr val="4B5563"/>
                </a:solidFill>
                <a:latin typeface="Calibri" pitchFamily="34" charset="0"/>
                <a:ea typeface="Calibri" pitchFamily="34" charset="-122"/>
                <a:cs typeface="Calibri" pitchFamily="34" charset="-120"/>
              </a:rPr>
              <a:t>: Yüz üzerinde yapılan estetik ameliyat</a:t>
            </a:r>
            <a:endParaRPr lang="en-US" sz="1300" dirty="0"/>
          </a:p>
        </p:txBody>
      </p:sp>
      <p:sp>
        <p:nvSpPr>
          <p:cNvPr id="14" name="Shape 12"/>
          <p:cNvSpPr/>
          <p:nvPr/>
        </p:nvSpPr>
        <p:spPr>
          <a:xfrm>
            <a:off x="548640" y="3239770"/>
            <a:ext cx="5410048" cy="1388364"/>
          </a:xfrm>
          <a:prstGeom prst="roundRect">
            <a:avLst>
              <a:gd name="adj" fmla="val 4610"/>
            </a:avLst>
          </a:prstGeom>
          <a:solidFill>
            <a:srgbClr val="EAF6F4"/>
          </a:solidFill>
          <a:ln/>
        </p:spPr>
      </p:sp>
      <p:sp>
        <p:nvSpPr>
          <p:cNvPr id="15" name="Text 13"/>
          <p:cNvSpPr txBox="1"/>
          <p:nvPr/>
        </p:nvSpPr>
        <p:spPr>
          <a:xfrm>
            <a:off x="731520" y="3303778"/>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15-  </a:t>
            </a:r>
            <a:endParaRPr lang="en-US" sz="1400" dirty="0"/>
          </a:p>
        </p:txBody>
      </p:sp>
      <p:sp>
        <p:nvSpPr>
          <p:cNvPr id="16" name="Shape 14"/>
          <p:cNvSpPr/>
          <p:nvPr/>
        </p:nvSpPr>
        <p:spPr>
          <a:xfrm>
            <a:off x="850392" y="3607465"/>
            <a:ext cx="64008" cy="64008"/>
          </a:xfrm>
          <a:prstGeom prst="ellipse">
            <a:avLst/>
          </a:prstGeom>
          <a:solidFill>
            <a:srgbClr val="0F766E"/>
          </a:solidFill>
          <a:ln/>
        </p:spPr>
      </p:sp>
      <p:sp>
        <p:nvSpPr>
          <p:cNvPr id="17" name="Text 15"/>
          <p:cNvSpPr txBox="1"/>
          <p:nvPr/>
        </p:nvSpPr>
        <p:spPr>
          <a:xfrm>
            <a:off x="1005840" y="353898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-algia (G) (-alji)</a:t>
            </a:r>
            <a:r>
              <a:rPr lang="en-US" sz="1300" dirty="0">
                <a:solidFill>
                  <a:srgbClr val="4B5563"/>
                </a:solidFill>
                <a:latin typeface="Calibri" pitchFamily="34" charset="0"/>
                <a:ea typeface="Calibri" pitchFamily="34" charset="-122"/>
                <a:cs typeface="Calibri" pitchFamily="34" charset="-120"/>
              </a:rPr>
              <a:t>: Ağrı</a:t>
            </a:r>
            <a:endParaRPr lang="en-US" sz="1300" dirty="0"/>
          </a:p>
        </p:txBody>
      </p:sp>
      <p:sp>
        <p:nvSpPr>
          <p:cNvPr id="18" name="Shape 16"/>
          <p:cNvSpPr/>
          <p:nvPr/>
        </p:nvSpPr>
        <p:spPr>
          <a:xfrm>
            <a:off x="850392" y="3845463"/>
            <a:ext cx="64008" cy="64008"/>
          </a:xfrm>
          <a:prstGeom prst="ellipse">
            <a:avLst/>
          </a:prstGeom>
          <a:solidFill>
            <a:srgbClr val="0F766E"/>
          </a:solidFill>
          <a:ln/>
        </p:spPr>
      </p:sp>
      <p:sp>
        <p:nvSpPr>
          <p:cNvPr id="19" name="Text 17"/>
          <p:cNvSpPr txBox="1"/>
          <p:nvPr/>
        </p:nvSpPr>
        <p:spPr>
          <a:xfrm>
            <a:off x="1005840" y="377698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arthralgia (artralji)</a:t>
            </a:r>
            <a:r>
              <a:rPr lang="en-US" sz="1300" dirty="0">
                <a:solidFill>
                  <a:srgbClr val="4B5563"/>
                </a:solidFill>
                <a:latin typeface="Calibri" pitchFamily="34" charset="0"/>
                <a:ea typeface="Calibri" pitchFamily="34" charset="-122"/>
                <a:cs typeface="Calibri" pitchFamily="34" charset="-120"/>
              </a:rPr>
              <a:t>: Eklem ağrısı</a:t>
            </a:r>
            <a:endParaRPr lang="en-US" sz="1300" dirty="0"/>
          </a:p>
        </p:txBody>
      </p:sp>
      <p:sp>
        <p:nvSpPr>
          <p:cNvPr id="20" name="Shape 18"/>
          <p:cNvSpPr/>
          <p:nvPr/>
        </p:nvSpPr>
        <p:spPr>
          <a:xfrm>
            <a:off x="850392" y="4083461"/>
            <a:ext cx="64008" cy="64008"/>
          </a:xfrm>
          <a:prstGeom prst="ellipse">
            <a:avLst/>
          </a:prstGeom>
          <a:solidFill>
            <a:srgbClr val="0F766E"/>
          </a:solidFill>
          <a:ln/>
        </p:spPr>
      </p:sp>
      <p:sp>
        <p:nvSpPr>
          <p:cNvPr id="21" name="Text 19"/>
          <p:cNvSpPr txBox="1"/>
          <p:nvPr/>
        </p:nvSpPr>
        <p:spPr>
          <a:xfrm>
            <a:off x="1005840" y="401497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myalgia (miyalji)</a:t>
            </a:r>
            <a:r>
              <a:rPr lang="en-US" sz="1300" dirty="0">
                <a:solidFill>
                  <a:srgbClr val="4B5563"/>
                </a:solidFill>
                <a:latin typeface="Calibri" pitchFamily="34" charset="0"/>
                <a:ea typeface="Calibri" pitchFamily="34" charset="-122"/>
                <a:cs typeface="Calibri" pitchFamily="34" charset="-120"/>
              </a:rPr>
              <a:t>: Kas ağrısı</a:t>
            </a:r>
            <a:endParaRPr lang="en-US" sz="1300" dirty="0"/>
          </a:p>
        </p:txBody>
      </p:sp>
      <p:sp>
        <p:nvSpPr>
          <p:cNvPr id="22" name="Shape 20"/>
          <p:cNvSpPr/>
          <p:nvPr/>
        </p:nvSpPr>
        <p:spPr>
          <a:xfrm>
            <a:off x="850392" y="4321459"/>
            <a:ext cx="64008" cy="64008"/>
          </a:xfrm>
          <a:prstGeom prst="ellipse">
            <a:avLst/>
          </a:prstGeom>
          <a:solidFill>
            <a:srgbClr val="0F766E"/>
          </a:solidFill>
          <a:ln/>
        </p:spPr>
      </p:sp>
      <p:sp>
        <p:nvSpPr>
          <p:cNvPr id="23" name="Text 21"/>
          <p:cNvSpPr txBox="1"/>
          <p:nvPr/>
        </p:nvSpPr>
        <p:spPr>
          <a:xfrm>
            <a:off x="1005840" y="425297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cephalalgia (sefalalji)</a:t>
            </a:r>
            <a:r>
              <a:rPr lang="en-US" sz="1300" dirty="0">
                <a:solidFill>
                  <a:srgbClr val="4B5563"/>
                </a:solidFill>
                <a:latin typeface="Calibri" pitchFamily="34" charset="0"/>
                <a:ea typeface="Calibri" pitchFamily="34" charset="-122"/>
                <a:cs typeface="Calibri" pitchFamily="34" charset="-120"/>
              </a:rPr>
              <a:t>: Baş ağrısı</a:t>
            </a:r>
            <a:endParaRPr lang="en-US" sz="1300" dirty="0"/>
          </a:p>
        </p:txBody>
      </p:sp>
      <p:sp>
        <p:nvSpPr>
          <p:cNvPr id="24" name="Shape 22"/>
          <p:cNvSpPr/>
          <p:nvPr/>
        </p:nvSpPr>
        <p:spPr>
          <a:xfrm>
            <a:off x="548640" y="4719574"/>
            <a:ext cx="5410048" cy="1589786"/>
          </a:xfrm>
          <a:prstGeom prst="roundRect">
            <a:avLst>
              <a:gd name="adj" fmla="val 4026"/>
            </a:avLst>
          </a:prstGeom>
          <a:solidFill>
            <a:srgbClr val="EAF6F4"/>
          </a:solidFill>
          <a:ln/>
        </p:spPr>
      </p:sp>
      <p:sp>
        <p:nvSpPr>
          <p:cNvPr id="25" name="Text 23"/>
          <p:cNvSpPr txBox="1"/>
          <p:nvPr/>
        </p:nvSpPr>
        <p:spPr>
          <a:xfrm>
            <a:off x="731520" y="4783582"/>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16-  </a:t>
            </a:r>
            <a:endParaRPr lang="en-US" sz="1400" dirty="0"/>
          </a:p>
        </p:txBody>
      </p:sp>
      <p:sp>
        <p:nvSpPr>
          <p:cNvPr id="26" name="Shape 24"/>
          <p:cNvSpPr/>
          <p:nvPr/>
        </p:nvSpPr>
        <p:spPr>
          <a:xfrm>
            <a:off x="850392" y="5087269"/>
            <a:ext cx="64008" cy="64008"/>
          </a:xfrm>
          <a:prstGeom prst="ellipse">
            <a:avLst/>
          </a:prstGeom>
          <a:solidFill>
            <a:srgbClr val="0F766E"/>
          </a:solidFill>
          <a:ln/>
        </p:spPr>
      </p:sp>
      <p:sp>
        <p:nvSpPr>
          <p:cNvPr id="27" name="Text 25"/>
          <p:cNvSpPr txBox="1"/>
          <p:nvPr/>
        </p:nvSpPr>
        <p:spPr>
          <a:xfrm>
            <a:off x="1005840" y="501878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-itis (G) (-it, -itis)</a:t>
            </a:r>
            <a:r>
              <a:rPr lang="en-US" sz="1300" dirty="0">
                <a:solidFill>
                  <a:srgbClr val="4B5563"/>
                </a:solidFill>
                <a:latin typeface="Calibri" pitchFamily="34" charset="0"/>
                <a:ea typeface="Calibri" pitchFamily="34" charset="-122"/>
                <a:cs typeface="Calibri" pitchFamily="34" charset="-120"/>
              </a:rPr>
              <a:t>: İltihap</a:t>
            </a:r>
            <a:endParaRPr lang="en-US" sz="1300" dirty="0"/>
          </a:p>
        </p:txBody>
      </p:sp>
      <p:sp>
        <p:nvSpPr>
          <p:cNvPr id="28" name="Shape 26"/>
          <p:cNvSpPr/>
          <p:nvPr/>
        </p:nvSpPr>
        <p:spPr>
          <a:xfrm>
            <a:off x="850392" y="5325267"/>
            <a:ext cx="64008" cy="64008"/>
          </a:xfrm>
          <a:prstGeom prst="ellipse">
            <a:avLst/>
          </a:prstGeom>
          <a:solidFill>
            <a:srgbClr val="0F766E"/>
          </a:solidFill>
          <a:ln/>
        </p:spPr>
      </p:sp>
      <p:sp>
        <p:nvSpPr>
          <p:cNvPr id="29" name="Text 27"/>
          <p:cNvSpPr txBox="1"/>
          <p:nvPr/>
        </p:nvSpPr>
        <p:spPr>
          <a:xfrm>
            <a:off x="1005840" y="525678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tonsilitis (tonsilit)</a:t>
            </a:r>
            <a:r>
              <a:rPr lang="en-US" sz="1300" dirty="0">
                <a:solidFill>
                  <a:srgbClr val="4B5563"/>
                </a:solidFill>
                <a:latin typeface="Calibri" pitchFamily="34" charset="0"/>
                <a:ea typeface="Calibri" pitchFamily="34" charset="-122"/>
                <a:cs typeface="Calibri" pitchFamily="34" charset="-120"/>
              </a:rPr>
              <a:t>: Bademcik iltihabı</a:t>
            </a:r>
            <a:endParaRPr lang="en-US" sz="1300" dirty="0"/>
          </a:p>
        </p:txBody>
      </p:sp>
      <p:sp>
        <p:nvSpPr>
          <p:cNvPr id="30" name="Shape 28"/>
          <p:cNvSpPr/>
          <p:nvPr/>
        </p:nvSpPr>
        <p:spPr>
          <a:xfrm>
            <a:off x="850392" y="5563265"/>
            <a:ext cx="64008" cy="64008"/>
          </a:xfrm>
          <a:prstGeom prst="ellipse">
            <a:avLst/>
          </a:prstGeom>
          <a:solidFill>
            <a:srgbClr val="0F766E"/>
          </a:solidFill>
          <a:ln/>
        </p:spPr>
      </p:sp>
      <p:sp>
        <p:nvSpPr>
          <p:cNvPr id="31" name="Text 29"/>
          <p:cNvSpPr txBox="1"/>
          <p:nvPr/>
        </p:nvSpPr>
        <p:spPr>
          <a:xfrm>
            <a:off x="1005840" y="5494782"/>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sinusitis (sinüzit)</a:t>
            </a:r>
            <a:r>
              <a:rPr lang="en-US" sz="1300" dirty="0">
                <a:solidFill>
                  <a:srgbClr val="4B5563"/>
                </a:solidFill>
                <a:latin typeface="Calibri" pitchFamily="34" charset="0"/>
                <a:ea typeface="Calibri" pitchFamily="34" charset="-122"/>
                <a:cs typeface="Calibri" pitchFamily="34" charset="-120"/>
              </a:rPr>
              <a:t>: Sinus (kemik içindeki boşluk) iltihabı</a:t>
            </a:r>
            <a:endParaRPr lang="en-US" sz="1300" dirty="0"/>
          </a:p>
        </p:txBody>
      </p:sp>
      <p:sp>
        <p:nvSpPr>
          <p:cNvPr id="32" name="Shape 30"/>
          <p:cNvSpPr/>
          <p:nvPr/>
        </p:nvSpPr>
        <p:spPr>
          <a:xfrm>
            <a:off x="850392" y="6002685"/>
            <a:ext cx="64008" cy="64008"/>
          </a:xfrm>
          <a:prstGeom prst="ellipse">
            <a:avLst/>
          </a:prstGeom>
          <a:solidFill>
            <a:srgbClr val="0F766E"/>
          </a:solidFill>
          <a:ln/>
        </p:spPr>
      </p:sp>
      <p:sp>
        <p:nvSpPr>
          <p:cNvPr id="33" name="Text 31"/>
          <p:cNvSpPr txBox="1"/>
          <p:nvPr/>
        </p:nvSpPr>
        <p:spPr>
          <a:xfrm>
            <a:off x="1005840" y="593420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cystitis (sistit)</a:t>
            </a:r>
            <a:r>
              <a:rPr lang="en-US" sz="1300" dirty="0">
                <a:solidFill>
                  <a:srgbClr val="4B5563"/>
                </a:solidFill>
                <a:latin typeface="Calibri" pitchFamily="34" charset="0"/>
                <a:ea typeface="Calibri" pitchFamily="34" charset="-122"/>
                <a:cs typeface="Calibri" pitchFamily="34" charset="-120"/>
              </a:rPr>
              <a:t>: İdrar kesesi iltihabı</a:t>
            </a:r>
            <a:endParaRPr lang="en-US" sz="1300" dirty="0"/>
          </a:p>
        </p:txBody>
      </p:sp>
      <p:sp>
        <p:nvSpPr>
          <p:cNvPr id="34" name="Shape 32"/>
          <p:cNvSpPr/>
          <p:nvPr/>
        </p:nvSpPr>
        <p:spPr>
          <a:xfrm>
            <a:off x="6233008" y="1595120"/>
            <a:ext cx="5410048" cy="1388364"/>
          </a:xfrm>
          <a:prstGeom prst="roundRect">
            <a:avLst>
              <a:gd name="adj" fmla="val 4610"/>
            </a:avLst>
          </a:prstGeom>
          <a:solidFill>
            <a:srgbClr val="EAF6F4"/>
          </a:solidFill>
          <a:ln/>
        </p:spPr>
      </p:sp>
      <p:sp>
        <p:nvSpPr>
          <p:cNvPr id="35" name="Text 33"/>
          <p:cNvSpPr txBox="1"/>
          <p:nvPr/>
        </p:nvSpPr>
        <p:spPr>
          <a:xfrm>
            <a:off x="6415888" y="1659128"/>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17-  </a:t>
            </a:r>
            <a:endParaRPr lang="en-US" sz="1400" dirty="0"/>
          </a:p>
        </p:txBody>
      </p:sp>
      <p:sp>
        <p:nvSpPr>
          <p:cNvPr id="36" name="Shape 34"/>
          <p:cNvSpPr/>
          <p:nvPr/>
        </p:nvSpPr>
        <p:spPr>
          <a:xfrm>
            <a:off x="6534760" y="1962815"/>
            <a:ext cx="64008" cy="64008"/>
          </a:xfrm>
          <a:prstGeom prst="ellipse">
            <a:avLst/>
          </a:prstGeom>
          <a:solidFill>
            <a:srgbClr val="0F766E"/>
          </a:solidFill>
          <a:ln/>
        </p:spPr>
      </p:sp>
      <p:sp>
        <p:nvSpPr>
          <p:cNvPr id="37" name="Text 35"/>
          <p:cNvSpPr txBox="1"/>
          <p:nvPr/>
        </p:nvSpPr>
        <p:spPr>
          <a:xfrm>
            <a:off x="6690208" y="189433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-oma (G) (-oma)</a:t>
            </a:r>
            <a:r>
              <a:rPr lang="en-US" sz="1300" dirty="0">
                <a:solidFill>
                  <a:srgbClr val="4B5563"/>
                </a:solidFill>
                <a:latin typeface="Calibri" pitchFamily="34" charset="0"/>
                <a:ea typeface="Calibri" pitchFamily="34" charset="-122"/>
                <a:cs typeface="Calibri" pitchFamily="34" charset="-120"/>
              </a:rPr>
              <a:t>: Ur, tümör, kitle</a:t>
            </a:r>
            <a:endParaRPr lang="en-US" sz="1300" dirty="0"/>
          </a:p>
        </p:txBody>
      </p:sp>
      <p:sp>
        <p:nvSpPr>
          <p:cNvPr id="38" name="Shape 36"/>
          <p:cNvSpPr/>
          <p:nvPr/>
        </p:nvSpPr>
        <p:spPr>
          <a:xfrm>
            <a:off x="6534760" y="2200813"/>
            <a:ext cx="64008" cy="64008"/>
          </a:xfrm>
          <a:prstGeom prst="ellipse">
            <a:avLst/>
          </a:prstGeom>
          <a:solidFill>
            <a:srgbClr val="0F766E"/>
          </a:solidFill>
          <a:ln/>
        </p:spPr>
      </p:sp>
      <p:sp>
        <p:nvSpPr>
          <p:cNvPr id="39" name="Text 37"/>
          <p:cNvSpPr txBox="1"/>
          <p:nvPr/>
        </p:nvSpPr>
        <p:spPr>
          <a:xfrm>
            <a:off x="6690208" y="2132330"/>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splenoma (splenoma)</a:t>
            </a:r>
            <a:r>
              <a:rPr lang="en-US" sz="1300" dirty="0">
                <a:solidFill>
                  <a:srgbClr val="4B5563"/>
                </a:solidFill>
                <a:latin typeface="Calibri" pitchFamily="34" charset="0"/>
                <a:ea typeface="Calibri" pitchFamily="34" charset="-122"/>
                <a:cs typeface="Calibri" pitchFamily="34" charset="-120"/>
              </a:rPr>
              <a:t>: Dalak tümörü</a:t>
            </a:r>
            <a:endParaRPr lang="en-US" sz="1300" dirty="0"/>
          </a:p>
        </p:txBody>
      </p:sp>
      <p:sp>
        <p:nvSpPr>
          <p:cNvPr id="40" name="Shape 38"/>
          <p:cNvSpPr/>
          <p:nvPr/>
        </p:nvSpPr>
        <p:spPr>
          <a:xfrm>
            <a:off x="6534760" y="2438811"/>
            <a:ext cx="64008" cy="64008"/>
          </a:xfrm>
          <a:prstGeom prst="ellipse">
            <a:avLst/>
          </a:prstGeom>
          <a:solidFill>
            <a:srgbClr val="0F766E"/>
          </a:solidFill>
          <a:ln/>
        </p:spPr>
      </p:sp>
      <p:sp>
        <p:nvSpPr>
          <p:cNvPr id="41" name="Text 39"/>
          <p:cNvSpPr txBox="1"/>
          <p:nvPr/>
        </p:nvSpPr>
        <p:spPr>
          <a:xfrm>
            <a:off x="6690208" y="2370328"/>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hepatoma (hepatoma)</a:t>
            </a:r>
            <a:r>
              <a:rPr lang="en-US" sz="1300" dirty="0">
                <a:solidFill>
                  <a:srgbClr val="4B5563"/>
                </a:solidFill>
                <a:latin typeface="Calibri" pitchFamily="34" charset="0"/>
                <a:ea typeface="Calibri" pitchFamily="34" charset="-122"/>
                <a:cs typeface="Calibri" pitchFamily="34" charset="-120"/>
              </a:rPr>
              <a:t>: Karaciğer tümörü</a:t>
            </a:r>
            <a:endParaRPr lang="en-US" sz="1300" dirty="0"/>
          </a:p>
        </p:txBody>
      </p:sp>
      <p:sp>
        <p:nvSpPr>
          <p:cNvPr id="42" name="Shape 40"/>
          <p:cNvSpPr/>
          <p:nvPr/>
        </p:nvSpPr>
        <p:spPr>
          <a:xfrm>
            <a:off x="6534760" y="2676809"/>
            <a:ext cx="64008" cy="64008"/>
          </a:xfrm>
          <a:prstGeom prst="ellipse">
            <a:avLst/>
          </a:prstGeom>
          <a:solidFill>
            <a:srgbClr val="0F766E"/>
          </a:solidFill>
          <a:ln/>
        </p:spPr>
      </p:sp>
      <p:sp>
        <p:nvSpPr>
          <p:cNvPr id="43" name="Text 41"/>
          <p:cNvSpPr txBox="1"/>
          <p:nvPr/>
        </p:nvSpPr>
        <p:spPr>
          <a:xfrm>
            <a:off x="6690208" y="260832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adenoma (adenoma)</a:t>
            </a:r>
            <a:r>
              <a:rPr lang="en-US" sz="1300" dirty="0">
                <a:solidFill>
                  <a:srgbClr val="4B5563"/>
                </a:solidFill>
                <a:latin typeface="Calibri" pitchFamily="34" charset="0"/>
                <a:ea typeface="Calibri" pitchFamily="34" charset="-122"/>
                <a:cs typeface="Calibri" pitchFamily="34" charset="-120"/>
              </a:rPr>
              <a:t>: Salgı bezi tümörü</a:t>
            </a:r>
            <a:endParaRPr lang="en-US" sz="1300" dirty="0"/>
          </a:p>
        </p:txBody>
      </p:sp>
      <p:sp>
        <p:nvSpPr>
          <p:cNvPr id="44" name="Shape 42"/>
          <p:cNvSpPr/>
          <p:nvPr/>
        </p:nvSpPr>
        <p:spPr>
          <a:xfrm>
            <a:off x="6233008" y="3074924"/>
            <a:ext cx="5410048" cy="1589786"/>
          </a:xfrm>
          <a:prstGeom prst="roundRect">
            <a:avLst>
              <a:gd name="adj" fmla="val 4026"/>
            </a:avLst>
          </a:prstGeom>
          <a:solidFill>
            <a:srgbClr val="EAF6F4"/>
          </a:solidFill>
          <a:ln/>
        </p:spPr>
      </p:sp>
      <p:sp>
        <p:nvSpPr>
          <p:cNvPr id="45" name="Text 43"/>
          <p:cNvSpPr txBox="1"/>
          <p:nvPr/>
        </p:nvSpPr>
        <p:spPr>
          <a:xfrm>
            <a:off x="6415888" y="3138932"/>
            <a:ext cx="5044288" cy="271780"/>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18-  </a:t>
            </a:r>
            <a:endParaRPr lang="en-US" sz="1400" dirty="0"/>
          </a:p>
        </p:txBody>
      </p:sp>
      <p:sp>
        <p:nvSpPr>
          <p:cNvPr id="46" name="Shape 44"/>
          <p:cNvSpPr/>
          <p:nvPr/>
        </p:nvSpPr>
        <p:spPr>
          <a:xfrm>
            <a:off x="6534760" y="3442619"/>
            <a:ext cx="64008" cy="64008"/>
          </a:xfrm>
          <a:prstGeom prst="ellipse">
            <a:avLst/>
          </a:prstGeom>
          <a:solidFill>
            <a:srgbClr val="0F766E"/>
          </a:solidFill>
          <a:ln/>
        </p:spPr>
      </p:sp>
      <p:sp>
        <p:nvSpPr>
          <p:cNvPr id="47" name="Text 45"/>
          <p:cNvSpPr txBox="1"/>
          <p:nvPr/>
        </p:nvSpPr>
        <p:spPr>
          <a:xfrm>
            <a:off x="6690208" y="3374136"/>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-plegia, -plege (G) (-pleji)</a:t>
            </a:r>
            <a:r>
              <a:rPr lang="en-US" sz="1300" dirty="0">
                <a:solidFill>
                  <a:srgbClr val="4B5563"/>
                </a:solidFill>
                <a:latin typeface="Calibri" pitchFamily="34" charset="0"/>
                <a:ea typeface="Calibri" pitchFamily="34" charset="-122"/>
                <a:cs typeface="Calibri" pitchFamily="34" charset="-120"/>
              </a:rPr>
              <a:t>: Felç, inme</a:t>
            </a:r>
            <a:endParaRPr lang="en-US" sz="1300" dirty="0"/>
          </a:p>
        </p:txBody>
      </p:sp>
      <p:sp>
        <p:nvSpPr>
          <p:cNvPr id="48" name="Shape 46"/>
          <p:cNvSpPr/>
          <p:nvPr/>
        </p:nvSpPr>
        <p:spPr>
          <a:xfrm>
            <a:off x="6534760" y="3680617"/>
            <a:ext cx="64008" cy="64008"/>
          </a:xfrm>
          <a:prstGeom prst="ellipse">
            <a:avLst/>
          </a:prstGeom>
          <a:solidFill>
            <a:srgbClr val="0F766E"/>
          </a:solidFill>
          <a:ln/>
        </p:spPr>
      </p:sp>
      <p:sp>
        <p:nvSpPr>
          <p:cNvPr id="49" name="Text 47"/>
          <p:cNvSpPr txBox="1"/>
          <p:nvPr/>
        </p:nvSpPr>
        <p:spPr>
          <a:xfrm>
            <a:off x="6690208" y="3612134"/>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paraplegia (parapleji)</a:t>
            </a:r>
            <a:r>
              <a:rPr lang="en-US" sz="1300" dirty="0">
                <a:solidFill>
                  <a:srgbClr val="4B5563"/>
                </a:solidFill>
                <a:latin typeface="Calibri" pitchFamily="34" charset="0"/>
                <a:ea typeface="Calibri" pitchFamily="34" charset="-122"/>
                <a:cs typeface="Calibri" pitchFamily="34" charset="-120"/>
              </a:rPr>
              <a:t>: İki bacakta görülen felç</a:t>
            </a:r>
            <a:endParaRPr lang="en-US" sz="1300" dirty="0"/>
          </a:p>
        </p:txBody>
      </p:sp>
      <p:sp>
        <p:nvSpPr>
          <p:cNvPr id="50" name="Shape 48"/>
          <p:cNvSpPr/>
          <p:nvPr/>
        </p:nvSpPr>
        <p:spPr>
          <a:xfrm>
            <a:off x="6534760" y="3918615"/>
            <a:ext cx="64008" cy="64008"/>
          </a:xfrm>
          <a:prstGeom prst="ellipse">
            <a:avLst/>
          </a:prstGeom>
          <a:solidFill>
            <a:srgbClr val="0F766E"/>
          </a:solidFill>
          <a:ln/>
        </p:spPr>
      </p:sp>
      <p:sp>
        <p:nvSpPr>
          <p:cNvPr id="51" name="Text 49"/>
          <p:cNvSpPr txBox="1"/>
          <p:nvPr/>
        </p:nvSpPr>
        <p:spPr>
          <a:xfrm>
            <a:off x="6690208" y="3850132"/>
            <a:ext cx="4769968" cy="439420"/>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quadriplegia (kuadripleji)</a:t>
            </a:r>
            <a:r>
              <a:rPr lang="en-US" sz="1300" dirty="0">
                <a:solidFill>
                  <a:srgbClr val="4B5563"/>
                </a:solidFill>
                <a:latin typeface="Calibri" pitchFamily="34" charset="0"/>
                <a:ea typeface="Calibri" pitchFamily="34" charset="-122"/>
                <a:cs typeface="Calibri" pitchFamily="34" charset="-120"/>
              </a:rPr>
              <a:t>: Dört ekstremitede görülen felç</a:t>
            </a:r>
            <a:endParaRPr lang="en-US" sz="1300" dirty="0"/>
          </a:p>
        </p:txBody>
      </p:sp>
      <p:sp>
        <p:nvSpPr>
          <p:cNvPr id="52" name="Shape 50"/>
          <p:cNvSpPr/>
          <p:nvPr/>
        </p:nvSpPr>
        <p:spPr>
          <a:xfrm>
            <a:off x="6534760" y="4358035"/>
            <a:ext cx="64008" cy="64008"/>
          </a:xfrm>
          <a:prstGeom prst="ellipse">
            <a:avLst/>
          </a:prstGeom>
          <a:solidFill>
            <a:srgbClr val="0F766E"/>
          </a:solidFill>
          <a:ln/>
        </p:spPr>
      </p:sp>
      <p:sp>
        <p:nvSpPr>
          <p:cNvPr id="53" name="Text 51"/>
          <p:cNvSpPr txBox="1"/>
          <p:nvPr/>
        </p:nvSpPr>
        <p:spPr>
          <a:xfrm>
            <a:off x="6690208" y="4289552"/>
            <a:ext cx="4769968" cy="237998"/>
          </a:xfrm>
          <a:prstGeom prst="rect">
            <a:avLst/>
          </a:prstGeom>
          <a:noFill/>
          <a:ln/>
        </p:spPr>
        <p:txBody>
          <a:bodyPr wrap="square" lIns="0" tIns="0" rIns="0" bIns="0" rtlCol="0" anchor="t"/>
          <a:lstStyle/>
          <a:p>
            <a:pPr marL="0" indent="0">
              <a:lnSpc>
                <a:spcPct val="105000"/>
              </a:lnSpc>
              <a:buNone/>
            </a:pPr>
            <a:r>
              <a:rPr lang="en-US" sz="1300" b="1" dirty="0">
                <a:solidFill>
                  <a:srgbClr val="1F2937"/>
                </a:solidFill>
                <a:latin typeface="Calibri" pitchFamily="34" charset="0"/>
                <a:ea typeface="Calibri" pitchFamily="34" charset="-122"/>
                <a:cs typeface="Calibri" pitchFamily="34" charset="-120"/>
              </a:rPr>
              <a:t>pharyngoplegia (faringopleji)</a:t>
            </a:r>
            <a:r>
              <a:rPr lang="en-US" sz="1300" dirty="0">
                <a:solidFill>
                  <a:srgbClr val="4B5563"/>
                </a:solidFill>
                <a:latin typeface="Calibri" pitchFamily="34" charset="0"/>
                <a:ea typeface="Calibri" pitchFamily="34" charset="-122"/>
                <a:cs typeface="Calibri" pitchFamily="34" charset="-120"/>
              </a:rPr>
              <a:t>: Boğaz kaslarındaki felç</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Diğer Sonekler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89</a:t>
            </a:r>
            <a:endParaRPr lang="en-US" sz="1000" dirty="0"/>
          </a:p>
        </p:txBody>
      </p:sp>
      <p:sp>
        <p:nvSpPr>
          <p:cNvPr id="6" name="Shape 4"/>
          <p:cNvSpPr/>
          <p:nvPr/>
        </p:nvSpPr>
        <p:spPr>
          <a:xfrm>
            <a:off x="548640" y="1475486"/>
            <a:ext cx="5410048" cy="1719326"/>
          </a:xfrm>
          <a:prstGeom prst="roundRect">
            <a:avLst>
              <a:gd name="adj" fmla="val 3723"/>
            </a:avLst>
          </a:prstGeom>
          <a:solidFill>
            <a:srgbClr val="EAF6F4"/>
          </a:solidFill>
          <a:ln/>
        </p:spPr>
      </p:sp>
      <p:sp>
        <p:nvSpPr>
          <p:cNvPr id="7" name="Text 5"/>
          <p:cNvSpPr txBox="1"/>
          <p:nvPr/>
        </p:nvSpPr>
        <p:spPr>
          <a:xfrm>
            <a:off x="731520" y="153949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1-  </a:t>
            </a:r>
            <a:endParaRPr lang="en-US" sz="1500" dirty="0"/>
          </a:p>
        </p:txBody>
      </p:sp>
      <p:sp>
        <p:nvSpPr>
          <p:cNvPr id="8" name="Shape 6"/>
          <p:cNvSpPr/>
          <p:nvPr/>
        </p:nvSpPr>
        <p:spPr>
          <a:xfrm>
            <a:off x="850392" y="1863943"/>
            <a:ext cx="64008" cy="64008"/>
          </a:xfrm>
          <a:prstGeom prst="ellipse">
            <a:avLst/>
          </a:prstGeom>
          <a:solidFill>
            <a:srgbClr val="0F766E"/>
          </a:solidFill>
          <a:ln/>
        </p:spPr>
      </p:sp>
      <p:sp>
        <p:nvSpPr>
          <p:cNvPr id="9" name="Text 7"/>
          <p:cNvSpPr txBox="1"/>
          <p:nvPr/>
        </p:nvSpPr>
        <p:spPr>
          <a:xfrm>
            <a:off x="1005840" y="17901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-ifer, -fer (L) (-ifer, -fer)</a:t>
            </a:r>
            <a:r>
              <a:rPr lang="en-US" sz="1400" dirty="0">
                <a:solidFill>
                  <a:srgbClr val="4B5563"/>
                </a:solidFill>
                <a:latin typeface="Calibri" pitchFamily="34" charset="0"/>
                <a:ea typeface="Calibri" pitchFamily="34" charset="-122"/>
                <a:cs typeface="Calibri" pitchFamily="34" charset="-120"/>
              </a:rPr>
              <a:t>: Taşıyan, götüren</a:t>
            </a:r>
            <a:endParaRPr lang="en-US" sz="1400" dirty="0"/>
          </a:p>
        </p:txBody>
      </p:sp>
      <p:sp>
        <p:nvSpPr>
          <p:cNvPr id="10" name="Shape 8"/>
          <p:cNvSpPr/>
          <p:nvPr/>
        </p:nvSpPr>
        <p:spPr>
          <a:xfrm>
            <a:off x="850392" y="2117435"/>
            <a:ext cx="64008" cy="64008"/>
          </a:xfrm>
          <a:prstGeom prst="ellipse">
            <a:avLst/>
          </a:prstGeom>
          <a:solidFill>
            <a:srgbClr val="0F766E"/>
          </a:solidFill>
          <a:ln/>
        </p:spPr>
      </p:sp>
      <p:sp>
        <p:nvSpPr>
          <p:cNvPr id="11" name="Text 9"/>
          <p:cNvSpPr txBox="1"/>
          <p:nvPr/>
        </p:nvSpPr>
        <p:spPr>
          <a:xfrm>
            <a:off x="1005840" y="20436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lactifer (laktifer)</a:t>
            </a:r>
            <a:r>
              <a:rPr lang="en-US" sz="1400" dirty="0">
                <a:solidFill>
                  <a:srgbClr val="4B5563"/>
                </a:solidFill>
                <a:latin typeface="Calibri" pitchFamily="34" charset="0"/>
                <a:ea typeface="Calibri" pitchFamily="34" charset="-122"/>
                <a:cs typeface="Calibri" pitchFamily="34" charset="-120"/>
              </a:rPr>
              <a:t>: Süt taşıyan</a:t>
            </a:r>
            <a:endParaRPr lang="en-US" sz="1400" dirty="0"/>
          </a:p>
        </p:txBody>
      </p:sp>
      <p:sp>
        <p:nvSpPr>
          <p:cNvPr id="12" name="Shape 10"/>
          <p:cNvSpPr/>
          <p:nvPr/>
        </p:nvSpPr>
        <p:spPr>
          <a:xfrm>
            <a:off x="850392" y="2370927"/>
            <a:ext cx="64008" cy="64008"/>
          </a:xfrm>
          <a:prstGeom prst="ellipse">
            <a:avLst/>
          </a:prstGeom>
          <a:solidFill>
            <a:srgbClr val="0F766E"/>
          </a:solidFill>
          <a:ln/>
        </p:spPr>
      </p:sp>
      <p:sp>
        <p:nvSpPr>
          <p:cNvPr id="13" name="Text 11"/>
          <p:cNvSpPr txBox="1"/>
          <p:nvPr/>
        </p:nvSpPr>
        <p:spPr>
          <a:xfrm>
            <a:off x="1005840" y="229717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sudorifer (sudorifer)</a:t>
            </a:r>
            <a:r>
              <a:rPr lang="en-US" sz="1400" dirty="0">
                <a:solidFill>
                  <a:srgbClr val="4B5563"/>
                </a:solidFill>
                <a:latin typeface="Calibri" pitchFamily="34" charset="0"/>
                <a:ea typeface="Calibri" pitchFamily="34" charset="-122"/>
                <a:cs typeface="Calibri" pitchFamily="34" charset="-120"/>
              </a:rPr>
              <a:t>: Ter taşıyan</a:t>
            </a:r>
            <a:endParaRPr lang="en-US" sz="1400" dirty="0"/>
          </a:p>
        </p:txBody>
      </p:sp>
      <p:sp>
        <p:nvSpPr>
          <p:cNvPr id="14" name="Shape 12"/>
          <p:cNvSpPr/>
          <p:nvPr/>
        </p:nvSpPr>
        <p:spPr>
          <a:xfrm>
            <a:off x="850392" y="2624419"/>
            <a:ext cx="64008" cy="64008"/>
          </a:xfrm>
          <a:prstGeom prst="ellipse">
            <a:avLst/>
          </a:prstGeom>
          <a:solidFill>
            <a:srgbClr val="0F766E"/>
          </a:solidFill>
          <a:ln/>
        </p:spPr>
      </p:sp>
      <p:sp>
        <p:nvSpPr>
          <p:cNvPr id="15" name="Text 13"/>
          <p:cNvSpPr txBox="1"/>
          <p:nvPr/>
        </p:nvSpPr>
        <p:spPr>
          <a:xfrm>
            <a:off x="1005840" y="255066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seminifer (seminifer)</a:t>
            </a:r>
            <a:r>
              <a:rPr lang="en-US" sz="1400" dirty="0">
                <a:solidFill>
                  <a:srgbClr val="4B5563"/>
                </a:solidFill>
                <a:latin typeface="Calibri" pitchFamily="34" charset="0"/>
                <a:ea typeface="Calibri" pitchFamily="34" charset="-122"/>
                <a:cs typeface="Calibri" pitchFamily="34" charset="-120"/>
              </a:rPr>
              <a:t>: Erkek döl hücresi taşıyan</a:t>
            </a:r>
            <a:endParaRPr lang="en-US" sz="1400" dirty="0"/>
          </a:p>
        </p:txBody>
      </p:sp>
      <p:sp>
        <p:nvSpPr>
          <p:cNvPr id="16" name="Shape 14"/>
          <p:cNvSpPr/>
          <p:nvPr/>
        </p:nvSpPr>
        <p:spPr>
          <a:xfrm>
            <a:off x="850392" y="2877911"/>
            <a:ext cx="64008" cy="64008"/>
          </a:xfrm>
          <a:prstGeom prst="ellipse">
            <a:avLst/>
          </a:prstGeom>
          <a:solidFill>
            <a:srgbClr val="0F766E"/>
          </a:solidFill>
          <a:ln/>
        </p:spPr>
      </p:sp>
      <p:sp>
        <p:nvSpPr>
          <p:cNvPr id="17" name="Text 15"/>
          <p:cNvSpPr txBox="1"/>
          <p:nvPr/>
        </p:nvSpPr>
        <p:spPr>
          <a:xfrm>
            <a:off x="1005840" y="280416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urinifer (urinifer)</a:t>
            </a:r>
            <a:r>
              <a:rPr lang="en-US" sz="1400" dirty="0">
                <a:solidFill>
                  <a:srgbClr val="4B5563"/>
                </a:solidFill>
                <a:latin typeface="Calibri" pitchFamily="34" charset="0"/>
                <a:ea typeface="Calibri" pitchFamily="34" charset="-122"/>
                <a:cs typeface="Calibri" pitchFamily="34" charset="-120"/>
              </a:rPr>
              <a:t>: İdrar taşıyan</a:t>
            </a:r>
            <a:endParaRPr lang="en-US" sz="1400" dirty="0"/>
          </a:p>
        </p:txBody>
      </p:sp>
      <p:sp>
        <p:nvSpPr>
          <p:cNvPr id="18" name="Shape 16"/>
          <p:cNvSpPr/>
          <p:nvPr/>
        </p:nvSpPr>
        <p:spPr>
          <a:xfrm>
            <a:off x="548640" y="3286252"/>
            <a:ext cx="5410048" cy="1465834"/>
          </a:xfrm>
          <a:prstGeom prst="roundRect">
            <a:avLst>
              <a:gd name="adj" fmla="val 4367"/>
            </a:avLst>
          </a:prstGeom>
          <a:solidFill>
            <a:srgbClr val="EAF6F4"/>
          </a:solidFill>
          <a:ln/>
        </p:spPr>
      </p:sp>
      <p:sp>
        <p:nvSpPr>
          <p:cNvPr id="19" name="Text 17"/>
          <p:cNvSpPr txBox="1"/>
          <p:nvPr/>
        </p:nvSpPr>
        <p:spPr>
          <a:xfrm>
            <a:off x="731520" y="3350260"/>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2-  </a:t>
            </a:r>
            <a:endParaRPr lang="en-US" sz="1500" dirty="0"/>
          </a:p>
        </p:txBody>
      </p:sp>
      <p:sp>
        <p:nvSpPr>
          <p:cNvPr id="20" name="Shape 18"/>
          <p:cNvSpPr/>
          <p:nvPr/>
        </p:nvSpPr>
        <p:spPr>
          <a:xfrm>
            <a:off x="850392" y="3674709"/>
            <a:ext cx="64008" cy="64008"/>
          </a:xfrm>
          <a:prstGeom prst="ellipse">
            <a:avLst/>
          </a:prstGeom>
          <a:solidFill>
            <a:srgbClr val="0F766E"/>
          </a:solidFill>
          <a:ln/>
        </p:spPr>
      </p:sp>
      <p:sp>
        <p:nvSpPr>
          <p:cNvPr id="21" name="Text 19"/>
          <p:cNvSpPr txBox="1"/>
          <p:nvPr/>
        </p:nvSpPr>
        <p:spPr>
          <a:xfrm>
            <a:off x="1005840" y="360095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-atus (L) (-atus)</a:t>
            </a:r>
            <a:r>
              <a:rPr lang="en-US" sz="1400" dirty="0">
                <a:solidFill>
                  <a:srgbClr val="4B5563"/>
                </a:solidFill>
                <a:latin typeface="Calibri" pitchFamily="34" charset="0"/>
                <a:ea typeface="Calibri" pitchFamily="34" charset="-122"/>
                <a:cs typeface="Calibri" pitchFamily="34" charset="-120"/>
              </a:rPr>
              <a:t>: Varlı, onlu</a:t>
            </a:r>
            <a:endParaRPr lang="en-US" sz="1400" dirty="0"/>
          </a:p>
        </p:txBody>
      </p:sp>
      <p:sp>
        <p:nvSpPr>
          <p:cNvPr id="22" name="Shape 20"/>
          <p:cNvSpPr/>
          <p:nvPr/>
        </p:nvSpPr>
        <p:spPr>
          <a:xfrm>
            <a:off x="850392" y="3928201"/>
            <a:ext cx="64008" cy="64008"/>
          </a:xfrm>
          <a:prstGeom prst="ellipse">
            <a:avLst/>
          </a:prstGeom>
          <a:solidFill>
            <a:srgbClr val="0F766E"/>
          </a:solidFill>
          <a:ln/>
        </p:spPr>
      </p:sp>
      <p:sp>
        <p:nvSpPr>
          <p:cNvPr id="23" name="Text 21"/>
          <p:cNvSpPr txBox="1"/>
          <p:nvPr/>
        </p:nvSpPr>
        <p:spPr>
          <a:xfrm>
            <a:off x="1005840" y="3854450"/>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striatus (striyatus)</a:t>
            </a:r>
            <a:r>
              <a:rPr lang="en-US" sz="1400" dirty="0">
                <a:solidFill>
                  <a:srgbClr val="4B5563"/>
                </a:solidFill>
                <a:latin typeface="Calibri" pitchFamily="34" charset="0"/>
                <a:ea typeface="Calibri" pitchFamily="34" charset="-122"/>
                <a:cs typeface="Calibri" pitchFamily="34" charset="-120"/>
              </a:rPr>
              <a:t>: Çizgili</a:t>
            </a:r>
            <a:endParaRPr lang="en-US" sz="1400" dirty="0"/>
          </a:p>
        </p:txBody>
      </p:sp>
      <p:sp>
        <p:nvSpPr>
          <p:cNvPr id="24" name="Shape 22"/>
          <p:cNvSpPr/>
          <p:nvPr/>
        </p:nvSpPr>
        <p:spPr>
          <a:xfrm>
            <a:off x="850392" y="4181693"/>
            <a:ext cx="64008" cy="64008"/>
          </a:xfrm>
          <a:prstGeom prst="ellipse">
            <a:avLst/>
          </a:prstGeom>
          <a:solidFill>
            <a:srgbClr val="0F766E"/>
          </a:solidFill>
          <a:ln/>
        </p:spPr>
      </p:sp>
      <p:sp>
        <p:nvSpPr>
          <p:cNvPr id="25" name="Text 23"/>
          <p:cNvSpPr txBox="1"/>
          <p:nvPr/>
        </p:nvSpPr>
        <p:spPr>
          <a:xfrm>
            <a:off x="1005840" y="410794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bifurcatus (bifurkatus)</a:t>
            </a:r>
            <a:r>
              <a:rPr lang="en-US" sz="1400" dirty="0">
                <a:solidFill>
                  <a:srgbClr val="4B5563"/>
                </a:solidFill>
                <a:latin typeface="Calibri" pitchFamily="34" charset="0"/>
                <a:ea typeface="Calibri" pitchFamily="34" charset="-122"/>
                <a:cs typeface="Calibri" pitchFamily="34" charset="-120"/>
              </a:rPr>
              <a:t>: Çatallı</a:t>
            </a:r>
            <a:endParaRPr lang="en-US" sz="1400" dirty="0"/>
          </a:p>
        </p:txBody>
      </p:sp>
      <p:sp>
        <p:nvSpPr>
          <p:cNvPr id="26" name="Shape 24"/>
          <p:cNvSpPr/>
          <p:nvPr/>
        </p:nvSpPr>
        <p:spPr>
          <a:xfrm>
            <a:off x="850392" y="4435185"/>
            <a:ext cx="64008" cy="64008"/>
          </a:xfrm>
          <a:prstGeom prst="ellipse">
            <a:avLst/>
          </a:prstGeom>
          <a:solidFill>
            <a:srgbClr val="0F766E"/>
          </a:solidFill>
          <a:ln/>
        </p:spPr>
      </p:sp>
      <p:sp>
        <p:nvSpPr>
          <p:cNvPr id="27" name="Text 25"/>
          <p:cNvSpPr txBox="1"/>
          <p:nvPr/>
        </p:nvSpPr>
        <p:spPr>
          <a:xfrm>
            <a:off x="1005840" y="436143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hamatus (hamatus)</a:t>
            </a:r>
            <a:r>
              <a:rPr lang="en-US" sz="1400" dirty="0">
                <a:solidFill>
                  <a:srgbClr val="4B5563"/>
                </a:solidFill>
                <a:latin typeface="Calibri" pitchFamily="34" charset="0"/>
                <a:ea typeface="Calibri" pitchFamily="34" charset="-122"/>
                <a:cs typeface="Calibri" pitchFamily="34" charset="-120"/>
              </a:rPr>
              <a:t>: Çengelli, kancalı</a:t>
            </a:r>
            <a:endParaRPr lang="en-US" sz="1400" dirty="0"/>
          </a:p>
        </p:txBody>
      </p:sp>
      <p:sp>
        <p:nvSpPr>
          <p:cNvPr id="28" name="Shape 26"/>
          <p:cNvSpPr/>
          <p:nvPr/>
        </p:nvSpPr>
        <p:spPr>
          <a:xfrm>
            <a:off x="548640" y="4843526"/>
            <a:ext cx="5410048" cy="1465834"/>
          </a:xfrm>
          <a:prstGeom prst="roundRect">
            <a:avLst>
              <a:gd name="adj" fmla="val 4367"/>
            </a:avLst>
          </a:prstGeom>
          <a:solidFill>
            <a:srgbClr val="EAF6F4"/>
          </a:solidFill>
          <a:ln/>
        </p:spPr>
      </p:sp>
      <p:sp>
        <p:nvSpPr>
          <p:cNvPr id="29" name="Text 27"/>
          <p:cNvSpPr txBox="1"/>
          <p:nvPr/>
        </p:nvSpPr>
        <p:spPr>
          <a:xfrm>
            <a:off x="731520" y="490753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3-  </a:t>
            </a:r>
            <a:endParaRPr lang="en-US" sz="1500" dirty="0"/>
          </a:p>
        </p:txBody>
      </p:sp>
      <p:sp>
        <p:nvSpPr>
          <p:cNvPr id="30" name="Shape 28"/>
          <p:cNvSpPr/>
          <p:nvPr/>
        </p:nvSpPr>
        <p:spPr>
          <a:xfrm>
            <a:off x="850392" y="5231983"/>
            <a:ext cx="64008" cy="64008"/>
          </a:xfrm>
          <a:prstGeom prst="ellipse">
            <a:avLst/>
          </a:prstGeom>
          <a:solidFill>
            <a:srgbClr val="0F766E"/>
          </a:solidFill>
          <a:ln/>
        </p:spPr>
      </p:sp>
      <p:sp>
        <p:nvSpPr>
          <p:cNvPr id="31" name="Text 29"/>
          <p:cNvSpPr txBox="1"/>
          <p:nvPr/>
        </p:nvSpPr>
        <p:spPr>
          <a:xfrm>
            <a:off x="1005840" y="515823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-cyte (İ), -cytus (G) (-sit, -situs)</a:t>
            </a:r>
            <a:r>
              <a:rPr lang="en-US" sz="1400" dirty="0">
                <a:solidFill>
                  <a:srgbClr val="4B5563"/>
                </a:solidFill>
                <a:latin typeface="Calibri" pitchFamily="34" charset="0"/>
                <a:ea typeface="Calibri" pitchFamily="34" charset="-122"/>
                <a:cs typeface="Calibri" pitchFamily="34" charset="-120"/>
              </a:rPr>
              <a:t>: Hücre</a:t>
            </a:r>
            <a:endParaRPr lang="en-US" sz="1400" dirty="0"/>
          </a:p>
        </p:txBody>
      </p:sp>
      <p:sp>
        <p:nvSpPr>
          <p:cNvPr id="32" name="Shape 30"/>
          <p:cNvSpPr/>
          <p:nvPr/>
        </p:nvSpPr>
        <p:spPr>
          <a:xfrm>
            <a:off x="850392" y="5485475"/>
            <a:ext cx="64008" cy="64008"/>
          </a:xfrm>
          <a:prstGeom prst="ellipse">
            <a:avLst/>
          </a:prstGeom>
          <a:solidFill>
            <a:srgbClr val="0F766E"/>
          </a:solidFill>
          <a:ln/>
        </p:spPr>
      </p:sp>
      <p:sp>
        <p:nvSpPr>
          <p:cNvPr id="33" name="Text 31"/>
          <p:cNvSpPr txBox="1"/>
          <p:nvPr/>
        </p:nvSpPr>
        <p:spPr>
          <a:xfrm>
            <a:off x="1005840" y="541172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hepatocyte (hepatosit)</a:t>
            </a:r>
            <a:r>
              <a:rPr lang="en-US" sz="1400" dirty="0">
                <a:solidFill>
                  <a:srgbClr val="4B5563"/>
                </a:solidFill>
                <a:latin typeface="Calibri" pitchFamily="34" charset="0"/>
                <a:ea typeface="Calibri" pitchFamily="34" charset="-122"/>
                <a:cs typeface="Calibri" pitchFamily="34" charset="-120"/>
              </a:rPr>
              <a:t>: Karaciğer hücresi</a:t>
            </a:r>
            <a:endParaRPr lang="en-US" sz="1400" dirty="0"/>
          </a:p>
        </p:txBody>
      </p:sp>
      <p:sp>
        <p:nvSpPr>
          <p:cNvPr id="34" name="Shape 32"/>
          <p:cNvSpPr/>
          <p:nvPr/>
        </p:nvSpPr>
        <p:spPr>
          <a:xfrm>
            <a:off x="850392" y="5738967"/>
            <a:ext cx="64008" cy="64008"/>
          </a:xfrm>
          <a:prstGeom prst="ellipse">
            <a:avLst/>
          </a:prstGeom>
          <a:solidFill>
            <a:srgbClr val="0F766E"/>
          </a:solidFill>
          <a:ln/>
        </p:spPr>
      </p:sp>
      <p:sp>
        <p:nvSpPr>
          <p:cNvPr id="35" name="Text 33"/>
          <p:cNvSpPr txBox="1"/>
          <p:nvPr/>
        </p:nvSpPr>
        <p:spPr>
          <a:xfrm>
            <a:off x="1005840" y="5665216"/>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erythrocytus (eritrosit-us)</a:t>
            </a:r>
            <a:r>
              <a:rPr lang="en-US" sz="1400" dirty="0">
                <a:solidFill>
                  <a:srgbClr val="4B5563"/>
                </a:solidFill>
                <a:latin typeface="Calibri" pitchFamily="34" charset="0"/>
                <a:ea typeface="Calibri" pitchFamily="34" charset="-122"/>
                <a:cs typeface="Calibri" pitchFamily="34" charset="-120"/>
              </a:rPr>
              <a:t>: Alyuvar</a:t>
            </a:r>
            <a:endParaRPr lang="en-US" sz="1400" dirty="0"/>
          </a:p>
        </p:txBody>
      </p:sp>
      <p:sp>
        <p:nvSpPr>
          <p:cNvPr id="36" name="Shape 34"/>
          <p:cNvSpPr/>
          <p:nvPr/>
        </p:nvSpPr>
        <p:spPr>
          <a:xfrm>
            <a:off x="850392" y="5992459"/>
            <a:ext cx="64008" cy="64008"/>
          </a:xfrm>
          <a:prstGeom prst="ellipse">
            <a:avLst/>
          </a:prstGeom>
          <a:solidFill>
            <a:srgbClr val="0F766E"/>
          </a:solidFill>
          <a:ln/>
        </p:spPr>
      </p:sp>
      <p:sp>
        <p:nvSpPr>
          <p:cNvPr id="37" name="Text 35"/>
          <p:cNvSpPr txBox="1"/>
          <p:nvPr/>
        </p:nvSpPr>
        <p:spPr>
          <a:xfrm>
            <a:off x="1005840" y="5918708"/>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myocytus (miyosit-us)</a:t>
            </a:r>
            <a:r>
              <a:rPr lang="en-US" sz="1400" dirty="0">
                <a:solidFill>
                  <a:srgbClr val="4B5563"/>
                </a:solidFill>
                <a:latin typeface="Calibri" pitchFamily="34" charset="0"/>
                <a:ea typeface="Calibri" pitchFamily="34" charset="-122"/>
                <a:cs typeface="Calibri" pitchFamily="34" charset="-120"/>
              </a:rPr>
              <a:t>: Kas hücresi</a:t>
            </a:r>
            <a:endParaRPr lang="en-US" sz="1400" dirty="0"/>
          </a:p>
        </p:txBody>
      </p:sp>
      <p:sp>
        <p:nvSpPr>
          <p:cNvPr id="38" name="Shape 36"/>
          <p:cNvSpPr/>
          <p:nvPr/>
        </p:nvSpPr>
        <p:spPr>
          <a:xfrm>
            <a:off x="6233008" y="1475486"/>
            <a:ext cx="5410048" cy="1682750"/>
          </a:xfrm>
          <a:prstGeom prst="roundRect">
            <a:avLst>
              <a:gd name="adj" fmla="val 3804"/>
            </a:avLst>
          </a:prstGeom>
          <a:solidFill>
            <a:srgbClr val="EAF6F4"/>
          </a:solidFill>
          <a:ln/>
        </p:spPr>
      </p:sp>
      <p:sp>
        <p:nvSpPr>
          <p:cNvPr id="39" name="Text 37"/>
          <p:cNvSpPr txBox="1"/>
          <p:nvPr/>
        </p:nvSpPr>
        <p:spPr>
          <a:xfrm>
            <a:off x="6415888" y="1539494"/>
            <a:ext cx="5044288" cy="287274"/>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4-  </a:t>
            </a:r>
            <a:endParaRPr lang="en-US" sz="1500" dirty="0"/>
          </a:p>
        </p:txBody>
      </p:sp>
      <p:sp>
        <p:nvSpPr>
          <p:cNvPr id="40" name="Shape 38"/>
          <p:cNvSpPr/>
          <p:nvPr/>
        </p:nvSpPr>
        <p:spPr>
          <a:xfrm>
            <a:off x="6534760" y="1863943"/>
            <a:ext cx="64008" cy="64008"/>
          </a:xfrm>
          <a:prstGeom prst="ellipse">
            <a:avLst/>
          </a:prstGeom>
          <a:solidFill>
            <a:srgbClr val="0F766E"/>
          </a:solidFill>
          <a:ln/>
        </p:spPr>
      </p:sp>
      <p:sp>
        <p:nvSpPr>
          <p:cNvPr id="41" name="Text 39"/>
          <p:cNvSpPr txBox="1"/>
          <p:nvPr/>
        </p:nvSpPr>
        <p:spPr>
          <a:xfrm>
            <a:off x="6690208" y="1790192"/>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-logy (İ), -logia (G) (-loji)</a:t>
            </a:r>
            <a:r>
              <a:rPr lang="en-US" sz="1400" dirty="0">
                <a:solidFill>
                  <a:srgbClr val="4B5563"/>
                </a:solidFill>
                <a:latin typeface="Calibri" pitchFamily="34" charset="0"/>
                <a:ea typeface="Calibri" pitchFamily="34" charset="-122"/>
                <a:cs typeface="Calibri" pitchFamily="34" charset="-120"/>
              </a:rPr>
              <a:t>: Bilim</a:t>
            </a:r>
            <a:endParaRPr lang="en-US" sz="1400" dirty="0"/>
          </a:p>
        </p:txBody>
      </p:sp>
      <p:sp>
        <p:nvSpPr>
          <p:cNvPr id="42" name="Shape 40"/>
          <p:cNvSpPr/>
          <p:nvPr/>
        </p:nvSpPr>
        <p:spPr>
          <a:xfrm>
            <a:off x="6534760" y="2117435"/>
            <a:ext cx="64008" cy="64008"/>
          </a:xfrm>
          <a:prstGeom prst="ellipse">
            <a:avLst/>
          </a:prstGeom>
          <a:solidFill>
            <a:srgbClr val="0F766E"/>
          </a:solidFill>
          <a:ln/>
        </p:spPr>
      </p:sp>
      <p:sp>
        <p:nvSpPr>
          <p:cNvPr id="43" name="Text 41"/>
          <p:cNvSpPr txBox="1"/>
          <p:nvPr/>
        </p:nvSpPr>
        <p:spPr>
          <a:xfrm>
            <a:off x="6690208" y="20436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biology (biyoloji)</a:t>
            </a:r>
            <a:r>
              <a:rPr lang="en-US" sz="1400" dirty="0">
                <a:solidFill>
                  <a:srgbClr val="4B5563"/>
                </a:solidFill>
                <a:latin typeface="Calibri" pitchFamily="34" charset="0"/>
                <a:ea typeface="Calibri" pitchFamily="34" charset="-122"/>
                <a:cs typeface="Calibri" pitchFamily="34" charset="-120"/>
              </a:rPr>
              <a:t>: Canlıları inceleyen bilim dalı</a:t>
            </a:r>
            <a:endParaRPr lang="en-US" sz="1400" dirty="0"/>
          </a:p>
        </p:txBody>
      </p:sp>
      <p:sp>
        <p:nvSpPr>
          <p:cNvPr id="44" name="Shape 42"/>
          <p:cNvSpPr/>
          <p:nvPr/>
        </p:nvSpPr>
        <p:spPr>
          <a:xfrm>
            <a:off x="6534760" y="2370927"/>
            <a:ext cx="64008" cy="64008"/>
          </a:xfrm>
          <a:prstGeom prst="ellipse">
            <a:avLst/>
          </a:prstGeom>
          <a:solidFill>
            <a:srgbClr val="0F766E"/>
          </a:solidFill>
          <a:ln/>
        </p:spPr>
      </p:sp>
      <p:sp>
        <p:nvSpPr>
          <p:cNvPr id="45" name="Text 43"/>
          <p:cNvSpPr txBox="1"/>
          <p:nvPr/>
        </p:nvSpPr>
        <p:spPr>
          <a:xfrm>
            <a:off x="6690208" y="2297176"/>
            <a:ext cx="4769968" cy="47040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cardiology (kardiyoloji)</a:t>
            </a:r>
            <a:r>
              <a:rPr lang="en-US" sz="1400" dirty="0">
                <a:solidFill>
                  <a:srgbClr val="4B5563"/>
                </a:solidFill>
                <a:latin typeface="Calibri" pitchFamily="34" charset="0"/>
                <a:ea typeface="Calibri" pitchFamily="34" charset="-122"/>
                <a:cs typeface="Calibri" pitchFamily="34" charset="-120"/>
              </a:rPr>
              <a:t>: Kalp hastalıklarıyla uğraşan bilim dalı</a:t>
            </a:r>
            <a:endParaRPr lang="en-US" sz="1400" dirty="0"/>
          </a:p>
        </p:txBody>
      </p:sp>
      <p:sp>
        <p:nvSpPr>
          <p:cNvPr id="46" name="Shape 44"/>
          <p:cNvSpPr/>
          <p:nvPr/>
        </p:nvSpPr>
        <p:spPr>
          <a:xfrm>
            <a:off x="6534760" y="2841335"/>
            <a:ext cx="64008" cy="64008"/>
          </a:xfrm>
          <a:prstGeom prst="ellipse">
            <a:avLst/>
          </a:prstGeom>
          <a:solidFill>
            <a:srgbClr val="0F766E"/>
          </a:solidFill>
          <a:ln/>
        </p:spPr>
      </p:sp>
      <p:sp>
        <p:nvSpPr>
          <p:cNvPr id="47" name="Text 45"/>
          <p:cNvSpPr txBox="1"/>
          <p:nvPr/>
        </p:nvSpPr>
        <p:spPr>
          <a:xfrm>
            <a:off x="6690208" y="2767584"/>
            <a:ext cx="4769968" cy="253492"/>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histologia (histoloji)</a:t>
            </a:r>
            <a:r>
              <a:rPr lang="en-US" sz="1400" dirty="0">
                <a:solidFill>
                  <a:srgbClr val="4B5563"/>
                </a:solidFill>
                <a:latin typeface="Calibri" pitchFamily="34" charset="0"/>
                <a:ea typeface="Calibri" pitchFamily="34" charset="-122"/>
                <a:cs typeface="Calibri" pitchFamily="34" charset="-120"/>
              </a:rPr>
              <a:t>: Doku bilimi</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548640" y="384048"/>
            <a:ext cx="4425696" cy="310896"/>
          </a:xfrm>
          <a:prstGeom prst="roundRect">
            <a:avLst>
              <a:gd name="adj" fmla="val 50000"/>
            </a:avLst>
          </a:prstGeom>
          <a:solidFill>
            <a:srgbClr val="EAF6F4"/>
          </a:solidFill>
          <a:ln/>
        </p:spPr>
      </p:sp>
      <p:sp>
        <p:nvSpPr>
          <p:cNvPr id="3" name="Text 1"/>
          <p:cNvSpPr txBox="1"/>
          <p:nvPr/>
        </p:nvSpPr>
        <p:spPr>
          <a:xfrm>
            <a:off x="694944" y="384048"/>
            <a:ext cx="415137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90</a:t>
            </a:r>
            <a:endParaRPr lang="en-US" sz="1000" dirty="0"/>
          </a:p>
        </p:txBody>
      </p:sp>
      <p:sp>
        <p:nvSpPr>
          <p:cNvPr id="6" name="Shape 4"/>
          <p:cNvSpPr/>
          <p:nvPr/>
        </p:nvSpPr>
        <p:spPr>
          <a:xfrm>
            <a:off x="548640" y="2468880"/>
            <a:ext cx="11094415" cy="2215591"/>
          </a:xfrm>
          <a:prstGeom prst="roundRect">
            <a:avLst>
              <a:gd name="adj" fmla="val 2889"/>
            </a:avLst>
          </a:prstGeom>
          <a:solidFill>
            <a:srgbClr val="EAF6F4"/>
          </a:solidFill>
          <a:ln/>
        </p:spPr>
      </p:sp>
      <p:sp>
        <p:nvSpPr>
          <p:cNvPr id="7" name="Text 5"/>
          <p:cNvSpPr txBox="1"/>
          <p:nvPr/>
        </p:nvSpPr>
        <p:spPr>
          <a:xfrm>
            <a:off x="704088" y="2542032"/>
            <a:ext cx="10783519" cy="206928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Aşağıda bazı eş anlamlı tıbbi terimlerin yazılış ve parantez içinde söylenişleri yer almaktadır. Burada terimlerin Latince, Grekçe ve İngilizceleri yazılmıştır. Bazılarının da Arapçalarına yer verilmiştir. Bu Arapça terimlerin bir kısmı dilimize öyle yerleşmiş ki, o terimin neredeyse Türkçesi unutulup Arapçası daha fazla kullanılmaktadır. Örneğin, döl yatağı yerine rahim, öd yerine safra, sidik torbası yerine mesane, kas yerine adale ve sıvı yerine de mayi sözcükleri sözlenmektedir. Hep yabancı sözcüklerin dilimize çok girdiğinden yakınırız ama kendimizde yukarıdaki örneklerde olduğu gibi özellikle Türkçe sözcükleri kullanmaya özen göstermeyiz.</a:t>
            </a:r>
            <a:endParaRPr lang="en-US" sz="1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91</a:t>
            </a:r>
            <a:endParaRPr lang="en-US" sz="10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886051">
                  <a:extLst>
                    <a:ext uri="{9D8B030D-6E8A-4147-A177-3AD203B41FA5}">
                      <a16:colId xmlns:a16="http://schemas.microsoft.com/office/drawing/2014/main" val="20000"/>
                    </a:ext>
                  </a:extLst>
                </a:gridCol>
                <a:gridCol w="2302091">
                  <a:extLst>
                    <a:ext uri="{9D8B030D-6E8A-4147-A177-3AD203B41FA5}">
                      <a16:colId xmlns:a16="http://schemas.microsoft.com/office/drawing/2014/main" val="20001"/>
                    </a:ext>
                  </a:extLst>
                </a:gridCol>
                <a:gridCol w="2302091">
                  <a:extLst>
                    <a:ext uri="{9D8B030D-6E8A-4147-A177-3AD203B41FA5}">
                      <a16:colId xmlns:a16="http://schemas.microsoft.com/office/drawing/2014/main" val="20002"/>
                    </a:ext>
                  </a:extLst>
                </a:gridCol>
                <a:gridCol w="2302091">
                  <a:extLst>
                    <a:ext uri="{9D8B030D-6E8A-4147-A177-3AD203B41FA5}">
                      <a16:colId xmlns:a16="http://schemas.microsoft.com/office/drawing/2014/main" val="20003"/>
                    </a:ext>
                  </a:extLst>
                </a:gridCol>
                <a:gridCol w="2302091">
                  <a:extLst>
                    <a:ext uri="{9D8B030D-6E8A-4147-A177-3AD203B41FA5}">
                      <a16:colId xmlns:a16="http://schemas.microsoft.com/office/drawing/2014/main" val="20004"/>
                    </a:ext>
                  </a:extLst>
                </a:gridCol>
              </a:tblGrid>
              <a:tr h="219456">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Türkçe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Latince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Grekçe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İngilizce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Arapça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extLst>
                  <a:ext uri="{0D108BD9-81ED-4DB2-BD59-A6C34878D82A}">
                    <a16:rowId xmlns:a16="http://schemas.microsoft.com/office/drawing/2014/main" val="10000"/>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akciğer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pulmo (n)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pneumon (pnömon)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lung (lang)</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ayak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pes, pedis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podos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foot (fuut)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bağırsak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intestinum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enteron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intestine (intestin)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3"/>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baş</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caput, ceps (kaput, seps)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cephalica (sefalica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head (hed)</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bez</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glandula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aden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gland (glend)</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gudde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5"/>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biçim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forma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schema (şema), morphe (morfe)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figure (figür)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şekil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böbrek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ren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nephros (nefroz)</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kidney (kidni)</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7"/>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burun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nasus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rhin (rin)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nose (nouz)</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çekirdek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nucleus (nukleus)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caryon (karyon)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nucleus (nukliyıs)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nüve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9"/>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dalak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lien (lyen)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splen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spleen (spliin)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damar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vas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angion (anji)</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vassel (vasıl)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1"/>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deri</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cutis (kutis), tegument, pella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dermis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skin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cilt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dil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lingua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glosaa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tongue (tonğ)</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3"/>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döl yatağı</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uterus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hystera (histera), metra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uterus (yutırıs), womb (vum)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rahim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dudak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labium (labyum)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cheilos (keil)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lip</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5"/>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eklem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articulatio (artikülasyo), junctura (yunktura)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arthton (artron)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joint (coyint)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mafsal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erbezi</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testis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orchis (orşis), didymus (didimus)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testis, testicle (testikıl)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husye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7"/>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gırtlak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larynx (larinks), glottis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larynx (larinks), throat (trout)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hançere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219456">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göz</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oculus (okulus)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ophthalmus (oftalmus)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eye (ay)</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92</a:t>
            </a:r>
            <a:endParaRPr lang="en-US" sz="10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886051">
                  <a:extLst>
                    <a:ext uri="{9D8B030D-6E8A-4147-A177-3AD203B41FA5}">
                      <a16:colId xmlns:a16="http://schemas.microsoft.com/office/drawing/2014/main" val="20000"/>
                    </a:ext>
                  </a:extLst>
                </a:gridCol>
                <a:gridCol w="2302091">
                  <a:extLst>
                    <a:ext uri="{9D8B030D-6E8A-4147-A177-3AD203B41FA5}">
                      <a16:colId xmlns:a16="http://schemas.microsoft.com/office/drawing/2014/main" val="20001"/>
                    </a:ext>
                  </a:extLst>
                </a:gridCol>
                <a:gridCol w="2302091">
                  <a:extLst>
                    <a:ext uri="{9D8B030D-6E8A-4147-A177-3AD203B41FA5}">
                      <a16:colId xmlns:a16="http://schemas.microsoft.com/office/drawing/2014/main" val="20002"/>
                    </a:ext>
                  </a:extLst>
                </a:gridCol>
                <a:gridCol w="2302091">
                  <a:extLst>
                    <a:ext uri="{9D8B030D-6E8A-4147-A177-3AD203B41FA5}">
                      <a16:colId xmlns:a16="http://schemas.microsoft.com/office/drawing/2014/main" val="20003"/>
                    </a:ext>
                  </a:extLst>
                </a:gridCol>
                <a:gridCol w="2302091">
                  <a:extLst>
                    <a:ext uri="{9D8B030D-6E8A-4147-A177-3AD203B41FA5}">
                      <a16:colId xmlns:a16="http://schemas.microsoft.com/office/drawing/2014/main" val="20004"/>
                    </a:ext>
                  </a:extLst>
                </a:gridCol>
              </a:tblGrid>
              <a:tr h="231969">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Türkçe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Latince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Grekçe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İngilizce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000" b="1" dirty="0">
                          <a:solidFill>
                            <a:srgbClr val="0F766E"/>
                          </a:solidFill>
                          <a:latin typeface="Calibri" pitchFamily="34" charset="0"/>
                          <a:ea typeface="Calibri" pitchFamily="34" charset="-122"/>
                          <a:cs typeface="Calibri" pitchFamily="34" charset="-120"/>
                        </a:rPr>
                        <a:t>Arapça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extLst>
                  <a:ext uri="{0D108BD9-81ED-4DB2-BD59-A6C34878D82A}">
                    <a16:rowId xmlns:a16="http://schemas.microsoft.com/office/drawing/2014/main" val="10000"/>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göze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cella (sella)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kytos (kitos)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cell (sel)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hücre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1"/>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ilik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medulla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myelos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marrow (merov)</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karın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abdomen, venter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celi (seli), laparo</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abdomen (ebdomın)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batın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3"/>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kas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musculus (muskulus)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myos (miyos), sarcos (sarkos)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muscle (masıl)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adale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kıkırdak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cartilago (kartilago)</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chondros (kondros)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cartilage (kartilıc)</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5"/>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kulak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auris (oris)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otos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ear (iır)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kursak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verticulus (vertikulus)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gaster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stomach (stomak)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mide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7"/>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meme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mamma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mastos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breast (brest)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omur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vertebra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spondylus (spondil)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spondyl (spondıl)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9"/>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omurga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columna (kolumna) vertebralis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rachis (rakis)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vertebral column (virtıbrı kalım), spine (spayn)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omurilik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medulla spinalis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myelon (miyelon)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spinal cord (spaynıl kord)</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1"/>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öd</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fell, bitis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chole (kole)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gall (gol), bile (bayl)</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safra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ödkesesi</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vesica fellea (vezika fella), vesica biliaris (vezika bilyaris)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cholecyst (kolesist)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gallbladder (golbledır)
</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3"/>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parmak</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digitus (dijit)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dactylus (daktilus)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finger (fingır)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pıhtı</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coagulus (koagulum)</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thrombus (trombus)</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clot (klot)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5"/>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pıhtılaşma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coagulation (koagulasyon)</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thrombosis (tromboz)</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clotting (kloting)</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sidik torbası</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vesica urinaria (vezika urinarya)</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cyst (sist)</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urinari bladder (yurinıri blader)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mesane</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17"/>
                  </a:ext>
                </a:extLst>
              </a:tr>
              <a:tr h="231969">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su, sıvı</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aqua (akua), humor, lotio (losyo), liquor (likör)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hydro (hidro)</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water (votır)</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mayii</a:t>
                      </a:r>
                      <a:endParaRPr lang="en-US" sz="10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93</a:t>
            </a:r>
            <a:endParaRPr lang="en-US" sz="10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886051">
                  <a:extLst>
                    <a:ext uri="{9D8B030D-6E8A-4147-A177-3AD203B41FA5}">
                      <a16:colId xmlns:a16="http://schemas.microsoft.com/office/drawing/2014/main" val="20000"/>
                    </a:ext>
                  </a:extLst>
                </a:gridCol>
                <a:gridCol w="2302091">
                  <a:extLst>
                    <a:ext uri="{9D8B030D-6E8A-4147-A177-3AD203B41FA5}">
                      <a16:colId xmlns:a16="http://schemas.microsoft.com/office/drawing/2014/main" val="20001"/>
                    </a:ext>
                  </a:extLst>
                </a:gridCol>
                <a:gridCol w="2302091">
                  <a:extLst>
                    <a:ext uri="{9D8B030D-6E8A-4147-A177-3AD203B41FA5}">
                      <a16:colId xmlns:a16="http://schemas.microsoft.com/office/drawing/2014/main" val="20002"/>
                    </a:ext>
                  </a:extLst>
                </a:gridCol>
                <a:gridCol w="2302091">
                  <a:extLst>
                    <a:ext uri="{9D8B030D-6E8A-4147-A177-3AD203B41FA5}">
                      <a16:colId xmlns:a16="http://schemas.microsoft.com/office/drawing/2014/main" val="20003"/>
                    </a:ext>
                  </a:extLst>
                </a:gridCol>
                <a:gridCol w="2302091">
                  <a:extLst>
                    <a:ext uri="{9D8B030D-6E8A-4147-A177-3AD203B41FA5}">
                      <a16:colId xmlns:a16="http://schemas.microsoft.com/office/drawing/2014/main" val="20004"/>
                    </a:ext>
                  </a:extLst>
                </a:gridCol>
              </a:tblGrid>
              <a:tr h="660981">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Türkçe</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Latince</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Grekçe</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İngilizce</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Arapça</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EDE9"/>
                    </a:solidFill>
                  </a:tcPr>
                </a:tc>
                <a:extLst>
                  <a:ext uri="{0D108BD9-81ED-4DB2-BD59-A6C34878D82A}">
                    <a16:rowId xmlns:a16="http://schemas.microsoft.com/office/drawing/2014/main" val="10000"/>
                  </a:ext>
                </a:extLst>
              </a:tr>
              <a:tr h="660981">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Tırnak</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Unguis</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Onyx (oniks)</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Nail (neyıl)</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1"/>
                  </a:ext>
                </a:extLst>
              </a:tr>
              <a:tr h="660981">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Toplardamar</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Vena (ven)</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Phlebos (flebos)</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Vein (veyn)</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verit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0981">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Döl yatağı boruları</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Tuba uterina, oviduct (ovidukt)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Salpinx (salpinks)</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Uterine tube (yutrayn tub)</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3"/>
                  </a:ext>
                </a:extLst>
              </a:tr>
              <a:tr h="660981">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Yumurtalık</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Ovarium (ovaryum), over</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Oophoron (oforon)</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Ovary (ovıri)</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0981">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Yumurta hücresi</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Ovum</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Oocyte (osit), ovocyte (ovosit)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Ovum (ovım)</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6F4"/>
                    </a:solidFill>
                  </a:tcPr>
                </a:tc>
                <a:extLst>
                  <a:ext uri="{0D108BD9-81ED-4DB2-BD59-A6C34878D82A}">
                    <a16:rowId xmlns:a16="http://schemas.microsoft.com/office/drawing/2014/main" val="10005"/>
                  </a:ext>
                </a:extLst>
              </a:tr>
              <a:tr h="660981">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yürek</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Cor (kor)</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Cardia (kardiya)</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Heart (hart)</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Kalp</a:t>
                      </a:r>
                      <a:endParaRPr lang="en-US" sz="1100" dirty="0">
                        <a:latin typeface="Calibri" charset="0"/>
                        <a:ea typeface="Calibri" charset="0"/>
                        <a:cs typeface="Calibri" charset="0"/>
                      </a:endParaRPr>
                    </a:p>
                  </a:txBody>
                  <a:tcPr marL="50800" marR="508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94</a:t>
            </a:r>
            <a:endParaRPr lang="en-US" sz="1000" dirty="0"/>
          </a:p>
        </p:txBody>
      </p:sp>
      <p:sp>
        <p:nvSpPr>
          <p:cNvPr id="6" name="Shape 4"/>
          <p:cNvSpPr/>
          <p:nvPr/>
        </p:nvSpPr>
        <p:spPr>
          <a:xfrm>
            <a:off x="548640" y="1821942"/>
            <a:ext cx="5410048" cy="684276"/>
          </a:xfrm>
          <a:prstGeom prst="roundRect">
            <a:avLst>
              <a:gd name="adj" fmla="val 9354"/>
            </a:avLst>
          </a:prstGeom>
          <a:solidFill>
            <a:srgbClr val="EAF6F4"/>
          </a:solidFill>
          <a:ln/>
        </p:spPr>
      </p:sp>
      <p:sp>
        <p:nvSpPr>
          <p:cNvPr id="7" name="Text 5"/>
          <p:cNvSpPr txBox="1"/>
          <p:nvPr/>
        </p:nvSpPr>
        <p:spPr>
          <a:xfrm>
            <a:off x="704088" y="18950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Latince tıbbi terimler anatomide, Grekçe tıbbi terimler ise daha çok patolojide kullanılır.</a:t>
            </a:r>
            <a:endParaRPr lang="en-US" sz="1500" dirty="0"/>
          </a:p>
        </p:txBody>
      </p:sp>
      <p:sp>
        <p:nvSpPr>
          <p:cNvPr id="8" name="Shape 6"/>
          <p:cNvSpPr/>
          <p:nvPr/>
        </p:nvSpPr>
        <p:spPr>
          <a:xfrm>
            <a:off x="548640" y="2597658"/>
            <a:ext cx="5410048" cy="451866"/>
          </a:xfrm>
          <a:prstGeom prst="roundRect">
            <a:avLst>
              <a:gd name="adj" fmla="val 14165"/>
            </a:avLst>
          </a:prstGeom>
          <a:solidFill>
            <a:srgbClr val="EAF6F4"/>
          </a:solidFill>
          <a:ln/>
        </p:spPr>
      </p:sp>
      <p:sp>
        <p:nvSpPr>
          <p:cNvPr id="9" name="Text 7"/>
          <p:cNvSpPr txBox="1"/>
          <p:nvPr/>
        </p:nvSpPr>
        <p:spPr>
          <a:xfrm>
            <a:off x="704088" y="267081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Örnekler</a:t>
            </a:r>
            <a:endParaRPr lang="en-US" sz="1500" dirty="0"/>
          </a:p>
        </p:txBody>
      </p:sp>
      <p:sp>
        <p:nvSpPr>
          <p:cNvPr id="10" name="Shape 8"/>
          <p:cNvSpPr/>
          <p:nvPr/>
        </p:nvSpPr>
        <p:spPr>
          <a:xfrm>
            <a:off x="548640" y="3140964"/>
            <a:ext cx="5410048" cy="451866"/>
          </a:xfrm>
          <a:prstGeom prst="roundRect">
            <a:avLst>
              <a:gd name="adj" fmla="val 14165"/>
            </a:avLst>
          </a:prstGeom>
          <a:solidFill>
            <a:srgbClr val="EAF6F4"/>
          </a:solidFill>
          <a:ln/>
        </p:spPr>
      </p:sp>
      <p:sp>
        <p:nvSpPr>
          <p:cNvPr id="11" name="Text 9"/>
          <p:cNvSpPr txBox="1"/>
          <p:nvPr/>
        </p:nvSpPr>
        <p:spPr>
          <a:xfrm>
            <a:off x="704088" y="321411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Podalgia (podalji): </a:t>
            </a:r>
            <a:r>
              <a:rPr lang="en-US" sz="1500" dirty="0">
                <a:solidFill>
                  <a:srgbClr val="1F2937"/>
                </a:solidFill>
                <a:latin typeface="Calibri" pitchFamily="34" charset="0"/>
                <a:ea typeface="Calibri" pitchFamily="34" charset="-122"/>
                <a:cs typeface="Calibri" pitchFamily="34" charset="-120"/>
              </a:rPr>
              <a:t>Ayak ağrısı</a:t>
            </a:r>
            <a:endParaRPr lang="en-US" sz="1500" dirty="0"/>
          </a:p>
        </p:txBody>
      </p:sp>
      <p:sp>
        <p:nvSpPr>
          <p:cNvPr id="12" name="Shape 10"/>
          <p:cNvSpPr/>
          <p:nvPr/>
        </p:nvSpPr>
        <p:spPr>
          <a:xfrm>
            <a:off x="548640" y="3684270"/>
            <a:ext cx="5410048" cy="451866"/>
          </a:xfrm>
          <a:prstGeom prst="roundRect">
            <a:avLst>
              <a:gd name="adj" fmla="val 14165"/>
            </a:avLst>
          </a:prstGeom>
          <a:solidFill>
            <a:srgbClr val="EAF6F4"/>
          </a:solidFill>
          <a:ln/>
        </p:spPr>
      </p:sp>
      <p:sp>
        <p:nvSpPr>
          <p:cNvPr id="13" name="Text 11"/>
          <p:cNvSpPr txBox="1"/>
          <p:nvPr/>
        </p:nvSpPr>
        <p:spPr>
          <a:xfrm>
            <a:off x="704088" y="375742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Platypodia (platipodi): </a:t>
            </a:r>
            <a:r>
              <a:rPr lang="en-US" sz="1500" dirty="0">
                <a:solidFill>
                  <a:srgbClr val="1F2937"/>
                </a:solidFill>
                <a:latin typeface="Calibri" pitchFamily="34" charset="0"/>
                <a:ea typeface="Calibri" pitchFamily="34" charset="-122"/>
                <a:cs typeface="Calibri" pitchFamily="34" charset="-120"/>
              </a:rPr>
              <a:t>Düz tabanlılık</a:t>
            </a:r>
            <a:endParaRPr lang="en-US" sz="1500" dirty="0"/>
          </a:p>
        </p:txBody>
      </p:sp>
      <p:sp>
        <p:nvSpPr>
          <p:cNvPr id="14" name="Shape 12"/>
          <p:cNvSpPr/>
          <p:nvPr/>
        </p:nvSpPr>
        <p:spPr>
          <a:xfrm>
            <a:off x="548640" y="4227576"/>
            <a:ext cx="5410048" cy="451866"/>
          </a:xfrm>
          <a:prstGeom prst="roundRect">
            <a:avLst>
              <a:gd name="adj" fmla="val 14165"/>
            </a:avLst>
          </a:prstGeom>
          <a:solidFill>
            <a:srgbClr val="EAF6F4"/>
          </a:solidFill>
          <a:ln/>
        </p:spPr>
      </p:sp>
      <p:sp>
        <p:nvSpPr>
          <p:cNvPr id="15" name="Text 13"/>
          <p:cNvSpPr txBox="1"/>
          <p:nvPr/>
        </p:nvSpPr>
        <p:spPr>
          <a:xfrm>
            <a:off x="704088" y="430072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Cephalalgia (sefalalji): </a:t>
            </a:r>
            <a:r>
              <a:rPr lang="en-US" sz="1500" dirty="0">
                <a:solidFill>
                  <a:srgbClr val="1F2937"/>
                </a:solidFill>
                <a:latin typeface="Calibri" pitchFamily="34" charset="0"/>
                <a:ea typeface="Calibri" pitchFamily="34" charset="-122"/>
                <a:cs typeface="Calibri" pitchFamily="34" charset="-120"/>
              </a:rPr>
              <a:t>Baş ağrısı</a:t>
            </a:r>
            <a:endParaRPr lang="en-US" sz="1500" dirty="0"/>
          </a:p>
        </p:txBody>
      </p:sp>
      <p:sp>
        <p:nvSpPr>
          <p:cNvPr id="16" name="Shape 14"/>
          <p:cNvSpPr/>
          <p:nvPr/>
        </p:nvSpPr>
        <p:spPr>
          <a:xfrm>
            <a:off x="548640" y="4770882"/>
            <a:ext cx="5410048" cy="451866"/>
          </a:xfrm>
          <a:prstGeom prst="roundRect">
            <a:avLst>
              <a:gd name="adj" fmla="val 14165"/>
            </a:avLst>
          </a:prstGeom>
          <a:solidFill>
            <a:srgbClr val="EAF6F4"/>
          </a:solidFill>
          <a:ln/>
        </p:spPr>
      </p:sp>
      <p:sp>
        <p:nvSpPr>
          <p:cNvPr id="17" name="Text 15"/>
          <p:cNvSpPr txBox="1"/>
          <p:nvPr/>
        </p:nvSpPr>
        <p:spPr>
          <a:xfrm>
            <a:off x="704088"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Adenoma (adenoma): </a:t>
            </a:r>
            <a:r>
              <a:rPr lang="en-US" sz="1500" dirty="0">
                <a:solidFill>
                  <a:srgbClr val="1F2937"/>
                </a:solidFill>
                <a:latin typeface="Calibri" pitchFamily="34" charset="0"/>
                <a:ea typeface="Calibri" pitchFamily="34" charset="-122"/>
                <a:cs typeface="Calibri" pitchFamily="34" charset="-120"/>
              </a:rPr>
              <a:t>Bez doku tümörü</a:t>
            </a:r>
            <a:endParaRPr lang="en-US" sz="1500" dirty="0"/>
          </a:p>
        </p:txBody>
      </p:sp>
      <p:sp>
        <p:nvSpPr>
          <p:cNvPr id="18" name="Shape 16"/>
          <p:cNvSpPr/>
          <p:nvPr/>
        </p:nvSpPr>
        <p:spPr>
          <a:xfrm>
            <a:off x="548640" y="5314188"/>
            <a:ext cx="5410048" cy="451866"/>
          </a:xfrm>
          <a:prstGeom prst="roundRect">
            <a:avLst>
              <a:gd name="adj" fmla="val 14165"/>
            </a:avLst>
          </a:prstGeom>
          <a:solidFill>
            <a:srgbClr val="EAF6F4"/>
          </a:solidFill>
          <a:ln/>
        </p:spPr>
      </p:sp>
      <p:sp>
        <p:nvSpPr>
          <p:cNvPr id="19" name="Text 17"/>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Nephritis (nefrit): </a:t>
            </a:r>
            <a:r>
              <a:rPr lang="en-US" sz="1500" dirty="0">
                <a:solidFill>
                  <a:srgbClr val="1F2937"/>
                </a:solidFill>
                <a:latin typeface="Calibri" pitchFamily="34" charset="0"/>
                <a:ea typeface="Calibri" pitchFamily="34" charset="-122"/>
                <a:cs typeface="Calibri" pitchFamily="34" charset="-120"/>
              </a:rPr>
              <a:t>Böbrek iltihabı (yangısı)</a:t>
            </a:r>
            <a:endParaRPr lang="en-US" sz="1500" dirty="0"/>
          </a:p>
        </p:txBody>
      </p:sp>
      <p:sp>
        <p:nvSpPr>
          <p:cNvPr id="20" name="Shape 18"/>
          <p:cNvSpPr/>
          <p:nvPr/>
        </p:nvSpPr>
        <p:spPr>
          <a:xfrm>
            <a:off x="548640" y="5857494"/>
            <a:ext cx="5410048" cy="451866"/>
          </a:xfrm>
          <a:prstGeom prst="roundRect">
            <a:avLst>
              <a:gd name="adj" fmla="val 14165"/>
            </a:avLst>
          </a:prstGeom>
          <a:solidFill>
            <a:srgbClr val="EAF6F4"/>
          </a:solidFill>
          <a:ln/>
        </p:spPr>
      </p:sp>
      <p:sp>
        <p:nvSpPr>
          <p:cNvPr id="21" name="Text 19"/>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Rhinitis (rinit): </a:t>
            </a:r>
            <a:r>
              <a:rPr lang="en-US" sz="1500" dirty="0">
                <a:solidFill>
                  <a:srgbClr val="1F2937"/>
                </a:solidFill>
                <a:latin typeface="Calibri" pitchFamily="34" charset="0"/>
                <a:ea typeface="Calibri" pitchFamily="34" charset="-122"/>
                <a:cs typeface="Calibri" pitchFamily="34" charset="-120"/>
              </a:rPr>
              <a:t>Burun iltihabı (yangısı)</a:t>
            </a:r>
            <a:endParaRPr lang="en-US" sz="1500" dirty="0"/>
          </a:p>
        </p:txBody>
      </p:sp>
      <p:sp>
        <p:nvSpPr>
          <p:cNvPr id="22" name="Shape 20"/>
          <p:cNvSpPr/>
          <p:nvPr/>
        </p:nvSpPr>
        <p:spPr>
          <a:xfrm>
            <a:off x="6233008" y="1821942"/>
            <a:ext cx="5410048" cy="451866"/>
          </a:xfrm>
          <a:prstGeom prst="roundRect">
            <a:avLst>
              <a:gd name="adj" fmla="val 14165"/>
            </a:avLst>
          </a:prstGeom>
          <a:solidFill>
            <a:srgbClr val="EAF6F4"/>
          </a:solidFill>
          <a:ln/>
        </p:spPr>
      </p:sp>
      <p:sp>
        <p:nvSpPr>
          <p:cNvPr id="23" name="Text 21"/>
          <p:cNvSpPr txBox="1"/>
          <p:nvPr/>
        </p:nvSpPr>
        <p:spPr>
          <a:xfrm>
            <a:off x="6388456" y="189509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Splenectomy (splenektomi): </a:t>
            </a:r>
            <a:r>
              <a:rPr lang="en-US" sz="1500" dirty="0">
                <a:solidFill>
                  <a:srgbClr val="1F2937"/>
                </a:solidFill>
                <a:latin typeface="Calibri" pitchFamily="34" charset="0"/>
                <a:ea typeface="Calibri" pitchFamily="34" charset="-122"/>
                <a:cs typeface="Calibri" pitchFamily="34" charset="-120"/>
              </a:rPr>
              <a:t>Dalağın çıkarılması</a:t>
            </a:r>
            <a:endParaRPr lang="en-US" sz="1500" dirty="0"/>
          </a:p>
        </p:txBody>
      </p:sp>
      <p:sp>
        <p:nvSpPr>
          <p:cNvPr id="24" name="Shape 22"/>
          <p:cNvSpPr/>
          <p:nvPr/>
        </p:nvSpPr>
        <p:spPr>
          <a:xfrm>
            <a:off x="6233008" y="2365248"/>
            <a:ext cx="5410048" cy="451866"/>
          </a:xfrm>
          <a:prstGeom prst="roundRect">
            <a:avLst>
              <a:gd name="adj" fmla="val 14165"/>
            </a:avLst>
          </a:prstGeom>
          <a:solidFill>
            <a:srgbClr val="EAF6F4"/>
          </a:solidFill>
          <a:ln/>
        </p:spPr>
      </p:sp>
      <p:sp>
        <p:nvSpPr>
          <p:cNvPr id="25" name="Text 23"/>
          <p:cNvSpPr txBox="1"/>
          <p:nvPr/>
        </p:nvSpPr>
        <p:spPr>
          <a:xfrm>
            <a:off x="6388456" y="243840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Angiography (anjiyografi): </a:t>
            </a:r>
            <a:r>
              <a:rPr lang="en-US" sz="1500" dirty="0">
                <a:solidFill>
                  <a:srgbClr val="1F2937"/>
                </a:solidFill>
                <a:latin typeface="Calibri" pitchFamily="34" charset="0"/>
                <a:ea typeface="Calibri" pitchFamily="34" charset="-122"/>
                <a:cs typeface="Calibri" pitchFamily="34" charset="-120"/>
              </a:rPr>
              <a:t>Damar radyografisi</a:t>
            </a:r>
            <a:endParaRPr lang="en-US" sz="1500" dirty="0"/>
          </a:p>
        </p:txBody>
      </p:sp>
      <p:sp>
        <p:nvSpPr>
          <p:cNvPr id="26" name="Shape 24"/>
          <p:cNvSpPr/>
          <p:nvPr/>
        </p:nvSpPr>
        <p:spPr>
          <a:xfrm>
            <a:off x="6233008" y="2908554"/>
            <a:ext cx="5410048" cy="451866"/>
          </a:xfrm>
          <a:prstGeom prst="roundRect">
            <a:avLst>
              <a:gd name="adj" fmla="val 14165"/>
            </a:avLst>
          </a:prstGeom>
          <a:solidFill>
            <a:srgbClr val="EAF6F4"/>
          </a:solidFill>
          <a:ln/>
        </p:spPr>
      </p:sp>
      <p:sp>
        <p:nvSpPr>
          <p:cNvPr id="27" name="Text 25"/>
          <p:cNvSpPr txBox="1"/>
          <p:nvPr/>
        </p:nvSpPr>
        <p:spPr>
          <a:xfrm>
            <a:off x="6388456" y="29817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Dermatitis (dermatit): </a:t>
            </a:r>
            <a:r>
              <a:rPr lang="en-US" sz="1500" dirty="0">
                <a:solidFill>
                  <a:srgbClr val="1F2937"/>
                </a:solidFill>
                <a:latin typeface="Calibri" pitchFamily="34" charset="0"/>
                <a:ea typeface="Calibri" pitchFamily="34" charset="-122"/>
                <a:cs typeface="Calibri" pitchFamily="34" charset="-120"/>
              </a:rPr>
              <a:t>Deri iltihabı (yangısı)</a:t>
            </a:r>
            <a:endParaRPr lang="en-US" sz="1500" dirty="0"/>
          </a:p>
        </p:txBody>
      </p:sp>
      <p:sp>
        <p:nvSpPr>
          <p:cNvPr id="28" name="Shape 26"/>
          <p:cNvSpPr/>
          <p:nvPr/>
        </p:nvSpPr>
        <p:spPr>
          <a:xfrm>
            <a:off x="6233008" y="3451860"/>
            <a:ext cx="5410048" cy="451866"/>
          </a:xfrm>
          <a:prstGeom prst="roundRect">
            <a:avLst>
              <a:gd name="adj" fmla="val 14165"/>
            </a:avLst>
          </a:prstGeom>
          <a:solidFill>
            <a:srgbClr val="EAF6F4"/>
          </a:solidFill>
          <a:ln/>
        </p:spPr>
      </p:sp>
      <p:sp>
        <p:nvSpPr>
          <p:cNvPr id="29" name="Text 27"/>
          <p:cNvSpPr txBox="1"/>
          <p:nvPr/>
        </p:nvSpPr>
        <p:spPr>
          <a:xfrm>
            <a:off x="6388456"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Glossitis (glosit): </a:t>
            </a:r>
            <a:r>
              <a:rPr lang="en-US" sz="1500" dirty="0">
                <a:solidFill>
                  <a:srgbClr val="1F2937"/>
                </a:solidFill>
                <a:latin typeface="Calibri" pitchFamily="34" charset="0"/>
                <a:ea typeface="Calibri" pitchFamily="34" charset="-122"/>
                <a:cs typeface="Calibri" pitchFamily="34" charset="-120"/>
              </a:rPr>
              <a:t>Dil iltihabı (yangısı)</a:t>
            </a:r>
            <a:endParaRPr lang="en-US" sz="1500" dirty="0"/>
          </a:p>
        </p:txBody>
      </p:sp>
      <p:sp>
        <p:nvSpPr>
          <p:cNvPr id="30" name="Shape 28"/>
          <p:cNvSpPr/>
          <p:nvPr/>
        </p:nvSpPr>
        <p:spPr>
          <a:xfrm>
            <a:off x="6233008" y="3995166"/>
            <a:ext cx="5410048" cy="684276"/>
          </a:xfrm>
          <a:prstGeom prst="roundRect">
            <a:avLst>
              <a:gd name="adj" fmla="val 9354"/>
            </a:avLst>
          </a:prstGeom>
          <a:solidFill>
            <a:srgbClr val="EAF6F4"/>
          </a:solidFill>
          <a:ln/>
        </p:spPr>
      </p:sp>
      <p:sp>
        <p:nvSpPr>
          <p:cNvPr id="31" name="Text 29"/>
          <p:cNvSpPr txBox="1"/>
          <p:nvPr/>
        </p:nvSpPr>
        <p:spPr>
          <a:xfrm>
            <a:off x="6388456" y="406831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Physometra (fisometra): </a:t>
            </a:r>
            <a:r>
              <a:rPr lang="en-US" sz="1500" dirty="0">
                <a:solidFill>
                  <a:srgbClr val="1F2937"/>
                </a:solidFill>
                <a:latin typeface="Calibri" pitchFamily="34" charset="0"/>
                <a:ea typeface="Calibri" pitchFamily="34" charset="-122"/>
                <a:cs typeface="Calibri" pitchFamily="34" charset="-120"/>
              </a:rPr>
              <a:t>Döl yatağı boşluğuna gaz toplanması</a:t>
            </a:r>
            <a:endParaRPr lang="en-US" sz="1500" dirty="0"/>
          </a:p>
        </p:txBody>
      </p:sp>
      <p:sp>
        <p:nvSpPr>
          <p:cNvPr id="32" name="Shape 30"/>
          <p:cNvSpPr/>
          <p:nvPr/>
        </p:nvSpPr>
        <p:spPr>
          <a:xfrm>
            <a:off x="6233008" y="4770882"/>
            <a:ext cx="5410048" cy="451866"/>
          </a:xfrm>
          <a:prstGeom prst="roundRect">
            <a:avLst>
              <a:gd name="adj" fmla="val 14165"/>
            </a:avLst>
          </a:prstGeom>
          <a:solidFill>
            <a:srgbClr val="EAF6F4"/>
          </a:solidFill>
          <a:ln/>
        </p:spPr>
      </p:sp>
      <p:sp>
        <p:nvSpPr>
          <p:cNvPr id="33" name="Text 31"/>
          <p:cNvSpPr txBox="1"/>
          <p:nvPr/>
        </p:nvSpPr>
        <p:spPr>
          <a:xfrm>
            <a:off x="6388456"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Hysterectomy (histerektomi): </a:t>
            </a:r>
            <a:r>
              <a:rPr lang="en-US" sz="1500" dirty="0">
                <a:solidFill>
                  <a:srgbClr val="1F2937"/>
                </a:solidFill>
                <a:latin typeface="Calibri" pitchFamily="34" charset="0"/>
                <a:ea typeface="Calibri" pitchFamily="34" charset="-122"/>
                <a:cs typeface="Calibri" pitchFamily="34" charset="-120"/>
              </a:rPr>
              <a:t>Döl yatağının çıkarılması</a:t>
            </a:r>
            <a:endParaRPr lang="en-US" sz="1500" dirty="0"/>
          </a:p>
        </p:txBody>
      </p:sp>
      <p:sp>
        <p:nvSpPr>
          <p:cNvPr id="34" name="Shape 32"/>
          <p:cNvSpPr/>
          <p:nvPr/>
        </p:nvSpPr>
        <p:spPr>
          <a:xfrm>
            <a:off x="6233008" y="5314188"/>
            <a:ext cx="5410048" cy="684276"/>
          </a:xfrm>
          <a:prstGeom prst="roundRect">
            <a:avLst>
              <a:gd name="adj" fmla="val 9354"/>
            </a:avLst>
          </a:prstGeom>
          <a:solidFill>
            <a:srgbClr val="EAF6F4"/>
          </a:solidFill>
          <a:ln/>
        </p:spPr>
      </p:sp>
      <p:sp>
        <p:nvSpPr>
          <p:cNvPr id="35" name="Text 33"/>
          <p:cNvSpPr txBox="1"/>
          <p:nvPr/>
        </p:nvSpPr>
        <p:spPr>
          <a:xfrm>
            <a:off x="6388456" y="538734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Endometritis (Endometrit): </a:t>
            </a:r>
            <a:r>
              <a:rPr lang="en-US" sz="1500" dirty="0">
                <a:solidFill>
                  <a:srgbClr val="1F2937"/>
                </a:solidFill>
                <a:latin typeface="Calibri" pitchFamily="34" charset="0"/>
                <a:ea typeface="Calibri" pitchFamily="34" charset="-122"/>
                <a:cs typeface="Calibri" pitchFamily="34" charset="-120"/>
              </a:rPr>
              <a:t>Döl yatağı mukozasının iltihabı (yangısı)</a:t>
            </a:r>
            <a:endParaRPr lang="en-US" sz="15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95</a:t>
            </a:r>
            <a:endParaRPr lang="en-US" sz="1000" dirty="0"/>
          </a:p>
        </p:txBody>
      </p:sp>
      <p:sp>
        <p:nvSpPr>
          <p:cNvPr id="6" name="Shape 4"/>
          <p:cNvSpPr/>
          <p:nvPr/>
        </p:nvSpPr>
        <p:spPr>
          <a:xfrm>
            <a:off x="548640" y="2157781"/>
            <a:ext cx="5410048" cy="421742"/>
          </a:xfrm>
          <a:prstGeom prst="roundRect">
            <a:avLst>
              <a:gd name="adj" fmla="val 15177"/>
            </a:avLst>
          </a:prstGeom>
          <a:solidFill>
            <a:srgbClr val="EAF6F4"/>
          </a:solidFill>
          <a:ln/>
        </p:spPr>
      </p:sp>
      <p:sp>
        <p:nvSpPr>
          <p:cNvPr id="7" name="Text 5"/>
          <p:cNvSpPr txBox="1"/>
          <p:nvPr/>
        </p:nvSpPr>
        <p:spPr>
          <a:xfrm>
            <a:off x="704088" y="2230933"/>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Cheiloplasty (keyloplasty): </a:t>
            </a:r>
            <a:r>
              <a:rPr lang="en-US" sz="1400" dirty="0">
                <a:solidFill>
                  <a:srgbClr val="1F2937"/>
                </a:solidFill>
                <a:latin typeface="Calibri" pitchFamily="34" charset="0"/>
                <a:ea typeface="Calibri" pitchFamily="34" charset="-122"/>
                <a:cs typeface="Calibri" pitchFamily="34" charset="-120"/>
              </a:rPr>
              <a:t>Dudağın plastik ameliyatı</a:t>
            </a:r>
            <a:endParaRPr lang="en-US" sz="1400" dirty="0"/>
          </a:p>
        </p:txBody>
      </p:sp>
      <p:sp>
        <p:nvSpPr>
          <p:cNvPr id="8" name="Shape 6"/>
          <p:cNvSpPr/>
          <p:nvPr/>
        </p:nvSpPr>
        <p:spPr>
          <a:xfrm>
            <a:off x="548640" y="2670962"/>
            <a:ext cx="5410048" cy="638658"/>
          </a:xfrm>
          <a:prstGeom prst="roundRect">
            <a:avLst>
              <a:gd name="adj" fmla="val 10022"/>
            </a:avLst>
          </a:prstGeom>
          <a:solidFill>
            <a:srgbClr val="EAF6F4"/>
          </a:solidFill>
          <a:ln/>
        </p:spPr>
      </p:sp>
      <p:sp>
        <p:nvSpPr>
          <p:cNvPr id="9" name="Text 7"/>
          <p:cNvSpPr txBox="1"/>
          <p:nvPr/>
        </p:nvSpPr>
        <p:spPr>
          <a:xfrm>
            <a:off x="704088" y="2744114"/>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Cryptorchism (kriptorşizm): </a:t>
            </a:r>
            <a:r>
              <a:rPr lang="en-US" sz="1400" dirty="0">
                <a:solidFill>
                  <a:srgbClr val="1F2937"/>
                </a:solidFill>
                <a:latin typeface="Calibri" pitchFamily="34" charset="0"/>
                <a:ea typeface="Calibri" pitchFamily="34" charset="-122"/>
                <a:cs typeface="Calibri" pitchFamily="34" charset="-120"/>
              </a:rPr>
              <a:t>erbezlerinden bir veya ikisinin torbaya inmemesi</a:t>
            </a:r>
            <a:endParaRPr lang="en-US" sz="1400" dirty="0"/>
          </a:p>
        </p:txBody>
      </p:sp>
      <p:sp>
        <p:nvSpPr>
          <p:cNvPr id="10" name="Shape 8"/>
          <p:cNvSpPr/>
          <p:nvPr/>
        </p:nvSpPr>
        <p:spPr>
          <a:xfrm>
            <a:off x="548640" y="3401060"/>
            <a:ext cx="5410048" cy="638658"/>
          </a:xfrm>
          <a:prstGeom prst="roundRect">
            <a:avLst>
              <a:gd name="adj" fmla="val 10022"/>
            </a:avLst>
          </a:prstGeom>
          <a:solidFill>
            <a:srgbClr val="EAF6F4"/>
          </a:solidFill>
          <a:ln/>
        </p:spPr>
      </p:sp>
      <p:sp>
        <p:nvSpPr>
          <p:cNvPr id="11" name="Text 9"/>
          <p:cNvSpPr txBox="1"/>
          <p:nvPr/>
        </p:nvSpPr>
        <p:spPr>
          <a:xfrm>
            <a:off x="704088" y="3474212"/>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Laryngoscope (laringoskop): </a:t>
            </a:r>
            <a:r>
              <a:rPr lang="en-US" sz="1400" dirty="0">
                <a:solidFill>
                  <a:srgbClr val="1F2937"/>
                </a:solidFill>
                <a:latin typeface="Calibri" pitchFamily="34" charset="0"/>
                <a:ea typeface="Calibri" pitchFamily="34" charset="-122"/>
                <a:cs typeface="Calibri" pitchFamily="34" charset="-120"/>
              </a:rPr>
              <a:t>Gırtlağı incelemede kullanılan alet</a:t>
            </a:r>
            <a:endParaRPr lang="en-US" sz="1400" dirty="0"/>
          </a:p>
        </p:txBody>
      </p:sp>
      <p:sp>
        <p:nvSpPr>
          <p:cNvPr id="12" name="Shape 10"/>
          <p:cNvSpPr/>
          <p:nvPr/>
        </p:nvSpPr>
        <p:spPr>
          <a:xfrm>
            <a:off x="548640" y="4131158"/>
            <a:ext cx="5410048" cy="421742"/>
          </a:xfrm>
          <a:prstGeom prst="roundRect">
            <a:avLst>
              <a:gd name="adj" fmla="val 15177"/>
            </a:avLst>
          </a:prstGeom>
          <a:solidFill>
            <a:srgbClr val="EAF6F4"/>
          </a:solidFill>
          <a:ln/>
        </p:spPr>
      </p:sp>
      <p:sp>
        <p:nvSpPr>
          <p:cNvPr id="13" name="Text 11"/>
          <p:cNvSpPr txBox="1"/>
          <p:nvPr/>
        </p:nvSpPr>
        <p:spPr>
          <a:xfrm>
            <a:off x="704088" y="420431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Exophthalmia (eksoftalmi): </a:t>
            </a:r>
            <a:r>
              <a:rPr lang="en-US" sz="1400" dirty="0">
                <a:solidFill>
                  <a:srgbClr val="1F2937"/>
                </a:solidFill>
                <a:latin typeface="Calibri" pitchFamily="34" charset="0"/>
                <a:ea typeface="Calibri" pitchFamily="34" charset="-122"/>
                <a:cs typeface="Calibri" pitchFamily="34" charset="-120"/>
              </a:rPr>
              <a:t>Göz küresinin öne doğru çıkması</a:t>
            </a:r>
            <a:endParaRPr lang="en-US" sz="1400" dirty="0"/>
          </a:p>
        </p:txBody>
      </p:sp>
      <p:sp>
        <p:nvSpPr>
          <p:cNvPr id="14" name="Shape 12"/>
          <p:cNvSpPr/>
          <p:nvPr/>
        </p:nvSpPr>
        <p:spPr>
          <a:xfrm>
            <a:off x="548640" y="4644339"/>
            <a:ext cx="5410048" cy="421742"/>
          </a:xfrm>
          <a:prstGeom prst="roundRect">
            <a:avLst>
              <a:gd name="adj" fmla="val 15177"/>
            </a:avLst>
          </a:prstGeom>
          <a:solidFill>
            <a:srgbClr val="EAF6F4"/>
          </a:solidFill>
          <a:ln/>
        </p:spPr>
      </p:sp>
      <p:sp>
        <p:nvSpPr>
          <p:cNvPr id="15" name="Text 13"/>
          <p:cNvSpPr txBox="1"/>
          <p:nvPr/>
        </p:nvSpPr>
        <p:spPr>
          <a:xfrm>
            <a:off x="704088" y="4717491"/>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Myelatelia (miyelateli): </a:t>
            </a:r>
            <a:r>
              <a:rPr lang="en-US" sz="1400" dirty="0">
                <a:solidFill>
                  <a:srgbClr val="1F2937"/>
                </a:solidFill>
                <a:latin typeface="Calibri" pitchFamily="34" charset="0"/>
                <a:ea typeface="Calibri" pitchFamily="34" charset="-122"/>
                <a:cs typeface="Calibri" pitchFamily="34" charset="-120"/>
              </a:rPr>
              <a:t>Omuriliğin kusurlu gelişimi</a:t>
            </a:r>
            <a:endParaRPr lang="en-US" sz="1400" dirty="0"/>
          </a:p>
        </p:txBody>
      </p:sp>
      <p:sp>
        <p:nvSpPr>
          <p:cNvPr id="16" name="Shape 14"/>
          <p:cNvSpPr/>
          <p:nvPr/>
        </p:nvSpPr>
        <p:spPr>
          <a:xfrm>
            <a:off x="548640" y="5157521"/>
            <a:ext cx="5410048" cy="421742"/>
          </a:xfrm>
          <a:prstGeom prst="roundRect">
            <a:avLst>
              <a:gd name="adj" fmla="val 15177"/>
            </a:avLst>
          </a:prstGeom>
          <a:solidFill>
            <a:srgbClr val="EAF6F4"/>
          </a:solidFill>
          <a:ln/>
        </p:spPr>
      </p:sp>
      <p:sp>
        <p:nvSpPr>
          <p:cNvPr id="17" name="Text 15"/>
          <p:cNvSpPr txBox="1"/>
          <p:nvPr/>
        </p:nvSpPr>
        <p:spPr>
          <a:xfrm>
            <a:off x="704088" y="5230673"/>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Cardiomalacia (kardiyomalasi): </a:t>
            </a:r>
            <a:r>
              <a:rPr lang="en-US" sz="1400" dirty="0">
                <a:solidFill>
                  <a:srgbClr val="1F2937"/>
                </a:solidFill>
                <a:latin typeface="Calibri" pitchFamily="34" charset="0"/>
                <a:ea typeface="Calibri" pitchFamily="34" charset="-122"/>
                <a:cs typeface="Calibri" pitchFamily="34" charset="-120"/>
              </a:rPr>
              <a:t>Yürek kaslarının yumuşaması</a:t>
            </a:r>
            <a:endParaRPr lang="en-US" sz="1400" dirty="0"/>
          </a:p>
        </p:txBody>
      </p:sp>
      <p:sp>
        <p:nvSpPr>
          <p:cNvPr id="18" name="Shape 16"/>
          <p:cNvSpPr/>
          <p:nvPr/>
        </p:nvSpPr>
        <p:spPr>
          <a:xfrm>
            <a:off x="548640" y="5670702"/>
            <a:ext cx="5410048" cy="638658"/>
          </a:xfrm>
          <a:prstGeom prst="roundRect">
            <a:avLst>
              <a:gd name="adj" fmla="val 10022"/>
            </a:avLst>
          </a:prstGeom>
          <a:solidFill>
            <a:srgbClr val="EAF6F4"/>
          </a:solidFill>
          <a:ln/>
        </p:spPr>
      </p:sp>
      <p:sp>
        <p:nvSpPr>
          <p:cNvPr id="19" name="Text 17"/>
          <p:cNvSpPr txBox="1"/>
          <p:nvPr/>
        </p:nvSpPr>
        <p:spPr>
          <a:xfrm>
            <a:off x="704088" y="5743854"/>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Hematoma (hematom): </a:t>
            </a:r>
            <a:r>
              <a:rPr lang="en-US" sz="1400" dirty="0">
                <a:solidFill>
                  <a:srgbClr val="1F2937"/>
                </a:solidFill>
                <a:latin typeface="Calibri" pitchFamily="34" charset="0"/>
                <a:ea typeface="Calibri" pitchFamily="34" charset="-122"/>
                <a:cs typeface="Calibri" pitchFamily="34" charset="-120"/>
              </a:rPr>
              <a:t>Damarlardan çıkan kanın yaralanmış deri altında birikmesi sonucu oluşan kitle, tümör</a:t>
            </a:r>
            <a:endParaRPr lang="en-US" sz="1400" dirty="0"/>
          </a:p>
        </p:txBody>
      </p:sp>
      <p:sp>
        <p:nvSpPr>
          <p:cNvPr id="20" name="Shape 18"/>
          <p:cNvSpPr/>
          <p:nvPr/>
        </p:nvSpPr>
        <p:spPr>
          <a:xfrm>
            <a:off x="6233008" y="2157781"/>
            <a:ext cx="5410048" cy="638658"/>
          </a:xfrm>
          <a:prstGeom prst="roundRect">
            <a:avLst>
              <a:gd name="adj" fmla="val 10022"/>
            </a:avLst>
          </a:prstGeom>
          <a:solidFill>
            <a:srgbClr val="EAF6F4"/>
          </a:solidFill>
          <a:ln/>
        </p:spPr>
      </p:sp>
      <p:sp>
        <p:nvSpPr>
          <p:cNvPr id="21" name="Text 19"/>
          <p:cNvSpPr txBox="1"/>
          <p:nvPr/>
        </p:nvSpPr>
        <p:spPr>
          <a:xfrm>
            <a:off x="6388456" y="2230933"/>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Laparoscope (laparoskop): </a:t>
            </a:r>
            <a:r>
              <a:rPr lang="en-US" sz="1400" dirty="0">
                <a:solidFill>
                  <a:srgbClr val="1F2937"/>
                </a:solidFill>
                <a:latin typeface="Calibri" pitchFamily="34" charset="0"/>
                <a:ea typeface="Calibri" pitchFamily="34" charset="-122"/>
                <a:cs typeface="Calibri" pitchFamily="34" charset="-120"/>
              </a:rPr>
              <a:t>Karın duvarından sokularak, karnın iç organlarını incelemede kullanılan alet</a:t>
            </a:r>
            <a:endParaRPr lang="en-US" sz="1400" dirty="0"/>
          </a:p>
        </p:txBody>
      </p:sp>
      <p:sp>
        <p:nvSpPr>
          <p:cNvPr id="22" name="Shape 20"/>
          <p:cNvSpPr/>
          <p:nvPr/>
        </p:nvSpPr>
        <p:spPr>
          <a:xfrm>
            <a:off x="6233008" y="2887878"/>
            <a:ext cx="5410048" cy="421742"/>
          </a:xfrm>
          <a:prstGeom prst="roundRect">
            <a:avLst>
              <a:gd name="adj" fmla="val 15177"/>
            </a:avLst>
          </a:prstGeom>
          <a:solidFill>
            <a:srgbClr val="EAF6F4"/>
          </a:solidFill>
          <a:ln/>
        </p:spPr>
      </p:sp>
      <p:sp>
        <p:nvSpPr>
          <p:cNvPr id="23" name="Text 21"/>
          <p:cNvSpPr txBox="1"/>
          <p:nvPr/>
        </p:nvSpPr>
        <p:spPr>
          <a:xfrm>
            <a:off x="6388456" y="296103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Myalgia (miyalji): </a:t>
            </a:r>
            <a:r>
              <a:rPr lang="en-US" sz="1400" dirty="0">
                <a:solidFill>
                  <a:srgbClr val="1F2937"/>
                </a:solidFill>
                <a:latin typeface="Calibri" pitchFamily="34" charset="0"/>
                <a:ea typeface="Calibri" pitchFamily="34" charset="-122"/>
                <a:cs typeface="Calibri" pitchFamily="34" charset="-120"/>
              </a:rPr>
              <a:t>Kas ağrısı</a:t>
            </a:r>
            <a:endParaRPr lang="en-US" sz="1400" dirty="0"/>
          </a:p>
        </p:txBody>
      </p:sp>
      <p:sp>
        <p:nvSpPr>
          <p:cNvPr id="24" name="Shape 22"/>
          <p:cNvSpPr/>
          <p:nvPr/>
        </p:nvSpPr>
        <p:spPr>
          <a:xfrm>
            <a:off x="6233008" y="3401060"/>
            <a:ext cx="5410048" cy="638658"/>
          </a:xfrm>
          <a:prstGeom prst="roundRect">
            <a:avLst>
              <a:gd name="adj" fmla="val 10022"/>
            </a:avLst>
          </a:prstGeom>
          <a:solidFill>
            <a:srgbClr val="EAF6F4"/>
          </a:solidFill>
          <a:ln/>
        </p:spPr>
      </p:sp>
      <p:sp>
        <p:nvSpPr>
          <p:cNvPr id="25" name="Text 23"/>
          <p:cNvSpPr txBox="1"/>
          <p:nvPr/>
        </p:nvSpPr>
        <p:spPr>
          <a:xfrm>
            <a:off x="6388456" y="3474212"/>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Angiomyolipoma (anjiyomiyolipom): </a:t>
            </a:r>
            <a:r>
              <a:rPr lang="en-US" sz="1400" dirty="0">
                <a:solidFill>
                  <a:srgbClr val="1F2937"/>
                </a:solidFill>
                <a:latin typeface="Calibri" pitchFamily="34" charset="0"/>
                <a:ea typeface="Calibri" pitchFamily="34" charset="-122"/>
                <a:cs typeface="Calibri" pitchFamily="34" charset="-120"/>
              </a:rPr>
              <a:t>Yapısında damar, kas ve yap bulunan tümör</a:t>
            </a:r>
            <a:endParaRPr lang="en-US" sz="1400" dirty="0"/>
          </a:p>
        </p:txBody>
      </p:sp>
      <p:sp>
        <p:nvSpPr>
          <p:cNvPr id="26" name="Shape 24"/>
          <p:cNvSpPr/>
          <p:nvPr/>
        </p:nvSpPr>
        <p:spPr>
          <a:xfrm>
            <a:off x="6233008" y="4131158"/>
            <a:ext cx="5410048" cy="421742"/>
          </a:xfrm>
          <a:prstGeom prst="roundRect">
            <a:avLst>
              <a:gd name="adj" fmla="val 15177"/>
            </a:avLst>
          </a:prstGeom>
          <a:solidFill>
            <a:srgbClr val="EAF6F4"/>
          </a:solidFill>
          <a:ln/>
        </p:spPr>
      </p:sp>
      <p:sp>
        <p:nvSpPr>
          <p:cNvPr id="27" name="Text 25"/>
          <p:cNvSpPr txBox="1"/>
          <p:nvPr/>
        </p:nvSpPr>
        <p:spPr>
          <a:xfrm>
            <a:off x="6388456" y="420431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Otitis media (otitis medya): </a:t>
            </a:r>
            <a:r>
              <a:rPr lang="en-US" sz="1400" dirty="0">
                <a:solidFill>
                  <a:srgbClr val="1F2937"/>
                </a:solidFill>
                <a:latin typeface="Calibri" pitchFamily="34" charset="0"/>
                <a:ea typeface="Calibri" pitchFamily="34" charset="-122"/>
                <a:cs typeface="Calibri" pitchFamily="34" charset="-120"/>
              </a:rPr>
              <a:t>Ortakulak iltihabı (yangısı)</a:t>
            </a:r>
            <a:endParaRPr lang="en-US" sz="1400" dirty="0"/>
          </a:p>
        </p:txBody>
      </p:sp>
      <p:sp>
        <p:nvSpPr>
          <p:cNvPr id="28" name="Shape 26"/>
          <p:cNvSpPr/>
          <p:nvPr/>
        </p:nvSpPr>
        <p:spPr>
          <a:xfrm>
            <a:off x="6233008" y="4644339"/>
            <a:ext cx="5410048" cy="421742"/>
          </a:xfrm>
          <a:prstGeom prst="roundRect">
            <a:avLst>
              <a:gd name="adj" fmla="val 15177"/>
            </a:avLst>
          </a:prstGeom>
          <a:solidFill>
            <a:srgbClr val="EAF6F4"/>
          </a:solidFill>
          <a:ln/>
        </p:spPr>
      </p:sp>
      <p:sp>
        <p:nvSpPr>
          <p:cNvPr id="29" name="Text 27"/>
          <p:cNvSpPr txBox="1"/>
          <p:nvPr/>
        </p:nvSpPr>
        <p:spPr>
          <a:xfrm>
            <a:off x="6388456" y="4717491"/>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Staphylodema (stafilödem): </a:t>
            </a:r>
            <a:r>
              <a:rPr lang="en-US" sz="1400" dirty="0">
                <a:solidFill>
                  <a:srgbClr val="1F2937"/>
                </a:solidFill>
                <a:latin typeface="Calibri" pitchFamily="34" charset="0"/>
                <a:ea typeface="Calibri" pitchFamily="34" charset="-122"/>
                <a:cs typeface="Calibri" pitchFamily="34" charset="-120"/>
              </a:rPr>
              <a:t>Küçük dil ödemi</a:t>
            </a:r>
            <a:endParaRPr lang="en-US" sz="1400" dirty="0"/>
          </a:p>
        </p:txBody>
      </p:sp>
      <p:sp>
        <p:nvSpPr>
          <p:cNvPr id="30" name="Shape 28"/>
          <p:cNvSpPr/>
          <p:nvPr/>
        </p:nvSpPr>
        <p:spPr>
          <a:xfrm>
            <a:off x="6233008" y="5157521"/>
            <a:ext cx="5410048" cy="638658"/>
          </a:xfrm>
          <a:prstGeom prst="roundRect">
            <a:avLst>
              <a:gd name="adj" fmla="val 10022"/>
            </a:avLst>
          </a:prstGeom>
          <a:solidFill>
            <a:srgbClr val="EAF6F4"/>
          </a:solidFill>
          <a:ln/>
        </p:spPr>
      </p:sp>
      <p:sp>
        <p:nvSpPr>
          <p:cNvPr id="31" name="Text 29"/>
          <p:cNvSpPr txBox="1"/>
          <p:nvPr/>
        </p:nvSpPr>
        <p:spPr>
          <a:xfrm>
            <a:off x="6388456" y="5230673"/>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Gastroscopy (gastroskopi): </a:t>
            </a:r>
            <a:r>
              <a:rPr lang="en-US" sz="1400" dirty="0">
                <a:solidFill>
                  <a:srgbClr val="1F2937"/>
                </a:solidFill>
                <a:latin typeface="Calibri" pitchFamily="34" charset="0"/>
                <a:ea typeface="Calibri" pitchFamily="34" charset="-122"/>
                <a:cs typeface="Calibri" pitchFamily="34" charset="-120"/>
              </a:rPr>
              <a:t>Mide içini gastroskop ile inceleme</a:t>
            </a:r>
            <a:endParaRPr lang="en-US" sz="1400" dirty="0"/>
          </a:p>
        </p:txBody>
      </p:sp>
      <p:sp>
        <p:nvSpPr>
          <p:cNvPr id="32" name="Shape 30"/>
          <p:cNvSpPr/>
          <p:nvPr/>
        </p:nvSpPr>
        <p:spPr>
          <a:xfrm>
            <a:off x="6233008" y="5887618"/>
            <a:ext cx="5410048" cy="421742"/>
          </a:xfrm>
          <a:prstGeom prst="roundRect">
            <a:avLst>
              <a:gd name="adj" fmla="val 15177"/>
            </a:avLst>
          </a:prstGeom>
          <a:solidFill>
            <a:srgbClr val="EAF6F4"/>
          </a:solidFill>
          <a:ln/>
        </p:spPr>
      </p:sp>
      <p:sp>
        <p:nvSpPr>
          <p:cNvPr id="33" name="Text 31"/>
          <p:cNvSpPr txBox="1"/>
          <p:nvPr/>
        </p:nvSpPr>
        <p:spPr>
          <a:xfrm>
            <a:off x="6388456" y="596077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F766E"/>
                </a:solidFill>
                <a:latin typeface="Calibri" pitchFamily="34" charset="0"/>
                <a:ea typeface="Calibri" pitchFamily="34" charset="-122"/>
                <a:cs typeface="Calibri" pitchFamily="34" charset="-120"/>
              </a:rPr>
              <a:t>Mastectomy (mastektomi): </a:t>
            </a:r>
            <a:r>
              <a:rPr lang="en-US" sz="1400" dirty="0">
                <a:solidFill>
                  <a:srgbClr val="1F2937"/>
                </a:solidFill>
                <a:latin typeface="Calibri" pitchFamily="34" charset="0"/>
                <a:ea typeface="Calibri" pitchFamily="34" charset="-122"/>
                <a:cs typeface="Calibri" pitchFamily="34" charset="-120"/>
              </a:rPr>
              <a:t>Memenin çıkarılması</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Shape 0"/>
          <p:cNvSpPr/>
          <p:nvPr/>
        </p:nvSpPr>
        <p:spPr>
          <a:xfrm>
            <a:off x="548640" y="384048"/>
            <a:ext cx="5705856" cy="310896"/>
          </a:xfrm>
          <a:prstGeom prst="roundRect">
            <a:avLst>
              <a:gd name="adj" fmla="val 50000"/>
            </a:avLst>
          </a:prstGeom>
          <a:solidFill>
            <a:srgbClr val="EAF6F4"/>
          </a:solidFill>
          <a:ln/>
        </p:spPr>
      </p:sp>
      <p:sp>
        <p:nvSpPr>
          <p:cNvPr id="3" name="Text 1"/>
          <p:cNvSpPr txBox="1"/>
          <p:nvPr/>
        </p:nvSpPr>
        <p:spPr>
          <a:xfrm>
            <a:off x="694944" y="384048"/>
            <a:ext cx="5431536" cy="310896"/>
          </a:xfrm>
          <a:prstGeom prst="rect">
            <a:avLst/>
          </a:prstGeom>
          <a:noFill/>
          <a:ln/>
        </p:spPr>
        <p:txBody>
          <a:bodyPr wrap="square" lIns="0" tIns="0" rIns="0" bIns="0" rtlCol="0" anchor="ctr"/>
          <a:lstStyle/>
          <a:p>
            <a:pPr marL="0" indent="0">
              <a:buNone/>
            </a:pPr>
            <a:r>
              <a:rPr lang="en-US" sz="1000" b="1" kern="0" spc="60" dirty="0">
                <a:solidFill>
                  <a:srgbClr val="0F766E"/>
                </a:solidFill>
                <a:latin typeface="Calibri" pitchFamily="34" charset="0"/>
                <a:ea typeface="Calibri" pitchFamily="34" charset="-122"/>
                <a:cs typeface="Calibri" pitchFamily="34" charset="-120"/>
              </a:rPr>
              <a:t>BÖLÜM 1  ·  TERMİNOLOJİYE GİRİŞ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Çok Kullanılan Eş Anlamlı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96</a:t>
            </a:r>
            <a:endParaRPr lang="en-US" sz="1000" dirty="0"/>
          </a:p>
        </p:txBody>
      </p:sp>
      <p:sp>
        <p:nvSpPr>
          <p:cNvPr id="6" name="Shape 4"/>
          <p:cNvSpPr/>
          <p:nvPr/>
        </p:nvSpPr>
        <p:spPr>
          <a:xfrm>
            <a:off x="548640" y="1511046"/>
            <a:ext cx="11094415" cy="451866"/>
          </a:xfrm>
          <a:prstGeom prst="roundRect">
            <a:avLst>
              <a:gd name="adj" fmla="val 14165"/>
            </a:avLst>
          </a:prstGeom>
          <a:solidFill>
            <a:srgbClr val="EAF6F4"/>
          </a:solidFill>
          <a:ln/>
        </p:spPr>
      </p:sp>
      <p:sp>
        <p:nvSpPr>
          <p:cNvPr id="7" name="Text 5"/>
          <p:cNvSpPr txBox="1"/>
          <p:nvPr/>
        </p:nvSpPr>
        <p:spPr>
          <a:xfrm>
            <a:off x="704088" y="158419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Rachicentesis (rakisentez): </a:t>
            </a:r>
            <a:r>
              <a:rPr lang="en-US" sz="1500" dirty="0">
                <a:solidFill>
                  <a:srgbClr val="1F2937"/>
                </a:solidFill>
                <a:latin typeface="Calibri" pitchFamily="34" charset="0"/>
                <a:ea typeface="Calibri" pitchFamily="34" charset="-122"/>
                <a:cs typeface="Calibri" pitchFamily="34" charset="-120"/>
              </a:rPr>
              <a:t>Örümcek zarı delerek altındaki sıvıyı çekme</a:t>
            </a:r>
            <a:endParaRPr lang="en-US" sz="1500" dirty="0"/>
          </a:p>
        </p:txBody>
      </p:sp>
      <p:sp>
        <p:nvSpPr>
          <p:cNvPr id="8" name="Shape 6"/>
          <p:cNvSpPr/>
          <p:nvPr/>
        </p:nvSpPr>
        <p:spPr>
          <a:xfrm>
            <a:off x="548640" y="2054352"/>
            <a:ext cx="11094415" cy="451866"/>
          </a:xfrm>
          <a:prstGeom prst="roundRect">
            <a:avLst>
              <a:gd name="adj" fmla="val 14165"/>
            </a:avLst>
          </a:prstGeom>
          <a:solidFill>
            <a:srgbClr val="EAF6F4"/>
          </a:solidFill>
          <a:ln/>
        </p:spPr>
      </p:sp>
      <p:sp>
        <p:nvSpPr>
          <p:cNvPr id="9" name="Text 7"/>
          <p:cNvSpPr txBox="1"/>
          <p:nvPr/>
        </p:nvSpPr>
        <p:spPr>
          <a:xfrm>
            <a:off x="704088" y="212750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Myelitis (miyelit): </a:t>
            </a:r>
            <a:r>
              <a:rPr lang="en-US" sz="1500" dirty="0">
                <a:solidFill>
                  <a:srgbClr val="1F2937"/>
                </a:solidFill>
                <a:latin typeface="Calibri" pitchFamily="34" charset="0"/>
                <a:ea typeface="Calibri" pitchFamily="34" charset="-122"/>
                <a:cs typeface="Calibri" pitchFamily="34" charset="-120"/>
              </a:rPr>
              <a:t>Omurilik yangısı (iltihabı)</a:t>
            </a:r>
            <a:endParaRPr lang="en-US" sz="1500" dirty="0"/>
          </a:p>
        </p:txBody>
      </p:sp>
      <p:sp>
        <p:nvSpPr>
          <p:cNvPr id="10" name="Shape 8"/>
          <p:cNvSpPr/>
          <p:nvPr/>
        </p:nvSpPr>
        <p:spPr>
          <a:xfrm>
            <a:off x="548640" y="2597658"/>
            <a:ext cx="11094415" cy="451866"/>
          </a:xfrm>
          <a:prstGeom prst="roundRect">
            <a:avLst>
              <a:gd name="adj" fmla="val 14165"/>
            </a:avLst>
          </a:prstGeom>
          <a:solidFill>
            <a:srgbClr val="EAF6F4"/>
          </a:solidFill>
          <a:ln/>
        </p:spPr>
      </p:sp>
      <p:sp>
        <p:nvSpPr>
          <p:cNvPr id="11" name="Text 9"/>
          <p:cNvSpPr txBox="1"/>
          <p:nvPr/>
        </p:nvSpPr>
        <p:spPr>
          <a:xfrm>
            <a:off x="704088" y="267081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Cholemia (kölemi): </a:t>
            </a:r>
            <a:r>
              <a:rPr lang="en-US" sz="1500" dirty="0">
                <a:solidFill>
                  <a:srgbClr val="1F2937"/>
                </a:solidFill>
                <a:latin typeface="Calibri" pitchFamily="34" charset="0"/>
                <a:ea typeface="Calibri" pitchFamily="34" charset="-122"/>
                <a:cs typeface="Calibri" pitchFamily="34" charset="-120"/>
              </a:rPr>
              <a:t>Kanda öd (safra) bulunması</a:t>
            </a:r>
            <a:endParaRPr lang="en-US" sz="1500" dirty="0"/>
          </a:p>
        </p:txBody>
      </p:sp>
      <p:sp>
        <p:nvSpPr>
          <p:cNvPr id="12" name="Shape 10"/>
          <p:cNvSpPr/>
          <p:nvPr/>
        </p:nvSpPr>
        <p:spPr>
          <a:xfrm>
            <a:off x="548640" y="3140964"/>
            <a:ext cx="11094415" cy="451866"/>
          </a:xfrm>
          <a:prstGeom prst="roundRect">
            <a:avLst>
              <a:gd name="adj" fmla="val 14165"/>
            </a:avLst>
          </a:prstGeom>
          <a:solidFill>
            <a:srgbClr val="EAF6F4"/>
          </a:solidFill>
          <a:ln/>
        </p:spPr>
      </p:sp>
      <p:sp>
        <p:nvSpPr>
          <p:cNvPr id="13" name="Text 11"/>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Cholecystomy (kolesistomi): </a:t>
            </a:r>
            <a:r>
              <a:rPr lang="en-US" sz="1500" dirty="0">
                <a:solidFill>
                  <a:srgbClr val="1F2937"/>
                </a:solidFill>
                <a:latin typeface="Calibri" pitchFamily="34" charset="0"/>
                <a:ea typeface="Calibri" pitchFamily="34" charset="-122"/>
                <a:cs typeface="Calibri" pitchFamily="34" charset="-120"/>
              </a:rPr>
              <a:t>Öd kesesi ameliyatı</a:t>
            </a:r>
            <a:endParaRPr lang="en-US" sz="1500" dirty="0"/>
          </a:p>
        </p:txBody>
      </p:sp>
      <p:sp>
        <p:nvSpPr>
          <p:cNvPr id="14" name="Shape 12"/>
          <p:cNvSpPr/>
          <p:nvPr/>
        </p:nvSpPr>
        <p:spPr>
          <a:xfrm>
            <a:off x="548640" y="3684270"/>
            <a:ext cx="11094415" cy="451866"/>
          </a:xfrm>
          <a:prstGeom prst="roundRect">
            <a:avLst>
              <a:gd name="adj" fmla="val 14165"/>
            </a:avLst>
          </a:prstGeom>
          <a:solidFill>
            <a:srgbClr val="EAF6F4"/>
          </a:solidFill>
          <a:ln/>
        </p:spPr>
      </p:sp>
      <p:sp>
        <p:nvSpPr>
          <p:cNvPr id="15" name="Text 13"/>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Dactylomegaly (daktilomegali): </a:t>
            </a:r>
            <a:r>
              <a:rPr lang="en-US" sz="1500" dirty="0">
                <a:solidFill>
                  <a:srgbClr val="1F2937"/>
                </a:solidFill>
                <a:latin typeface="Calibri" pitchFamily="34" charset="0"/>
                <a:ea typeface="Calibri" pitchFamily="34" charset="-122"/>
                <a:cs typeface="Calibri" pitchFamily="34" charset="-120"/>
              </a:rPr>
              <a:t>El ve ayak parmaklarının normalden büyük olması</a:t>
            </a:r>
            <a:endParaRPr lang="en-US" sz="1500" dirty="0"/>
          </a:p>
        </p:txBody>
      </p:sp>
      <p:sp>
        <p:nvSpPr>
          <p:cNvPr id="16" name="Shape 14"/>
          <p:cNvSpPr/>
          <p:nvPr/>
        </p:nvSpPr>
        <p:spPr>
          <a:xfrm>
            <a:off x="548640" y="4227576"/>
            <a:ext cx="11094415" cy="451866"/>
          </a:xfrm>
          <a:prstGeom prst="roundRect">
            <a:avLst>
              <a:gd name="adj" fmla="val 14165"/>
            </a:avLst>
          </a:prstGeom>
          <a:solidFill>
            <a:srgbClr val="EAF6F4"/>
          </a:solidFill>
          <a:ln/>
        </p:spPr>
      </p:sp>
      <p:sp>
        <p:nvSpPr>
          <p:cNvPr id="17" name="Text 15"/>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Cystitis (Sistit): </a:t>
            </a:r>
            <a:r>
              <a:rPr lang="en-US" sz="1500" dirty="0">
                <a:solidFill>
                  <a:srgbClr val="1F2937"/>
                </a:solidFill>
                <a:latin typeface="Calibri" pitchFamily="34" charset="0"/>
                <a:ea typeface="Calibri" pitchFamily="34" charset="-122"/>
                <a:cs typeface="Calibri" pitchFamily="34" charset="-120"/>
              </a:rPr>
              <a:t>Sidik torbası iltihabı</a:t>
            </a:r>
            <a:endParaRPr lang="en-US" sz="1500" dirty="0"/>
          </a:p>
        </p:txBody>
      </p:sp>
      <p:sp>
        <p:nvSpPr>
          <p:cNvPr id="18" name="Shape 16"/>
          <p:cNvSpPr/>
          <p:nvPr/>
        </p:nvSpPr>
        <p:spPr>
          <a:xfrm>
            <a:off x="548640" y="4770882"/>
            <a:ext cx="11094415" cy="451866"/>
          </a:xfrm>
          <a:prstGeom prst="roundRect">
            <a:avLst>
              <a:gd name="adj" fmla="val 14165"/>
            </a:avLst>
          </a:prstGeom>
          <a:solidFill>
            <a:srgbClr val="EAF6F4"/>
          </a:solidFill>
          <a:ln/>
        </p:spPr>
      </p:sp>
      <p:sp>
        <p:nvSpPr>
          <p:cNvPr id="19" name="Text 17"/>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Phlebectasia (flebektazi): </a:t>
            </a:r>
            <a:r>
              <a:rPr lang="en-US" sz="1500" dirty="0">
                <a:solidFill>
                  <a:srgbClr val="1F2937"/>
                </a:solidFill>
                <a:latin typeface="Calibri" pitchFamily="34" charset="0"/>
                <a:ea typeface="Calibri" pitchFamily="34" charset="-122"/>
                <a:cs typeface="Calibri" pitchFamily="34" charset="-120"/>
              </a:rPr>
              <a:t>Toplardamarların genişlemesi</a:t>
            </a:r>
            <a:endParaRPr lang="en-US" sz="1500" dirty="0"/>
          </a:p>
        </p:txBody>
      </p:sp>
      <p:sp>
        <p:nvSpPr>
          <p:cNvPr id="20" name="Shape 18"/>
          <p:cNvSpPr/>
          <p:nvPr/>
        </p:nvSpPr>
        <p:spPr>
          <a:xfrm>
            <a:off x="548640" y="5314188"/>
            <a:ext cx="11094415" cy="451866"/>
          </a:xfrm>
          <a:prstGeom prst="roundRect">
            <a:avLst>
              <a:gd name="adj" fmla="val 14165"/>
            </a:avLst>
          </a:prstGeom>
          <a:solidFill>
            <a:srgbClr val="EAF6F4"/>
          </a:solidFill>
          <a:ln/>
        </p:spPr>
      </p:sp>
      <p:sp>
        <p:nvSpPr>
          <p:cNvPr id="21" name="Text 19"/>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Thtombophlebitis (tromboplebit): </a:t>
            </a:r>
            <a:r>
              <a:rPr lang="en-US" sz="1500" dirty="0">
                <a:solidFill>
                  <a:srgbClr val="1F2937"/>
                </a:solidFill>
                <a:latin typeface="Calibri" pitchFamily="34" charset="0"/>
                <a:ea typeface="Calibri" pitchFamily="34" charset="-122"/>
                <a:cs typeface="Calibri" pitchFamily="34" charset="-120"/>
              </a:rPr>
              <a:t>Toplardamar içinde pıhtı ve çevresinde yangı oluşumunun bulunduğu hastalık</a:t>
            </a:r>
            <a:endParaRPr lang="en-US" sz="1500" dirty="0"/>
          </a:p>
        </p:txBody>
      </p:sp>
      <p:sp>
        <p:nvSpPr>
          <p:cNvPr id="22" name="Shape 20"/>
          <p:cNvSpPr/>
          <p:nvPr/>
        </p:nvSpPr>
        <p:spPr>
          <a:xfrm>
            <a:off x="548640" y="5857494"/>
            <a:ext cx="11094415" cy="451866"/>
          </a:xfrm>
          <a:prstGeom prst="roundRect">
            <a:avLst>
              <a:gd name="adj" fmla="val 14165"/>
            </a:avLst>
          </a:prstGeom>
          <a:solidFill>
            <a:srgbClr val="EAF6F4"/>
          </a:solidFill>
          <a:ln/>
        </p:spPr>
      </p:sp>
      <p:sp>
        <p:nvSpPr>
          <p:cNvPr id="23" name="Text 21"/>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F766E"/>
                </a:solidFill>
                <a:latin typeface="Calibri" pitchFamily="34" charset="0"/>
                <a:ea typeface="Calibri" pitchFamily="34" charset="-122"/>
                <a:cs typeface="Calibri" pitchFamily="34" charset="-120"/>
              </a:rPr>
              <a:t>Salpingo-oophorectomy (salpingo-oforektomi): </a:t>
            </a:r>
            <a:r>
              <a:rPr lang="en-US" sz="1500" dirty="0">
                <a:solidFill>
                  <a:srgbClr val="1F2937"/>
                </a:solidFill>
                <a:latin typeface="Calibri" pitchFamily="34" charset="0"/>
                <a:ea typeface="Calibri" pitchFamily="34" charset="-122"/>
                <a:cs typeface="Calibri" pitchFamily="34" charset="-120"/>
              </a:rPr>
              <a:t>Döl yatağı borusunu ve yumurtalığı çıkarma ameliyatı</a:t>
            </a:r>
            <a:endParaRPr lang="en-US" sz="15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DFB"/>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DEDBF7"/>
                </a:solidFill>
                <a:latin typeface="Cambria" pitchFamily="34" charset="0"/>
                <a:ea typeface="Cambria" pitchFamily="34" charset="-122"/>
                <a:cs typeface="Cambria" pitchFamily="34" charset="-120"/>
              </a:rPr>
              <a:t>02</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4338CA"/>
                </a:solidFill>
                <a:latin typeface="Calibri" pitchFamily="34" charset="0"/>
                <a:ea typeface="Calibri" pitchFamily="34" charset="-122"/>
                <a:cs typeface="Calibri" pitchFamily="34" charset="-120"/>
              </a:rPr>
              <a:t>BÖLÜM 2</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TERİM ÇEŞİTLERİ</a:t>
            </a:r>
            <a:endParaRPr lang="en-US" sz="3600" dirty="0"/>
          </a:p>
        </p:txBody>
      </p:sp>
      <p:sp>
        <p:nvSpPr>
          <p:cNvPr id="7" name="Shape 5"/>
          <p:cNvSpPr/>
          <p:nvPr/>
        </p:nvSpPr>
        <p:spPr>
          <a:xfrm>
            <a:off x="8503920" y="2331720"/>
            <a:ext cx="2194560" cy="2194560"/>
          </a:xfrm>
          <a:prstGeom prst="ellipse">
            <a:avLst/>
          </a:prstGeom>
          <a:solidFill>
            <a:srgbClr val="EEEDFB"/>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99</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TERİM ÇEŞİTLERİ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100</a:t>
            </a:r>
            <a:endParaRPr lang="en-US" sz="1000" dirty="0"/>
          </a:p>
        </p:txBody>
      </p:sp>
      <p:sp>
        <p:nvSpPr>
          <p:cNvPr id="6" name="Shape 4"/>
          <p:cNvSpPr/>
          <p:nvPr/>
        </p:nvSpPr>
        <p:spPr>
          <a:xfrm>
            <a:off x="548640" y="3474720"/>
            <a:ext cx="11094415" cy="542239"/>
          </a:xfrm>
          <a:prstGeom prst="roundRect">
            <a:avLst>
              <a:gd name="adj" fmla="val 11804"/>
            </a:avLst>
          </a:prstGeom>
          <a:solidFill>
            <a:srgbClr val="EEEDFB"/>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Tıbbi terimler üç çeşittir. Bunlar:</a:t>
            </a:r>
            <a:endParaRPr lang="en-US" sz="1800" dirty="0"/>
          </a:p>
        </p:txBody>
      </p:sp>
      <p:sp>
        <p:nvSpPr>
          <p:cNvPr id="8" name="Shape 6"/>
          <p:cNvSpPr/>
          <p:nvPr/>
        </p:nvSpPr>
        <p:spPr>
          <a:xfrm>
            <a:off x="548640" y="4108399"/>
            <a:ext cx="11094415" cy="542239"/>
          </a:xfrm>
          <a:prstGeom prst="roundRect">
            <a:avLst>
              <a:gd name="adj" fmla="val 11804"/>
            </a:avLst>
          </a:prstGeom>
          <a:solidFill>
            <a:srgbClr val="EEEDFB"/>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 Genel Terimler</a:t>
            </a:r>
            <a:endParaRPr lang="en-US" sz="1800" dirty="0"/>
          </a:p>
        </p:txBody>
      </p:sp>
      <p:sp>
        <p:nvSpPr>
          <p:cNvPr id="10" name="Shape 8"/>
          <p:cNvSpPr/>
          <p:nvPr/>
        </p:nvSpPr>
        <p:spPr>
          <a:xfrm>
            <a:off x="548640" y="4742078"/>
            <a:ext cx="11094415" cy="542239"/>
          </a:xfrm>
          <a:prstGeom prst="roundRect">
            <a:avLst>
              <a:gd name="adj" fmla="val 11804"/>
            </a:avLst>
          </a:prstGeom>
          <a:solidFill>
            <a:srgbClr val="EEEDFB"/>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 Eponim Terimler</a:t>
            </a:r>
            <a:endParaRPr lang="en-US" sz="1800" dirty="0"/>
          </a:p>
        </p:txBody>
      </p:sp>
      <p:sp>
        <p:nvSpPr>
          <p:cNvPr id="12" name="Shape 10"/>
          <p:cNvSpPr/>
          <p:nvPr/>
        </p:nvSpPr>
        <p:spPr>
          <a:xfrm>
            <a:off x="548640" y="5375758"/>
            <a:ext cx="11094415" cy="542239"/>
          </a:xfrm>
          <a:prstGeom prst="roundRect">
            <a:avLst>
              <a:gd name="adj" fmla="val 11804"/>
            </a:avLst>
          </a:prstGeom>
          <a:solidFill>
            <a:srgbClr val="EEEDFB"/>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 Akronim Terimler</a:t>
            </a:r>
            <a:endParaRPr lang="en-US"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2.a. Genel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101</a:t>
            </a:r>
            <a:endParaRPr lang="en-US" sz="1000" dirty="0"/>
          </a:p>
        </p:txBody>
      </p:sp>
      <p:sp>
        <p:nvSpPr>
          <p:cNvPr id="6" name="Shape 4"/>
          <p:cNvSpPr/>
          <p:nvPr/>
        </p:nvSpPr>
        <p:spPr>
          <a:xfrm>
            <a:off x="548640" y="3474720"/>
            <a:ext cx="11094415" cy="542239"/>
          </a:xfrm>
          <a:prstGeom prst="roundRect">
            <a:avLst>
              <a:gd name="adj" fmla="val 11804"/>
            </a:avLst>
          </a:prstGeom>
          <a:solidFill>
            <a:srgbClr val="EEEDFB"/>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Uluslararası bilim kongrelerinde belirlenen terimlerdir.</a:t>
            </a:r>
            <a:endParaRPr lang="en-US" sz="1800" dirty="0"/>
          </a:p>
        </p:txBody>
      </p:sp>
      <p:sp>
        <p:nvSpPr>
          <p:cNvPr id="8" name="Shape 6"/>
          <p:cNvSpPr/>
          <p:nvPr/>
        </p:nvSpPr>
        <p:spPr>
          <a:xfrm>
            <a:off x="548640" y="4108399"/>
            <a:ext cx="11094415" cy="542239"/>
          </a:xfrm>
          <a:prstGeom prst="roundRect">
            <a:avLst>
              <a:gd name="adj" fmla="val 11804"/>
            </a:avLst>
          </a:prstGeom>
          <a:solidFill>
            <a:srgbClr val="EEEDFB"/>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Tunica mucosa</a:t>
            </a:r>
            <a:endParaRPr lang="en-US" sz="1800" dirty="0"/>
          </a:p>
        </p:txBody>
      </p:sp>
      <p:sp>
        <p:nvSpPr>
          <p:cNvPr id="10" name="Shape 8"/>
          <p:cNvSpPr/>
          <p:nvPr/>
        </p:nvSpPr>
        <p:spPr>
          <a:xfrm>
            <a:off x="548640" y="4742078"/>
            <a:ext cx="11094415" cy="542239"/>
          </a:xfrm>
          <a:prstGeom prst="roundRect">
            <a:avLst>
              <a:gd name="adj" fmla="val 11804"/>
            </a:avLst>
          </a:prstGeom>
          <a:solidFill>
            <a:srgbClr val="EEEDFB"/>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Glandula duodenalis</a:t>
            </a:r>
            <a:endParaRPr lang="en-US" sz="1800" dirty="0"/>
          </a:p>
        </p:txBody>
      </p:sp>
      <p:sp>
        <p:nvSpPr>
          <p:cNvPr id="12" name="Shape 10"/>
          <p:cNvSpPr/>
          <p:nvPr/>
        </p:nvSpPr>
        <p:spPr>
          <a:xfrm>
            <a:off x="548640" y="5375758"/>
            <a:ext cx="11094415" cy="542239"/>
          </a:xfrm>
          <a:prstGeom prst="roundRect">
            <a:avLst>
              <a:gd name="adj" fmla="val 11804"/>
            </a:avLst>
          </a:prstGeom>
          <a:solidFill>
            <a:srgbClr val="EEEDFB"/>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Muscularis biceps brachi</a:t>
            </a:r>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2.b. Eponim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102</a:t>
            </a:r>
            <a:endParaRPr lang="en-US" sz="1000" dirty="0"/>
          </a:p>
        </p:txBody>
      </p:sp>
      <p:sp>
        <p:nvSpPr>
          <p:cNvPr id="6" name="Shape 4"/>
          <p:cNvSpPr/>
          <p:nvPr/>
        </p:nvSpPr>
        <p:spPr>
          <a:xfrm>
            <a:off x="548640" y="2468880"/>
            <a:ext cx="11094415" cy="2494483"/>
          </a:xfrm>
          <a:prstGeom prst="roundRect">
            <a:avLst>
              <a:gd name="adj" fmla="val 2566"/>
            </a:avLst>
          </a:prstGeom>
          <a:solidFill>
            <a:srgbClr val="EEEDFB"/>
          </a:solidFill>
          <a:ln/>
        </p:spPr>
      </p:sp>
      <p:sp>
        <p:nvSpPr>
          <p:cNvPr id="7" name="Text 5"/>
          <p:cNvSpPr txBox="1"/>
          <p:nvPr/>
        </p:nvSpPr>
        <p:spPr>
          <a:xfrm>
            <a:off x="704088" y="2542032"/>
            <a:ext cx="10783519" cy="234817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Tıp bilimlerinde eponim terim çok kullanılır. Eponim, Grekçe ‘‘eponymus’’ sözcüğünden gelir. Ep/o/nymus; burada epi=üst, o=kaynaştırma ünlüsü ve nymus=isim anlamına gelir. Eponim </a:t>
            </a:r>
            <a:r>
              <a:rPr lang="en-US" sz="1800" b="1" dirty="0">
                <a:solidFill>
                  <a:srgbClr val="1F2937"/>
                </a:solidFill>
                <a:latin typeface="Calibri" pitchFamily="34" charset="0"/>
                <a:ea typeface="Calibri" pitchFamily="34" charset="-122"/>
                <a:cs typeface="Calibri" pitchFamily="34" charset="-120"/>
              </a:rPr>
              <a:t>ek isim </a:t>
            </a:r>
            <a:r>
              <a:rPr lang="en-US" sz="1800" dirty="0">
                <a:solidFill>
                  <a:srgbClr val="1F2937"/>
                </a:solidFill>
                <a:latin typeface="Calibri" pitchFamily="34" charset="0"/>
                <a:ea typeface="Calibri" pitchFamily="34" charset="-122"/>
                <a:cs typeface="Calibri" pitchFamily="34" charset="-120"/>
              </a:rPr>
              <a:t>anlamına gelmektedir. Bilim dallarında oluşum, yapı ve yerlerin özel olarak kişi adlarıyla anılmasıdır. Bunlara daha çok, o yapıyı ya da oluşumu ilk gren veya o yapıyı ya da oluşum üzerinde önemli çalışmalar yapanların soyadları verilir. Anatomi bilim dalında eponim terimlerin kullanımı Uluslararası Anatomi Kongresi’nde kaldırılmıştır. Ancak bu eponimler, alışkanlık ve gelenekleşmiş gibi nedenlerle kullanılmaları bugün de sürdürülmektedir. Çok sayıda eponim terim vardır. Bunlardan en çok kullanılanları aşağıda yer almaktadır.</a:t>
            </a:r>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2.b. Eponim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103</a:t>
            </a:r>
            <a:endParaRPr lang="en-US" sz="1000" dirty="0"/>
          </a:p>
        </p:txBody>
      </p:sp>
      <p:sp>
        <p:nvSpPr>
          <p:cNvPr id="6" name="Shape 4"/>
          <p:cNvSpPr/>
          <p:nvPr/>
        </p:nvSpPr>
        <p:spPr>
          <a:xfrm>
            <a:off x="548640" y="1525016"/>
            <a:ext cx="5410048" cy="396138"/>
          </a:xfrm>
          <a:prstGeom prst="roundRect">
            <a:avLst>
              <a:gd name="adj" fmla="val 13850"/>
            </a:avLst>
          </a:prstGeom>
          <a:solidFill>
            <a:srgbClr val="DEDBF7"/>
          </a:solidFill>
          <a:ln/>
        </p:spPr>
      </p:sp>
      <p:sp>
        <p:nvSpPr>
          <p:cNvPr id="7" name="Text 5"/>
          <p:cNvSpPr txBox="1"/>
          <p:nvPr/>
        </p:nvSpPr>
        <p:spPr>
          <a:xfrm>
            <a:off x="685800" y="1579880"/>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Eponim Terim  Latince Karşılığı</a:t>
            </a:r>
            <a:endParaRPr lang="en-US" sz="1400" dirty="0"/>
          </a:p>
        </p:txBody>
      </p:sp>
      <p:sp>
        <p:nvSpPr>
          <p:cNvPr id="8" name="Shape 6"/>
          <p:cNvSpPr/>
          <p:nvPr/>
        </p:nvSpPr>
        <p:spPr>
          <a:xfrm>
            <a:off x="548640" y="2012594"/>
            <a:ext cx="5410048" cy="396138"/>
          </a:xfrm>
          <a:prstGeom prst="roundRect">
            <a:avLst>
              <a:gd name="adj" fmla="val 13850"/>
            </a:avLst>
          </a:prstGeom>
          <a:solidFill>
            <a:srgbClr val="EEEDFB"/>
          </a:solidFill>
          <a:ln/>
        </p:spPr>
      </p:sp>
      <p:sp>
        <p:nvSpPr>
          <p:cNvPr id="9" name="Text 7"/>
          <p:cNvSpPr txBox="1"/>
          <p:nvPr/>
        </p:nvSpPr>
        <p:spPr>
          <a:xfrm>
            <a:off x="685800" y="2067458"/>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Adam elması  </a:t>
            </a:r>
            <a:r>
              <a:rPr lang="en-US" sz="1400" dirty="0">
                <a:solidFill>
                  <a:srgbClr val="1F2937"/>
                </a:solidFill>
                <a:latin typeface="Calibri" pitchFamily="34" charset="0"/>
                <a:ea typeface="Calibri" pitchFamily="34" charset="-122"/>
                <a:cs typeface="Calibri" pitchFamily="34" charset="-120"/>
              </a:rPr>
              <a:t>Prominentia laryngea</a:t>
            </a:r>
            <a:endParaRPr lang="en-US" sz="1400" dirty="0"/>
          </a:p>
        </p:txBody>
      </p:sp>
      <p:sp>
        <p:nvSpPr>
          <p:cNvPr id="10" name="Shape 8"/>
          <p:cNvSpPr/>
          <p:nvPr/>
        </p:nvSpPr>
        <p:spPr>
          <a:xfrm>
            <a:off x="548640" y="2500173"/>
            <a:ext cx="5410048" cy="396138"/>
          </a:xfrm>
          <a:prstGeom prst="roundRect">
            <a:avLst>
              <a:gd name="adj" fmla="val 13850"/>
            </a:avLst>
          </a:prstGeom>
          <a:solidFill>
            <a:srgbClr val="EEEDFB"/>
          </a:solidFill>
          <a:ln/>
        </p:spPr>
      </p:sp>
      <p:sp>
        <p:nvSpPr>
          <p:cNvPr id="11" name="Text 9"/>
          <p:cNvSpPr txBox="1"/>
          <p:nvPr/>
        </p:nvSpPr>
        <p:spPr>
          <a:xfrm>
            <a:off x="685800" y="2555037"/>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Arantius kanalı  </a:t>
            </a:r>
            <a:r>
              <a:rPr lang="en-US" sz="1400" dirty="0">
                <a:solidFill>
                  <a:srgbClr val="1F2937"/>
                </a:solidFill>
                <a:latin typeface="Calibri" pitchFamily="34" charset="0"/>
                <a:ea typeface="Calibri" pitchFamily="34" charset="-122"/>
                <a:cs typeface="Calibri" pitchFamily="34" charset="-120"/>
              </a:rPr>
              <a:t>Ductus venosus</a:t>
            </a:r>
            <a:endParaRPr lang="en-US" sz="1400" dirty="0"/>
          </a:p>
        </p:txBody>
      </p:sp>
      <p:sp>
        <p:nvSpPr>
          <p:cNvPr id="12" name="Shape 10"/>
          <p:cNvSpPr/>
          <p:nvPr/>
        </p:nvSpPr>
        <p:spPr>
          <a:xfrm>
            <a:off x="548640" y="2987751"/>
            <a:ext cx="5410048" cy="396138"/>
          </a:xfrm>
          <a:prstGeom prst="roundRect">
            <a:avLst>
              <a:gd name="adj" fmla="val 13850"/>
            </a:avLst>
          </a:prstGeom>
          <a:solidFill>
            <a:srgbClr val="EEEDFB"/>
          </a:solidFill>
          <a:ln/>
        </p:spPr>
      </p:sp>
      <p:sp>
        <p:nvSpPr>
          <p:cNvPr id="13" name="Text 11"/>
          <p:cNvSpPr txBox="1"/>
          <p:nvPr/>
        </p:nvSpPr>
        <p:spPr>
          <a:xfrm>
            <a:off x="685800" y="3042615"/>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Bartholin bezi  </a:t>
            </a:r>
            <a:r>
              <a:rPr lang="en-US" sz="1400" dirty="0">
                <a:solidFill>
                  <a:srgbClr val="1F2937"/>
                </a:solidFill>
                <a:latin typeface="Calibri" pitchFamily="34" charset="0"/>
                <a:ea typeface="Calibri" pitchFamily="34" charset="-122"/>
                <a:cs typeface="Calibri" pitchFamily="34" charset="-120"/>
              </a:rPr>
              <a:t>Glandula vestibularis majör</a:t>
            </a:r>
            <a:endParaRPr lang="en-US" sz="1400" dirty="0"/>
          </a:p>
        </p:txBody>
      </p:sp>
      <p:sp>
        <p:nvSpPr>
          <p:cNvPr id="14" name="Shape 12"/>
          <p:cNvSpPr/>
          <p:nvPr/>
        </p:nvSpPr>
        <p:spPr>
          <a:xfrm>
            <a:off x="548640" y="3475330"/>
            <a:ext cx="5410048" cy="396138"/>
          </a:xfrm>
          <a:prstGeom prst="roundRect">
            <a:avLst>
              <a:gd name="adj" fmla="val 13850"/>
            </a:avLst>
          </a:prstGeom>
          <a:solidFill>
            <a:srgbClr val="EEEDFB"/>
          </a:solidFill>
          <a:ln/>
        </p:spPr>
      </p:sp>
      <p:sp>
        <p:nvSpPr>
          <p:cNvPr id="15" name="Text 13"/>
          <p:cNvSpPr txBox="1"/>
          <p:nvPr/>
        </p:nvSpPr>
        <p:spPr>
          <a:xfrm>
            <a:off x="685800" y="3530194"/>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Botalla deliği  </a:t>
            </a:r>
            <a:r>
              <a:rPr lang="en-US" sz="1400" dirty="0">
                <a:solidFill>
                  <a:srgbClr val="1F2937"/>
                </a:solidFill>
                <a:latin typeface="Calibri" pitchFamily="34" charset="0"/>
                <a:ea typeface="Calibri" pitchFamily="34" charset="-122"/>
                <a:cs typeface="Calibri" pitchFamily="34" charset="-120"/>
              </a:rPr>
              <a:t>Foramen ovale cordis</a:t>
            </a:r>
            <a:endParaRPr lang="en-US" sz="1400" dirty="0"/>
          </a:p>
        </p:txBody>
      </p:sp>
      <p:sp>
        <p:nvSpPr>
          <p:cNvPr id="16" name="Shape 14"/>
          <p:cNvSpPr/>
          <p:nvPr/>
        </p:nvSpPr>
        <p:spPr>
          <a:xfrm>
            <a:off x="548640" y="3962908"/>
            <a:ext cx="5410048" cy="396138"/>
          </a:xfrm>
          <a:prstGeom prst="roundRect">
            <a:avLst>
              <a:gd name="adj" fmla="val 13850"/>
            </a:avLst>
          </a:prstGeom>
          <a:solidFill>
            <a:srgbClr val="EEEDFB"/>
          </a:solidFill>
          <a:ln/>
        </p:spPr>
      </p:sp>
      <p:sp>
        <p:nvSpPr>
          <p:cNvPr id="17" name="Text 15"/>
          <p:cNvSpPr txBox="1"/>
          <p:nvPr/>
        </p:nvSpPr>
        <p:spPr>
          <a:xfrm>
            <a:off x="685800" y="4017772"/>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Bowman kapsülü  </a:t>
            </a:r>
            <a:r>
              <a:rPr lang="en-US" sz="1400" dirty="0">
                <a:solidFill>
                  <a:srgbClr val="1F2937"/>
                </a:solidFill>
                <a:latin typeface="Calibri" pitchFamily="34" charset="0"/>
                <a:ea typeface="Calibri" pitchFamily="34" charset="-122"/>
                <a:cs typeface="Calibri" pitchFamily="34" charset="-120"/>
              </a:rPr>
              <a:t>Capsula glomerularis</a:t>
            </a:r>
            <a:endParaRPr lang="en-US" sz="1400" dirty="0"/>
          </a:p>
        </p:txBody>
      </p:sp>
      <p:sp>
        <p:nvSpPr>
          <p:cNvPr id="18" name="Shape 16"/>
          <p:cNvSpPr/>
          <p:nvPr/>
        </p:nvSpPr>
        <p:spPr>
          <a:xfrm>
            <a:off x="548640" y="4450486"/>
            <a:ext cx="5410048" cy="396138"/>
          </a:xfrm>
          <a:prstGeom prst="roundRect">
            <a:avLst>
              <a:gd name="adj" fmla="val 13850"/>
            </a:avLst>
          </a:prstGeom>
          <a:solidFill>
            <a:srgbClr val="EEEDFB"/>
          </a:solidFill>
          <a:ln/>
        </p:spPr>
      </p:sp>
      <p:sp>
        <p:nvSpPr>
          <p:cNvPr id="19" name="Text 17"/>
          <p:cNvSpPr txBox="1"/>
          <p:nvPr/>
        </p:nvSpPr>
        <p:spPr>
          <a:xfrm>
            <a:off x="685800" y="4505350"/>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Cowper bezi  </a:t>
            </a:r>
            <a:r>
              <a:rPr lang="en-US" sz="1400" dirty="0">
                <a:solidFill>
                  <a:srgbClr val="1F2937"/>
                </a:solidFill>
                <a:latin typeface="Calibri" pitchFamily="34" charset="0"/>
                <a:ea typeface="Calibri" pitchFamily="34" charset="-122"/>
                <a:cs typeface="Calibri" pitchFamily="34" charset="-120"/>
              </a:rPr>
              <a:t>Glandula bulbourethralis</a:t>
            </a:r>
            <a:endParaRPr lang="en-US" sz="1400" dirty="0"/>
          </a:p>
        </p:txBody>
      </p:sp>
      <p:sp>
        <p:nvSpPr>
          <p:cNvPr id="20" name="Shape 18"/>
          <p:cNvSpPr/>
          <p:nvPr/>
        </p:nvSpPr>
        <p:spPr>
          <a:xfrm>
            <a:off x="548640" y="4938065"/>
            <a:ext cx="5410048" cy="396138"/>
          </a:xfrm>
          <a:prstGeom prst="roundRect">
            <a:avLst>
              <a:gd name="adj" fmla="val 13850"/>
            </a:avLst>
          </a:prstGeom>
          <a:solidFill>
            <a:srgbClr val="EEEDFB"/>
          </a:solidFill>
          <a:ln/>
        </p:spPr>
      </p:sp>
      <p:sp>
        <p:nvSpPr>
          <p:cNvPr id="21" name="Text 19"/>
          <p:cNvSpPr txBox="1"/>
          <p:nvPr/>
        </p:nvSpPr>
        <p:spPr>
          <a:xfrm>
            <a:off x="685800" y="4992929"/>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Eustachian borusu  </a:t>
            </a:r>
            <a:r>
              <a:rPr lang="en-US" sz="1400" dirty="0">
                <a:solidFill>
                  <a:srgbClr val="1F2937"/>
                </a:solidFill>
                <a:latin typeface="Calibri" pitchFamily="34" charset="0"/>
                <a:ea typeface="Calibri" pitchFamily="34" charset="-122"/>
                <a:cs typeface="Calibri" pitchFamily="34" charset="-120"/>
              </a:rPr>
              <a:t>Tuba auditiva</a:t>
            </a:r>
            <a:endParaRPr lang="en-US" sz="1400" dirty="0"/>
          </a:p>
        </p:txBody>
      </p:sp>
      <p:sp>
        <p:nvSpPr>
          <p:cNvPr id="22" name="Shape 20"/>
          <p:cNvSpPr/>
          <p:nvPr/>
        </p:nvSpPr>
        <p:spPr>
          <a:xfrm>
            <a:off x="548640" y="5425643"/>
            <a:ext cx="5410048" cy="396138"/>
          </a:xfrm>
          <a:prstGeom prst="roundRect">
            <a:avLst>
              <a:gd name="adj" fmla="val 13850"/>
            </a:avLst>
          </a:prstGeom>
          <a:solidFill>
            <a:srgbClr val="EEEDFB"/>
          </a:solidFill>
          <a:ln/>
        </p:spPr>
      </p:sp>
      <p:sp>
        <p:nvSpPr>
          <p:cNvPr id="23" name="Text 21"/>
          <p:cNvSpPr txBox="1"/>
          <p:nvPr/>
        </p:nvSpPr>
        <p:spPr>
          <a:xfrm>
            <a:off x="685800" y="5480507"/>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Fallopian tüpü  </a:t>
            </a:r>
            <a:r>
              <a:rPr lang="en-US" sz="1400" dirty="0">
                <a:solidFill>
                  <a:srgbClr val="1F2937"/>
                </a:solidFill>
                <a:latin typeface="Calibri" pitchFamily="34" charset="0"/>
                <a:ea typeface="Calibri" pitchFamily="34" charset="-122"/>
                <a:cs typeface="Calibri" pitchFamily="34" charset="-120"/>
              </a:rPr>
              <a:t>Tuba uterina</a:t>
            </a:r>
            <a:endParaRPr lang="en-US" sz="1400" dirty="0"/>
          </a:p>
        </p:txBody>
      </p:sp>
      <p:sp>
        <p:nvSpPr>
          <p:cNvPr id="24" name="Shape 22"/>
          <p:cNvSpPr/>
          <p:nvPr/>
        </p:nvSpPr>
        <p:spPr>
          <a:xfrm>
            <a:off x="548640" y="5913222"/>
            <a:ext cx="5410048" cy="396138"/>
          </a:xfrm>
          <a:prstGeom prst="roundRect">
            <a:avLst>
              <a:gd name="adj" fmla="val 13850"/>
            </a:avLst>
          </a:prstGeom>
          <a:solidFill>
            <a:srgbClr val="EEEDFB"/>
          </a:solidFill>
          <a:ln/>
        </p:spPr>
      </p:sp>
      <p:sp>
        <p:nvSpPr>
          <p:cNvPr id="25" name="Text 23"/>
          <p:cNvSpPr txBox="1"/>
          <p:nvPr/>
        </p:nvSpPr>
        <p:spPr>
          <a:xfrm>
            <a:off x="685800" y="5968086"/>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Ferrein piramitleri  </a:t>
            </a:r>
            <a:r>
              <a:rPr lang="en-US" sz="1400" dirty="0">
                <a:solidFill>
                  <a:srgbClr val="1F2937"/>
                </a:solidFill>
                <a:latin typeface="Calibri" pitchFamily="34" charset="0"/>
                <a:ea typeface="Calibri" pitchFamily="34" charset="-122"/>
                <a:cs typeface="Calibri" pitchFamily="34" charset="-120"/>
              </a:rPr>
              <a:t>Radii medullaris</a:t>
            </a:r>
            <a:endParaRPr lang="en-US" sz="1400" dirty="0"/>
          </a:p>
        </p:txBody>
      </p:sp>
      <p:sp>
        <p:nvSpPr>
          <p:cNvPr id="26" name="Shape 24"/>
          <p:cNvSpPr/>
          <p:nvPr/>
        </p:nvSpPr>
        <p:spPr>
          <a:xfrm>
            <a:off x="6233008" y="1525016"/>
            <a:ext cx="5410048" cy="396138"/>
          </a:xfrm>
          <a:prstGeom prst="roundRect">
            <a:avLst>
              <a:gd name="adj" fmla="val 13850"/>
            </a:avLst>
          </a:prstGeom>
          <a:solidFill>
            <a:srgbClr val="EEEDFB"/>
          </a:solidFill>
          <a:ln/>
        </p:spPr>
      </p:sp>
      <p:sp>
        <p:nvSpPr>
          <p:cNvPr id="27" name="Text 25"/>
          <p:cNvSpPr txBox="1"/>
          <p:nvPr/>
        </p:nvSpPr>
        <p:spPr>
          <a:xfrm>
            <a:off x="6370168" y="1579880"/>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Havers kanalı  </a:t>
            </a:r>
            <a:r>
              <a:rPr lang="en-US" sz="1400" dirty="0">
                <a:solidFill>
                  <a:srgbClr val="1F2937"/>
                </a:solidFill>
                <a:latin typeface="Calibri" pitchFamily="34" charset="0"/>
                <a:ea typeface="Calibri" pitchFamily="34" charset="-122"/>
                <a:cs typeface="Calibri" pitchFamily="34" charset="-120"/>
              </a:rPr>
              <a:t>Canalis centralis</a:t>
            </a:r>
            <a:endParaRPr lang="en-US" sz="1400" dirty="0"/>
          </a:p>
        </p:txBody>
      </p:sp>
      <p:sp>
        <p:nvSpPr>
          <p:cNvPr id="28" name="Shape 26"/>
          <p:cNvSpPr/>
          <p:nvPr/>
        </p:nvSpPr>
        <p:spPr>
          <a:xfrm>
            <a:off x="6233008" y="2012594"/>
            <a:ext cx="5410048" cy="396138"/>
          </a:xfrm>
          <a:prstGeom prst="roundRect">
            <a:avLst>
              <a:gd name="adj" fmla="val 13850"/>
            </a:avLst>
          </a:prstGeom>
          <a:solidFill>
            <a:srgbClr val="EEEDFB"/>
          </a:solidFill>
          <a:ln/>
        </p:spPr>
      </p:sp>
      <p:sp>
        <p:nvSpPr>
          <p:cNvPr id="29" name="Text 27"/>
          <p:cNvSpPr txBox="1"/>
          <p:nvPr/>
        </p:nvSpPr>
        <p:spPr>
          <a:xfrm>
            <a:off x="6370168" y="2067458"/>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Henle kulpu  </a:t>
            </a:r>
            <a:r>
              <a:rPr lang="en-US" sz="1400" dirty="0">
                <a:solidFill>
                  <a:srgbClr val="1F2937"/>
                </a:solidFill>
                <a:latin typeface="Calibri" pitchFamily="34" charset="0"/>
                <a:ea typeface="Calibri" pitchFamily="34" charset="-122"/>
                <a:cs typeface="Calibri" pitchFamily="34" charset="-120"/>
              </a:rPr>
              <a:t>Ansa nephroni</a:t>
            </a:r>
            <a:endParaRPr lang="en-US" sz="1400" dirty="0"/>
          </a:p>
        </p:txBody>
      </p:sp>
      <p:sp>
        <p:nvSpPr>
          <p:cNvPr id="30" name="Shape 28"/>
          <p:cNvSpPr/>
          <p:nvPr/>
        </p:nvSpPr>
        <p:spPr>
          <a:xfrm>
            <a:off x="6233008" y="2500173"/>
            <a:ext cx="5410048" cy="396138"/>
          </a:xfrm>
          <a:prstGeom prst="roundRect">
            <a:avLst>
              <a:gd name="adj" fmla="val 13850"/>
            </a:avLst>
          </a:prstGeom>
          <a:solidFill>
            <a:srgbClr val="EEEDFB"/>
          </a:solidFill>
          <a:ln/>
        </p:spPr>
      </p:sp>
      <p:sp>
        <p:nvSpPr>
          <p:cNvPr id="31" name="Text 29"/>
          <p:cNvSpPr txBox="1"/>
          <p:nvPr/>
        </p:nvSpPr>
        <p:spPr>
          <a:xfrm>
            <a:off x="6370168" y="2555037"/>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Littre bezleri  </a:t>
            </a:r>
            <a:r>
              <a:rPr lang="en-US" sz="1400" dirty="0">
                <a:solidFill>
                  <a:srgbClr val="1F2937"/>
                </a:solidFill>
                <a:latin typeface="Calibri" pitchFamily="34" charset="0"/>
                <a:ea typeface="Calibri" pitchFamily="34" charset="-122"/>
                <a:cs typeface="Calibri" pitchFamily="34" charset="-120"/>
              </a:rPr>
              <a:t>Glandulae urethrales</a:t>
            </a:r>
            <a:endParaRPr lang="en-US" sz="1400" dirty="0"/>
          </a:p>
        </p:txBody>
      </p:sp>
      <p:sp>
        <p:nvSpPr>
          <p:cNvPr id="32" name="Shape 30"/>
          <p:cNvSpPr/>
          <p:nvPr/>
        </p:nvSpPr>
        <p:spPr>
          <a:xfrm>
            <a:off x="6233008" y="2987751"/>
            <a:ext cx="5410048" cy="396138"/>
          </a:xfrm>
          <a:prstGeom prst="roundRect">
            <a:avLst>
              <a:gd name="adj" fmla="val 13850"/>
            </a:avLst>
          </a:prstGeom>
          <a:solidFill>
            <a:srgbClr val="EEEDFB"/>
          </a:solidFill>
          <a:ln/>
        </p:spPr>
      </p:sp>
      <p:sp>
        <p:nvSpPr>
          <p:cNvPr id="33" name="Text 31"/>
          <p:cNvSpPr txBox="1"/>
          <p:nvPr/>
        </p:nvSpPr>
        <p:spPr>
          <a:xfrm>
            <a:off x="6370168" y="3042615"/>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Malpighi piramitleri  </a:t>
            </a:r>
            <a:r>
              <a:rPr lang="en-US" sz="1400" dirty="0">
                <a:solidFill>
                  <a:srgbClr val="1F2937"/>
                </a:solidFill>
                <a:latin typeface="Calibri" pitchFamily="34" charset="0"/>
                <a:ea typeface="Calibri" pitchFamily="34" charset="-122"/>
                <a:cs typeface="Calibri" pitchFamily="34" charset="-120"/>
              </a:rPr>
              <a:t>Pyramides renales</a:t>
            </a:r>
            <a:endParaRPr lang="en-US" sz="1400" dirty="0"/>
          </a:p>
        </p:txBody>
      </p:sp>
      <p:sp>
        <p:nvSpPr>
          <p:cNvPr id="34" name="Shape 32"/>
          <p:cNvSpPr/>
          <p:nvPr/>
        </p:nvSpPr>
        <p:spPr>
          <a:xfrm>
            <a:off x="6233008" y="3475330"/>
            <a:ext cx="5410048" cy="396138"/>
          </a:xfrm>
          <a:prstGeom prst="roundRect">
            <a:avLst>
              <a:gd name="adj" fmla="val 13850"/>
            </a:avLst>
          </a:prstGeom>
          <a:solidFill>
            <a:srgbClr val="EEEDFB"/>
          </a:solidFill>
          <a:ln/>
        </p:spPr>
      </p:sp>
      <p:sp>
        <p:nvSpPr>
          <p:cNvPr id="35" name="Text 33"/>
          <p:cNvSpPr txBox="1"/>
          <p:nvPr/>
        </p:nvSpPr>
        <p:spPr>
          <a:xfrm>
            <a:off x="6370168" y="3530194"/>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Meibomian bezleri  </a:t>
            </a:r>
            <a:r>
              <a:rPr lang="en-US" sz="1400" dirty="0">
                <a:solidFill>
                  <a:srgbClr val="1F2937"/>
                </a:solidFill>
                <a:latin typeface="Calibri" pitchFamily="34" charset="0"/>
                <a:ea typeface="Calibri" pitchFamily="34" charset="-122"/>
                <a:cs typeface="Calibri" pitchFamily="34" charset="-120"/>
              </a:rPr>
              <a:t>Glandulae tarsales</a:t>
            </a:r>
            <a:endParaRPr lang="en-US" sz="1400" dirty="0"/>
          </a:p>
        </p:txBody>
      </p:sp>
      <p:sp>
        <p:nvSpPr>
          <p:cNvPr id="36" name="Shape 34"/>
          <p:cNvSpPr/>
          <p:nvPr/>
        </p:nvSpPr>
        <p:spPr>
          <a:xfrm>
            <a:off x="6233008" y="3962908"/>
            <a:ext cx="5410048" cy="396138"/>
          </a:xfrm>
          <a:prstGeom prst="roundRect">
            <a:avLst>
              <a:gd name="adj" fmla="val 13850"/>
            </a:avLst>
          </a:prstGeom>
          <a:solidFill>
            <a:srgbClr val="EEEDFB"/>
          </a:solidFill>
          <a:ln/>
        </p:spPr>
      </p:sp>
      <p:sp>
        <p:nvSpPr>
          <p:cNvPr id="37" name="Text 35"/>
          <p:cNvSpPr txBox="1"/>
          <p:nvPr/>
        </p:nvSpPr>
        <p:spPr>
          <a:xfrm>
            <a:off x="6370168" y="4017772"/>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Moll bezleri  </a:t>
            </a:r>
            <a:r>
              <a:rPr lang="en-US" sz="1400" dirty="0">
                <a:solidFill>
                  <a:srgbClr val="1F2937"/>
                </a:solidFill>
                <a:latin typeface="Calibri" pitchFamily="34" charset="0"/>
                <a:ea typeface="Calibri" pitchFamily="34" charset="-122"/>
                <a:cs typeface="Calibri" pitchFamily="34" charset="-120"/>
              </a:rPr>
              <a:t>Glandulae ciliares</a:t>
            </a:r>
            <a:endParaRPr lang="en-US" sz="1400" dirty="0"/>
          </a:p>
        </p:txBody>
      </p:sp>
      <p:sp>
        <p:nvSpPr>
          <p:cNvPr id="38" name="Shape 36"/>
          <p:cNvSpPr/>
          <p:nvPr/>
        </p:nvSpPr>
        <p:spPr>
          <a:xfrm>
            <a:off x="6233008" y="4450486"/>
            <a:ext cx="5410048" cy="396138"/>
          </a:xfrm>
          <a:prstGeom prst="roundRect">
            <a:avLst>
              <a:gd name="adj" fmla="val 13850"/>
            </a:avLst>
          </a:prstGeom>
          <a:solidFill>
            <a:srgbClr val="EEEDFB"/>
          </a:solidFill>
          <a:ln/>
        </p:spPr>
      </p:sp>
      <p:sp>
        <p:nvSpPr>
          <p:cNvPr id="39" name="Text 37"/>
          <p:cNvSpPr txBox="1"/>
          <p:nvPr/>
        </p:nvSpPr>
        <p:spPr>
          <a:xfrm>
            <a:off x="6370168" y="4505350"/>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Oddi sfinkteri  </a:t>
            </a:r>
            <a:r>
              <a:rPr lang="en-US" sz="1400" dirty="0">
                <a:solidFill>
                  <a:srgbClr val="1F2937"/>
                </a:solidFill>
                <a:latin typeface="Calibri" pitchFamily="34" charset="0"/>
                <a:ea typeface="Calibri" pitchFamily="34" charset="-122"/>
                <a:cs typeface="Calibri" pitchFamily="34" charset="-120"/>
              </a:rPr>
              <a:t>M. sphincter ampulla</a:t>
            </a:r>
            <a:endParaRPr lang="en-US" sz="1400" dirty="0"/>
          </a:p>
        </p:txBody>
      </p:sp>
      <p:sp>
        <p:nvSpPr>
          <p:cNvPr id="40" name="Shape 38"/>
          <p:cNvSpPr/>
          <p:nvPr/>
        </p:nvSpPr>
        <p:spPr>
          <a:xfrm>
            <a:off x="6233008" y="4938065"/>
            <a:ext cx="5410048" cy="396138"/>
          </a:xfrm>
          <a:prstGeom prst="roundRect">
            <a:avLst>
              <a:gd name="adj" fmla="val 13850"/>
            </a:avLst>
          </a:prstGeom>
          <a:solidFill>
            <a:srgbClr val="EEEDFB"/>
          </a:solidFill>
          <a:ln/>
        </p:spPr>
      </p:sp>
      <p:sp>
        <p:nvSpPr>
          <p:cNvPr id="41" name="Text 39"/>
          <p:cNvSpPr txBox="1"/>
          <p:nvPr/>
        </p:nvSpPr>
        <p:spPr>
          <a:xfrm>
            <a:off x="6370168" y="4992929"/>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Rolando oluğu  </a:t>
            </a:r>
            <a:r>
              <a:rPr lang="en-US" sz="1400" dirty="0">
                <a:solidFill>
                  <a:srgbClr val="1F2937"/>
                </a:solidFill>
                <a:latin typeface="Calibri" pitchFamily="34" charset="0"/>
                <a:ea typeface="Calibri" pitchFamily="34" charset="-122"/>
                <a:cs typeface="Calibri" pitchFamily="34" charset="-120"/>
              </a:rPr>
              <a:t>Sulcus centralis</a:t>
            </a:r>
            <a:endParaRPr lang="en-US" sz="1400" dirty="0"/>
          </a:p>
        </p:txBody>
      </p:sp>
      <p:sp>
        <p:nvSpPr>
          <p:cNvPr id="42" name="Shape 40"/>
          <p:cNvSpPr/>
          <p:nvPr/>
        </p:nvSpPr>
        <p:spPr>
          <a:xfrm>
            <a:off x="6233008" y="5425643"/>
            <a:ext cx="5410048" cy="396138"/>
          </a:xfrm>
          <a:prstGeom prst="roundRect">
            <a:avLst>
              <a:gd name="adj" fmla="val 13850"/>
            </a:avLst>
          </a:prstGeom>
          <a:solidFill>
            <a:srgbClr val="EEEDFB"/>
          </a:solidFill>
          <a:ln/>
        </p:spPr>
      </p:sp>
      <p:sp>
        <p:nvSpPr>
          <p:cNvPr id="43" name="Text 41"/>
          <p:cNvSpPr txBox="1"/>
          <p:nvPr/>
        </p:nvSpPr>
        <p:spPr>
          <a:xfrm>
            <a:off x="6370168" y="5480507"/>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Stensen (stenon) kanalı  </a:t>
            </a:r>
            <a:r>
              <a:rPr lang="en-US" sz="1400" dirty="0">
                <a:solidFill>
                  <a:srgbClr val="1F2937"/>
                </a:solidFill>
                <a:latin typeface="Calibri" pitchFamily="34" charset="0"/>
                <a:ea typeface="Calibri" pitchFamily="34" charset="-122"/>
                <a:cs typeface="Calibri" pitchFamily="34" charset="-120"/>
              </a:rPr>
              <a:t>Ductus parotideus</a:t>
            </a:r>
            <a:endParaRPr lang="en-US" sz="1400" dirty="0"/>
          </a:p>
        </p:txBody>
      </p:sp>
      <p:sp>
        <p:nvSpPr>
          <p:cNvPr id="44" name="Shape 42"/>
          <p:cNvSpPr/>
          <p:nvPr/>
        </p:nvSpPr>
        <p:spPr>
          <a:xfrm>
            <a:off x="6233008" y="5913222"/>
            <a:ext cx="5410048" cy="396138"/>
          </a:xfrm>
          <a:prstGeom prst="roundRect">
            <a:avLst>
              <a:gd name="adj" fmla="val 13850"/>
            </a:avLst>
          </a:prstGeom>
          <a:solidFill>
            <a:srgbClr val="EEEDFB"/>
          </a:solidFill>
          <a:ln/>
        </p:spPr>
      </p:sp>
      <p:sp>
        <p:nvSpPr>
          <p:cNvPr id="45" name="Text 43"/>
          <p:cNvSpPr txBox="1"/>
          <p:nvPr/>
        </p:nvSpPr>
        <p:spPr>
          <a:xfrm>
            <a:off x="6370168" y="5968086"/>
            <a:ext cx="5135728" cy="28641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Wirsung kanalı  </a:t>
            </a:r>
            <a:r>
              <a:rPr lang="en-US" sz="1400" dirty="0">
                <a:solidFill>
                  <a:srgbClr val="1F2937"/>
                </a:solidFill>
                <a:latin typeface="Calibri" pitchFamily="34" charset="0"/>
                <a:ea typeface="Calibri" pitchFamily="34" charset="-122"/>
                <a:cs typeface="Calibri" pitchFamily="34" charset="-120"/>
              </a:rPr>
              <a:t>Ductus pancreatius</a:t>
            </a:r>
            <a:endParaRPr lang="en-US"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Bazı hastalık isimleri de eponim isimleriyle bilinir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104</a:t>
            </a:r>
            <a:endParaRPr lang="en-US" sz="1000" dirty="0"/>
          </a:p>
        </p:txBody>
      </p:sp>
      <p:sp>
        <p:nvSpPr>
          <p:cNvPr id="6" name="Shape 4"/>
          <p:cNvSpPr/>
          <p:nvPr/>
        </p:nvSpPr>
        <p:spPr>
          <a:xfrm>
            <a:off x="548640" y="2100631"/>
            <a:ext cx="11094415" cy="855574"/>
          </a:xfrm>
          <a:prstGeom prst="roundRect">
            <a:avLst>
              <a:gd name="adj" fmla="val 7481"/>
            </a:avLst>
          </a:prstGeom>
          <a:solidFill>
            <a:srgbClr val="EEEDFB"/>
          </a:solidFill>
          <a:ln/>
        </p:spPr>
      </p:sp>
      <p:sp>
        <p:nvSpPr>
          <p:cNvPr id="7" name="Text 5"/>
          <p:cNvSpPr txBox="1"/>
          <p:nvPr/>
        </p:nvSpPr>
        <p:spPr>
          <a:xfrm>
            <a:off x="704088" y="2173783"/>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Pulmoner-Vison Sendromu: </a:t>
            </a:r>
            <a:r>
              <a:rPr lang="en-US" sz="1400" dirty="0">
                <a:solidFill>
                  <a:srgbClr val="1F2937"/>
                </a:solidFill>
                <a:latin typeface="Calibri" pitchFamily="34" charset="0"/>
                <a:ea typeface="Calibri" pitchFamily="34" charset="-122"/>
                <a:cs typeface="Calibri" pitchFamily="34" charset="-120"/>
              </a:rPr>
              <a:t>Sideropenik disfaji yani demir eksikliğine bağlı yutma güçlüğüne denir. Hastalık vücut demirinin azaldığı durumlarda ortaya çıkmaktadır. Özofagusta organın iç boşluğuna doğru yarımay şeklinde bir mukoza kıvrımı çıkmaktadır. Bu da yutma güçlüğüne yol açmaktadır.</a:t>
            </a:r>
            <a:endParaRPr lang="en-US" sz="1400" dirty="0"/>
          </a:p>
        </p:txBody>
      </p:sp>
      <p:sp>
        <p:nvSpPr>
          <p:cNvPr id="8" name="Shape 6"/>
          <p:cNvSpPr/>
          <p:nvPr/>
        </p:nvSpPr>
        <p:spPr>
          <a:xfrm>
            <a:off x="548640" y="3047644"/>
            <a:ext cx="11094415" cy="638658"/>
          </a:xfrm>
          <a:prstGeom prst="roundRect">
            <a:avLst>
              <a:gd name="adj" fmla="val 10022"/>
            </a:avLst>
          </a:prstGeom>
          <a:solidFill>
            <a:srgbClr val="EEEDFB"/>
          </a:solidFill>
          <a:ln/>
        </p:spPr>
      </p:sp>
      <p:sp>
        <p:nvSpPr>
          <p:cNvPr id="9" name="Text 7"/>
          <p:cNvSpPr txBox="1"/>
          <p:nvPr/>
        </p:nvSpPr>
        <p:spPr>
          <a:xfrm>
            <a:off x="704088" y="3120796"/>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Mollari-Weis Sendromu: </a:t>
            </a:r>
            <a:r>
              <a:rPr lang="en-US" sz="1400" dirty="0">
                <a:solidFill>
                  <a:srgbClr val="1F2937"/>
                </a:solidFill>
                <a:latin typeface="Calibri" pitchFamily="34" charset="0"/>
                <a:ea typeface="Calibri" pitchFamily="34" charset="-122"/>
                <a:cs typeface="Calibri" pitchFamily="34" charset="-120"/>
              </a:rPr>
              <a:t>Özofagusun son bölümü ile kardiyayı içeren uzunlamasına yırtıkların ortaya çıkmasına denir. Yırtık kanamaya yol açmaktadır. Sürekli ve şiddetli kusmalar, ıkınma, geğirme sonucu yırtık gelişebilir.</a:t>
            </a:r>
            <a:endParaRPr lang="en-US" sz="1400" dirty="0"/>
          </a:p>
        </p:txBody>
      </p:sp>
      <p:sp>
        <p:nvSpPr>
          <p:cNvPr id="10" name="Shape 8"/>
          <p:cNvSpPr/>
          <p:nvPr/>
        </p:nvSpPr>
        <p:spPr>
          <a:xfrm>
            <a:off x="548640" y="3777742"/>
            <a:ext cx="11094415" cy="1072490"/>
          </a:xfrm>
          <a:prstGeom prst="roundRect">
            <a:avLst>
              <a:gd name="adj" fmla="val 5968"/>
            </a:avLst>
          </a:prstGeom>
          <a:solidFill>
            <a:srgbClr val="EEEDFB"/>
          </a:solidFill>
          <a:ln/>
        </p:spPr>
      </p:sp>
      <p:sp>
        <p:nvSpPr>
          <p:cNvPr id="11" name="Text 9"/>
          <p:cNvSpPr txBox="1"/>
          <p:nvPr/>
        </p:nvSpPr>
        <p:spPr>
          <a:xfrm>
            <a:off x="704088" y="3850894"/>
            <a:ext cx="10783519" cy="926186"/>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Whipple Hastalığı: </a:t>
            </a:r>
            <a:r>
              <a:rPr lang="en-US" sz="1400" dirty="0">
                <a:solidFill>
                  <a:srgbClr val="1F2937"/>
                </a:solidFill>
                <a:latin typeface="Calibri" pitchFamily="34" charset="0"/>
                <a:ea typeface="Calibri" pitchFamily="34" charset="-122"/>
                <a:cs typeface="Calibri" pitchFamily="34" charset="-120"/>
              </a:rPr>
              <a:t>Klinik olarak anemi, deri pigmentasyonu veya artrit şeklindeki eklem semptomları, kilo kaybı, ishal ve şiddetli malobsorbsiyon durumuyla kendini gösteren ender bir rahatsızlıktır. Kalp, akciğer, beyin, seröz boşluklar, eklemler, göz, mide-bağırsak kanalı gibi bir çok organ tutmasına rağmen bu sistemik hastalık, her zaman için özellikle ince bağırsak mukozasını ilgilendirir.</a:t>
            </a:r>
            <a:endParaRPr lang="en-US" sz="1400" dirty="0"/>
          </a:p>
        </p:txBody>
      </p:sp>
      <p:sp>
        <p:nvSpPr>
          <p:cNvPr id="12" name="Shape 10"/>
          <p:cNvSpPr/>
          <p:nvPr/>
        </p:nvSpPr>
        <p:spPr>
          <a:xfrm>
            <a:off x="548640" y="4941672"/>
            <a:ext cx="11094415" cy="638658"/>
          </a:xfrm>
          <a:prstGeom prst="roundRect">
            <a:avLst>
              <a:gd name="adj" fmla="val 10022"/>
            </a:avLst>
          </a:prstGeom>
          <a:solidFill>
            <a:srgbClr val="EEEDFB"/>
          </a:solidFill>
          <a:ln/>
        </p:spPr>
      </p:sp>
      <p:sp>
        <p:nvSpPr>
          <p:cNvPr id="13" name="Text 11"/>
          <p:cNvSpPr txBox="1"/>
          <p:nvPr/>
        </p:nvSpPr>
        <p:spPr>
          <a:xfrm>
            <a:off x="704088" y="5014824"/>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4338CA"/>
                </a:solidFill>
                <a:latin typeface="Calibri" pitchFamily="34" charset="0"/>
                <a:ea typeface="Calibri" pitchFamily="34" charset="-122"/>
                <a:cs typeface="Calibri" pitchFamily="34" charset="-120"/>
              </a:rPr>
              <a:t>Crohn Hastalığı (Regional Enteritis): </a:t>
            </a:r>
            <a:r>
              <a:rPr lang="en-US" sz="1400" dirty="0">
                <a:solidFill>
                  <a:srgbClr val="1F2937"/>
                </a:solidFill>
                <a:latin typeface="Calibri" pitchFamily="34" charset="0"/>
                <a:ea typeface="Calibri" pitchFamily="34" charset="-122"/>
                <a:cs typeface="Calibri" pitchFamily="34" charset="-120"/>
              </a:rPr>
              <a:t>Genellikler ileumun alt bölgesini ilgilendiren, ancak çoğu zaman kolonu ve bazen de mide bağırsak kanalının diğer bölümlerini tutan, nonspesifik, granülomatöz iltihabi bir hastalıktır.</a:t>
            </a:r>
            <a:endParaRPr lang="en-US" sz="1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Bazı hastalık isimleri de eponim isimleriyle bilinir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105</a:t>
            </a:r>
            <a:endParaRPr lang="en-US" sz="1000" dirty="0"/>
          </a:p>
        </p:txBody>
      </p:sp>
      <p:sp>
        <p:nvSpPr>
          <p:cNvPr id="6" name="Shape 4"/>
          <p:cNvSpPr/>
          <p:nvPr/>
        </p:nvSpPr>
        <p:spPr>
          <a:xfrm>
            <a:off x="548640" y="1878584"/>
            <a:ext cx="11094415" cy="729894"/>
          </a:xfrm>
          <a:prstGeom prst="roundRect">
            <a:avLst>
              <a:gd name="adj" fmla="val 8769"/>
            </a:avLst>
          </a:prstGeom>
          <a:solidFill>
            <a:srgbClr val="EEEDFB"/>
          </a:solidFill>
          <a:ln/>
        </p:spPr>
      </p:sp>
      <p:sp>
        <p:nvSpPr>
          <p:cNvPr id="7" name="Text 5"/>
          <p:cNvSpPr txBox="1"/>
          <p:nvPr/>
        </p:nvSpPr>
        <p:spPr>
          <a:xfrm>
            <a:off x="704088" y="1951736"/>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338CA"/>
                </a:solidFill>
                <a:latin typeface="Calibri" pitchFamily="34" charset="0"/>
                <a:ea typeface="Calibri" pitchFamily="34" charset="-122"/>
                <a:cs typeface="Calibri" pitchFamily="34" charset="-120"/>
              </a:rPr>
              <a:t>Billroth I Ameliyatı: </a:t>
            </a:r>
            <a:r>
              <a:rPr lang="en-US" sz="1600" dirty="0">
                <a:solidFill>
                  <a:srgbClr val="1F2937"/>
                </a:solidFill>
                <a:latin typeface="Calibri" pitchFamily="34" charset="0"/>
                <a:ea typeface="Calibri" pitchFamily="34" charset="-122"/>
                <a:cs typeface="Calibri" pitchFamily="34" charset="-120"/>
              </a:rPr>
              <a:t>Midenin distal kısmı (antrum ve pilor bölgesini içine almak üzere yaklaşık %50’si) ülserle birlikte çıkarılır ve kalan proksimal parça duodenumun kesilen ucu ile yeniden ağızlaştırılır.</a:t>
            </a:r>
            <a:endParaRPr lang="en-US" sz="1600" dirty="0"/>
          </a:p>
        </p:txBody>
      </p:sp>
      <p:sp>
        <p:nvSpPr>
          <p:cNvPr id="8" name="Shape 6"/>
          <p:cNvSpPr/>
          <p:nvPr/>
        </p:nvSpPr>
        <p:spPr>
          <a:xfrm>
            <a:off x="548640" y="2699918"/>
            <a:ext cx="11094415" cy="729894"/>
          </a:xfrm>
          <a:prstGeom prst="roundRect">
            <a:avLst>
              <a:gd name="adj" fmla="val 8769"/>
            </a:avLst>
          </a:prstGeom>
          <a:solidFill>
            <a:srgbClr val="EEEDFB"/>
          </a:solidFill>
          <a:ln/>
        </p:spPr>
      </p:sp>
      <p:sp>
        <p:nvSpPr>
          <p:cNvPr id="9" name="Text 7"/>
          <p:cNvSpPr txBox="1"/>
          <p:nvPr/>
        </p:nvSpPr>
        <p:spPr>
          <a:xfrm>
            <a:off x="704088" y="2773070"/>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338CA"/>
                </a:solidFill>
                <a:latin typeface="Calibri" pitchFamily="34" charset="0"/>
                <a:ea typeface="Calibri" pitchFamily="34" charset="-122"/>
                <a:cs typeface="Calibri" pitchFamily="34" charset="-120"/>
              </a:rPr>
              <a:t>Billroth II Ameliyatı: </a:t>
            </a:r>
            <a:r>
              <a:rPr lang="en-US" sz="1600" dirty="0">
                <a:solidFill>
                  <a:srgbClr val="1F2937"/>
                </a:solidFill>
                <a:latin typeface="Calibri" pitchFamily="34" charset="0"/>
                <a:ea typeface="Calibri" pitchFamily="34" charset="-122"/>
                <a:cs typeface="Calibri" pitchFamily="34" charset="-120"/>
              </a:rPr>
              <a:t>Midenin yaklaşık %70’i pilorla birlikte çıkarılır, geriye kalan proksimal parça jejenum ile ağızlaştırılır. Duodenumun kesilen yerdeki ucu direk kapatılır.</a:t>
            </a:r>
            <a:endParaRPr lang="en-US" sz="1600" dirty="0"/>
          </a:p>
        </p:txBody>
      </p:sp>
      <p:sp>
        <p:nvSpPr>
          <p:cNvPr id="10" name="Shape 8"/>
          <p:cNvSpPr/>
          <p:nvPr/>
        </p:nvSpPr>
        <p:spPr>
          <a:xfrm>
            <a:off x="548640" y="3521253"/>
            <a:ext cx="11094415" cy="729894"/>
          </a:xfrm>
          <a:prstGeom prst="roundRect">
            <a:avLst>
              <a:gd name="adj" fmla="val 8769"/>
            </a:avLst>
          </a:prstGeom>
          <a:solidFill>
            <a:srgbClr val="EEEDFB"/>
          </a:solidFill>
          <a:ln/>
        </p:spPr>
      </p:sp>
      <p:sp>
        <p:nvSpPr>
          <p:cNvPr id="11" name="Text 9"/>
          <p:cNvSpPr txBox="1"/>
          <p:nvPr/>
        </p:nvSpPr>
        <p:spPr>
          <a:xfrm>
            <a:off x="704088" y="3594405"/>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338CA"/>
                </a:solidFill>
                <a:latin typeface="Calibri" pitchFamily="34" charset="0"/>
                <a:ea typeface="Calibri" pitchFamily="34" charset="-122"/>
                <a:cs typeface="Calibri" pitchFamily="34" charset="-120"/>
              </a:rPr>
              <a:t>Fanconi Sendromu: </a:t>
            </a:r>
            <a:r>
              <a:rPr lang="en-US" sz="1600" dirty="0">
                <a:solidFill>
                  <a:srgbClr val="1F2937"/>
                </a:solidFill>
                <a:latin typeface="Calibri" pitchFamily="34" charset="0"/>
                <a:ea typeface="Calibri" pitchFamily="34" charset="-122"/>
                <a:cs typeface="Calibri" pitchFamily="34" charset="-120"/>
              </a:rPr>
              <a:t>Böbrek tubuluslarındaki bir bozukluk sonucu böbreğin sidiği asitleştirme yeteneğini yitirmesine yol açan ve metabolizma kökenli asidoza neden olan bir hastalık.</a:t>
            </a:r>
            <a:endParaRPr lang="en-US" sz="1600" dirty="0"/>
          </a:p>
        </p:txBody>
      </p:sp>
      <p:sp>
        <p:nvSpPr>
          <p:cNvPr id="12" name="Shape 10"/>
          <p:cNvSpPr/>
          <p:nvPr/>
        </p:nvSpPr>
        <p:spPr>
          <a:xfrm>
            <a:off x="548640" y="4342587"/>
            <a:ext cx="11094415" cy="977798"/>
          </a:xfrm>
          <a:prstGeom prst="roundRect">
            <a:avLst>
              <a:gd name="adj" fmla="val 6546"/>
            </a:avLst>
          </a:prstGeom>
          <a:solidFill>
            <a:srgbClr val="EEEDFB"/>
          </a:solidFill>
          <a:ln/>
        </p:spPr>
      </p:sp>
      <p:sp>
        <p:nvSpPr>
          <p:cNvPr id="13" name="Text 11"/>
          <p:cNvSpPr txBox="1"/>
          <p:nvPr/>
        </p:nvSpPr>
        <p:spPr>
          <a:xfrm>
            <a:off x="704088" y="4415739"/>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4338CA"/>
                </a:solidFill>
                <a:latin typeface="Calibri" pitchFamily="34" charset="0"/>
                <a:ea typeface="Calibri" pitchFamily="34" charset="-122"/>
                <a:cs typeface="Calibri" pitchFamily="34" charset="-120"/>
              </a:rPr>
              <a:t>Raynauld Hastalığı: </a:t>
            </a:r>
            <a:r>
              <a:rPr lang="en-US" sz="1600" dirty="0">
                <a:solidFill>
                  <a:srgbClr val="1F2937"/>
                </a:solidFill>
                <a:latin typeface="Calibri" pitchFamily="34" charset="0"/>
                <a:ea typeface="Calibri" pitchFamily="34" charset="-122"/>
                <a:cs typeface="Calibri" pitchFamily="34" charset="-120"/>
              </a:rPr>
              <a:t>Omuriliğin santral kısmında irritabilitenin artması ile ortaya çıkan bir hastalıktır. Parmak uçlarında uyuşukluk, karıncalanma, sertlik, his azalması ve hareketsizlik vardır. Bu etkiler ilerleyicidir.</a:t>
            </a:r>
            <a:endParaRPr lang="en-US" sz="1600" dirty="0"/>
          </a:p>
        </p:txBody>
      </p:sp>
      <p:sp>
        <p:nvSpPr>
          <p:cNvPr id="14" name="Shape 12"/>
          <p:cNvSpPr/>
          <p:nvPr/>
        </p:nvSpPr>
        <p:spPr>
          <a:xfrm>
            <a:off x="548640" y="5827370"/>
            <a:ext cx="11094415" cy="481990"/>
          </a:xfrm>
          <a:prstGeom prst="roundRect">
            <a:avLst>
              <a:gd name="adj" fmla="val 13280"/>
            </a:avLst>
          </a:prstGeom>
          <a:solidFill>
            <a:srgbClr val="EEEDFB"/>
          </a:solidFill>
          <a:ln/>
        </p:spPr>
      </p:sp>
      <p:sp>
        <p:nvSpPr>
          <p:cNvPr id="15" name="Text 13"/>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4338CA"/>
                </a:solidFill>
                <a:latin typeface="Calibri" pitchFamily="34" charset="0"/>
                <a:ea typeface="Calibri" pitchFamily="34" charset="-122"/>
                <a:cs typeface="Calibri" pitchFamily="34" charset="-120"/>
              </a:rPr>
              <a:t>Wilms Tümörü: </a:t>
            </a:r>
            <a:r>
              <a:rPr lang="en-US" sz="1600" dirty="0">
                <a:solidFill>
                  <a:srgbClr val="1F2937"/>
                </a:solidFill>
                <a:latin typeface="Calibri" pitchFamily="34" charset="0"/>
                <a:ea typeface="Calibri" pitchFamily="34" charset="-122"/>
                <a:cs typeface="Calibri" pitchFamily="34" charset="-120"/>
              </a:rPr>
              <a:t>Konjenital, kötü huylu bir böbrek tümörüdür.</a:t>
            </a:r>
            <a:endParaRPr lang="en-US" sz="16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Bazı hastalık isimleri de eponim isimleriyle bilinir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106</a:t>
            </a:r>
            <a:endParaRPr lang="en-US" sz="1000" dirty="0"/>
          </a:p>
        </p:txBody>
      </p:sp>
      <p:sp>
        <p:nvSpPr>
          <p:cNvPr id="6" name="Shape 4"/>
          <p:cNvSpPr/>
          <p:nvPr/>
        </p:nvSpPr>
        <p:spPr>
          <a:xfrm>
            <a:off x="548640" y="1876425"/>
            <a:ext cx="11094415" cy="684276"/>
          </a:xfrm>
          <a:prstGeom prst="roundRect">
            <a:avLst>
              <a:gd name="adj" fmla="val 9354"/>
            </a:avLst>
          </a:prstGeom>
          <a:solidFill>
            <a:srgbClr val="EEEDFB"/>
          </a:solidFill>
          <a:ln/>
        </p:spPr>
      </p:sp>
      <p:sp>
        <p:nvSpPr>
          <p:cNvPr id="7" name="Text 5"/>
          <p:cNvSpPr txBox="1"/>
          <p:nvPr/>
        </p:nvSpPr>
        <p:spPr>
          <a:xfrm>
            <a:off x="704088" y="194957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Parkinson Hastalığı: </a:t>
            </a:r>
            <a:r>
              <a:rPr lang="en-US" sz="1500" dirty="0">
                <a:solidFill>
                  <a:srgbClr val="1F2937"/>
                </a:solidFill>
                <a:latin typeface="Calibri" pitchFamily="34" charset="0"/>
                <a:ea typeface="Calibri" pitchFamily="34" charset="-122"/>
                <a:cs typeface="Calibri" pitchFamily="34" charset="-120"/>
              </a:rPr>
              <a:t>İstemli hareketlerde yavaşlama ve azalma, kaslarda katılaşma  ve istemsiz titremelerle ortaya çıkan kronik, ilerleyici merkezi sinir sistemi hastalığıdır.</a:t>
            </a:r>
            <a:endParaRPr lang="en-US" sz="1500" dirty="0"/>
          </a:p>
        </p:txBody>
      </p:sp>
      <p:sp>
        <p:nvSpPr>
          <p:cNvPr id="8" name="Shape 6"/>
          <p:cNvSpPr/>
          <p:nvPr/>
        </p:nvSpPr>
        <p:spPr>
          <a:xfrm>
            <a:off x="548640" y="2652141"/>
            <a:ext cx="11094415" cy="916686"/>
          </a:xfrm>
          <a:prstGeom prst="roundRect">
            <a:avLst>
              <a:gd name="adj" fmla="val 6983"/>
            </a:avLst>
          </a:prstGeom>
          <a:solidFill>
            <a:srgbClr val="EEEDFB"/>
          </a:solidFill>
          <a:ln/>
        </p:spPr>
      </p:sp>
      <p:sp>
        <p:nvSpPr>
          <p:cNvPr id="9" name="Text 7"/>
          <p:cNvSpPr txBox="1"/>
          <p:nvPr/>
        </p:nvSpPr>
        <p:spPr>
          <a:xfrm>
            <a:off x="704088" y="2725293"/>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Hodghin Hastalığı (Lenfagranulomatozis): </a:t>
            </a:r>
            <a:r>
              <a:rPr lang="en-US" sz="1500" dirty="0">
                <a:solidFill>
                  <a:srgbClr val="1F2937"/>
                </a:solidFill>
                <a:latin typeface="Calibri" pitchFamily="34" charset="0"/>
                <a:ea typeface="Calibri" pitchFamily="34" charset="-122"/>
                <a:cs typeface="Calibri" pitchFamily="34" charset="-120"/>
              </a:rPr>
              <a:t>Lenf bezlerinin tümöral büyümesi şeklinde başlayan, giderek ilerleyen kötü huylu lenfomalardır. Hastalık genellikle boyundaki lenf bezlerinin büyümesi ile başlar, vücudun diğer lenfoid dokularına yayılır.</a:t>
            </a:r>
            <a:endParaRPr lang="en-US" sz="1500" dirty="0"/>
          </a:p>
        </p:txBody>
      </p:sp>
      <p:sp>
        <p:nvSpPr>
          <p:cNvPr id="10" name="Shape 8"/>
          <p:cNvSpPr/>
          <p:nvPr/>
        </p:nvSpPr>
        <p:spPr>
          <a:xfrm>
            <a:off x="548640" y="3660267"/>
            <a:ext cx="11094415" cy="684276"/>
          </a:xfrm>
          <a:prstGeom prst="roundRect">
            <a:avLst>
              <a:gd name="adj" fmla="val 9354"/>
            </a:avLst>
          </a:prstGeom>
          <a:solidFill>
            <a:srgbClr val="EEEDFB"/>
          </a:solidFill>
          <a:ln/>
        </p:spPr>
      </p:sp>
      <p:sp>
        <p:nvSpPr>
          <p:cNvPr id="11" name="Text 9"/>
          <p:cNvSpPr txBox="1"/>
          <p:nvPr/>
        </p:nvSpPr>
        <p:spPr>
          <a:xfrm>
            <a:off x="704088" y="3733419"/>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Buerger Hastalığı (Tıkayıcı damar yangısı, tromboanjitis obliterans): </a:t>
            </a:r>
            <a:r>
              <a:rPr lang="en-US" sz="1500" dirty="0">
                <a:solidFill>
                  <a:srgbClr val="1F2937"/>
                </a:solidFill>
                <a:latin typeface="Calibri" pitchFamily="34" charset="0"/>
                <a:ea typeface="Calibri" pitchFamily="34" charset="-122"/>
                <a:cs typeface="Calibri" pitchFamily="34" charset="-120"/>
              </a:rPr>
              <a:t>Özellikle kol ve bacak atardamarlarının iltihaplanması ve kan pıhtılarının damarları tıkamasıyla tanımlanan hastalıktır.</a:t>
            </a:r>
            <a:endParaRPr lang="en-US" sz="1500" dirty="0"/>
          </a:p>
        </p:txBody>
      </p:sp>
      <p:sp>
        <p:nvSpPr>
          <p:cNvPr id="12" name="Shape 10"/>
          <p:cNvSpPr/>
          <p:nvPr/>
        </p:nvSpPr>
        <p:spPr>
          <a:xfrm>
            <a:off x="548640" y="4435983"/>
            <a:ext cx="11094415" cy="916686"/>
          </a:xfrm>
          <a:prstGeom prst="roundRect">
            <a:avLst>
              <a:gd name="adj" fmla="val 6983"/>
            </a:avLst>
          </a:prstGeom>
          <a:solidFill>
            <a:srgbClr val="EEEDFB"/>
          </a:solidFill>
          <a:ln/>
        </p:spPr>
      </p:sp>
      <p:sp>
        <p:nvSpPr>
          <p:cNvPr id="13" name="Text 11"/>
          <p:cNvSpPr txBox="1"/>
          <p:nvPr/>
        </p:nvSpPr>
        <p:spPr>
          <a:xfrm>
            <a:off x="704088" y="4509135"/>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Behçet Hastalığı: </a:t>
            </a:r>
            <a:r>
              <a:rPr lang="en-US" sz="1500" dirty="0">
                <a:solidFill>
                  <a:srgbClr val="1F2937"/>
                </a:solidFill>
                <a:latin typeface="Calibri" pitchFamily="34" charset="0"/>
                <a:ea typeface="Calibri" pitchFamily="34" charset="-122"/>
                <a:cs typeface="Calibri" pitchFamily="34" charset="-120"/>
              </a:rPr>
              <a:t>Üç ana belirtisi bulunan, virütik veya nedeni bilinmeyene otoimmün bir hastalıktır. Ağızda aft denilen yaralar, cinsel bölgede ülser bölgede yaralar, gözde ise tekrarlayana konjiktivit (ahipopiyonlu iritis) hastalığın en önemli üç belirtisidir.</a:t>
            </a:r>
            <a:endParaRPr lang="en-US" sz="1500" dirty="0"/>
          </a:p>
        </p:txBody>
      </p:sp>
      <p:sp>
        <p:nvSpPr>
          <p:cNvPr id="14" name="Shape 12"/>
          <p:cNvSpPr/>
          <p:nvPr/>
        </p:nvSpPr>
        <p:spPr>
          <a:xfrm>
            <a:off x="548640" y="5857494"/>
            <a:ext cx="11094415" cy="451866"/>
          </a:xfrm>
          <a:prstGeom prst="roundRect">
            <a:avLst>
              <a:gd name="adj" fmla="val 14165"/>
            </a:avLst>
          </a:prstGeom>
          <a:solidFill>
            <a:srgbClr val="EEEDFB"/>
          </a:solidFill>
          <a:ln/>
        </p:spPr>
      </p:sp>
      <p:sp>
        <p:nvSpPr>
          <p:cNvPr id="15" name="Text 13"/>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Burhitt Lenfoma: </a:t>
            </a:r>
            <a:r>
              <a:rPr lang="en-US" sz="1500" dirty="0">
                <a:solidFill>
                  <a:srgbClr val="1F2937"/>
                </a:solidFill>
                <a:latin typeface="Calibri" pitchFamily="34" charset="0"/>
                <a:ea typeface="Calibri" pitchFamily="34" charset="-122"/>
                <a:cs typeface="Calibri" pitchFamily="34" charset="-120"/>
              </a:rPr>
              <a:t>Lenfotik sistem dışında organları da tutan farklılaşma göstermeyen B hücreli lenfoma.</a:t>
            </a:r>
            <a:endParaRPr lang="en-US" sz="15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2.c. Akronim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107</a:t>
            </a:r>
            <a:endParaRPr lang="en-US" sz="1000" dirty="0"/>
          </a:p>
        </p:txBody>
      </p:sp>
      <p:sp>
        <p:nvSpPr>
          <p:cNvPr id="6" name="Text 4"/>
          <p:cNvSpPr txBox="1"/>
          <p:nvPr/>
        </p:nvSpPr>
        <p:spPr>
          <a:xfrm>
            <a:off x="594360" y="1666113"/>
            <a:ext cx="11002975" cy="1344930"/>
          </a:xfrm>
          <a:prstGeom prst="rect">
            <a:avLst/>
          </a:prstGeom>
          <a:noFill/>
          <a:ln/>
        </p:spPr>
        <p:txBody>
          <a:bodyPr wrap="square" lIns="0" tIns="0" rIns="0" bIns="0" rtlCol="0" anchor="t"/>
          <a:lstStyle/>
          <a:p>
            <a:pPr marL="0" indent="0">
              <a:lnSpc>
                <a:spcPct val="105000"/>
              </a:lnSpc>
              <a:buNone/>
            </a:pPr>
            <a:r>
              <a:rPr lang="en-US" sz="1500" dirty="0">
                <a:solidFill>
                  <a:srgbClr val="4B5563"/>
                </a:solidFill>
                <a:latin typeface="Calibri" pitchFamily="34" charset="0"/>
                <a:ea typeface="Calibri" pitchFamily="34" charset="-122"/>
                <a:cs typeface="Calibri" pitchFamily="34" charset="-120"/>
              </a:rPr>
              <a:t>Son yıllarda bazı kavramlar birden çok sözcükle ifade edilebilmektedir. Bu durumlarda söyleyiş kolaylığı olması açısından sözcüklerin baş harfleri büyük olarak yazılır ve akronim terim oluşur. Akronim, Grekçe ‘‘ akronymus’’ sözcüğünden gelir. Akro/nymus; burada akro=uç, uzantı anlamındadır, nymus=isim anlamındadır. Akronim terimler genelde İngilizcedir. Kullanımları çok yaygınlaşmıştır. Ulusal düzeyde de bu tür akronim terimler çokça yaygınlaşmıştır. Aşağıda çok kullanılan akronim terimlere örnekler verilmiştir. </a:t>
            </a:r>
            <a:endParaRPr lang="en-US" sz="1500" dirty="0"/>
          </a:p>
        </p:txBody>
      </p:sp>
      <p:sp>
        <p:nvSpPr>
          <p:cNvPr id="7" name="Shape 5"/>
          <p:cNvSpPr/>
          <p:nvPr/>
        </p:nvSpPr>
        <p:spPr>
          <a:xfrm>
            <a:off x="548640" y="3305556"/>
            <a:ext cx="5410048" cy="424434"/>
          </a:xfrm>
          <a:prstGeom prst="roundRect">
            <a:avLst>
              <a:gd name="adj" fmla="val 12926"/>
            </a:avLst>
          </a:prstGeom>
          <a:solidFill>
            <a:srgbClr val="EEEDFB"/>
          </a:solidFill>
          <a:ln/>
        </p:spPr>
      </p:sp>
      <p:sp>
        <p:nvSpPr>
          <p:cNvPr id="8" name="Text 6"/>
          <p:cNvSpPr txBox="1"/>
          <p:nvPr/>
        </p:nvSpPr>
        <p:spPr>
          <a:xfrm>
            <a:off x="685800" y="336042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AAE  </a:t>
            </a:r>
            <a:r>
              <a:rPr lang="en-US" sz="1500" b="1" dirty="0">
                <a:solidFill>
                  <a:srgbClr val="1F2937"/>
                </a:solidFill>
                <a:latin typeface="Calibri" pitchFamily="34" charset="0"/>
                <a:ea typeface="Calibri" pitchFamily="34" charset="-122"/>
                <a:cs typeface="Calibri" pitchFamily="34" charset="-120"/>
              </a:rPr>
              <a:t>A</a:t>
            </a:r>
            <a:r>
              <a:rPr lang="en-US" sz="1500" dirty="0">
                <a:solidFill>
                  <a:srgbClr val="1F2937"/>
                </a:solidFill>
                <a:latin typeface="Calibri" pitchFamily="34" charset="0"/>
                <a:ea typeface="Calibri" pitchFamily="34" charset="-122"/>
                <a:cs typeface="Calibri" pitchFamily="34" charset="-120"/>
              </a:rPr>
              <a:t>kut </a:t>
            </a:r>
            <a:r>
              <a:rPr lang="en-US" sz="1500" b="1" dirty="0">
                <a:solidFill>
                  <a:srgbClr val="1F2937"/>
                </a:solidFill>
                <a:latin typeface="Calibri" pitchFamily="34" charset="0"/>
                <a:ea typeface="Calibri" pitchFamily="34" charset="-122"/>
                <a:cs typeface="Calibri" pitchFamily="34" charset="-120"/>
              </a:rPr>
              <a:t>A</a:t>
            </a:r>
            <a:r>
              <a:rPr lang="en-US" sz="1500" dirty="0">
                <a:solidFill>
                  <a:srgbClr val="1F2937"/>
                </a:solidFill>
                <a:latin typeface="Calibri" pitchFamily="34" charset="0"/>
                <a:ea typeface="Calibri" pitchFamily="34" charset="-122"/>
                <a:cs typeface="Calibri" pitchFamily="34" charset="-120"/>
              </a:rPr>
              <a:t>lerjik </a:t>
            </a:r>
            <a:r>
              <a:rPr lang="en-US" sz="1500" b="1" dirty="0">
                <a:solidFill>
                  <a:srgbClr val="1F2937"/>
                </a:solidFill>
                <a:latin typeface="Calibri" pitchFamily="34" charset="0"/>
                <a:ea typeface="Calibri" pitchFamily="34" charset="-122"/>
                <a:cs typeface="Calibri" pitchFamily="34" charset="-120"/>
              </a:rPr>
              <a:t>E</a:t>
            </a:r>
            <a:r>
              <a:rPr lang="en-US" sz="1500" dirty="0">
                <a:solidFill>
                  <a:srgbClr val="1F2937"/>
                </a:solidFill>
                <a:latin typeface="Calibri" pitchFamily="34" charset="0"/>
                <a:ea typeface="Calibri" pitchFamily="34" charset="-122"/>
                <a:cs typeface="Calibri" pitchFamily="34" charset="-120"/>
              </a:rPr>
              <a:t>nsefalit</a:t>
            </a:r>
            <a:endParaRPr lang="en-US" sz="1500" dirty="0"/>
          </a:p>
        </p:txBody>
      </p:sp>
      <p:sp>
        <p:nvSpPr>
          <p:cNvPr id="9" name="Shape 7"/>
          <p:cNvSpPr/>
          <p:nvPr/>
        </p:nvSpPr>
        <p:spPr>
          <a:xfrm>
            <a:off x="548640" y="3821430"/>
            <a:ext cx="5410048" cy="424434"/>
          </a:xfrm>
          <a:prstGeom prst="roundRect">
            <a:avLst>
              <a:gd name="adj" fmla="val 12926"/>
            </a:avLst>
          </a:prstGeom>
          <a:solidFill>
            <a:srgbClr val="EEEDFB"/>
          </a:solidFill>
          <a:ln/>
        </p:spPr>
      </p:sp>
      <p:sp>
        <p:nvSpPr>
          <p:cNvPr id="10" name="Text 8"/>
          <p:cNvSpPr txBox="1"/>
          <p:nvPr/>
        </p:nvSpPr>
        <p:spPr>
          <a:xfrm>
            <a:off x="685800" y="387629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ACTH  </a:t>
            </a:r>
            <a:r>
              <a:rPr lang="en-US" sz="1500" dirty="0">
                <a:solidFill>
                  <a:srgbClr val="1F2937"/>
                </a:solidFill>
                <a:latin typeface="Calibri" pitchFamily="34" charset="0"/>
                <a:ea typeface="Calibri" pitchFamily="34" charset="-122"/>
                <a:cs typeface="Calibri" pitchFamily="34" charset="-120"/>
              </a:rPr>
              <a:t>Adrenokortikotrofik Hormon</a:t>
            </a:r>
            <a:endParaRPr lang="en-US" sz="1500" dirty="0"/>
          </a:p>
        </p:txBody>
      </p:sp>
      <p:sp>
        <p:nvSpPr>
          <p:cNvPr id="11" name="Shape 9"/>
          <p:cNvSpPr/>
          <p:nvPr/>
        </p:nvSpPr>
        <p:spPr>
          <a:xfrm>
            <a:off x="548640" y="4337304"/>
            <a:ext cx="5410048" cy="424434"/>
          </a:xfrm>
          <a:prstGeom prst="roundRect">
            <a:avLst>
              <a:gd name="adj" fmla="val 12926"/>
            </a:avLst>
          </a:prstGeom>
          <a:solidFill>
            <a:srgbClr val="EEEDFB"/>
          </a:solidFill>
          <a:ln/>
        </p:spPr>
      </p:sp>
      <p:sp>
        <p:nvSpPr>
          <p:cNvPr id="12" name="Text 10"/>
          <p:cNvSpPr txBox="1"/>
          <p:nvPr/>
        </p:nvSpPr>
        <p:spPr>
          <a:xfrm>
            <a:off x="685800" y="439216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ADH  </a:t>
            </a:r>
            <a:r>
              <a:rPr lang="en-US" sz="1500" dirty="0">
                <a:solidFill>
                  <a:srgbClr val="1F2937"/>
                </a:solidFill>
                <a:latin typeface="Calibri" pitchFamily="34" charset="0"/>
                <a:ea typeface="Calibri" pitchFamily="34" charset="-122"/>
                <a:cs typeface="Calibri" pitchFamily="34" charset="-120"/>
              </a:rPr>
              <a:t>Antidiüretik Hormon</a:t>
            </a:r>
            <a:endParaRPr lang="en-US" sz="1500" dirty="0"/>
          </a:p>
        </p:txBody>
      </p:sp>
      <p:sp>
        <p:nvSpPr>
          <p:cNvPr id="13" name="Shape 11"/>
          <p:cNvSpPr/>
          <p:nvPr/>
        </p:nvSpPr>
        <p:spPr>
          <a:xfrm>
            <a:off x="548640" y="4853178"/>
            <a:ext cx="5410048" cy="424434"/>
          </a:xfrm>
          <a:prstGeom prst="roundRect">
            <a:avLst>
              <a:gd name="adj" fmla="val 12926"/>
            </a:avLst>
          </a:prstGeom>
          <a:solidFill>
            <a:srgbClr val="EEEDFB"/>
          </a:solidFill>
          <a:ln/>
        </p:spPr>
      </p:sp>
      <p:sp>
        <p:nvSpPr>
          <p:cNvPr id="14" name="Text 12"/>
          <p:cNvSpPr txBox="1"/>
          <p:nvPr/>
        </p:nvSpPr>
        <p:spPr>
          <a:xfrm>
            <a:off x="685800" y="490804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ADP  </a:t>
            </a:r>
            <a:r>
              <a:rPr lang="en-US" sz="1500" dirty="0">
                <a:solidFill>
                  <a:srgbClr val="1F2937"/>
                </a:solidFill>
                <a:latin typeface="Calibri" pitchFamily="34" charset="0"/>
                <a:ea typeface="Calibri" pitchFamily="34" charset="-122"/>
                <a:cs typeface="Calibri" pitchFamily="34" charset="-120"/>
              </a:rPr>
              <a:t>Adenozindifosfat</a:t>
            </a:r>
            <a:endParaRPr lang="en-US" sz="1500" dirty="0"/>
          </a:p>
        </p:txBody>
      </p:sp>
      <p:sp>
        <p:nvSpPr>
          <p:cNvPr id="15" name="Shape 13"/>
          <p:cNvSpPr/>
          <p:nvPr/>
        </p:nvSpPr>
        <p:spPr>
          <a:xfrm>
            <a:off x="548640" y="5369052"/>
            <a:ext cx="5410048" cy="424434"/>
          </a:xfrm>
          <a:prstGeom prst="roundRect">
            <a:avLst>
              <a:gd name="adj" fmla="val 12926"/>
            </a:avLst>
          </a:prstGeom>
          <a:solidFill>
            <a:srgbClr val="EEEDFB"/>
          </a:solidFill>
          <a:ln/>
        </p:spPr>
      </p:sp>
      <p:sp>
        <p:nvSpPr>
          <p:cNvPr id="16" name="Text 14"/>
          <p:cNvSpPr txBox="1"/>
          <p:nvPr/>
        </p:nvSpPr>
        <p:spPr>
          <a:xfrm>
            <a:off x="685800" y="542391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AIDS  </a:t>
            </a:r>
            <a:r>
              <a:rPr lang="en-US" sz="1500" dirty="0">
                <a:solidFill>
                  <a:srgbClr val="1F2937"/>
                </a:solidFill>
                <a:latin typeface="Calibri" pitchFamily="34" charset="0"/>
                <a:ea typeface="Calibri" pitchFamily="34" charset="-122"/>
                <a:cs typeface="Calibri" pitchFamily="34" charset="-120"/>
              </a:rPr>
              <a:t>Acquired Immun Deficiency Syndrome</a:t>
            </a:r>
            <a:endParaRPr lang="en-US" sz="1500" dirty="0"/>
          </a:p>
        </p:txBody>
      </p:sp>
      <p:sp>
        <p:nvSpPr>
          <p:cNvPr id="17" name="Shape 15"/>
          <p:cNvSpPr/>
          <p:nvPr/>
        </p:nvSpPr>
        <p:spPr>
          <a:xfrm>
            <a:off x="548640" y="5884926"/>
            <a:ext cx="5410048" cy="424434"/>
          </a:xfrm>
          <a:prstGeom prst="roundRect">
            <a:avLst>
              <a:gd name="adj" fmla="val 12926"/>
            </a:avLst>
          </a:prstGeom>
          <a:solidFill>
            <a:srgbClr val="EEEDFB"/>
          </a:solidFill>
          <a:ln/>
        </p:spPr>
      </p:sp>
      <p:sp>
        <p:nvSpPr>
          <p:cNvPr id="18" name="Text 16"/>
          <p:cNvSpPr txBox="1"/>
          <p:nvPr/>
        </p:nvSpPr>
        <p:spPr>
          <a:xfrm>
            <a:off x="685800" y="593979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AKŞ  </a:t>
            </a:r>
            <a:r>
              <a:rPr lang="en-US" sz="1500" dirty="0">
                <a:solidFill>
                  <a:srgbClr val="1F2937"/>
                </a:solidFill>
                <a:latin typeface="Calibri" pitchFamily="34" charset="0"/>
                <a:ea typeface="Calibri" pitchFamily="34" charset="-122"/>
                <a:cs typeface="Calibri" pitchFamily="34" charset="-120"/>
              </a:rPr>
              <a:t>Açlık Kan Şekeri</a:t>
            </a:r>
            <a:endParaRPr lang="en-US" sz="1500" dirty="0"/>
          </a:p>
        </p:txBody>
      </p:sp>
      <p:sp>
        <p:nvSpPr>
          <p:cNvPr id="19" name="Shape 17"/>
          <p:cNvSpPr/>
          <p:nvPr/>
        </p:nvSpPr>
        <p:spPr>
          <a:xfrm>
            <a:off x="6233008" y="3305556"/>
            <a:ext cx="5410048" cy="424434"/>
          </a:xfrm>
          <a:prstGeom prst="roundRect">
            <a:avLst>
              <a:gd name="adj" fmla="val 12926"/>
            </a:avLst>
          </a:prstGeom>
          <a:solidFill>
            <a:srgbClr val="EEEDFB"/>
          </a:solidFill>
          <a:ln/>
        </p:spPr>
      </p:sp>
      <p:sp>
        <p:nvSpPr>
          <p:cNvPr id="20" name="Text 18"/>
          <p:cNvSpPr txBox="1"/>
          <p:nvPr/>
        </p:nvSpPr>
        <p:spPr>
          <a:xfrm>
            <a:off x="6370168" y="336042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ALL  </a:t>
            </a:r>
            <a:r>
              <a:rPr lang="en-US" sz="1500" dirty="0">
                <a:solidFill>
                  <a:srgbClr val="1F2937"/>
                </a:solidFill>
                <a:latin typeface="Calibri" pitchFamily="34" charset="0"/>
                <a:ea typeface="Calibri" pitchFamily="34" charset="-122"/>
                <a:cs typeface="Calibri" pitchFamily="34" charset="-120"/>
              </a:rPr>
              <a:t>Acute Lymphocytic Leukemia</a:t>
            </a:r>
            <a:endParaRPr lang="en-US" sz="1500" dirty="0"/>
          </a:p>
        </p:txBody>
      </p:sp>
      <p:sp>
        <p:nvSpPr>
          <p:cNvPr id="21" name="Shape 19"/>
          <p:cNvSpPr/>
          <p:nvPr/>
        </p:nvSpPr>
        <p:spPr>
          <a:xfrm>
            <a:off x="6233008" y="3821430"/>
            <a:ext cx="5410048" cy="424434"/>
          </a:xfrm>
          <a:prstGeom prst="roundRect">
            <a:avLst>
              <a:gd name="adj" fmla="val 12926"/>
            </a:avLst>
          </a:prstGeom>
          <a:solidFill>
            <a:srgbClr val="EEEDFB"/>
          </a:solidFill>
          <a:ln/>
        </p:spPr>
      </p:sp>
      <p:sp>
        <p:nvSpPr>
          <p:cNvPr id="22" name="Text 20"/>
          <p:cNvSpPr txBox="1"/>
          <p:nvPr/>
        </p:nvSpPr>
        <p:spPr>
          <a:xfrm>
            <a:off x="6370168" y="387629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AMY  </a:t>
            </a:r>
            <a:r>
              <a:rPr lang="en-US" sz="1500" dirty="0">
                <a:solidFill>
                  <a:srgbClr val="1F2937"/>
                </a:solidFill>
                <a:latin typeface="Calibri" pitchFamily="34" charset="0"/>
                <a:ea typeface="Calibri" pitchFamily="34" charset="-122"/>
                <a:cs typeface="Calibri" pitchFamily="34" charset="-120"/>
              </a:rPr>
              <a:t>Acute Myelocytic Leuemia</a:t>
            </a:r>
            <a:endParaRPr lang="en-US" sz="1500" dirty="0"/>
          </a:p>
        </p:txBody>
      </p:sp>
      <p:sp>
        <p:nvSpPr>
          <p:cNvPr id="23" name="Shape 21"/>
          <p:cNvSpPr/>
          <p:nvPr/>
        </p:nvSpPr>
        <p:spPr>
          <a:xfrm>
            <a:off x="6233008" y="4337304"/>
            <a:ext cx="5410048" cy="424434"/>
          </a:xfrm>
          <a:prstGeom prst="roundRect">
            <a:avLst>
              <a:gd name="adj" fmla="val 12926"/>
            </a:avLst>
          </a:prstGeom>
          <a:solidFill>
            <a:srgbClr val="EEEDFB"/>
          </a:solidFill>
          <a:ln/>
        </p:spPr>
      </p:sp>
      <p:sp>
        <p:nvSpPr>
          <p:cNvPr id="24" name="Text 22"/>
          <p:cNvSpPr txBox="1"/>
          <p:nvPr/>
        </p:nvSpPr>
        <p:spPr>
          <a:xfrm>
            <a:off x="6370168" y="439216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ATP  </a:t>
            </a:r>
            <a:r>
              <a:rPr lang="en-US" sz="1500" dirty="0">
                <a:solidFill>
                  <a:srgbClr val="1F2937"/>
                </a:solidFill>
                <a:latin typeface="Calibri" pitchFamily="34" charset="0"/>
                <a:ea typeface="Calibri" pitchFamily="34" charset="-122"/>
                <a:cs typeface="Calibri" pitchFamily="34" charset="-120"/>
              </a:rPr>
              <a:t>Adenozintrifosfat</a:t>
            </a:r>
            <a:endParaRPr lang="en-US" sz="1500" dirty="0"/>
          </a:p>
        </p:txBody>
      </p:sp>
      <p:sp>
        <p:nvSpPr>
          <p:cNvPr id="25" name="Shape 23"/>
          <p:cNvSpPr/>
          <p:nvPr/>
        </p:nvSpPr>
        <p:spPr>
          <a:xfrm>
            <a:off x="6233008" y="4853178"/>
            <a:ext cx="5410048" cy="424434"/>
          </a:xfrm>
          <a:prstGeom prst="roundRect">
            <a:avLst>
              <a:gd name="adj" fmla="val 12926"/>
            </a:avLst>
          </a:prstGeom>
          <a:solidFill>
            <a:srgbClr val="EEEDFB"/>
          </a:solidFill>
          <a:ln/>
        </p:spPr>
      </p:sp>
      <p:sp>
        <p:nvSpPr>
          <p:cNvPr id="26" name="Text 24"/>
          <p:cNvSpPr txBox="1"/>
          <p:nvPr/>
        </p:nvSpPr>
        <p:spPr>
          <a:xfrm>
            <a:off x="6370168" y="490804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BCG  </a:t>
            </a:r>
            <a:r>
              <a:rPr lang="en-US" sz="1500" dirty="0">
                <a:solidFill>
                  <a:srgbClr val="1F2937"/>
                </a:solidFill>
                <a:latin typeface="Calibri" pitchFamily="34" charset="0"/>
                <a:ea typeface="Calibri" pitchFamily="34" charset="-122"/>
                <a:cs typeface="Calibri" pitchFamily="34" charset="-120"/>
              </a:rPr>
              <a:t>Bacille Calmette Guerin (Tüberküloz Aşısı)</a:t>
            </a:r>
            <a:endParaRPr lang="en-US" sz="15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2.c. Akronim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108</a:t>
            </a:r>
            <a:endParaRPr lang="en-US" sz="1000" dirty="0"/>
          </a:p>
        </p:txBody>
      </p:sp>
      <p:sp>
        <p:nvSpPr>
          <p:cNvPr id="6" name="Shape 4"/>
          <p:cNvSpPr/>
          <p:nvPr/>
        </p:nvSpPr>
        <p:spPr>
          <a:xfrm>
            <a:off x="548640" y="1525524"/>
            <a:ext cx="5410048" cy="424434"/>
          </a:xfrm>
          <a:prstGeom prst="roundRect">
            <a:avLst>
              <a:gd name="adj" fmla="val 12926"/>
            </a:avLst>
          </a:prstGeom>
          <a:solidFill>
            <a:srgbClr val="EEEDFB"/>
          </a:solidFill>
          <a:ln/>
        </p:spPr>
      </p:sp>
      <p:sp>
        <p:nvSpPr>
          <p:cNvPr id="7" name="Text 5"/>
          <p:cNvSpPr txBox="1"/>
          <p:nvPr/>
        </p:nvSpPr>
        <p:spPr>
          <a:xfrm>
            <a:off x="685800" y="158038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BMR  </a:t>
            </a:r>
            <a:r>
              <a:rPr lang="en-US" sz="1500" dirty="0">
                <a:solidFill>
                  <a:srgbClr val="1F2937"/>
                </a:solidFill>
                <a:latin typeface="Calibri" pitchFamily="34" charset="0"/>
                <a:ea typeface="Calibri" pitchFamily="34" charset="-122"/>
                <a:cs typeface="Calibri" pitchFamily="34" charset="-120"/>
              </a:rPr>
              <a:t>Basal Metabolic Rate (Bazal Metabolizma Hızı)</a:t>
            </a:r>
            <a:endParaRPr lang="en-US" sz="1500" dirty="0"/>
          </a:p>
        </p:txBody>
      </p:sp>
      <p:sp>
        <p:nvSpPr>
          <p:cNvPr id="8" name="Shape 6"/>
          <p:cNvSpPr/>
          <p:nvPr/>
        </p:nvSpPr>
        <p:spPr>
          <a:xfrm>
            <a:off x="548640" y="2041398"/>
            <a:ext cx="5410048" cy="424434"/>
          </a:xfrm>
          <a:prstGeom prst="roundRect">
            <a:avLst>
              <a:gd name="adj" fmla="val 12926"/>
            </a:avLst>
          </a:prstGeom>
          <a:solidFill>
            <a:srgbClr val="EEEDFB"/>
          </a:solidFill>
          <a:ln/>
        </p:spPr>
      </p:sp>
      <p:sp>
        <p:nvSpPr>
          <p:cNvPr id="9" name="Text 7"/>
          <p:cNvSpPr txBox="1"/>
          <p:nvPr/>
        </p:nvSpPr>
        <p:spPr>
          <a:xfrm>
            <a:off x="685800" y="209626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BOS  </a:t>
            </a:r>
            <a:r>
              <a:rPr lang="en-US" sz="1500" dirty="0">
                <a:solidFill>
                  <a:srgbClr val="1F2937"/>
                </a:solidFill>
                <a:latin typeface="Calibri" pitchFamily="34" charset="0"/>
                <a:ea typeface="Calibri" pitchFamily="34" charset="-122"/>
                <a:cs typeface="Calibri" pitchFamily="34" charset="-120"/>
              </a:rPr>
              <a:t>Beyin Omurilik Sıvıs</a:t>
            </a:r>
            <a:endParaRPr lang="en-US" sz="1500" dirty="0"/>
          </a:p>
        </p:txBody>
      </p:sp>
      <p:sp>
        <p:nvSpPr>
          <p:cNvPr id="10" name="Shape 8"/>
          <p:cNvSpPr/>
          <p:nvPr/>
        </p:nvSpPr>
        <p:spPr>
          <a:xfrm>
            <a:off x="548640" y="2557272"/>
            <a:ext cx="5410048" cy="424434"/>
          </a:xfrm>
          <a:prstGeom prst="roundRect">
            <a:avLst>
              <a:gd name="adj" fmla="val 12926"/>
            </a:avLst>
          </a:prstGeom>
          <a:solidFill>
            <a:srgbClr val="EEEDFB"/>
          </a:solidFill>
          <a:ln/>
        </p:spPr>
      </p:sp>
      <p:sp>
        <p:nvSpPr>
          <p:cNvPr id="11" name="Text 9"/>
          <p:cNvSpPr txBox="1"/>
          <p:nvPr/>
        </p:nvSpPr>
        <p:spPr>
          <a:xfrm>
            <a:off x="685800" y="261213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BT  </a:t>
            </a:r>
            <a:r>
              <a:rPr lang="en-US" sz="1500" dirty="0">
                <a:solidFill>
                  <a:srgbClr val="1F2937"/>
                </a:solidFill>
                <a:latin typeface="Calibri" pitchFamily="34" charset="0"/>
                <a:ea typeface="Calibri" pitchFamily="34" charset="-122"/>
                <a:cs typeface="Calibri" pitchFamily="34" charset="-120"/>
              </a:rPr>
              <a:t>Bilgisayarlı Tomografi</a:t>
            </a:r>
            <a:endParaRPr lang="en-US" sz="1500" dirty="0"/>
          </a:p>
        </p:txBody>
      </p:sp>
      <p:sp>
        <p:nvSpPr>
          <p:cNvPr id="12" name="Shape 10"/>
          <p:cNvSpPr/>
          <p:nvPr/>
        </p:nvSpPr>
        <p:spPr>
          <a:xfrm>
            <a:off x="548640" y="3073146"/>
            <a:ext cx="5410048" cy="656844"/>
          </a:xfrm>
          <a:prstGeom prst="roundRect">
            <a:avLst>
              <a:gd name="adj" fmla="val 8353"/>
            </a:avLst>
          </a:prstGeom>
          <a:solidFill>
            <a:srgbClr val="EEEDFB"/>
          </a:solidFill>
          <a:ln/>
        </p:spPr>
      </p:sp>
      <p:sp>
        <p:nvSpPr>
          <p:cNvPr id="13" name="Text 11"/>
          <p:cNvSpPr txBox="1"/>
          <p:nvPr/>
        </p:nvSpPr>
        <p:spPr>
          <a:xfrm>
            <a:off x="685800" y="3128010"/>
            <a:ext cx="5135728" cy="54711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CBC  </a:t>
            </a:r>
            <a:r>
              <a:rPr lang="en-US" sz="1500" dirty="0">
                <a:solidFill>
                  <a:srgbClr val="1F2937"/>
                </a:solidFill>
                <a:latin typeface="Calibri" pitchFamily="34" charset="0"/>
                <a:ea typeface="Calibri" pitchFamily="34" charset="-122"/>
                <a:cs typeface="Calibri" pitchFamily="34" charset="-120"/>
              </a:rPr>
              <a:t>Circulation Blood Cell (Dolaşımdaki kan hücreleri)</a:t>
            </a:r>
            <a:endParaRPr lang="en-US" sz="1500" dirty="0"/>
          </a:p>
        </p:txBody>
      </p:sp>
      <p:sp>
        <p:nvSpPr>
          <p:cNvPr id="14" name="Shape 12"/>
          <p:cNvSpPr/>
          <p:nvPr/>
        </p:nvSpPr>
        <p:spPr>
          <a:xfrm>
            <a:off x="548640" y="3821430"/>
            <a:ext cx="5410048" cy="424434"/>
          </a:xfrm>
          <a:prstGeom prst="roundRect">
            <a:avLst>
              <a:gd name="adj" fmla="val 12926"/>
            </a:avLst>
          </a:prstGeom>
          <a:solidFill>
            <a:srgbClr val="EEEDFB"/>
          </a:solidFill>
          <a:ln/>
        </p:spPr>
      </p:sp>
      <p:sp>
        <p:nvSpPr>
          <p:cNvPr id="15" name="Text 13"/>
          <p:cNvSpPr txBox="1"/>
          <p:nvPr/>
        </p:nvSpPr>
        <p:spPr>
          <a:xfrm>
            <a:off x="685800" y="387629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CVS  </a:t>
            </a:r>
            <a:r>
              <a:rPr lang="en-US" sz="1500" dirty="0">
                <a:solidFill>
                  <a:srgbClr val="1F2937"/>
                </a:solidFill>
                <a:latin typeface="Calibri" pitchFamily="34" charset="0"/>
                <a:ea typeface="Calibri" pitchFamily="34" charset="-122"/>
                <a:cs typeface="Calibri" pitchFamily="34" charset="-120"/>
              </a:rPr>
              <a:t>Cardiovascular System</a:t>
            </a:r>
            <a:endParaRPr lang="en-US" sz="1500" dirty="0"/>
          </a:p>
        </p:txBody>
      </p:sp>
      <p:sp>
        <p:nvSpPr>
          <p:cNvPr id="16" name="Shape 14"/>
          <p:cNvSpPr/>
          <p:nvPr/>
        </p:nvSpPr>
        <p:spPr>
          <a:xfrm>
            <a:off x="548640" y="4337304"/>
            <a:ext cx="5410048" cy="424434"/>
          </a:xfrm>
          <a:prstGeom prst="roundRect">
            <a:avLst>
              <a:gd name="adj" fmla="val 12926"/>
            </a:avLst>
          </a:prstGeom>
          <a:solidFill>
            <a:srgbClr val="EEEDFB"/>
          </a:solidFill>
          <a:ln/>
        </p:spPr>
      </p:sp>
      <p:sp>
        <p:nvSpPr>
          <p:cNvPr id="17" name="Text 15"/>
          <p:cNvSpPr txBox="1"/>
          <p:nvPr/>
        </p:nvSpPr>
        <p:spPr>
          <a:xfrm>
            <a:off x="685800" y="439216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CT  </a:t>
            </a:r>
            <a:r>
              <a:rPr lang="en-US" sz="1500" dirty="0">
                <a:solidFill>
                  <a:srgbClr val="1F2937"/>
                </a:solidFill>
                <a:latin typeface="Calibri" pitchFamily="34" charset="0"/>
                <a:ea typeface="Calibri" pitchFamily="34" charset="-122"/>
                <a:cs typeface="Calibri" pitchFamily="34" charset="-120"/>
              </a:rPr>
              <a:t>K(c)ompütürlü Tomografi</a:t>
            </a:r>
            <a:endParaRPr lang="en-US" sz="1500" dirty="0"/>
          </a:p>
        </p:txBody>
      </p:sp>
      <p:sp>
        <p:nvSpPr>
          <p:cNvPr id="18" name="Shape 16"/>
          <p:cNvSpPr/>
          <p:nvPr/>
        </p:nvSpPr>
        <p:spPr>
          <a:xfrm>
            <a:off x="548640" y="4853178"/>
            <a:ext cx="5410048" cy="424434"/>
          </a:xfrm>
          <a:prstGeom prst="roundRect">
            <a:avLst>
              <a:gd name="adj" fmla="val 12926"/>
            </a:avLst>
          </a:prstGeom>
          <a:solidFill>
            <a:srgbClr val="EEEDFB"/>
          </a:solidFill>
          <a:ln/>
        </p:spPr>
      </p:sp>
      <p:sp>
        <p:nvSpPr>
          <p:cNvPr id="19" name="Text 17"/>
          <p:cNvSpPr txBox="1"/>
          <p:nvPr/>
        </p:nvSpPr>
        <p:spPr>
          <a:xfrm>
            <a:off x="685800" y="490804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DM  </a:t>
            </a:r>
            <a:r>
              <a:rPr lang="en-US" sz="1500" dirty="0">
                <a:solidFill>
                  <a:srgbClr val="1F2937"/>
                </a:solidFill>
                <a:latin typeface="Calibri" pitchFamily="34" charset="0"/>
                <a:ea typeface="Calibri" pitchFamily="34" charset="-122"/>
                <a:cs typeface="Calibri" pitchFamily="34" charset="-120"/>
              </a:rPr>
              <a:t>Diabetes Mellitus</a:t>
            </a:r>
            <a:endParaRPr lang="en-US" sz="1500" dirty="0"/>
          </a:p>
        </p:txBody>
      </p:sp>
      <p:sp>
        <p:nvSpPr>
          <p:cNvPr id="20" name="Shape 18"/>
          <p:cNvSpPr/>
          <p:nvPr/>
        </p:nvSpPr>
        <p:spPr>
          <a:xfrm>
            <a:off x="548640" y="5369052"/>
            <a:ext cx="5410048" cy="424434"/>
          </a:xfrm>
          <a:prstGeom prst="roundRect">
            <a:avLst>
              <a:gd name="adj" fmla="val 12926"/>
            </a:avLst>
          </a:prstGeom>
          <a:solidFill>
            <a:srgbClr val="EEEDFB"/>
          </a:solidFill>
          <a:ln/>
        </p:spPr>
      </p:sp>
      <p:sp>
        <p:nvSpPr>
          <p:cNvPr id="21" name="Text 19"/>
          <p:cNvSpPr txBox="1"/>
          <p:nvPr/>
        </p:nvSpPr>
        <p:spPr>
          <a:xfrm>
            <a:off x="685800" y="542391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EEG  </a:t>
            </a:r>
            <a:r>
              <a:rPr lang="en-US" sz="1500" dirty="0">
                <a:solidFill>
                  <a:srgbClr val="1F2937"/>
                </a:solidFill>
                <a:latin typeface="Calibri" pitchFamily="34" charset="0"/>
                <a:ea typeface="Calibri" pitchFamily="34" charset="-122"/>
                <a:cs typeface="Calibri" pitchFamily="34" charset="-120"/>
              </a:rPr>
              <a:t>Electroencephalogram (Beyin grafisi)</a:t>
            </a:r>
            <a:endParaRPr lang="en-US" sz="1500" dirty="0"/>
          </a:p>
        </p:txBody>
      </p:sp>
      <p:sp>
        <p:nvSpPr>
          <p:cNvPr id="22" name="Shape 20"/>
          <p:cNvSpPr/>
          <p:nvPr/>
        </p:nvSpPr>
        <p:spPr>
          <a:xfrm>
            <a:off x="548640" y="5884926"/>
            <a:ext cx="5410048" cy="424434"/>
          </a:xfrm>
          <a:prstGeom prst="roundRect">
            <a:avLst>
              <a:gd name="adj" fmla="val 12926"/>
            </a:avLst>
          </a:prstGeom>
          <a:solidFill>
            <a:srgbClr val="EEEDFB"/>
          </a:solidFill>
          <a:ln/>
        </p:spPr>
      </p:sp>
      <p:sp>
        <p:nvSpPr>
          <p:cNvPr id="23" name="Text 21"/>
          <p:cNvSpPr txBox="1"/>
          <p:nvPr/>
        </p:nvSpPr>
        <p:spPr>
          <a:xfrm>
            <a:off x="685800" y="593979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EKG  </a:t>
            </a:r>
            <a:r>
              <a:rPr lang="en-US" sz="1500" dirty="0">
                <a:solidFill>
                  <a:srgbClr val="1F2937"/>
                </a:solidFill>
                <a:latin typeface="Calibri" pitchFamily="34" charset="0"/>
                <a:ea typeface="Calibri" pitchFamily="34" charset="-122"/>
                <a:cs typeface="Calibri" pitchFamily="34" charset="-120"/>
              </a:rPr>
              <a:t>Electrokardiogram (Kalp grafisi)</a:t>
            </a:r>
            <a:endParaRPr lang="en-US" sz="1500" dirty="0"/>
          </a:p>
        </p:txBody>
      </p:sp>
      <p:sp>
        <p:nvSpPr>
          <p:cNvPr id="24" name="Shape 22"/>
          <p:cNvSpPr/>
          <p:nvPr/>
        </p:nvSpPr>
        <p:spPr>
          <a:xfrm>
            <a:off x="6233008" y="1525524"/>
            <a:ext cx="5410048" cy="656844"/>
          </a:xfrm>
          <a:prstGeom prst="roundRect">
            <a:avLst>
              <a:gd name="adj" fmla="val 8353"/>
            </a:avLst>
          </a:prstGeom>
          <a:solidFill>
            <a:srgbClr val="EEEDFB"/>
          </a:solidFill>
          <a:ln/>
        </p:spPr>
      </p:sp>
      <p:sp>
        <p:nvSpPr>
          <p:cNvPr id="25" name="Text 23"/>
          <p:cNvSpPr txBox="1"/>
          <p:nvPr/>
        </p:nvSpPr>
        <p:spPr>
          <a:xfrm>
            <a:off x="6370168" y="1580388"/>
            <a:ext cx="5135728" cy="54711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EKO  </a:t>
            </a:r>
            <a:r>
              <a:rPr lang="en-US" sz="1500" dirty="0">
                <a:solidFill>
                  <a:srgbClr val="1F2937"/>
                </a:solidFill>
                <a:latin typeface="Calibri" pitchFamily="34" charset="0"/>
                <a:ea typeface="Calibri" pitchFamily="34" charset="-122"/>
                <a:cs typeface="Calibri" pitchFamily="34" charset="-120"/>
              </a:rPr>
              <a:t>Kalpteki karıncıkları ve kapakları görüntülemek için yapılan ultrasonografi</a:t>
            </a:r>
            <a:endParaRPr lang="en-US" sz="1500" dirty="0"/>
          </a:p>
        </p:txBody>
      </p:sp>
      <p:sp>
        <p:nvSpPr>
          <p:cNvPr id="26" name="Shape 24"/>
          <p:cNvSpPr/>
          <p:nvPr/>
        </p:nvSpPr>
        <p:spPr>
          <a:xfrm>
            <a:off x="6233008" y="2273808"/>
            <a:ext cx="5410048" cy="656844"/>
          </a:xfrm>
          <a:prstGeom prst="roundRect">
            <a:avLst>
              <a:gd name="adj" fmla="val 8353"/>
            </a:avLst>
          </a:prstGeom>
          <a:solidFill>
            <a:srgbClr val="EEEDFB"/>
          </a:solidFill>
          <a:ln/>
        </p:spPr>
      </p:sp>
      <p:sp>
        <p:nvSpPr>
          <p:cNvPr id="27" name="Text 25"/>
          <p:cNvSpPr txBox="1"/>
          <p:nvPr/>
        </p:nvSpPr>
        <p:spPr>
          <a:xfrm>
            <a:off x="6370168" y="2328672"/>
            <a:ext cx="5135728" cy="54711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ELISA  </a:t>
            </a:r>
            <a:r>
              <a:rPr lang="en-US" sz="1500" dirty="0">
                <a:solidFill>
                  <a:srgbClr val="1F2937"/>
                </a:solidFill>
                <a:latin typeface="Calibri" pitchFamily="34" charset="0"/>
                <a:ea typeface="Calibri" pitchFamily="34" charset="-122"/>
                <a:cs typeface="Calibri" pitchFamily="34" charset="-120"/>
              </a:rPr>
              <a:t>Enzyme-Linked Immunosorbent Assay (EIDS antikorlarını belirlemek için yapılan bir test)</a:t>
            </a:r>
            <a:endParaRPr lang="en-US" sz="15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2.c. Akronim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109</a:t>
            </a:r>
            <a:endParaRPr lang="en-US" sz="1000" dirty="0"/>
          </a:p>
        </p:txBody>
      </p:sp>
      <p:sp>
        <p:nvSpPr>
          <p:cNvPr id="6" name="Shape 4"/>
          <p:cNvSpPr/>
          <p:nvPr/>
        </p:nvSpPr>
        <p:spPr>
          <a:xfrm>
            <a:off x="548640" y="1525524"/>
            <a:ext cx="5410048" cy="424434"/>
          </a:xfrm>
          <a:prstGeom prst="roundRect">
            <a:avLst>
              <a:gd name="adj" fmla="val 12926"/>
            </a:avLst>
          </a:prstGeom>
          <a:solidFill>
            <a:srgbClr val="EEEDFB"/>
          </a:solidFill>
          <a:ln/>
        </p:spPr>
      </p:sp>
      <p:sp>
        <p:nvSpPr>
          <p:cNvPr id="7" name="Text 5"/>
          <p:cNvSpPr txBox="1"/>
          <p:nvPr/>
        </p:nvSpPr>
        <p:spPr>
          <a:xfrm>
            <a:off x="685800" y="158038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EM  </a:t>
            </a:r>
            <a:r>
              <a:rPr lang="en-US" sz="1500" dirty="0">
                <a:solidFill>
                  <a:srgbClr val="1F2937"/>
                </a:solidFill>
                <a:latin typeface="Calibri" pitchFamily="34" charset="0"/>
                <a:ea typeface="Calibri" pitchFamily="34" charset="-122"/>
                <a:cs typeface="Calibri" pitchFamily="34" charset="-120"/>
              </a:rPr>
              <a:t>Elektron Mikroskop</a:t>
            </a:r>
            <a:endParaRPr lang="en-US" sz="1500" dirty="0"/>
          </a:p>
        </p:txBody>
      </p:sp>
      <p:sp>
        <p:nvSpPr>
          <p:cNvPr id="8" name="Shape 6"/>
          <p:cNvSpPr/>
          <p:nvPr/>
        </p:nvSpPr>
        <p:spPr>
          <a:xfrm>
            <a:off x="548640" y="2041398"/>
            <a:ext cx="5410048" cy="424434"/>
          </a:xfrm>
          <a:prstGeom prst="roundRect">
            <a:avLst>
              <a:gd name="adj" fmla="val 12926"/>
            </a:avLst>
          </a:prstGeom>
          <a:solidFill>
            <a:srgbClr val="EEEDFB"/>
          </a:solidFill>
          <a:ln/>
        </p:spPr>
      </p:sp>
      <p:sp>
        <p:nvSpPr>
          <p:cNvPr id="9" name="Text 7"/>
          <p:cNvSpPr txBox="1"/>
          <p:nvPr/>
        </p:nvSpPr>
        <p:spPr>
          <a:xfrm>
            <a:off x="685800" y="209626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ER  </a:t>
            </a:r>
            <a:r>
              <a:rPr lang="en-US" sz="1500" dirty="0">
                <a:solidFill>
                  <a:srgbClr val="1F2937"/>
                </a:solidFill>
                <a:latin typeface="Calibri" pitchFamily="34" charset="0"/>
                <a:ea typeface="Calibri" pitchFamily="34" charset="-122"/>
                <a:cs typeface="Calibri" pitchFamily="34" charset="-120"/>
              </a:rPr>
              <a:t>Endoplazmik Reticulum</a:t>
            </a:r>
            <a:endParaRPr lang="en-US" sz="1500" dirty="0"/>
          </a:p>
        </p:txBody>
      </p:sp>
      <p:sp>
        <p:nvSpPr>
          <p:cNvPr id="10" name="Shape 8"/>
          <p:cNvSpPr/>
          <p:nvPr/>
        </p:nvSpPr>
        <p:spPr>
          <a:xfrm>
            <a:off x="548640" y="2557272"/>
            <a:ext cx="5410048" cy="656844"/>
          </a:xfrm>
          <a:prstGeom prst="roundRect">
            <a:avLst>
              <a:gd name="adj" fmla="val 8353"/>
            </a:avLst>
          </a:prstGeom>
          <a:solidFill>
            <a:srgbClr val="EEEDFB"/>
          </a:solidFill>
          <a:ln/>
        </p:spPr>
      </p:sp>
      <p:sp>
        <p:nvSpPr>
          <p:cNvPr id="11" name="Text 9"/>
          <p:cNvSpPr txBox="1"/>
          <p:nvPr/>
        </p:nvSpPr>
        <p:spPr>
          <a:xfrm>
            <a:off x="685800" y="2612136"/>
            <a:ext cx="5135728" cy="54711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GFR  </a:t>
            </a:r>
            <a:r>
              <a:rPr lang="en-US" sz="1500" dirty="0">
                <a:solidFill>
                  <a:srgbClr val="1F2937"/>
                </a:solidFill>
                <a:latin typeface="Calibri" pitchFamily="34" charset="0"/>
                <a:ea typeface="Calibri" pitchFamily="34" charset="-122"/>
                <a:cs typeface="Calibri" pitchFamily="34" charset="-120"/>
              </a:rPr>
              <a:t>Glomerular Filtration Rate (Glomerüler filtrasyon hızı)</a:t>
            </a:r>
            <a:endParaRPr lang="en-US" sz="1500" dirty="0"/>
          </a:p>
        </p:txBody>
      </p:sp>
      <p:sp>
        <p:nvSpPr>
          <p:cNvPr id="12" name="Shape 10"/>
          <p:cNvSpPr/>
          <p:nvPr/>
        </p:nvSpPr>
        <p:spPr>
          <a:xfrm>
            <a:off x="548640" y="3305556"/>
            <a:ext cx="5410048" cy="424434"/>
          </a:xfrm>
          <a:prstGeom prst="roundRect">
            <a:avLst>
              <a:gd name="adj" fmla="val 12926"/>
            </a:avLst>
          </a:prstGeom>
          <a:solidFill>
            <a:srgbClr val="EEEDFB"/>
          </a:solidFill>
          <a:ln/>
        </p:spPr>
      </p:sp>
      <p:sp>
        <p:nvSpPr>
          <p:cNvPr id="13" name="Text 11"/>
          <p:cNvSpPr txBox="1"/>
          <p:nvPr/>
        </p:nvSpPr>
        <p:spPr>
          <a:xfrm>
            <a:off x="685800" y="336042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HAV  </a:t>
            </a:r>
            <a:r>
              <a:rPr lang="en-US" sz="1500" dirty="0">
                <a:solidFill>
                  <a:srgbClr val="1F2937"/>
                </a:solidFill>
                <a:latin typeface="Calibri" pitchFamily="34" charset="0"/>
                <a:ea typeface="Calibri" pitchFamily="34" charset="-122"/>
                <a:cs typeface="Calibri" pitchFamily="34" charset="-120"/>
              </a:rPr>
              <a:t>Hepatit A Virüsü</a:t>
            </a:r>
            <a:endParaRPr lang="en-US" sz="1500" dirty="0"/>
          </a:p>
        </p:txBody>
      </p:sp>
      <p:sp>
        <p:nvSpPr>
          <p:cNvPr id="14" name="Shape 12"/>
          <p:cNvSpPr/>
          <p:nvPr/>
        </p:nvSpPr>
        <p:spPr>
          <a:xfrm>
            <a:off x="548640" y="3821430"/>
            <a:ext cx="5410048" cy="424434"/>
          </a:xfrm>
          <a:prstGeom prst="roundRect">
            <a:avLst>
              <a:gd name="adj" fmla="val 12926"/>
            </a:avLst>
          </a:prstGeom>
          <a:solidFill>
            <a:srgbClr val="EEEDFB"/>
          </a:solidFill>
          <a:ln/>
        </p:spPr>
      </p:sp>
      <p:sp>
        <p:nvSpPr>
          <p:cNvPr id="15" name="Text 13"/>
          <p:cNvSpPr txBox="1"/>
          <p:nvPr/>
        </p:nvSpPr>
        <p:spPr>
          <a:xfrm>
            <a:off x="685800" y="387629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HBV  </a:t>
            </a:r>
            <a:r>
              <a:rPr lang="en-US" sz="1500" dirty="0">
                <a:solidFill>
                  <a:srgbClr val="1F2937"/>
                </a:solidFill>
                <a:latin typeface="Calibri" pitchFamily="34" charset="0"/>
                <a:ea typeface="Calibri" pitchFamily="34" charset="-122"/>
                <a:cs typeface="Calibri" pitchFamily="34" charset="-120"/>
              </a:rPr>
              <a:t>Hepatit B Virüsü</a:t>
            </a:r>
            <a:endParaRPr lang="en-US" sz="1500" dirty="0"/>
          </a:p>
        </p:txBody>
      </p:sp>
      <p:sp>
        <p:nvSpPr>
          <p:cNvPr id="16" name="Shape 14"/>
          <p:cNvSpPr/>
          <p:nvPr/>
        </p:nvSpPr>
        <p:spPr>
          <a:xfrm>
            <a:off x="548640" y="4337304"/>
            <a:ext cx="5410048" cy="424434"/>
          </a:xfrm>
          <a:prstGeom prst="roundRect">
            <a:avLst>
              <a:gd name="adj" fmla="val 12926"/>
            </a:avLst>
          </a:prstGeom>
          <a:solidFill>
            <a:srgbClr val="EEEDFB"/>
          </a:solidFill>
          <a:ln/>
        </p:spPr>
      </p:sp>
      <p:sp>
        <p:nvSpPr>
          <p:cNvPr id="17" name="Text 15"/>
          <p:cNvSpPr txBox="1"/>
          <p:nvPr/>
        </p:nvSpPr>
        <p:spPr>
          <a:xfrm>
            <a:off x="685800" y="439216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HIV  </a:t>
            </a:r>
            <a:r>
              <a:rPr lang="en-US" sz="1500" dirty="0">
                <a:solidFill>
                  <a:srgbClr val="1F2937"/>
                </a:solidFill>
                <a:latin typeface="Calibri" pitchFamily="34" charset="0"/>
                <a:ea typeface="Calibri" pitchFamily="34" charset="-122"/>
                <a:cs typeface="Calibri" pitchFamily="34" charset="-120"/>
              </a:rPr>
              <a:t>Human Immundeficiency Virusu</a:t>
            </a:r>
            <a:endParaRPr lang="en-US" sz="1500" dirty="0"/>
          </a:p>
        </p:txBody>
      </p:sp>
      <p:sp>
        <p:nvSpPr>
          <p:cNvPr id="18" name="Shape 16"/>
          <p:cNvSpPr/>
          <p:nvPr/>
        </p:nvSpPr>
        <p:spPr>
          <a:xfrm>
            <a:off x="548640" y="4853178"/>
            <a:ext cx="5410048" cy="424434"/>
          </a:xfrm>
          <a:prstGeom prst="roundRect">
            <a:avLst>
              <a:gd name="adj" fmla="val 12926"/>
            </a:avLst>
          </a:prstGeom>
          <a:solidFill>
            <a:srgbClr val="EEEDFB"/>
          </a:solidFill>
          <a:ln/>
        </p:spPr>
      </p:sp>
      <p:sp>
        <p:nvSpPr>
          <p:cNvPr id="19" name="Text 17"/>
          <p:cNvSpPr txBox="1"/>
          <p:nvPr/>
        </p:nvSpPr>
        <p:spPr>
          <a:xfrm>
            <a:off x="685800" y="490804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ICD  </a:t>
            </a:r>
            <a:r>
              <a:rPr lang="en-US" sz="1500" dirty="0">
                <a:solidFill>
                  <a:srgbClr val="1F2937"/>
                </a:solidFill>
                <a:latin typeface="Calibri" pitchFamily="34" charset="0"/>
                <a:ea typeface="Calibri" pitchFamily="34" charset="-122"/>
                <a:cs typeface="Calibri" pitchFamily="34" charset="-120"/>
              </a:rPr>
              <a:t>International Classification of Diseases</a:t>
            </a:r>
            <a:endParaRPr lang="en-US" sz="1500" dirty="0"/>
          </a:p>
        </p:txBody>
      </p:sp>
      <p:sp>
        <p:nvSpPr>
          <p:cNvPr id="20" name="Shape 18"/>
          <p:cNvSpPr/>
          <p:nvPr/>
        </p:nvSpPr>
        <p:spPr>
          <a:xfrm>
            <a:off x="548640" y="5369052"/>
            <a:ext cx="5410048" cy="424434"/>
          </a:xfrm>
          <a:prstGeom prst="roundRect">
            <a:avLst>
              <a:gd name="adj" fmla="val 12926"/>
            </a:avLst>
          </a:prstGeom>
          <a:solidFill>
            <a:srgbClr val="EEEDFB"/>
          </a:solidFill>
          <a:ln/>
        </p:spPr>
      </p:sp>
      <p:sp>
        <p:nvSpPr>
          <p:cNvPr id="21" name="Text 19"/>
          <p:cNvSpPr txBox="1"/>
          <p:nvPr/>
        </p:nvSpPr>
        <p:spPr>
          <a:xfrm>
            <a:off x="685800" y="542391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ICF  </a:t>
            </a:r>
            <a:r>
              <a:rPr lang="en-US" sz="1500" dirty="0">
                <a:solidFill>
                  <a:srgbClr val="1F2937"/>
                </a:solidFill>
                <a:latin typeface="Calibri" pitchFamily="34" charset="0"/>
                <a:ea typeface="Calibri" pitchFamily="34" charset="-122"/>
                <a:cs typeface="Calibri" pitchFamily="34" charset="-120"/>
              </a:rPr>
              <a:t>Intrasellular sıvı</a:t>
            </a:r>
            <a:endParaRPr lang="en-US" sz="1500" dirty="0"/>
          </a:p>
        </p:txBody>
      </p:sp>
      <p:sp>
        <p:nvSpPr>
          <p:cNvPr id="22" name="Shape 20"/>
          <p:cNvSpPr/>
          <p:nvPr/>
        </p:nvSpPr>
        <p:spPr>
          <a:xfrm>
            <a:off x="548640" y="5884926"/>
            <a:ext cx="5410048" cy="424434"/>
          </a:xfrm>
          <a:prstGeom prst="roundRect">
            <a:avLst>
              <a:gd name="adj" fmla="val 12926"/>
            </a:avLst>
          </a:prstGeom>
          <a:solidFill>
            <a:srgbClr val="EEEDFB"/>
          </a:solidFill>
          <a:ln/>
        </p:spPr>
      </p:sp>
      <p:sp>
        <p:nvSpPr>
          <p:cNvPr id="23" name="Text 21"/>
          <p:cNvSpPr txBox="1"/>
          <p:nvPr/>
        </p:nvSpPr>
        <p:spPr>
          <a:xfrm>
            <a:off x="685800" y="593979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IHD  </a:t>
            </a:r>
            <a:r>
              <a:rPr lang="en-US" sz="1500" dirty="0">
                <a:solidFill>
                  <a:srgbClr val="1F2937"/>
                </a:solidFill>
                <a:latin typeface="Calibri" pitchFamily="34" charset="0"/>
                <a:ea typeface="Calibri" pitchFamily="34" charset="-122"/>
                <a:cs typeface="Calibri" pitchFamily="34" charset="-120"/>
              </a:rPr>
              <a:t>İskemik Kalp Yetmezliği</a:t>
            </a:r>
            <a:endParaRPr lang="en-US" sz="1500" dirty="0"/>
          </a:p>
        </p:txBody>
      </p:sp>
      <p:sp>
        <p:nvSpPr>
          <p:cNvPr id="24" name="Shape 22"/>
          <p:cNvSpPr/>
          <p:nvPr/>
        </p:nvSpPr>
        <p:spPr>
          <a:xfrm>
            <a:off x="6233008" y="1525524"/>
            <a:ext cx="5410048" cy="424434"/>
          </a:xfrm>
          <a:prstGeom prst="roundRect">
            <a:avLst>
              <a:gd name="adj" fmla="val 12926"/>
            </a:avLst>
          </a:prstGeom>
          <a:solidFill>
            <a:srgbClr val="EEEDFB"/>
          </a:solidFill>
          <a:ln/>
        </p:spPr>
      </p:sp>
      <p:sp>
        <p:nvSpPr>
          <p:cNvPr id="25" name="Text 23"/>
          <p:cNvSpPr txBox="1"/>
          <p:nvPr/>
        </p:nvSpPr>
        <p:spPr>
          <a:xfrm>
            <a:off x="6370168" y="158038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KOAH  </a:t>
            </a:r>
            <a:r>
              <a:rPr lang="en-US" sz="1500" dirty="0">
                <a:solidFill>
                  <a:srgbClr val="1F2937"/>
                </a:solidFill>
                <a:latin typeface="Calibri" pitchFamily="34" charset="0"/>
                <a:ea typeface="Calibri" pitchFamily="34" charset="-122"/>
                <a:cs typeface="Calibri" pitchFamily="34" charset="-120"/>
              </a:rPr>
              <a:t>Kronik Obstriktif Akciğer Hastalığı</a:t>
            </a:r>
            <a:endParaRPr lang="en-US" sz="1500" dirty="0"/>
          </a:p>
        </p:txBody>
      </p:sp>
      <p:sp>
        <p:nvSpPr>
          <p:cNvPr id="26" name="Shape 24"/>
          <p:cNvSpPr/>
          <p:nvPr/>
        </p:nvSpPr>
        <p:spPr>
          <a:xfrm>
            <a:off x="6233008" y="2041398"/>
            <a:ext cx="5410048" cy="424434"/>
          </a:xfrm>
          <a:prstGeom prst="roundRect">
            <a:avLst>
              <a:gd name="adj" fmla="val 12926"/>
            </a:avLst>
          </a:prstGeom>
          <a:solidFill>
            <a:srgbClr val="EEEDFB"/>
          </a:solidFill>
          <a:ln/>
        </p:spPr>
      </p:sp>
      <p:sp>
        <p:nvSpPr>
          <p:cNvPr id="27" name="Text 25"/>
          <p:cNvSpPr txBox="1"/>
          <p:nvPr/>
        </p:nvSpPr>
        <p:spPr>
          <a:xfrm>
            <a:off x="6370168" y="209626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LH  </a:t>
            </a:r>
            <a:r>
              <a:rPr lang="en-US" sz="1500" dirty="0">
                <a:solidFill>
                  <a:srgbClr val="1F2937"/>
                </a:solidFill>
                <a:latin typeface="Calibri" pitchFamily="34" charset="0"/>
                <a:ea typeface="Calibri" pitchFamily="34" charset="-122"/>
                <a:cs typeface="Calibri" pitchFamily="34" charset="-120"/>
              </a:rPr>
              <a:t>Lüteinleştirici Hormon</a:t>
            </a:r>
            <a:endParaRPr lang="en-US" sz="1500" dirty="0"/>
          </a:p>
        </p:txBody>
      </p:sp>
      <p:sp>
        <p:nvSpPr>
          <p:cNvPr id="28" name="Shape 26"/>
          <p:cNvSpPr/>
          <p:nvPr/>
        </p:nvSpPr>
        <p:spPr>
          <a:xfrm>
            <a:off x="6233008" y="2557272"/>
            <a:ext cx="5410048" cy="424434"/>
          </a:xfrm>
          <a:prstGeom prst="roundRect">
            <a:avLst>
              <a:gd name="adj" fmla="val 12926"/>
            </a:avLst>
          </a:prstGeom>
          <a:solidFill>
            <a:srgbClr val="EEEDFB"/>
          </a:solidFill>
          <a:ln/>
        </p:spPr>
      </p:sp>
      <p:sp>
        <p:nvSpPr>
          <p:cNvPr id="29" name="Text 27"/>
          <p:cNvSpPr txBox="1"/>
          <p:nvPr/>
        </p:nvSpPr>
        <p:spPr>
          <a:xfrm>
            <a:off x="6370168" y="261213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LP  </a:t>
            </a:r>
            <a:r>
              <a:rPr lang="en-US" sz="1500" dirty="0">
                <a:solidFill>
                  <a:srgbClr val="1F2937"/>
                </a:solidFill>
                <a:latin typeface="Calibri" pitchFamily="34" charset="0"/>
                <a:ea typeface="Calibri" pitchFamily="34" charset="-122"/>
                <a:cs typeface="Calibri" pitchFamily="34" charset="-120"/>
              </a:rPr>
              <a:t>Lumbal Ponksiyon</a:t>
            </a:r>
            <a:endParaRPr lang="en-US" sz="1500" dirty="0"/>
          </a:p>
        </p:txBody>
      </p:sp>
      <p:sp>
        <p:nvSpPr>
          <p:cNvPr id="30" name="Shape 28"/>
          <p:cNvSpPr/>
          <p:nvPr/>
        </p:nvSpPr>
        <p:spPr>
          <a:xfrm>
            <a:off x="6233008" y="3073146"/>
            <a:ext cx="5410048" cy="424434"/>
          </a:xfrm>
          <a:prstGeom prst="roundRect">
            <a:avLst>
              <a:gd name="adj" fmla="val 12926"/>
            </a:avLst>
          </a:prstGeom>
          <a:solidFill>
            <a:srgbClr val="EEEDFB"/>
          </a:solidFill>
          <a:ln/>
        </p:spPr>
      </p:sp>
      <p:sp>
        <p:nvSpPr>
          <p:cNvPr id="31" name="Text 29"/>
          <p:cNvSpPr txBox="1"/>
          <p:nvPr/>
        </p:nvSpPr>
        <p:spPr>
          <a:xfrm>
            <a:off x="6370168" y="312801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MR  </a:t>
            </a:r>
            <a:r>
              <a:rPr lang="en-US" sz="1500" dirty="0">
                <a:solidFill>
                  <a:srgbClr val="1F2937"/>
                </a:solidFill>
                <a:latin typeface="Calibri" pitchFamily="34" charset="0"/>
                <a:ea typeface="Calibri" pitchFamily="34" charset="-122"/>
                <a:cs typeface="Calibri" pitchFamily="34" charset="-120"/>
              </a:rPr>
              <a:t>Magnetic Resonance (Emar)</a:t>
            </a:r>
            <a:endParaRPr lang="en-US" sz="1500" dirty="0"/>
          </a:p>
        </p:txBody>
      </p:sp>
      <p:sp>
        <p:nvSpPr>
          <p:cNvPr id="32" name="Shape 30"/>
          <p:cNvSpPr/>
          <p:nvPr/>
        </p:nvSpPr>
        <p:spPr>
          <a:xfrm>
            <a:off x="6233008" y="3589020"/>
            <a:ext cx="5410048" cy="424434"/>
          </a:xfrm>
          <a:prstGeom prst="roundRect">
            <a:avLst>
              <a:gd name="adj" fmla="val 12926"/>
            </a:avLst>
          </a:prstGeom>
          <a:solidFill>
            <a:srgbClr val="EEEDFB"/>
          </a:solidFill>
          <a:ln/>
        </p:spPr>
      </p:sp>
      <p:sp>
        <p:nvSpPr>
          <p:cNvPr id="33" name="Text 31"/>
          <p:cNvSpPr txBox="1"/>
          <p:nvPr/>
        </p:nvSpPr>
        <p:spPr>
          <a:xfrm>
            <a:off x="6370168" y="364388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MSH  </a:t>
            </a:r>
            <a:r>
              <a:rPr lang="en-US" sz="1500" dirty="0">
                <a:solidFill>
                  <a:srgbClr val="1F2937"/>
                </a:solidFill>
                <a:latin typeface="Calibri" pitchFamily="34" charset="0"/>
                <a:ea typeface="Calibri" pitchFamily="34" charset="-122"/>
                <a:cs typeface="Calibri" pitchFamily="34" charset="-120"/>
              </a:rPr>
              <a:t>Melanositleri Stümüle eden Horman</a:t>
            </a:r>
            <a:endParaRPr lang="en-US" sz="15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2.c. Akronim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110</a:t>
            </a:r>
            <a:endParaRPr lang="en-US" sz="1000" dirty="0"/>
          </a:p>
        </p:txBody>
      </p:sp>
      <p:sp>
        <p:nvSpPr>
          <p:cNvPr id="6" name="Shape 4"/>
          <p:cNvSpPr/>
          <p:nvPr/>
        </p:nvSpPr>
        <p:spPr>
          <a:xfrm>
            <a:off x="548640" y="1594714"/>
            <a:ext cx="11094415" cy="509321"/>
          </a:xfrm>
          <a:prstGeom prst="roundRect">
            <a:avLst>
              <a:gd name="adj" fmla="val 10772"/>
            </a:avLst>
          </a:prstGeom>
          <a:solidFill>
            <a:srgbClr val="EEEDFB"/>
          </a:solidFill>
          <a:ln/>
        </p:spPr>
      </p:sp>
      <p:sp>
        <p:nvSpPr>
          <p:cNvPr id="7" name="Text 5"/>
          <p:cNvSpPr txBox="1"/>
          <p:nvPr/>
        </p:nvSpPr>
        <p:spPr>
          <a:xfrm>
            <a:off x="685800" y="1649578"/>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NMR  </a:t>
            </a:r>
            <a:r>
              <a:rPr lang="en-US" sz="1800" dirty="0">
                <a:solidFill>
                  <a:srgbClr val="1F2937"/>
                </a:solidFill>
                <a:latin typeface="Calibri" pitchFamily="34" charset="0"/>
                <a:ea typeface="Calibri" pitchFamily="34" charset="-122"/>
                <a:cs typeface="Calibri" pitchFamily="34" charset="-120"/>
              </a:rPr>
              <a:t>Nükleer Magnetik Rezonans</a:t>
            </a:r>
            <a:endParaRPr lang="en-US" sz="1800" dirty="0"/>
          </a:p>
        </p:txBody>
      </p:sp>
      <p:sp>
        <p:nvSpPr>
          <p:cNvPr id="8" name="Shape 6"/>
          <p:cNvSpPr/>
          <p:nvPr/>
        </p:nvSpPr>
        <p:spPr>
          <a:xfrm>
            <a:off x="548640" y="2195474"/>
            <a:ext cx="11094415" cy="509321"/>
          </a:xfrm>
          <a:prstGeom prst="roundRect">
            <a:avLst>
              <a:gd name="adj" fmla="val 10772"/>
            </a:avLst>
          </a:prstGeom>
          <a:solidFill>
            <a:srgbClr val="EEEDFB"/>
          </a:solidFill>
          <a:ln/>
        </p:spPr>
      </p:sp>
      <p:sp>
        <p:nvSpPr>
          <p:cNvPr id="9" name="Text 7"/>
          <p:cNvSpPr txBox="1"/>
          <p:nvPr/>
        </p:nvSpPr>
        <p:spPr>
          <a:xfrm>
            <a:off x="685800" y="2250338"/>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RBC  </a:t>
            </a:r>
            <a:r>
              <a:rPr lang="en-US" sz="1800" dirty="0">
                <a:solidFill>
                  <a:srgbClr val="1F2937"/>
                </a:solidFill>
                <a:latin typeface="Calibri" pitchFamily="34" charset="0"/>
                <a:ea typeface="Calibri" pitchFamily="34" charset="-122"/>
                <a:cs typeface="Calibri" pitchFamily="34" charset="-120"/>
              </a:rPr>
              <a:t>Red Blood Cell Count (eritrosit sayımı)</a:t>
            </a:r>
            <a:endParaRPr lang="en-US" sz="1800" dirty="0"/>
          </a:p>
        </p:txBody>
      </p:sp>
      <p:sp>
        <p:nvSpPr>
          <p:cNvPr id="10" name="Shape 8"/>
          <p:cNvSpPr/>
          <p:nvPr/>
        </p:nvSpPr>
        <p:spPr>
          <a:xfrm>
            <a:off x="548640" y="2796235"/>
            <a:ext cx="11094415" cy="509321"/>
          </a:xfrm>
          <a:prstGeom prst="roundRect">
            <a:avLst>
              <a:gd name="adj" fmla="val 10772"/>
            </a:avLst>
          </a:prstGeom>
          <a:solidFill>
            <a:srgbClr val="EEEDFB"/>
          </a:solidFill>
          <a:ln/>
        </p:spPr>
      </p:sp>
      <p:sp>
        <p:nvSpPr>
          <p:cNvPr id="11" name="Text 9"/>
          <p:cNvSpPr txBox="1"/>
          <p:nvPr/>
        </p:nvSpPr>
        <p:spPr>
          <a:xfrm>
            <a:off x="685800" y="2851099"/>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SGOT (AST)  </a:t>
            </a:r>
            <a:r>
              <a:rPr lang="en-US" sz="1800" dirty="0">
                <a:solidFill>
                  <a:srgbClr val="1F2937"/>
                </a:solidFill>
                <a:latin typeface="Calibri" pitchFamily="34" charset="0"/>
                <a:ea typeface="Calibri" pitchFamily="34" charset="-122"/>
                <a:cs typeface="Calibri" pitchFamily="34" charset="-120"/>
              </a:rPr>
              <a:t>Serum Glutamic-Oxaloacetic Transaminase (aspartate transaminase)</a:t>
            </a:r>
            <a:endParaRPr lang="en-US" sz="1800" dirty="0"/>
          </a:p>
        </p:txBody>
      </p:sp>
      <p:sp>
        <p:nvSpPr>
          <p:cNvPr id="12" name="Shape 10"/>
          <p:cNvSpPr/>
          <p:nvPr/>
        </p:nvSpPr>
        <p:spPr>
          <a:xfrm>
            <a:off x="548640" y="3396996"/>
            <a:ext cx="11094415" cy="509321"/>
          </a:xfrm>
          <a:prstGeom prst="roundRect">
            <a:avLst>
              <a:gd name="adj" fmla="val 10772"/>
            </a:avLst>
          </a:prstGeom>
          <a:solidFill>
            <a:srgbClr val="EEEDFB"/>
          </a:solidFill>
          <a:ln/>
        </p:spPr>
      </p:sp>
      <p:sp>
        <p:nvSpPr>
          <p:cNvPr id="13" name="Text 11"/>
          <p:cNvSpPr txBox="1"/>
          <p:nvPr/>
        </p:nvSpPr>
        <p:spPr>
          <a:xfrm>
            <a:off x="685800" y="3451860"/>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SPGT (ALT)  </a:t>
            </a:r>
            <a:r>
              <a:rPr lang="en-US" sz="1800" dirty="0">
                <a:solidFill>
                  <a:srgbClr val="1F2937"/>
                </a:solidFill>
                <a:latin typeface="Calibri" pitchFamily="34" charset="0"/>
                <a:ea typeface="Calibri" pitchFamily="34" charset="-122"/>
                <a:cs typeface="Calibri" pitchFamily="34" charset="-120"/>
              </a:rPr>
              <a:t>Serum Glutamic-Pyruvic Transaminase (alanine transaminase)</a:t>
            </a:r>
            <a:endParaRPr lang="en-US" sz="1800" dirty="0"/>
          </a:p>
        </p:txBody>
      </p:sp>
      <p:sp>
        <p:nvSpPr>
          <p:cNvPr id="14" name="Shape 12"/>
          <p:cNvSpPr/>
          <p:nvPr/>
        </p:nvSpPr>
        <p:spPr>
          <a:xfrm>
            <a:off x="548640" y="3997757"/>
            <a:ext cx="11094415" cy="509321"/>
          </a:xfrm>
          <a:prstGeom prst="roundRect">
            <a:avLst>
              <a:gd name="adj" fmla="val 10772"/>
            </a:avLst>
          </a:prstGeom>
          <a:solidFill>
            <a:srgbClr val="EEEDFB"/>
          </a:solidFill>
          <a:ln/>
        </p:spPr>
      </p:sp>
      <p:sp>
        <p:nvSpPr>
          <p:cNvPr id="15" name="Text 13"/>
          <p:cNvSpPr txBox="1"/>
          <p:nvPr/>
        </p:nvSpPr>
        <p:spPr>
          <a:xfrm>
            <a:off x="685800" y="4052621"/>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SOS  </a:t>
            </a:r>
            <a:r>
              <a:rPr lang="en-US" sz="1800" dirty="0">
                <a:solidFill>
                  <a:srgbClr val="1F2937"/>
                </a:solidFill>
                <a:latin typeface="Calibri" pitchFamily="34" charset="0"/>
                <a:ea typeface="Calibri" pitchFamily="34" charset="-122"/>
                <a:cs typeface="Calibri" pitchFamily="34" charset="-120"/>
              </a:rPr>
              <a:t>Save Our Souis (Esoes-Denizde uluslararası ivedi yardım isteme, imdat işareti)</a:t>
            </a:r>
            <a:endParaRPr lang="en-US" sz="1800" dirty="0"/>
          </a:p>
        </p:txBody>
      </p:sp>
      <p:sp>
        <p:nvSpPr>
          <p:cNvPr id="16" name="Shape 14"/>
          <p:cNvSpPr/>
          <p:nvPr/>
        </p:nvSpPr>
        <p:spPr>
          <a:xfrm>
            <a:off x="548640" y="4598518"/>
            <a:ext cx="11094415" cy="509321"/>
          </a:xfrm>
          <a:prstGeom prst="roundRect">
            <a:avLst>
              <a:gd name="adj" fmla="val 10772"/>
            </a:avLst>
          </a:prstGeom>
          <a:solidFill>
            <a:srgbClr val="EEEDFB"/>
          </a:solidFill>
          <a:ln/>
        </p:spPr>
      </p:sp>
      <p:sp>
        <p:nvSpPr>
          <p:cNvPr id="17" name="Text 15"/>
          <p:cNvSpPr txBox="1"/>
          <p:nvPr/>
        </p:nvSpPr>
        <p:spPr>
          <a:xfrm>
            <a:off x="685800" y="4653382"/>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TİT  </a:t>
            </a:r>
            <a:r>
              <a:rPr lang="en-US" sz="1800" dirty="0">
                <a:solidFill>
                  <a:srgbClr val="1F2937"/>
                </a:solidFill>
                <a:latin typeface="Calibri" pitchFamily="34" charset="0"/>
                <a:ea typeface="Calibri" pitchFamily="34" charset="-122"/>
                <a:cs typeface="Calibri" pitchFamily="34" charset="-120"/>
              </a:rPr>
              <a:t>Tam İdrar Tetkiki</a:t>
            </a:r>
            <a:endParaRPr lang="en-US" sz="1800" dirty="0"/>
          </a:p>
        </p:txBody>
      </p:sp>
      <p:sp>
        <p:nvSpPr>
          <p:cNvPr id="18" name="Shape 16"/>
          <p:cNvSpPr/>
          <p:nvPr/>
        </p:nvSpPr>
        <p:spPr>
          <a:xfrm>
            <a:off x="548640" y="5199278"/>
            <a:ext cx="11094415" cy="509321"/>
          </a:xfrm>
          <a:prstGeom prst="roundRect">
            <a:avLst>
              <a:gd name="adj" fmla="val 10772"/>
            </a:avLst>
          </a:prstGeom>
          <a:solidFill>
            <a:srgbClr val="EEEDFB"/>
          </a:solidFill>
          <a:ln/>
        </p:spPr>
      </p:sp>
      <p:sp>
        <p:nvSpPr>
          <p:cNvPr id="19" name="Text 17"/>
          <p:cNvSpPr txBox="1"/>
          <p:nvPr/>
        </p:nvSpPr>
        <p:spPr>
          <a:xfrm>
            <a:off x="685800" y="5254142"/>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TSH  </a:t>
            </a:r>
            <a:r>
              <a:rPr lang="en-US" sz="1800" dirty="0">
                <a:solidFill>
                  <a:srgbClr val="1F2937"/>
                </a:solidFill>
                <a:latin typeface="Calibri" pitchFamily="34" charset="0"/>
                <a:ea typeface="Calibri" pitchFamily="34" charset="-122"/>
                <a:cs typeface="Calibri" pitchFamily="34" charset="-120"/>
              </a:rPr>
              <a:t>Troidi Stimule eden Hormon</a:t>
            </a:r>
            <a:endParaRPr lang="en-US" sz="1800" dirty="0"/>
          </a:p>
        </p:txBody>
      </p:sp>
      <p:sp>
        <p:nvSpPr>
          <p:cNvPr id="20" name="Shape 18"/>
          <p:cNvSpPr/>
          <p:nvPr/>
        </p:nvSpPr>
        <p:spPr>
          <a:xfrm>
            <a:off x="548640" y="5800039"/>
            <a:ext cx="11094415" cy="509321"/>
          </a:xfrm>
          <a:prstGeom prst="roundRect">
            <a:avLst>
              <a:gd name="adj" fmla="val 10772"/>
            </a:avLst>
          </a:prstGeom>
          <a:solidFill>
            <a:srgbClr val="EEEDFB"/>
          </a:solidFill>
          <a:ln/>
        </p:spPr>
      </p:sp>
      <p:sp>
        <p:nvSpPr>
          <p:cNvPr id="21" name="Text 19"/>
          <p:cNvSpPr txBox="1"/>
          <p:nvPr/>
        </p:nvSpPr>
        <p:spPr>
          <a:xfrm>
            <a:off x="685800" y="5854903"/>
            <a:ext cx="10820095" cy="399593"/>
          </a:xfrm>
          <a:prstGeom prst="rect">
            <a:avLst/>
          </a:prstGeom>
          <a:noFill/>
          <a:ln/>
        </p:spPr>
        <p:txBody>
          <a:bodyPr wrap="square" lIns="0" tIns="0" rIns="0" bIns="0" rtlCol="0" anchor="t"/>
          <a:lstStyle/>
          <a:p>
            <a:pPr marL="0" indent="0">
              <a:lnSpc>
                <a:spcPct val="105000"/>
              </a:lnSpc>
              <a:buNone/>
            </a:pPr>
            <a:r>
              <a:rPr lang="en-US" sz="1800" b="1" dirty="0">
                <a:solidFill>
                  <a:srgbClr val="4338CA"/>
                </a:solidFill>
                <a:latin typeface="Calibri" pitchFamily="34" charset="0"/>
                <a:ea typeface="Calibri" pitchFamily="34" charset="-122"/>
                <a:cs typeface="Calibri" pitchFamily="34" charset="-120"/>
              </a:rPr>
              <a:t>WBC  </a:t>
            </a:r>
            <a:r>
              <a:rPr lang="en-US" sz="1800" dirty="0">
                <a:solidFill>
                  <a:srgbClr val="1F2937"/>
                </a:solidFill>
                <a:latin typeface="Calibri" pitchFamily="34" charset="0"/>
                <a:ea typeface="Calibri" pitchFamily="34" charset="-122"/>
                <a:cs typeface="Calibri" pitchFamily="34" charset="-120"/>
              </a:rPr>
              <a:t>White Blood Cell Count (lökosit sayımı)</a:t>
            </a:r>
            <a:endParaRPr lang="en-US" sz="1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2.d. Kısaltmalar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111</a:t>
            </a:r>
            <a:endParaRPr lang="en-US" sz="1000" dirty="0"/>
          </a:p>
        </p:txBody>
      </p:sp>
      <p:sp>
        <p:nvSpPr>
          <p:cNvPr id="6" name="Text 4"/>
          <p:cNvSpPr txBox="1"/>
          <p:nvPr/>
        </p:nvSpPr>
        <p:spPr>
          <a:xfrm>
            <a:off x="594360" y="1484249"/>
            <a:ext cx="11002975" cy="539242"/>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Tıp biliminde, kısaltmaların önemli yeri vardır. Bu kısaltmalar öylesine yaygın kullanılır ki, çoğu kez kullanan kişi, kısaltılan sözcüklerin aslını bilmez. Kısaltma, sözcük yerine geçer. Anlaşma kısaltılmış harflerle sağlanır. Aşağıda sıkça kullanılan kısaltmalar yer almaktadır.</a:t>
            </a:r>
            <a:endParaRPr lang="en-US" sz="1150" dirty="0"/>
          </a:p>
        </p:txBody>
      </p:sp>
      <p:sp>
        <p:nvSpPr>
          <p:cNvPr id="7" name="Shape 5"/>
          <p:cNvSpPr/>
          <p:nvPr/>
        </p:nvSpPr>
        <p:spPr>
          <a:xfrm>
            <a:off x="548640" y="2136140"/>
            <a:ext cx="5410048" cy="335026"/>
          </a:xfrm>
          <a:prstGeom prst="roundRect">
            <a:avLst>
              <a:gd name="adj" fmla="val 16376"/>
            </a:avLst>
          </a:prstGeom>
          <a:solidFill>
            <a:srgbClr val="EEEDFB"/>
          </a:solidFill>
          <a:ln/>
        </p:spPr>
      </p:sp>
      <p:sp>
        <p:nvSpPr>
          <p:cNvPr id="8" name="Text 6"/>
          <p:cNvSpPr txBox="1"/>
          <p:nvPr/>
        </p:nvSpPr>
        <p:spPr>
          <a:xfrm>
            <a:off x="685800" y="2191004"/>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A., a.  </a:t>
            </a:r>
            <a:r>
              <a:rPr lang="en-US" sz="1100" dirty="0">
                <a:solidFill>
                  <a:srgbClr val="1F2937"/>
                </a:solidFill>
                <a:latin typeface="Calibri" pitchFamily="34" charset="0"/>
                <a:ea typeface="Calibri" pitchFamily="34" charset="-122"/>
                <a:cs typeface="Calibri" pitchFamily="34" charset="-120"/>
              </a:rPr>
              <a:t>Arteria</a:t>
            </a:r>
            <a:endParaRPr lang="en-US" sz="1100" dirty="0"/>
          </a:p>
        </p:txBody>
      </p:sp>
      <p:sp>
        <p:nvSpPr>
          <p:cNvPr id="9" name="Shape 7"/>
          <p:cNvSpPr/>
          <p:nvPr/>
        </p:nvSpPr>
        <p:spPr>
          <a:xfrm>
            <a:off x="548640" y="2562606"/>
            <a:ext cx="5410048" cy="335026"/>
          </a:xfrm>
          <a:prstGeom prst="roundRect">
            <a:avLst>
              <a:gd name="adj" fmla="val 16376"/>
            </a:avLst>
          </a:prstGeom>
          <a:solidFill>
            <a:srgbClr val="EEEDFB"/>
          </a:solidFill>
          <a:ln/>
        </p:spPr>
      </p:sp>
      <p:sp>
        <p:nvSpPr>
          <p:cNvPr id="10" name="Text 8"/>
          <p:cNvSpPr txBox="1"/>
          <p:nvPr/>
        </p:nvSpPr>
        <p:spPr>
          <a:xfrm>
            <a:off x="685800" y="2617470"/>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Gl., gl.  </a:t>
            </a:r>
            <a:r>
              <a:rPr lang="en-US" sz="1100" dirty="0">
                <a:solidFill>
                  <a:srgbClr val="1F2937"/>
                </a:solidFill>
                <a:latin typeface="Calibri" pitchFamily="34" charset="0"/>
                <a:ea typeface="Calibri" pitchFamily="34" charset="-122"/>
                <a:cs typeface="Calibri" pitchFamily="34" charset="-120"/>
              </a:rPr>
              <a:t>Glandula</a:t>
            </a:r>
            <a:endParaRPr lang="en-US" sz="1100" dirty="0"/>
          </a:p>
        </p:txBody>
      </p:sp>
      <p:sp>
        <p:nvSpPr>
          <p:cNvPr id="11" name="Shape 9"/>
          <p:cNvSpPr/>
          <p:nvPr/>
        </p:nvSpPr>
        <p:spPr>
          <a:xfrm>
            <a:off x="548640" y="2989072"/>
            <a:ext cx="5410048" cy="335026"/>
          </a:xfrm>
          <a:prstGeom prst="roundRect">
            <a:avLst>
              <a:gd name="adj" fmla="val 16376"/>
            </a:avLst>
          </a:prstGeom>
          <a:solidFill>
            <a:srgbClr val="EEEDFB"/>
          </a:solidFill>
          <a:ln/>
        </p:spPr>
      </p:sp>
      <p:sp>
        <p:nvSpPr>
          <p:cNvPr id="12" name="Text 10"/>
          <p:cNvSpPr txBox="1"/>
          <p:nvPr/>
        </p:nvSpPr>
        <p:spPr>
          <a:xfrm>
            <a:off x="685800" y="3043936"/>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Aa., aa.  </a:t>
            </a:r>
            <a:r>
              <a:rPr lang="en-US" sz="1100" dirty="0">
                <a:solidFill>
                  <a:srgbClr val="1F2937"/>
                </a:solidFill>
                <a:latin typeface="Calibri" pitchFamily="34" charset="0"/>
                <a:ea typeface="Calibri" pitchFamily="34" charset="-122"/>
                <a:cs typeface="Calibri" pitchFamily="34" charset="-120"/>
              </a:rPr>
              <a:t>Arteriae</a:t>
            </a:r>
            <a:endParaRPr lang="en-US" sz="1100" dirty="0"/>
          </a:p>
        </p:txBody>
      </p:sp>
      <p:sp>
        <p:nvSpPr>
          <p:cNvPr id="13" name="Shape 11"/>
          <p:cNvSpPr/>
          <p:nvPr/>
        </p:nvSpPr>
        <p:spPr>
          <a:xfrm>
            <a:off x="548640" y="3415538"/>
            <a:ext cx="5410048" cy="335026"/>
          </a:xfrm>
          <a:prstGeom prst="roundRect">
            <a:avLst>
              <a:gd name="adj" fmla="val 16376"/>
            </a:avLst>
          </a:prstGeom>
          <a:solidFill>
            <a:srgbClr val="EEEDFB"/>
          </a:solidFill>
          <a:ln/>
        </p:spPr>
      </p:sp>
      <p:sp>
        <p:nvSpPr>
          <p:cNvPr id="14" name="Text 12"/>
          <p:cNvSpPr txBox="1"/>
          <p:nvPr/>
        </p:nvSpPr>
        <p:spPr>
          <a:xfrm>
            <a:off x="685800" y="3470402"/>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Gll., gll.  </a:t>
            </a:r>
            <a:r>
              <a:rPr lang="en-US" sz="1100" dirty="0">
                <a:solidFill>
                  <a:srgbClr val="1F2937"/>
                </a:solidFill>
                <a:latin typeface="Calibri" pitchFamily="34" charset="0"/>
                <a:ea typeface="Calibri" pitchFamily="34" charset="-122"/>
                <a:cs typeface="Calibri" pitchFamily="34" charset="-120"/>
              </a:rPr>
              <a:t>Glandulae</a:t>
            </a:r>
            <a:endParaRPr lang="en-US" sz="1100" dirty="0"/>
          </a:p>
        </p:txBody>
      </p:sp>
      <p:sp>
        <p:nvSpPr>
          <p:cNvPr id="15" name="Shape 13"/>
          <p:cNvSpPr/>
          <p:nvPr/>
        </p:nvSpPr>
        <p:spPr>
          <a:xfrm>
            <a:off x="548640" y="3842004"/>
            <a:ext cx="5410048" cy="335026"/>
          </a:xfrm>
          <a:prstGeom prst="roundRect">
            <a:avLst>
              <a:gd name="adj" fmla="val 16376"/>
            </a:avLst>
          </a:prstGeom>
          <a:solidFill>
            <a:srgbClr val="EEEDFB"/>
          </a:solidFill>
          <a:ln/>
        </p:spPr>
      </p:sp>
      <p:sp>
        <p:nvSpPr>
          <p:cNvPr id="16" name="Text 14"/>
          <p:cNvSpPr txBox="1"/>
          <p:nvPr/>
        </p:nvSpPr>
        <p:spPr>
          <a:xfrm>
            <a:off x="685800" y="3896868"/>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Art.  </a:t>
            </a:r>
            <a:r>
              <a:rPr lang="en-US" sz="1100" dirty="0">
                <a:solidFill>
                  <a:srgbClr val="1F2937"/>
                </a:solidFill>
                <a:latin typeface="Calibri" pitchFamily="34" charset="0"/>
                <a:ea typeface="Calibri" pitchFamily="34" charset="-122"/>
                <a:cs typeface="Calibri" pitchFamily="34" charset="-120"/>
              </a:rPr>
              <a:t>Articulatio</a:t>
            </a:r>
            <a:endParaRPr lang="en-US" sz="1100" dirty="0"/>
          </a:p>
        </p:txBody>
      </p:sp>
      <p:sp>
        <p:nvSpPr>
          <p:cNvPr id="17" name="Shape 15"/>
          <p:cNvSpPr/>
          <p:nvPr/>
        </p:nvSpPr>
        <p:spPr>
          <a:xfrm>
            <a:off x="548640" y="4268470"/>
            <a:ext cx="5410048" cy="335026"/>
          </a:xfrm>
          <a:prstGeom prst="roundRect">
            <a:avLst>
              <a:gd name="adj" fmla="val 16376"/>
            </a:avLst>
          </a:prstGeom>
          <a:solidFill>
            <a:srgbClr val="EEEDFB"/>
          </a:solidFill>
          <a:ln/>
        </p:spPr>
      </p:sp>
      <p:sp>
        <p:nvSpPr>
          <p:cNvPr id="18" name="Text 16"/>
          <p:cNvSpPr txBox="1"/>
          <p:nvPr/>
        </p:nvSpPr>
        <p:spPr>
          <a:xfrm>
            <a:off x="685800" y="4323334"/>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Hct.  </a:t>
            </a:r>
            <a:r>
              <a:rPr lang="en-US" sz="1100" dirty="0">
                <a:solidFill>
                  <a:srgbClr val="1F2937"/>
                </a:solidFill>
                <a:latin typeface="Calibri" pitchFamily="34" charset="0"/>
                <a:ea typeface="Calibri" pitchFamily="34" charset="-122"/>
                <a:cs typeface="Calibri" pitchFamily="34" charset="-120"/>
              </a:rPr>
              <a:t>Hematocrit</a:t>
            </a:r>
            <a:endParaRPr lang="en-US" sz="1100" dirty="0"/>
          </a:p>
        </p:txBody>
      </p:sp>
      <p:sp>
        <p:nvSpPr>
          <p:cNvPr id="19" name="Shape 17"/>
          <p:cNvSpPr/>
          <p:nvPr/>
        </p:nvSpPr>
        <p:spPr>
          <a:xfrm>
            <a:off x="548640" y="4694936"/>
            <a:ext cx="5410048" cy="335026"/>
          </a:xfrm>
          <a:prstGeom prst="roundRect">
            <a:avLst>
              <a:gd name="adj" fmla="val 16376"/>
            </a:avLst>
          </a:prstGeom>
          <a:solidFill>
            <a:srgbClr val="EEEDFB"/>
          </a:solidFill>
          <a:ln/>
        </p:spPr>
      </p:sp>
      <p:sp>
        <p:nvSpPr>
          <p:cNvPr id="20" name="Text 18"/>
          <p:cNvSpPr txBox="1"/>
          <p:nvPr/>
        </p:nvSpPr>
        <p:spPr>
          <a:xfrm>
            <a:off x="685800" y="4749800"/>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C  </a:t>
            </a:r>
            <a:r>
              <a:rPr lang="en-US" sz="1100" dirty="0">
                <a:solidFill>
                  <a:srgbClr val="1F2937"/>
                </a:solidFill>
                <a:latin typeface="Calibri" pitchFamily="34" charset="0"/>
                <a:ea typeface="Calibri" pitchFamily="34" charset="-122"/>
                <a:cs typeface="Calibri" pitchFamily="34" charset="-120"/>
              </a:rPr>
              <a:t>Vertebra Cervicalis</a:t>
            </a:r>
            <a:endParaRPr lang="en-US" sz="1100" dirty="0"/>
          </a:p>
        </p:txBody>
      </p:sp>
      <p:sp>
        <p:nvSpPr>
          <p:cNvPr id="21" name="Shape 19"/>
          <p:cNvSpPr/>
          <p:nvPr/>
        </p:nvSpPr>
        <p:spPr>
          <a:xfrm>
            <a:off x="548640" y="5121402"/>
            <a:ext cx="5410048" cy="335026"/>
          </a:xfrm>
          <a:prstGeom prst="roundRect">
            <a:avLst>
              <a:gd name="adj" fmla="val 16376"/>
            </a:avLst>
          </a:prstGeom>
          <a:solidFill>
            <a:srgbClr val="EEEDFB"/>
          </a:solidFill>
          <a:ln/>
        </p:spPr>
      </p:sp>
      <p:sp>
        <p:nvSpPr>
          <p:cNvPr id="22" name="Text 20"/>
          <p:cNvSpPr txBox="1"/>
          <p:nvPr/>
        </p:nvSpPr>
        <p:spPr>
          <a:xfrm>
            <a:off x="685800" y="5176266"/>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Hb  </a:t>
            </a:r>
            <a:r>
              <a:rPr lang="en-US" sz="1100" dirty="0">
                <a:solidFill>
                  <a:srgbClr val="1F2937"/>
                </a:solidFill>
                <a:latin typeface="Calibri" pitchFamily="34" charset="0"/>
                <a:ea typeface="Calibri" pitchFamily="34" charset="-122"/>
                <a:cs typeface="Calibri" pitchFamily="34" charset="-120"/>
              </a:rPr>
              <a:t>Hemoglobin</a:t>
            </a:r>
            <a:endParaRPr lang="en-US" sz="1100" dirty="0"/>
          </a:p>
        </p:txBody>
      </p:sp>
      <p:sp>
        <p:nvSpPr>
          <p:cNvPr id="23" name="Shape 21"/>
          <p:cNvSpPr/>
          <p:nvPr/>
        </p:nvSpPr>
        <p:spPr>
          <a:xfrm>
            <a:off x="548640" y="5547868"/>
            <a:ext cx="5410048" cy="335026"/>
          </a:xfrm>
          <a:prstGeom prst="roundRect">
            <a:avLst>
              <a:gd name="adj" fmla="val 16376"/>
            </a:avLst>
          </a:prstGeom>
          <a:solidFill>
            <a:srgbClr val="EEEDFB"/>
          </a:solidFill>
          <a:ln/>
        </p:spPr>
      </p:sp>
      <p:sp>
        <p:nvSpPr>
          <p:cNvPr id="24" name="Text 22"/>
          <p:cNvSpPr txBox="1"/>
          <p:nvPr/>
        </p:nvSpPr>
        <p:spPr>
          <a:xfrm>
            <a:off x="685800" y="5602732"/>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Ca (sea)  </a:t>
            </a:r>
            <a:r>
              <a:rPr lang="en-US" sz="1100" dirty="0">
                <a:solidFill>
                  <a:srgbClr val="1F2937"/>
                </a:solidFill>
                <a:latin typeface="Calibri" pitchFamily="34" charset="0"/>
                <a:ea typeface="Calibri" pitchFamily="34" charset="-122"/>
                <a:cs typeface="Calibri" pitchFamily="34" charset="-120"/>
              </a:rPr>
              <a:t>Cancer</a:t>
            </a:r>
            <a:endParaRPr lang="en-US" sz="1100" dirty="0"/>
          </a:p>
        </p:txBody>
      </p:sp>
      <p:sp>
        <p:nvSpPr>
          <p:cNvPr id="25" name="Shape 23"/>
          <p:cNvSpPr/>
          <p:nvPr/>
        </p:nvSpPr>
        <p:spPr>
          <a:xfrm>
            <a:off x="548640" y="5974334"/>
            <a:ext cx="5410048" cy="335026"/>
          </a:xfrm>
          <a:prstGeom prst="roundRect">
            <a:avLst>
              <a:gd name="adj" fmla="val 16376"/>
            </a:avLst>
          </a:prstGeom>
          <a:solidFill>
            <a:srgbClr val="EEEDFB"/>
          </a:solidFill>
          <a:ln/>
        </p:spPr>
      </p:sp>
      <p:sp>
        <p:nvSpPr>
          <p:cNvPr id="26" name="Text 24"/>
          <p:cNvSpPr txBox="1"/>
          <p:nvPr/>
        </p:nvSpPr>
        <p:spPr>
          <a:xfrm>
            <a:off x="685800" y="6029198"/>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İ  </a:t>
            </a:r>
            <a:r>
              <a:rPr lang="en-US" sz="1100" dirty="0">
                <a:solidFill>
                  <a:srgbClr val="1F2937"/>
                </a:solidFill>
                <a:latin typeface="Calibri" pitchFamily="34" charset="0"/>
                <a:ea typeface="Calibri" pitchFamily="34" charset="-122"/>
                <a:cs typeface="Calibri" pitchFamily="34" charset="-120"/>
              </a:rPr>
              <a:t>İngilizce</a:t>
            </a:r>
            <a:endParaRPr lang="en-US" sz="1100" dirty="0"/>
          </a:p>
        </p:txBody>
      </p:sp>
      <p:sp>
        <p:nvSpPr>
          <p:cNvPr id="27" name="Shape 25"/>
          <p:cNvSpPr/>
          <p:nvPr/>
        </p:nvSpPr>
        <p:spPr>
          <a:xfrm>
            <a:off x="6233008" y="2136140"/>
            <a:ext cx="5410048" cy="335026"/>
          </a:xfrm>
          <a:prstGeom prst="roundRect">
            <a:avLst>
              <a:gd name="adj" fmla="val 16376"/>
            </a:avLst>
          </a:prstGeom>
          <a:solidFill>
            <a:srgbClr val="EEEDFB"/>
          </a:solidFill>
          <a:ln/>
        </p:spPr>
      </p:sp>
      <p:sp>
        <p:nvSpPr>
          <p:cNvPr id="28" name="Text 26"/>
          <p:cNvSpPr txBox="1"/>
          <p:nvPr/>
        </p:nvSpPr>
        <p:spPr>
          <a:xfrm>
            <a:off x="6370168" y="2191004"/>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Dext.  </a:t>
            </a:r>
            <a:r>
              <a:rPr lang="en-US" sz="1100" dirty="0">
                <a:solidFill>
                  <a:srgbClr val="1F2937"/>
                </a:solidFill>
                <a:latin typeface="Calibri" pitchFamily="34" charset="0"/>
                <a:ea typeface="Calibri" pitchFamily="34" charset="-122"/>
                <a:cs typeface="Calibri" pitchFamily="34" charset="-120"/>
              </a:rPr>
              <a:t>Dexter</a:t>
            </a:r>
            <a:endParaRPr lang="en-US" sz="1100" dirty="0"/>
          </a:p>
        </p:txBody>
      </p:sp>
      <p:sp>
        <p:nvSpPr>
          <p:cNvPr id="29" name="Shape 27"/>
          <p:cNvSpPr/>
          <p:nvPr/>
        </p:nvSpPr>
        <p:spPr>
          <a:xfrm>
            <a:off x="6233008" y="2562606"/>
            <a:ext cx="5410048" cy="335026"/>
          </a:xfrm>
          <a:prstGeom prst="roundRect">
            <a:avLst>
              <a:gd name="adj" fmla="val 16376"/>
            </a:avLst>
          </a:prstGeom>
          <a:solidFill>
            <a:srgbClr val="EEEDFB"/>
          </a:solidFill>
          <a:ln/>
        </p:spPr>
      </p:sp>
      <p:sp>
        <p:nvSpPr>
          <p:cNvPr id="30" name="Text 28"/>
          <p:cNvSpPr txBox="1"/>
          <p:nvPr/>
        </p:nvSpPr>
        <p:spPr>
          <a:xfrm>
            <a:off x="6370168" y="2617470"/>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Im  </a:t>
            </a:r>
            <a:r>
              <a:rPr lang="en-US" sz="1100" dirty="0">
                <a:solidFill>
                  <a:srgbClr val="1F2937"/>
                </a:solidFill>
                <a:latin typeface="Calibri" pitchFamily="34" charset="0"/>
                <a:ea typeface="Calibri" pitchFamily="34" charset="-122"/>
                <a:cs typeface="Calibri" pitchFamily="34" charset="-120"/>
              </a:rPr>
              <a:t>İntramusküler</a:t>
            </a:r>
            <a:endParaRPr lang="en-US" sz="1100" dirty="0"/>
          </a:p>
        </p:txBody>
      </p:sp>
      <p:sp>
        <p:nvSpPr>
          <p:cNvPr id="31" name="Shape 29"/>
          <p:cNvSpPr/>
          <p:nvPr/>
        </p:nvSpPr>
        <p:spPr>
          <a:xfrm>
            <a:off x="6233008" y="2989072"/>
            <a:ext cx="5410048" cy="335026"/>
          </a:xfrm>
          <a:prstGeom prst="roundRect">
            <a:avLst>
              <a:gd name="adj" fmla="val 16376"/>
            </a:avLst>
          </a:prstGeom>
          <a:solidFill>
            <a:srgbClr val="EEEDFB"/>
          </a:solidFill>
          <a:ln/>
        </p:spPr>
      </p:sp>
      <p:sp>
        <p:nvSpPr>
          <p:cNvPr id="32" name="Text 30"/>
          <p:cNvSpPr txBox="1"/>
          <p:nvPr/>
        </p:nvSpPr>
        <p:spPr>
          <a:xfrm>
            <a:off x="6370168" y="3043936"/>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Dist.  </a:t>
            </a:r>
            <a:r>
              <a:rPr lang="en-US" sz="1100" dirty="0">
                <a:solidFill>
                  <a:srgbClr val="1F2937"/>
                </a:solidFill>
                <a:latin typeface="Calibri" pitchFamily="34" charset="0"/>
                <a:ea typeface="Calibri" pitchFamily="34" charset="-122"/>
                <a:cs typeface="Calibri" pitchFamily="34" charset="-120"/>
              </a:rPr>
              <a:t>Distalis</a:t>
            </a:r>
            <a:endParaRPr lang="en-US" sz="1100" dirty="0"/>
          </a:p>
        </p:txBody>
      </p:sp>
      <p:sp>
        <p:nvSpPr>
          <p:cNvPr id="33" name="Shape 31"/>
          <p:cNvSpPr/>
          <p:nvPr/>
        </p:nvSpPr>
        <p:spPr>
          <a:xfrm>
            <a:off x="6233008" y="3415538"/>
            <a:ext cx="5410048" cy="335026"/>
          </a:xfrm>
          <a:prstGeom prst="roundRect">
            <a:avLst>
              <a:gd name="adj" fmla="val 16376"/>
            </a:avLst>
          </a:prstGeom>
          <a:solidFill>
            <a:srgbClr val="EEEDFB"/>
          </a:solidFill>
          <a:ln/>
        </p:spPr>
      </p:sp>
      <p:sp>
        <p:nvSpPr>
          <p:cNvPr id="34" name="Text 32"/>
          <p:cNvSpPr txBox="1"/>
          <p:nvPr/>
        </p:nvSpPr>
        <p:spPr>
          <a:xfrm>
            <a:off x="6370168" y="3470402"/>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Iv  </a:t>
            </a:r>
            <a:r>
              <a:rPr lang="en-US" sz="1100" dirty="0">
                <a:solidFill>
                  <a:srgbClr val="1F2937"/>
                </a:solidFill>
                <a:latin typeface="Calibri" pitchFamily="34" charset="0"/>
                <a:ea typeface="Calibri" pitchFamily="34" charset="-122"/>
                <a:cs typeface="Calibri" pitchFamily="34" charset="-120"/>
              </a:rPr>
              <a:t>İntravenöz</a:t>
            </a:r>
            <a:endParaRPr lang="en-US" sz="1100" dirty="0"/>
          </a:p>
        </p:txBody>
      </p:sp>
      <p:sp>
        <p:nvSpPr>
          <p:cNvPr id="35" name="Shape 33"/>
          <p:cNvSpPr/>
          <p:nvPr/>
        </p:nvSpPr>
        <p:spPr>
          <a:xfrm>
            <a:off x="6233008" y="3842004"/>
            <a:ext cx="5410048" cy="335026"/>
          </a:xfrm>
          <a:prstGeom prst="roundRect">
            <a:avLst>
              <a:gd name="adj" fmla="val 16376"/>
            </a:avLst>
          </a:prstGeom>
          <a:solidFill>
            <a:srgbClr val="EEEDFB"/>
          </a:solidFill>
          <a:ln/>
        </p:spPr>
      </p:sp>
      <p:sp>
        <p:nvSpPr>
          <p:cNvPr id="36" name="Text 34"/>
          <p:cNvSpPr txBox="1"/>
          <p:nvPr/>
        </p:nvSpPr>
        <p:spPr>
          <a:xfrm>
            <a:off x="6370168" y="3896868"/>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F  </a:t>
            </a:r>
            <a:r>
              <a:rPr lang="en-US" sz="1100" dirty="0">
                <a:solidFill>
                  <a:srgbClr val="1F2937"/>
                </a:solidFill>
                <a:latin typeface="Calibri" pitchFamily="34" charset="0"/>
                <a:ea typeface="Calibri" pitchFamily="34" charset="-122"/>
                <a:cs typeface="Calibri" pitchFamily="34" charset="-120"/>
              </a:rPr>
              <a:t>Fransızca</a:t>
            </a:r>
            <a:endParaRPr lang="en-US" sz="1100" dirty="0"/>
          </a:p>
        </p:txBody>
      </p:sp>
      <p:sp>
        <p:nvSpPr>
          <p:cNvPr id="37" name="Shape 35"/>
          <p:cNvSpPr/>
          <p:nvPr/>
        </p:nvSpPr>
        <p:spPr>
          <a:xfrm>
            <a:off x="6233008" y="4268470"/>
            <a:ext cx="5410048" cy="335026"/>
          </a:xfrm>
          <a:prstGeom prst="roundRect">
            <a:avLst>
              <a:gd name="adj" fmla="val 16376"/>
            </a:avLst>
          </a:prstGeom>
          <a:solidFill>
            <a:srgbClr val="EEEDFB"/>
          </a:solidFill>
          <a:ln/>
        </p:spPr>
      </p:sp>
      <p:sp>
        <p:nvSpPr>
          <p:cNvPr id="38" name="Text 36"/>
          <p:cNvSpPr txBox="1"/>
          <p:nvPr/>
        </p:nvSpPr>
        <p:spPr>
          <a:xfrm>
            <a:off x="6370168" y="4323334"/>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Inf.  </a:t>
            </a:r>
            <a:r>
              <a:rPr lang="en-US" sz="1100" dirty="0">
                <a:solidFill>
                  <a:srgbClr val="1F2937"/>
                </a:solidFill>
                <a:latin typeface="Calibri" pitchFamily="34" charset="0"/>
                <a:ea typeface="Calibri" pitchFamily="34" charset="-122"/>
                <a:cs typeface="Calibri" pitchFamily="34" charset="-120"/>
              </a:rPr>
              <a:t>İnferior</a:t>
            </a:r>
            <a:endParaRPr lang="en-US" sz="1100" dirty="0"/>
          </a:p>
        </p:txBody>
      </p:sp>
      <p:sp>
        <p:nvSpPr>
          <p:cNvPr id="39" name="Shape 37"/>
          <p:cNvSpPr/>
          <p:nvPr/>
        </p:nvSpPr>
        <p:spPr>
          <a:xfrm>
            <a:off x="6233008" y="4694936"/>
            <a:ext cx="5410048" cy="335026"/>
          </a:xfrm>
          <a:prstGeom prst="roundRect">
            <a:avLst>
              <a:gd name="adj" fmla="val 16376"/>
            </a:avLst>
          </a:prstGeom>
          <a:solidFill>
            <a:srgbClr val="EEEDFB"/>
          </a:solidFill>
          <a:ln/>
        </p:spPr>
      </p:sp>
      <p:sp>
        <p:nvSpPr>
          <p:cNvPr id="40" name="Text 38"/>
          <p:cNvSpPr txBox="1"/>
          <p:nvPr/>
        </p:nvSpPr>
        <p:spPr>
          <a:xfrm>
            <a:off x="6370168" y="4749800"/>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Fac.  </a:t>
            </a:r>
            <a:r>
              <a:rPr lang="en-US" sz="1100" dirty="0">
                <a:solidFill>
                  <a:srgbClr val="1F2937"/>
                </a:solidFill>
                <a:latin typeface="Calibri" pitchFamily="34" charset="0"/>
                <a:ea typeface="Calibri" pitchFamily="34" charset="-122"/>
                <a:cs typeface="Calibri" pitchFamily="34" charset="-120"/>
              </a:rPr>
              <a:t>Facies</a:t>
            </a:r>
            <a:endParaRPr lang="en-US" sz="1100" dirty="0"/>
          </a:p>
        </p:txBody>
      </p:sp>
      <p:sp>
        <p:nvSpPr>
          <p:cNvPr id="41" name="Shape 39"/>
          <p:cNvSpPr/>
          <p:nvPr/>
        </p:nvSpPr>
        <p:spPr>
          <a:xfrm>
            <a:off x="6233008" y="5121402"/>
            <a:ext cx="5410048" cy="335026"/>
          </a:xfrm>
          <a:prstGeom prst="roundRect">
            <a:avLst>
              <a:gd name="adj" fmla="val 16376"/>
            </a:avLst>
          </a:prstGeom>
          <a:solidFill>
            <a:srgbClr val="EEEDFB"/>
          </a:solidFill>
          <a:ln/>
        </p:spPr>
      </p:sp>
      <p:sp>
        <p:nvSpPr>
          <p:cNvPr id="42" name="Text 40"/>
          <p:cNvSpPr txBox="1"/>
          <p:nvPr/>
        </p:nvSpPr>
        <p:spPr>
          <a:xfrm>
            <a:off x="6370168" y="5176266"/>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Int.  </a:t>
            </a:r>
            <a:r>
              <a:rPr lang="en-US" sz="1100" dirty="0">
                <a:solidFill>
                  <a:srgbClr val="1F2937"/>
                </a:solidFill>
                <a:latin typeface="Calibri" pitchFamily="34" charset="0"/>
                <a:ea typeface="Calibri" pitchFamily="34" charset="-122"/>
                <a:cs typeface="Calibri" pitchFamily="34" charset="-120"/>
              </a:rPr>
              <a:t>Interna</a:t>
            </a:r>
            <a:endParaRPr lang="en-US" sz="1100" dirty="0"/>
          </a:p>
        </p:txBody>
      </p:sp>
      <p:sp>
        <p:nvSpPr>
          <p:cNvPr id="43" name="Shape 41"/>
          <p:cNvSpPr/>
          <p:nvPr/>
        </p:nvSpPr>
        <p:spPr>
          <a:xfrm>
            <a:off x="6233008" y="5547868"/>
            <a:ext cx="5410048" cy="335026"/>
          </a:xfrm>
          <a:prstGeom prst="roundRect">
            <a:avLst>
              <a:gd name="adj" fmla="val 16376"/>
            </a:avLst>
          </a:prstGeom>
          <a:solidFill>
            <a:srgbClr val="EEEDFB"/>
          </a:solidFill>
          <a:ln/>
        </p:spPr>
      </p:sp>
      <p:sp>
        <p:nvSpPr>
          <p:cNvPr id="44" name="Text 42"/>
          <p:cNvSpPr txBox="1"/>
          <p:nvPr/>
        </p:nvSpPr>
        <p:spPr>
          <a:xfrm>
            <a:off x="6370168" y="5602732"/>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G  </a:t>
            </a:r>
            <a:r>
              <a:rPr lang="en-US" sz="1100" dirty="0">
                <a:solidFill>
                  <a:srgbClr val="1F2937"/>
                </a:solidFill>
                <a:latin typeface="Calibri" pitchFamily="34" charset="0"/>
                <a:ea typeface="Calibri" pitchFamily="34" charset="-122"/>
                <a:cs typeface="Calibri" pitchFamily="34" charset="-120"/>
              </a:rPr>
              <a:t>Grekçe</a:t>
            </a:r>
            <a:endParaRPr lang="en-US" sz="1100" dirty="0"/>
          </a:p>
        </p:txBody>
      </p:sp>
      <p:sp>
        <p:nvSpPr>
          <p:cNvPr id="45" name="Shape 43"/>
          <p:cNvSpPr/>
          <p:nvPr/>
        </p:nvSpPr>
        <p:spPr>
          <a:xfrm>
            <a:off x="6233008" y="5974334"/>
            <a:ext cx="5410048" cy="335026"/>
          </a:xfrm>
          <a:prstGeom prst="roundRect">
            <a:avLst>
              <a:gd name="adj" fmla="val 16376"/>
            </a:avLst>
          </a:prstGeom>
          <a:solidFill>
            <a:srgbClr val="EEEDFB"/>
          </a:solidFill>
          <a:ln/>
        </p:spPr>
      </p:sp>
      <p:sp>
        <p:nvSpPr>
          <p:cNvPr id="46" name="Text 44"/>
          <p:cNvSpPr txBox="1"/>
          <p:nvPr/>
        </p:nvSpPr>
        <p:spPr>
          <a:xfrm>
            <a:off x="6370168" y="6029198"/>
            <a:ext cx="5135728" cy="225298"/>
          </a:xfrm>
          <a:prstGeom prst="rect">
            <a:avLst/>
          </a:prstGeom>
          <a:noFill/>
          <a:ln/>
        </p:spPr>
        <p:txBody>
          <a:bodyPr wrap="square" lIns="0" tIns="0" rIns="0" bIns="0" rtlCol="0" anchor="t"/>
          <a:lstStyle/>
          <a:p>
            <a:pPr marL="0" indent="0">
              <a:lnSpc>
                <a:spcPct val="105000"/>
              </a:lnSpc>
              <a:buNone/>
            </a:pPr>
            <a:r>
              <a:rPr lang="en-US" sz="1100" b="1" dirty="0">
                <a:solidFill>
                  <a:srgbClr val="4338CA"/>
                </a:solidFill>
                <a:latin typeface="Calibri" pitchFamily="34" charset="0"/>
                <a:ea typeface="Calibri" pitchFamily="34" charset="-122"/>
                <a:cs typeface="Calibri" pitchFamily="34" charset="-120"/>
              </a:rPr>
              <a:t>Kcal  </a:t>
            </a:r>
            <a:r>
              <a:rPr lang="en-US" sz="1100" dirty="0">
                <a:solidFill>
                  <a:srgbClr val="1F2937"/>
                </a:solidFill>
                <a:latin typeface="Calibri" pitchFamily="34" charset="0"/>
                <a:ea typeface="Calibri" pitchFamily="34" charset="-122"/>
                <a:cs typeface="Calibri" pitchFamily="34" charset="-120"/>
              </a:rPr>
              <a:t>Kilokalori</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2.d. Kısaltmalar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112</a:t>
            </a:r>
            <a:endParaRPr lang="en-US" sz="1000" dirty="0"/>
          </a:p>
        </p:txBody>
      </p:sp>
      <p:sp>
        <p:nvSpPr>
          <p:cNvPr id="6" name="Shape 4"/>
          <p:cNvSpPr/>
          <p:nvPr/>
        </p:nvSpPr>
        <p:spPr>
          <a:xfrm>
            <a:off x="548640" y="1539240"/>
            <a:ext cx="5410048" cy="350520"/>
          </a:xfrm>
          <a:prstGeom prst="roundRect">
            <a:avLst>
              <a:gd name="adj" fmla="val 15652"/>
            </a:avLst>
          </a:prstGeom>
          <a:solidFill>
            <a:srgbClr val="EEEDFB"/>
          </a:solidFill>
          <a:ln/>
        </p:spPr>
      </p:sp>
      <p:sp>
        <p:nvSpPr>
          <p:cNvPr id="7" name="Text 5"/>
          <p:cNvSpPr txBox="1"/>
          <p:nvPr/>
        </p:nvSpPr>
        <p:spPr>
          <a:xfrm>
            <a:off x="685800" y="159410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L  </a:t>
            </a:r>
            <a:r>
              <a:rPr lang="en-US" sz="1200" dirty="0">
                <a:solidFill>
                  <a:srgbClr val="1F2937"/>
                </a:solidFill>
                <a:latin typeface="Calibri" pitchFamily="34" charset="0"/>
                <a:ea typeface="Calibri" pitchFamily="34" charset="-122"/>
                <a:cs typeface="Calibri" pitchFamily="34" charset="-120"/>
              </a:rPr>
              <a:t>Vertebra lumbalis</a:t>
            </a:r>
            <a:endParaRPr lang="en-US" sz="1200" dirty="0"/>
          </a:p>
        </p:txBody>
      </p:sp>
      <p:sp>
        <p:nvSpPr>
          <p:cNvPr id="8" name="Shape 6"/>
          <p:cNvSpPr/>
          <p:nvPr/>
        </p:nvSpPr>
        <p:spPr>
          <a:xfrm>
            <a:off x="548640" y="1981200"/>
            <a:ext cx="5410048" cy="350520"/>
          </a:xfrm>
          <a:prstGeom prst="roundRect">
            <a:avLst>
              <a:gd name="adj" fmla="val 15652"/>
            </a:avLst>
          </a:prstGeom>
          <a:solidFill>
            <a:srgbClr val="EEEDFB"/>
          </a:solidFill>
          <a:ln/>
        </p:spPr>
      </p:sp>
      <p:sp>
        <p:nvSpPr>
          <p:cNvPr id="9" name="Text 7"/>
          <p:cNvSpPr txBox="1"/>
          <p:nvPr/>
        </p:nvSpPr>
        <p:spPr>
          <a:xfrm>
            <a:off x="685800" y="203606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R.  </a:t>
            </a:r>
            <a:r>
              <a:rPr lang="en-US" sz="1200" dirty="0">
                <a:solidFill>
                  <a:srgbClr val="1F2937"/>
                </a:solidFill>
                <a:latin typeface="Calibri" pitchFamily="34" charset="0"/>
                <a:ea typeface="Calibri" pitchFamily="34" charset="-122"/>
                <a:cs typeface="Calibri" pitchFamily="34" charset="-120"/>
              </a:rPr>
              <a:t>Regio</a:t>
            </a:r>
            <a:endParaRPr lang="en-US" sz="1200" dirty="0"/>
          </a:p>
        </p:txBody>
      </p:sp>
      <p:sp>
        <p:nvSpPr>
          <p:cNvPr id="10" name="Shape 8"/>
          <p:cNvSpPr/>
          <p:nvPr/>
        </p:nvSpPr>
        <p:spPr>
          <a:xfrm>
            <a:off x="548640" y="2423160"/>
            <a:ext cx="5410048" cy="350520"/>
          </a:xfrm>
          <a:prstGeom prst="roundRect">
            <a:avLst>
              <a:gd name="adj" fmla="val 15652"/>
            </a:avLst>
          </a:prstGeom>
          <a:solidFill>
            <a:srgbClr val="EEEDFB"/>
          </a:solidFill>
          <a:ln/>
        </p:spPr>
      </p:sp>
      <p:sp>
        <p:nvSpPr>
          <p:cNvPr id="11" name="Text 9"/>
          <p:cNvSpPr txBox="1"/>
          <p:nvPr/>
        </p:nvSpPr>
        <p:spPr>
          <a:xfrm>
            <a:off x="685800" y="247802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L  </a:t>
            </a:r>
            <a:r>
              <a:rPr lang="en-US" sz="1200" dirty="0">
                <a:solidFill>
                  <a:srgbClr val="1F2937"/>
                </a:solidFill>
                <a:latin typeface="Calibri" pitchFamily="34" charset="0"/>
                <a:ea typeface="Calibri" pitchFamily="34" charset="-122"/>
                <a:cs typeface="Calibri" pitchFamily="34" charset="-120"/>
              </a:rPr>
              <a:t>Latince</a:t>
            </a:r>
            <a:endParaRPr lang="en-US" sz="1200" dirty="0"/>
          </a:p>
        </p:txBody>
      </p:sp>
      <p:sp>
        <p:nvSpPr>
          <p:cNvPr id="12" name="Shape 10"/>
          <p:cNvSpPr/>
          <p:nvPr/>
        </p:nvSpPr>
        <p:spPr>
          <a:xfrm>
            <a:off x="548640" y="2865120"/>
            <a:ext cx="5410048" cy="350520"/>
          </a:xfrm>
          <a:prstGeom prst="roundRect">
            <a:avLst>
              <a:gd name="adj" fmla="val 15652"/>
            </a:avLst>
          </a:prstGeom>
          <a:solidFill>
            <a:srgbClr val="EEEDFB"/>
          </a:solidFill>
          <a:ln/>
        </p:spPr>
      </p:sp>
      <p:sp>
        <p:nvSpPr>
          <p:cNvPr id="13" name="Text 11"/>
          <p:cNvSpPr txBox="1"/>
          <p:nvPr/>
        </p:nvSpPr>
        <p:spPr>
          <a:xfrm>
            <a:off x="685800" y="291998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S  </a:t>
            </a:r>
            <a:r>
              <a:rPr lang="en-US" sz="1200" dirty="0">
                <a:solidFill>
                  <a:srgbClr val="1F2937"/>
                </a:solidFill>
                <a:latin typeface="Calibri" pitchFamily="34" charset="0"/>
                <a:ea typeface="Calibri" pitchFamily="34" charset="-122"/>
                <a:cs typeface="Calibri" pitchFamily="34" charset="-120"/>
              </a:rPr>
              <a:t>Vertebra sacralis</a:t>
            </a:r>
            <a:endParaRPr lang="en-US" sz="1200" dirty="0"/>
          </a:p>
        </p:txBody>
      </p:sp>
      <p:sp>
        <p:nvSpPr>
          <p:cNvPr id="14" name="Shape 12"/>
          <p:cNvSpPr/>
          <p:nvPr/>
        </p:nvSpPr>
        <p:spPr>
          <a:xfrm>
            <a:off x="548640" y="3307080"/>
            <a:ext cx="5410048" cy="350520"/>
          </a:xfrm>
          <a:prstGeom prst="roundRect">
            <a:avLst>
              <a:gd name="adj" fmla="val 15652"/>
            </a:avLst>
          </a:prstGeom>
          <a:solidFill>
            <a:srgbClr val="EEEDFB"/>
          </a:solidFill>
          <a:ln/>
        </p:spPr>
      </p:sp>
      <p:sp>
        <p:nvSpPr>
          <p:cNvPr id="15" name="Text 13"/>
          <p:cNvSpPr txBox="1"/>
          <p:nvPr/>
        </p:nvSpPr>
        <p:spPr>
          <a:xfrm>
            <a:off x="685800" y="336194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Lig.  </a:t>
            </a:r>
            <a:r>
              <a:rPr lang="en-US" sz="1200" dirty="0">
                <a:solidFill>
                  <a:srgbClr val="1F2937"/>
                </a:solidFill>
                <a:latin typeface="Calibri" pitchFamily="34" charset="0"/>
                <a:ea typeface="Calibri" pitchFamily="34" charset="-122"/>
                <a:cs typeface="Calibri" pitchFamily="34" charset="-120"/>
              </a:rPr>
              <a:t>Ligamentum</a:t>
            </a:r>
            <a:endParaRPr lang="en-US" sz="1200" dirty="0"/>
          </a:p>
        </p:txBody>
      </p:sp>
      <p:sp>
        <p:nvSpPr>
          <p:cNvPr id="16" name="Shape 14"/>
          <p:cNvSpPr/>
          <p:nvPr/>
        </p:nvSpPr>
        <p:spPr>
          <a:xfrm>
            <a:off x="548640" y="3749040"/>
            <a:ext cx="5410048" cy="350520"/>
          </a:xfrm>
          <a:prstGeom prst="roundRect">
            <a:avLst>
              <a:gd name="adj" fmla="val 15652"/>
            </a:avLst>
          </a:prstGeom>
          <a:solidFill>
            <a:srgbClr val="EEEDFB"/>
          </a:solidFill>
          <a:ln/>
        </p:spPr>
      </p:sp>
      <p:sp>
        <p:nvSpPr>
          <p:cNvPr id="17" name="Text 15"/>
          <p:cNvSpPr txBox="1"/>
          <p:nvPr/>
        </p:nvSpPr>
        <p:spPr>
          <a:xfrm>
            <a:off x="685800" y="380390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Sin.  </a:t>
            </a:r>
            <a:r>
              <a:rPr lang="en-US" sz="1200" dirty="0">
                <a:solidFill>
                  <a:srgbClr val="1F2937"/>
                </a:solidFill>
                <a:latin typeface="Calibri" pitchFamily="34" charset="0"/>
                <a:ea typeface="Calibri" pitchFamily="34" charset="-122"/>
                <a:cs typeface="Calibri" pitchFamily="34" charset="-120"/>
              </a:rPr>
              <a:t>Sinister</a:t>
            </a:r>
            <a:endParaRPr lang="en-US" sz="1200" dirty="0"/>
          </a:p>
        </p:txBody>
      </p:sp>
      <p:sp>
        <p:nvSpPr>
          <p:cNvPr id="18" name="Shape 16"/>
          <p:cNvSpPr/>
          <p:nvPr/>
        </p:nvSpPr>
        <p:spPr>
          <a:xfrm>
            <a:off x="548640" y="4191000"/>
            <a:ext cx="5410048" cy="350520"/>
          </a:xfrm>
          <a:prstGeom prst="roundRect">
            <a:avLst>
              <a:gd name="adj" fmla="val 15652"/>
            </a:avLst>
          </a:prstGeom>
          <a:solidFill>
            <a:srgbClr val="EEEDFB"/>
          </a:solidFill>
          <a:ln/>
        </p:spPr>
      </p:sp>
      <p:sp>
        <p:nvSpPr>
          <p:cNvPr id="19" name="Text 17"/>
          <p:cNvSpPr txBox="1"/>
          <p:nvPr/>
        </p:nvSpPr>
        <p:spPr>
          <a:xfrm>
            <a:off x="685800" y="424586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Lm  </a:t>
            </a:r>
            <a:r>
              <a:rPr lang="en-US" sz="1200" dirty="0">
                <a:solidFill>
                  <a:srgbClr val="1F2937"/>
                </a:solidFill>
                <a:latin typeface="Calibri" pitchFamily="34" charset="0"/>
                <a:ea typeface="Calibri" pitchFamily="34" charset="-122"/>
                <a:cs typeface="Calibri" pitchFamily="34" charset="-120"/>
              </a:rPr>
              <a:t>Lümen</a:t>
            </a:r>
            <a:endParaRPr lang="en-US" sz="1200" dirty="0"/>
          </a:p>
        </p:txBody>
      </p:sp>
      <p:sp>
        <p:nvSpPr>
          <p:cNvPr id="20" name="Shape 18"/>
          <p:cNvSpPr/>
          <p:nvPr/>
        </p:nvSpPr>
        <p:spPr>
          <a:xfrm>
            <a:off x="548640" y="4632960"/>
            <a:ext cx="5410048" cy="350520"/>
          </a:xfrm>
          <a:prstGeom prst="roundRect">
            <a:avLst>
              <a:gd name="adj" fmla="val 15652"/>
            </a:avLst>
          </a:prstGeom>
          <a:solidFill>
            <a:srgbClr val="EEEDFB"/>
          </a:solidFill>
          <a:ln/>
        </p:spPr>
      </p:sp>
      <p:sp>
        <p:nvSpPr>
          <p:cNvPr id="21" name="Text 19"/>
          <p:cNvSpPr txBox="1"/>
          <p:nvPr/>
        </p:nvSpPr>
        <p:spPr>
          <a:xfrm>
            <a:off x="685800" y="468782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Str.  </a:t>
            </a:r>
            <a:r>
              <a:rPr lang="en-US" sz="1200" dirty="0">
                <a:solidFill>
                  <a:srgbClr val="1F2937"/>
                </a:solidFill>
                <a:latin typeface="Calibri" pitchFamily="34" charset="0"/>
                <a:ea typeface="Calibri" pitchFamily="34" charset="-122"/>
                <a:cs typeface="Calibri" pitchFamily="34" charset="-120"/>
              </a:rPr>
              <a:t>Stratum</a:t>
            </a:r>
            <a:endParaRPr lang="en-US" sz="1200" dirty="0"/>
          </a:p>
        </p:txBody>
      </p:sp>
      <p:sp>
        <p:nvSpPr>
          <p:cNvPr id="22" name="Shape 20"/>
          <p:cNvSpPr/>
          <p:nvPr/>
        </p:nvSpPr>
        <p:spPr>
          <a:xfrm>
            <a:off x="548640" y="5074920"/>
            <a:ext cx="5410048" cy="350520"/>
          </a:xfrm>
          <a:prstGeom prst="roundRect">
            <a:avLst>
              <a:gd name="adj" fmla="val 15652"/>
            </a:avLst>
          </a:prstGeom>
          <a:solidFill>
            <a:srgbClr val="EEEDFB"/>
          </a:solidFill>
          <a:ln/>
        </p:spPr>
      </p:sp>
      <p:sp>
        <p:nvSpPr>
          <p:cNvPr id="23" name="Text 21"/>
          <p:cNvSpPr txBox="1"/>
          <p:nvPr/>
        </p:nvSpPr>
        <p:spPr>
          <a:xfrm>
            <a:off x="685800" y="512978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M., m.  </a:t>
            </a:r>
            <a:r>
              <a:rPr lang="en-US" sz="1200" dirty="0">
                <a:solidFill>
                  <a:srgbClr val="1F2937"/>
                </a:solidFill>
                <a:latin typeface="Calibri" pitchFamily="34" charset="0"/>
                <a:ea typeface="Calibri" pitchFamily="34" charset="-122"/>
                <a:cs typeface="Calibri" pitchFamily="34" charset="-120"/>
              </a:rPr>
              <a:t>Musculus</a:t>
            </a:r>
            <a:endParaRPr lang="en-US" sz="1200" dirty="0"/>
          </a:p>
        </p:txBody>
      </p:sp>
      <p:sp>
        <p:nvSpPr>
          <p:cNvPr id="24" name="Shape 22"/>
          <p:cNvSpPr/>
          <p:nvPr/>
        </p:nvSpPr>
        <p:spPr>
          <a:xfrm>
            <a:off x="548640" y="5516880"/>
            <a:ext cx="5410048" cy="350520"/>
          </a:xfrm>
          <a:prstGeom prst="roundRect">
            <a:avLst>
              <a:gd name="adj" fmla="val 15652"/>
            </a:avLst>
          </a:prstGeom>
          <a:solidFill>
            <a:srgbClr val="EEEDFB"/>
          </a:solidFill>
          <a:ln/>
        </p:spPr>
      </p:sp>
      <p:sp>
        <p:nvSpPr>
          <p:cNvPr id="25" name="Text 23"/>
          <p:cNvSpPr txBox="1"/>
          <p:nvPr/>
        </p:nvSpPr>
        <p:spPr>
          <a:xfrm>
            <a:off x="685800" y="557174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Sup.  </a:t>
            </a:r>
            <a:r>
              <a:rPr lang="en-US" sz="1200" dirty="0">
                <a:solidFill>
                  <a:srgbClr val="1F2937"/>
                </a:solidFill>
                <a:latin typeface="Calibri" pitchFamily="34" charset="0"/>
                <a:ea typeface="Calibri" pitchFamily="34" charset="-122"/>
                <a:cs typeface="Calibri" pitchFamily="34" charset="-120"/>
              </a:rPr>
              <a:t>Superior</a:t>
            </a:r>
            <a:endParaRPr lang="en-US" sz="1200" dirty="0"/>
          </a:p>
        </p:txBody>
      </p:sp>
      <p:sp>
        <p:nvSpPr>
          <p:cNvPr id="26" name="Shape 24"/>
          <p:cNvSpPr/>
          <p:nvPr/>
        </p:nvSpPr>
        <p:spPr>
          <a:xfrm>
            <a:off x="548640" y="5958840"/>
            <a:ext cx="5410048" cy="350520"/>
          </a:xfrm>
          <a:prstGeom prst="roundRect">
            <a:avLst>
              <a:gd name="adj" fmla="val 15652"/>
            </a:avLst>
          </a:prstGeom>
          <a:solidFill>
            <a:srgbClr val="EEEDFB"/>
          </a:solidFill>
          <a:ln/>
        </p:spPr>
      </p:sp>
      <p:sp>
        <p:nvSpPr>
          <p:cNvPr id="27" name="Text 25"/>
          <p:cNvSpPr txBox="1"/>
          <p:nvPr/>
        </p:nvSpPr>
        <p:spPr>
          <a:xfrm>
            <a:off x="685800" y="601370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Mm., mm.  </a:t>
            </a:r>
            <a:r>
              <a:rPr lang="en-US" sz="1200" dirty="0">
                <a:solidFill>
                  <a:srgbClr val="1F2937"/>
                </a:solidFill>
                <a:latin typeface="Calibri" pitchFamily="34" charset="0"/>
                <a:ea typeface="Calibri" pitchFamily="34" charset="-122"/>
                <a:cs typeface="Calibri" pitchFamily="34" charset="-120"/>
              </a:rPr>
              <a:t>Musculi</a:t>
            </a:r>
            <a:endParaRPr lang="en-US" sz="1200" dirty="0"/>
          </a:p>
        </p:txBody>
      </p:sp>
      <p:sp>
        <p:nvSpPr>
          <p:cNvPr id="28" name="Shape 26"/>
          <p:cNvSpPr/>
          <p:nvPr/>
        </p:nvSpPr>
        <p:spPr>
          <a:xfrm>
            <a:off x="6233008" y="1539240"/>
            <a:ext cx="5410048" cy="350520"/>
          </a:xfrm>
          <a:prstGeom prst="roundRect">
            <a:avLst>
              <a:gd name="adj" fmla="val 15652"/>
            </a:avLst>
          </a:prstGeom>
          <a:solidFill>
            <a:srgbClr val="EEEDFB"/>
          </a:solidFill>
          <a:ln/>
        </p:spPr>
      </p:sp>
      <p:sp>
        <p:nvSpPr>
          <p:cNvPr id="29" name="Text 27"/>
          <p:cNvSpPr txBox="1"/>
          <p:nvPr/>
        </p:nvSpPr>
        <p:spPr>
          <a:xfrm>
            <a:off x="6370168" y="159410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Tbc  </a:t>
            </a:r>
            <a:r>
              <a:rPr lang="en-US" sz="1200" dirty="0">
                <a:solidFill>
                  <a:srgbClr val="1F2937"/>
                </a:solidFill>
                <a:latin typeface="Calibri" pitchFamily="34" charset="0"/>
                <a:ea typeface="Calibri" pitchFamily="34" charset="-122"/>
                <a:cs typeface="Calibri" pitchFamily="34" charset="-120"/>
              </a:rPr>
              <a:t>Tüberküloz</a:t>
            </a:r>
            <a:endParaRPr lang="en-US" sz="1200" dirty="0"/>
          </a:p>
        </p:txBody>
      </p:sp>
      <p:sp>
        <p:nvSpPr>
          <p:cNvPr id="30" name="Shape 28"/>
          <p:cNvSpPr/>
          <p:nvPr/>
        </p:nvSpPr>
        <p:spPr>
          <a:xfrm>
            <a:off x="6233008" y="1981200"/>
            <a:ext cx="5410048" cy="350520"/>
          </a:xfrm>
          <a:prstGeom prst="roundRect">
            <a:avLst>
              <a:gd name="adj" fmla="val 15652"/>
            </a:avLst>
          </a:prstGeom>
          <a:solidFill>
            <a:srgbClr val="EEEDFB"/>
          </a:solidFill>
          <a:ln/>
        </p:spPr>
      </p:sp>
      <p:sp>
        <p:nvSpPr>
          <p:cNvPr id="31" name="Text 29"/>
          <p:cNvSpPr txBox="1"/>
          <p:nvPr/>
        </p:nvSpPr>
        <p:spPr>
          <a:xfrm>
            <a:off x="6370168" y="203606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N., n.  </a:t>
            </a:r>
            <a:r>
              <a:rPr lang="en-US" sz="1200" dirty="0">
                <a:solidFill>
                  <a:srgbClr val="1F2937"/>
                </a:solidFill>
                <a:latin typeface="Calibri" pitchFamily="34" charset="0"/>
                <a:ea typeface="Calibri" pitchFamily="34" charset="-122"/>
                <a:cs typeface="Calibri" pitchFamily="34" charset="-120"/>
              </a:rPr>
              <a:t>Nervus</a:t>
            </a:r>
            <a:endParaRPr lang="en-US" sz="1200" dirty="0"/>
          </a:p>
        </p:txBody>
      </p:sp>
      <p:sp>
        <p:nvSpPr>
          <p:cNvPr id="32" name="Shape 30"/>
          <p:cNvSpPr/>
          <p:nvPr/>
        </p:nvSpPr>
        <p:spPr>
          <a:xfrm>
            <a:off x="6233008" y="2423160"/>
            <a:ext cx="5410048" cy="350520"/>
          </a:xfrm>
          <a:prstGeom prst="roundRect">
            <a:avLst>
              <a:gd name="adj" fmla="val 15652"/>
            </a:avLst>
          </a:prstGeom>
          <a:solidFill>
            <a:srgbClr val="EEEDFB"/>
          </a:solidFill>
          <a:ln/>
        </p:spPr>
      </p:sp>
      <p:sp>
        <p:nvSpPr>
          <p:cNvPr id="33" name="Text 31"/>
          <p:cNvSpPr txBox="1"/>
          <p:nvPr/>
        </p:nvSpPr>
        <p:spPr>
          <a:xfrm>
            <a:off x="6370168" y="247802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Tele  </a:t>
            </a:r>
            <a:r>
              <a:rPr lang="en-US" sz="1200" dirty="0">
                <a:solidFill>
                  <a:srgbClr val="1F2937"/>
                </a:solidFill>
                <a:latin typeface="Calibri" pitchFamily="34" charset="0"/>
                <a:ea typeface="Calibri" pitchFamily="34" charset="-122"/>
                <a:cs typeface="Calibri" pitchFamily="34" charset="-120"/>
              </a:rPr>
              <a:t>Kalbi görüntülemek için çekilen göğüs garfisi</a:t>
            </a:r>
            <a:endParaRPr lang="en-US" sz="1200" dirty="0"/>
          </a:p>
        </p:txBody>
      </p:sp>
      <p:sp>
        <p:nvSpPr>
          <p:cNvPr id="34" name="Shape 32"/>
          <p:cNvSpPr/>
          <p:nvPr/>
        </p:nvSpPr>
        <p:spPr>
          <a:xfrm>
            <a:off x="6233008" y="2865120"/>
            <a:ext cx="5410048" cy="350520"/>
          </a:xfrm>
          <a:prstGeom prst="roundRect">
            <a:avLst>
              <a:gd name="adj" fmla="val 15652"/>
            </a:avLst>
          </a:prstGeom>
          <a:solidFill>
            <a:srgbClr val="EEEDFB"/>
          </a:solidFill>
          <a:ln/>
        </p:spPr>
      </p:sp>
      <p:sp>
        <p:nvSpPr>
          <p:cNvPr id="35" name="Text 33"/>
          <p:cNvSpPr txBox="1"/>
          <p:nvPr/>
        </p:nvSpPr>
        <p:spPr>
          <a:xfrm>
            <a:off x="6370168" y="291998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Nn., nn.  </a:t>
            </a:r>
            <a:r>
              <a:rPr lang="en-US" sz="1200" dirty="0">
                <a:solidFill>
                  <a:srgbClr val="1F2937"/>
                </a:solidFill>
                <a:latin typeface="Calibri" pitchFamily="34" charset="0"/>
                <a:ea typeface="Calibri" pitchFamily="34" charset="-122"/>
                <a:cs typeface="Calibri" pitchFamily="34" charset="-120"/>
              </a:rPr>
              <a:t>Nervi</a:t>
            </a:r>
            <a:endParaRPr lang="en-US" sz="1200" dirty="0"/>
          </a:p>
        </p:txBody>
      </p:sp>
      <p:sp>
        <p:nvSpPr>
          <p:cNvPr id="36" name="Shape 34"/>
          <p:cNvSpPr/>
          <p:nvPr/>
        </p:nvSpPr>
        <p:spPr>
          <a:xfrm>
            <a:off x="6233008" y="3307080"/>
            <a:ext cx="5410048" cy="350520"/>
          </a:xfrm>
          <a:prstGeom prst="roundRect">
            <a:avLst>
              <a:gd name="adj" fmla="val 15652"/>
            </a:avLst>
          </a:prstGeom>
          <a:solidFill>
            <a:srgbClr val="EEEDFB"/>
          </a:solidFill>
          <a:ln/>
        </p:spPr>
      </p:sp>
      <p:sp>
        <p:nvSpPr>
          <p:cNvPr id="37" name="Text 35"/>
          <p:cNvSpPr txBox="1"/>
          <p:nvPr/>
        </p:nvSpPr>
        <p:spPr>
          <a:xfrm>
            <a:off x="6370168" y="336194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T  </a:t>
            </a:r>
            <a:r>
              <a:rPr lang="en-US" sz="1200" dirty="0">
                <a:solidFill>
                  <a:srgbClr val="1F2937"/>
                </a:solidFill>
                <a:latin typeface="Calibri" pitchFamily="34" charset="0"/>
                <a:ea typeface="Calibri" pitchFamily="34" charset="-122"/>
                <a:cs typeface="Calibri" pitchFamily="34" charset="-120"/>
              </a:rPr>
              <a:t>Thoracal vertebra</a:t>
            </a:r>
            <a:endParaRPr lang="en-US" sz="1200" dirty="0"/>
          </a:p>
        </p:txBody>
      </p:sp>
      <p:sp>
        <p:nvSpPr>
          <p:cNvPr id="38" name="Shape 36"/>
          <p:cNvSpPr/>
          <p:nvPr/>
        </p:nvSpPr>
        <p:spPr>
          <a:xfrm>
            <a:off x="6233008" y="3749040"/>
            <a:ext cx="5410048" cy="350520"/>
          </a:xfrm>
          <a:prstGeom prst="roundRect">
            <a:avLst>
              <a:gd name="adj" fmla="val 15652"/>
            </a:avLst>
          </a:prstGeom>
          <a:solidFill>
            <a:srgbClr val="EEEDFB"/>
          </a:solidFill>
          <a:ln/>
        </p:spPr>
      </p:sp>
      <p:sp>
        <p:nvSpPr>
          <p:cNvPr id="39" name="Text 37"/>
          <p:cNvSpPr txBox="1"/>
          <p:nvPr/>
        </p:nvSpPr>
        <p:spPr>
          <a:xfrm>
            <a:off x="6370168" y="380390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Pl.  </a:t>
            </a:r>
            <a:r>
              <a:rPr lang="en-US" sz="1200" dirty="0">
                <a:solidFill>
                  <a:srgbClr val="1F2937"/>
                </a:solidFill>
                <a:latin typeface="Calibri" pitchFamily="34" charset="0"/>
                <a:ea typeface="Calibri" pitchFamily="34" charset="-122"/>
                <a:cs typeface="Calibri" pitchFamily="34" charset="-120"/>
              </a:rPr>
              <a:t>Plexus</a:t>
            </a:r>
            <a:endParaRPr lang="en-US" sz="1200" dirty="0"/>
          </a:p>
        </p:txBody>
      </p:sp>
      <p:sp>
        <p:nvSpPr>
          <p:cNvPr id="40" name="Shape 38"/>
          <p:cNvSpPr/>
          <p:nvPr/>
        </p:nvSpPr>
        <p:spPr>
          <a:xfrm>
            <a:off x="6233008" y="4191000"/>
            <a:ext cx="5410048" cy="350520"/>
          </a:xfrm>
          <a:prstGeom prst="roundRect">
            <a:avLst>
              <a:gd name="adj" fmla="val 15652"/>
            </a:avLst>
          </a:prstGeom>
          <a:solidFill>
            <a:srgbClr val="EEEDFB"/>
          </a:solidFill>
          <a:ln/>
        </p:spPr>
      </p:sp>
      <p:sp>
        <p:nvSpPr>
          <p:cNvPr id="41" name="Text 39"/>
          <p:cNvSpPr txBox="1"/>
          <p:nvPr/>
        </p:nvSpPr>
        <p:spPr>
          <a:xfrm>
            <a:off x="6370168" y="424586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V., v.  </a:t>
            </a:r>
            <a:r>
              <a:rPr lang="en-US" sz="1200" dirty="0">
                <a:solidFill>
                  <a:srgbClr val="1F2937"/>
                </a:solidFill>
                <a:latin typeface="Calibri" pitchFamily="34" charset="0"/>
                <a:ea typeface="Calibri" pitchFamily="34" charset="-122"/>
                <a:cs typeface="Calibri" pitchFamily="34" charset="-120"/>
              </a:rPr>
              <a:t>Vena</a:t>
            </a:r>
            <a:endParaRPr lang="en-US" sz="1200" dirty="0"/>
          </a:p>
        </p:txBody>
      </p:sp>
      <p:sp>
        <p:nvSpPr>
          <p:cNvPr id="42" name="Shape 40"/>
          <p:cNvSpPr/>
          <p:nvPr/>
        </p:nvSpPr>
        <p:spPr>
          <a:xfrm>
            <a:off x="6233008" y="4632960"/>
            <a:ext cx="5410048" cy="350520"/>
          </a:xfrm>
          <a:prstGeom prst="roundRect">
            <a:avLst>
              <a:gd name="adj" fmla="val 15652"/>
            </a:avLst>
          </a:prstGeom>
          <a:solidFill>
            <a:srgbClr val="EEEDFB"/>
          </a:solidFill>
          <a:ln/>
        </p:spPr>
      </p:sp>
      <p:sp>
        <p:nvSpPr>
          <p:cNvPr id="43" name="Text 41"/>
          <p:cNvSpPr txBox="1"/>
          <p:nvPr/>
        </p:nvSpPr>
        <p:spPr>
          <a:xfrm>
            <a:off x="6370168" y="468782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Post.  </a:t>
            </a:r>
            <a:r>
              <a:rPr lang="en-US" sz="1200" dirty="0">
                <a:solidFill>
                  <a:srgbClr val="1F2937"/>
                </a:solidFill>
                <a:latin typeface="Calibri" pitchFamily="34" charset="0"/>
                <a:ea typeface="Calibri" pitchFamily="34" charset="-122"/>
                <a:cs typeface="Calibri" pitchFamily="34" charset="-120"/>
              </a:rPr>
              <a:t>Posterior</a:t>
            </a:r>
            <a:endParaRPr lang="en-US" sz="1200" dirty="0"/>
          </a:p>
        </p:txBody>
      </p:sp>
      <p:sp>
        <p:nvSpPr>
          <p:cNvPr id="44" name="Shape 42"/>
          <p:cNvSpPr/>
          <p:nvPr/>
        </p:nvSpPr>
        <p:spPr>
          <a:xfrm>
            <a:off x="6233008" y="5074920"/>
            <a:ext cx="5410048" cy="350520"/>
          </a:xfrm>
          <a:prstGeom prst="roundRect">
            <a:avLst>
              <a:gd name="adj" fmla="val 15652"/>
            </a:avLst>
          </a:prstGeom>
          <a:solidFill>
            <a:srgbClr val="EEEDFB"/>
          </a:solidFill>
          <a:ln/>
        </p:spPr>
      </p:sp>
      <p:sp>
        <p:nvSpPr>
          <p:cNvPr id="45" name="Text 43"/>
          <p:cNvSpPr txBox="1"/>
          <p:nvPr/>
        </p:nvSpPr>
        <p:spPr>
          <a:xfrm>
            <a:off x="6370168" y="512978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Vv.,vv.  </a:t>
            </a:r>
            <a:r>
              <a:rPr lang="en-US" sz="1200" dirty="0">
                <a:solidFill>
                  <a:srgbClr val="1F2937"/>
                </a:solidFill>
                <a:latin typeface="Calibri" pitchFamily="34" charset="0"/>
                <a:ea typeface="Calibri" pitchFamily="34" charset="-122"/>
                <a:cs typeface="Calibri" pitchFamily="34" charset="-120"/>
              </a:rPr>
              <a:t>Venae</a:t>
            </a:r>
            <a:endParaRPr lang="en-US" sz="1200" dirty="0"/>
          </a:p>
        </p:txBody>
      </p:sp>
      <p:sp>
        <p:nvSpPr>
          <p:cNvPr id="46" name="Shape 44"/>
          <p:cNvSpPr/>
          <p:nvPr/>
        </p:nvSpPr>
        <p:spPr>
          <a:xfrm>
            <a:off x="6233008" y="5516880"/>
            <a:ext cx="5410048" cy="350520"/>
          </a:xfrm>
          <a:prstGeom prst="roundRect">
            <a:avLst>
              <a:gd name="adj" fmla="val 15652"/>
            </a:avLst>
          </a:prstGeom>
          <a:solidFill>
            <a:srgbClr val="EEEDFB"/>
          </a:solidFill>
          <a:ln/>
        </p:spPr>
      </p:sp>
      <p:sp>
        <p:nvSpPr>
          <p:cNvPr id="47" name="Text 45"/>
          <p:cNvSpPr txBox="1"/>
          <p:nvPr/>
        </p:nvSpPr>
        <p:spPr>
          <a:xfrm>
            <a:off x="6370168" y="5571744"/>
            <a:ext cx="5135728" cy="240792"/>
          </a:xfrm>
          <a:prstGeom prst="rect">
            <a:avLst/>
          </a:prstGeom>
          <a:noFill/>
          <a:ln/>
        </p:spPr>
        <p:txBody>
          <a:bodyPr wrap="square" lIns="0" tIns="0" rIns="0" bIns="0" rtlCol="0" anchor="t"/>
          <a:lstStyle/>
          <a:p>
            <a:pPr marL="0" indent="0">
              <a:lnSpc>
                <a:spcPct val="105000"/>
              </a:lnSpc>
              <a:buNone/>
            </a:pPr>
            <a:r>
              <a:rPr lang="en-US" sz="1200" b="1" dirty="0">
                <a:solidFill>
                  <a:srgbClr val="4338CA"/>
                </a:solidFill>
                <a:latin typeface="Calibri" pitchFamily="34" charset="0"/>
                <a:ea typeface="Calibri" pitchFamily="34" charset="-122"/>
                <a:cs typeface="Calibri" pitchFamily="34" charset="-120"/>
              </a:rPr>
              <a:t>Proc.  </a:t>
            </a:r>
            <a:r>
              <a:rPr lang="en-US" sz="1200" dirty="0">
                <a:solidFill>
                  <a:srgbClr val="1F2937"/>
                </a:solidFill>
                <a:latin typeface="Calibri" pitchFamily="34" charset="0"/>
                <a:ea typeface="Calibri" pitchFamily="34" charset="-122"/>
                <a:cs typeface="Calibri" pitchFamily="34" charset="-120"/>
              </a:rPr>
              <a:t>Processus</a:t>
            </a:r>
            <a:endParaRPr lang="en-US"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Shape 0"/>
          <p:cNvSpPr/>
          <p:nvPr/>
        </p:nvSpPr>
        <p:spPr>
          <a:xfrm>
            <a:off x="548640" y="384048"/>
            <a:ext cx="3913632" cy="310896"/>
          </a:xfrm>
          <a:prstGeom prst="roundRect">
            <a:avLst>
              <a:gd name="adj" fmla="val 50000"/>
            </a:avLst>
          </a:prstGeom>
          <a:solidFill>
            <a:srgbClr val="EEEDFB"/>
          </a:solidFill>
          <a:ln/>
        </p:spPr>
      </p:sp>
      <p:sp>
        <p:nvSpPr>
          <p:cNvPr id="3" name="Text 1"/>
          <p:cNvSpPr txBox="1"/>
          <p:nvPr/>
        </p:nvSpPr>
        <p:spPr>
          <a:xfrm>
            <a:off x="694944" y="384048"/>
            <a:ext cx="363931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2.e. Ölçü Birimleri  ·  2.g. Simgeler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113</a:t>
            </a:r>
            <a:endParaRPr lang="en-US" sz="1000" dirty="0"/>
          </a:p>
        </p:txBody>
      </p:sp>
      <p:sp>
        <p:nvSpPr>
          <p:cNvPr id="6" name="Shape 4"/>
          <p:cNvSpPr/>
          <p:nvPr/>
        </p:nvSpPr>
        <p:spPr>
          <a:xfrm>
            <a:off x="548640" y="1463040"/>
            <a:ext cx="5410048" cy="424434"/>
          </a:xfrm>
          <a:prstGeom prst="roundRect">
            <a:avLst>
              <a:gd name="adj" fmla="val 12926"/>
            </a:avLst>
          </a:prstGeom>
          <a:solidFill>
            <a:srgbClr val="DEDBF7"/>
          </a:solidFill>
          <a:ln/>
        </p:spPr>
      </p:sp>
      <p:sp>
        <p:nvSpPr>
          <p:cNvPr id="7" name="Text 5"/>
          <p:cNvSpPr txBox="1"/>
          <p:nvPr/>
        </p:nvSpPr>
        <p:spPr>
          <a:xfrm>
            <a:off x="685800" y="151790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2.e. Ölçü Birimleri  </a:t>
            </a:r>
            <a:endParaRPr lang="en-US" sz="1500" dirty="0"/>
          </a:p>
        </p:txBody>
      </p:sp>
      <p:sp>
        <p:nvSpPr>
          <p:cNvPr id="8" name="Shape 6"/>
          <p:cNvSpPr/>
          <p:nvPr/>
        </p:nvSpPr>
        <p:spPr>
          <a:xfrm>
            <a:off x="548640" y="1978914"/>
            <a:ext cx="5410048" cy="424434"/>
          </a:xfrm>
          <a:prstGeom prst="roundRect">
            <a:avLst>
              <a:gd name="adj" fmla="val 12926"/>
            </a:avLst>
          </a:prstGeom>
          <a:solidFill>
            <a:srgbClr val="EEEDFB"/>
          </a:solidFill>
          <a:ln/>
        </p:spPr>
      </p:sp>
      <p:sp>
        <p:nvSpPr>
          <p:cNvPr id="9" name="Text 7"/>
          <p:cNvSpPr txBox="1"/>
          <p:nvPr/>
        </p:nvSpPr>
        <p:spPr>
          <a:xfrm>
            <a:off x="685800" y="203377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L  </a:t>
            </a:r>
            <a:r>
              <a:rPr lang="en-US" sz="1500" dirty="0">
                <a:solidFill>
                  <a:srgbClr val="1F2937"/>
                </a:solidFill>
                <a:latin typeface="Calibri" pitchFamily="34" charset="0"/>
                <a:ea typeface="Calibri" pitchFamily="34" charset="-122"/>
                <a:cs typeface="Calibri" pitchFamily="34" charset="-120"/>
              </a:rPr>
              <a:t>Litre</a:t>
            </a:r>
            <a:endParaRPr lang="en-US" sz="1500" dirty="0"/>
          </a:p>
        </p:txBody>
      </p:sp>
      <p:sp>
        <p:nvSpPr>
          <p:cNvPr id="10" name="Shape 8"/>
          <p:cNvSpPr/>
          <p:nvPr/>
        </p:nvSpPr>
        <p:spPr>
          <a:xfrm>
            <a:off x="548640" y="2494788"/>
            <a:ext cx="5410048" cy="424434"/>
          </a:xfrm>
          <a:prstGeom prst="roundRect">
            <a:avLst>
              <a:gd name="adj" fmla="val 12926"/>
            </a:avLst>
          </a:prstGeom>
          <a:solidFill>
            <a:srgbClr val="EEEDFB"/>
          </a:solidFill>
          <a:ln/>
        </p:spPr>
      </p:sp>
      <p:sp>
        <p:nvSpPr>
          <p:cNvPr id="11" name="Text 9"/>
          <p:cNvSpPr txBox="1"/>
          <p:nvPr/>
        </p:nvSpPr>
        <p:spPr>
          <a:xfrm>
            <a:off x="685800" y="254965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dL  </a:t>
            </a:r>
            <a:r>
              <a:rPr lang="en-US" sz="1500" dirty="0">
                <a:solidFill>
                  <a:srgbClr val="1F2937"/>
                </a:solidFill>
                <a:latin typeface="Calibri" pitchFamily="34" charset="0"/>
                <a:ea typeface="Calibri" pitchFamily="34" charset="-122"/>
                <a:cs typeface="Calibri" pitchFamily="34" charset="-120"/>
              </a:rPr>
              <a:t>Desilitre</a:t>
            </a:r>
            <a:endParaRPr lang="en-US" sz="1500" dirty="0"/>
          </a:p>
        </p:txBody>
      </p:sp>
      <p:sp>
        <p:nvSpPr>
          <p:cNvPr id="12" name="Shape 10"/>
          <p:cNvSpPr/>
          <p:nvPr/>
        </p:nvSpPr>
        <p:spPr>
          <a:xfrm>
            <a:off x="548640" y="3010662"/>
            <a:ext cx="5410048" cy="424434"/>
          </a:xfrm>
          <a:prstGeom prst="roundRect">
            <a:avLst>
              <a:gd name="adj" fmla="val 12926"/>
            </a:avLst>
          </a:prstGeom>
          <a:solidFill>
            <a:srgbClr val="EEEDFB"/>
          </a:solidFill>
          <a:ln/>
        </p:spPr>
      </p:sp>
      <p:sp>
        <p:nvSpPr>
          <p:cNvPr id="13" name="Text 11"/>
          <p:cNvSpPr txBox="1"/>
          <p:nvPr/>
        </p:nvSpPr>
        <p:spPr>
          <a:xfrm>
            <a:off x="685800" y="306552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mL  </a:t>
            </a:r>
            <a:r>
              <a:rPr lang="en-US" sz="1500" dirty="0">
                <a:solidFill>
                  <a:srgbClr val="1F2937"/>
                </a:solidFill>
                <a:latin typeface="Calibri" pitchFamily="34" charset="0"/>
                <a:ea typeface="Calibri" pitchFamily="34" charset="-122"/>
                <a:cs typeface="Calibri" pitchFamily="34" charset="-120"/>
              </a:rPr>
              <a:t>Mililitre</a:t>
            </a:r>
            <a:endParaRPr lang="en-US" sz="1500" dirty="0"/>
          </a:p>
        </p:txBody>
      </p:sp>
      <p:sp>
        <p:nvSpPr>
          <p:cNvPr id="14" name="Shape 12"/>
          <p:cNvSpPr/>
          <p:nvPr/>
        </p:nvSpPr>
        <p:spPr>
          <a:xfrm>
            <a:off x="548640" y="3526536"/>
            <a:ext cx="5410048" cy="424434"/>
          </a:xfrm>
          <a:prstGeom prst="roundRect">
            <a:avLst>
              <a:gd name="adj" fmla="val 12926"/>
            </a:avLst>
          </a:prstGeom>
          <a:solidFill>
            <a:srgbClr val="EEEDFB"/>
          </a:solidFill>
          <a:ln/>
        </p:spPr>
      </p:sp>
      <p:sp>
        <p:nvSpPr>
          <p:cNvPr id="15" name="Text 13"/>
          <p:cNvSpPr txBox="1"/>
          <p:nvPr/>
        </p:nvSpPr>
        <p:spPr>
          <a:xfrm>
            <a:off x="685800" y="358140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g  </a:t>
            </a:r>
            <a:r>
              <a:rPr lang="en-US" sz="1500" dirty="0">
                <a:solidFill>
                  <a:srgbClr val="1F2937"/>
                </a:solidFill>
                <a:latin typeface="Calibri" pitchFamily="34" charset="0"/>
                <a:ea typeface="Calibri" pitchFamily="34" charset="-122"/>
                <a:cs typeface="Calibri" pitchFamily="34" charset="-120"/>
              </a:rPr>
              <a:t>Gram</a:t>
            </a:r>
            <a:endParaRPr lang="en-US" sz="1500" dirty="0"/>
          </a:p>
        </p:txBody>
      </p:sp>
      <p:sp>
        <p:nvSpPr>
          <p:cNvPr id="16" name="Shape 14"/>
          <p:cNvSpPr/>
          <p:nvPr/>
        </p:nvSpPr>
        <p:spPr>
          <a:xfrm>
            <a:off x="548640" y="4042410"/>
            <a:ext cx="5410048" cy="424434"/>
          </a:xfrm>
          <a:prstGeom prst="roundRect">
            <a:avLst>
              <a:gd name="adj" fmla="val 12926"/>
            </a:avLst>
          </a:prstGeom>
          <a:solidFill>
            <a:srgbClr val="EEEDFB"/>
          </a:solidFill>
          <a:ln/>
        </p:spPr>
      </p:sp>
      <p:sp>
        <p:nvSpPr>
          <p:cNvPr id="17" name="Text 15"/>
          <p:cNvSpPr txBox="1"/>
          <p:nvPr/>
        </p:nvSpPr>
        <p:spPr>
          <a:xfrm>
            <a:off x="685800" y="409727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g-cal  </a:t>
            </a:r>
            <a:r>
              <a:rPr lang="en-US" sz="1500" dirty="0">
                <a:solidFill>
                  <a:srgbClr val="1F2937"/>
                </a:solidFill>
                <a:latin typeface="Calibri" pitchFamily="34" charset="0"/>
                <a:ea typeface="Calibri" pitchFamily="34" charset="-122"/>
                <a:cs typeface="Calibri" pitchFamily="34" charset="-120"/>
              </a:rPr>
              <a:t>Gram-kalori</a:t>
            </a:r>
            <a:endParaRPr lang="en-US" sz="1500" dirty="0"/>
          </a:p>
        </p:txBody>
      </p:sp>
      <p:sp>
        <p:nvSpPr>
          <p:cNvPr id="18" name="Shape 16"/>
          <p:cNvSpPr/>
          <p:nvPr/>
        </p:nvSpPr>
        <p:spPr>
          <a:xfrm>
            <a:off x="548640" y="4558284"/>
            <a:ext cx="5410048" cy="424434"/>
          </a:xfrm>
          <a:prstGeom prst="roundRect">
            <a:avLst>
              <a:gd name="adj" fmla="val 12926"/>
            </a:avLst>
          </a:prstGeom>
          <a:solidFill>
            <a:srgbClr val="EEEDFB"/>
          </a:solidFill>
          <a:ln/>
        </p:spPr>
      </p:sp>
      <p:sp>
        <p:nvSpPr>
          <p:cNvPr id="19" name="Text 17"/>
          <p:cNvSpPr txBox="1"/>
          <p:nvPr/>
        </p:nvSpPr>
        <p:spPr>
          <a:xfrm>
            <a:off x="685800" y="461314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mg  </a:t>
            </a:r>
            <a:r>
              <a:rPr lang="en-US" sz="1500" dirty="0">
                <a:solidFill>
                  <a:srgbClr val="1F2937"/>
                </a:solidFill>
                <a:latin typeface="Calibri" pitchFamily="34" charset="0"/>
                <a:ea typeface="Calibri" pitchFamily="34" charset="-122"/>
                <a:cs typeface="Calibri" pitchFamily="34" charset="-120"/>
              </a:rPr>
              <a:t>Miligram</a:t>
            </a:r>
            <a:endParaRPr lang="en-US" sz="1500" dirty="0"/>
          </a:p>
        </p:txBody>
      </p:sp>
      <p:sp>
        <p:nvSpPr>
          <p:cNvPr id="20" name="Shape 18"/>
          <p:cNvSpPr/>
          <p:nvPr/>
        </p:nvSpPr>
        <p:spPr>
          <a:xfrm>
            <a:off x="548640" y="5074158"/>
            <a:ext cx="5410048" cy="424434"/>
          </a:xfrm>
          <a:prstGeom prst="roundRect">
            <a:avLst>
              <a:gd name="adj" fmla="val 12926"/>
            </a:avLst>
          </a:prstGeom>
          <a:solidFill>
            <a:srgbClr val="EEEDFB"/>
          </a:solidFill>
          <a:ln/>
        </p:spPr>
      </p:sp>
      <p:sp>
        <p:nvSpPr>
          <p:cNvPr id="21" name="Text 19"/>
          <p:cNvSpPr txBox="1"/>
          <p:nvPr/>
        </p:nvSpPr>
        <p:spPr>
          <a:xfrm>
            <a:off x="685800" y="512902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mEq  </a:t>
            </a:r>
            <a:r>
              <a:rPr lang="en-US" sz="1500" dirty="0">
                <a:solidFill>
                  <a:srgbClr val="1F2937"/>
                </a:solidFill>
                <a:latin typeface="Calibri" pitchFamily="34" charset="0"/>
                <a:ea typeface="Calibri" pitchFamily="34" charset="-122"/>
                <a:cs typeface="Calibri" pitchFamily="34" charset="-120"/>
              </a:rPr>
              <a:t>Miliequivalent</a:t>
            </a:r>
            <a:endParaRPr lang="en-US" sz="1500" dirty="0"/>
          </a:p>
        </p:txBody>
      </p:sp>
      <p:sp>
        <p:nvSpPr>
          <p:cNvPr id="22" name="Shape 20"/>
          <p:cNvSpPr/>
          <p:nvPr/>
        </p:nvSpPr>
        <p:spPr>
          <a:xfrm>
            <a:off x="548640" y="5590032"/>
            <a:ext cx="5410048" cy="424434"/>
          </a:xfrm>
          <a:prstGeom prst="roundRect">
            <a:avLst>
              <a:gd name="adj" fmla="val 12926"/>
            </a:avLst>
          </a:prstGeom>
          <a:solidFill>
            <a:srgbClr val="EEEDFB"/>
          </a:solidFill>
          <a:ln/>
        </p:spPr>
      </p:sp>
      <p:sp>
        <p:nvSpPr>
          <p:cNvPr id="23" name="Text 21"/>
          <p:cNvSpPr txBox="1"/>
          <p:nvPr/>
        </p:nvSpPr>
        <p:spPr>
          <a:xfrm>
            <a:off x="685800" y="564489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mm  </a:t>
            </a:r>
            <a:r>
              <a:rPr lang="en-US" sz="1500" dirty="0">
                <a:solidFill>
                  <a:srgbClr val="1F2937"/>
                </a:solidFill>
                <a:latin typeface="Calibri" pitchFamily="34" charset="0"/>
                <a:ea typeface="Calibri" pitchFamily="34" charset="-122"/>
                <a:cs typeface="Calibri" pitchFamily="34" charset="-120"/>
              </a:rPr>
              <a:t>Milimetre</a:t>
            </a:r>
            <a:endParaRPr lang="en-US" sz="1500" dirty="0"/>
          </a:p>
        </p:txBody>
      </p:sp>
      <p:sp>
        <p:nvSpPr>
          <p:cNvPr id="24" name="Shape 22"/>
          <p:cNvSpPr/>
          <p:nvPr/>
        </p:nvSpPr>
        <p:spPr>
          <a:xfrm>
            <a:off x="6233008" y="1463040"/>
            <a:ext cx="5410048" cy="424434"/>
          </a:xfrm>
          <a:prstGeom prst="roundRect">
            <a:avLst>
              <a:gd name="adj" fmla="val 12926"/>
            </a:avLst>
          </a:prstGeom>
          <a:solidFill>
            <a:srgbClr val="EEEDFB"/>
          </a:solidFill>
          <a:ln/>
        </p:spPr>
      </p:sp>
      <p:sp>
        <p:nvSpPr>
          <p:cNvPr id="25" name="Text 23"/>
          <p:cNvSpPr txBox="1"/>
          <p:nvPr/>
        </p:nvSpPr>
        <p:spPr>
          <a:xfrm>
            <a:off x="6370168" y="151790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µm  </a:t>
            </a:r>
            <a:r>
              <a:rPr lang="en-US" sz="1500" dirty="0">
                <a:solidFill>
                  <a:srgbClr val="1F2937"/>
                </a:solidFill>
                <a:latin typeface="Calibri" pitchFamily="34" charset="0"/>
                <a:ea typeface="Calibri" pitchFamily="34" charset="-122"/>
                <a:cs typeface="Calibri" pitchFamily="34" charset="-120"/>
              </a:rPr>
              <a:t>Mikrometre</a:t>
            </a:r>
            <a:endParaRPr lang="en-US" sz="1500" dirty="0"/>
          </a:p>
        </p:txBody>
      </p:sp>
      <p:sp>
        <p:nvSpPr>
          <p:cNvPr id="26" name="Shape 24"/>
          <p:cNvSpPr/>
          <p:nvPr/>
        </p:nvSpPr>
        <p:spPr>
          <a:xfrm>
            <a:off x="6233008" y="1978914"/>
            <a:ext cx="5410048" cy="424434"/>
          </a:xfrm>
          <a:prstGeom prst="roundRect">
            <a:avLst>
              <a:gd name="adj" fmla="val 12926"/>
            </a:avLst>
          </a:prstGeom>
          <a:solidFill>
            <a:srgbClr val="EEEDFB"/>
          </a:solidFill>
          <a:ln/>
        </p:spPr>
      </p:sp>
      <p:sp>
        <p:nvSpPr>
          <p:cNvPr id="27" name="Text 25"/>
          <p:cNvSpPr txBox="1"/>
          <p:nvPr/>
        </p:nvSpPr>
        <p:spPr>
          <a:xfrm>
            <a:off x="6370168" y="203377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nm  </a:t>
            </a:r>
            <a:r>
              <a:rPr lang="en-US" sz="1500" dirty="0">
                <a:solidFill>
                  <a:srgbClr val="1F2937"/>
                </a:solidFill>
                <a:latin typeface="Calibri" pitchFamily="34" charset="0"/>
                <a:ea typeface="Calibri" pitchFamily="34" charset="-122"/>
                <a:cs typeface="Calibri" pitchFamily="34" charset="-120"/>
              </a:rPr>
              <a:t>Nanometre</a:t>
            </a:r>
            <a:endParaRPr lang="en-US" sz="1500" dirty="0"/>
          </a:p>
        </p:txBody>
      </p:sp>
      <p:sp>
        <p:nvSpPr>
          <p:cNvPr id="28" name="Shape 26"/>
          <p:cNvSpPr/>
          <p:nvPr/>
        </p:nvSpPr>
        <p:spPr>
          <a:xfrm>
            <a:off x="6233008" y="2494788"/>
            <a:ext cx="5410048" cy="424434"/>
          </a:xfrm>
          <a:prstGeom prst="roundRect">
            <a:avLst>
              <a:gd name="adj" fmla="val 12926"/>
            </a:avLst>
          </a:prstGeom>
          <a:solidFill>
            <a:srgbClr val="EEEDFB"/>
          </a:solidFill>
          <a:ln/>
        </p:spPr>
      </p:sp>
      <p:sp>
        <p:nvSpPr>
          <p:cNvPr id="29" name="Text 27"/>
          <p:cNvSpPr txBox="1"/>
          <p:nvPr/>
        </p:nvSpPr>
        <p:spPr>
          <a:xfrm>
            <a:off x="6370168" y="254965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nmol  </a:t>
            </a:r>
            <a:r>
              <a:rPr lang="en-US" sz="1500" dirty="0">
                <a:solidFill>
                  <a:srgbClr val="1F2937"/>
                </a:solidFill>
                <a:latin typeface="Calibri" pitchFamily="34" charset="0"/>
                <a:ea typeface="Calibri" pitchFamily="34" charset="-122"/>
                <a:cs typeface="Calibri" pitchFamily="34" charset="-120"/>
              </a:rPr>
              <a:t>Nanomol</a:t>
            </a:r>
            <a:endParaRPr lang="en-US" sz="1500" dirty="0"/>
          </a:p>
        </p:txBody>
      </p:sp>
      <p:sp>
        <p:nvSpPr>
          <p:cNvPr id="30" name="Shape 28"/>
          <p:cNvSpPr/>
          <p:nvPr/>
        </p:nvSpPr>
        <p:spPr>
          <a:xfrm>
            <a:off x="6233008" y="3010662"/>
            <a:ext cx="5410048" cy="424434"/>
          </a:xfrm>
          <a:prstGeom prst="roundRect">
            <a:avLst>
              <a:gd name="adj" fmla="val 12926"/>
            </a:avLst>
          </a:prstGeom>
          <a:solidFill>
            <a:srgbClr val="EEEDFB"/>
          </a:solidFill>
          <a:ln/>
        </p:spPr>
      </p:sp>
      <p:sp>
        <p:nvSpPr>
          <p:cNvPr id="31" name="Text 29"/>
          <p:cNvSpPr txBox="1"/>
          <p:nvPr/>
        </p:nvSpPr>
        <p:spPr>
          <a:xfrm>
            <a:off x="6370168" y="306552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mm³  </a:t>
            </a:r>
            <a:r>
              <a:rPr lang="en-US" sz="1500" dirty="0">
                <a:solidFill>
                  <a:srgbClr val="1F2937"/>
                </a:solidFill>
                <a:latin typeface="Calibri" pitchFamily="34" charset="0"/>
                <a:ea typeface="Calibri" pitchFamily="34" charset="-122"/>
                <a:cs typeface="Calibri" pitchFamily="34" charset="-120"/>
              </a:rPr>
              <a:t>Milimetreküp</a:t>
            </a:r>
            <a:endParaRPr lang="en-US" sz="1500" dirty="0"/>
          </a:p>
        </p:txBody>
      </p:sp>
      <p:sp>
        <p:nvSpPr>
          <p:cNvPr id="32" name="Shape 30"/>
          <p:cNvSpPr/>
          <p:nvPr/>
        </p:nvSpPr>
        <p:spPr>
          <a:xfrm>
            <a:off x="6233008" y="3526536"/>
            <a:ext cx="5410048" cy="424434"/>
          </a:xfrm>
          <a:prstGeom prst="roundRect">
            <a:avLst>
              <a:gd name="adj" fmla="val 12926"/>
            </a:avLst>
          </a:prstGeom>
          <a:solidFill>
            <a:srgbClr val="EEEDFB"/>
          </a:solidFill>
          <a:ln/>
        </p:spPr>
      </p:sp>
      <p:sp>
        <p:nvSpPr>
          <p:cNvPr id="33" name="Text 31"/>
          <p:cNvSpPr txBox="1"/>
          <p:nvPr/>
        </p:nvSpPr>
        <p:spPr>
          <a:xfrm>
            <a:off x="6370168" y="358140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mmol  </a:t>
            </a:r>
            <a:r>
              <a:rPr lang="en-US" sz="1500" dirty="0">
                <a:solidFill>
                  <a:srgbClr val="1F2937"/>
                </a:solidFill>
                <a:latin typeface="Calibri" pitchFamily="34" charset="0"/>
                <a:ea typeface="Calibri" pitchFamily="34" charset="-122"/>
                <a:cs typeface="Calibri" pitchFamily="34" charset="-120"/>
              </a:rPr>
              <a:t>Milimol</a:t>
            </a:r>
            <a:endParaRPr lang="en-US" sz="1500" dirty="0"/>
          </a:p>
        </p:txBody>
      </p:sp>
      <p:sp>
        <p:nvSpPr>
          <p:cNvPr id="34" name="Shape 32"/>
          <p:cNvSpPr/>
          <p:nvPr/>
        </p:nvSpPr>
        <p:spPr>
          <a:xfrm>
            <a:off x="6233008" y="4042410"/>
            <a:ext cx="5410048" cy="424434"/>
          </a:xfrm>
          <a:prstGeom prst="roundRect">
            <a:avLst>
              <a:gd name="adj" fmla="val 12926"/>
            </a:avLst>
          </a:prstGeom>
          <a:solidFill>
            <a:srgbClr val="EEEDFB"/>
          </a:solidFill>
          <a:ln/>
        </p:spPr>
      </p:sp>
      <p:sp>
        <p:nvSpPr>
          <p:cNvPr id="35" name="Text 33"/>
          <p:cNvSpPr txBox="1"/>
          <p:nvPr/>
        </p:nvSpPr>
        <p:spPr>
          <a:xfrm>
            <a:off x="6370168" y="409727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U  </a:t>
            </a:r>
            <a:r>
              <a:rPr lang="en-US" sz="1500" dirty="0">
                <a:solidFill>
                  <a:srgbClr val="1F2937"/>
                </a:solidFill>
                <a:latin typeface="Calibri" pitchFamily="34" charset="0"/>
                <a:ea typeface="Calibri" pitchFamily="34" charset="-122"/>
                <a:cs typeface="Calibri" pitchFamily="34" charset="-120"/>
              </a:rPr>
              <a:t>Unit</a:t>
            </a:r>
            <a:endParaRPr lang="en-US" sz="1500" dirty="0"/>
          </a:p>
        </p:txBody>
      </p:sp>
      <p:sp>
        <p:nvSpPr>
          <p:cNvPr id="36" name="Shape 34"/>
          <p:cNvSpPr/>
          <p:nvPr/>
        </p:nvSpPr>
        <p:spPr>
          <a:xfrm>
            <a:off x="6233008" y="4558284"/>
            <a:ext cx="5410048" cy="424434"/>
          </a:xfrm>
          <a:prstGeom prst="roundRect">
            <a:avLst>
              <a:gd name="adj" fmla="val 12926"/>
            </a:avLst>
          </a:prstGeom>
          <a:solidFill>
            <a:srgbClr val="EEEDFB"/>
          </a:solidFill>
          <a:ln/>
        </p:spPr>
      </p:sp>
      <p:sp>
        <p:nvSpPr>
          <p:cNvPr id="37" name="Text 35"/>
          <p:cNvSpPr txBox="1"/>
          <p:nvPr/>
        </p:nvSpPr>
        <p:spPr>
          <a:xfrm>
            <a:off x="6370168" y="461314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µmol  </a:t>
            </a:r>
            <a:r>
              <a:rPr lang="en-US" sz="1500" dirty="0">
                <a:solidFill>
                  <a:srgbClr val="1F2937"/>
                </a:solidFill>
                <a:latin typeface="Calibri" pitchFamily="34" charset="0"/>
                <a:ea typeface="Calibri" pitchFamily="34" charset="-122"/>
                <a:cs typeface="Calibri" pitchFamily="34" charset="-120"/>
              </a:rPr>
              <a:t>Mikromol</a:t>
            </a:r>
            <a:endParaRPr lang="en-US" sz="1500" dirty="0"/>
          </a:p>
        </p:txBody>
      </p:sp>
      <p:sp>
        <p:nvSpPr>
          <p:cNvPr id="38" name="Shape 36"/>
          <p:cNvSpPr/>
          <p:nvPr/>
        </p:nvSpPr>
        <p:spPr>
          <a:xfrm>
            <a:off x="6233008" y="5074158"/>
            <a:ext cx="5410048" cy="424434"/>
          </a:xfrm>
          <a:prstGeom prst="roundRect">
            <a:avLst>
              <a:gd name="adj" fmla="val 12926"/>
            </a:avLst>
          </a:prstGeom>
          <a:solidFill>
            <a:srgbClr val="EEEDFB"/>
          </a:solidFill>
          <a:ln/>
        </p:spPr>
      </p:sp>
      <p:sp>
        <p:nvSpPr>
          <p:cNvPr id="39" name="Text 37"/>
          <p:cNvSpPr txBox="1"/>
          <p:nvPr/>
        </p:nvSpPr>
        <p:spPr>
          <a:xfrm>
            <a:off x="6370168" y="512902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gt.  </a:t>
            </a:r>
            <a:r>
              <a:rPr lang="en-US" sz="1500" dirty="0">
                <a:solidFill>
                  <a:srgbClr val="1F2937"/>
                </a:solidFill>
                <a:latin typeface="Calibri" pitchFamily="34" charset="0"/>
                <a:ea typeface="Calibri" pitchFamily="34" charset="-122"/>
                <a:cs typeface="Calibri" pitchFamily="34" charset="-120"/>
              </a:rPr>
              <a:t>Damla</a:t>
            </a:r>
            <a:endParaRPr lang="en-US" sz="1500" dirty="0"/>
          </a:p>
        </p:txBody>
      </p:sp>
      <p:sp>
        <p:nvSpPr>
          <p:cNvPr id="40" name="Shape 38"/>
          <p:cNvSpPr/>
          <p:nvPr/>
        </p:nvSpPr>
        <p:spPr>
          <a:xfrm>
            <a:off x="6233008" y="5590032"/>
            <a:ext cx="5410048" cy="424434"/>
          </a:xfrm>
          <a:prstGeom prst="roundRect">
            <a:avLst>
              <a:gd name="adj" fmla="val 12926"/>
            </a:avLst>
          </a:prstGeom>
          <a:solidFill>
            <a:srgbClr val="EEEDFB"/>
          </a:solidFill>
          <a:ln/>
        </p:spPr>
      </p:sp>
      <p:sp>
        <p:nvSpPr>
          <p:cNvPr id="41" name="Text 39"/>
          <p:cNvSpPr txBox="1"/>
          <p:nvPr/>
        </p:nvSpPr>
        <p:spPr>
          <a:xfrm>
            <a:off x="6370168" y="564489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gtt.  </a:t>
            </a:r>
            <a:r>
              <a:rPr lang="en-US" sz="1500" dirty="0">
                <a:solidFill>
                  <a:srgbClr val="1F2937"/>
                </a:solidFill>
                <a:latin typeface="Calibri" pitchFamily="34" charset="0"/>
                <a:ea typeface="Calibri" pitchFamily="34" charset="-122"/>
                <a:cs typeface="Calibri" pitchFamily="34" charset="-120"/>
              </a:rPr>
              <a:t>Damlalar</a:t>
            </a:r>
            <a:endParaRPr lang="en-US" sz="15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EEDFB"/>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4338CA"/>
                </a:solidFill>
                <a:latin typeface="Calibri" pitchFamily="34" charset="0"/>
                <a:ea typeface="Calibri" pitchFamily="34" charset="-122"/>
                <a:cs typeface="Calibri" pitchFamily="34" charset="-120"/>
              </a:rPr>
              <a:t>BÖLÜM 2  ·  TERİM ÇEŞİTLERİ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2.e. Ölçü Birimleri  ·  2.g. Simgeler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114</a:t>
            </a:r>
            <a:endParaRPr lang="en-US" sz="1000" dirty="0"/>
          </a:p>
        </p:txBody>
      </p:sp>
      <p:sp>
        <p:nvSpPr>
          <p:cNvPr id="6" name="Shape 4"/>
          <p:cNvSpPr/>
          <p:nvPr/>
        </p:nvSpPr>
        <p:spPr>
          <a:xfrm>
            <a:off x="548640" y="1463040"/>
            <a:ext cx="5410048" cy="424434"/>
          </a:xfrm>
          <a:prstGeom prst="roundRect">
            <a:avLst>
              <a:gd name="adj" fmla="val 12926"/>
            </a:avLst>
          </a:prstGeom>
          <a:solidFill>
            <a:srgbClr val="DEDBF7"/>
          </a:solidFill>
          <a:ln/>
        </p:spPr>
      </p:sp>
      <p:sp>
        <p:nvSpPr>
          <p:cNvPr id="7" name="Text 5"/>
          <p:cNvSpPr txBox="1"/>
          <p:nvPr/>
        </p:nvSpPr>
        <p:spPr>
          <a:xfrm>
            <a:off x="685800" y="151790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2.g. Simgeler  </a:t>
            </a:r>
            <a:endParaRPr lang="en-US" sz="1500" dirty="0"/>
          </a:p>
        </p:txBody>
      </p:sp>
      <p:sp>
        <p:nvSpPr>
          <p:cNvPr id="8" name="Shape 6"/>
          <p:cNvSpPr/>
          <p:nvPr/>
        </p:nvSpPr>
        <p:spPr>
          <a:xfrm>
            <a:off x="548640" y="1978914"/>
            <a:ext cx="5410048" cy="424434"/>
          </a:xfrm>
          <a:prstGeom prst="roundRect">
            <a:avLst>
              <a:gd name="adj" fmla="val 12926"/>
            </a:avLst>
          </a:prstGeom>
          <a:solidFill>
            <a:srgbClr val="EEEDFB"/>
          </a:solidFill>
          <a:ln/>
        </p:spPr>
      </p:sp>
      <p:sp>
        <p:nvSpPr>
          <p:cNvPr id="9" name="Text 7"/>
          <p:cNvSpPr txBox="1"/>
          <p:nvPr/>
        </p:nvSpPr>
        <p:spPr>
          <a:xfrm>
            <a:off x="685800" y="203377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Eşittir (Equal)</a:t>
            </a:r>
            <a:endParaRPr lang="en-US" sz="1500" dirty="0"/>
          </a:p>
        </p:txBody>
      </p:sp>
      <p:sp>
        <p:nvSpPr>
          <p:cNvPr id="10" name="Shape 8"/>
          <p:cNvSpPr/>
          <p:nvPr/>
        </p:nvSpPr>
        <p:spPr>
          <a:xfrm>
            <a:off x="548640" y="2494788"/>
            <a:ext cx="5410048" cy="424434"/>
          </a:xfrm>
          <a:prstGeom prst="roundRect">
            <a:avLst>
              <a:gd name="adj" fmla="val 12926"/>
            </a:avLst>
          </a:prstGeom>
          <a:solidFill>
            <a:srgbClr val="EEEDFB"/>
          </a:solidFill>
          <a:ln/>
        </p:spPr>
      </p:sp>
      <p:sp>
        <p:nvSpPr>
          <p:cNvPr id="11" name="Text 9"/>
          <p:cNvSpPr txBox="1"/>
          <p:nvPr/>
        </p:nvSpPr>
        <p:spPr>
          <a:xfrm>
            <a:off x="685800" y="254965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Eşit değil (anequal)</a:t>
            </a:r>
            <a:endParaRPr lang="en-US" sz="1500" dirty="0"/>
          </a:p>
        </p:txBody>
      </p:sp>
      <p:sp>
        <p:nvSpPr>
          <p:cNvPr id="12" name="Shape 10"/>
          <p:cNvSpPr/>
          <p:nvPr/>
        </p:nvSpPr>
        <p:spPr>
          <a:xfrm>
            <a:off x="548640" y="3010662"/>
            <a:ext cx="5410048" cy="424434"/>
          </a:xfrm>
          <a:prstGeom prst="roundRect">
            <a:avLst>
              <a:gd name="adj" fmla="val 12926"/>
            </a:avLst>
          </a:prstGeom>
          <a:solidFill>
            <a:srgbClr val="EEEDFB"/>
          </a:solidFill>
          <a:ln/>
        </p:spPr>
      </p:sp>
      <p:sp>
        <p:nvSpPr>
          <p:cNvPr id="13" name="Text 11"/>
          <p:cNvSpPr txBox="1"/>
          <p:nvPr/>
        </p:nvSpPr>
        <p:spPr>
          <a:xfrm>
            <a:off x="685800" y="306552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Pozitif, müsper (positive)</a:t>
            </a:r>
            <a:endParaRPr lang="en-US" sz="1500" dirty="0"/>
          </a:p>
        </p:txBody>
      </p:sp>
      <p:sp>
        <p:nvSpPr>
          <p:cNvPr id="14" name="Shape 12"/>
          <p:cNvSpPr/>
          <p:nvPr/>
        </p:nvSpPr>
        <p:spPr>
          <a:xfrm>
            <a:off x="548640" y="3526536"/>
            <a:ext cx="5410048" cy="424434"/>
          </a:xfrm>
          <a:prstGeom prst="roundRect">
            <a:avLst>
              <a:gd name="adj" fmla="val 12926"/>
            </a:avLst>
          </a:prstGeom>
          <a:solidFill>
            <a:srgbClr val="EEEDFB"/>
          </a:solidFill>
          <a:ln/>
        </p:spPr>
      </p:sp>
      <p:sp>
        <p:nvSpPr>
          <p:cNvPr id="15" name="Text 13"/>
          <p:cNvSpPr txBox="1"/>
          <p:nvPr/>
        </p:nvSpPr>
        <p:spPr>
          <a:xfrm>
            <a:off x="685800" y="358140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Negatif, menfi, olumsuz (negative)</a:t>
            </a:r>
            <a:endParaRPr lang="en-US" sz="1500" dirty="0"/>
          </a:p>
        </p:txBody>
      </p:sp>
      <p:sp>
        <p:nvSpPr>
          <p:cNvPr id="16" name="Shape 14"/>
          <p:cNvSpPr/>
          <p:nvPr/>
        </p:nvSpPr>
        <p:spPr>
          <a:xfrm>
            <a:off x="548640" y="4042410"/>
            <a:ext cx="5410048" cy="424434"/>
          </a:xfrm>
          <a:prstGeom prst="roundRect">
            <a:avLst>
              <a:gd name="adj" fmla="val 12926"/>
            </a:avLst>
          </a:prstGeom>
          <a:solidFill>
            <a:srgbClr val="EEEDFB"/>
          </a:solidFill>
          <a:ln/>
        </p:spPr>
      </p:sp>
      <p:sp>
        <p:nvSpPr>
          <p:cNvPr id="17" name="Text 15"/>
          <p:cNvSpPr txBox="1"/>
          <p:nvPr/>
        </p:nvSpPr>
        <p:spPr>
          <a:xfrm>
            <a:off x="685800" y="409727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Pozitif veya negatif</a:t>
            </a:r>
            <a:endParaRPr lang="en-US" sz="1500" dirty="0"/>
          </a:p>
        </p:txBody>
      </p:sp>
      <p:sp>
        <p:nvSpPr>
          <p:cNvPr id="18" name="Shape 16"/>
          <p:cNvSpPr/>
          <p:nvPr/>
        </p:nvSpPr>
        <p:spPr>
          <a:xfrm>
            <a:off x="548640" y="4558284"/>
            <a:ext cx="5410048" cy="424434"/>
          </a:xfrm>
          <a:prstGeom prst="roundRect">
            <a:avLst>
              <a:gd name="adj" fmla="val 12926"/>
            </a:avLst>
          </a:prstGeom>
          <a:solidFill>
            <a:srgbClr val="EEEDFB"/>
          </a:solidFill>
          <a:ln/>
        </p:spPr>
      </p:sp>
      <p:sp>
        <p:nvSpPr>
          <p:cNvPr id="19" name="Text 17"/>
          <p:cNvSpPr txBox="1"/>
          <p:nvPr/>
        </p:nvSpPr>
        <p:spPr>
          <a:xfrm>
            <a:off x="685800" y="461314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Yukarıda, üstünde, artış (above, increase)</a:t>
            </a:r>
            <a:endParaRPr lang="en-US" sz="1500" dirty="0"/>
          </a:p>
        </p:txBody>
      </p:sp>
      <p:sp>
        <p:nvSpPr>
          <p:cNvPr id="20" name="Shape 18"/>
          <p:cNvSpPr/>
          <p:nvPr/>
        </p:nvSpPr>
        <p:spPr>
          <a:xfrm>
            <a:off x="548640" y="5074158"/>
            <a:ext cx="5410048" cy="424434"/>
          </a:xfrm>
          <a:prstGeom prst="roundRect">
            <a:avLst>
              <a:gd name="adj" fmla="val 12926"/>
            </a:avLst>
          </a:prstGeom>
          <a:solidFill>
            <a:srgbClr val="EEEDFB"/>
          </a:solidFill>
          <a:ln/>
        </p:spPr>
      </p:sp>
      <p:sp>
        <p:nvSpPr>
          <p:cNvPr id="21" name="Text 19"/>
          <p:cNvSpPr txBox="1"/>
          <p:nvPr/>
        </p:nvSpPr>
        <p:spPr>
          <a:xfrm>
            <a:off x="685800" y="512902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Aşağıda, altında, azalış (below,decrease)</a:t>
            </a:r>
            <a:endParaRPr lang="en-US" sz="1500" dirty="0"/>
          </a:p>
        </p:txBody>
      </p:sp>
      <p:sp>
        <p:nvSpPr>
          <p:cNvPr id="22" name="Shape 20"/>
          <p:cNvSpPr/>
          <p:nvPr/>
        </p:nvSpPr>
        <p:spPr>
          <a:xfrm>
            <a:off x="548640" y="5590032"/>
            <a:ext cx="5410048" cy="424434"/>
          </a:xfrm>
          <a:prstGeom prst="roundRect">
            <a:avLst>
              <a:gd name="adj" fmla="val 12926"/>
            </a:avLst>
          </a:prstGeom>
          <a:solidFill>
            <a:srgbClr val="EEEDFB"/>
          </a:solidFill>
          <a:ln/>
        </p:spPr>
      </p:sp>
      <p:sp>
        <p:nvSpPr>
          <p:cNvPr id="23" name="Text 21"/>
          <p:cNvSpPr txBox="1"/>
          <p:nvPr/>
        </p:nvSpPr>
        <p:spPr>
          <a:xfrm>
            <a:off x="685800" y="564489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Kadın (female)</a:t>
            </a:r>
            <a:endParaRPr lang="en-US" sz="1500" dirty="0"/>
          </a:p>
        </p:txBody>
      </p:sp>
      <p:sp>
        <p:nvSpPr>
          <p:cNvPr id="24" name="Shape 22"/>
          <p:cNvSpPr/>
          <p:nvPr/>
        </p:nvSpPr>
        <p:spPr>
          <a:xfrm>
            <a:off x="6233008" y="1463040"/>
            <a:ext cx="5410048" cy="424434"/>
          </a:xfrm>
          <a:prstGeom prst="roundRect">
            <a:avLst>
              <a:gd name="adj" fmla="val 12926"/>
            </a:avLst>
          </a:prstGeom>
          <a:solidFill>
            <a:srgbClr val="EEEDFB"/>
          </a:solidFill>
          <a:ln/>
        </p:spPr>
      </p:sp>
      <p:sp>
        <p:nvSpPr>
          <p:cNvPr id="25" name="Text 23"/>
          <p:cNvSpPr txBox="1"/>
          <p:nvPr/>
        </p:nvSpPr>
        <p:spPr>
          <a:xfrm>
            <a:off x="6370168" y="1517904"/>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Erkek (male)</a:t>
            </a:r>
            <a:endParaRPr lang="en-US" sz="1500" dirty="0"/>
          </a:p>
        </p:txBody>
      </p:sp>
      <p:sp>
        <p:nvSpPr>
          <p:cNvPr id="26" name="Shape 24"/>
          <p:cNvSpPr/>
          <p:nvPr/>
        </p:nvSpPr>
        <p:spPr>
          <a:xfrm>
            <a:off x="6233008" y="1978914"/>
            <a:ext cx="5410048" cy="424434"/>
          </a:xfrm>
          <a:prstGeom prst="roundRect">
            <a:avLst>
              <a:gd name="adj" fmla="val 12926"/>
            </a:avLst>
          </a:prstGeom>
          <a:solidFill>
            <a:srgbClr val="EEEDFB"/>
          </a:solidFill>
          <a:ln/>
        </p:spPr>
      </p:sp>
      <p:sp>
        <p:nvSpPr>
          <p:cNvPr id="27" name="Text 25"/>
          <p:cNvSpPr txBox="1"/>
          <p:nvPr/>
        </p:nvSpPr>
        <p:spPr>
          <a:xfrm>
            <a:off x="6370168" y="2033778"/>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&gt;  </a:t>
            </a:r>
            <a:r>
              <a:rPr lang="en-US" sz="1500" dirty="0">
                <a:solidFill>
                  <a:srgbClr val="1F2937"/>
                </a:solidFill>
                <a:latin typeface="Calibri" pitchFamily="34" charset="0"/>
                <a:ea typeface="Calibri" pitchFamily="34" charset="-122"/>
                <a:cs typeface="Calibri" pitchFamily="34" charset="-120"/>
              </a:rPr>
              <a:t>Büyüktür (is greater than)</a:t>
            </a:r>
            <a:endParaRPr lang="en-US" sz="1500" dirty="0"/>
          </a:p>
        </p:txBody>
      </p:sp>
      <p:sp>
        <p:nvSpPr>
          <p:cNvPr id="28" name="Shape 26"/>
          <p:cNvSpPr/>
          <p:nvPr/>
        </p:nvSpPr>
        <p:spPr>
          <a:xfrm>
            <a:off x="6233008" y="2494788"/>
            <a:ext cx="5410048" cy="424434"/>
          </a:xfrm>
          <a:prstGeom prst="roundRect">
            <a:avLst>
              <a:gd name="adj" fmla="val 12926"/>
            </a:avLst>
          </a:prstGeom>
          <a:solidFill>
            <a:srgbClr val="EEEDFB"/>
          </a:solidFill>
          <a:ln/>
        </p:spPr>
      </p:sp>
      <p:sp>
        <p:nvSpPr>
          <p:cNvPr id="29" name="Text 27"/>
          <p:cNvSpPr txBox="1"/>
          <p:nvPr/>
        </p:nvSpPr>
        <p:spPr>
          <a:xfrm>
            <a:off x="6370168" y="2549652"/>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&lt;  </a:t>
            </a:r>
            <a:r>
              <a:rPr lang="en-US" sz="1500" dirty="0">
                <a:solidFill>
                  <a:srgbClr val="1F2937"/>
                </a:solidFill>
                <a:latin typeface="Calibri" pitchFamily="34" charset="0"/>
                <a:ea typeface="Calibri" pitchFamily="34" charset="-122"/>
                <a:cs typeface="Calibri" pitchFamily="34" charset="-120"/>
              </a:rPr>
              <a:t>Küçüktür (is less than)</a:t>
            </a:r>
            <a:endParaRPr lang="en-US" sz="1500" dirty="0"/>
          </a:p>
        </p:txBody>
      </p:sp>
      <p:sp>
        <p:nvSpPr>
          <p:cNvPr id="30" name="Shape 28"/>
          <p:cNvSpPr/>
          <p:nvPr/>
        </p:nvSpPr>
        <p:spPr>
          <a:xfrm>
            <a:off x="6233008" y="3010662"/>
            <a:ext cx="5410048" cy="424434"/>
          </a:xfrm>
          <a:prstGeom prst="roundRect">
            <a:avLst>
              <a:gd name="adj" fmla="val 12926"/>
            </a:avLst>
          </a:prstGeom>
          <a:solidFill>
            <a:srgbClr val="EEEDFB"/>
          </a:solidFill>
          <a:ln/>
        </p:spPr>
      </p:sp>
      <p:sp>
        <p:nvSpPr>
          <p:cNvPr id="31" name="Text 29"/>
          <p:cNvSpPr txBox="1"/>
          <p:nvPr/>
        </p:nvSpPr>
        <p:spPr>
          <a:xfrm>
            <a:off x="6370168" y="3065526"/>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Yüzde (percent)</a:t>
            </a:r>
            <a:endParaRPr lang="en-US" sz="1500" dirty="0"/>
          </a:p>
        </p:txBody>
      </p:sp>
      <p:sp>
        <p:nvSpPr>
          <p:cNvPr id="32" name="Shape 30"/>
          <p:cNvSpPr/>
          <p:nvPr/>
        </p:nvSpPr>
        <p:spPr>
          <a:xfrm>
            <a:off x="6233008" y="3526536"/>
            <a:ext cx="5410048" cy="424434"/>
          </a:xfrm>
          <a:prstGeom prst="roundRect">
            <a:avLst>
              <a:gd name="adj" fmla="val 12926"/>
            </a:avLst>
          </a:prstGeom>
          <a:solidFill>
            <a:srgbClr val="EEEDFB"/>
          </a:solidFill>
          <a:ln/>
        </p:spPr>
      </p:sp>
      <p:sp>
        <p:nvSpPr>
          <p:cNvPr id="33" name="Text 31"/>
          <p:cNvSpPr txBox="1"/>
          <p:nvPr/>
        </p:nvSpPr>
        <p:spPr>
          <a:xfrm>
            <a:off x="6370168" y="3581400"/>
            <a:ext cx="5135728" cy="31470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º  </a:t>
            </a:r>
            <a:r>
              <a:rPr lang="en-US" sz="1500" dirty="0">
                <a:solidFill>
                  <a:srgbClr val="1F2937"/>
                </a:solidFill>
                <a:latin typeface="Calibri" pitchFamily="34" charset="0"/>
                <a:ea typeface="Calibri" pitchFamily="34" charset="-122"/>
                <a:cs typeface="Calibri" pitchFamily="34" charset="-120"/>
              </a:rPr>
              <a:t>Derece, saat (degree, hour)</a:t>
            </a:r>
            <a:endParaRPr lang="en-US" sz="1500" dirty="0"/>
          </a:p>
        </p:txBody>
      </p:sp>
      <p:sp>
        <p:nvSpPr>
          <p:cNvPr id="34" name="Shape 32"/>
          <p:cNvSpPr/>
          <p:nvPr/>
        </p:nvSpPr>
        <p:spPr>
          <a:xfrm>
            <a:off x="6233008" y="4042410"/>
            <a:ext cx="5410048" cy="656844"/>
          </a:xfrm>
          <a:prstGeom prst="roundRect">
            <a:avLst>
              <a:gd name="adj" fmla="val 8353"/>
            </a:avLst>
          </a:prstGeom>
          <a:solidFill>
            <a:srgbClr val="EEEDFB"/>
          </a:solidFill>
          <a:ln/>
        </p:spPr>
      </p:sp>
      <p:sp>
        <p:nvSpPr>
          <p:cNvPr id="35" name="Text 33"/>
          <p:cNvSpPr txBox="1"/>
          <p:nvPr/>
        </p:nvSpPr>
        <p:spPr>
          <a:xfrm>
            <a:off x="6370168" y="4097274"/>
            <a:ext cx="5135728" cy="547116"/>
          </a:xfrm>
          <a:prstGeom prst="rect">
            <a:avLst/>
          </a:prstGeom>
          <a:noFill/>
          <a:ln/>
        </p:spPr>
        <p:txBody>
          <a:bodyPr wrap="square" lIns="0" tIns="0" rIns="0" bIns="0" rtlCol="0" anchor="t"/>
          <a:lstStyle/>
          <a:p>
            <a:pPr marL="0" indent="0">
              <a:lnSpc>
                <a:spcPct val="105000"/>
              </a:lnSpc>
              <a:buNone/>
            </a:pPr>
            <a:r>
              <a:rPr lang="en-US" sz="1500" b="1" dirty="0">
                <a:solidFill>
                  <a:srgbClr val="4338CA"/>
                </a:solidFill>
                <a:latin typeface="Calibri" pitchFamily="34" charset="0"/>
                <a:ea typeface="Calibri" pitchFamily="34" charset="-122"/>
                <a:cs typeface="Calibri" pitchFamily="34" charset="-120"/>
              </a:rPr>
              <a:t>≌  </a:t>
            </a:r>
            <a:r>
              <a:rPr lang="en-US" sz="1500" dirty="0">
                <a:solidFill>
                  <a:srgbClr val="1F2937"/>
                </a:solidFill>
                <a:latin typeface="Calibri" pitchFamily="34" charset="0"/>
                <a:ea typeface="Calibri" pitchFamily="34" charset="-122"/>
                <a:cs typeface="Calibri" pitchFamily="34" charset="-120"/>
              </a:rPr>
              <a:t>Yaklaşık olarak, yakında, civaronda (approximately, about)</a:t>
            </a:r>
            <a:endParaRPr lang="en-US" sz="15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7F2F9"/>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D2E6F3"/>
                </a:solidFill>
                <a:latin typeface="Cambria" pitchFamily="34" charset="0"/>
                <a:ea typeface="Cambria" pitchFamily="34" charset="-122"/>
                <a:cs typeface="Cambria" pitchFamily="34" charset="-120"/>
              </a:rPr>
              <a:t>03</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0369A1"/>
                </a:solidFill>
                <a:latin typeface="Calibri" pitchFamily="34" charset="0"/>
                <a:ea typeface="Calibri" pitchFamily="34" charset="-122"/>
                <a:cs typeface="Calibri" pitchFamily="34" charset="-120"/>
              </a:rPr>
              <a:t>BÖLÜM 3</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TANISAL TERİMLER</a:t>
            </a:r>
            <a:endParaRPr lang="en-US" sz="3600" dirty="0"/>
          </a:p>
        </p:txBody>
      </p:sp>
      <p:sp>
        <p:nvSpPr>
          <p:cNvPr id="7" name="Shape 5"/>
          <p:cNvSpPr/>
          <p:nvPr/>
        </p:nvSpPr>
        <p:spPr>
          <a:xfrm>
            <a:off x="8503920" y="2331720"/>
            <a:ext cx="2194560" cy="2194560"/>
          </a:xfrm>
          <a:prstGeom prst="ellipse">
            <a:avLst/>
          </a:prstGeom>
          <a:solidFill>
            <a:srgbClr val="E7F2F9"/>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117</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118</a:t>
            </a:r>
            <a:endParaRPr lang="en-US" sz="1000" dirty="0"/>
          </a:p>
        </p:txBody>
      </p:sp>
      <p:sp>
        <p:nvSpPr>
          <p:cNvPr id="6" name="Shape 4"/>
          <p:cNvSpPr/>
          <p:nvPr/>
        </p:nvSpPr>
        <p:spPr>
          <a:xfrm>
            <a:off x="548640" y="2158390"/>
            <a:ext cx="11094415" cy="1225702"/>
          </a:xfrm>
          <a:prstGeom prst="roundRect">
            <a:avLst>
              <a:gd name="adj" fmla="val 5222"/>
            </a:avLst>
          </a:prstGeom>
          <a:solidFill>
            <a:srgbClr val="E7F2F9"/>
          </a:solidFill>
          <a:ln/>
        </p:spPr>
      </p:sp>
      <p:sp>
        <p:nvSpPr>
          <p:cNvPr id="7" name="Text 5"/>
          <p:cNvSpPr txBox="1"/>
          <p:nvPr/>
        </p:nvSpPr>
        <p:spPr>
          <a:xfrm>
            <a:off x="704088" y="2231542"/>
            <a:ext cx="10783519" cy="1079398"/>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Radyoloji: </a:t>
            </a:r>
            <a:r>
              <a:rPr lang="en-US" sz="1600" dirty="0">
                <a:solidFill>
                  <a:srgbClr val="1F2937"/>
                </a:solidFill>
                <a:latin typeface="Calibri" pitchFamily="34" charset="0"/>
                <a:ea typeface="Calibri" pitchFamily="34" charset="-122"/>
                <a:cs typeface="Calibri" pitchFamily="34" charset="-120"/>
              </a:rPr>
              <a:t>Yunanca ‘‘radio ışın, logos bilim’’ sözcüklerinden oluşan tıp terimidir. Türkçe karşılığı ‘‘ışınbilim’’dir. Hastalıkalrın tanısı için X ışınları, ultrason ve magnetik rezonans gibi teknolojileri kullanır. İnsan vücudunun görüntülerini yorumlayan tıp dalıdır. Radyoloji, sadece tanı koymaz, bazı hastalıklarda tedavi de uygular. Radyoloji fizik ve kimya bilimleriyle yakından ilgilidir.</a:t>
            </a:r>
            <a:endParaRPr lang="en-US" sz="1600" dirty="0"/>
          </a:p>
        </p:txBody>
      </p:sp>
      <p:sp>
        <p:nvSpPr>
          <p:cNvPr id="8" name="Shape 6"/>
          <p:cNvSpPr/>
          <p:nvPr/>
        </p:nvSpPr>
        <p:spPr>
          <a:xfrm>
            <a:off x="548640" y="3475533"/>
            <a:ext cx="11094415" cy="729894"/>
          </a:xfrm>
          <a:prstGeom prst="roundRect">
            <a:avLst>
              <a:gd name="adj" fmla="val 8769"/>
            </a:avLst>
          </a:prstGeom>
          <a:solidFill>
            <a:srgbClr val="E7F2F9"/>
          </a:solidFill>
          <a:ln/>
        </p:spPr>
      </p:sp>
      <p:sp>
        <p:nvSpPr>
          <p:cNvPr id="9" name="Text 7"/>
          <p:cNvSpPr txBox="1"/>
          <p:nvPr/>
        </p:nvSpPr>
        <p:spPr>
          <a:xfrm>
            <a:off x="704088" y="3548685"/>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X-Işınları: </a:t>
            </a:r>
            <a:r>
              <a:rPr lang="en-US" sz="1600" dirty="0">
                <a:solidFill>
                  <a:srgbClr val="1F2937"/>
                </a:solidFill>
                <a:latin typeface="Calibri" pitchFamily="34" charset="0"/>
                <a:ea typeface="Calibri" pitchFamily="34" charset="-122"/>
                <a:cs typeface="Calibri" pitchFamily="34" charset="-120"/>
              </a:rPr>
              <a:t>Bir enerji kaynağı tarafından (X ışını cihazı veya katot ışın tüpü) üretilen görünmez enerji dalgalarıdır. Hastalıkların tanısında ve tedavisinde kullanılır.</a:t>
            </a:r>
            <a:endParaRPr lang="en-US" sz="1600" dirty="0"/>
          </a:p>
        </p:txBody>
      </p:sp>
      <p:sp>
        <p:nvSpPr>
          <p:cNvPr id="10" name="Shape 8"/>
          <p:cNvSpPr/>
          <p:nvPr/>
        </p:nvSpPr>
        <p:spPr>
          <a:xfrm>
            <a:off x="548640" y="4296867"/>
            <a:ext cx="11094415" cy="1225702"/>
          </a:xfrm>
          <a:prstGeom prst="roundRect">
            <a:avLst>
              <a:gd name="adj" fmla="val 5222"/>
            </a:avLst>
          </a:prstGeom>
          <a:solidFill>
            <a:srgbClr val="E7F2F9"/>
          </a:solidFill>
          <a:ln/>
        </p:spPr>
      </p:sp>
      <p:sp>
        <p:nvSpPr>
          <p:cNvPr id="11" name="Text 9"/>
          <p:cNvSpPr txBox="1"/>
          <p:nvPr/>
        </p:nvSpPr>
        <p:spPr>
          <a:xfrm>
            <a:off x="704088" y="4370019"/>
            <a:ext cx="10783519" cy="1079398"/>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Dijital radyografi: </a:t>
            </a:r>
            <a:r>
              <a:rPr lang="en-US" sz="1600" dirty="0">
                <a:solidFill>
                  <a:srgbClr val="1F2937"/>
                </a:solidFill>
                <a:latin typeface="Calibri" pitchFamily="34" charset="0"/>
                <a:ea typeface="Calibri" pitchFamily="34" charset="-122"/>
                <a:cs typeface="Calibri" pitchFamily="34" charset="-120"/>
              </a:rPr>
              <a:t>X-Işını ile görüntülemenin bir şeklidir. Dijital X-ışını sensörleri geleneksel fotografik film yerine kullanılır. Bu teknikle görüntüler daha kaliteli bir hale getirilir. Geleneksel radyografiden daha az radyasyon kullanır. Akciğer filminde en sık kullanılan görüntüleme yöntemidir. Bir diğer sık kullanımı diş hekimliğinde çürüklerin yerinin saptanmasıdır. Mamografide meme dokusunun görüntülemede de kullanılır.</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119</a:t>
            </a:r>
            <a:endParaRPr lang="en-US" sz="1000" dirty="0"/>
          </a:p>
        </p:txBody>
      </p:sp>
      <p:sp>
        <p:nvSpPr>
          <p:cNvPr id="6" name="Shape 4"/>
          <p:cNvSpPr/>
          <p:nvPr/>
        </p:nvSpPr>
        <p:spPr>
          <a:xfrm>
            <a:off x="548640" y="2073250"/>
            <a:ext cx="11094415" cy="2217318"/>
          </a:xfrm>
          <a:prstGeom prst="roundRect">
            <a:avLst>
              <a:gd name="adj" fmla="val 2887"/>
            </a:avLst>
          </a:prstGeom>
          <a:solidFill>
            <a:srgbClr val="E7F2F9"/>
          </a:solidFill>
          <a:ln/>
        </p:spPr>
      </p:sp>
      <p:sp>
        <p:nvSpPr>
          <p:cNvPr id="7" name="Text 5"/>
          <p:cNvSpPr txBox="1"/>
          <p:nvPr/>
        </p:nvSpPr>
        <p:spPr>
          <a:xfrm>
            <a:off x="704088" y="2146402"/>
            <a:ext cx="10783519" cy="207101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Bilgisayarlı Tomografi (Tomografi, BT): </a:t>
            </a:r>
            <a:r>
              <a:rPr lang="en-US" sz="1600" dirty="0">
                <a:solidFill>
                  <a:srgbClr val="1F2937"/>
                </a:solidFill>
                <a:latin typeface="Calibri" pitchFamily="34" charset="0"/>
                <a:ea typeface="Calibri" pitchFamily="34" charset="-122"/>
                <a:cs typeface="Calibri" pitchFamily="34" charset="-120"/>
              </a:rPr>
              <a:t>İnceleme, hastanın vücudunun bir kısmına farklı açılardan X ışını gönderilmesiyle oluşur. Bu X ışınlarının hepsinin emilmesi, vücudu geçtikten sonra kaydedilir ve bilgisayarlar tarafından çok sayıda kesitsel görüntü oluşturmak için kullanılır. BT cihazının anormallikleri saptamadaki gücü, iyot içeren kontrast maddelerin kullanımı ile artar. Kontrast madde kan damarını daha net gösterir ve yumuşak dokulara ek densite katar. Damara verilir. BR inceleme, kemik hastalıklarını saptamada yüksek duyarlılığa sahiptir. Normal röntgen incelemelerde saptanması mümkün olmayan iç organların görüntülerinin oluşmasını sağlar. Yani ultra hızlı BT cihazları, kalbin ve çevresindeki kan damarlarının üç boyutlu görüntülerini oluşturabilir.</a:t>
            </a:r>
            <a:endParaRPr lang="en-US" sz="1600" dirty="0"/>
          </a:p>
        </p:txBody>
      </p:sp>
      <p:sp>
        <p:nvSpPr>
          <p:cNvPr id="8" name="Shape 6"/>
          <p:cNvSpPr/>
          <p:nvPr/>
        </p:nvSpPr>
        <p:spPr>
          <a:xfrm>
            <a:off x="548640" y="4382008"/>
            <a:ext cx="11094415" cy="1225702"/>
          </a:xfrm>
          <a:prstGeom prst="roundRect">
            <a:avLst>
              <a:gd name="adj" fmla="val 5222"/>
            </a:avLst>
          </a:prstGeom>
          <a:solidFill>
            <a:srgbClr val="E7F2F9"/>
          </a:solidFill>
          <a:ln/>
        </p:spPr>
      </p:sp>
      <p:sp>
        <p:nvSpPr>
          <p:cNvPr id="9" name="Text 7"/>
          <p:cNvSpPr txBox="1"/>
          <p:nvPr/>
        </p:nvSpPr>
        <p:spPr>
          <a:xfrm>
            <a:off x="704088" y="4455160"/>
            <a:ext cx="10783519" cy="1079398"/>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Radyografi: </a:t>
            </a:r>
            <a:r>
              <a:rPr lang="en-US" sz="1600" dirty="0">
                <a:solidFill>
                  <a:srgbClr val="1F2937"/>
                </a:solidFill>
                <a:latin typeface="Calibri" pitchFamily="34" charset="0"/>
                <a:ea typeface="Calibri" pitchFamily="34" charset="-122"/>
                <a:cs typeface="Calibri" pitchFamily="34" charset="-120"/>
              </a:rPr>
              <a:t>Vücut dokularının farklı dansiteleri (örneğin, akciğerlerdeki hava veya kemikteki kalsiyum) röntgen filminde farklı yoğunlukta gölgeler oluşturur. Eğer X ışınları birbirine benzer dansitede iki vücut parçasından geçtiğinde, gölgeleri birbirinden ayrılamaz. Kontrast madde verilerek daha net görüntüleme sağlanabilir. Baryum sülfat ve iyotlu bileşenler tanısal radyolojik çalışmalarda kullanılan kontrast maddelerdir.</a:t>
            </a:r>
            <a:endParaRPr lang="en-US" sz="16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120</a:t>
            </a:r>
            <a:endParaRPr lang="en-US" sz="1000" dirty="0"/>
          </a:p>
        </p:txBody>
      </p:sp>
      <p:sp>
        <p:nvSpPr>
          <p:cNvPr id="6" name="Shape 4"/>
          <p:cNvSpPr/>
          <p:nvPr/>
        </p:nvSpPr>
        <p:spPr>
          <a:xfrm>
            <a:off x="548640" y="2209089"/>
            <a:ext cx="11094415" cy="638658"/>
          </a:xfrm>
          <a:prstGeom prst="roundRect">
            <a:avLst>
              <a:gd name="adj" fmla="val 10022"/>
            </a:avLst>
          </a:prstGeom>
          <a:solidFill>
            <a:srgbClr val="E7F2F9"/>
          </a:solidFill>
          <a:ln/>
        </p:spPr>
      </p:sp>
      <p:sp>
        <p:nvSpPr>
          <p:cNvPr id="7" name="Text 5"/>
          <p:cNvSpPr txBox="1"/>
          <p:nvPr/>
        </p:nvSpPr>
        <p:spPr>
          <a:xfrm>
            <a:off x="704088" y="228224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Anjiyografi: </a:t>
            </a:r>
            <a:r>
              <a:rPr lang="en-US" sz="1400" dirty="0">
                <a:solidFill>
                  <a:srgbClr val="1F2937"/>
                </a:solidFill>
                <a:latin typeface="Calibri" pitchFamily="34" charset="0"/>
                <a:ea typeface="Calibri" pitchFamily="34" charset="-122"/>
                <a:cs typeface="Calibri" pitchFamily="34" charset="-120"/>
              </a:rPr>
              <a:t>Bir kateter yardımıyla kan damarına veya kalp boşluğuna kontrast madde enjekte edildikten sonra kan damarları ve kalp boşluklarının X ışınlarıyla görüntülenmesidir.</a:t>
            </a:r>
            <a:endParaRPr lang="en-US" sz="1400" dirty="0"/>
          </a:p>
        </p:txBody>
      </p:sp>
      <p:sp>
        <p:nvSpPr>
          <p:cNvPr id="8" name="Shape 6"/>
          <p:cNvSpPr/>
          <p:nvPr/>
        </p:nvSpPr>
        <p:spPr>
          <a:xfrm>
            <a:off x="548640" y="2939186"/>
            <a:ext cx="11094415" cy="638658"/>
          </a:xfrm>
          <a:prstGeom prst="roundRect">
            <a:avLst>
              <a:gd name="adj" fmla="val 10022"/>
            </a:avLst>
          </a:prstGeom>
          <a:solidFill>
            <a:srgbClr val="E7F2F9"/>
          </a:solidFill>
          <a:ln/>
        </p:spPr>
      </p:sp>
      <p:sp>
        <p:nvSpPr>
          <p:cNvPr id="9" name="Text 7"/>
          <p:cNvSpPr txBox="1"/>
          <p:nvPr/>
        </p:nvSpPr>
        <p:spPr>
          <a:xfrm>
            <a:off x="704088" y="3012338"/>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Dijital Substraksiyon Anjiyografi (DSA): </a:t>
            </a:r>
            <a:r>
              <a:rPr lang="en-US" sz="1400" dirty="0">
                <a:solidFill>
                  <a:srgbClr val="1F2937"/>
                </a:solidFill>
                <a:latin typeface="Calibri" pitchFamily="34" charset="0"/>
                <a:ea typeface="Calibri" pitchFamily="34" charset="-122"/>
                <a:cs typeface="Calibri" pitchFamily="34" charset="-120"/>
              </a:rPr>
              <a:t>Kontrast madde enjekte edilmiş kan damarının görüntüsünün, daha önce elde edilmiş kontrastsız görüntüden bilgisayar programı yardımıyla çıkarılarak, sadece kan damarlarının görüntülenmesidir.</a:t>
            </a:r>
            <a:endParaRPr lang="en-US" sz="1400" dirty="0"/>
          </a:p>
        </p:txBody>
      </p:sp>
      <p:sp>
        <p:nvSpPr>
          <p:cNvPr id="10" name="Shape 8"/>
          <p:cNvSpPr/>
          <p:nvPr/>
        </p:nvSpPr>
        <p:spPr>
          <a:xfrm>
            <a:off x="548640" y="3669284"/>
            <a:ext cx="11094415" cy="638658"/>
          </a:xfrm>
          <a:prstGeom prst="roundRect">
            <a:avLst>
              <a:gd name="adj" fmla="val 10022"/>
            </a:avLst>
          </a:prstGeom>
          <a:solidFill>
            <a:srgbClr val="E7F2F9"/>
          </a:solidFill>
          <a:ln/>
        </p:spPr>
      </p:sp>
      <p:sp>
        <p:nvSpPr>
          <p:cNvPr id="11" name="Text 9"/>
          <p:cNvSpPr txBox="1"/>
          <p:nvPr/>
        </p:nvSpPr>
        <p:spPr>
          <a:xfrm>
            <a:off x="704088" y="3742436"/>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Çift Kontrastlı Çalışma: </a:t>
            </a:r>
            <a:r>
              <a:rPr lang="en-US" sz="1400" dirty="0">
                <a:solidFill>
                  <a:srgbClr val="1F2937"/>
                </a:solidFill>
                <a:latin typeface="Calibri" pitchFamily="34" charset="0"/>
                <a:ea typeface="Calibri" pitchFamily="34" charset="-122"/>
                <a:cs typeface="Calibri" pitchFamily="34" charset="-120"/>
              </a:rPr>
              <a:t>Hem radyoopak hem de radyolusent kontrast madde kullanılır. Örneğin mide ve bağırsağın duvarları baryumla kaplanır ve lümen hava ile dolar. Bu görüntüler ile mukozal lezyonlar saptanır.</a:t>
            </a:r>
            <a:endParaRPr lang="en-US" sz="1400" dirty="0"/>
          </a:p>
        </p:txBody>
      </p:sp>
      <p:sp>
        <p:nvSpPr>
          <p:cNvPr id="12" name="Shape 10"/>
          <p:cNvSpPr/>
          <p:nvPr/>
        </p:nvSpPr>
        <p:spPr>
          <a:xfrm>
            <a:off x="548640" y="4399382"/>
            <a:ext cx="11094415" cy="1072490"/>
          </a:xfrm>
          <a:prstGeom prst="roundRect">
            <a:avLst>
              <a:gd name="adj" fmla="val 5968"/>
            </a:avLst>
          </a:prstGeom>
          <a:solidFill>
            <a:srgbClr val="E7F2F9"/>
          </a:solidFill>
          <a:ln/>
        </p:spPr>
      </p:sp>
      <p:sp>
        <p:nvSpPr>
          <p:cNvPr id="13" name="Text 11"/>
          <p:cNvSpPr txBox="1"/>
          <p:nvPr/>
        </p:nvSpPr>
        <p:spPr>
          <a:xfrm>
            <a:off x="704088" y="4472534"/>
            <a:ext cx="10783519" cy="926186"/>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Kolanjiyografi: </a:t>
            </a:r>
            <a:r>
              <a:rPr lang="en-US" sz="1400" dirty="0">
                <a:solidFill>
                  <a:srgbClr val="1F2937"/>
                </a:solidFill>
                <a:latin typeface="Calibri" pitchFamily="34" charset="0"/>
                <a:ea typeface="Calibri" pitchFamily="34" charset="-122"/>
                <a:cs typeface="Calibri" pitchFamily="34" charset="-120"/>
              </a:rPr>
              <a:t>Safra yollarının kontrast madde verilmesi sonrasında X ışınlarıyla görüntülenmesidir. Ana safra yoluna (duc choledochus) kontrast madde enjekte edilmesiyle elde edilir. Kısaca ERKP (Endoskopik Retrograd Kolanjiyografi) denir. Safra kesesi ve biliar sistemin cerrahisi sırasında yapılmasına intraoperatif kolanjiyografi denir. Kontrast madde enjeksiyonu deriden karaciğere iğne yoluyla ulaşılarak yapılırsa buna peruktan transhepatik kolanjiyografi denir.</a:t>
            </a:r>
            <a:endParaRPr lang="en-US" sz="1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121</a:t>
            </a:r>
            <a:endParaRPr lang="en-US" sz="1000" dirty="0"/>
          </a:p>
        </p:txBody>
      </p:sp>
      <p:sp>
        <p:nvSpPr>
          <p:cNvPr id="6" name="Shape 4"/>
          <p:cNvSpPr/>
          <p:nvPr/>
        </p:nvSpPr>
        <p:spPr>
          <a:xfrm>
            <a:off x="548640" y="1594460"/>
            <a:ext cx="11094415" cy="775513"/>
          </a:xfrm>
          <a:prstGeom prst="roundRect">
            <a:avLst>
              <a:gd name="adj" fmla="val 8254"/>
            </a:avLst>
          </a:prstGeom>
          <a:solidFill>
            <a:srgbClr val="E7F2F9"/>
          </a:solidFill>
          <a:ln/>
        </p:spPr>
      </p:sp>
      <p:sp>
        <p:nvSpPr>
          <p:cNvPr id="7" name="Text 5"/>
          <p:cNvSpPr txBox="1"/>
          <p:nvPr/>
        </p:nvSpPr>
        <p:spPr>
          <a:xfrm>
            <a:off x="704088" y="1667612"/>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Miyelografi: </a:t>
            </a:r>
            <a:r>
              <a:rPr lang="en-US" sz="1700" dirty="0">
                <a:solidFill>
                  <a:srgbClr val="1F2937"/>
                </a:solidFill>
                <a:latin typeface="Calibri" pitchFamily="34" charset="0"/>
                <a:ea typeface="Calibri" pitchFamily="34" charset="-122"/>
                <a:cs typeface="Calibri" pitchFamily="34" charset="-120"/>
              </a:rPr>
              <a:t>Omuriliğin çevresindeki subaraknoidal aralığa kontrast madde enjekte edildikten sonra spinalkordun X ışınıyla görüntülenmesidir. Tümör, yırtıklar ve fıtıklar görüntülenir.</a:t>
            </a:r>
            <a:endParaRPr lang="en-US" sz="1700" dirty="0"/>
          </a:p>
        </p:txBody>
      </p:sp>
      <p:sp>
        <p:nvSpPr>
          <p:cNvPr id="8" name="Shape 6"/>
          <p:cNvSpPr/>
          <p:nvPr/>
        </p:nvSpPr>
        <p:spPr>
          <a:xfrm>
            <a:off x="548640" y="2461412"/>
            <a:ext cx="11094415" cy="775513"/>
          </a:xfrm>
          <a:prstGeom prst="roundRect">
            <a:avLst>
              <a:gd name="adj" fmla="val 8254"/>
            </a:avLst>
          </a:prstGeom>
          <a:solidFill>
            <a:srgbClr val="E7F2F9"/>
          </a:solidFill>
          <a:ln/>
        </p:spPr>
      </p:sp>
      <p:sp>
        <p:nvSpPr>
          <p:cNvPr id="9" name="Text 7"/>
          <p:cNvSpPr txBox="1"/>
          <p:nvPr/>
        </p:nvSpPr>
        <p:spPr>
          <a:xfrm>
            <a:off x="704088" y="2534564"/>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Histerosalpinografi: </a:t>
            </a:r>
            <a:r>
              <a:rPr lang="en-US" sz="1700" dirty="0">
                <a:solidFill>
                  <a:srgbClr val="1F2937"/>
                </a:solidFill>
                <a:latin typeface="Calibri" pitchFamily="34" charset="0"/>
                <a:ea typeface="Calibri" pitchFamily="34" charset="-122"/>
                <a:cs typeface="Calibri" pitchFamily="34" charset="-120"/>
              </a:rPr>
              <a:t>Vajenden endoservikal kanala kontrast madde edilerek endometriyal boşluk (kavite, uterus boşluğu) ve Fallopian tüplerinin (tuba uterina) açık olup olmadığı saptanır.</a:t>
            </a:r>
            <a:endParaRPr lang="en-US" sz="1700" dirty="0"/>
          </a:p>
        </p:txBody>
      </p:sp>
      <p:sp>
        <p:nvSpPr>
          <p:cNvPr id="10" name="Shape 8"/>
          <p:cNvSpPr/>
          <p:nvPr/>
        </p:nvSpPr>
        <p:spPr>
          <a:xfrm>
            <a:off x="548640" y="3328365"/>
            <a:ext cx="11094415" cy="775513"/>
          </a:xfrm>
          <a:prstGeom prst="roundRect">
            <a:avLst>
              <a:gd name="adj" fmla="val 8254"/>
            </a:avLst>
          </a:prstGeom>
          <a:solidFill>
            <a:srgbClr val="E7F2F9"/>
          </a:solidFill>
          <a:ln/>
        </p:spPr>
      </p:sp>
      <p:sp>
        <p:nvSpPr>
          <p:cNvPr id="11" name="Text 9"/>
          <p:cNvSpPr txBox="1"/>
          <p:nvPr/>
        </p:nvSpPr>
        <p:spPr>
          <a:xfrm>
            <a:off x="704088" y="3401517"/>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Floroskopi (skopi): </a:t>
            </a:r>
            <a:r>
              <a:rPr lang="en-US" sz="1700" dirty="0">
                <a:solidFill>
                  <a:srgbClr val="1F2937"/>
                </a:solidFill>
                <a:latin typeface="Calibri" pitchFamily="34" charset="0"/>
                <a:ea typeface="Calibri" pitchFamily="34" charset="-122"/>
                <a:cs typeface="Calibri" pitchFamily="34" charset="-120"/>
              </a:rPr>
              <a:t>X ışınları ve floroskopi ekranı kullanılarak vücudun gerçek zamanlı video görüntüleri oluşturulmasıdır. Girişimsel radyoloji işlemleri floroskopi kullanılark yapılır.</a:t>
            </a:r>
            <a:endParaRPr lang="en-US" sz="1700" dirty="0"/>
          </a:p>
        </p:txBody>
      </p:sp>
      <p:sp>
        <p:nvSpPr>
          <p:cNvPr id="12" name="Shape 10"/>
          <p:cNvSpPr/>
          <p:nvPr/>
        </p:nvSpPr>
        <p:spPr>
          <a:xfrm>
            <a:off x="548640" y="4326738"/>
            <a:ext cx="11094415" cy="512115"/>
          </a:xfrm>
          <a:prstGeom prst="roundRect">
            <a:avLst>
              <a:gd name="adj" fmla="val 12499"/>
            </a:avLst>
          </a:prstGeom>
          <a:solidFill>
            <a:srgbClr val="E7F2F9"/>
          </a:solidFill>
          <a:ln/>
        </p:spPr>
      </p:sp>
      <p:sp>
        <p:nvSpPr>
          <p:cNvPr id="13" name="Text 11"/>
          <p:cNvSpPr txBox="1"/>
          <p:nvPr/>
        </p:nvSpPr>
        <p:spPr>
          <a:xfrm>
            <a:off x="704088" y="4399890"/>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Piyelografi: </a:t>
            </a:r>
            <a:r>
              <a:rPr lang="en-US" sz="1700" dirty="0">
                <a:solidFill>
                  <a:srgbClr val="1F2937"/>
                </a:solidFill>
                <a:latin typeface="Calibri" pitchFamily="34" charset="0"/>
                <a:ea typeface="Calibri" pitchFamily="34" charset="-122"/>
                <a:cs typeface="Calibri" pitchFamily="34" charset="-120"/>
              </a:rPr>
              <a:t>Renal pelvis ve üriner sistemin X ışınlarıyla görüntülenmesidir.</a:t>
            </a:r>
            <a:endParaRPr lang="en-US" sz="1700" dirty="0"/>
          </a:p>
        </p:txBody>
      </p:sp>
      <p:sp>
        <p:nvSpPr>
          <p:cNvPr id="14" name="Shape 12"/>
          <p:cNvSpPr/>
          <p:nvPr/>
        </p:nvSpPr>
        <p:spPr>
          <a:xfrm>
            <a:off x="548640" y="4930292"/>
            <a:ext cx="11094415" cy="512115"/>
          </a:xfrm>
          <a:prstGeom prst="roundRect">
            <a:avLst>
              <a:gd name="adj" fmla="val 12499"/>
            </a:avLst>
          </a:prstGeom>
          <a:solidFill>
            <a:srgbClr val="E7F2F9"/>
          </a:solidFill>
          <a:ln/>
        </p:spPr>
      </p:sp>
      <p:sp>
        <p:nvSpPr>
          <p:cNvPr id="15" name="Text 13"/>
          <p:cNvSpPr txBox="1"/>
          <p:nvPr/>
        </p:nvSpPr>
        <p:spPr>
          <a:xfrm>
            <a:off x="704088" y="5003444"/>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Ürografi: </a:t>
            </a:r>
            <a:r>
              <a:rPr lang="en-US" sz="1700" dirty="0">
                <a:solidFill>
                  <a:srgbClr val="1F2937"/>
                </a:solidFill>
                <a:latin typeface="Calibri" pitchFamily="34" charset="0"/>
                <a:ea typeface="Calibri" pitchFamily="34" charset="-122"/>
                <a:cs typeface="Calibri" pitchFamily="34" charset="-120"/>
              </a:rPr>
              <a:t>Kontrast madde verildikten sonra üriner sistemin tamamının X ışınlarıyla görüntülenmesidir.</a:t>
            </a:r>
            <a:endParaRPr lang="en-US" sz="1700" dirty="0"/>
          </a:p>
        </p:txBody>
      </p:sp>
      <p:sp>
        <p:nvSpPr>
          <p:cNvPr id="16" name="Shape 14"/>
          <p:cNvSpPr/>
          <p:nvPr/>
        </p:nvSpPr>
        <p:spPr>
          <a:xfrm>
            <a:off x="548640" y="5533847"/>
            <a:ext cx="11094415" cy="775513"/>
          </a:xfrm>
          <a:prstGeom prst="roundRect">
            <a:avLst>
              <a:gd name="adj" fmla="val 8254"/>
            </a:avLst>
          </a:prstGeom>
          <a:solidFill>
            <a:srgbClr val="E7F2F9"/>
          </a:solidFill>
          <a:ln/>
        </p:spPr>
      </p:sp>
      <p:sp>
        <p:nvSpPr>
          <p:cNvPr id="17" name="Text 15"/>
          <p:cNvSpPr txBox="1"/>
          <p:nvPr/>
        </p:nvSpPr>
        <p:spPr>
          <a:xfrm>
            <a:off x="704088" y="5606999"/>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Ultrasonografi (Ultrasound, ultrason): </a:t>
            </a:r>
            <a:r>
              <a:rPr lang="en-US" sz="1700" dirty="0">
                <a:solidFill>
                  <a:srgbClr val="1F2937"/>
                </a:solidFill>
                <a:latin typeface="Calibri" pitchFamily="34" charset="0"/>
                <a:ea typeface="Calibri" pitchFamily="34" charset="-122"/>
                <a:cs typeface="Calibri" pitchFamily="34" charset="-120"/>
              </a:rPr>
              <a:t>US, yüksek frekanslı ses dalgalarının kullanılarak iç organların anatomisi hakkında bilgi edilme işlemidir.</a:t>
            </a:r>
            <a:endParaRPr lang="en-US" sz="17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122</a:t>
            </a:r>
            <a:endParaRPr lang="en-US" sz="1000" dirty="0"/>
          </a:p>
        </p:txBody>
      </p:sp>
      <p:sp>
        <p:nvSpPr>
          <p:cNvPr id="6" name="Shape 4"/>
          <p:cNvSpPr/>
          <p:nvPr/>
        </p:nvSpPr>
        <p:spPr>
          <a:xfrm>
            <a:off x="548640" y="1669491"/>
            <a:ext cx="11094415" cy="729894"/>
          </a:xfrm>
          <a:prstGeom prst="roundRect">
            <a:avLst>
              <a:gd name="adj" fmla="val 8769"/>
            </a:avLst>
          </a:prstGeom>
          <a:solidFill>
            <a:srgbClr val="E7F2F9"/>
          </a:solidFill>
          <a:ln/>
        </p:spPr>
      </p:sp>
      <p:sp>
        <p:nvSpPr>
          <p:cNvPr id="7" name="Text 5"/>
          <p:cNvSpPr txBox="1"/>
          <p:nvPr/>
        </p:nvSpPr>
        <p:spPr>
          <a:xfrm>
            <a:off x="704088" y="174264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Girişimsel Radyoloji: </a:t>
            </a:r>
            <a:r>
              <a:rPr lang="en-US" sz="1600" dirty="0">
                <a:solidFill>
                  <a:srgbClr val="1F2937"/>
                </a:solidFill>
                <a:latin typeface="Calibri" pitchFamily="34" charset="0"/>
                <a:ea typeface="Calibri" pitchFamily="34" charset="-122"/>
                <a:cs typeface="Calibri" pitchFamily="34" charset="-120"/>
              </a:rPr>
              <a:t>Girişimsel radyologlar tanısal ve tedavi amaçlı invaziv (girişimsel) işlemleri floroskopi, ultrason veya BT eşliğinde yapma işidir.</a:t>
            </a:r>
            <a:endParaRPr lang="en-US" sz="1600" dirty="0"/>
          </a:p>
        </p:txBody>
      </p:sp>
      <p:sp>
        <p:nvSpPr>
          <p:cNvPr id="8" name="Shape 6"/>
          <p:cNvSpPr/>
          <p:nvPr/>
        </p:nvSpPr>
        <p:spPr>
          <a:xfrm>
            <a:off x="548640" y="2490826"/>
            <a:ext cx="11094415" cy="1969414"/>
          </a:xfrm>
          <a:prstGeom prst="roundRect">
            <a:avLst>
              <a:gd name="adj" fmla="val 3250"/>
            </a:avLst>
          </a:prstGeom>
          <a:solidFill>
            <a:srgbClr val="E7F2F9"/>
          </a:solidFill>
          <a:ln/>
        </p:spPr>
      </p:sp>
      <p:sp>
        <p:nvSpPr>
          <p:cNvPr id="9" name="Text 7"/>
          <p:cNvSpPr txBox="1"/>
          <p:nvPr/>
        </p:nvSpPr>
        <p:spPr>
          <a:xfrm>
            <a:off x="704088" y="2563978"/>
            <a:ext cx="10783519" cy="182311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İyonizasyon: </a:t>
            </a:r>
            <a:r>
              <a:rPr lang="en-US" sz="1600" dirty="0">
                <a:solidFill>
                  <a:srgbClr val="1F2937"/>
                </a:solidFill>
                <a:latin typeface="Calibri" pitchFamily="34" charset="0"/>
                <a:ea typeface="Calibri" pitchFamily="34" charset="-122"/>
                <a:cs typeface="Calibri" pitchFamily="34" charset="-120"/>
              </a:rPr>
              <a:t>X-ışınları içinden geçtikleri maddeleri iyonize etme özelliğine sahiptirler. İyonizasyon kimyasal bir işlemdir. X-ray ışınlarındaki enerji, maddenin içine bozulma ve yeniden düzenlenmeye neden olur. Böylece daha önce nötral olan partiküller iyon denen yüklenmiş partiküllere dönüşürler. X ışını veya radyoterapide, yüksek enerjili X ışınlarının iyonize edici etkisi, kanser hücresini öldürmeye yardımcı olur, tümörü büyümesini durdurur. İyonizan X ışınları küçük dozlarda bile normal vücut hücrelerini etkiler, doku zedelenmesine ve malign değişikliklere yol açar. Bu nedenle, yüksek doz X ışınlarına maruz kalan kişiler lösemi, troid tümörleri, meme kanseri ve diğer kanserlerin gelişimi için risk alltındadır..</a:t>
            </a:r>
            <a:endParaRPr lang="en-US" sz="1600" dirty="0"/>
          </a:p>
        </p:txBody>
      </p:sp>
      <p:sp>
        <p:nvSpPr>
          <p:cNvPr id="10" name="Shape 8"/>
          <p:cNvSpPr/>
          <p:nvPr/>
        </p:nvSpPr>
        <p:spPr>
          <a:xfrm>
            <a:off x="548640" y="4758131"/>
            <a:ext cx="11094415" cy="729894"/>
          </a:xfrm>
          <a:prstGeom prst="roundRect">
            <a:avLst>
              <a:gd name="adj" fmla="val 8769"/>
            </a:avLst>
          </a:prstGeom>
          <a:solidFill>
            <a:srgbClr val="E7F2F9"/>
          </a:solidFill>
          <a:ln/>
        </p:spPr>
      </p:sp>
      <p:sp>
        <p:nvSpPr>
          <p:cNvPr id="11" name="Text 9"/>
          <p:cNvSpPr txBox="1"/>
          <p:nvPr/>
        </p:nvSpPr>
        <p:spPr>
          <a:xfrm>
            <a:off x="704088" y="483128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MRG (Manyetik Rezonans Görüntüleme, Emar): </a:t>
            </a:r>
            <a:r>
              <a:rPr lang="en-US" sz="1600" dirty="0">
                <a:solidFill>
                  <a:srgbClr val="1F2937"/>
                </a:solidFill>
                <a:latin typeface="Calibri" pitchFamily="34" charset="0"/>
                <a:ea typeface="Calibri" pitchFamily="34" charset="-122"/>
                <a:cs typeface="Calibri" pitchFamily="34" charset="-120"/>
              </a:rPr>
              <a:t>Vücut organlarının manyetik dalgalar kullanılarak görüntülenmesidir. Bunda X ışını kullanılmaz.</a:t>
            </a:r>
            <a:endParaRPr lang="en-US" sz="1600" dirty="0"/>
          </a:p>
        </p:txBody>
      </p:sp>
      <p:sp>
        <p:nvSpPr>
          <p:cNvPr id="12" name="Shape 10"/>
          <p:cNvSpPr/>
          <p:nvPr/>
        </p:nvSpPr>
        <p:spPr>
          <a:xfrm>
            <a:off x="548640" y="5579466"/>
            <a:ext cx="11094415" cy="729894"/>
          </a:xfrm>
          <a:prstGeom prst="roundRect">
            <a:avLst>
              <a:gd name="adj" fmla="val 8769"/>
            </a:avLst>
          </a:prstGeom>
          <a:solidFill>
            <a:srgbClr val="E7F2F9"/>
          </a:solidFill>
          <a:ln/>
        </p:spPr>
      </p:sp>
      <p:sp>
        <p:nvSpPr>
          <p:cNvPr id="13" name="Text 11"/>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X-Işınları Saçılması: </a:t>
            </a:r>
            <a:r>
              <a:rPr lang="en-US" sz="1600" dirty="0">
                <a:solidFill>
                  <a:srgbClr val="1F2937"/>
                </a:solidFill>
                <a:latin typeface="Calibri" pitchFamily="34" charset="0"/>
                <a:ea typeface="Calibri" pitchFamily="34" charset="-122"/>
                <a:cs typeface="Calibri" pitchFamily="34" charset="-120"/>
              </a:rPr>
              <a:t>Saçılma, x-ışınları herhangi bir maddeyle karşılaştığında durur. Bir madde ne kadar yoğunsa o kadar sapma olur.</a:t>
            </a:r>
            <a:endParaRPr lang="en-US" sz="16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123</a:t>
            </a:r>
            <a:endParaRPr lang="en-US" sz="1000" dirty="0"/>
          </a:p>
        </p:txBody>
      </p:sp>
      <p:sp>
        <p:nvSpPr>
          <p:cNvPr id="6" name="Shape 4"/>
          <p:cNvSpPr/>
          <p:nvPr/>
        </p:nvSpPr>
        <p:spPr>
          <a:xfrm>
            <a:off x="548640" y="2060956"/>
            <a:ext cx="11094415" cy="638658"/>
          </a:xfrm>
          <a:prstGeom prst="roundRect">
            <a:avLst>
              <a:gd name="adj" fmla="val 10022"/>
            </a:avLst>
          </a:prstGeom>
          <a:solidFill>
            <a:srgbClr val="E7F2F9"/>
          </a:solidFill>
          <a:ln/>
        </p:spPr>
      </p:sp>
      <p:sp>
        <p:nvSpPr>
          <p:cNvPr id="7" name="Text 5"/>
          <p:cNvSpPr txBox="1"/>
          <p:nvPr/>
        </p:nvSpPr>
        <p:spPr>
          <a:xfrm>
            <a:off x="704088" y="2134108"/>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Doppler Ultrasonografi (Doppler US): </a:t>
            </a:r>
            <a:r>
              <a:rPr lang="en-US" sz="1400" dirty="0">
                <a:solidFill>
                  <a:srgbClr val="1F2937"/>
                </a:solidFill>
                <a:latin typeface="Calibri" pitchFamily="34" charset="0"/>
                <a:ea typeface="Calibri" pitchFamily="34" charset="-122"/>
                <a:cs typeface="Calibri" pitchFamily="34" charset="-120"/>
              </a:rPr>
              <a:t>Kan akımını ve akımın karekteristiklerini incelemek için kullanılır. Doppler US ile daha çok damar hastalıkalrı tespit edilir.</a:t>
            </a:r>
            <a:endParaRPr lang="en-US" sz="1400" dirty="0"/>
          </a:p>
        </p:txBody>
      </p:sp>
      <p:sp>
        <p:nvSpPr>
          <p:cNvPr id="8" name="Shape 6"/>
          <p:cNvSpPr/>
          <p:nvPr/>
        </p:nvSpPr>
        <p:spPr>
          <a:xfrm>
            <a:off x="548640" y="2791054"/>
            <a:ext cx="11094415" cy="638658"/>
          </a:xfrm>
          <a:prstGeom prst="roundRect">
            <a:avLst>
              <a:gd name="adj" fmla="val 10022"/>
            </a:avLst>
          </a:prstGeom>
          <a:solidFill>
            <a:srgbClr val="E7F2F9"/>
          </a:solidFill>
          <a:ln/>
        </p:spPr>
      </p:sp>
      <p:sp>
        <p:nvSpPr>
          <p:cNvPr id="9" name="Text 7"/>
          <p:cNvSpPr txBox="1"/>
          <p:nvPr/>
        </p:nvSpPr>
        <p:spPr>
          <a:xfrm>
            <a:off x="704088" y="2864206"/>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Endoskopik Retrograd Kolanjiyografi: </a:t>
            </a:r>
            <a:r>
              <a:rPr lang="en-US" sz="1400" dirty="0">
                <a:solidFill>
                  <a:srgbClr val="1F2937"/>
                </a:solidFill>
                <a:latin typeface="Calibri" pitchFamily="34" charset="0"/>
                <a:ea typeface="Calibri" pitchFamily="34" charset="-122"/>
                <a:cs typeface="Calibri" pitchFamily="34" charset="-120"/>
              </a:rPr>
              <a:t>Safra yollarının ve pankreasın, pankreatik kanalın X ışınları ile görüntülenmesidir. Ağızdan bir tüp yardımıyla safra ve pankreatik kanallara kontrast madde verilir ve röntgen filmi çekilir.</a:t>
            </a:r>
            <a:endParaRPr lang="en-US" sz="1400" dirty="0"/>
          </a:p>
        </p:txBody>
      </p:sp>
      <p:sp>
        <p:nvSpPr>
          <p:cNvPr id="10" name="Shape 8"/>
          <p:cNvSpPr/>
          <p:nvPr/>
        </p:nvSpPr>
        <p:spPr>
          <a:xfrm>
            <a:off x="548640" y="3521151"/>
            <a:ext cx="11094415" cy="638658"/>
          </a:xfrm>
          <a:prstGeom prst="roundRect">
            <a:avLst>
              <a:gd name="adj" fmla="val 10022"/>
            </a:avLst>
          </a:prstGeom>
          <a:solidFill>
            <a:srgbClr val="E7F2F9"/>
          </a:solidFill>
          <a:ln/>
        </p:spPr>
      </p:sp>
      <p:sp>
        <p:nvSpPr>
          <p:cNvPr id="11" name="Text 9"/>
          <p:cNvSpPr txBox="1"/>
          <p:nvPr/>
        </p:nvSpPr>
        <p:spPr>
          <a:xfrm>
            <a:off x="704088" y="3594303"/>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Özofagogragi: </a:t>
            </a:r>
            <a:r>
              <a:rPr lang="en-US" sz="1400" dirty="0">
                <a:solidFill>
                  <a:srgbClr val="1F2937"/>
                </a:solidFill>
                <a:latin typeface="Calibri" pitchFamily="34" charset="0"/>
                <a:ea typeface="Calibri" pitchFamily="34" charset="-122"/>
                <a:cs typeface="Calibri" pitchFamily="34" charset="-120"/>
              </a:rPr>
              <a:t>Baryum sülfat yutturulduktan sonra özofagusun X ışınıyla görüntülenmesidir. Bu test baryum yemeği veya baryum yutması (swallow) olarak da adlandırılır ve üst gastrointestinal sistemin incelenmesinin bir parçasıdır.</a:t>
            </a:r>
            <a:endParaRPr lang="en-US" sz="1400" dirty="0"/>
          </a:p>
        </p:txBody>
      </p:sp>
      <p:sp>
        <p:nvSpPr>
          <p:cNvPr id="12" name="Shape 10"/>
          <p:cNvSpPr/>
          <p:nvPr/>
        </p:nvSpPr>
        <p:spPr>
          <a:xfrm>
            <a:off x="548640" y="4251249"/>
            <a:ext cx="11094415" cy="638658"/>
          </a:xfrm>
          <a:prstGeom prst="roundRect">
            <a:avLst>
              <a:gd name="adj" fmla="val 10022"/>
            </a:avLst>
          </a:prstGeom>
          <a:solidFill>
            <a:srgbClr val="E7F2F9"/>
          </a:solidFill>
          <a:ln/>
        </p:spPr>
      </p:sp>
      <p:sp>
        <p:nvSpPr>
          <p:cNvPr id="13" name="Text 11"/>
          <p:cNvSpPr txBox="1"/>
          <p:nvPr/>
        </p:nvSpPr>
        <p:spPr>
          <a:xfrm>
            <a:off x="704088" y="432440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Alt Gastrointestinal Sistem İncelemesi: </a:t>
            </a:r>
            <a:r>
              <a:rPr lang="en-US" sz="1400" dirty="0">
                <a:solidFill>
                  <a:srgbClr val="1F2937"/>
                </a:solidFill>
                <a:latin typeface="Calibri" pitchFamily="34" charset="0"/>
                <a:ea typeface="Calibri" pitchFamily="34" charset="-122"/>
                <a:cs typeface="Calibri" pitchFamily="34" charset="-120"/>
              </a:rPr>
              <a:t>Baryum sülfat plastik tüple (enema) rektuma ve kolona verilir. Kolonun X ışınları ile görüntüleri çekilir. Kolonda tümör varsa obstrüksiyon veya irregülarite olarak görülebilir. Diğer bir adı Baryum enemadır.</a:t>
            </a:r>
            <a:endParaRPr lang="en-US" sz="1400" dirty="0"/>
          </a:p>
        </p:txBody>
      </p:sp>
      <p:sp>
        <p:nvSpPr>
          <p:cNvPr id="14" name="Shape 12"/>
          <p:cNvSpPr/>
          <p:nvPr/>
        </p:nvSpPr>
        <p:spPr>
          <a:xfrm>
            <a:off x="548640" y="4981346"/>
            <a:ext cx="11094415" cy="638658"/>
          </a:xfrm>
          <a:prstGeom prst="roundRect">
            <a:avLst>
              <a:gd name="adj" fmla="val 10022"/>
            </a:avLst>
          </a:prstGeom>
          <a:solidFill>
            <a:srgbClr val="E7F2F9"/>
          </a:solidFill>
          <a:ln/>
        </p:spPr>
      </p:sp>
      <p:sp>
        <p:nvSpPr>
          <p:cNvPr id="15" name="Text 13"/>
          <p:cNvSpPr txBox="1"/>
          <p:nvPr/>
        </p:nvSpPr>
        <p:spPr>
          <a:xfrm>
            <a:off x="704088" y="5054498"/>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Mamografi: </a:t>
            </a:r>
            <a:r>
              <a:rPr lang="en-US" sz="1400" dirty="0">
                <a:solidFill>
                  <a:srgbClr val="1F2937"/>
                </a:solidFill>
                <a:latin typeface="Calibri" pitchFamily="34" charset="0"/>
                <a:ea typeface="Calibri" pitchFamily="34" charset="-122"/>
                <a:cs typeface="Calibri" pitchFamily="34" charset="-120"/>
              </a:rPr>
              <a:t>Memenin X ışını ile görüntülenmesidir. Düşük voltajlı X ışınları memeye gönderilir ve görüntüler elde edilir. Mamografi meme dokusundaki meme kanseri gibi anormallikleri saptamak için kullanılır.</a:t>
            </a:r>
            <a:endParaRPr lang="en-US" sz="1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3.a. Radyoloji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124</a:t>
            </a:r>
            <a:endParaRPr lang="en-US" sz="1000" dirty="0"/>
          </a:p>
        </p:txBody>
      </p:sp>
      <p:sp>
        <p:nvSpPr>
          <p:cNvPr id="6" name="Shape 4"/>
          <p:cNvSpPr/>
          <p:nvPr/>
        </p:nvSpPr>
        <p:spPr>
          <a:xfrm>
            <a:off x="548640" y="2276399"/>
            <a:ext cx="11094415" cy="1378915"/>
          </a:xfrm>
          <a:prstGeom prst="roundRect">
            <a:avLst>
              <a:gd name="adj" fmla="val 4642"/>
            </a:avLst>
          </a:prstGeom>
          <a:solidFill>
            <a:srgbClr val="E7F2F9"/>
          </a:solidFill>
          <a:ln/>
        </p:spPr>
      </p:sp>
      <p:sp>
        <p:nvSpPr>
          <p:cNvPr id="7" name="Text 5"/>
          <p:cNvSpPr txBox="1"/>
          <p:nvPr/>
        </p:nvSpPr>
        <p:spPr>
          <a:xfrm>
            <a:off x="704088" y="2349551"/>
            <a:ext cx="10783519" cy="1232611"/>
          </a:xfrm>
          <a:prstGeom prst="rect">
            <a:avLst/>
          </a:prstGeom>
          <a:noFill/>
          <a:ln/>
        </p:spPr>
        <p:txBody>
          <a:bodyPr wrap="square" lIns="0" tIns="0" rIns="0" bIns="0" rtlCol="0" anchor="t"/>
          <a:lstStyle/>
          <a:p>
            <a:pPr marL="0" indent="0">
              <a:lnSpc>
                <a:spcPct val="105000"/>
              </a:lnSpc>
              <a:buNone/>
            </a:pPr>
            <a:r>
              <a:rPr lang="en-US" sz="1800" b="1" dirty="0">
                <a:solidFill>
                  <a:srgbClr val="0369A1"/>
                </a:solidFill>
                <a:latin typeface="Calibri" pitchFamily="34" charset="0"/>
                <a:ea typeface="Calibri" pitchFamily="34" charset="-122"/>
                <a:cs typeface="Calibri" pitchFamily="34" charset="-120"/>
              </a:rPr>
              <a:t>Lenfanjiyografi veya lenfanjiyogram: </a:t>
            </a:r>
            <a:r>
              <a:rPr lang="en-US" sz="1800" dirty="0">
                <a:solidFill>
                  <a:srgbClr val="1F2937"/>
                </a:solidFill>
                <a:latin typeface="Calibri" pitchFamily="34" charset="0"/>
                <a:ea typeface="Calibri" pitchFamily="34" charset="-122"/>
                <a:cs typeface="Calibri" pitchFamily="34" charset="-120"/>
              </a:rPr>
              <a:t>Ayaktaki lenfatik damarlara kontrast madde enjekte edildikten sonra lenf düğümleri ve lenf damarlarının X ışınlarıyla görüntülenmesidir. Kontrast madde pelvis, abdomen ve göğsün lenfatik damarlarına çıkar ve tüm vücuttaki lenf düğümlerinin yapısını gösterir. Bu inceleme ile lenfatik sistemdeki tümörler saptanır.</a:t>
            </a:r>
            <a:endParaRPr lang="en-US" sz="1800" dirty="0"/>
          </a:p>
        </p:txBody>
      </p:sp>
      <p:sp>
        <p:nvSpPr>
          <p:cNvPr id="8" name="Shape 6"/>
          <p:cNvSpPr/>
          <p:nvPr/>
        </p:nvSpPr>
        <p:spPr>
          <a:xfrm>
            <a:off x="548640" y="3746754"/>
            <a:ext cx="11094415" cy="1657807"/>
          </a:xfrm>
          <a:prstGeom prst="roundRect">
            <a:avLst>
              <a:gd name="adj" fmla="val 3861"/>
            </a:avLst>
          </a:prstGeom>
          <a:solidFill>
            <a:srgbClr val="E7F2F9"/>
          </a:solidFill>
          <a:ln/>
        </p:spPr>
      </p:sp>
      <p:sp>
        <p:nvSpPr>
          <p:cNvPr id="9" name="Text 7"/>
          <p:cNvSpPr txBox="1"/>
          <p:nvPr/>
        </p:nvSpPr>
        <p:spPr>
          <a:xfrm>
            <a:off x="704088" y="3819906"/>
            <a:ext cx="10783519" cy="1511503"/>
          </a:xfrm>
          <a:prstGeom prst="rect">
            <a:avLst/>
          </a:prstGeom>
          <a:noFill/>
          <a:ln/>
        </p:spPr>
        <p:txBody>
          <a:bodyPr wrap="square" lIns="0" tIns="0" rIns="0" bIns="0" rtlCol="0" anchor="t"/>
          <a:lstStyle/>
          <a:p>
            <a:pPr marL="0" indent="0">
              <a:lnSpc>
                <a:spcPct val="105000"/>
              </a:lnSpc>
              <a:buNone/>
            </a:pPr>
            <a:r>
              <a:rPr lang="en-US" sz="1800" b="1" dirty="0">
                <a:solidFill>
                  <a:srgbClr val="0369A1"/>
                </a:solidFill>
                <a:latin typeface="Calibri" pitchFamily="34" charset="0"/>
                <a:ea typeface="Calibri" pitchFamily="34" charset="-122"/>
                <a:cs typeface="Calibri" pitchFamily="34" charset="-120"/>
              </a:rPr>
              <a:t>İntravenöz Pyelografi (Ürografi): </a:t>
            </a:r>
            <a:r>
              <a:rPr lang="en-US" sz="1800" dirty="0">
                <a:solidFill>
                  <a:srgbClr val="1F2937"/>
                </a:solidFill>
                <a:latin typeface="Calibri" pitchFamily="34" charset="0"/>
                <a:ea typeface="Calibri" pitchFamily="34" charset="-122"/>
                <a:cs typeface="Calibri" pitchFamily="34" charset="-120"/>
              </a:rPr>
              <a:t>Böbrek ve üriner sistemin X ışını ile görüntülenmesi işlemidir. Kontrast madde intravenöz yolla enjekte edildikten sonra röntgen filmlerinin çekilmesine intravenöz pyelografi veya ürografi denir. Üretradan mesaneye kontrast madde verildikten sonra röntgen filmlerinin çekilmesine retrograd pyelografi veya retrograd ürografi denir. Pye/o renal pelvis demektir (böbreğin boşaltım toplama adası).</a:t>
            </a:r>
            <a:endParaRPr lang="en-US" sz="18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3.b. Nükleer Tıp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125</a:t>
            </a:r>
            <a:endParaRPr lang="en-US" sz="1000" dirty="0"/>
          </a:p>
        </p:txBody>
      </p:sp>
      <p:sp>
        <p:nvSpPr>
          <p:cNvPr id="6" name="Shape 4"/>
          <p:cNvSpPr/>
          <p:nvPr/>
        </p:nvSpPr>
        <p:spPr>
          <a:xfrm>
            <a:off x="548640" y="2025396"/>
            <a:ext cx="11094415" cy="1613916"/>
          </a:xfrm>
          <a:prstGeom prst="roundRect">
            <a:avLst>
              <a:gd name="adj" fmla="val 3966"/>
            </a:avLst>
          </a:prstGeom>
          <a:solidFill>
            <a:srgbClr val="E7F2F9"/>
          </a:solidFill>
          <a:ln/>
        </p:spPr>
      </p:sp>
      <p:sp>
        <p:nvSpPr>
          <p:cNvPr id="7" name="Text 5"/>
          <p:cNvSpPr txBox="1"/>
          <p:nvPr/>
        </p:nvSpPr>
        <p:spPr>
          <a:xfrm>
            <a:off x="704088" y="2098548"/>
            <a:ext cx="10783519" cy="146761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Nükleer tıp hastalıkların tanısı ve tedavisinde radyoaktif maddeleri kullanan tıp dalıdır. Radyoaktif maddeler (radyonüklidler) içerisinde enerji içeren ışınları ve yüksek hızlı partikülleri yayan maddelerdir. Salınan partiküller ve ışınlara radyoaktivite denir. Alfa, beta ve gama ışınları olmak üzere üç tipi bulunur. Gama ışımaları vücuda alınan maddelerin alımını ve yolunu izlemek için kullanılan tanısal işaretlerdir. Radyoloji, radyoterapi ve nükleer tıp bilim alanları eğitimleri birbirinden farklı uzmanlık alanlarıdır. Bu alanlarda hekimlerle birlikte çalışan yardımcı personele teknisyen denir.</a:t>
            </a:r>
            <a:endParaRPr lang="en-US" sz="1500" dirty="0"/>
          </a:p>
        </p:txBody>
      </p:sp>
      <p:sp>
        <p:nvSpPr>
          <p:cNvPr id="8" name="Shape 6"/>
          <p:cNvSpPr/>
          <p:nvPr/>
        </p:nvSpPr>
        <p:spPr>
          <a:xfrm>
            <a:off x="548640" y="3730752"/>
            <a:ext cx="11094415" cy="684276"/>
          </a:xfrm>
          <a:prstGeom prst="roundRect">
            <a:avLst>
              <a:gd name="adj" fmla="val 9354"/>
            </a:avLst>
          </a:prstGeom>
          <a:solidFill>
            <a:srgbClr val="E7F2F9"/>
          </a:solidFill>
          <a:ln/>
        </p:spPr>
      </p:sp>
      <p:sp>
        <p:nvSpPr>
          <p:cNvPr id="9" name="Text 7"/>
          <p:cNvSpPr txBox="1"/>
          <p:nvPr/>
        </p:nvSpPr>
        <p:spPr>
          <a:xfrm>
            <a:off x="704088" y="380390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Kemik Sintigrafisi: </a:t>
            </a:r>
            <a:r>
              <a:rPr lang="en-US" sz="1500" dirty="0">
                <a:solidFill>
                  <a:srgbClr val="1F2937"/>
                </a:solidFill>
                <a:latin typeface="Calibri" pitchFamily="34" charset="0"/>
                <a:ea typeface="Calibri" pitchFamily="34" charset="-122"/>
                <a:cs typeface="Calibri" pitchFamily="34" charset="-120"/>
              </a:rPr>
              <a:t>İntravenöz yolla verilen radyoaktif madde kemikte birikir. Kemik tümörleri, lezyonda daha fazla radyoaktif madde toplanması ile tanınır.</a:t>
            </a:r>
            <a:endParaRPr lang="en-US" sz="1500" dirty="0"/>
          </a:p>
        </p:txBody>
      </p:sp>
      <p:sp>
        <p:nvSpPr>
          <p:cNvPr id="10" name="Shape 8"/>
          <p:cNvSpPr/>
          <p:nvPr/>
        </p:nvSpPr>
        <p:spPr>
          <a:xfrm>
            <a:off x="548640" y="4506468"/>
            <a:ext cx="11094415" cy="1149096"/>
          </a:xfrm>
          <a:prstGeom prst="roundRect">
            <a:avLst>
              <a:gd name="adj" fmla="val 5570"/>
            </a:avLst>
          </a:prstGeom>
          <a:solidFill>
            <a:srgbClr val="E7F2F9"/>
          </a:solidFill>
          <a:ln/>
        </p:spPr>
      </p:sp>
      <p:sp>
        <p:nvSpPr>
          <p:cNvPr id="11" name="Text 9"/>
          <p:cNvSpPr txBox="1"/>
          <p:nvPr/>
        </p:nvSpPr>
        <p:spPr>
          <a:xfrm>
            <a:off x="704088" y="4579620"/>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Tiroid Sintigrafisi: </a:t>
            </a:r>
            <a:r>
              <a:rPr lang="en-US" sz="1500" dirty="0">
                <a:solidFill>
                  <a:srgbClr val="1F2937"/>
                </a:solidFill>
                <a:latin typeface="Calibri" pitchFamily="34" charset="0"/>
                <a:ea typeface="Calibri" pitchFamily="34" charset="-122"/>
                <a:cs typeface="Calibri" pitchFamily="34" charset="-120"/>
              </a:rPr>
              <a:t>İntravenöz yolla enjekte edilen radyoaktif iyod tiroid bezinde birikir. Cihaz bezdeki radyoaktif maddeyi saptar, ölçer ve bezin görüntüsünü oluşturur. Bezin radyoaktif maddeyi kullanma kapasitesine göre artmış veya azalmış aktivitesi ölçülür. Tiroid sintigrafisi, tiroid bezinin pozisyonunu, boyutunu ve fonksiyonunu değerlendirmek için kullanılır.</a:t>
            </a:r>
            <a:endParaRPr lang="en-US" sz="15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3.b. Nükleer Tıp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126</a:t>
            </a:r>
            <a:endParaRPr lang="en-US" sz="1000" dirty="0"/>
          </a:p>
        </p:txBody>
      </p:sp>
      <p:sp>
        <p:nvSpPr>
          <p:cNvPr id="6" name="Shape 4"/>
          <p:cNvSpPr/>
          <p:nvPr/>
        </p:nvSpPr>
        <p:spPr>
          <a:xfrm>
            <a:off x="548640" y="2034438"/>
            <a:ext cx="11094415" cy="977798"/>
          </a:xfrm>
          <a:prstGeom prst="roundRect">
            <a:avLst>
              <a:gd name="adj" fmla="val 6546"/>
            </a:avLst>
          </a:prstGeom>
          <a:solidFill>
            <a:srgbClr val="E7F2F9"/>
          </a:solidFill>
          <a:ln/>
        </p:spPr>
      </p:sp>
      <p:sp>
        <p:nvSpPr>
          <p:cNvPr id="7" name="Text 5"/>
          <p:cNvSpPr txBox="1"/>
          <p:nvPr/>
        </p:nvSpPr>
        <p:spPr>
          <a:xfrm>
            <a:off x="704088" y="2107590"/>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Beyin Sintigrafisi: </a:t>
            </a:r>
            <a:r>
              <a:rPr lang="en-US" sz="1600" dirty="0">
                <a:solidFill>
                  <a:srgbClr val="1F2937"/>
                </a:solidFill>
                <a:latin typeface="Calibri" pitchFamily="34" charset="0"/>
                <a:ea typeface="Calibri" pitchFamily="34" charset="-122"/>
                <a:cs typeface="Calibri" pitchFamily="34" charset="-120"/>
              </a:rPr>
              <a:t>Radyoaktif madde enjekte edildikten sonra kan damarları ve beyin arasındaki bariyerin (kan-beyin bariyeri) bozulmasına yol açan lezyonda birikir. Aygıt radyoaktif maddeyi saptar ve fonksiyonunu değerlendirmek için kullanır.</a:t>
            </a:r>
            <a:endParaRPr lang="en-US" sz="1600" dirty="0"/>
          </a:p>
        </p:txBody>
      </p:sp>
      <p:sp>
        <p:nvSpPr>
          <p:cNvPr id="8" name="Shape 6"/>
          <p:cNvSpPr/>
          <p:nvPr/>
        </p:nvSpPr>
        <p:spPr>
          <a:xfrm>
            <a:off x="548640" y="3103677"/>
            <a:ext cx="11094415" cy="1473606"/>
          </a:xfrm>
          <a:prstGeom prst="roundRect">
            <a:avLst>
              <a:gd name="adj" fmla="val 4344"/>
            </a:avLst>
          </a:prstGeom>
          <a:solidFill>
            <a:srgbClr val="E7F2F9"/>
          </a:solidFill>
          <a:ln/>
        </p:spPr>
      </p:sp>
      <p:sp>
        <p:nvSpPr>
          <p:cNvPr id="9" name="Text 7"/>
          <p:cNvSpPr txBox="1"/>
          <p:nvPr/>
        </p:nvSpPr>
        <p:spPr>
          <a:xfrm>
            <a:off x="704088" y="3176829"/>
            <a:ext cx="10783519" cy="1327302"/>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Pozitron Emisyon Tomografi (PET): </a:t>
            </a:r>
            <a:r>
              <a:rPr lang="en-US" sz="1600" dirty="0">
                <a:solidFill>
                  <a:srgbClr val="1F2937"/>
                </a:solidFill>
                <a:latin typeface="Calibri" pitchFamily="34" charset="0"/>
                <a:ea typeface="Calibri" pitchFamily="34" charset="-122"/>
                <a:cs typeface="Calibri" pitchFamily="34" charset="-120"/>
              </a:rPr>
              <a:t>Radyoaktif maddeler (oksijen ve glukoz kullanılır) radyo aktif parçacıkarını serbestleştirir ve bu parçacıklara pozitron denir. Pozitronlar vücuda enjekte edildikten sonra beyin ve kalp gibi özel bölgelere giderler. Pozitronlar serbestleşirken radyoaktif maddenin yerini gösteren kesitsel renkli görüntüler alınır. Bu test inme, epilepsi, şizofreni ve migren gibi beyin hastalıklarının tanısını koymak için kullanılır.</a:t>
            </a:r>
            <a:endParaRPr lang="en-US" sz="1600" dirty="0"/>
          </a:p>
        </p:txBody>
      </p:sp>
      <p:sp>
        <p:nvSpPr>
          <p:cNvPr id="10" name="Shape 8"/>
          <p:cNvSpPr/>
          <p:nvPr/>
        </p:nvSpPr>
        <p:spPr>
          <a:xfrm>
            <a:off x="548640" y="4668723"/>
            <a:ext cx="11094415" cy="977798"/>
          </a:xfrm>
          <a:prstGeom prst="roundRect">
            <a:avLst>
              <a:gd name="adj" fmla="val 6546"/>
            </a:avLst>
          </a:prstGeom>
          <a:solidFill>
            <a:srgbClr val="E7F2F9"/>
          </a:solidFill>
          <a:ln/>
        </p:spPr>
      </p:sp>
      <p:sp>
        <p:nvSpPr>
          <p:cNvPr id="11" name="Text 9"/>
          <p:cNvSpPr txBox="1"/>
          <p:nvPr/>
        </p:nvSpPr>
        <p:spPr>
          <a:xfrm>
            <a:off x="704088" y="4741875"/>
            <a:ext cx="10783519" cy="831494"/>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Radyoaktif galyum (galyum sitrat) dolaşım sistemine enjekte edilir. Galyum </a:t>
            </a:r>
            <a:r>
              <a:rPr lang="en-US" sz="1600" b="1" dirty="0">
                <a:solidFill>
                  <a:srgbClr val="1F2937"/>
                </a:solidFill>
                <a:latin typeface="Calibri" pitchFamily="34" charset="0"/>
                <a:ea typeface="Calibri" pitchFamily="34" charset="-122"/>
                <a:cs typeface="Calibri" pitchFamily="34" charset="-120"/>
              </a:rPr>
              <a:t>Galyum Sintigrafi: </a:t>
            </a:r>
            <a:r>
              <a:rPr lang="en-US" sz="1600" dirty="0">
                <a:solidFill>
                  <a:srgbClr val="1F2937"/>
                </a:solidFill>
                <a:latin typeface="Calibri" pitchFamily="34" charset="0"/>
                <a:ea typeface="Calibri" pitchFamily="34" charset="-122"/>
                <a:cs typeface="Calibri" pitchFamily="34" charset="-120"/>
              </a:rPr>
              <a:t>biriktiği alanların görüntüsünü cihaz alır. Galyum bazı tümörler tarafından  (Hodgkin hastalığı, hepatoma, adenokarsinomlar) ve enfeksiyon alanlarında toplanır.</a:t>
            </a:r>
            <a:endParaRPr lang="en-US" sz="16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3.b. Nükleer Tıp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127</a:t>
            </a:r>
            <a:endParaRPr lang="en-US" sz="1000" dirty="0"/>
          </a:p>
        </p:txBody>
      </p:sp>
      <p:sp>
        <p:nvSpPr>
          <p:cNvPr id="6" name="Shape 4"/>
          <p:cNvSpPr/>
          <p:nvPr/>
        </p:nvSpPr>
        <p:spPr>
          <a:xfrm>
            <a:off x="548640" y="2058975"/>
            <a:ext cx="11094415" cy="1302309"/>
          </a:xfrm>
          <a:prstGeom prst="roundRect">
            <a:avLst>
              <a:gd name="adj" fmla="val 4915"/>
            </a:avLst>
          </a:prstGeom>
          <a:solidFill>
            <a:srgbClr val="E7F2F9"/>
          </a:solidFill>
          <a:ln/>
        </p:spPr>
      </p:sp>
      <p:sp>
        <p:nvSpPr>
          <p:cNvPr id="7" name="Text 5"/>
          <p:cNvSpPr txBox="1"/>
          <p:nvPr/>
        </p:nvSpPr>
        <p:spPr>
          <a:xfrm>
            <a:off x="704088" y="2132127"/>
            <a:ext cx="10783519" cy="1156005"/>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Pulmoner Ventilasyon Sintigrafisi: </a:t>
            </a:r>
            <a:r>
              <a:rPr lang="en-US" sz="1700" dirty="0">
                <a:solidFill>
                  <a:srgbClr val="1F2937"/>
                </a:solidFill>
                <a:latin typeface="Calibri" pitchFamily="34" charset="0"/>
                <a:ea typeface="Calibri" pitchFamily="34" charset="-122"/>
                <a:cs typeface="Calibri" pitchFamily="34" charset="-120"/>
              </a:rPr>
              <a:t>Radyoaktif gaz (xenon 133) solutulur ve özel bir kamera ile radyoaktif gazın doldurmadığı akciğer kısımları saptanır. Dolma defekti, bronşları ve alveolleri tıkayan hastalıklar  sonucu oluşur. Bu inceleme aynı zamanda operasyon öncesi akciğer fonksiyonunu değerlendirmek için de kullanılır.</a:t>
            </a:r>
            <a:endParaRPr lang="en-US" sz="1700" dirty="0"/>
          </a:p>
        </p:txBody>
      </p:sp>
      <p:sp>
        <p:nvSpPr>
          <p:cNvPr id="8" name="Shape 6"/>
          <p:cNvSpPr/>
          <p:nvPr/>
        </p:nvSpPr>
        <p:spPr>
          <a:xfrm>
            <a:off x="548640" y="3452724"/>
            <a:ext cx="11094415" cy="1038911"/>
          </a:xfrm>
          <a:prstGeom prst="roundRect">
            <a:avLst>
              <a:gd name="adj" fmla="val 6161"/>
            </a:avLst>
          </a:prstGeom>
          <a:solidFill>
            <a:srgbClr val="E7F2F9"/>
          </a:solidFill>
          <a:ln/>
        </p:spPr>
      </p:sp>
      <p:sp>
        <p:nvSpPr>
          <p:cNvPr id="9" name="Text 7"/>
          <p:cNvSpPr txBox="1"/>
          <p:nvPr/>
        </p:nvSpPr>
        <p:spPr>
          <a:xfrm>
            <a:off x="704088" y="3525876"/>
            <a:ext cx="10783519" cy="892607"/>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Pulmoner Perfüzyon Sintigrafisi: </a:t>
            </a:r>
            <a:r>
              <a:rPr lang="en-US" sz="1700" dirty="0">
                <a:solidFill>
                  <a:srgbClr val="1F2937"/>
                </a:solidFill>
                <a:latin typeface="Calibri" pitchFamily="34" charset="0"/>
                <a:ea typeface="Calibri" pitchFamily="34" charset="-122"/>
                <a:cs typeface="Calibri" pitchFamily="34" charset="-120"/>
              </a:rPr>
              <a:t>Radyoaktif madde enjekte edildikten sonra kızla akciğerin kanla dolan bölgelerine gider. Tümör, kan pıhtısı, ödem ve enflamasyon nedeniyle kan akımının ulaşmadığı bölgelerde radyoaktif madde toplanamaz ve bu şekilde tanınması sağlanır.</a:t>
            </a:r>
            <a:endParaRPr lang="en-US" sz="1700" dirty="0"/>
          </a:p>
        </p:txBody>
      </p:sp>
      <p:sp>
        <p:nvSpPr>
          <p:cNvPr id="10" name="Shape 8"/>
          <p:cNvSpPr/>
          <p:nvPr/>
        </p:nvSpPr>
        <p:spPr>
          <a:xfrm>
            <a:off x="548640" y="4583074"/>
            <a:ext cx="11094415" cy="1038911"/>
          </a:xfrm>
          <a:prstGeom prst="roundRect">
            <a:avLst>
              <a:gd name="adj" fmla="val 6161"/>
            </a:avLst>
          </a:prstGeom>
          <a:solidFill>
            <a:srgbClr val="E7F2F9"/>
          </a:solidFill>
          <a:ln/>
        </p:spPr>
      </p:sp>
      <p:sp>
        <p:nvSpPr>
          <p:cNvPr id="11" name="Text 9"/>
          <p:cNvSpPr txBox="1"/>
          <p:nvPr/>
        </p:nvSpPr>
        <p:spPr>
          <a:xfrm>
            <a:off x="704088" y="4656226"/>
            <a:ext cx="10783519" cy="892607"/>
          </a:xfrm>
          <a:prstGeom prst="rect">
            <a:avLst/>
          </a:prstGeom>
          <a:noFill/>
          <a:ln/>
        </p:spPr>
        <p:txBody>
          <a:bodyPr wrap="square" lIns="0" tIns="0" rIns="0" bIns="0" rtlCol="0" anchor="t"/>
          <a:lstStyle/>
          <a:p>
            <a:pPr marL="0" indent="0">
              <a:lnSpc>
                <a:spcPct val="105000"/>
              </a:lnSpc>
              <a:buNone/>
            </a:pPr>
            <a:r>
              <a:rPr lang="en-US" sz="1700" b="1" dirty="0">
                <a:solidFill>
                  <a:srgbClr val="0369A1"/>
                </a:solidFill>
                <a:latin typeface="Calibri" pitchFamily="34" charset="0"/>
                <a:ea typeface="Calibri" pitchFamily="34" charset="-122"/>
                <a:cs typeface="Calibri" pitchFamily="34" charset="-120"/>
              </a:rPr>
              <a:t>Myokard Sintigrafisi: </a:t>
            </a:r>
            <a:r>
              <a:rPr lang="en-US" sz="1700" dirty="0">
                <a:solidFill>
                  <a:srgbClr val="1F2937"/>
                </a:solidFill>
                <a:latin typeface="Calibri" pitchFamily="34" charset="0"/>
                <a:ea typeface="Calibri" pitchFamily="34" charset="-122"/>
                <a:cs typeface="Calibri" pitchFamily="34" charset="-120"/>
              </a:rPr>
              <a:t>Radyoaktif madde (Thalyum chlorid-201) intravenöz olarak enjekte edilir. Hasta dinlenirken veya egzersiz yaparken kalp kasına gider. Özel bir kamera tıkanmış damarlar nedeniyle daha az radyoaktif madde toplanan yerleri saptar.</a:t>
            </a:r>
            <a:endParaRPr lang="en-US" sz="17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128</a:t>
            </a:r>
            <a:endParaRPr lang="en-US" sz="1000" dirty="0"/>
          </a:p>
        </p:txBody>
      </p:sp>
      <p:sp>
        <p:nvSpPr>
          <p:cNvPr id="6" name="Shape 4"/>
          <p:cNvSpPr/>
          <p:nvPr/>
        </p:nvSpPr>
        <p:spPr>
          <a:xfrm>
            <a:off x="548640" y="1591869"/>
            <a:ext cx="11094415" cy="977798"/>
          </a:xfrm>
          <a:prstGeom prst="roundRect">
            <a:avLst>
              <a:gd name="adj" fmla="val 6546"/>
            </a:avLst>
          </a:prstGeom>
          <a:solidFill>
            <a:srgbClr val="E7F2F9"/>
          </a:solidFill>
          <a:ln/>
        </p:spPr>
      </p:sp>
      <p:sp>
        <p:nvSpPr>
          <p:cNvPr id="7" name="Text 5"/>
          <p:cNvSpPr txBox="1"/>
          <p:nvPr/>
        </p:nvSpPr>
        <p:spPr>
          <a:xfrm>
            <a:off x="704088" y="1665021"/>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Torakosentez: </a:t>
            </a:r>
            <a:r>
              <a:rPr lang="en-US" sz="1600" dirty="0">
                <a:solidFill>
                  <a:srgbClr val="1F2937"/>
                </a:solidFill>
                <a:latin typeface="Calibri" pitchFamily="34" charset="0"/>
                <a:ea typeface="Calibri" pitchFamily="34" charset="-122"/>
                <a:cs typeface="Calibri" pitchFamily="34" charset="-120"/>
              </a:rPr>
              <a:t>Göğüs boşluğunda biriken sıvının boşaltılması işlemidir. Biriken sıvının fazla olması enfeksiyon veya kanser işareti olabilir. Bu yöntem kollabe (sönmüş) akciğerin (atelaktazi) tekrar genişlemesi için kullanılır.</a:t>
            </a:r>
            <a:endParaRPr lang="en-US" sz="1600" dirty="0"/>
          </a:p>
        </p:txBody>
      </p:sp>
      <p:sp>
        <p:nvSpPr>
          <p:cNvPr id="8" name="Shape 6"/>
          <p:cNvSpPr/>
          <p:nvPr/>
        </p:nvSpPr>
        <p:spPr>
          <a:xfrm>
            <a:off x="548640" y="2661107"/>
            <a:ext cx="11094415" cy="729894"/>
          </a:xfrm>
          <a:prstGeom prst="roundRect">
            <a:avLst>
              <a:gd name="adj" fmla="val 8769"/>
            </a:avLst>
          </a:prstGeom>
          <a:solidFill>
            <a:srgbClr val="E7F2F9"/>
          </a:solidFill>
          <a:ln/>
        </p:spPr>
      </p:sp>
      <p:sp>
        <p:nvSpPr>
          <p:cNvPr id="9" name="Text 7"/>
          <p:cNvSpPr txBox="1"/>
          <p:nvPr/>
        </p:nvSpPr>
        <p:spPr>
          <a:xfrm>
            <a:off x="704088" y="2734259"/>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Kuldosentez: </a:t>
            </a:r>
            <a:r>
              <a:rPr lang="en-US" sz="1600" dirty="0">
                <a:solidFill>
                  <a:srgbClr val="1F2937"/>
                </a:solidFill>
                <a:latin typeface="Calibri" pitchFamily="34" charset="0"/>
                <a:ea typeface="Calibri" pitchFamily="34" charset="-122"/>
                <a:cs typeface="Calibri" pitchFamily="34" charset="-120"/>
              </a:rPr>
              <a:t>Rektum ve uterus arasındaki ‘‘cul-de-sac’’ denilen boşluğa vajinadan ince içi boş iğne sokulur. Sıvı alınır ve kanser hücreleri, enfeksiyon ve kan hücreleri aranır.</a:t>
            </a:r>
            <a:endParaRPr lang="en-US" sz="1600" dirty="0"/>
          </a:p>
        </p:txBody>
      </p:sp>
      <p:sp>
        <p:nvSpPr>
          <p:cNvPr id="10" name="Shape 8"/>
          <p:cNvSpPr/>
          <p:nvPr/>
        </p:nvSpPr>
        <p:spPr>
          <a:xfrm>
            <a:off x="548640" y="3482442"/>
            <a:ext cx="11094415" cy="729894"/>
          </a:xfrm>
          <a:prstGeom prst="roundRect">
            <a:avLst>
              <a:gd name="adj" fmla="val 8769"/>
            </a:avLst>
          </a:prstGeom>
          <a:solidFill>
            <a:srgbClr val="E7F2F9"/>
          </a:solidFill>
          <a:ln/>
        </p:spPr>
      </p:sp>
      <p:sp>
        <p:nvSpPr>
          <p:cNvPr id="11" name="Text 9"/>
          <p:cNvSpPr txBox="1"/>
          <p:nvPr/>
        </p:nvSpPr>
        <p:spPr>
          <a:xfrm>
            <a:off x="704088" y="3555594"/>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Amniyosentez: </a:t>
            </a:r>
            <a:r>
              <a:rPr lang="en-US" sz="1600" dirty="0">
                <a:solidFill>
                  <a:srgbClr val="1F2937"/>
                </a:solidFill>
                <a:latin typeface="Calibri" pitchFamily="34" charset="0"/>
                <a:ea typeface="Calibri" pitchFamily="34" charset="-122"/>
                <a:cs typeface="Calibri" pitchFamily="34" charset="-120"/>
              </a:rPr>
              <a:t>Uterusta (döl yatağı) fetüsün içinde bulunduğu sıvıyı (amniyon) almak için kullanılan cerrahi bir işlemdir. Sıvıda mikroskop altında incelenecek fetüse ait hücreler bulunur.</a:t>
            </a:r>
            <a:endParaRPr lang="en-US" sz="1600" dirty="0"/>
          </a:p>
        </p:txBody>
      </p:sp>
      <p:sp>
        <p:nvSpPr>
          <p:cNvPr id="12" name="Shape 10"/>
          <p:cNvSpPr/>
          <p:nvPr/>
        </p:nvSpPr>
        <p:spPr>
          <a:xfrm>
            <a:off x="548640" y="4432605"/>
            <a:ext cx="11094415" cy="481990"/>
          </a:xfrm>
          <a:prstGeom prst="roundRect">
            <a:avLst>
              <a:gd name="adj" fmla="val 13280"/>
            </a:avLst>
          </a:prstGeom>
          <a:solidFill>
            <a:srgbClr val="E7F2F9"/>
          </a:solidFill>
          <a:ln/>
        </p:spPr>
      </p:sp>
      <p:sp>
        <p:nvSpPr>
          <p:cNvPr id="13" name="Text 11"/>
          <p:cNvSpPr txBox="1"/>
          <p:nvPr/>
        </p:nvSpPr>
        <p:spPr>
          <a:xfrm>
            <a:off x="704088" y="4505757"/>
            <a:ext cx="10783519" cy="335686"/>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Aşağıdaki işlemler hastalığın doğru tanısını koymak ya da bazen de tedavi amacıyla da kullanılır.</a:t>
            </a:r>
            <a:endParaRPr lang="en-US" sz="1600" dirty="0"/>
          </a:p>
        </p:txBody>
      </p:sp>
      <p:sp>
        <p:nvSpPr>
          <p:cNvPr id="14" name="Shape 12"/>
          <p:cNvSpPr/>
          <p:nvPr/>
        </p:nvSpPr>
        <p:spPr>
          <a:xfrm>
            <a:off x="548640" y="5006035"/>
            <a:ext cx="11094415" cy="481990"/>
          </a:xfrm>
          <a:prstGeom prst="roundRect">
            <a:avLst>
              <a:gd name="adj" fmla="val 13280"/>
            </a:avLst>
          </a:prstGeom>
          <a:solidFill>
            <a:srgbClr val="E7F2F9"/>
          </a:solidFill>
          <a:ln/>
        </p:spPr>
      </p:sp>
      <p:sp>
        <p:nvSpPr>
          <p:cNvPr id="15" name="Text 13"/>
          <p:cNvSpPr txBox="1"/>
          <p:nvPr/>
        </p:nvSpPr>
        <p:spPr>
          <a:xfrm>
            <a:off x="704088" y="5079187"/>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Parasentez (Abdominosentez): </a:t>
            </a:r>
            <a:r>
              <a:rPr lang="en-US" sz="1600" dirty="0">
                <a:solidFill>
                  <a:srgbClr val="1F2937"/>
                </a:solidFill>
                <a:latin typeface="Calibri" pitchFamily="34" charset="0"/>
                <a:ea typeface="Calibri" pitchFamily="34" charset="-122"/>
                <a:cs typeface="Calibri" pitchFamily="34" charset="-120"/>
              </a:rPr>
              <a:t>Karın boşluğunda biriken sıvının boşaltılması.</a:t>
            </a:r>
            <a:endParaRPr lang="en-US" sz="1600" dirty="0"/>
          </a:p>
        </p:txBody>
      </p:sp>
      <p:sp>
        <p:nvSpPr>
          <p:cNvPr id="16" name="Shape 14"/>
          <p:cNvSpPr/>
          <p:nvPr/>
        </p:nvSpPr>
        <p:spPr>
          <a:xfrm>
            <a:off x="548640" y="5579466"/>
            <a:ext cx="11094415" cy="729894"/>
          </a:xfrm>
          <a:prstGeom prst="roundRect">
            <a:avLst>
              <a:gd name="adj" fmla="val 8769"/>
            </a:avLst>
          </a:prstGeom>
          <a:solidFill>
            <a:srgbClr val="E7F2F9"/>
          </a:solidFill>
          <a:ln/>
        </p:spPr>
      </p:sp>
      <p:sp>
        <p:nvSpPr>
          <p:cNvPr id="17" name="Text 15"/>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Aspirasyon: </a:t>
            </a:r>
            <a:r>
              <a:rPr lang="en-US" sz="1600" dirty="0">
                <a:solidFill>
                  <a:srgbClr val="1F2937"/>
                </a:solidFill>
                <a:latin typeface="Calibri" pitchFamily="34" charset="0"/>
                <a:ea typeface="Calibri" pitchFamily="34" charset="-122"/>
                <a:cs typeface="Calibri" pitchFamily="34" charset="-120"/>
              </a:rPr>
              <a:t>İğne ve tüp yardımıyla aspire edilir. Aspirasyon pnömonisi, akciğerin yiyecek veya yabancı madde inhalasyonu sonucu oluşan enfeksiyondur.</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129</a:t>
            </a:r>
            <a:endParaRPr lang="en-US" sz="1000" dirty="0"/>
          </a:p>
        </p:txBody>
      </p:sp>
      <p:sp>
        <p:nvSpPr>
          <p:cNvPr id="6" name="Shape 4"/>
          <p:cNvSpPr/>
          <p:nvPr/>
        </p:nvSpPr>
        <p:spPr>
          <a:xfrm>
            <a:off x="548640" y="1506728"/>
            <a:ext cx="11094415" cy="1225702"/>
          </a:xfrm>
          <a:prstGeom prst="roundRect">
            <a:avLst>
              <a:gd name="adj" fmla="val 5222"/>
            </a:avLst>
          </a:prstGeom>
          <a:solidFill>
            <a:srgbClr val="E7F2F9"/>
          </a:solidFill>
          <a:ln/>
        </p:spPr>
      </p:sp>
      <p:sp>
        <p:nvSpPr>
          <p:cNvPr id="7" name="Text 5"/>
          <p:cNvSpPr txBox="1"/>
          <p:nvPr/>
        </p:nvSpPr>
        <p:spPr>
          <a:xfrm>
            <a:off x="704088" y="1579880"/>
            <a:ext cx="10783519" cy="1079398"/>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Biyopsi: </a:t>
            </a:r>
            <a:r>
              <a:rPr lang="en-US" sz="1600" dirty="0">
                <a:solidFill>
                  <a:srgbClr val="1F2937"/>
                </a:solidFill>
                <a:latin typeface="Calibri" pitchFamily="34" charset="0"/>
                <a:ea typeface="Calibri" pitchFamily="34" charset="-122"/>
                <a:cs typeface="Calibri" pitchFamily="34" charset="-120"/>
              </a:rPr>
              <a:t>Vücuttaki bir organdan doku parçası alınması ve mikroskop altında incelenmesidir. Bu işlem cerrahi bıçak, iğne aspirasyonu veya endoskopi ile (tüp içerisinden özel bir foseps tipi enstrüman geçirilmesi ile) yapılır. ‘Ekzisyonel biyopsi’de incelenecek tüm doku çıkarılır. ‘İnsizyonel bitopsi’de doku boş iğneye çekilir vesıvı mikroskobik inceleme için alınır.</a:t>
            </a:r>
            <a:endParaRPr lang="en-US" sz="1600" dirty="0"/>
          </a:p>
        </p:txBody>
      </p:sp>
      <p:sp>
        <p:nvSpPr>
          <p:cNvPr id="8" name="Shape 6"/>
          <p:cNvSpPr/>
          <p:nvPr/>
        </p:nvSpPr>
        <p:spPr>
          <a:xfrm>
            <a:off x="548640" y="2823870"/>
            <a:ext cx="11094415" cy="977798"/>
          </a:xfrm>
          <a:prstGeom prst="roundRect">
            <a:avLst>
              <a:gd name="adj" fmla="val 6546"/>
            </a:avLst>
          </a:prstGeom>
          <a:solidFill>
            <a:srgbClr val="E7F2F9"/>
          </a:solidFill>
          <a:ln/>
        </p:spPr>
      </p:sp>
      <p:sp>
        <p:nvSpPr>
          <p:cNvPr id="9" name="Text 7"/>
          <p:cNvSpPr txBox="1"/>
          <p:nvPr/>
        </p:nvSpPr>
        <p:spPr>
          <a:xfrm>
            <a:off x="704088" y="2897022"/>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Kemik İliği Biyopsisi: </a:t>
            </a:r>
            <a:r>
              <a:rPr lang="en-US" sz="1600" dirty="0">
                <a:solidFill>
                  <a:srgbClr val="1F2937"/>
                </a:solidFill>
                <a:latin typeface="Calibri" pitchFamily="34" charset="0"/>
                <a:ea typeface="Calibri" pitchFamily="34" charset="-122"/>
                <a:cs typeface="Calibri" pitchFamily="34" charset="-120"/>
              </a:rPr>
              <a:t>Az miktarda kemik iliğinin alınmasıdır. Hücreler daha sonra mikroskop altında incelenir. Çoğunlukla kalça kemiği (iliak krest) kullanılır. Biyopsi kemik iliğindeki hücrelerin tipini ve sayısını saptamak için yapılır.</a:t>
            </a:r>
            <a:endParaRPr lang="en-US" sz="1600" dirty="0"/>
          </a:p>
        </p:txBody>
      </p:sp>
      <p:sp>
        <p:nvSpPr>
          <p:cNvPr id="10" name="Shape 8"/>
          <p:cNvSpPr/>
          <p:nvPr/>
        </p:nvSpPr>
        <p:spPr>
          <a:xfrm>
            <a:off x="548640" y="3893109"/>
            <a:ext cx="11094415" cy="729894"/>
          </a:xfrm>
          <a:prstGeom prst="roundRect">
            <a:avLst>
              <a:gd name="adj" fmla="val 8769"/>
            </a:avLst>
          </a:prstGeom>
          <a:solidFill>
            <a:srgbClr val="E7F2F9"/>
          </a:solidFill>
          <a:ln/>
        </p:spPr>
      </p:sp>
      <p:sp>
        <p:nvSpPr>
          <p:cNvPr id="11" name="Text 9"/>
          <p:cNvSpPr txBox="1"/>
          <p:nvPr/>
        </p:nvSpPr>
        <p:spPr>
          <a:xfrm>
            <a:off x="704088" y="3966261"/>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Perküsyon: </a:t>
            </a:r>
            <a:r>
              <a:rPr lang="en-US" sz="1600" dirty="0">
                <a:solidFill>
                  <a:srgbClr val="1F2937"/>
                </a:solidFill>
                <a:latin typeface="Calibri" pitchFamily="34" charset="0"/>
                <a:ea typeface="Calibri" pitchFamily="34" charset="-122"/>
                <a:cs typeface="Calibri" pitchFamily="34" charset="-120"/>
              </a:rPr>
              <a:t>Altta bulunan organın boyut, densite ve pozisyonunu saptamak için küçük kısa parmak vuruşlarıdır. Perküsyon en çok karın bölgesinde karaciğeri incelemek için yapılır.</a:t>
            </a:r>
            <a:endParaRPr lang="en-US" sz="1600" dirty="0"/>
          </a:p>
        </p:txBody>
      </p:sp>
      <p:sp>
        <p:nvSpPr>
          <p:cNvPr id="12" name="Shape 10"/>
          <p:cNvSpPr/>
          <p:nvPr/>
        </p:nvSpPr>
        <p:spPr>
          <a:xfrm>
            <a:off x="548640" y="4758131"/>
            <a:ext cx="11094415" cy="729894"/>
          </a:xfrm>
          <a:prstGeom prst="roundRect">
            <a:avLst>
              <a:gd name="adj" fmla="val 8769"/>
            </a:avLst>
          </a:prstGeom>
          <a:solidFill>
            <a:srgbClr val="E7F2F9"/>
          </a:solidFill>
          <a:ln/>
        </p:spPr>
      </p:sp>
      <p:sp>
        <p:nvSpPr>
          <p:cNvPr id="13" name="Text 11"/>
          <p:cNvSpPr txBox="1"/>
          <p:nvPr/>
        </p:nvSpPr>
        <p:spPr>
          <a:xfrm>
            <a:off x="704088" y="483128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Odyogram: </a:t>
            </a:r>
            <a:r>
              <a:rPr lang="en-US" sz="1600" dirty="0">
                <a:solidFill>
                  <a:srgbClr val="1F2937"/>
                </a:solidFill>
                <a:latin typeface="Calibri" pitchFamily="34" charset="0"/>
                <a:ea typeface="Calibri" pitchFamily="34" charset="-122"/>
                <a:cs typeface="Calibri" pitchFamily="34" charset="-120"/>
              </a:rPr>
              <a:t>İşitme kaybının miktarının ve tipini saptamak için farklı frekanslarda ses dalgaları (500-800 Hz) kullanılan bir testtir.</a:t>
            </a:r>
            <a:endParaRPr lang="en-US" sz="1600" dirty="0"/>
          </a:p>
        </p:txBody>
      </p:sp>
      <p:sp>
        <p:nvSpPr>
          <p:cNvPr id="14" name="Shape 12"/>
          <p:cNvSpPr/>
          <p:nvPr/>
        </p:nvSpPr>
        <p:spPr>
          <a:xfrm>
            <a:off x="548640" y="5579466"/>
            <a:ext cx="11094415" cy="729894"/>
          </a:xfrm>
          <a:prstGeom prst="roundRect">
            <a:avLst>
              <a:gd name="adj" fmla="val 8769"/>
            </a:avLst>
          </a:prstGeom>
          <a:solidFill>
            <a:srgbClr val="E7F2F9"/>
          </a:solidFill>
          <a:ln/>
        </p:spPr>
      </p:sp>
      <p:sp>
        <p:nvSpPr>
          <p:cNvPr id="15" name="Text 13"/>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İnspeksiyon: </a:t>
            </a:r>
            <a:r>
              <a:rPr lang="en-US" sz="1600" dirty="0">
                <a:solidFill>
                  <a:srgbClr val="1F2937"/>
                </a:solidFill>
                <a:latin typeface="Calibri" pitchFamily="34" charset="0"/>
                <a:ea typeface="Calibri" pitchFamily="34" charset="-122"/>
                <a:cs typeface="Calibri" pitchFamily="34" charset="-120"/>
              </a:rPr>
              <a:t>Doktorun hastayı bir araç kullanmadan, evvelce gözle incelemesi. Gözlem,, görme yoluyla gerçekleştirilen muayene.</a:t>
            </a:r>
            <a:endParaRPr lang="en-US" sz="16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130</a:t>
            </a:r>
            <a:endParaRPr lang="en-US" sz="1000" dirty="0"/>
          </a:p>
        </p:txBody>
      </p:sp>
      <p:sp>
        <p:nvSpPr>
          <p:cNvPr id="6" name="Shape 4"/>
          <p:cNvSpPr/>
          <p:nvPr/>
        </p:nvSpPr>
        <p:spPr>
          <a:xfrm>
            <a:off x="548640" y="2177796"/>
            <a:ext cx="11094415" cy="554736"/>
          </a:xfrm>
          <a:prstGeom prst="roundRect">
            <a:avLst>
              <a:gd name="adj" fmla="val 11538"/>
            </a:avLst>
          </a:prstGeom>
          <a:solidFill>
            <a:srgbClr val="E7F2F9"/>
          </a:solidFill>
          <a:ln/>
        </p:spPr>
      </p:sp>
      <p:sp>
        <p:nvSpPr>
          <p:cNvPr id="7" name="Text 5"/>
          <p:cNvSpPr txBox="1"/>
          <p:nvPr/>
        </p:nvSpPr>
        <p:spPr>
          <a:xfrm>
            <a:off x="704088" y="2250948"/>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Palpasyon: </a:t>
            </a:r>
            <a:r>
              <a:rPr lang="en-US" sz="1200" dirty="0">
                <a:solidFill>
                  <a:srgbClr val="1F2937"/>
                </a:solidFill>
                <a:latin typeface="Calibri" pitchFamily="34" charset="0"/>
                <a:ea typeface="Calibri" pitchFamily="34" charset="-122"/>
                <a:cs typeface="Calibri" pitchFamily="34" charset="-120"/>
              </a:rPr>
              <a:t>Elle dokunularak yapılan incelemedir. Bir hekimin dokuları ve organları derinin üzerinden dokunarak hissetmesi ile yapılan fiziki incelemedir.</a:t>
            </a:r>
            <a:endParaRPr lang="en-US" sz="1200" dirty="0"/>
          </a:p>
        </p:txBody>
      </p:sp>
      <p:sp>
        <p:nvSpPr>
          <p:cNvPr id="8" name="Shape 6"/>
          <p:cNvSpPr/>
          <p:nvPr/>
        </p:nvSpPr>
        <p:spPr>
          <a:xfrm>
            <a:off x="548640" y="2823972"/>
            <a:ext cx="11094415" cy="554736"/>
          </a:xfrm>
          <a:prstGeom prst="roundRect">
            <a:avLst>
              <a:gd name="adj" fmla="val 11538"/>
            </a:avLst>
          </a:prstGeom>
          <a:solidFill>
            <a:srgbClr val="E7F2F9"/>
          </a:solidFill>
          <a:ln/>
        </p:spPr>
      </p:sp>
      <p:sp>
        <p:nvSpPr>
          <p:cNvPr id="9" name="Text 7"/>
          <p:cNvSpPr txBox="1"/>
          <p:nvPr/>
        </p:nvSpPr>
        <p:spPr>
          <a:xfrm>
            <a:off x="704088" y="2897124"/>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Oskültasyon: </a:t>
            </a:r>
            <a:r>
              <a:rPr lang="en-US" sz="1200" dirty="0">
                <a:solidFill>
                  <a:srgbClr val="1F2937"/>
                </a:solidFill>
                <a:latin typeface="Calibri" pitchFamily="34" charset="0"/>
                <a:ea typeface="Calibri" pitchFamily="34" charset="-122"/>
                <a:cs typeface="Calibri" pitchFamily="34" charset="-120"/>
              </a:rPr>
              <a:t>Vücutta üretilen seslerin dinlenmesidir. En çok steteskopla akciğerin, kalbin, karın bölgesinin veya fetal kalp atımlarının saptanması için yapılır.</a:t>
            </a:r>
            <a:endParaRPr lang="en-US" sz="1200" dirty="0"/>
          </a:p>
        </p:txBody>
      </p:sp>
      <p:sp>
        <p:nvSpPr>
          <p:cNvPr id="10" name="Shape 8"/>
          <p:cNvSpPr/>
          <p:nvPr/>
        </p:nvSpPr>
        <p:spPr>
          <a:xfrm>
            <a:off x="548640" y="3470148"/>
            <a:ext cx="11094415" cy="554736"/>
          </a:xfrm>
          <a:prstGeom prst="roundRect">
            <a:avLst>
              <a:gd name="adj" fmla="val 11538"/>
            </a:avLst>
          </a:prstGeom>
          <a:solidFill>
            <a:srgbClr val="E7F2F9"/>
          </a:solidFill>
          <a:ln/>
        </p:spPr>
      </p:sp>
      <p:sp>
        <p:nvSpPr>
          <p:cNvPr id="11" name="Text 9"/>
          <p:cNvSpPr txBox="1"/>
          <p:nvPr/>
        </p:nvSpPr>
        <p:spPr>
          <a:xfrm>
            <a:off x="704088" y="3543300"/>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Otoskopik İnceleme: </a:t>
            </a:r>
            <a:r>
              <a:rPr lang="en-US" sz="1200" dirty="0">
                <a:solidFill>
                  <a:srgbClr val="1F2937"/>
                </a:solidFill>
                <a:latin typeface="Calibri" pitchFamily="34" charset="0"/>
                <a:ea typeface="Calibri" pitchFamily="34" charset="-122"/>
                <a:cs typeface="Calibri" pitchFamily="34" charset="-120"/>
              </a:rPr>
              <a:t>Otoskop kullanarak dış kulak yolunun obstrüksiyon açısından incelenmesidir. Örneğin enfeksiyon, kulak kiri, sıvı ve kulak zarı perforasyonu veya skar dokusu incelenir.</a:t>
            </a:r>
            <a:endParaRPr lang="en-US" sz="1200" dirty="0"/>
          </a:p>
        </p:txBody>
      </p:sp>
      <p:sp>
        <p:nvSpPr>
          <p:cNvPr id="12" name="Shape 10"/>
          <p:cNvSpPr/>
          <p:nvPr/>
        </p:nvSpPr>
        <p:spPr>
          <a:xfrm>
            <a:off x="548640" y="4116324"/>
            <a:ext cx="11094415" cy="554736"/>
          </a:xfrm>
          <a:prstGeom prst="roundRect">
            <a:avLst>
              <a:gd name="adj" fmla="val 11538"/>
            </a:avLst>
          </a:prstGeom>
          <a:solidFill>
            <a:srgbClr val="E7F2F9"/>
          </a:solidFill>
          <a:ln/>
        </p:spPr>
      </p:sp>
      <p:sp>
        <p:nvSpPr>
          <p:cNvPr id="13" name="Text 11"/>
          <p:cNvSpPr txBox="1"/>
          <p:nvPr/>
        </p:nvSpPr>
        <p:spPr>
          <a:xfrm>
            <a:off x="704088" y="4189476"/>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Oftalmoskopik İnceleme: </a:t>
            </a:r>
            <a:r>
              <a:rPr lang="en-US" sz="1200" dirty="0">
                <a:solidFill>
                  <a:srgbClr val="1F2937"/>
                </a:solidFill>
                <a:latin typeface="Calibri" pitchFamily="34" charset="0"/>
                <a:ea typeface="Calibri" pitchFamily="34" charset="-122"/>
                <a:cs typeface="Calibri" pitchFamily="34" charset="-120"/>
              </a:rPr>
              <a:t>Gözü doğrudan incelemek için oftalmoskop kullanılır. Böylece lenste katarak olup olmadığı, optik sinir, retina ve gözdeki kan damarları incelenir.</a:t>
            </a:r>
            <a:endParaRPr lang="en-US" sz="1200" dirty="0"/>
          </a:p>
        </p:txBody>
      </p:sp>
      <p:sp>
        <p:nvSpPr>
          <p:cNvPr id="14" name="Shape 12"/>
          <p:cNvSpPr/>
          <p:nvPr/>
        </p:nvSpPr>
        <p:spPr>
          <a:xfrm>
            <a:off x="548640" y="4762500"/>
            <a:ext cx="11094415" cy="740664"/>
          </a:xfrm>
          <a:prstGeom prst="roundRect">
            <a:avLst>
              <a:gd name="adj" fmla="val 8642"/>
            </a:avLst>
          </a:prstGeom>
          <a:solidFill>
            <a:srgbClr val="E7F2F9"/>
          </a:solidFill>
          <a:ln/>
        </p:spPr>
      </p:sp>
      <p:sp>
        <p:nvSpPr>
          <p:cNvPr id="15" name="Text 13"/>
          <p:cNvSpPr txBox="1"/>
          <p:nvPr/>
        </p:nvSpPr>
        <p:spPr>
          <a:xfrm>
            <a:off x="704088" y="4835652"/>
            <a:ext cx="10783519" cy="594360"/>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Endoskopi: </a:t>
            </a:r>
            <a:r>
              <a:rPr lang="en-US" sz="1200" dirty="0">
                <a:solidFill>
                  <a:srgbClr val="1F2937"/>
                </a:solidFill>
                <a:latin typeface="Calibri" pitchFamily="34" charset="0"/>
                <a:ea typeface="Calibri" pitchFamily="34" charset="-122"/>
                <a:cs typeface="Calibri" pitchFamily="34" charset="-120"/>
              </a:rPr>
              <a:t>İnce tüp şeklindeki bir gereç (endoskop) doğal bir açıklıktan (ağız, anüs), cerrahi insizyondan veya karın duvarından sokulur. Endoskoplar ışık taşıyan cam ‘fiber’ kümesinden oluşur. Bazı gereçlerde küçük forseps benzeri bir parça vardır. Bu parça ile mikroskobik doku örneği (biyopsi)  alınır. Bronkoskopi, özofagoskopi, gastroskopi ve laporoskopi farklı organlara yönelik endoskopi yöntemleridir.</a:t>
            </a:r>
            <a:endParaRPr lang="en-US" sz="12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131</a:t>
            </a:r>
            <a:endParaRPr lang="en-US" sz="1000" dirty="0"/>
          </a:p>
        </p:txBody>
      </p:sp>
      <p:sp>
        <p:nvSpPr>
          <p:cNvPr id="6" name="Shape 4"/>
          <p:cNvSpPr/>
          <p:nvPr/>
        </p:nvSpPr>
        <p:spPr>
          <a:xfrm>
            <a:off x="548640" y="1604772"/>
            <a:ext cx="11094415" cy="684276"/>
          </a:xfrm>
          <a:prstGeom prst="roundRect">
            <a:avLst>
              <a:gd name="adj" fmla="val 9354"/>
            </a:avLst>
          </a:prstGeom>
          <a:solidFill>
            <a:srgbClr val="E7F2F9"/>
          </a:solidFill>
          <a:ln/>
        </p:spPr>
      </p:sp>
      <p:sp>
        <p:nvSpPr>
          <p:cNvPr id="7" name="Text 5"/>
          <p:cNvSpPr txBox="1"/>
          <p:nvPr/>
        </p:nvSpPr>
        <p:spPr>
          <a:xfrm>
            <a:off x="704088" y="167792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Laringoskopi: </a:t>
            </a:r>
            <a:r>
              <a:rPr lang="en-US" sz="1500" dirty="0">
                <a:solidFill>
                  <a:srgbClr val="1F2937"/>
                </a:solidFill>
                <a:latin typeface="Calibri" pitchFamily="34" charset="0"/>
                <a:ea typeface="Calibri" pitchFamily="34" charset="-122"/>
                <a:cs typeface="Calibri" pitchFamily="34" charset="-120"/>
              </a:rPr>
              <a:t>Larinksin görsel olarak incelenmesi için hava yolundan endoskop sokulur. Lens ve aynalar yardımıyla larinksin büyütülmüş görüntüsü elde edilir. Bu işlem ile tümörler ve ses tellerindeki değişiklikler saptanır.</a:t>
            </a:r>
            <a:endParaRPr lang="en-US" sz="1500" dirty="0"/>
          </a:p>
        </p:txBody>
      </p:sp>
      <p:sp>
        <p:nvSpPr>
          <p:cNvPr id="8" name="Shape 6"/>
          <p:cNvSpPr/>
          <p:nvPr/>
        </p:nvSpPr>
        <p:spPr>
          <a:xfrm>
            <a:off x="548640" y="2380488"/>
            <a:ext cx="11094415" cy="916686"/>
          </a:xfrm>
          <a:prstGeom prst="roundRect">
            <a:avLst>
              <a:gd name="adj" fmla="val 6983"/>
            </a:avLst>
          </a:prstGeom>
          <a:solidFill>
            <a:srgbClr val="E7F2F9"/>
          </a:solidFill>
          <a:ln/>
        </p:spPr>
      </p:sp>
      <p:sp>
        <p:nvSpPr>
          <p:cNvPr id="9" name="Text 7"/>
          <p:cNvSpPr txBox="1"/>
          <p:nvPr/>
        </p:nvSpPr>
        <p:spPr>
          <a:xfrm>
            <a:off x="704088" y="2453640"/>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Mediastinoskopi: </a:t>
            </a:r>
            <a:r>
              <a:rPr lang="en-US" sz="1500" dirty="0">
                <a:solidFill>
                  <a:srgbClr val="1F2937"/>
                </a:solidFill>
                <a:latin typeface="Calibri" pitchFamily="34" charset="0"/>
                <a:ea typeface="Calibri" pitchFamily="34" charset="-122"/>
                <a:cs typeface="Calibri" pitchFamily="34" charset="-120"/>
              </a:rPr>
              <a:t>Bu işlemde mediastimuma endoskop sokulur (akciğerler arasında ve kalbin önündeki potansiyel boşluk).  Hasta anestezi altında iken küçük bir insizyondan mediastinoskop sokulur. Bu işlem ile lenf düğümü biyopsisi yapılabilir. Ayrıca mediastinumdaki diğer yapılar da incelenebilir.</a:t>
            </a:r>
            <a:endParaRPr lang="en-US" sz="1500" dirty="0"/>
          </a:p>
        </p:txBody>
      </p:sp>
      <p:sp>
        <p:nvSpPr>
          <p:cNvPr id="10" name="Shape 8"/>
          <p:cNvSpPr/>
          <p:nvPr/>
        </p:nvSpPr>
        <p:spPr>
          <a:xfrm>
            <a:off x="548640" y="3530346"/>
            <a:ext cx="11094415" cy="684276"/>
          </a:xfrm>
          <a:prstGeom prst="roundRect">
            <a:avLst>
              <a:gd name="adj" fmla="val 9354"/>
            </a:avLst>
          </a:prstGeom>
          <a:solidFill>
            <a:srgbClr val="E7F2F9"/>
          </a:solidFill>
          <a:ln/>
        </p:spPr>
      </p:sp>
      <p:sp>
        <p:nvSpPr>
          <p:cNvPr id="11" name="Text 9"/>
          <p:cNvSpPr txBox="1"/>
          <p:nvPr/>
        </p:nvSpPr>
        <p:spPr>
          <a:xfrm>
            <a:off x="704088" y="360349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Bronkoskopi: </a:t>
            </a:r>
            <a:r>
              <a:rPr lang="en-US" sz="1500" dirty="0">
                <a:solidFill>
                  <a:srgbClr val="1F2937"/>
                </a:solidFill>
                <a:latin typeface="Calibri" pitchFamily="34" charset="0"/>
                <a:ea typeface="Calibri" pitchFamily="34" charset="-122"/>
                <a:cs typeface="Calibri" pitchFamily="34" charset="-120"/>
              </a:rPr>
              <a:t>Hava yoluna esnek tüp sokularak yapılır. Bronşların için görülür ve biyopsi için doku alınabilir. Tüp ağızdan sokulur.</a:t>
            </a:r>
            <a:endParaRPr lang="en-US" sz="1500" dirty="0"/>
          </a:p>
        </p:txBody>
      </p:sp>
      <p:sp>
        <p:nvSpPr>
          <p:cNvPr id="12" name="Shape 10"/>
          <p:cNvSpPr/>
          <p:nvPr/>
        </p:nvSpPr>
        <p:spPr>
          <a:xfrm>
            <a:off x="548640" y="4306062"/>
            <a:ext cx="11094415" cy="684276"/>
          </a:xfrm>
          <a:prstGeom prst="roundRect">
            <a:avLst>
              <a:gd name="adj" fmla="val 9354"/>
            </a:avLst>
          </a:prstGeom>
          <a:solidFill>
            <a:srgbClr val="E7F2F9"/>
          </a:solidFill>
          <a:ln/>
        </p:spPr>
      </p:sp>
      <p:sp>
        <p:nvSpPr>
          <p:cNvPr id="13" name="Text 11"/>
          <p:cNvSpPr txBox="1"/>
          <p:nvPr/>
        </p:nvSpPr>
        <p:spPr>
          <a:xfrm>
            <a:off x="704088" y="437921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Torakoskopi: </a:t>
            </a:r>
            <a:r>
              <a:rPr lang="en-US" sz="1500" dirty="0">
                <a:solidFill>
                  <a:srgbClr val="1F2937"/>
                </a:solidFill>
                <a:latin typeface="Calibri" pitchFamily="34" charset="0"/>
                <a:ea typeface="Calibri" pitchFamily="34" charset="-122"/>
                <a:cs typeface="Calibri" pitchFamily="34" charset="-120"/>
              </a:rPr>
              <a:t>Göğüs bölgesinde bir insizyon yerinden endoskop sokularak akciğer yüzeylerinin görsel olarak incelenmesidir.</a:t>
            </a:r>
            <a:endParaRPr lang="en-US" sz="1500" dirty="0"/>
          </a:p>
        </p:txBody>
      </p:sp>
      <p:sp>
        <p:nvSpPr>
          <p:cNvPr id="14" name="Shape 12"/>
          <p:cNvSpPr/>
          <p:nvPr/>
        </p:nvSpPr>
        <p:spPr>
          <a:xfrm>
            <a:off x="548640" y="5081778"/>
            <a:ext cx="11094415" cy="451866"/>
          </a:xfrm>
          <a:prstGeom prst="roundRect">
            <a:avLst>
              <a:gd name="adj" fmla="val 14165"/>
            </a:avLst>
          </a:prstGeom>
          <a:solidFill>
            <a:srgbClr val="E7F2F9"/>
          </a:solidFill>
          <a:ln/>
        </p:spPr>
      </p:sp>
      <p:sp>
        <p:nvSpPr>
          <p:cNvPr id="15" name="Text 13"/>
          <p:cNvSpPr txBox="1"/>
          <p:nvPr/>
        </p:nvSpPr>
        <p:spPr>
          <a:xfrm>
            <a:off x="704088" y="515493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Özofagoskopi: </a:t>
            </a:r>
            <a:r>
              <a:rPr lang="en-US" sz="1500" dirty="0">
                <a:solidFill>
                  <a:srgbClr val="1F2937"/>
                </a:solidFill>
                <a:latin typeface="Calibri" pitchFamily="34" charset="0"/>
                <a:ea typeface="Calibri" pitchFamily="34" charset="-122"/>
                <a:cs typeface="Calibri" pitchFamily="34" charset="-120"/>
              </a:rPr>
              <a:t>Ağızdan endoskop sokulur. Özofagustaki ülser, tümör ve benzeri lezyonlar saptanır.</a:t>
            </a:r>
            <a:endParaRPr lang="en-US" sz="1500" dirty="0"/>
          </a:p>
        </p:txBody>
      </p:sp>
      <p:sp>
        <p:nvSpPr>
          <p:cNvPr id="16" name="Shape 14"/>
          <p:cNvSpPr/>
          <p:nvPr/>
        </p:nvSpPr>
        <p:spPr>
          <a:xfrm>
            <a:off x="548640" y="5625084"/>
            <a:ext cx="11094415" cy="684276"/>
          </a:xfrm>
          <a:prstGeom prst="roundRect">
            <a:avLst>
              <a:gd name="adj" fmla="val 9354"/>
            </a:avLst>
          </a:prstGeom>
          <a:solidFill>
            <a:srgbClr val="E7F2F9"/>
          </a:solidFill>
          <a:ln/>
        </p:spPr>
      </p:sp>
      <p:sp>
        <p:nvSpPr>
          <p:cNvPr id="17" name="Text 15"/>
          <p:cNvSpPr txBox="1"/>
          <p:nvPr/>
        </p:nvSpPr>
        <p:spPr>
          <a:xfrm>
            <a:off x="704088" y="5698236"/>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Özofagogastroduodenoskopi (EGD): </a:t>
            </a:r>
            <a:r>
              <a:rPr lang="en-US" sz="1500" dirty="0">
                <a:solidFill>
                  <a:srgbClr val="1F2937"/>
                </a:solidFill>
                <a:latin typeface="Calibri" pitchFamily="34" charset="0"/>
                <a:ea typeface="Calibri" pitchFamily="34" charset="-122"/>
                <a:cs typeface="Calibri" pitchFamily="34" charset="-120"/>
              </a:rPr>
              <a:t>Ağızdan özofagusa endoskop sokulur, mideye ve ince bağırsağın ilk kısmına ilerlenir.</a:t>
            </a:r>
            <a:endParaRPr lang="en-US" sz="15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132</a:t>
            </a:r>
            <a:endParaRPr lang="en-US" sz="1000" dirty="0"/>
          </a:p>
        </p:txBody>
      </p:sp>
      <p:sp>
        <p:nvSpPr>
          <p:cNvPr id="6" name="Shape 4"/>
          <p:cNvSpPr/>
          <p:nvPr/>
        </p:nvSpPr>
        <p:spPr>
          <a:xfrm>
            <a:off x="548640" y="1591869"/>
            <a:ext cx="11094415" cy="729894"/>
          </a:xfrm>
          <a:prstGeom prst="roundRect">
            <a:avLst>
              <a:gd name="adj" fmla="val 8769"/>
            </a:avLst>
          </a:prstGeom>
          <a:solidFill>
            <a:srgbClr val="E7F2F9"/>
          </a:solidFill>
          <a:ln/>
        </p:spPr>
      </p:sp>
      <p:sp>
        <p:nvSpPr>
          <p:cNvPr id="7" name="Text 5"/>
          <p:cNvSpPr txBox="1"/>
          <p:nvPr/>
        </p:nvSpPr>
        <p:spPr>
          <a:xfrm>
            <a:off x="704088" y="1665021"/>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Kolonoskopi: </a:t>
            </a:r>
            <a:r>
              <a:rPr lang="en-US" sz="1600" dirty="0">
                <a:solidFill>
                  <a:srgbClr val="1F2937"/>
                </a:solidFill>
                <a:latin typeface="Calibri" pitchFamily="34" charset="0"/>
                <a:ea typeface="Calibri" pitchFamily="34" charset="-122"/>
                <a:cs typeface="Calibri" pitchFamily="34" charset="-120"/>
              </a:rPr>
              <a:t>Rektumdan kolona esnek bir tüp sokulur. Böylece görsel incleme yapılabilir, biyopsi örnekleri alınabilir ve polip gibi iyicil büyümeler endoskopla çıkarılabilir. Polipin çıkarılmasına polipektomi denir.</a:t>
            </a:r>
            <a:endParaRPr lang="en-US" sz="1600" dirty="0"/>
          </a:p>
        </p:txBody>
      </p:sp>
      <p:sp>
        <p:nvSpPr>
          <p:cNvPr id="8" name="Shape 6"/>
          <p:cNvSpPr/>
          <p:nvPr/>
        </p:nvSpPr>
        <p:spPr>
          <a:xfrm>
            <a:off x="548640" y="2413203"/>
            <a:ext cx="11094415" cy="977798"/>
          </a:xfrm>
          <a:prstGeom prst="roundRect">
            <a:avLst>
              <a:gd name="adj" fmla="val 6546"/>
            </a:avLst>
          </a:prstGeom>
          <a:solidFill>
            <a:srgbClr val="E7F2F9"/>
          </a:solidFill>
          <a:ln/>
        </p:spPr>
      </p:sp>
      <p:sp>
        <p:nvSpPr>
          <p:cNvPr id="9" name="Text 7"/>
          <p:cNvSpPr txBox="1"/>
          <p:nvPr/>
        </p:nvSpPr>
        <p:spPr>
          <a:xfrm>
            <a:off x="704088" y="2486355"/>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Laparoskopi: </a:t>
            </a:r>
            <a:r>
              <a:rPr lang="en-US" sz="1600" dirty="0">
                <a:solidFill>
                  <a:srgbClr val="1F2937"/>
                </a:solidFill>
                <a:latin typeface="Calibri" pitchFamily="34" charset="0"/>
                <a:ea typeface="Calibri" pitchFamily="34" charset="-122"/>
                <a:cs typeface="Calibri" pitchFamily="34" charset="-120"/>
              </a:rPr>
              <a:t>Hastaya lokal anestezi yapıldıktan sonra karın duvarındaki insizyondan laparoskop sokulur. Bu işlemle hekim karnın içini, karaciğerin yüzeyini, dalağı ve pelvisi inceler. Laparoskop ayrıca gebeliği önlemek için fallop tüplerinin bağlanmasında da sık kullanılır.</a:t>
            </a:r>
            <a:endParaRPr lang="en-US" sz="1600" dirty="0"/>
          </a:p>
        </p:txBody>
      </p:sp>
      <p:sp>
        <p:nvSpPr>
          <p:cNvPr id="10" name="Shape 8"/>
          <p:cNvSpPr/>
          <p:nvPr/>
        </p:nvSpPr>
        <p:spPr>
          <a:xfrm>
            <a:off x="548640" y="3611270"/>
            <a:ext cx="11094415" cy="729894"/>
          </a:xfrm>
          <a:prstGeom prst="roundRect">
            <a:avLst>
              <a:gd name="adj" fmla="val 8769"/>
            </a:avLst>
          </a:prstGeom>
          <a:solidFill>
            <a:srgbClr val="E7F2F9"/>
          </a:solidFill>
          <a:ln/>
        </p:spPr>
      </p:sp>
      <p:sp>
        <p:nvSpPr>
          <p:cNvPr id="11" name="Text 9"/>
          <p:cNvSpPr txBox="1"/>
          <p:nvPr/>
        </p:nvSpPr>
        <p:spPr>
          <a:xfrm>
            <a:off x="704088" y="3684422"/>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Gastroskopi: </a:t>
            </a:r>
            <a:r>
              <a:rPr lang="en-US" sz="1600" dirty="0">
                <a:solidFill>
                  <a:srgbClr val="1F2937"/>
                </a:solidFill>
                <a:latin typeface="Calibri" pitchFamily="34" charset="0"/>
                <a:ea typeface="Calibri" pitchFamily="34" charset="-122"/>
                <a:cs typeface="Calibri" pitchFamily="34" charset="-120"/>
              </a:rPr>
              <a:t>Midenin içinin görüntülenmesi ve biyopsi alınması için özofagustan endoskop sokularak incelenmesidir.</a:t>
            </a:r>
            <a:endParaRPr lang="en-US" sz="1600" dirty="0"/>
          </a:p>
        </p:txBody>
      </p:sp>
      <p:sp>
        <p:nvSpPr>
          <p:cNvPr id="12" name="Shape 10"/>
          <p:cNvSpPr/>
          <p:nvPr/>
        </p:nvSpPr>
        <p:spPr>
          <a:xfrm>
            <a:off x="548640" y="4432605"/>
            <a:ext cx="11094415" cy="729894"/>
          </a:xfrm>
          <a:prstGeom prst="roundRect">
            <a:avLst>
              <a:gd name="adj" fmla="val 8769"/>
            </a:avLst>
          </a:prstGeom>
          <a:solidFill>
            <a:srgbClr val="E7F2F9"/>
          </a:solidFill>
          <a:ln/>
        </p:spPr>
      </p:sp>
      <p:sp>
        <p:nvSpPr>
          <p:cNvPr id="13" name="Text 11"/>
          <p:cNvSpPr txBox="1"/>
          <p:nvPr/>
        </p:nvSpPr>
        <p:spPr>
          <a:xfrm>
            <a:off x="704088" y="4505757"/>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Sistoskopi: </a:t>
            </a:r>
            <a:r>
              <a:rPr lang="en-US" sz="1600" dirty="0">
                <a:solidFill>
                  <a:srgbClr val="1F2937"/>
                </a:solidFill>
                <a:latin typeface="Calibri" pitchFamily="34" charset="0"/>
                <a:ea typeface="Calibri" pitchFamily="34" charset="-122"/>
                <a:cs typeface="Calibri" pitchFamily="34" charset="-120"/>
              </a:rPr>
              <a:t>Mesaneyi görmek için üretradan mesane içine bir tüp veya sistoskop (endoskop) sokulur. Sistoskop yardımıyla mesaneden biyopsi alınır.</a:t>
            </a:r>
            <a:endParaRPr lang="en-US" sz="1600" dirty="0"/>
          </a:p>
        </p:txBody>
      </p:sp>
      <p:sp>
        <p:nvSpPr>
          <p:cNvPr id="14" name="Shape 12"/>
          <p:cNvSpPr/>
          <p:nvPr/>
        </p:nvSpPr>
        <p:spPr>
          <a:xfrm>
            <a:off x="548640" y="5253939"/>
            <a:ext cx="11094415" cy="481990"/>
          </a:xfrm>
          <a:prstGeom prst="roundRect">
            <a:avLst>
              <a:gd name="adj" fmla="val 13280"/>
            </a:avLst>
          </a:prstGeom>
          <a:solidFill>
            <a:srgbClr val="E7F2F9"/>
          </a:solidFill>
          <a:ln/>
        </p:spPr>
      </p:sp>
      <p:sp>
        <p:nvSpPr>
          <p:cNvPr id="15" name="Text 13"/>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Histeroskopi: </a:t>
            </a:r>
            <a:r>
              <a:rPr lang="en-US" sz="1600" dirty="0">
                <a:solidFill>
                  <a:srgbClr val="1F2937"/>
                </a:solidFill>
                <a:latin typeface="Calibri" pitchFamily="34" charset="0"/>
                <a:ea typeface="Calibri" pitchFamily="34" charset="-122"/>
                <a:cs typeface="Calibri" pitchFamily="34" charset="-120"/>
              </a:rPr>
              <a:t>Görsel inceleme için uterusa endoskop sokularak yapılan inceleme işlemidir.</a:t>
            </a:r>
            <a:endParaRPr lang="en-US" sz="1600" dirty="0"/>
          </a:p>
        </p:txBody>
      </p:sp>
      <p:sp>
        <p:nvSpPr>
          <p:cNvPr id="16" name="Shape 14"/>
          <p:cNvSpPr/>
          <p:nvPr/>
        </p:nvSpPr>
        <p:spPr>
          <a:xfrm>
            <a:off x="548640" y="5827370"/>
            <a:ext cx="11094415" cy="481990"/>
          </a:xfrm>
          <a:prstGeom prst="roundRect">
            <a:avLst>
              <a:gd name="adj" fmla="val 13280"/>
            </a:avLst>
          </a:prstGeom>
          <a:solidFill>
            <a:srgbClr val="E7F2F9"/>
          </a:solidFill>
          <a:ln/>
        </p:spPr>
      </p:sp>
      <p:sp>
        <p:nvSpPr>
          <p:cNvPr id="17" name="Text 15"/>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Kolposkopi: </a:t>
            </a:r>
            <a:r>
              <a:rPr lang="en-US" sz="1600" dirty="0">
                <a:solidFill>
                  <a:srgbClr val="1F2937"/>
                </a:solidFill>
                <a:latin typeface="Calibri" pitchFamily="34" charset="0"/>
                <a:ea typeface="Calibri" pitchFamily="34" charset="-122"/>
                <a:cs typeface="Calibri" pitchFamily="34" charset="-120"/>
              </a:rPr>
              <a:t>Vajinadan özel bir mikroskop sokularak serviksin incelenmesidir.</a:t>
            </a:r>
            <a:endParaRPr lang="en-US" sz="16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133</a:t>
            </a:r>
            <a:endParaRPr lang="en-US" sz="1000" dirty="0"/>
          </a:p>
        </p:txBody>
      </p:sp>
      <p:sp>
        <p:nvSpPr>
          <p:cNvPr id="6" name="Shape 4"/>
          <p:cNvSpPr/>
          <p:nvPr/>
        </p:nvSpPr>
        <p:spPr>
          <a:xfrm>
            <a:off x="548640" y="1506728"/>
            <a:ext cx="11094415" cy="977798"/>
          </a:xfrm>
          <a:prstGeom prst="roundRect">
            <a:avLst>
              <a:gd name="adj" fmla="val 6546"/>
            </a:avLst>
          </a:prstGeom>
          <a:solidFill>
            <a:srgbClr val="E7F2F9"/>
          </a:solidFill>
          <a:ln/>
        </p:spPr>
      </p:sp>
      <p:sp>
        <p:nvSpPr>
          <p:cNvPr id="7" name="Text 5"/>
          <p:cNvSpPr txBox="1"/>
          <p:nvPr/>
        </p:nvSpPr>
        <p:spPr>
          <a:xfrm>
            <a:off x="704088" y="1579880"/>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Smear (Simir): </a:t>
            </a:r>
            <a:r>
              <a:rPr lang="en-US" sz="1600" dirty="0">
                <a:solidFill>
                  <a:srgbClr val="1F2937"/>
                </a:solidFill>
                <a:latin typeface="Calibri" pitchFamily="34" charset="0"/>
                <a:ea typeface="Calibri" pitchFamily="34" charset="-122"/>
                <a:cs typeface="Calibri" pitchFamily="34" charset="-120"/>
              </a:rPr>
              <a:t>Vajinadan tahta spatula veya pamuk ile incelemek için hücre alınmasıdır. Hücreler daha sonra lama alınır, tespit edilir ve laboratuvara gönderilir. Sonuçlar I-IV derecelerde değerlendirilir (I: Normal, II: Enflamatuar, III: Kanser açısından kuşkulu, IV: Kanser).</a:t>
            </a:r>
            <a:endParaRPr lang="en-US" sz="1600" dirty="0"/>
          </a:p>
        </p:txBody>
      </p:sp>
      <p:sp>
        <p:nvSpPr>
          <p:cNvPr id="8" name="Shape 6"/>
          <p:cNvSpPr/>
          <p:nvPr/>
        </p:nvSpPr>
        <p:spPr>
          <a:xfrm>
            <a:off x="548640" y="2575966"/>
            <a:ext cx="11094415" cy="977798"/>
          </a:xfrm>
          <a:prstGeom prst="roundRect">
            <a:avLst>
              <a:gd name="adj" fmla="val 6546"/>
            </a:avLst>
          </a:prstGeom>
          <a:solidFill>
            <a:srgbClr val="E7F2F9"/>
          </a:solidFill>
          <a:ln/>
        </p:spPr>
      </p:sp>
      <p:sp>
        <p:nvSpPr>
          <p:cNvPr id="9" name="Text 7"/>
          <p:cNvSpPr txBox="1"/>
          <p:nvPr/>
        </p:nvSpPr>
        <p:spPr>
          <a:xfrm>
            <a:off x="704088" y="2649118"/>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Proktosigmoidoskopi: </a:t>
            </a:r>
            <a:r>
              <a:rPr lang="en-US" sz="1600" dirty="0">
                <a:solidFill>
                  <a:srgbClr val="1F2937"/>
                </a:solidFill>
                <a:latin typeface="Calibri" pitchFamily="34" charset="0"/>
                <a:ea typeface="Calibri" pitchFamily="34" charset="-122"/>
                <a:cs typeface="Calibri" pitchFamily="34" charset="-120"/>
              </a:rPr>
              <a:t>Rektum ve kolonun başlangıç kısımlarını incelemek için, anüsten endoskop sokularak yapılan incelemedir. Sigmoid kolonun uzun endoskop ile incelenmesine sigmoidoskopi denir. Bu teknik ile polipler, malingn tümörler ve kanama odakları saptanır.</a:t>
            </a:r>
            <a:endParaRPr lang="en-US" sz="1600" dirty="0"/>
          </a:p>
        </p:txBody>
      </p:sp>
      <p:sp>
        <p:nvSpPr>
          <p:cNvPr id="10" name="Shape 8"/>
          <p:cNvSpPr/>
          <p:nvPr/>
        </p:nvSpPr>
        <p:spPr>
          <a:xfrm>
            <a:off x="548640" y="3645205"/>
            <a:ext cx="11094415" cy="977798"/>
          </a:xfrm>
          <a:prstGeom prst="roundRect">
            <a:avLst>
              <a:gd name="adj" fmla="val 6546"/>
            </a:avLst>
          </a:prstGeom>
          <a:solidFill>
            <a:srgbClr val="E7F2F9"/>
          </a:solidFill>
          <a:ln/>
        </p:spPr>
      </p:sp>
      <p:sp>
        <p:nvSpPr>
          <p:cNvPr id="11" name="Text 9"/>
          <p:cNvSpPr txBox="1"/>
          <p:nvPr/>
        </p:nvSpPr>
        <p:spPr>
          <a:xfrm>
            <a:off x="704088" y="3718357"/>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Pulmoner Fonksiyon Çalışması: </a:t>
            </a:r>
            <a:r>
              <a:rPr lang="en-US" sz="1600" dirty="0">
                <a:solidFill>
                  <a:srgbClr val="1F2937"/>
                </a:solidFill>
                <a:latin typeface="Calibri" pitchFamily="34" charset="0"/>
                <a:ea typeface="Calibri" pitchFamily="34" charset="-122"/>
                <a:cs typeface="Calibri" pitchFamily="34" charset="-120"/>
              </a:rPr>
              <a:t>Spirometre denilen gereç yardımıyla akciğerlere alınan ve verilen havanın ölçülmesidir. Bu test astım, kronik bronşit, anfizem ve iş yerinde asbestos, kimyasallar ve toza maruz kalan hastalarda anormal çıkar.</a:t>
            </a:r>
            <a:endParaRPr lang="en-US" sz="1600" dirty="0"/>
          </a:p>
        </p:txBody>
      </p:sp>
      <p:sp>
        <p:nvSpPr>
          <p:cNvPr id="12" name="Shape 10"/>
          <p:cNvSpPr/>
          <p:nvPr/>
        </p:nvSpPr>
        <p:spPr>
          <a:xfrm>
            <a:off x="548640" y="4758131"/>
            <a:ext cx="11094415" cy="729894"/>
          </a:xfrm>
          <a:prstGeom prst="roundRect">
            <a:avLst>
              <a:gd name="adj" fmla="val 8769"/>
            </a:avLst>
          </a:prstGeom>
          <a:solidFill>
            <a:srgbClr val="E7F2F9"/>
          </a:solidFill>
          <a:ln/>
        </p:spPr>
      </p:sp>
      <p:sp>
        <p:nvSpPr>
          <p:cNvPr id="13" name="Text 11"/>
          <p:cNvSpPr txBox="1"/>
          <p:nvPr/>
        </p:nvSpPr>
        <p:spPr>
          <a:xfrm>
            <a:off x="704088" y="483128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Dijital Rektal İnceleme: </a:t>
            </a:r>
            <a:r>
              <a:rPr lang="en-US" sz="1600" dirty="0">
                <a:solidFill>
                  <a:srgbClr val="1F2937"/>
                </a:solidFill>
                <a:latin typeface="Calibri" pitchFamily="34" charset="0"/>
                <a:ea typeface="Calibri" pitchFamily="34" charset="-122"/>
                <a:cs typeface="Calibri" pitchFamily="34" charset="-120"/>
              </a:rPr>
              <a:t>Bu işlemde hekim eldivenli elini rektuma sokar. Rektum ve prostat kanseri tanısında kullanılır.</a:t>
            </a:r>
            <a:endParaRPr lang="en-US" sz="1600" dirty="0"/>
          </a:p>
        </p:txBody>
      </p:sp>
      <p:sp>
        <p:nvSpPr>
          <p:cNvPr id="14" name="Shape 12"/>
          <p:cNvSpPr/>
          <p:nvPr/>
        </p:nvSpPr>
        <p:spPr>
          <a:xfrm>
            <a:off x="548640" y="5579466"/>
            <a:ext cx="11094415" cy="729894"/>
          </a:xfrm>
          <a:prstGeom prst="roundRect">
            <a:avLst>
              <a:gd name="adj" fmla="val 8769"/>
            </a:avLst>
          </a:prstGeom>
          <a:solidFill>
            <a:srgbClr val="E7F2F9"/>
          </a:solidFill>
          <a:ln/>
        </p:spPr>
      </p:sp>
      <p:sp>
        <p:nvSpPr>
          <p:cNvPr id="15" name="Text 13"/>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Dilatasyon ve Kürtaj: </a:t>
            </a:r>
            <a:r>
              <a:rPr lang="en-US" sz="1600" dirty="0">
                <a:solidFill>
                  <a:srgbClr val="1F2937"/>
                </a:solidFill>
                <a:latin typeface="Calibri" pitchFamily="34" charset="0"/>
                <a:ea typeface="Calibri" pitchFamily="34" charset="-122"/>
                <a:cs typeface="Calibri" pitchFamily="34" charset="-120"/>
              </a:rPr>
              <a:t>Serviksin yardımcı aletlerle genişletilmesi ile rahim içinden doku alınmasıdır. Doku mikroskop altında incelenir.</a:t>
            </a:r>
            <a:endParaRPr lang="en-US" sz="16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134</a:t>
            </a:r>
            <a:endParaRPr lang="en-US" sz="1000" dirty="0"/>
          </a:p>
        </p:txBody>
      </p:sp>
      <p:sp>
        <p:nvSpPr>
          <p:cNvPr id="6" name="Shape 4"/>
          <p:cNvSpPr/>
          <p:nvPr/>
        </p:nvSpPr>
        <p:spPr>
          <a:xfrm>
            <a:off x="548640" y="1754632"/>
            <a:ext cx="11094415" cy="729894"/>
          </a:xfrm>
          <a:prstGeom prst="roundRect">
            <a:avLst>
              <a:gd name="adj" fmla="val 8769"/>
            </a:avLst>
          </a:prstGeom>
          <a:solidFill>
            <a:srgbClr val="E7F2F9"/>
          </a:solidFill>
          <a:ln/>
        </p:spPr>
      </p:sp>
      <p:sp>
        <p:nvSpPr>
          <p:cNvPr id="7" name="Text 5"/>
          <p:cNvSpPr txBox="1"/>
          <p:nvPr/>
        </p:nvSpPr>
        <p:spPr>
          <a:xfrm>
            <a:off x="704088" y="1827784"/>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Elektrokardiografi (EKG): </a:t>
            </a:r>
            <a:r>
              <a:rPr lang="en-US" sz="1600" dirty="0">
                <a:solidFill>
                  <a:srgbClr val="1F2937"/>
                </a:solidFill>
                <a:latin typeface="Calibri" pitchFamily="34" charset="0"/>
                <a:ea typeface="Calibri" pitchFamily="34" charset="-122"/>
                <a:cs typeface="Calibri" pitchFamily="34" charset="-120"/>
              </a:rPr>
              <a:t>Elektrot bağlantıları ile kalpten elektrik iletileri toplanır. Kalp ritmindeki anormallikleri belirlemek ve kalp hastalıklarının tanısını koymak için kullanılır.</a:t>
            </a:r>
            <a:endParaRPr lang="en-US" sz="1600" dirty="0"/>
          </a:p>
        </p:txBody>
      </p:sp>
      <p:sp>
        <p:nvSpPr>
          <p:cNvPr id="8" name="Shape 6"/>
          <p:cNvSpPr/>
          <p:nvPr/>
        </p:nvSpPr>
        <p:spPr>
          <a:xfrm>
            <a:off x="548640" y="2575966"/>
            <a:ext cx="11094415" cy="729894"/>
          </a:xfrm>
          <a:prstGeom prst="roundRect">
            <a:avLst>
              <a:gd name="adj" fmla="val 8769"/>
            </a:avLst>
          </a:prstGeom>
          <a:solidFill>
            <a:srgbClr val="E7F2F9"/>
          </a:solidFill>
          <a:ln/>
        </p:spPr>
      </p:sp>
      <p:sp>
        <p:nvSpPr>
          <p:cNvPr id="9" name="Text 7"/>
          <p:cNvSpPr txBox="1"/>
          <p:nvPr/>
        </p:nvSpPr>
        <p:spPr>
          <a:xfrm>
            <a:off x="704088" y="26491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Holter EKG: </a:t>
            </a:r>
            <a:r>
              <a:rPr lang="en-US" sz="1600" dirty="0">
                <a:solidFill>
                  <a:srgbClr val="1F2937"/>
                </a:solidFill>
                <a:latin typeface="Calibri" pitchFamily="34" charset="0"/>
                <a:ea typeface="Calibri" pitchFamily="34" charset="-122"/>
                <a:cs typeface="Calibri" pitchFamily="34" charset="-120"/>
              </a:rPr>
              <a:t>Kalp aktivitelerinin bir süre elektrokardiyografik kaydıdır. Hasta günlük aktivitelerini yaparken holter monitörünü yanında taşır. Kalp ritim anormalliklerini saptar ve tedavisinde yardımcı olur.</a:t>
            </a:r>
            <a:endParaRPr lang="en-US" sz="1600" dirty="0"/>
          </a:p>
        </p:txBody>
      </p:sp>
      <p:sp>
        <p:nvSpPr>
          <p:cNvPr id="10" name="Shape 8"/>
          <p:cNvSpPr/>
          <p:nvPr/>
        </p:nvSpPr>
        <p:spPr>
          <a:xfrm>
            <a:off x="548640" y="3397301"/>
            <a:ext cx="11094415" cy="977798"/>
          </a:xfrm>
          <a:prstGeom prst="roundRect">
            <a:avLst>
              <a:gd name="adj" fmla="val 6546"/>
            </a:avLst>
          </a:prstGeom>
          <a:solidFill>
            <a:srgbClr val="E7F2F9"/>
          </a:solidFill>
          <a:ln/>
        </p:spPr>
      </p:sp>
      <p:sp>
        <p:nvSpPr>
          <p:cNvPr id="11" name="Text 9"/>
          <p:cNvSpPr txBox="1"/>
          <p:nvPr/>
        </p:nvSpPr>
        <p:spPr>
          <a:xfrm>
            <a:off x="704088" y="3470453"/>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Elektroensefalografi (EEG): </a:t>
            </a:r>
            <a:r>
              <a:rPr lang="en-US" sz="1600" dirty="0">
                <a:solidFill>
                  <a:srgbClr val="1F2937"/>
                </a:solidFill>
                <a:latin typeface="Calibri" pitchFamily="34" charset="0"/>
                <a:ea typeface="Calibri" pitchFamily="34" charset="-122"/>
                <a:cs typeface="Calibri" pitchFamily="34" charset="-120"/>
              </a:rPr>
              <a:t>Elektrotlar kafa derisine konarak beyinden gelen elektrik dalgaları saptanır, kaydedilir. EEG epilepsi ve diğer beyin lezyonlarının, nörolojik bozuklukların tanısı ve monitörizasyonu için kullanılır. Komadaki hastaların (beyin inaktivitesinin) ve uyku bozukluklarının saptanmasında kullanılır.</a:t>
            </a:r>
            <a:endParaRPr lang="en-US" sz="1600" dirty="0"/>
          </a:p>
        </p:txBody>
      </p:sp>
      <p:sp>
        <p:nvSpPr>
          <p:cNvPr id="12" name="Shape 10"/>
          <p:cNvSpPr/>
          <p:nvPr/>
        </p:nvSpPr>
        <p:spPr>
          <a:xfrm>
            <a:off x="548640" y="4466539"/>
            <a:ext cx="11094415" cy="729894"/>
          </a:xfrm>
          <a:prstGeom prst="roundRect">
            <a:avLst>
              <a:gd name="adj" fmla="val 8769"/>
            </a:avLst>
          </a:prstGeom>
          <a:solidFill>
            <a:srgbClr val="E7F2F9"/>
          </a:solidFill>
          <a:ln/>
        </p:spPr>
      </p:sp>
      <p:sp>
        <p:nvSpPr>
          <p:cNvPr id="13" name="Text 11"/>
          <p:cNvSpPr txBox="1"/>
          <p:nvPr/>
        </p:nvSpPr>
        <p:spPr>
          <a:xfrm>
            <a:off x="704088" y="4539691"/>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Elektromyografi (EMG): </a:t>
            </a:r>
            <a:r>
              <a:rPr lang="en-US" sz="1600" dirty="0">
                <a:solidFill>
                  <a:srgbClr val="1F2937"/>
                </a:solidFill>
                <a:latin typeface="Calibri" pitchFamily="34" charset="0"/>
                <a:ea typeface="Calibri" pitchFamily="34" charset="-122"/>
                <a:cs typeface="Calibri" pitchFamily="34" charset="-120"/>
              </a:rPr>
              <a:t>Elektrotlardan yararlanılarak kasların elektriksel potansiyelleri ölçülür. Kas ve sinirleri etkileyen hastalıklar ve zedelenmeler saptanır.</a:t>
            </a:r>
            <a:endParaRPr lang="en-US" sz="1600" dirty="0"/>
          </a:p>
        </p:txBody>
      </p:sp>
      <p:sp>
        <p:nvSpPr>
          <p:cNvPr id="14" name="Shape 12"/>
          <p:cNvSpPr/>
          <p:nvPr/>
        </p:nvSpPr>
        <p:spPr>
          <a:xfrm>
            <a:off x="548640" y="5579466"/>
            <a:ext cx="11094415" cy="729894"/>
          </a:xfrm>
          <a:prstGeom prst="roundRect">
            <a:avLst>
              <a:gd name="adj" fmla="val 8769"/>
            </a:avLst>
          </a:prstGeom>
          <a:solidFill>
            <a:srgbClr val="E7F2F9"/>
          </a:solidFill>
          <a:ln/>
        </p:spPr>
      </p:sp>
      <p:sp>
        <p:nvSpPr>
          <p:cNvPr id="15" name="Text 13"/>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369A1"/>
                </a:solidFill>
                <a:latin typeface="Calibri" pitchFamily="34" charset="0"/>
                <a:ea typeface="Calibri" pitchFamily="34" charset="-122"/>
                <a:cs typeface="Calibri" pitchFamily="34" charset="-120"/>
              </a:rPr>
              <a:t>Stres Testi: </a:t>
            </a:r>
            <a:r>
              <a:rPr lang="en-US" sz="1600" dirty="0">
                <a:solidFill>
                  <a:srgbClr val="1F2937"/>
                </a:solidFill>
                <a:latin typeface="Calibri" pitchFamily="34" charset="0"/>
                <a:ea typeface="Calibri" pitchFamily="34" charset="-122"/>
                <a:cs typeface="Calibri" pitchFamily="34" charset="-120"/>
              </a:rPr>
              <a:t>Egzersiz sırasında alınan EKG’dir. Kalple ilgili belirtilerin nedenini açıklayarak gizli kalp  hastalığını açığa çıkarabilir.</a:t>
            </a:r>
            <a:endParaRPr lang="en-US" sz="16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3.c. Klinik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135</a:t>
            </a:r>
            <a:endParaRPr lang="en-US" sz="1000" dirty="0"/>
          </a:p>
        </p:txBody>
      </p:sp>
      <p:sp>
        <p:nvSpPr>
          <p:cNvPr id="6" name="Shape 4"/>
          <p:cNvSpPr/>
          <p:nvPr/>
        </p:nvSpPr>
        <p:spPr>
          <a:xfrm>
            <a:off x="548640" y="2276399"/>
            <a:ext cx="11094415" cy="1657807"/>
          </a:xfrm>
          <a:prstGeom prst="roundRect">
            <a:avLst>
              <a:gd name="adj" fmla="val 3861"/>
            </a:avLst>
          </a:prstGeom>
          <a:solidFill>
            <a:srgbClr val="E7F2F9"/>
          </a:solidFill>
          <a:ln/>
        </p:spPr>
      </p:sp>
      <p:sp>
        <p:nvSpPr>
          <p:cNvPr id="7" name="Text 5"/>
          <p:cNvSpPr txBox="1"/>
          <p:nvPr/>
        </p:nvSpPr>
        <p:spPr>
          <a:xfrm>
            <a:off x="704088" y="2349551"/>
            <a:ext cx="10783519" cy="1511503"/>
          </a:xfrm>
          <a:prstGeom prst="rect">
            <a:avLst/>
          </a:prstGeom>
          <a:noFill/>
          <a:ln/>
        </p:spPr>
        <p:txBody>
          <a:bodyPr wrap="square" lIns="0" tIns="0" rIns="0" bIns="0" rtlCol="0" anchor="t"/>
          <a:lstStyle/>
          <a:p>
            <a:pPr marL="0" indent="0">
              <a:lnSpc>
                <a:spcPct val="105000"/>
              </a:lnSpc>
              <a:buNone/>
            </a:pPr>
            <a:r>
              <a:rPr lang="en-US" sz="1800" b="1" dirty="0">
                <a:solidFill>
                  <a:srgbClr val="0369A1"/>
                </a:solidFill>
                <a:latin typeface="Calibri" pitchFamily="34" charset="0"/>
                <a:ea typeface="Calibri" pitchFamily="34" charset="-122"/>
                <a:cs typeface="Calibri" pitchFamily="34" charset="-120"/>
              </a:rPr>
              <a:t>İntraoperatif frozen İnceleme: </a:t>
            </a:r>
            <a:r>
              <a:rPr lang="en-US" sz="1800" dirty="0">
                <a:solidFill>
                  <a:srgbClr val="1F2937"/>
                </a:solidFill>
                <a:latin typeface="Calibri" pitchFamily="34" charset="0"/>
                <a:ea typeface="Calibri" pitchFamily="34" charset="-122"/>
                <a:cs typeface="Calibri" pitchFamily="34" charset="-120"/>
              </a:rPr>
              <a:t>Cerrahi operasyonlar sırasında alınan hastalıklı dokuya ait parça, hızla dondurulur. Sonra bu dokudan kesitler alınarak incelenir. İntraoperatif frozen inceleme ameliyat sırasında cerrahların dokunun hastalıklı olup olmadığına karar veremediği durumlarda uygulanır. Bu sayede erken tanı imkanı sağlanarak ameliyatın şekli değiştirilebilmekte ve hastaların eksik ya da fazla cerrahi tedavisi riskini ortadan kaldırmak amaçlanmaktadır.</a:t>
            </a:r>
            <a:endParaRPr lang="en-US" sz="1800" dirty="0"/>
          </a:p>
        </p:txBody>
      </p:sp>
      <p:sp>
        <p:nvSpPr>
          <p:cNvPr id="8" name="Shape 6"/>
          <p:cNvSpPr/>
          <p:nvPr/>
        </p:nvSpPr>
        <p:spPr>
          <a:xfrm>
            <a:off x="548640" y="4025646"/>
            <a:ext cx="11094415" cy="1378915"/>
          </a:xfrm>
          <a:prstGeom prst="roundRect">
            <a:avLst>
              <a:gd name="adj" fmla="val 4642"/>
            </a:avLst>
          </a:prstGeom>
          <a:solidFill>
            <a:srgbClr val="E7F2F9"/>
          </a:solidFill>
          <a:ln/>
        </p:spPr>
      </p:sp>
      <p:sp>
        <p:nvSpPr>
          <p:cNvPr id="9" name="Text 7"/>
          <p:cNvSpPr txBox="1"/>
          <p:nvPr/>
        </p:nvSpPr>
        <p:spPr>
          <a:xfrm>
            <a:off x="704088" y="4098798"/>
            <a:ext cx="10783519" cy="1232611"/>
          </a:xfrm>
          <a:prstGeom prst="rect">
            <a:avLst/>
          </a:prstGeom>
          <a:noFill/>
          <a:ln/>
        </p:spPr>
        <p:txBody>
          <a:bodyPr wrap="square" lIns="0" tIns="0" rIns="0" bIns="0" rtlCol="0" anchor="t"/>
          <a:lstStyle/>
          <a:p>
            <a:pPr marL="0" indent="0">
              <a:lnSpc>
                <a:spcPct val="105000"/>
              </a:lnSpc>
              <a:buNone/>
            </a:pPr>
            <a:r>
              <a:rPr lang="en-US" sz="1800" b="1" dirty="0">
                <a:solidFill>
                  <a:srgbClr val="0369A1"/>
                </a:solidFill>
                <a:latin typeface="Calibri" pitchFamily="34" charset="0"/>
                <a:ea typeface="Calibri" pitchFamily="34" charset="-122"/>
                <a:cs typeface="Calibri" pitchFamily="34" charset="-120"/>
              </a:rPr>
              <a:t>Otoakustik Emisyon Testi: </a:t>
            </a:r>
            <a:r>
              <a:rPr lang="en-US" sz="1800" dirty="0">
                <a:solidFill>
                  <a:srgbClr val="1F2937"/>
                </a:solidFill>
                <a:latin typeface="Calibri" pitchFamily="34" charset="0"/>
                <a:ea typeface="Calibri" pitchFamily="34" charset="-122"/>
                <a:cs typeface="Calibri" pitchFamily="34" charset="-120"/>
              </a:rPr>
              <a:t>İç kulakta, gelen sesi beyne ileten tüylü hücreler bulunmaktadır. Dışarıdan gelen sese karşı bu tüylü hücrelerin gevşeme ve kasılma hareketleri ile kendiliğinden oluşan düşük frekanslı Oto Akustik Emisyon (OAE) adı verilen bir yankı ses oluşur. Kendiliğinden oluşan OAE seslerinin mevcut olup olmadığının belirlenmesi testidir.</a:t>
            </a:r>
            <a:endParaRPr lang="en-US" sz="1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136</a:t>
            </a:r>
            <a:endParaRPr lang="en-US" sz="1000" dirty="0"/>
          </a:p>
        </p:txBody>
      </p:sp>
      <p:sp>
        <p:nvSpPr>
          <p:cNvPr id="6" name="Shape 4"/>
          <p:cNvSpPr/>
          <p:nvPr/>
        </p:nvSpPr>
        <p:spPr>
          <a:xfrm>
            <a:off x="548640" y="2102358"/>
            <a:ext cx="11094415" cy="684276"/>
          </a:xfrm>
          <a:prstGeom prst="roundRect">
            <a:avLst>
              <a:gd name="adj" fmla="val 9354"/>
            </a:avLst>
          </a:prstGeom>
          <a:solidFill>
            <a:srgbClr val="E7F2F9"/>
          </a:solidFill>
          <a:ln/>
        </p:spPr>
      </p:sp>
      <p:sp>
        <p:nvSpPr>
          <p:cNvPr id="7" name="Text 5"/>
          <p:cNvSpPr txBox="1"/>
          <p:nvPr/>
        </p:nvSpPr>
        <p:spPr>
          <a:xfrm>
            <a:off x="704088" y="2175510"/>
            <a:ext cx="10783519" cy="53797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Tanı amacıyla çeşitli laboratuvar testleri yapılır. Bunun için hastalardan  kan, plazma, serum, sıvı, idrar, dışkı, mukus, balgam, BOS ve benzeri örnekler alınarak incelenir.</a:t>
            </a:r>
            <a:endParaRPr lang="en-US" sz="1500" dirty="0"/>
          </a:p>
        </p:txBody>
      </p:sp>
      <p:sp>
        <p:nvSpPr>
          <p:cNvPr id="8" name="Shape 6"/>
          <p:cNvSpPr/>
          <p:nvPr/>
        </p:nvSpPr>
        <p:spPr>
          <a:xfrm>
            <a:off x="548640" y="2878074"/>
            <a:ext cx="11094415" cy="684276"/>
          </a:xfrm>
          <a:prstGeom prst="roundRect">
            <a:avLst>
              <a:gd name="adj" fmla="val 9354"/>
            </a:avLst>
          </a:prstGeom>
          <a:solidFill>
            <a:srgbClr val="E7F2F9"/>
          </a:solidFill>
          <a:ln/>
        </p:spPr>
      </p:sp>
      <p:sp>
        <p:nvSpPr>
          <p:cNvPr id="9" name="Text 7"/>
          <p:cNvSpPr txBox="1"/>
          <p:nvPr/>
        </p:nvSpPr>
        <p:spPr>
          <a:xfrm>
            <a:off x="704088" y="2951226"/>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Tam Kan Sayımı: </a:t>
            </a:r>
            <a:r>
              <a:rPr lang="en-US" sz="1500" dirty="0">
                <a:solidFill>
                  <a:srgbClr val="1F2937"/>
                </a:solidFill>
                <a:latin typeface="Calibri" pitchFamily="34" charset="0"/>
                <a:ea typeface="Calibri" pitchFamily="34" charset="-122"/>
                <a:cs typeface="Calibri" pitchFamily="34" charset="-120"/>
              </a:rPr>
              <a:t>Lökosit, eritrosit ve trombositlerin sayısal olarak ölçülmesidir. Tam kan sayımı anemi, lösemi ve enfeksiyon hastalıklarının tanısında kullanılır.</a:t>
            </a:r>
            <a:endParaRPr lang="en-US" sz="1500" dirty="0"/>
          </a:p>
        </p:txBody>
      </p:sp>
      <p:sp>
        <p:nvSpPr>
          <p:cNvPr id="10" name="Shape 8"/>
          <p:cNvSpPr/>
          <p:nvPr/>
        </p:nvSpPr>
        <p:spPr>
          <a:xfrm>
            <a:off x="548640" y="3653790"/>
            <a:ext cx="11094415" cy="684276"/>
          </a:xfrm>
          <a:prstGeom prst="roundRect">
            <a:avLst>
              <a:gd name="adj" fmla="val 9354"/>
            </a:avLst>
          </a:prstGeom>
          <a:solidFill>
            <a:srgbClr val="E7F2F9"/>
          </a:solidFill>
          <a:ln/>
        </p:spPr>
      </p:sp>
      <p:sp>
        <p:nvSpPr>
          <p:cNvPr id="11" name="Text 9"/>
          <p:cNvSpPr txBox="1"/>
          <p:nvPr/>
        </p:nvSpPr>
        <p:spPr>
          <a:xfrm>
            <a:off x="704088" y="3726942"/>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Alyuvar Sayımı: </a:t>
            </a:r>
            <a:r>
              <a:rPr lang="en-US" sz="1500" dirty="0">
                <a:solidFill>
                  <a:srgbClr val="1F2937"/>
                </a:solidFill>
                <a:latin typeface="Calibri" pitchFamily="34" charset="0"/>
                <a:ea typeface="Calibri" pitchFamily="34" charset="-122"/>
                <a:cs typeface="Calibri" pitchFamily="34" charset="-120"/>
              </a:rPr>
              <a:t>Bu test ile kan örneğinde kırmızı kan hücreleri sayılır. Düşük alyuvar sayısı anemiyi gösterir. Yüksek sayıda çıkarsa ‘polisitemi vera’ hastalığı saptanır.</a:t>
            </a:r>
            <a:endParaRPr lang="en-US" sz="1500" dirty="0"/>
          </a:p>
        </p:txBody>
      </p:sp>
      <p:sp>
        <p:nvSpPr>
          <p:cNvPr id="12" name="Shape 10"/>
          <p:cNvSpPr/>
          <p:nvPr/>
        </p:nvSpPr>
        <p:spPr>
          <a:xfrm>
            <a:off x="548640" y="4429506"/>
            <a:ext cx="11094415" cy="1149096"/>
          </a:xfrm>
          <a:prstGeom prst="roundRect">
            <a:avLst>
              <a:gd name="adj" fmla="val 5570"/>
            </a:avLst>
          </a:prstGeom>
          <a:solidFill>
            <a:srgbClr val="E7F2F9"/>
          </a:solidFill>
          <a:ln/>
        </p:spPr>
      </p:sp>
      <p:sp>
        <p:nvSpPr>
          <p:cNvPr id="13" name="Text 11"/>
          <p:cNvSpPr txBox="1"/>
          <p:nvPr/>
        </p:nvSpPr>
        <p:spPr>
          <a:xfrm>
            <a:off x="704088" y="4502658"/>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Akyuvar Sayımı: </a:t>
            </a:r>
            <a:r>
              <a:rPr lang="en-US" sz="1500" dirty="0">
                <a:solidFill>
                  <a:srgbClr val="1F2937"/>
                </a:solidFill>
                <a:latin typeface="Calibri" pitchFamily="34" charset="0"/>
                <a:ea typeface="Calibri" pitchFamily="34" charset="-122"/>
                <a:cs typeface="Calibri" pitchFamily="34" charset="-120"/>
              </a:rPr>
              <a:t>Kandaki akyuvar sayısı saptanır. Normalden yüksek çıkması enfeksiyon ya da lösemiyi gösterir. Örnek kanda kan hücrelerinin farklı tiplerinin (nötrofil, bazofil, eozinofil, lenfosit, monosit) yüzdesidir. Lökositler hakkında daha sipesifik bilgi verir. Alerjik hastalıkların, bağışıklık sistemi bozukluklarının ve löseminin farklı tiplerinin tanısının konulmasında yardımcı olur.</a:t>
            </a:r>
            <a:endParaRPr lang="en-US" sz="15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137</a:t>
            </a:r>
            <a:endParaRPr lang="en-US" sz="1000" dirty="0"/>
          </a:p>
        </p:txBody>
      </p:sp>
      <p:sp>
        <p:nvSpPr>
          <p:cNvPr id="6" name="Shape 4"/>
          <p:cNvSpPr/>
          <p:nvPr/>
        </p:nvSpPr>
        <p:spPr>
          <a:xfrm>
            <a:off x="548640" y="1992630"/>
            <a:ext cx="11094415" cy="684276"/>
          </a:xfrm>
          <a:prstGeom prst="roundRect">
            <a:avLst>
              <a:gd name="adj" fmla="val 9354"/>
            </a:avLst>
          </a:prstGeom>
          <a:solidFill>
            <a:srgbClr val="E7F2F9"/>
          </a:solidFill>
          <a:ln/>
        </p:spPr>
      </p:sp>
      <p:sp>
        <p:nvSpPr>
          <p:cNvPr id="7" name="Text 5"/>
          <p:cNvSpPr txBox="1"/>
          <p:nvPr/>
        </p:nvSpPr>
        <p:spPr>
          <a:xfrm>
            <a:off x="704088" y="2065782"/>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Hematoktrit: </a:t>
            </a:r>
            <a:r>
              <a:rPr lang="en-US" sz="1500" dirty="0">
                <a:solidFill>
                  <a:srgbClr val="1F2937"/>
                </a:solidFill>
                <a:latin typeface="Calibri" pitchFamily="34" charset="0"/>
                <a:ea typeface="Calibri" pitchFamily="34" charset="-122"/>
                <a:cs typeface="Calibri" pitchFamily="34" charset="-120"/>
              </a:rPr>
              <a:t>Kanda kırmızı kan hücrelerinin yüzdesinin ölçülmesidir. Erkeklerde normal değeri 40-50, kadınlarda 37-47’dir. Düşük hematokrit anemide görülür. Laboratuvar simgesi ‘Hct’dir.</a:t>
            </a:r>
            <a:endParaRPr lang="en-US" sz="1500" dirty="0"/>
          </a:p>
        </p:txBody>
      </p:sp>
      <p:sp>
        <p:nvSpPr>
          <p:cNvPr id="8" name="Shape 6"/>
          <p:cNvSpPr/>
          <p:nvPr/>
        </p:nvSpPr>
        <p:spPr>
          <a:xfrm>
            <a:off x="548640" y="2768346"/>
            <a:ext cx="11094415" cy="684276"/>
          </a:xfrm>
          <a:prstGeom prst="roundRect">
            <a:avLst>
              <a:gd name="adj" fmla="val 9354"/>
            </a:avLst>
          </a:prstGeom>
          <a:solidFill>
            <a:srgbClr val="E7F2F9"/>
          </a:solidFill>
          <a:ln/>
        </p:spPr>
      </p:sp>
      <p:sp>
        <p:nvSpPr>
          <p:cNvPr id="9" name="Text 7"/>
          <p:cNvSpPr txBox="1"/>
          <p:nvPr/>
        </p:nvSpPr>
        <p:spPr>
          <a:xfrm>
            <a:off x="704088" y="284149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Hemoglobin Ölçümü: </a:t>
            </a:r>
            <a:r>
              <a:rPr lang="en-US" sz="1500" dirty="0">
                <a:solidFill>
                  <a:srgbClr val="1F2937"/>
                </a:solidFill>
                <a:latin typeface="Calibri" pitchFamily="34" charset="0"/>
                <a:ea typeface="Calibri" pitchFamily="34" charset="-122"/>
                <a:cs typeface="Calibri" pitchFamily="34" charset="-120"/>
              </a:rPr>
              <a:t>Kanda hemoglobün konsantrasyonunun ölçülmesidir. Normal kan hemoglobin değeri erişkin erkeklerde 13.5-18.0 mg/dl, erişkin kadınlarda 12.0-16.0 mg/dl’dir. Laboratuvar simgesi ‘Hb’dir.</a:t>
            </a:r>
            <a:endParaRPr lang="en-US" sz="1500" dirty="0"/>
          </a:p>
        </p:txBody>
      </p:sp>
      <p:sp>
        <p:nvSpPr>
          <p:cNvPr id="10" name="Shape 8"/>
          <p:cNvSpPr/>
          <p:nvPr/>
        </p:nvSpPr>
        <p:spPr>
          <a:xfrm>
            <a:off x="548640" y="3544062"/>
            <a:ext cx="11094415" cy="684276"/>
          </a:xfrm>
          <a:prstGeom prst="roundRect">
            <a:avLst>
              <a:gd name="adj" fmla="val 9354"/>
            </a:avLst>
          </a:prstGeom>
          <a:solidFill>
            <a:srgbClr val="E7F2F9"/>
          </a:solidFill>
          <a:ln/>
        </p:spPr>
      </p:sp>
      <p:sp>
        <p:nvSpPr>
          <p:cNvPr id="11" name="Text 9"/>
          <p:cNvSpPr txBox="1"/>
          <p:nvPr/>
        </p:nvSpPr>
        <p:spPr>
          <a:xfrm>
            <a:off x="704088" y="361721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Protrombin Zamanı: </a:t>
            </a:r>
            <a:r>
              <a:rPr lang="en-US" sz="1500" dirty="0">
                <a:solidFill>
                  <a:srgbClr val="1F2937"/>
                </a:solidFill>
                <a:latin typeface="Calibri" pitchFamily="34" charset="0"/>
                <a:ea typeface="Calibri" pitchFamily="34" charset="-122"/>
                <a:cs typeface="Calibri" pitchFamily="34" charset="-120"/>
              </a:rPr>
              <a:t>Pıhtılaşmada rol alan faktörlerin kandaki miktarını ölçer. Bu faktörlerden herhangi birinin eksikliğinde protrombin zamanı uzar ve kanın pıhtılaşması zorlaşır.</a:t>
            </a:r>
            <a:endParaRPr lang="en-US" sz="1500" dirty="0"/>
          </a:p>
        </p:txBody>
      </p:sp>
      <p:sp>
        <p:nvSpPr>
          <p:cNvPr id="12" name="Shape 10"/>
          <p:cNvSpPr/>
          <p:nvPr/>
        </p:nvSpPr>
        <p:spPr>
          <a:xfrm>
            <a:off x="548640" y="4319778"/>
            <a:ext cx="11094415" cy="916686"/>
          </a:xfrm>
          <a:prstGeom prst="roundRect">
            <a:avLst>
              <a:gd name="adj" fmla="val 6983"/>
            </a:avLst>
          </a:prstGeom>
          <a:solidFill>
            <a:srgbClr val="E7F2F9"/>
          </a:solidFill>
          <a:ln/>
        </p:spPr>
      </p:sp>
      <p:sp>
        <p:nvSpPr>
          <p:cNvPr id="13" name="Text 11"/>
          <p:cNvSpPr txBox="1"/>
          <p:nvPr/>
        </p:nvSpPr>
        <p:spPr>
          <a:xfrm>
            <a:off x="704088" y="4392930"/>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Eritrosit Sedimentasyon Hızı: </a:t>
            </a:r>
            <a:r>
              <a:rPr lang="en-US" sz="1500" dirty="0">
                <a:solidFill>
                  <a:srgbClr val="1F2937"/>
                </a:solidFill>
                <a:latin typeface="Calibri" pitchFamily="34" charset="0"/>
                <a:ea typeface="Calibri" pitchFamily="34" charset="-122"/>
                <a:cs typeface="Calibri" pitchFamily="34" charset="-120"/>
              </a:rPr>
              <a:t>Eritrositlerin, test tüpünün dibine çökme hızını ölçme yöntemidir. Eğer bu hız belirgin derecede yavaşsa (artmış sedimentasyon hızı) enflamatuar durumlardan (romatoid artrit gibi) veya kanda fazla miktarda protein üreten hastalıklardan kuşkulanılır. Laboratuvar simgesi ‘ESR’dir (Erythrocyte Sedimentation Rate).</a:t>
            </a:r>
            <a:endParaRPr lang="en-US" sz="1500" dirty="0"/>
          </a:p>
        </p:txBody>
      </p:sp>
      <p:sp>
        <p:nvSpPr>
          <p:cNvPr id="14" name="Shape 12"/>
          <p:cNvSpPr/>
          <p:nvPr/>
        </p:nvSpPr>
        <p:spPr>
          <a:xfrm>
            <a:off x="548640" y="5857494"/>
            <a:ext cx="11094415" cy="451866"/>
          </a:xfrm>
          <a:prstGeom prst="roundRect">
            <a:avLst>
              <a:gd name="adj" fmla="val 14165"/>
            </a:avLst>
          </a:prstGeom>
          <a:solidFill>
            <a:srgbClr val="E7F2F9"/>
          </a:solidFill>
          <a:ln/>
        </p:spPr>
      </p:sp>
      <p:sp>
        <p:nvSpPr>
          <p:cNvPr id="15" name="Text 13"/>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Trombosit Sayımı: </a:t>
            </a:r>
            <a:r>
              <a:rPr lang="en-US" sz="1500" dirty="0">
                <a:solidFill>
                  <a:srgbClr val="1F2937"/>
                </a:solidFill>
                <a:latin typeface="Calibri" pitchFamily="34" charset="0"/>
                <a:ea typeface="Calibri" pitchFamily="34" charset="-122"/>
                <a:cs typeface="Calibri" pitchFamily="34" charset="-120"/>
              </a:rPr>
              <a:t>Örnek kanda pıhtılaşma hücrelerinin (trombositlerin) sayısını saptayan işlemdir.</a:t>
            </a:r>
            <a:endParaRPr lang="en-US" sz="15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138</a:t>
            </a:r>
            <a:endParaRPr lang="en-US" sz="1000" dirty="0"/>
          </a:p>
        </p:txBody>
      </p:sp>
      <p:sp>
        <p:nvSpPr>
          <p:cNvPr id="6" name="Shape 4"/>
          <p:cNvSpPr/>
          <p:nvPr/>
        </p:nvSpPr>
        <p:spPr>
          <a:xfrm>
            <a:off x="548640" y="2175002"/>
            <a:ext cx="11094415" cy="593039"/>
          </a:xfrm>
          <a:prstGeom prst="roundRect">
            <a:avLst>
              <a:gd name="adj" fmla="val 10793"/>
            </a:avLst>
          </a:prstGeom>
          <a:solidFill>
            <a:srgbClr val="E7F2F9"/>
          </a:solidFill>
          <a:ln/>
        </p:spPr>
      </p:sp>
      <p:sp>
        <p:nvSpPr>
          <p:cNvPr id="7" name="Text 5"/>
          <p:cNvSpPr txBox="1"/>
          <p:nvPr/>
        </p:nvSpPr>
        <p:spPr>
          <a:xfrm>
            <a:off x="704088" y="2248154"/>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Asit Fosfataz: </a:t>
            </a:r>
            <a:r>
              <a:rPr lang="en-US" sz="1300" dirty="0">
                <a:solidFill>
                  <a:srgbClr val="1F2937"/>
                </a:solidFill>
                <a:latin typeface="Calibri" pitchFamily="34" charset="0"/>
                <a:ea typeface="Calibri" pitchFamily="34" charset="-122"/>
                <a:cs typeface="Calibri" pitchFamily="34" charset="-120"/>
              </a:rPr>
              <a:t>Serumda asit fosfataz denilen enzimlerin miktarının ölçülmesidir. Metastatik prostat kanserlerinde enzim düzeyi yükselir. Kemik hastalıklarında ve meme kanserinde enzim orta miktatda artar.</a:t>
            </a:r>
            <a:endParaRPr lang="en-US" sz="1300" dirty="0"/>
          </a:p>
        </p:txBody>
      </p:sp>
      <p:sp>
        <p:nvSpPr>
          <p:cNvPr id="8" name="Shape 6"/>
          <p:cNvSpPr/>
          <p:nvPr/>
        </p:nvSpPr>
        <p:spPr>
          <a:xfrm>
            <a:off x="548640" y="2859481"/>
            <a:ext cx="11094415" cy="593039"/>
          </a:xfrm>
          <a:prstGeom prst="roundRect">
            <a:avLst>
              <a:gd name="adj" fmla="val 10793"/>
            </a:avLst>
          </a:prstGeom>
          <a:solidFill>
            <a:srgbClr val="E7F2F9"/>
          </a:solidFill>
          <a:ln/>
        </p:spPr>
      </p:sp>
      <p:sp>
        <p:nvSpPr>
          <p:cNvPr id="9" name="Text 7"/>
          <p:cNvSpPr txBox="1"/>
          <p:nvPr/>
        </p:nvSpPr>
        <p:spPr>
          <a:xfrm>
            <a:off x="704088" y="2932633"/>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Alkalen Fosfotaz: </a:t>
            </a:r>
            <a:r>
              <a:rPr lang="en-US" sz="1300" dirty="0">
                <a:solidFill>
                  <a:srgbClr val="1F2937"/>
                </a:solidFill>
                <a:latin typeface="Calibri" pitchFamily="34" charset="0"/>
                <a:ea typeface="Calibri" pitchFamily="34" charset="-122"/>
                <a:cs typeface="Calibri" pitchFamily="34" charset="-120"/>
              </a:rPr>
              <a:t>Hücre membranında bulunan bir enzimdir. Karaciğer hastalıklarında (hepatit ve hepatom) düzeyi yükselir. Kemik hastalığı ve kemik kanserlerinde de artış olur.</a:t>
            </a:r>
            <a:endParaRPr lang="en-US" sz="1300" dirty="0"/>
          </a:p>
        </p:txBody>
      </p:sp>
      <p:sp>
        <p:nvSpPr>
          <p:cNvPr id="10" name="Shape 8"/>
          <p:cNvSpPr/>
          <p:nvPr/>
        </p:nvSpPr>
        <p:spPr>
          <a:xfrm>
            <a:off x="548640" y="3543960"/>
            <a:ext cx="11094415" cy="593039"/>
          </a:xfrm>
          <a:prstGeom prst="roundRect">
            <a:avLst>
              <a:gd name="adj" fmla="val 10793"/>
            </a:avLst>
          </a:prstGeom>
          <a:solidFill>
            <a:srgbClr val="E7F2F9"/>
          </a:solidFill>
          <a:ln/>
        </p:spPr>
      </p:sp>
      <p:sp>
        <p:nvSpPr>
          <p:cNvPr id="11" name="Text 9"/>
          <p:cNvSpPr txBox="1"/>
          <p:nvPr/>
        </p:nvSpPr>
        <p:spPr>
          <a:xfrm>
            <a:off x="704088" y="3617112"/>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Ürik Asit Ölçümü: </a:t>
            </a:r>
            <a:r>
              <a:rPr lang="en-US" sz="1300" dirty="0">
                <a:solidFill>
                  <a:srgbClr val="1F2937"/>
                </a:solidFill>
                <a:latin typeface="Calibri" pitchFamily="34" charset="0"/>
                <a:ea typeface="Calibri" pitchFamily="34" charset="-122"/>
                <a:cs typeface="Calibri" pitchFamily="34" charset="-120"/>
              </a:rPr>
              <a:t>Ürik asit (nitrojen içeren attık madde) miktarı serum ve idrarda ölçülür. Gut hastalığında ürik asit miktarı yükselir. Bu hastalıkta ürik asit eklem ve dokularda kristal olarak birikir. Yüksek ürik asit miktarı böbreklerde taşı oluşturur.</a:t>
            </a:r>
            <a:endParaRPr lang="en-US" sz="1300" dirty="0"/>
          </a:p>
        </p:txBody>
      </p:sp>
      <p:sp>
        <p:nvSpPr>
          <p:cNvPr id="12" name="Shape 10"/>
          <p:cNvSpPr/>
          <p:nvPr/>
        </p:nvSpPr>
        <p:spPr>
          <a:xfrm>
            <a:off x="548640" y="4228440"/>
            <a:ext cx="11094415" cy="593039"/>
          </a:xfrm>
          <a:prstGeom prst="roundRect">
            <a:avLst>
              <a:gd name="adj" fmla="val 10793"/>
            </a:avLst>
          </a:prstGeom>
          <a:solidFill>
            <a:srgbClr val="E7F2F9"/>
          </a:solidFill>
          <a:ln/>
        </p:spPr>
      </p:sp>
      <p:sp>
        <p:nvSpPr>
          <p:cNvPr id="13" name="Text 11"/>
          <p:cNvSpPr txBox="1"/>
          <p:nvPr/>
        </p:nvSpPr>
        <p:spPr>
          <a:xfrm>
            <a:off x="704088" y="4301592"/>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Albumin: </a:t>
            </a:r>
            <a:r>
              <a:rPr lang="en-US" sz="1300" dirty="0">
                <a:solidFill>
                  <a:srgbClr val="1F2937"/>
                </a:solidFill>
                <a:latin typeface="Calibri" pitchFamily="34" charset="0"/>
                <a:ea typeface="Calibri" pitchFamily="34" charset="-122"/>
                <a:cs typeface="Calibri" pitchFamily="34" charset="-120"/>
              </a:rPr>
              <a:t>Serum idrarda albüminin (protein) ölçülmesidir. Serumda albümin miktarının düşmesi böbrek hastalıklarında, kötü beslenmede veya karaciğer hastalığında görülür. İdrarda albüminin bulunması (albüminüri) böbreğin fonksiyon bozukluğunu gösterir.</a:t>
            </a:r>
            <a:endParaRPr lang="en-US" sz="1300" dirty="0"/>
          </a:p>
        </p:txBody>
      </p:sp>
      <p:sp>
        <p:nvSpPr>
          <p:cNvPr id="14" name="Shape 12"/>
          <p:cNvSpPr/>
          <p:nvPr/>
        </p:nvSpPr>
        <p:spPr>
          <a:xfrm>
            <a:off x="548640" y="4912919"/>
            <a:ext cx="11094415" cy="593039"/>
          </a:xfrm>
          <a:prstGeom prst="roundRect">
            <a:avLst>
              <a:gd name="adj" fmla="val 10793"/>
            </a:avLst>
          </a:prstGeom>
          <a:solidFill>
            <a:srgbClr val="E7F2F9"/>
          </a:solidFill>
          <a:ln/>
        </p:spPr>
      </p:sp>
      <p:sp>
        <p:nvSpPr>
          <p:cNvPr id="15" name="Text 13"/>
          <p:cNvSpPr txBox="1"/>
          <p:nvPr/>
        </p:nvSpPr>
        <p:spPr>
          <a:xfrm>
            <a:off x="704088" y="4986071"/>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Globulin: </a:t>
            </a:r>
            <a:r>
              <a:rPr lang="en-US" sz="1300" dirty="0">
                <a:solidFill>
                  <a:srgbClr val="1F2937"/>
                </a:solidFill>
                <a:latin typeface="Calibri" pitchFamily="34" charset="0"/>
                <a:ea typeface="Calibri" pitchFamily="34" charset="-122"/>
                <a:cs typeface="Calibri" pitchFamily="34" charset="-120"/>
              </a:rPr>
              <a:t>Globulinler bağışıklık sistemi hücreleri tarafından üretilir. Yabancı maddelere (antijen) bağlanarak onları yıkıma uğratırlar. Gamma globülinler hastalıklarla savaşmak için antikor içeren globülin türüdür.</a:t>
            </a:r>
            <a:endParaRPr lang="en-US" sz="13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139</a:t>
            </a:r>
            <a:endParaRPr lang="en-US" sz="1000" dirty="0"/>
          </a:p>
        </p:txBody>
      </p:sp>
      <p:sp>
        <p:nvSpPr>
          <p:cNvPr id="6" name="Shape 4"/>
          <p:cNvSpPr/>
          <p:nvPr/>
        </p:nvSpPr>
        <p:spPr>
          <a:xfrm>
            <a:off x="548640" y="2025396"/>
            <a:ext cx="11094415" cy="916686"/>
          </a:xfrm>
          <a:prstGeom prst="roundRect">
            <a:avLst>
              <a:gd name="adj" fmla="val 6983"/>
            </a:avLst>
          </a:prstGeom>
          <a:solidFill>
            <a:srgbClr val="E7F2F9"/>
          </a:solidFill>
          <a:ln/>
        </p:spPr>
      </p:sp>
      <p:sp>
        <p:nvSpPr>
          <p:cNvPr id="7" name="Text 5"/>
          <p:cNvSpPr txBox="1"/>
          <p:nvPr/>
        </p:nvSpPr>
        <p:spPr>
          <a:xfrm>
            <a:off x="704088" y="2098548"/>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İmmunoassay: </a:t>
            </a:r>
            <a:r>
              <a:rPr lang="en-US" sz="1500" dirty="0">
                <a:solidFill>
                  <a:srgbClr val="1F2937"/>
                </a:solidFill>
                <a:latin typeface="Calibri" pitchFamily="34" charset="0"/>
                <a:ea typeface="Calibri" pitchFamily="34" charset="-122"/>
                <a:cs typeface="Calibri" pitchFamily="34" charset="-120"/>
              </a:rPr>
              <a:t>Hormon, ilaç ve protein gibi bazı kimyasalların konsantrasyonunun kan ve idrarda test edilmesidir. Antijen ve antikorlar arasındaki tepkimeyi ölçen immünolojik reaksiyondur. Karışımda herhangi bir partikülün miktarının saptanmasına kısaca ‘assay’ denir.</a:t>
            </a:r>
            <a:endParaRPr lang="en-US" sz="1500" dirty="0"/>
          </a:p>
        </p:txBody>
      </p:sp>
      <p:sp>
        <p:nvSpPr>
          <p:cNvPr id="8" name="Shape 6"/>
          <p:cNvSpPr/>
          <p:nvPr/>
        </p:nvSpPr>
        <p:spPr>
          <a:xfrm>
            <a:off x="548640" y="3033522"/>
            <a:ext cx="11094415" cy="916686"/>
          </a:xfrm>
          <a:prstGeom prst="roundRect">
            <a:avLst>
              <a:gd name="adj" fmla="val 6983"/>
            </a:avLst>
          </a:prstGeom>
          <a:solidFill>
            <a:srgbClr val="E7F2F9"/>
          </a:solidFill>
          <a:ln/>
        </p:spPr>
      </p:sp>
      <p:sp>
        <p:nvSpPr>
          <p:cNvPr id="9" name="Text 7"/>
          <p:cNvSpPr txBox="1"/>
          <p:nvPr/>
        </p:nvSpPr>
        <p:spPr>
          <a:xfrm>
            <a:off x="704088" y="3106674"/>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Human Karyonik Gonadotropin: </a:t>
            </a:r>
            <a:r>
              <a:rPr lang="en-US" sz="1500" dirty="0">
                <a:solidFill>
                  <a:srgbClr val="1F2937"/>
                </a:solidFill>
                <a:latin typeface="Calibri" pitchFamily="34" charset="0"/>
                <a:ea typeface="Calibri" pitchFamily="34" charset="-122"/>
                <a:cs typeface="Calibri" pitchFamily="34" charset="-120"/>
              </a:rPr>
              <a:t>İdrarda bulunan karyonik gonadotropin konsantrasyonunun (fetal plasenta hücreleri tarafından salgılanan hormon) ölçülmesidir. Yumurta ve sperm hücrelerinin fertilizasyonundan sonra idrarda saptanır. Çok sık kullanılan gebelik testlerinin temelini oluşturur. Laboratuvar simgesi ‘HCG, hCG’dir.</a:t>
            </a:r>
            <a:endParaRPr lang="en-US" sz="1500" dirty="0"/>
          </a:p>
        </p:txBody>
      </p:sp>
      <p:sp>
        <p:nvSpPr>
          <p:cNvPr id="10" name="Shape 8"/>
          <p:cNvSpPr/>
          <p:nvPr/>
        </p:nvSpPr>
        <p:spPr>
          <a:xfrm>
            <a:off x="548640" y="4041648"/>
            <a:ext cx="11094415" cy="1613916"/>
          </a:xfrm>
          <a:prstGeom prst="roundRect">
            <a:avLst>
              <a:gd name="adj" fmla="val 3966"/>
            </a:avLst>
          </a:prstGeom>
          <a:solidFill>
            <a:srgbClr val="E7F2F9"/>
          </a:solidFill>
          <a:ln/>
        </p:spPr>
      </p:sp>
      <p:sp>
        <p:nvSpPr>
          <p:cNvPr id="11" name="Text 9"/>
          <p:cNvSpPr txBox="1"/>
          <p:nvPr/>
        </p:nvSpPr>
        <p:spPr>
          <a:xfrm>
            <a:off x="704088" y="4114800"/>
            <a:ext cx="10783519" cy="146761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Alfa Fetoprotein: </a:t>
            </a:r>
            <a:r>
              <a:rPr lang="en-US" sz="1500" dirty="0">
                <a:solidFill>
                  <a:srgbClr val="1F2937"/>
                </a:solidFill>
                <a:latin typeface="Calibri" pitchFamily="34" charset="0"/>
                <a:ea typeface="Calibri" pitchFamily="34" charset="-122"/>
                <a:cs typeface="Calibri" pitchFamily="34" charset="-120"/>
              </a:rPr>
              <a:t>Serumda alfa globülin adlı bir protein aranmasıdır. Bu protein normalde fetusun serumunda, çocuklarda ve gebelerde bulunur. Beyin ve medulla spinalis anomalileri olan fetuslarda amniyotik sıvıya sızar. Bu olgu medulla spinalis bozukluğunun (spina bifida) veya anensefalinin (beynin gelişmemesi) işaretidir. Karaciğer kanserinde ve diğer kanserlerde (testis, yumurtalık kanserleri) yüksek düzeylerde bulunur. Serumdaki düzeyi tespit edilerek kanser tedavisinin başarısı kontrol edilir. Siroz ve viral hepatit gibi iyi huylu karaciğer hastalığında yüksek düzeylerde bulunur. Laboratuvar işareti ‘AFP’dir.</a:t>
            </a:r>
            <a:endParaRPr lang="en-US" sz="15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140</a:t>
            </a:r>
            <a:endParaRPr lang="en-US" sz="1000" dirty="0"/>
          </a:p>
        </p:txBody>
      </p:sp>
      <p:sp>
        <p:nvSpPr>
          <p:cNvPr id="6" name="Shape 4"/>
          <p:cNvSpPr/>
          <p:nvPr/>
        </p:nvSpPr>
        <p:spPr>
          <a:xfrm>
            <a:off x="548640" y="2257806"/>
            <a:ext cx="11094415" cy="916686"/>
          </a:xfrm>
          <a:prstGeom prst="roundRect">
            <a:avLst>
              <a:gd name="adj" fmla="val 6983"/>
            </a:avLst>
          </a:prstGeom>
          <a:solidFill>
            <a:srgbClr val="E7F2F9"/>
          </a:solidFill>
          <a:ln/>
        </p:spPr>
      </p:sp>
      <p:sp>
        <p:nvSpPr>
          <p:cNvPr id="7" name="Text 5"/>
          <p:cNvSpPr txBox="1"/>
          <p:nvPr/>
        </p:nvSpPr>
        <p:spPr>
          <a:xfrm>
            <a:off x="704088" y="2330958"/>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PKU Testi: </a:t>
            </a:r>
            <a:r>
              <a:rPr lang="en-US" sz="1500" dirty="0">
                <a:solidFill>
                  <a:srgbClr val="1F2937"/>
                </a:solidFill>
                <a:latin typeface="Calibri" pitchFamily="34" charset="0"/>
                <a:ea typeface="Calibri" pitchFamily="34" charset="-122"/>
                <a:cs typeface="Calibri" pitchFamily="34" charset="-120"/>
              </a:rPr>
              <a:t>Yeni doğan bebeğin idrarında phenylketonların bulunup bulunulmamasına bakılır. Fenilketonüri spesifik bir enzimin eksikliğinde çocuklarda görülür. Eğer enzim yoksa, fenilalanin aminoasiti birikir, bu da çocuğun beynini etkileyerek mental retardasyona neden olur. Bu durumda bbeğe kanda fenilalanin birikmesinin önleyen diyet uygulanır.</a:t>
            </a:r>
            <a:endParaRPr lang="en-US" sz="1500" dirty="0"/>
          </a:p>
        </p:txBody>
      </p:sp>
      <p:sp>
        <p:nvSpPr>
          <p:cNvPr id="8" name="Shape 6"/>
          <p:cNvSpPr/>
          <p:nvPr/>
        </p:nvSpPr>
        <p:spPr>
          <a:xfrm>
            <a:off x="548640" y="3265932"/>
            <a:ext cx="11094415" cy="1149096"/>
          </a:xfrm>
          <a:prstGeom prst="roundRect">
            <a:avLst>
              <a:gd name="adj" fmla="val 5570"/>
            </a:avLst>
          </a:prstGeom>
          <a:solidFill>
            <a:srgbClr val="E7F2F9"/>
          </a:solidFill>
          <a:ln/>
        </p:spPr>
      </p:sp>
      <p:sp>
        <p:nvSpPr>
          <p:cNvPr id="9" name="Text 7"/>
          <p:cNvSpPr txBox="1"/>
          <p:nvPr/>
        </p:nvSpPr>
        <p:spPr>
          <a:xfrm>
            <a:off x="704088" y="3339084"/>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Bence Jones Proteini: </a:t>
            </a:r>
            <a:r>
              <a:rPr lang="en-US" sz="1500" dirty="0">
                <a:solidFill>
                  <a:srgbClr val="1F2937"/>
                </a:solidFill>
                <a:latin typeface="Calibri" pitchFamily="34" charset="0"/>
                <a:ea typeface="Calibri" pitchFamily="34" charset="-122"/>
                <a:cs typeface="Calibri" pitchFamily="34" charset="-120"/>
              </a:rPr>
              <a:t>Serum veya idrarda Bence Jones proteinlerini ölçülür. Kanserli kemik iliği hücreleri tarafından (myeloma hücreleri) fazla miktarda üretilen normal serum proteinin parçası olan bir immunoglobulindir. Normalde kan ve idrarda bulunmaz, fakat multple myeloma (kötü huylu kemik iliği kanseri) hastalığında idrar ve serumda yüksek düzeyde Bence Jones proteini saptanır.</a:t>
            </a:r>
            <a:endParaRPr lang="en-US" sz="1500" dirty="0"/>
          </a:p>
        </p:txBody>
      </p:sp>
      <p:sp>
        <p:nvSpPr>
          <p:cNvPr id="10" name="Shape 8"/>
          <p:cNvSpPr/>
          <p:nvPr/>
        </p:nvSpPr>
        <p:spPr>
          <a:xfrm>
            <a:off x="548640" y="4506468"/>
            <a:ext cx="11094415" cy="916686"/>
          </a:xfrm>
          <a:prstGeom prst="roundRect">
            <a:avLst>
              <a:gd name="adj" fmla="val 6983"/>
            </a:avLst>
          </a:prstGeom>
          <a:solidFill>
            <a:srgbClr val="E7F2F9"/>
          </a:solidFill>
          <a:ln/>
        </p:spPr>
      </p:sp>
      <p:sp>
        <p:nvSpPr>
          <p:cNvPr id="11" name="Text 9"/>
          <p:cNvSpPr txBox="1"/>
          <p:nvPr/>
        </p:nvSpPr>
        <p:spPr>
          <a:xfrm>
            <a:off x="704088" y="4579620"/>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Bilirubin: </a:t>
            </a:r>
            <a:r>
              <a:rPr lang="en-US" sz="1500" dirty="0">
                <a:solidFill>
                  <a:srgbClr val="1F2937"/>
                </a:solidFill>
                <a:latin typeface="Calibri" pitchFamily="34" charset="0"/>
                <a:ea typeface="Calibri" pitchFamily="34" charset="-122"/>
                <a:cs typeface="Calibri" pitchFamily="34" charset="-120"/>
              </a:rPr>
              <a:t>Serum ve israrda portakal rengi kahverengi pigmentin (bilirubin) ölçülmesidir. Bilirubin eritrositlerde bulunan hemoglobinden ortaya çıkar. Serum ve idrarda yüksek miktarda bulunması sarılığı gösterir. Karaciğer hastalığı, safra yollarındaki tıkanıklık sonucu ya da kırmızı kan hücrelerinin aşırı yıkımı sonucunda görülür.</a:t>
            </a:r>
            <a:endParaRPr lang="en-US" sz="15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141</a:t>
            </a:r>
            <a:endParaRPr lang="en-US" sz="1000" dirty="0"/>
          </a:p>
        </p:txBody>
      </p:sp>
      <p:sp>
        <p:nvSpPr>
          <p:cNvPr id="6" name="Shape 4"/>
          <p:cNvSpPr/>
          <p:nvPr/>
        </p:nvSpPr>
        <p:spPr>
          <a:xfrm>
            <a:off x="548640" y="2084832"/>
            <a:ext cx="11094415" cy="554736"/>
          </a:xfrm>
          <a:prstGeom prst="roundRect">
            <a:avLst>
              <a:gd name="adj" fmla="val 11538"/>
            </a:avLst>
          </a:prstGeom>
          <a:solidFill>
            <a:srgbClr val="E7F2F9"/>
          </a:solidFill>
          <a:ln/>
        </p:spPr>
      </p:sp>
      <p:sp>
        <p:nvSpPr>
          <p:cNvPr id="7" name="Text 5"/>
          <p:cNvSpPr txBox="1"/>
          <p:nvPr/>
        </p:nvSpPr>
        <p:spPr>
          <a:xfrm>
            <a:off x="704088" y="2157984"/>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Kan Kültürü: </a:t>
            </a:r>
            <a:r>
              <a:rPr lang="en-US" sz="1200" dirty="0">
                <a:solidFill>
                  <a:srgbClr val="1F2937"/>
                </a:solidFill>
                <a:latin typeface="Calibri" pitchFamily="34" charset="0"/>
                <a:ea typeface="Calibri" pitchFamily="34" charset="-122"/>
                <a:cs typeface="Calibri" pitchFamily="34" charset="-120"/>
              </a:rPr>
              <a:t>Bu incelemeyle kanda enfeksiyonun bulunup bulunmadığı saptanır. Kan örneği özel bir kültüre eklenir. Bu ortam mikroorganizmaların çoğalmasını sağlar. Daha sonra mikroorganizmaların üreyip üremediği, ürediyse tipi belirlenir.</a:t>
            </a:r>
            <a:endParaRPr lang="en-US" sz="1200" dirty="0"/>
          </a:p>
        </p:txBody>
      </p:sp>
      <p:sp>
        <p:nvSpPr>
          <p:cNvPr id="8" name="Shape 6"/>
          <p:cNvSpPr/>
          <p:nvPr/>
        </p:nvSpPr>
        <p:spPr>
          <a:xfrm>
            <a:off x="548640" y="2731008"/>
            <a:ext cx="11094415" cy="554736"/>
          </a:xfrm>
          <a:prstGeom prst="roundRect">
            <a:avLst>
              <a:gd name="adj" fmla="val 11538"/>
            </a:avLst>
          </a:prstGeom>
          <a:solidFill>
            <a:srgbClr val="E7F2F9"/>
          </a:solidFill>
          <a:ln/>
        </p:spPr>
      </p:sp>
      <p:sp>
        <p:nvSpPr>
          <p:cNvPr id="9" name="Text 7"/>
          <p:cNvSpPr txBox="1"/>
          <p:nvPr/>
        </p:nvSpPr>
        <p:spPr>
          <a:xfrm>
            <a:off x="704088" y="2804160"/>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Kan Üre Nitrojeni: </a:t>
            </a:r>
            <a:r>
              <a:rPr lang="en-US" sz="1200" dirty="0">
                <a:solidFill>
                  <a:srgbClr val="1F2937"/>
                </a:solidFill>
                <a:latin typeface="Calibri" pitchFamily="34" charset="0"/>
                <a:ea typeface="Calibri" pitchFamily="34" charset="-122"/>
                <a:cs typeface="Calibri" pitchFamily="34" charset="-120"/>
              </a:rPr>
              <a:t>Serumda üre miktarı ölçülür. Yüksek düzeydeki serum üresi böbrek fonksiyonlarının bozulduğunu gösterir. Ürenin kandan alınarak idrar yoluyla atılması böbreğin görevidir. Laboratuvarda kısaca ‘BUN’ olarak bilinir.</a:t>
            </a:r>
            <a:endParaRPr lang="en-US" sz="1200" dirty="0"/>
          </a:p>
        </p:txBody>
      </p:sp>
      <p:sp>
        <p:nvSpPr>
          <p:cNvPr id="10" name="Shape 8"/>
          <p:cNvSpPr/>
          <p:nvPr/>
        </p:nvSpPr>
        <p:spPr>
          <a:xfrm>
            <a:off x="548640" y="3377184"/>
            <a:ext cx="11094415" cy="740664"/>
          </a:xfrm>
          <a:prstGeom prst="roundRect">
            <a:avLst>
              <a:gd name="adj" fmla="val 8642"/>
            </a:avLst>
          </a:prstGeom>
          <a:solidFill>
            <a:srgbClr val="E7F2F9"/>
          </a:solidFill>
          <a:ln/>
        </p:spPr>
      </p:sp>
      <p:sp>
        <p:nvSpPr>
          <p:cNvPr id="11" name="Text 9"/>
          <p:cNvSpPr txBox="1"/>
          <p:nvPr/>
        </p:nvSpPr>
        <p:spPr>
          <a:xfrm>
            <a:off x="704088" y="3450336"/>
            <a:ext cx="10783519" cy="594360"/>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Kreatinin: </a:t>
            </a:r>
            <a:r>
              <a:rPr lang="en-US" sz="1200" dirty="0">
                <a:solidFill>
                  <a:srgbClr val="1F2937"/>
                </a:solidFill>
                <a:latin typeface="Calibri" pitchFamily="34" charset="0"/>
                <a:ea typeface="Calibri" pitchFamily="34" charset="-122"/>
                <a:cs typeface="Calibri" pitchFamily="34" charset="-120"/>
              </a:rPr>
              <a:t>Seum veya plazmada nitrojen içeren atık maddenin (kreatinin) ölçülmesidir. Börek fonksiyonu için kullanılan bir testtir. Kreatinin kasta protein yıkım ürünü olarak normalde üretilir ve böbreklerden idrar yoluyla atılır. Kanda kreatinin düzeyinde artış olması, böbrek fonksiyonunun bozulduğunu gösterir. Artış aynı zamanda yüksek protein diyetinde ve dehitratasyonda da görülebilir.</a:t>
            </a:r>
            <a:endParaRPr lang="en-US" sz="1200" dirty="0"/>
          </a:p>
        </p:txBody>
      </p:sp>
      <p:sp>
        <p:nvSpPr>
          <p:cNvPr id="12" name="Shape 10"/>
          <p:cNvSpPr/>
          <p:nvPr/>
        </p:nvSpPr>
        <p:spPr>
          <a:xfrm>
            <a:off x="548640" y="4209288"/>
            <a:ext cx="11094415" cy="554736"/>
          </a:xfrm>
          <a:prstGeom prst="roundRect">
            <a:avLst>
              <a:gd name="adj" fmla="val 11538"/>
            </a:avLst>
          </a:prstGeom>
          <a:solidFill>
            <a:srgbClr val="E7F2F9"/>
          </a:solidFill>
          <a:ln/>
        </p:spPr>
      </p:sp>
      <p:sp>
        <p:nvSpPr>
          <p:cNvPr id="13" name="Text 11"/>
          <p:cNvSpPr txBox="1"/>
          <p:nvPr/>
        </p:nvSpPr>
        <p:spPr>
          <a:xfrm>
            <a:off x="704088" y="4282440"/>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Kreatinin Klirensi: </a:t>
            </a:r>
            <a:r>
              <a:rPr lang="en-US" sz="1200" dirty="0">
                <a:solidFill>
                  <a:srgbClr val="1F2937"/>
                </a:solidFill>
                <a:latin typeface="Calibri" pitchFamily="34" charset="0"/>
                <a:ea typeface="Calibri" pitchFamily="34" charset="-122"/>
                <a:cs typeface="Calibri" pitchFamily="34" charset="-120"/>
              </a:rPr>
              <a:t>Kandan böbrekler yoluyla kreatinin temizlenme hızını ölçer. Eğer bu hız düşükse böbrekler kandan kreatinin idrara yeterince geçiremiyordur.</a:t>
            </a:r>
            <a:endParaRPr lang="en-US" sz="1200" dirty="0"/>
          </a:p>
        </p:txBody>
      </p:sp>
      <p:sp>
        <p:nvSpPr>
          <p:cNvPr id="14" name="Shape 12"/>
          <p:cNvSpPr/>
          <p:nvPr/>
        </p:nvSpPr>
        <p:spPr>
          <a:xfrm>
            <a:off x="548640" y="4855464"/>
            <a:ext cx="11094415" cy="740664"/>
          </a:xfrm>
          <a:prstGeom prst="roundRect">
            <a:avLst>
              <a:gd name="adj" fmla="val 8642"/>
            </a:avLst>
          </a:prstGeom>
          <a:solidFill>
            <a:srgbClr val="E7F2F9"/>
          </a:solidFill>
          <a:ln/>
        </p:spPr>
      </p:sp>
      <p:sp>
        <p:nvSpPr>
          <p:cNvPr id="15" name="Text 13"/>
          <p:cNvSpPr txBox="1"/>
          <p:nvPr/>
        </p:nvSpPr>
        <p:spPr>
          <a:xfrm>
            <a:off x="704088" y="4928616"/>
            <a:ext cx="10783519" cy="594360"/>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Kreatin Kinaz: </a:t>
            </a:r>
            <a:r>
              <a:rPr lang="en-US" sz="1200" dirty="0">
                <a:solidFill>
                  <a:srgbClr val="1F2937"/>
                </a:solidFill>
                <a:latin typeface="Calibri" pitchFamily="34" charset="0"/>
                <a:ea typeface="Calibri" pitchFamily="34" charset="-122"/>
                <a:cs typeface="Calibri" pitchFamily="34" charset="-120"/>
              </a:rPr>
              <a:t>Bir kan enzimi olan kreatin kinaz düzeyini ölçen serum testidir. Kreatin kinaz kalp kasında, beyin dokusunda ve iskelet kasında normalde bulunur. Kreatin kinazın bir tipi (izoenzim) yeni geçirilmiş kalp krizini gösterir. Çünkü kas zedelendiğinde veya öldüğünde enzim kas hücresinden kana karışır.</a:t>
            </a:r>
            <a:endParaRPr lang="en-US" sz="12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142</a:t>
            </a:r>
            <a:endParaRPr lang="en-US" sz="1000" dirty="0"/>
          </a:p>
        </p:txBody>
      </p:sp>
      <p:sp>
        <p:nvSpPr>
          <p:cNvPr id="6" name="Shape 4"/>
          <p:cNvSpPr/>
          <p:nvPr/>
        </p:nvSpPr>
        <p:spPr>
          <a:xfrm>
            <a:off x="548640" y="2025396"/>
            <a:ext cx="11094415" cy="916686"/>
          </a:xfrm>
          <a:prstGeom prst="roundRect">
            <a:avLst>
              <a:gd name="adj" fmla="val 6983"/>
            </a:avLst>
          </a:prstGeom>
          <a:solidFill>
            <a:srgbClr val="E7F2F9"/>
          </a:solidFill>
          <a:ln/>
        </p:spPr>
      </p:sp>
      <p:sp>
        <p:nvSpPr>
          <p:cNvPr id="7" name="Text 5"/>
          <p:cNvSpPr txBox="1"/>
          <p:nvPr/>
        </p:nvSpPr>
        <p:spPr>
          <a:xfrm>
            <a:off x="704088" y="2098548"/>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Kalsiyum: </a:t>
            </a:r>
            <a:r>
              <a:rPr lang="en-US" sz="1500" dirty="0">
                <a:solidFill>
                  <a:srgbClr val="1F2937"/>
                </a:solidFill>
                <a:latin typeface="Calibri" pitchFamily="34" charset="0"/>
                <a:ea typeface="Calibri" pitchFamily="34" charset="-122"/>
                <a:cs typeface="Calibri" pitchFamily="34" charset="-120"/>
              </a:rPr>
              <a:t>Serum, plazma vey atam kanda kalsiyum miktarının ölçülmesidir. Sinir ve kasların anormal fonksiyonunda düşük kan değerleri bulunur. Kemiklerde kalsiyum kaybı, yüksek miktarda kalsiyum alımı, paratiroid bezi hastalıkları ve kanser, kandaki değerini yükseltir. Laboratuvarda kısaca ‘Ca’ olarak bilinir.</a:t>
            </a:r>
            <a:endParaRPr lang="en-US" sz="1500" dirty="0"/>
          </a:p>
        </p:txBody>
      </p:sp>
      <p:sp>
        <p:nvSpPr>
          <p:cNvPr id="8" name="Shape 6"/>
          <p:cNvSpPr/>
          <p:nvPr/>
        </p:nvSpPr>
        <p:spPr>
          <a:xfrm>
            <a:off x="548640" y="3033522"/>
            <a:ext cx="11094415" cy="1846326"/>
          </a:xfrm>
          <a:prstGeom prst="roundRect">
            <a:avLst>
              <a:gd name="adj" fmla="val 3467"/>
            </a:avLst>
          </a:prstGeom>
          <a:solidFill>
            <a:srgbClr val="E7F2F9"/>
          </a:solidFill>
          <a:ln/>
        </p:spPr>
      </p:sp>
      <p:sp>
        <p:nvSpPr>
          <p:cNvPr id="9" name="Text 7"/>
          <p:cNvSpPr txBox="1"/>
          <p:nvPr/>
        </p:nvSpPr>
        <p:spPr>
          <a:xfrm>
            <a:off x="704088" y="3106674"/>
            <a:ext cx="10783519" cy="170002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Elektrolitler: </a:t>
            </a:r>
            <a:r>
              <a:rPr lang="en-US" sz="1500" dirty="0">
                <a:solidFill>
                  <a:srgbClr val="1F2937"/>
                </a:solidFill>
                <a:latin typeface="Calibri" pitchFamily="34" charset="0"/>
                <a:ea typeface="Calibri" pitchFamily="34" charset="-122"/>
                <a:cs typeface="Calibri" pitchFamily="34" charset="-120"/>
              </a:rPr>
              <a:t>Kandaki elektrolitlerin (elektrik akımını iletme özelliği bulunan kimyasal maddeler) konsantrasyonunu saptayan işlemdir. Suda çözüldüğünde elektrolitler yüklü parçacıklara (iyonlar) ayrılırlar. Pozitif yüklü elektrolitler sodyum (Na⁺), potasyum (K⁺), kalsiyum (Ca⁺²) ve magnezyum (Mg⁺²)’dur. Negatif yüklü elektrolitler klorid (Cl⁻) ve bikarbonattır (HCO³⁻). Elektrolitlerin serumdaki konsantrasyonlarının çok düşük ya da yüksek olması elektrolit dengesizliği oluşturur. Kalsiyum kemikleri, böbrekleri, gastrointestinal sistemi, nöromasküler aktiviteyi etkiler. Sodyum kan basıncını, sinirlerin çalışmasını, doku sıvısı düzeylerini belirler. Potasyum kalp ve kas çalışmasını etkiler.</a:t>
            </a:r>
            <a:endParaRPr lang="en-US" sz="1500" dirty="0"/>
          </a:p>
        </p:txBody>
      </p:sp>
      <p:sp>
        <p:nvSpPr>
          <p:cNvPr id="10" name="Shape 8"/>
          <p:cNvSpPr/>
          <p:nvPr/>
        </p:nvSpPr>
        <p:spPr>
          <a:xfrm>
            <a:off x="548640" y="4971288"/>
            <a:ext cx="11094415" cy="684276"/>
          </a:xfrm>
          <a:prstGeom prst="roundRect">
            <a:avLst>
              <a:gd name="adj" fmla="val 9354"/>
            </a:avLst>
          </a:prstGeom>
          <a:solidFill>
            <a:srgbClr val="E7F2F9"/>
          </a:solidFill>
          <a:ln/>
        </p:spPr>
      </p:sp>
      <p:sp>
        <p:nvSpPr>
          <p:cNvPr id="11" name="Text 9"/>
          <p:cNvSpPr txBox="1"/>
          <p:nvPr/>
        </p:nvSpPr>
        <p:spPr>
          <a:xfrm>
            <a:off x="704088" y="5044440"/>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Potasyum: </a:t>
            </a:r>
            <a:r>
              <a:rPr lang="en-US" sz="1500" dirty="0">
                <a:solidFill>
                  <a:srgbClr val="1F2937"/>
                </a:solidFill>
                <a:latin typeface="Calibri" pitchFamily="34" charset="0"/>
                <a:ea typeface="Calibri" pitchFamily="34" charset="-122"/>
                <a:cs typeface="Calibri" pitchFamily="34" charset="-120"/>
              </a:rPr>
              <a:t>Serumda potasyum konsantrasyonunun ölçülmesidir. Potasyum kalsiyum gibi diğer minerallerle birleşir ve kasların özelliklede kalp kasının fonksiyonunda önemlidir. Laboratuvar simgesi ‘K⁺’dır.</a:t>
            </a:r>
            <a:endParaRPr lang="en-US" sz="15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143</a:t>
            </a:r>
            <a:endParaRPr lang="en-US" sz="1000" dirty="0"/>
          </a:p>
        </p:txBody>
      </p:sp>
      <p:sp>
        <p:nvSpPr>
          <p:cNvPr id="6" name="Shape 4"/>
          <p:cNvSpPr/>
          <p:nvPr/>
        </p:nvSpPr>
        <p:spPr>
          <a:xfrm>
            <a:off x="548640" y="2114398"/>
            <a:ext cx="11094415" cy="593039"/>
          </a:xfrm>
          <a:prstGeom prst="roundRect">
            <a:avLst>
              <a:gd name="adj" fmla="val 10793"/>
            </a:avLst>
          </a:prstGeom>
          <a:solidFill>
            <a:srgbClr val="E7F2F9"/>
          </a:solidFill>
          <a:ln/>
        </p:spPr>
      </p:sp>
      <p:sp>
        <p:nvSpPr>
          <p:cNvPr id="7" name="Text 5"/>
          <p:cNvSpPr txBox="1"/>
          <p:nvPr/>
        </p:nvSpPr>
        <p:spPr>
          <a:xfrm>
            <a:off x="704088" y="2187550"/>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Karbondioksit: </a:t>
            </a:r>
            <a:r>
              <a:rPr lang="en-US" sz="1300" dirty="0">
                <a:solidFill>
                  <a:srgbClr val="1F2937"/>
                </a:solidFill>
                <a:latin typeface="Calibri" pitchFamily="34" charset="0"/>
                <a:ea typeface="Calibri" pitchFamily="34" charset="-122"/>
                <a:cs typeface="Calibri" pitchFamily="34" charset="-120"/>
              </a:rPr>
              <a:t>Dokular tarafından üretilen ve akciğerlerde elimine edilen bu gaz kanda ölçülür. Anormal değerler akciğer hastalığını gösterir. Simgesi CO₂’dir.</a:t>
            </a:r>
            <a:endParaRPr lang="en-US" sz="1300" dirty="0"/>
          </a:p>
        </p:txBody>
      </p:sp>
      <p:sp>
        <p:nvSpPr>
          <p:cNvPr id="8" name="Shape 6"/>
          <p:cNvSpPr/>
          <p:nvPr/>
        </p:nvSpPr>
        <p:spPr>
          <a:xfrm>
            <a:off x="548640" y="2798877"/>
            <a:ext cx="11094415" cy="794461"/>
          </a:xfrm>
          <a:prstGeom prst="roundRect">
            <a:avLst>
              <a:gd name="adj" fmla="val 8057"/>
            </a:avLst>
          </a:prstGeom>
          <a:solidFill>
            <a:srgbClr val="E7F2F9"/>
          </a:solidFill>
          <a:ln/>
        </p:spPr>
      </p:sp>
      <p:sp>
        <p:nvSpPr>
          <p:cNvPr id="9" name="Text 7"/>
          <p:cNvSpPr txBox="1"/>
          <p:nvPr/>
        </p:nvSpPr>
        <p:spPr>
          <a:xfrm>
            <a:off x="704088" y="2872029"/>
            <a:ext cx="10783519" cy="648157"/>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Karsino Embriyonik Antijen: </a:t>
            </a:r>
            <a:r>
              <a:rPr lang="en-US" sz="1300" dirty="0">
                <a:solidFill>
                  <a:srgbClr val="1F2937"/>
                </a:solidFill>
                <a:latin typeface="Calibri" pitchFamily="34" charset="0"/>
                <a:ea typeface="Calibri" pitchFamily="34" charset="-122"/>
                <a:cs typeface="Calibri" pitchFamily="34" charset="-120"/>
              </a:rPr>
              <a:t>Fetüsün kanında normal olarak bulunan protein plazma testidir. Sağlıklı erişkinlerde çok az üretilir. Kolon ve pankreas kanseri gibi bazı kanserlerde yüksek düzeylerde bulunur. Kanser tedavisine yanıtı değerlendirmek için bu test kullanılır. Laboratuvar simgesi ‘CEA’dır.</a:t>
            </a:r>
            <a:endParaRPr lang="en-US" sz="1300" dirty="0"/>
          </a:p>
        </p:txBody>
      </p:sp>
      <p:sp>
        <p:nvSpPr>
          <p:cNvPr id="10" name="Shape 8"/>
          <p:cNvSpPr/>
          <p:nvPr/>
        </p:nvSpPr>
        <p:spPr>
          <a:xfrm>
            <a:off x="548640" y="3684778"/>
            <a:ext cx="11094415" cy="593039"/>
          </a:xfrm>
          <a:prstGeom prst="roundRect">
            <a:avLst>
              <a:gd name="adj" fmla="val 10793"/>
            </a:avLst>
          </a:prstGeom>
          <a:solidFill>
            <a:srgbClr val="E7F2F9"/>
          </a:solidFill>
          <a:ln/>
        </p:spPr>
      </p:sp>
      <p:sp>
        <p:nvSpPr>
          <p:cNvPr id="11" name="Text 9"/>
          <p:cNvSpPr txBox="1"/>
          <p:nvPr/>
        </p:nvSpPr>
        <p:spPr>
          <a:xfrm>
            <a:off x="704088" y="3757930"/>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Beyin Omurilik Sıvısı (BOS): </a:t>
            </a:r>
            <a:r>
              <a:rPr lang="en-US" sz="1300" dirty="0">
                <a:solidFill>
                  <a:srgbClr val="1F2937"/>
                </a:solidFill>
                <a:latin typeface="Calibri" pitchFamily="34" charset="0"/>
                <a:ea typeface="Calibri" pitchFamily="34" charset="-122"/>
                <a:cs typeface="Calibri" pitchFamily="34" charset="-120"/>
              </a:rPr>
              <a:t>Lomber ponksiyonla alınan BOS üzerinde kimyasal testler yapılır. Sıvı, protein, şeker ve kan hücreleri açısından incelenir. Menenjit, beyin tümörü, ensefalit gibi hastalıklarda bu test kullanılır.</a:t>
            </a:r>
            <a:endParaRPr lang="en-US" sz="1300" dirty="0"/>
          </a:p>
        </p:txBody>
      </p:sp>
      <p:sp>
        <p:nvSpPr>
          <p:cNvPr id="12" name="Shape 10"/>
          <p:cNvSpPr/>
          <p:nvPr/>
        </p:nvSpPr>
        <p:spPr>
          <a:xfrm>
            <a:off x="548640" y="4369257"/>
            <a:ext cx="11094415" cy="1197305"/>
          </a:xfrm>
          <a:prstGeom prst="roundRect">
            <a:avLst>
              <a:gd name="adj" fmla="val 5346"/>
            </a:avLst>
          </a:prstGeom>
          <a:solidFill>
            <a:srgbClr val="E7F2F9"/>
          </a:solidFill>
          <a:ln/>
        </p:spPr>
      </p:sp>
      <p:sp>
        <p:nvSpPr>
          <p:cNvPr id="13" name="Text 11"/>
          <p:cNvSpPr txBox="1"/>
          <p:nvPr/>
        </p:nvSpPr>
        <p:spPr>
          <a:xfrm>
            <a:off x="704088" y="4442409"/>
            <a:ext cx="10783519" cy="1051001"/>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Kolesterol: </a:t>
            </a:r>
            <a:r>
              <a:rPr lang="en-US" sz="1300" dirty="0">
                <a:solidFill>
                  <a:srgbClr val="1F2937"/>
                </a:solidFill>
                <a:latin typeface="Calibri" pitchFamily="34" charset="0"/>
                <a:ea typeface="Calibri" pitchFamily="34" charset="-122"/>
                <a:cs typeface="Calibri" pitchFamily="34" charset="-120"/>
              </a:rPr>
              <a:t>Serum veya plazmada kolesterol miktarının ölçülmesidir. Kolesterol özellikle hayvansal yağlarda, yumurtada ve sütte bulunan bir maddedir. Normal değeri yaşa ve diyete bağlı olarak değişir. 200 mg/dl’nin üstündeki değerlerde ileri test yapılmalıdır. Kolesterol değeri azaltılmalıdır. Çünkü yüksek kolesterol damar sertliği ve kalp hastalıklarına yol açar. Ayrıca kolesterol ve proteinden oluşan lipoprotein varlığı kanda ölçülür. Yüksek düzeydeki HDL tipi kolesterol yararlıdır. Çünkü yüksek HDL kolesterolü vücuttan kolesterolün toplanmasını ve atılmasını sağlar. Düşük densiteli lipoprotein (LDL) yükselirse zararlıdır.</a:t>
            </a:r>
            <a:endParaRPr lang="en-US" sz="13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144</a:t>
            </a:r>
            <a:endParaRPr lang="en-US" sz="1000" dirty="0"/>
          </a:p>
        </p:txBody>
      </p:sp>
      <p:sp>
        <p:nvSpPr>
          <p:cNvPr id="6" name="Shape 4"/>
          <p:cNvSpPr/>
          <p:nvPr/>
        </p:nvSpPr>
        <p:spPr>
          <a:xfrm>
            <a:off x="548640" y="2114398"/>
            <a:ext cx="11094415" cy="593039"/>
          </a:xfrm>
          <a:prstGeom prst="roundRect">
            <a:avLst>
              <a:gd name="adj" fmla="val 10793"/>
            </a:avLst>
          </a:prstGeom>
          <a:solidFill>
            <a:srgbClr val="E7F2F9"/>
          </a:solidFill>
          <a:ln/>
        </p:spPr>
      </p:sp>
      <p:sp>
        <p:nvSpPr>
          <p:cNvPr id="7" name="Text 5"/>
          <p:cNvSpPr txBox="1"/>
          <p:nvPr/>
        </p:nvSpPr>
        <p:spPr>
          <a:xfrm>
            <a:off x="704088" y="2187550"/>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Trigliseridler: </a:t>
            </a:r>
            <a:r>
              <a:rPr lang="en-US" sz="1300" dirty="0">
                <a:solidFill>
                  <a:srgbClr val="1F2937"/>
                </a:solidFill>
                <a:latin typeface="Calibri" pitchFamily="34" charset="0"/>
                <a:ea typeface="Calibri" pitchFamily="34" charset="-122"/>
                <a:cs typeface="Calibri" pitchFamily="34" charset="-120"/>
              </a:rPr>
              <a:t>Bu test ile surumdaki yağ (trigliserid) miktarı ölçülür. Artmış trigliserid miktarı kalp hastalığı gelişmesi açısından önemli bir risk faktörüdür.</a:t>
            </a:r>
            <a:endParaRPr lang="en-US" sz="1300" dirty="0"/>
          </a:p>
        </p:txBody>
      </p:sp>
      <p:sp>
        <p:nvSpPr>
          <p:cNvPr id="8" name="Shape 6"/>
          <p:cNvSpPr/>
          <p:nvPr/>
        </p:nvSpPr>
        <p:spPr>
          <a:xfrm>
            <a:off x="548640" y="2798877"/>
            <a:ext cx="11094415" cy="593039"/>
          </a:xfrm>
          <a:prstGeom prst="roundRect">
            <a:avLst>
              <a:gd name="adj" fmla="val 10793"/>
            </a:avLst>
          </a:prstGeom>
          <a:solidFill>
            <a:srgbClr val="E7F2F9"/>
          </a:solidFill>
          <a:ln/>
        </p:spPr>
      </p:sp>
      <p:sp>
        <p:nvSpPr>
          <p:cNvPr id="9" name="Text 7"/>
          <p:cNvSpPr txBox="1"/>
          <p:nvPr/>
        </p:nvSpPr>
        <p:spPr>
          <a:xfrm>
            <a:off x="704088" y="2872029"/>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Glukoz: </a:t>
            </a:r>
            <a:r>
              <a:rPr lang="en-US" sz="1300" dirty="0">
                <a:solidFill>
                  <a:srgbClr val="1F2937"/>
                </a:solidFill>
                <a:latin typeface="Calibri" pitchFamily="34" charset="0"/>
                <a:ea typeface="Calibri" pitchFamily="34" charset="-122"/>
                <a:cs typeface="Calibri" pitchFamily="34" charset="-120"/>
              </a:rPr>
              <a:t>Serum ve plazmada şeker miktarı ölçülür. Yüksek düzeyde glukoz, diabetus mellitus ve hipertroidizm gibi hastalıkalrda görülür. Glukoz aynı zamanda idrarda da ölçülür. Varlığı şeker hastalığı olduğunu gösterir.</a:t>
            </a:r>
            <a:endParaRPr lang="en-US" sz="1300" dirty="0"/>
          </a:p>
        </p:txBody>
      </p:sp>
      <p:sp>
        <p:nvSpPr>
          <p:cNvPr id="10" name="Shape 8"/>
          <p:cNvSpPr/>
          <p:nvPr/>
        </p:nvSpPr>
        <p:spPr>
          <a:xfrm>
            <a:off x="548640" y="3483356"/>
            <a:ext cx="11094415" cy="995883"/>
          </a:xfrm>
          <a:prstGeom prst="roundRect">
            <a:avLst>
              <a:gd name="adj" fmla="val 6427"/>
            </a:avLst>
          </a:prstGeom>
          <a:solidFill>
            <a:srgbClr val="E7F2F9"/>
          </a:solidFill>
          <a:ln/>
        </p:spPr>
      </p:sp>
      <p:sp>
        <p:nvSpPr>
          <p:cNvPr id="11" name="Text 9"/>
          <p:cNvSpPr txBox="1"/>
          <p:nvPr/>
        </p:nvSpPr>
        <p:spPr>
          <a:xfrm>
            <a:off x="704088" y="3556508"/>
            <a:ext cx="10783519" cy="849579"/>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Glukoz Tölerans Testi: </a:t>
            </a:r>
            <a:r>
              <a:rPr lang="en-US" sz="1300" dirty="0">
                <a:solidFill>
                  <a:srgbClr val="1F2937"/>
                </a:solidFill>
                <a:latin typeface="Calibri" pitchFamily="34" charset="0"/>
                <a:ea typeface="Calibri" pitchFamily="34" charset="-122"/>
                <a:cs typeface="Calibri" pitchFamily="34" charset="-120"/>
              </a:rPr>
              <a:t>Bu testin ilk kısmında, aç karnına hastadan kan ve idrar örnekleri alınır. Daha sonra ağızda glukoz solüsyonu verilir. Glukoz alındıktan yarım saat sonra kan ve idrar örnekleri tekrar alınır ve her 4-5 saatte bir tekrarlanır. Bu test vücudun glukozu nasıl kullandığını belirler. Diabetus mellitus, hipoglisemi, karaciğer veya böbreküstü bezi hastalıklarında belirleyici özellik sağlar.</a:t>
            </a:r>
            <a:endParaRPr lang="en-US" sz="1300" dirty="0"/>
          </a:p>
        </p:txBody>
      </p:sp>
      <p:sp>
        <p:nvSpPr>
          <p:cNvPr id="12" name="Shape 10"/>
          <p:cNvSpPr/>
          <p:nvPr/>
        </p:nvSpPr>
        <p:spPr>
          <a:xfrm>
            <a:off x="548640" y="4570679"/>
            <a:ext cx="11094415" cy="995883"/>
          </a:xfrm>
          <a:prstGeom prst="roundRect">
            <a:avLst>
              <a:gd name="adj" fmla="val 6427"/>
            </a:avLst>
          </a:prstGeom>
          <a:solidFill>
            <a:srgbClr val="E7F2F9"/>
          </a:solidFill>
          <a:ln/>
        </p:spPr>
      </p:sp>
      <p:sp>
        <p:nvSpPr>
          <p:cNvPr id="13" name="Text 11"/>
          <p:cNvSpPr txBox="1"/>
          <p:nvPr/>
        </p:nvSpPr>
        <p:spPr>
          <a:xfrm>
            <a:off x="704088" y="4643831"/>
            <a:ext cx="10783519" cy="849579"/>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ELISA (AIDS) Testi: </a:t>
            </a:r>
            <a:r>
              <a:rPr lang="en-US" sz="1300" dirty="0">
                <a:solidFill>
                  <a:srgbClr val="1F2937"/>
                </a:solidFill>
                <a:latin typeface="Calibri" pitchFamily="34" charset="0"/>
                <a:ea typeface="Calibri" pitchFamily="34" charset="-122"/>
                <a:cs typeface="Calibri" pitchFamily="34" charset="-120"/>
              </a:rPr>
              <a:t>AIDS virüsüne karşı bulunan antikorların varlığını ölçen laboratuvar testidir. Eğer test pozitif çıkarsa, o kişinin kanında AIDS virüsü (HIV) vardır. Virüsün varlığı lökositlerin ELISA testinde saptanan antikorlar üretmesini sağlar. Bu test AIDS enfeksiyonunu saptamak için yapılan ilk testtir. Daha sonra western blot testi yapılarak sonuçlar kontrol edilip onaylanır. ELISA ‘Enzyme-Linked Imunosorbant Assay’ın kısaltmasıdır.</a:t>
            </a:r>
            <a:endParaRPr lang="en-US" sz="13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145</a:t>
            </a:r>
            <a:endParaRPr lang="en-US" sz="1000" dirty="0"/>
          </a:p>
        </p:txBody>
      </p:sp>
      <p:sp>
        <p:nvSpPr>
          <p:cNvPr id="6" name="Shape 4"/>
          <p:cNvSpPr/>
          <p:nvPr/>
        </p:nvSpPr>
        <p:spPr>
          <a:xfrm>
            <a:off x="548640" y="2100631"/>
            <a:ext cx="11094415" cy="855574"/>
          </a:xfrm>
          <a:prstGeom prst="roundRect">
            <a:avLst>
              <a:gd name="adj" fmla="val 7481"/>
            </a:avLst>
          </a:prstGeom>
          <a:solidFill>
            <a:srgbClr val="E7F2F9"/>
          </a:solidFill>
          <a:ln/>
        </p:spPr>
      </p:sp>
      <p:sp>
        <p:nvSpPr>
          <p:cNvPr id="7" name="Text 5"/>
          <p:cNvSpPr txBox="1"/>
          <p:nvPr/>
        </p:nvSpPr>
        <p:spPr>
          <a:xfrm>
            <a:off x="704088" y="2173783"/>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Western-Blot: </a:t>
            </a:r>
            <a:r>
              <a:rPr lang="en-US" sz="1400" dirty="0">
                <a:solidFill>
                  <a:srgbClr val="1F2937"/>
                </a:solidFill>
                <a:latin typeface="Calibri" pitchFamily="34" charset="0"/>
                <a:ea typeface="Calibri" pitchFamily="34" charset="-122"/>
                <a:cs typeface="Calibri" pitchFamily="34" charset="-120"/>
              </a:rPr>
              <a:t>HIV enfeksiyonunu saptamada ELISA’dan daha spesifik bir testtir. Hastanın serumu HIV’den elde edilmiş saf proteinlerle karıştırılır ve reaksiyon gözlenir. Eğer hasta HIV’e karşı antikor üretmişse, bu antikor saflaştırılmış (purified) HIV proteinleri ile reaksiyona girer ve test pozitif çıkar.</a:t>
            </a:r>
            <a:endParaRPr lang="en-US" sz="1400" dirty="0"/>
          </a:p>
        </p:txBody>
      </p:sp>
      <p:sp>
        <p:nvSpPr>
          <p:cNvPr id="8" name="Shape 6"/>
          <p:cNvSpPr/>
          <p:nvPr/>
        </p:nvSpPr>
        <p:spPr>
          <a:xfrm>
            <a:off x="548640" y="3047644"/>
            <a:ext cx="11094415" cy="855574"/>
          </a:xfrm>
          <a:prstGeom prst="roundRect">
            <a:avLst>
              <a:gd name="adj" fmla="val 7481"/>
            </a:avLst>
          </a:prstGeom>
          <a:solidFill>
            <a:srgbClr val="E7F2F9"/>
          </a:solidFill>
          <a:ln/>
        </p:spPr>
      </p:sp>
      <p:sp>
        <p:nvSpPr>
          <p:cNvPr id="9" name="Text 7"/>
          <p:cNvSpPr txBox="1"/>
          <p:nvPr/>
        </p:nvSpPr>
        <p:spPr>
          <a:xfrm>
            <a:off x="704088" y="3120796"/>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Tiroid Fonksiyon Testleri: </a:t>
            </a:r>
            <a:r>
              <a:rPr lang="en-US" sz="1400" dirty="0">
                <a:solidFill>
                  <a:srgbClr val="1F2937"/>
                </a:solidFill>
                <a:latin typeface="Calibri" pitchFamily="34" charset="0"/>
                <a:ea typeface="Calibri" pitchFamily="34" charset="-122"/>
                <a:cs typeface="Calibri" pitchFamily="34" charset="-120"/>
              </a:rPr>
              <a:t>Bu test serumda tiroid hormanlarının düzeyini saptar [Tiroksi (T₄), triodotronin (T₃)]. Serumda hipofiz bezi tarafından salgılanarak T₃ ve T₄ serbestleşmesini stümüle eden Tiroid Uyarıcı Hormon (TSH) ölçülür. Bu testler yardımıyla hipo ve hyper troidizm tanısı konur ve tedaviye yanıt izlenir.</a:t>
            </a:r>
            <a:endParaRPr lang="en-US" sz="1400" dirty="0"/>
          </a:p>
        </p:txBody>
      </p:sp>
      <p:sp>
        <p:nvSpPr>
          <p:cNvPr id="10" name="Shape 8"/>
          <p:cNvSpPr/>
          <p:nvPr/>
        </p:nvSpPr>
        <p:spPr>
          <a:xfrm>
            <a:off x="548640" y="3994658"/>
            <a:ext cx="11094415" cy="855574"/>
          </a:xfrm>
          <a:prstGeom prst="roundRect">
            <a:avLst>
              <a:gd name="adj" fmla="val 7481"/>
            </a:avLst>
          </a:prstGeom>
          <a:solidFill>
            <a:srgbClr val="E7F2F9"/>
          </a:solidFill>
          <a:ln/>
        </p:spPr>
      </p:sp>
      <p:sp>
        <p:nvSpPr>
          <p:cNvPr id="11" name="Text 9"/>
          <p:cNvSpPr txBox="1"/>
          <p:nvPr/>
        </p:nvSpPr>
        <p:spPr>
          <a:xfrm>
            <a:off x="704088" y="4067810"/>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Östrojen Reseptör Ölçümü: </a:t>
            </a:r>
            <a:r>
              <a:rPr lang="en-US" sz="1400" dirty="0">
                <a:solidFill>
                  <a:srgbClr val="1F2937"/>
                </a:solidFill>
                <a:latin typeface="Calibri" pitchFamily="34" charset="0"/>
                <a:ea typeface="Calibri" pitchFamily="34" charset="-122"/>
                <a:cs typeface="Calibri" pitchFamily="34" charset="-120"/>
              </a:rPr>
              <a:t>Bu test biyopsi sırasında yapılır. Biyopsi ile tümörden alınan bir parçada östrojen reseptör proteini ölçülür. Meme kanseri hücrelerinde bu protein bulunursa östrojenle birleşir ve östrojenin tümörün büyümesini arttıracak yönde etki eder. Eğer östrojen reseptör ölçümü pozitif ise anti-östrojen ilaçla tedavi tümörün büyümesini geriletir.</a:t>
            </a:r>
            <a:endParaRPr lang="en-US" sz="1400" dirty="0"/>
          </a:p>
        </p:txBody>
      </p:sp>
      <p:sp>
        <p:nvSpPr>
          <p:cNvPr id="12" name="Shape 10"/>
          <p:cNvSpPr/>
          <p:nvPr/>
        </p:nvSpPr>
        <p:spPr>
          <a:xfrm>
            <a:off x="548640" y="4941672"/>
            <a:ext cx="11094415" cy="638658"/>
          </a:xfrm>
          <a:prstGeom prst="roundRect">
            <a:avLst>
              <a:gd name="adj" fmla="val 10022"/>
            </a:avLst>
          </a:prstGeom>
          <a:solidFill>
            <a:srgbClr val="E7F2F9"/>
          </a:solidFill>
          <a:ln/>
        </p:spPr>
      </p:sp>
      <p:sp>
        <p:nvSpPr>
          <p:cNvPr id="13" name="Text 11"/>
          <p:cNvSpPr txBox="1"/>
          <p:nvPr/>
        </p:nvSpPr>
        <p:spPr>
          <a:xfrm>
            <a:off x="704088" y="5014824"/>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369A1"/>
                </a:solidFill>
                <a:latin typeface="Calibri" pitchFamily="34" charset="0"/>
                <a:ea typeface="Calibri" pitchFamily="34" charset="-122"/>
                <a:cs typeface="Calibri" pitchFamily="34" charset="-120"/>
              </a:rPr>
              <a:t>Prostat Spesifik Antijen: </a:t>
            </a:r>
            <a:r>
              <a:rPr lang="en-US" sz="1400" dirty="0">
                <a:solidFill>
                  <a:srgbClr val="1F2937"/>
                </a:solidFill>
                <a:latin typeface="Calibri" pitchFamily="34" charset="0"/>
                <a:ea typeface="Calibri" pitchFamily="34" charset="-122"/>
                <a:cs typeface="Calibri" pitchFamily="34" charset="-120"/>
              </a:rPr>
              <a:t>Prostat kanserli hastalarda ve prostat bezinin yangısında yükselir. Antijen kanda ölçülür. Laboratuvar simgesi ‘PSA’dır (Prostate-Specific Antigen).</a:t>
            </a:r>
            <a:endParaRPr lang="en-US" sz="1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3.d. Laboratuvar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146</a:t>
            </a:r>
            <a:endParaRPr lang="en-US" sz="1000" dirty="0"/>
          </a:p>
        </p:txBody>
      </p:sp>
      <p:sp>
        <p:nvSpPr>
          <p:cNvPr id="6" name="Shape 4"/>
          <p:cNvSpPr/>
          <p:nvPr/>
        </p:nvSpPr>
        <p:spPr>
          <a:xfrm>
            <a:off x="548640" y="2056130"/>
            <a:ext cx="11094415" cy="492760"/>
          </a:xfrm>
          <a:prstGeom prst="roundRect">
            <a:avLst>
              <a:gd name="adj" fmla="val 12990"/>
            </a:avLst>
          </a:prstGeom>
          <a:solidFill>
            <a:srgbClr val="E7F2F9"/>
          </a:solidFill>
          <a:ln/>
        </p:spPr>
      </p:sp>
      <p:sp>
        <p:nvSpPr>
          <p:cNvPr id="7" name="Text 5"/>
          <p:cNvSpPr txBox="1"/>
          <p:nvPr/>
        </p:nvSpPr>
        <p:spPr>
          <a:xfrm>
            <a:off x="704088" y="2129282"/>
            <a:ext cx="10783519" cy="346456"/>
          </a:xfrm>
          <a:prstGeom prst="rect">
            <a:avLst/>
          </a:prstGeom>
          <a:noFill/>
          <a:ln/>
        </p:spPr>
        <p:txBody>
          <a:bodyPr wrap="square" lIns="0" tIns="0" rIns="0" bIns="0" rtlCol="0" anchor="t"/>
          <a:lstStyle/>
          <a:p>
            <a:pPr marL="0" indent="0">
              <a:lnSpc>
                <a:spcPct val="105000"/>
              </a:lnSpc>
              <a:buNone/>
            </a:pPr>
            <a:r>
              <a:rPr lang="en-US" sz="1000" b="1" dirty="0">
                <a:solidFill>
                  <a:srgbClr val="0369A1"/>
                </a:solidFill>
                <a:latin typeface="Calibri" pitchFamily="34" charset="0"/>
                <a:ea typeface="Calibri" pitchFamily="34" charset="-122"/>
                <a:cs typeface="Calibri" pitchFamily="34" charset="-120"/>
              </a:rPr>
              <a:t>Hemokkult Testi: </a:t>
            </a:r>
            <a:r>
              <a:rPr lang="en-US" sz="1000" dirty="0">
                <a:solidFill>
                  <a:srgbClr val="1F2937"/>
                </a:solidFill>
                <a:latin typeface="Calibri" pitchFamily="34" charset="0"/>
                <a:ea typeface="Calibri" pitchFamily="34" charset="-122"/>
                <a:cs typeface="Calibri" pitchFamily="34" charset="-120"/>
              </a:rPr>
              <a:t>Dışkıda bulunan az miktardaki kanı tespit etmek için kullanılan bir testtir. ‘Occult’ gizli anlamındadır. Örnek dışkı biriktirme kabının üzerine konur ve üzerine kimyasal madde eklenir. Oluşan reaksiyon pozitif ise polip, ülser veya align tümörlerdeki kanamadan kaynaklanabileceği düşünülür.</a:t>
            </a:r>
            <a:endParaRPr lang="en-US" sz="1000" dirty="0"/>
          </a:p>
        </p:txBody>
      </p:sp>
      <p:sp>
        <p:nvSpPr>
          <p:cNvPr id="8" name="Shape 6"/>
          <p:cNvSpPr/>
          <p:nvPr/>
        </p:nvSpPr>
        <p:spPr>
          <a:xfrm>
            <a:off x="548640" y="2640330"/>
            <a:ext cx="11094415" cy="492760"/>
          </a:xfrm>
          <a:prstGeom prst="roundRect">
            <a:avLst>
              <a:gd name="adj" fmla="val 12990"/>
            </a:avLst>
          </a:prstGeom>
          <a:solidFill>
            <a:srgbClr val="E7F2F9"/>
          </a:solidFill>
          <a:ln/>
        </p:spPr>
      </p:sp>
      <p:sp>
        <p:nvSpPr>
          <p:cNvPr id="9" name="Text 7"/>
          <p:cNvSpPr txBox="1"/>
          <p:nvPr/>
        </p:nvSpPr>
        <p:spPr>
          <a:xfrm>
            <a:off x="704088" y="2713482"/>
            <a:ext cx="10783519" cy="346456"/>
          </a:xfrm>
          <a:prstGeom prst="rect">
            <a:avLst/>
          </a:prstGeom>
          <a:noFill/>
          <a:ln/>
        </p:spPr>
        <p:txBody>
          <a:bodyPr wrap="square" lIns="0" tIns="0" rIns="0" bIns="0" rtlCol="0" anchor="t"/>
          <a:lstStyle/>
          <a:p>
            <a:pPr marL="0" indent="0">
              <a:lnSpc>
                <a:spcPct val="105000"/>
              </a:lnSpc>
              <a:buNone/>
            </a:pPr>
            <a:r>
              <a:rPr lang="en-US" sz="1000" b="1" dirty="0">
                <a:solidFill>
                  <a:srgbClr val="0369A1"/>
                </a:solidFill>
                <a:latin typeface="Calibri" pitchFamily="34" charset="0"/>
                <a:ea typeface="Calibri" pitchFamily="34" charset="-122"/>
                <a:cs typeface="Calibri" pitchFamily="34" charset="-120"/>
              </a:rPr>
              <a:t>Serum Glutamik-Oxaloasetik Transaminaz: </a:t>
            </a:r>
            <a:r>
              <a:rPr lang="en-US" sz="1000" dirty="0">
                <a:solidFill>
                  <a:srgbClr val="1F2937"/>
                </a:solidFill>
                <a:latin typeface="Calibri" pitchFamily="34" charset="0"/>
                <a:ea typeface="Calibri" pitchFamily="34" charset="-122"/>
                <a:cs typeface="Calibri" pitchFamily="34" charset="-120"/>
              </a:rPr>
              <a:t>Bu enzim kalp hasarında (kalp krizi) veya karaciğer hasarında zedelenmiş dokudan bırakılır ve kandaki değeri yükselir. Laboratuvar simgesi ‘SGOT’ veya ‘AST’dir.</a:t>
            </a:r>
            <a:endParaRPr lang="en-US" sz="1000" dirty="0"/>
          </a:p>
        </p:txBody>
      </p:sp>
      <p:sp>
        <p:nvSpPr>
          <p:cNvPr id="10" name="Shape 8"/>
          <p:cNvSpPr/>
          <p:nvPr/>
        </p:nvSpPr>
        <p:spPr>
          <a:xfrm>
            <a:off x="548640" y="3224530"/>
            <a:ext cx="11094415" cy="492760"/>
          </a:xfrm>
          <a:prstGeom prst="roundRect">
            <a:avLst>
              <a:gd name="adj" fmla="val 12990"/>
            </a:avLst>
          </a:prstGeom>
          <a:solidFill>
            <a:srgbClr val="E7F2F9"/>
          </a:solidFill>
          <a:ln/>
        </p:spPr>
      </p:sp>
      <p:sp>
        <p:nvSpPr>
          <p:cNvPr id="11" name="Text 9"/>
          <p:cNvSpPr txBox="1"/>
          <p:nvPr/>
        </p:nvSpPr>
        <p:spPr>
          <a:xfrm>
            <a:off x="704088" y="3297682"/>
            <a:ext cx="10783519" cy="346456"/>
          </a:xfrm>
          <a:prstGeom prst="rect">
            <a:avLst/>
          </a:prstGeom>
          <a:noFill/>
          <a:ln/>
        </p:spPr>
        <p:txBody>
          <a:bodyPr wrap="square" lIns="0" tIns="0" rIns="0" bIns="0" rtlCol="0" anchor="t"/>
          <a:lstStyle/>
          <a:p>
            <a:pPr marL="0" indent="0">
              <a:lnSpc>
                <a:spcPct val="105000"/>
              </a:lnSpc>
              <a:buNone/>
            </a:pPr>
            <a:r>
              <a:rPr lang="en-US" sz="1000" b="1" dirty="0">
                <a:solidFill>
                  <a:srgbClr val="0369A1"/>
                </a:solidFill>
                <a:latin typeface="Calibri" pitchFamily="34" charset="0"/>
                <a:ea typeface="Calibri" pitchFamily="34" charset="-122"/>
                <a:cs typeface="Calibri" pitchFamily="34" charset="-120"/>
              </a:rPr>
              <a:t>Serum Glutamik-Piruvik Transaminaz: </a:t>
            </a:r>
            <a:r>
              <a:rPr lang="en-US" sz="1000" dirty="0">
                <a:solidFill>
                  <a:srgbClr val="1F2937"/>
                </a:solidFill>
                <a:latin typeface="Calibri" pitchFamily="34" charset="0"/>
                <a:ea typeface="Calibri" pitchFamily="34" charset="-122"/>
                <a:cs typeface="Calibri" pitchFamily="34" charset="-120"/>
              </a:rPr>
              <a:t>Bu enzim normalde kanda bulunur. Fakat karaciğer hücrelerinin akut zedelenmesinde (hepatit, enfeksiyoz mononükleoz, tıkanma sarılığı gibi) miktarı çok artar. Simgesi SGPT veya ALT’dir.</a:t>
            </a:r>
            <a:endParaRPr lang="en-US" sz="1000" dirty="0"/>
          </a:p>
        </p:txBody>
      </p:sp>
      <p:sp>
        <p:nvSpPr>
          <p:cNvPr id="12" name="Shape 10"/>
          <p:cNvSpPr/>
          <p:nvPr/>
        </p:nvSpPr>
        <p:spPr>
          <a:xfrm>
            <a:off x="548640" y="3808730"/>
            <a:ext cx="11094415" cy="492760"/>
          </a:xfrm>
          <a:prstGeom prst="roundRect">
            <a:avLst>
              <a:gd name="adj" fmla="val 12990"/>
            </a:avLst>
          </a:prstGeom>
          <a:solidFill>
            <a:srgbClr val="E7F2F9"/>
          </a:solidFill>
          <a:ln/>
        </p:spPr>
      </p:sp>
      <p:sp>
        <p:nvSpPr>
          <p:cNvPr id="13" name="Text 11"/>
          <p:cNvSpPr txBox="1"/>
          <p:nvPr/>
        </p:nvSpPr>
        <p:spPr>
          <a:xfrm>
            <a:off x="704088" y="3881882"/>
            <a:ext cx="10783519" cy="346456"/>
          </a:xfrm>
          <a:prstGeom prst="rect">
            <a:avLst/>
          </a:prstGeom>
          <a:noFill/>
          <a:ln/>
        </p:spPr>
        <p:txBody>
          <a:bodyPr wrap="square" lIns="0" tIns="0" rIns="0" bIns="0" rtlCol="0" anchor="t"/>
          <a:lstStyle/>
          <a:p>
            <a:pPr marL="0" indent="0">
              <a:lnSpc>
                <a:spcPct val="105000"/>
              </a:lnSpc>
              <a:buNone/>
            </a:pPr>
            <a:r>
              <a:rPr lang="en-US" sz="1000" b="1" dirty="0">
                <a:solidFill>
                  <a:srgbClr val="0369A1"/>
                </a:solidFill>
                <a:latin typeface="Calibri" pitchFamily="34" charset="0"/>
                <a:ea typeface="Calibri" pitchFamily="34" charset="-122"/>
                <a:cs typeface="Calibri" pitchFamily="34" charset="-120"/>
              </a:rPr>
              <a:t>Deri Testleri: </a:t>
            </a:r>
            <a:r>
              <a:rPr lang="en-US" sz="1000" dirty="0">
                <a:solidFill>
                  <a:srgbClr val="1F2937"/>
                </a:solidFill>
                <a:latin typeface="Calibri" pitchFamily="34" charset="0"/>
                <a:ea typeface="Calibri" pitchFamily="34" charset="-122"/>
                <a:cs typeface="Calibri" pitchFamily="34" charset="-120"/>
              </a:rPr>
              <a:t>Bu testlerde maddeler cilde uygulanır veya cilt altına enjekte edilir ve derideki immün hücreleri ile reaksiyonu gözlenir. Bu testler kişinin toz veya polene hassasiyetini ölçer.</a:t>
            </a:r>
            <a:endParaRPr lang="en-US" sz="1000" dirty="0"/>
          </a:p>
        </p:txBody>
      </p:sp>
      <p:sp>
        <p:nvSpPr>
          <p:cNvPr id="14" name="Shape 12"/>
          <p:cNvSpPr/>
          <p:nvPr/>
        </p:nvSpPr>
        <p:spPr>
          <a:xfrm>
            <a:off x="548640" y="4392930"/>
            <a:ext cx="11094415" cy="492760"/>
          </a:xfrm>
          <a:prstGeom prst="roundRect">
            <a:avLst>
              <a:gd name="adj" fmla="val 12990"/>
            </a:avLst>
          </a:prstGeom>
          <a:solidFill>
            <a:srgbClr val="E7F2F9"/>
          </a:solidFill>
          <a:ln/>
        </p:spPr>
      </p:sp>
      <p:sp>
        <p:nvSpPr>
          <p:cNvPr id="15" name="Text 13"/>
          <p:cNvSpPr txBox="1"/>
          <p:nvPr/>
        </p:nvSpPr>
        <p:spPr>
          <a:xfrm>
            <a:off x="704088" y="4466082"/>
            <a:ext cx="10783519" cy="346456"/>
          </a:xfrm>
          <a:prstGeom prst="rect">
            <a:avLst/>
          </a:prstGeom>
          <a:noFill/>
          <a:ln/>
        </p:spPr>
        <p:txBody>
          <a:bodyPr wrap="square" lIns="0" tIns="0" rIns="0" bIns="0" rtlCol="0" anchor="t"/>
          <a:lstStyle/>
          <a:p>
            <a:pPr marL="0" indent="0">
              <a:lnSpc>
                <a:spcPct val="105000"/>
              </a:lnSpc>
              <a:buNone/>
            </a:pPr>
            <a:r>
              <a:rPr lang="en-US" sz="1000" b="1" dirty="0">
                <a:solidFill>
                  <a:srgbClr val="0369A1"/>
                </a:solidFill>
                <a:latin typeface="Calibri" pitchFamily="34" charset="0"/>
                <a:ea typeface="Calibri" pitchFamily="34" charset="-122"/>
                <a:cs typeface="Calibri" pitchFamily="34" charset="-120"/>
              </a:rPr>
              <a:t>Sputum (Balgam) Testi: </a:t>
            </a:r>
            <a:r>
              <a:rPr lang="en-US" sz="1000" dirty="0">
                <a:solidFill>
                  <a:srgbClr val="1F2937"/>
                </a:solidFill>
                <a:latin typeface="Calibri" pitchFamily="34" charset="0"/>
                <a:ea typeface="Calibri" pitchFamily="34" charset="-122"/>
                <a:cs typeface="Calibri" pitchFamily="34" charset="-120"/>
              </a:rPr>
              <a:t>Hastanın akciğerden öksürükle çıkardığı balgam (mukus) incelenir. Balgam mikroskop altında incelenir, kimyasal analizi yapılır ve kültür yapılarak mikroorganizma içerip içermediği saptanır.</a:t>
            </a:r>
            <a:endParaRPr lang="en-US" sz="1000" dirty="0"/>
          </a:p>
        </p:txBody>
      </p:sp>
      <p:sp>
        <p:nvSpPr>
          <p:cNvPr id="16" name="Shape 14"/>
          <p:cNvSpPr/>
          <p:nvPr/>
        </p:nvSpPr>
        <p:spPr>
          <a:xfrm>
            <a:off x="548640" y="4977130"/>
            <a:ext cx="11094415" cy="647700"/>
          </a:xfrm>
          <a:prstGeom prst="roundRect">
            <a:avLst>
              <a:gd name="adj" fmla="val 9882"/>
            </a:avLst>
          </a:prstGeom>
          <a:solidFill>
            <a:srgbClr val="E7F2F9"/>
          </a:solidFill>
          <a:ln/>
        </p:spPr>
      </p:sp>
      <p:sp>
        <p:nvSpPr>
          <p:cNvPr id="17" name="Text 15"/>
          <p:cNvSpPr txBox="1"/>
          <p:nvPr/>
        </p:nvSpPr>
        <p:spPr>
          <a:xfrm>
            <a:off x="704088" y="5050282"/>
            <a:ext cx="10783519" cy="501396"/>
          </a:xfrm>
          <a:prstGeom prst="rect">
            <a:avLst/>
          </a:prstGeom>
          <a:noFill/>
          <a:ln/>
        </p:spPr>
        <p:txBody>
          <a:bodyPr wrap="square" lIns="0" tIns="0" rIns="0" bIns="0" rtlCol="0" anchor="t"/>
          <a:lstStyle/>
          <a:p>
            <a:pPr marL="0" indent="0">
              <a:lnSpc>
                <a:spcPct val="105000"/>
              </a:lnSpc>
              <a:buNone/>
            </a:pPr>
            <a:r>
              <a:rPr lang="en-US" sz="1000" b="1" dirty="0">
                <a:solidFill>
                  <a:srgbClr val="0369A1"/>
                </a:solidFill>
                <a:latin typeface="Calibri" pitchFamily="34" charset="0"/>
                <a:ea typeface="Calibri" pitchFamily="34" charset="-122"/>
                <a:cs typeface="Calibri" pitchFamily="34" charset="-120"/>
              </a:rPr>
              <a:t>Urinalizis (İdrar Tetkiki): </a:t>
            </a:r>
            <a:r>
              <a:rPr lang="en-US" sz="1000" dirty="0">
                <a:solidFill>
                  <a:srgbClr val="1F2937"/>
                </a:solidFill>
                <a:latin typeface="Calibri" pitchFamily="34" charset="0"/>
                <a:ea typeface="Calibri" pitchFamily="34" charset="-122"/>
                <a:cs typeface="Calibri" pitchFamily="34" charset="-120"/>
              </a:rPr>
              <a:t>Hastaların tanısına yardımcı olmak için idrarın incelenmesidir. Rutin idrar tetkikinde anormal renk, koku, dansite, kimyasal testlere (protein, şeker, aseton) bakılır. Bakteri ve kan hücreleri sedimen mikroskopta aranır. Böbrek ve mesanenin normal çalışması saptanmakta, enfeksiyonda, kanser ve diyabet hastalığının tanısında yardımcıdır. Laboratuvar simgesi ‘UA’dır.</a:t>
            </a:r>
            <a:endParaRPr lang="en-US" sz="10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3.e. İnsanın Yapısına İlişkin Temel Tanım ve Terimler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147</a:t>
            </a:r>
            <a:endParaRPr lang="en-US" sz="1000" dirty="0"/>
          </a:p>
        </p:txBody>
      </p:sp>
      <p:sp>
        <p:nvSpPr>
          <p:cNvPr id="6" name="Shape 4"/>
          <p:cNvSpPr/>
          <p:nvPr/>
        </p:nvSpPr>
        <p:spPr>
          <a:xfrm>
            <a:off x="548640" y="1526286"/>
            <a:ext cx="11094415" cy="684276"/>
          </a:xfrm>
          <a:prstGeom prst="roundRect">
            <a:avLst>
              <a:gd name="adj" fmla="val 9354"/>
            </a:avLst>
          </a:prstGeom>
          <a:solidFill>
            <a:srgbClr val="E7F2F9"/>
          </a:solidFill>
          <a:ln/>
        </p:spPr>
      </p:sp>
      <p:sp>
        <p:nvSpPr>
          <p:cNvPr id="7" name="Text 5"/>
          <p:cNvSpPr txBox="1"/>
          <p:nvPr/>
        </p:nvSpPr>
        <p:spPr>
          <a:xfrm>
            <a:off x="704088" y="1599438"/>
            <a:ext cx="10783519" cy="53797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Vücut, yer ve komşuluk tanımlamaları için bölgelere ayrılmıştır. Bu bölgeler önemlidir. Bunların bilinmesi bir hastalığın, bir organın ve bir oluşumun ya da bir yerin anlatımında önemlidir. Bu bölgeler şunlardır.</a:t>
            </a:r>
            <a:endParaRPr lang="en-US" sz="1500" dirty="0"/>
          </a:p>
        </p:txBody>
      </p:sp>
      <p:sp>
        <p:nvSpPr>
          <p:cNvPr id="8" name="Shape 6"/>
          <p:cNvSpPr/>
          <p:nvPr/>
        </p:nvSpPr>
        <p:spPr>
          <a:xfrm>
            <a:off x="548640" y="2365248"/>
            <a:ext cx="11094415" cy="451866"/>
          </a:xfrm>
          <a:prstGeom prst="roundRect">
            <a:avLst>
              <a:gd name="adj" fmla="val 14165"/>
            </a:avLst>
          </a:prstGeom>
          <a:solidFill>
            <a:srgbClr val="E7F2F9"/>
          </a:solidFill>
          <a:ln/>
        </p:spPr>
      </p:sp>
      <p:sp>
        <p:nvSpPr>
          <p:cNvPr id="9" name="Text 7"/>
          <p:cNvSpPr txBox="1"/>
          <p:nvPr/>
        </p:nvSpPr>
        <p:spPr>
          <a:xfrm>
            <a:off x="704088" y="243840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capitis (L) (rejyo kapitis): </a:t>
            </a:r>
            <a:r>
              <a:rPr lang="en-US" sz="1500" dirty="0">
                <a:solidFill>
                  <a:srgbClr val="1F2937"/>
                </a:solidFill>
                <a:latin typeface="Calibri" pitchFamily="34" charset="0"/>
                <a:ea typeface="Calibri" pitchFamily="34" charset="-122"/>
                <a:cs typeface="Calibri" pitchFamily="34" charset="-120"/>
              </a:rPr>
              <a:t>Baş bölgesi</a:t>
            </a:r>
            <a:endParaRPr lang="en-US" sz="1500" dirty="0"/>
          </a:p>
        </p:txBody>
      </p:sp>
      <p:sp>
        <p:nvSpPr>
          <p:cNvPr id="10" name="Shape 8"/>
          <p:cNvSpPr/>
          <p:nvPr/>
        </p:nvSpPr>
        <p:spPr>
          <a:xfrm>
            <a:off x="548640" y="2908554"/>
            <a:ext cx="11094415" cy="451866"/>
          </a:xfrm>
          <a:prstGeom prst="roundRect">
            <a:avLst>
              <a:gd name="adj" fmla="val 14165"/>
            </a:avLst>
          </a:prstGeom>
          <a:solidFill>
            <a:srgbClr val="E7F2F9"/>
          </a:solidFill>
          <a:ln/>
        </p:spPr>
      </p:sp>
      <p:sp>
        <p:nvSpPr>
          <p:cNvPr id="11" name="Text 9"/>
          <p:cNvSpPr txBox="1"/>
          <p:nvPr/>
        </p:nvSpPr>
        <p:spPr>
          <a:xfrm>
            <a:off x="704088" y="298170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facialis (L) (rejyo fasyalis): </a:t>
            </a:r>
            <a:r>
              <a:rPr lang="en-US" sz="1500" dirty="0">
                <a:solidFill>
                  <a:srgbClr val="1F2937"/>
                </a:solidFill>
                <a:latin typeface="Calibri" pitchFamily="34" charset="0"/>
                <a:ea typeface="Calibri" pitchFamily="34" charset="-122"/>
                <a:cs typeface="Calibri" pitchFamily="34" charset="-120"/>
              </a:rPr>
              <a:t>Yüz bölgesi</a:t>
            </a:r>
            <a:endParaRPr lang="en-US" sz="1500" dirty="0"/>
          </a:p>
        </p:txBody>
      </p:sp>
      <p:sp>
        <p:nvSpPr>
          <p:cNvPr id="12" name="Shape 10"/>
          <p:cNvSpPr/>
          <p:nvPr/>
        </p:nvSpPr>
        <p:spPr>
          <a:xfrm>
            <a:off x="548640" y="3451860"/>
            <a:ext cx="11094415" cy="451866"/>
          </a:xfrm>
          <a:prstGeom prst="roundRect">
            <a:avLst>
              <a:gd name="adj" fmla="val 14165"/>
            </a:avLst>
          </a:prstGeom>
          <a:solidFill>
            <a:srgbClr val="E7F2F9"/>
          </a:solidFill>
          <a:ln/>
        </p:spPr>
      </p:sp>
      <p:sp>
        <p:nvSpPr>
          <p:cNvPr id="13" name="Text 11"/>
          <p:cNvSpPr txBox="1"/>
          <p:nvPr/>
        </p:nvSpPr>
        <p:spPr>
          <a:xfrm>
            <a:off x="704088" y="352501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pectoralis (L) (rejyo pektoralis): </a:t>
            </a:r>
            <a:r>
              <a:rPr lang="en-US" sz="1500" dirty="0">
                <a:solidFill>
                  <a:srgbClr val="1F2937"/>
                </a:solidFill>
                <a:latin typeface="Calibri" pitchFamily="34" charset="0"/>
                <a:ea typeface="Calibri" pitchFamily="34" charset="-122"/>
                <a:cs typeface="Calibri" pitchFamily="34" charset="-120"/>
              </a:rPr>
              <a:t>Pektoral bölge, göğüs ön yüz bölgesi</a:t>
            </a:r>
            <a:endParaRPr lang="en-US" sz="1500" dirty="0"/>
          </a:p>
        </p:txBody>
      </p:sp>
      <p:sp>
        <p:nvSpPr>
          <p:cNvPr id="14" name="Shape 12"/>
          <p:cNvSpPr/>
          <p:nvPr/>
        </p:nvSpPr>
        <p:spPr>
          <a:xfrm>
            <a:off x="548640" y="3995166"/>
            <a:ext cx="11094415" cy="451866"/>
          </a:xfrm>
          <a:prstGeom prst="roundRect">
            <a:avLst>
              <a:gd name="adj" fmla="val 14165"/>
            </a:avLst>
          </a:prstGeom>
          <a:solidFill>
            <a:srgbClr val="E7F2F9"/>
          </a:solidFill>
          <a:ln/>
        </p:spPr>
      </p:sp>
      <p:sp>
        <p:nvSpPr>
          <p:cNvPr id="15" name="Text 13"/>
          <p:cNvSpPr txBox="1"/>
          <p:nvPr/>
        </p:nvSpPr>
        <p:spPr>
          <a:xfrm>
            <a:off x="704088" y="406831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abdominalis (L) (rejyo abdominalis): </a:t>
            </a:r>
            <a:r>
              <a:rPr lang="en-US" sz="1500" dirty="0">
                <a:solidFill>
                  <a:srgbClr val="1F2937"/>
                </a:solidFill>
                <a:latin typeface="Calibri" pitchFamily="34" charset="0"/>
                <a:ea typeface="Calibri" pitchFamily="34" charset="-122"/>
                <a:cs typeface="Calibri" pitchFamily="34" charset="-120"/>
              </a:rPr>
              <a:t>Karın bölgesi, daha çok karın ön duvar bölgesi anlaşılır.</a:t>
            </a:r>
            <a:endParaRPr lang="en-US" sz="1500" dirty="0"/>
          </a:p>
        </p:txBody>
      </p:sp>
      <p:sp>
        <p:nvSpPr>
          <p:cNvPr id="16" name="Shape 14"/>
          <p:cNvSpPr/>
          <p:nvPr/>
        </p:nvSpPr>
        <p:spPr>
          <a:xfrm>
            <a:off x="548640" y="4538472"/>
            <a:ext cx="11094415" cy="684276"/>
          </a:xfrm>
          <a:prstGeom prst="roundRect">
            <a:avLst>
              <a:gd name="adj" fmla="val 9354"/>
            </a:avLst>
          </a:prstGeom>
          <a:solidFill>
            <a:srgbClr val="E7F2F9"/>
          </a:solidFill>
          <a:ln/>
        </p:spPr>
      </p:sp>
      <p:sp>
        <p:nvSpPr>
          <p:cNvPr id="17" name="Text 15"/>
          <p:cNvSpPr txBox="1"/>
          <p:nvPr/>
        </p:nvSpPr>
        <p:spPr>
          <a:xfrm>
            <a:off x="704088" y="461162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 epigastrica (G) (rejyo epigastrik): </a:t>
            </a:r>
            <a:r>
              <a:rPr lang="en-US" sz="1500" dirty="0">
                <a:solidFill>
                  <a:srgbClr val="1F2937"/>
                </a:solidFill>
                <a:latin typeface="Calibri" pitchFamily="34" charset="0"/>
                <a:ea typeface="Calibri" pitchFamily="34" charset="-122"/>
                <a:cs typeface="Calibri" pitchFamily="34" charset="-120"/>
              </a:rPr>
              <a:t>Epigastrik bölge, karın boşluğunun en üst kısmı, göğüs kemiğinin alt kısmı</a:t>
            </a:r>
            <a:endParaRPr lang="en-US" sz="1500" dirty="0"/>
          </a:p>
        </p:txBody>
      </p:sp>
      <p:sp>
        <p:nvSpPr>
          <p:cNvPr id="18" name="Shape 16"/>
          <p:cNvSpPr/>
          <p:nvPr/>
        </p:nvSpPr>
        <p:spPr>
          <a:xfrm>
            <a:off x="548640" y="5314188"/>
            <a:ext cx="11094415" cy="451866"/>
          </a:xfrm>
          <a:prstGeom prst="roundRect">
            <a:avLst>
              <a:gd name="adj" fmla="val 14165"/>
            </a:avLst>
          </a:prstGeom>
          <a:solidFill>
            <a:srgbClr val="E7F2F9"/>
          </a:solidFill>
          <a:ln/>
        </p:spPr>
      </p:sp>
      <p:sp>
        <p:nvSpPr>
          <p:cNvPr id="19" name="Text 17"/>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 hypogastrica (G) (rejyo hipogastric): </a:t>
            </a:r>
            <a:r>
              <a:rPr lang="en-US" sz="1500" dirty="0">
                <a:solidFill>
                  <a:srgbClr val="1F2937"/>
                </a:solidFill>
                <a:latin typeface="Calibri" pitchFamily="34" charset="0"/>
                <a:ea typeface="Calibri" pitchFamily="34" charset="-122"/>
                <a:cs typeface="Calibri" pitchFamily="34" charset="-120"/>
              </a:rPr>
              <a:t>Hipogastrik bölge, göbeğin alt kısmı</a:t>
            </a:r>
            <a:endParaRPr lang="en-US" sz="1500" dirty="0"/>
          </a:p>
        </p:txBody>
      </p:sp>
      <p:sp>
        <p:nvSpPr>
          <p:cNvPr id="20" name="Shape 18"/>
          <p:cNvSpPr/>
          <p:nvPr/>
        </p:nvSpPr>
        <p:spPr>
          <a:xfrm>
            <a:off x="548640" y="5857494"/>
            <a:ext cx="11094415" cy="451866"/>
          </a:xfrm>
          <a:prstGeom prst="roundRect">
            <a:avLst>
              <a:gd name="adj" fmla="val 14165"/>
            </a:avLst>
          </a:prstGeom>
          <a:solidFill>
            <a:srgbClr val="E7F2F9"/>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 hypochondriaca (G) (rejyo hipokondriyak): </a:t>
            </a:r>
            <a:r>
              <a:rPr lang="en-US" sz="1500" dirty="0">
                <a:solidFill>
                  <a:srgbClr val="1F2937"/>
                </a:solidFill>
                <a:latin typeface="Calibri" pitchFamily="34" charset="0"/>
                <a:ea typeface="Calibri" pitchFamily="34" charset="-122"/>
                <a:cs typeface="Calibri" pitchFamily="34" charset="-120"/>
              </a:rPr>
              <a:t>Hipokondrik bölge, karnın sağ ve sol yanlarındaki kısım</a:t>
            </a:r>
            <a:endParaRPr lang="en-US" sz="15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3.e. İnsanın Yapısına İlişkin Temel Tanım ve Terimler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148</a:t>
            </a:r>
            <a:endParaRPr lang="en-US" sz="1000" dirty="0"/>
          </a:p>
        </p:txBody>
      </p:sp>
      <p:sp>
        <p:nvSpPr>
          <p:cNvPr id="6" name="Shape 4"/>
          <p:cNvSpPr/>
          <p:nvPr/>
        </p:nvSpPr>
        <p:spPr>
          <a:xfrm>
            <a:off x="548640" y="1746504"/>
            <a:ext cx="5410048" cy="684276"/>
          </a:xfrm>
          <a:prstGeom prst="roundRect">
            <a:avLst>
              <a:gd name="adj" fmla="val 9354"/>
            </a:avLst>
          </a:prstGeom>
          <a:solidFill>
            <a:srgbClr val="E7F2F9"/>
          </a:solidFill>
          <a:ln/>
        </p:spPr>
      </p:sp>
      <p:sp>
        <p:nvSpPr>
          <p:cNvPr id="7" name="Text 5"/>
          <p:cNvSpPr txBox="1"/>
          <p:nvPr/>
        </p:nvSpPr>
        <p:spPr>
          <a:xfrm>
            <a:off x="704088"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umbilicalis (L) (rejyo umbilikalis): </a:t>
            </a:r>
            <a:r>
              <a:rPr lang="en-US" sz="1500" dirty="0">
                <a:solidFill>
                  <a:srgbClr val="1F2937"/>
                </a:solidFill>
                <a:latin typeface="Calibri" pitchFamily="34" charset="0"/>
                <a:ea typeface="Calibri" pitchFamily="34" charset="-122"/>
                <a:cs typeface="Calibri" pitchFamily="34" charset="-120"/>
              </a:rPr>
              <a:t>Umblikal bölge, göbek bölgesi</a:t>
            </a:r>
            <a:endParaRPr lang="en-US" sz="1500" dirty="0"/>
          </a:p>
        </p:txBody>
      </p:sp>
      <p:sp>
        <p:nvSpPr>
          <p:cNvPr id="8" name="Shape 6"/>
          <p:cNvSpPr/>
          <p:nvPr/>
        </p:nvSpPr>
        <p:spPr>
          <a:xfrm>
            <a:off x="548640" y="2522220"/>
            <a:ext cx="5410048" cy="451866"/>
          </a:xfrm>
          <a:prstGeom prst="roundRect">
            <a:avLst>
              <a:gd name="adj" fmla="val 14165"/>
            </a:avLst>
          </a:prstGeom>
          <a:solidFill>
            <a:srgbClr val="E7F2F9"/>
          </a:solidFill>
          <a:ln/>
        </p:spPr>
      </p:sp>
      <p:sp>
        <p:nvSpPr>
          <p:cNvPr id="9" name="Text 7"/>
          <p:cNvSpPr txBox="1"/>
          <p:nvPr/>
        </p:nvSpPr>
        <p:spPr>
          <a:xfrm>
            <a:off x="704088" y="259537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lumbalis (L) (rejyo lumbalis): </a:t>
            </a:r>
            <a:r>
              <a:rPr lang="en-US" sz="1500" dirty="0">
                <a:solidFill>
                  <a:srgbClr val="1F2937"/>
                </a:solidFill>
                <a:latin typeface="Calibri" pitchFamily="34" charset="0"/>
                <a:ea typeface="Calibri" pitchFamily="34" charset="-122"/>
                <a:cs typeface="Calibri" pitchFamily="34" charset="-120"/>
              </a:rPr>
              <a:t>Bel bölgesi</a:t>
            </a:r>
            <a:endParaRPr lang="en-US" sz="1500" dirty="0"/>
          </a:p>
        </p:txBody>
      </p:sp>
      <p:sp>
        <p:nvSpPr>
          <p:cNvPr id="10" name="Shape 8"/>
          <p:cNvSpPr/>
          <p:nvPr/>
        </p:nvSpPr>
        <p:spPr>
          <a:xfrm>
            <a:off x="548640" y="3065526"/>
            <a:ext cx="5410048" cy="684276"/>
          </a:xfrm>
          <a:prstGeom prst="roundRect">
            <a:avLst>
              <a:gd name="adj" fmla="val 9354"/>
            </a:avLst>
          </a:prstGeom>
          <a:solidFill>
            <a:srgbClr val="E7F2F9"/>
          </a:solidFill>
          <a:ln/>
        </p:spPr>
      </p:sp>
      <p:sp>
        <p:nvSpPr>
          <p:cNvPr id="11" name="Text 9"/>
          <p:cNvSpPr txBox="1"/>
          <p:nvPr/>
        </p:nvSpPr>
        <p:spPr>
          <a:xfrm>
            <a:off x="704088"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inguinalis (L) (rejyo inguinalis): </a:t>
            </a:r>
            <a:r>
              <a:rPr lang="en-US" sz="1500" dirty="0">
                <a:solidFill>
                  <a:srgbClr val="1F2937"/>
                </a:solidFill>
                <a:latin typeface="Calibri" pitchFamily="34" charset="0"/>
                <a:ea typeface="Calibri" pitchFamily="34" charset="-122"/>
                <a:cs typeface="Calibri" pitchFamily="34" charset="-120"/>
              </a:rPr>
              <a:t>İnguinal bölge, kasık bölgesi</a:t>
            </a:r>
            <a:endParaRPr lang="en-US" sz="1500" dirty="0"/>
          </a:p>
        </p:txBody>
      </p:sp>
      <p:sp>
        <p:nvSpPr>
          <p:cNvPr id="12" name="Shape 10"/>
          <p:cNvSpPr/>
          <p:nvPr/>
        </p:nvSpPr>
        <p:spPr>
          <a:xfrm>
            <a:off x="548640" y="3841242"/>
            <a:ext cx="5410048" cy="684276"/>
          </a:xfrm>
          <a:prstGeom prst="roundRect">
            <a:avLst>
              <a:gd name="adj" fmla="val 9354"/>
            </a:avLst>
          </a:prstGeom>
          <a:solidFill>
            <a:srgbClr val="E7F2F9"/>
          </a:solidFill>
          <a:ln/>
        </p:spPr>
      </p:sp>
      <p:sp>
        <p:nvSpPr>
          <p:cNvPr id="13" name="Text 11"/>
          <p:cNvSpPr txBox="1"/>
          <p:nvPr/>
        </p:nvSpPr>
        <p:spPr>
          <a:xfrm>
            <a:off x="704088" y="39143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pubica (L) (rejyo pubik): </a:t>
            </a:r>
            <a:r>
              <a:rPr lang="en-US" sz="1500" dirty="0">
                <a:solidFill>
                  <a:srgbClr val="1F2937"/>
                </a:solidFill>
                <a:latin typeface="Calibri" pitchFamily="34" charset="0"/>
                <a:ea typeface="Calibri" pitchFamily="34" charset="-122"/>
                <a:cs typeface="Calibri" pitchFamily="34" charset="-120"/>
              </a:rPr>
              <a:t>Pubik bölge, çatı (pubis) kemiğinin üstündeki kısım</a:t>
            </a:r>
            <a:endParaRPr lang="en-US" sz="1500" dirty="0"/>
          </a:p>
        </p:txBody>
      </p:sp>
      <p:sp>
        <p:nvSpPr>
          <p:cNvPr id="14" name="Shape 12"/>
          <p:cNvSpPr/>
          <p:nvPr/>
        </p:nvSpPr>
        <p:spPr>
          <a:xfrm>
            <a:off x="548640" y="4616958"/>
            <a:ext cx="5410048" cy="684276"/>
          </a:xfrm>
          <a:prstGeom prst="roundRect">
            <a:avLst>
              <a:gd name="adj" fmla="val 9354"/>
            </a:avLst>
          </a:prstGeom>
          <a:solidFill>
            <a:srgbClr val="E7F2F9"/>
          </a:solidFill>
          <a:ln/>
        </p:spPr>
      </p:sp>
      <p:sp>
        <p:nvSpPr>
          <p:cNvPr id="15" name="Text 13"/>
          <p:cNvSpPr txBox="1"/>
          <p:nvPr/>
        </p:nvSpPr>
        <p:spPr>
          <a:xfrm>
            <a:off x="704088" y="469011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 perinealis (G) (rejyo perinealis): </a:t>
            </a:r>
            <a:r>
              <a:rPr lang="en-US" sz="1500" dirty="0">
                <a:solidFill>
                  <a:srgbClr val="1F2937"/>
                </a:solidFill>
                <a:latin typeface="Calibri" pitchFamily="34" charset="0"/>
                <a:ea typeface="Calibri" pitchFamily="34" charset="-122"/>
                <a:cs typeface="Calibri" pitchFamily="34" charset="-120"/>
              </a:rPr>
              <a:t>Anüsle dış genital organlar arasındaki bölge</a:t>
            </a:r>
            <a:endParaRPr lang="en-US" sz="1500" dirty="0"/>
          </a:p>
        </p:txBody>
      </p:sp>
      <p:sp>
        <p:nvSpPr>
          <p:cNvPr id="16" name="Shape 14"/>
          <p:cNvSpPr/>
          <p:nvPr/>
        </p:nvSpPr>
        <p:spPr>
          <a:xfrm>
            <a:off x="548640" y="5392674"/>
            <a:ext cx="5410048" cy="916686"/>
          </a:xfrm>
          <a:prstGeom prst="roundRect">
            <a:avLst>
              <a:gd name="adj" fmla="val 6983"/>
            </a:avLst>
          </a:prstGeom>
          <a:solidFill>
            <a:srgbClr val="E7F2F9"/>
          </a:solidFill>
          <a:ln/>
        </p:spPr>
      </p:sp>
      <p:sp>
        <p:nvSpPr>
          <p:cNvPr id="17" name="Text 15"/>
          <p:cNvSpPr txBox="1"/>
          <p:nvPr/>
        </p:nvSpPr>
        <p:spPr>
          <a:xfrm>
            <a:off x="704088" y="546582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dorsalis (L) (rejyo dorsalis): </a:t>
            </a:r>
            <a:r>
              <a:rPr lang="en-US" sz="1500" dirty="0">
                <a:solidFill>
                  <a:srgbClr val="1F2937"/>
                </a:solidFill>
                <a:latin typeface="Calibri" pitchFamily="34" charset="0"/>
                <a:ea typeface="Calibri" pitchFamily="34" charset="-122"/>
                <a:cs typeface="Calibri" pitchFamily="34" charset="-120"/>
              </a:rPr>
              <a:t>Karın ve göğüs boşluklarının arka duvar bölgesi, üst kısımlarına sır denir.</a:t>
            </a:r>
            <a:endParaRPr lang="en-US" sz="1500" dirty="0"/>
          </a:p>
        </p:txBody>
      </p:sp>
      <p:sp>
        <p:nvSpPr>
          <p:cNvPr id="18" name="Shape 16"/>
          <p:cNvSpPr/>
          <p:nvPr/>
        </p:nvSpPr>
        <p:spPr>
          <a:xfrm>
            <a:off x="6233008" y="1746504"/>
            <a:ext cx="5410048" cy="684276"/>
          </a:xfrm>
          <a:prstGeom prst="roundRect">
            <a:avLst>
              <a:gd name="adj" fmla="val 9354"/>
            </a:avLst>
          </a:prstGeom>
          <a:solidFill>
            <a:srgbClr val="E7F2F9"/>
          </a:solidFill>
          <a:ln/>
        </p:spPr>
      </p:sp>
      <p:sp>
        <p:nvSpPr>
          <p:cNvPr id="19" name="Text 17"/>
          <p:cNvSpPr txBox="1"/>
          <p:nvPr/>
        </p:nvSpPr>
        <p:spPr>
          <a:xfrm>
            <a:off x="6388456"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 glutealis (G) (rejyo glutealis): </a:t>
            </a:r>
            <a:r>
              <a:rPr lang="en-US" sz="1500" dirty="0">
                <a:solidFill>
                  <a:srgbClr val="1F2937"/>
                </a:solidFill>
                <a:latin typeface="Calibri" pitchFamily="34" charset="0"/>
                <a:ea typeface="Calibri" pitchFamily="34" charset="-122"/>
                <a:cs typeface="Calibri" pitchFamily="34" charset="-120"/>
              </a:rPr>
              <a:t>Gluteal bölge, kalça (kaba et) bölgesi</a:t>
            </a:r>
            <a:endParaRPr lang="en-US" sz="1500" dirty="0"/>
          </a:p>
        </p:txBody>
      </p:sp>
      <p:sp>
        <p:nvSpPr>
          <p:cNvPr id="20" name="Shape 18"/>
          <p:cNvSpPr/>
          <p:nvPr/>
        </p:nvSpPr>
        <p:spPr>
          <a:xfrm>
            <a:off x="6233008" y="2522220"/>
            <a:ext cx="5410048" cy="451866"/>
          </a:xfrm>
          <a:prstGeom prst="roundRect">
            <a:avLst>
              <a:gd name="adj" fmla="val 14165"/>
            </a:avLst>
          </a:prstGeom>
          <a:solidFill>
            <a:srgbClr val="E7F2F9"/>
          </a:solidFill>
          <a:ln/>
        </p:spPr>
      </p:sp>
      <p:sp>
        <p:nvSpPr>
          <p:cNvPr id="21" name="Text 19"/>
          <p:cNvSpPr txBox="1"/>
          <p:nvPr/>
        </p:nvSpPr>
        <p:spPr>
          <a:xfrm>
            <a:off x="6388456" y="259537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regio (L) deltoidea (G) (rejyo deltoid): </a:t>
            </a:r>
            <a:r>
              <a:rPr lang="en-US" sz="1500" dirty="0">
                <a:solidFill>
                  <a:srgbClr val="1F2937"/>
                </a:solidFill>
                <a:latin typeface="Calibri" pitchFamily="34" charset="0"/>
                <a:ea typeface="Calibri" pitchFamily="34" charset="-122"/>
                <a:cs typeface="Calibri" pitchFamily="34" charset="-120"/>
              </a:rPr>
              <a:t>Omuz bölgesi</a:t>
            </a:r>
            <a:endParaRPr lang="en-US" sz="1500" dirty="0"/>
          </a:p>
        </p:txBody>
      </p:sp>
      <p:sp>
        <p:nvSpPr>
          <p:cNvPr id="22" name="Shape 20"/>
          <p:cNvSpPr/>
          <p:nvPr/>
        </p:nvSpPr>
        <p:spPr>
          <a:xfrm>
            <a:off x="6233008" y="3065526"/>
            <a:ext cx="5410048" cy="684276"/>
          </a:xfrm>
          <a:prstGeom prst="roundRect">
            <a:avLst>
              <a:gd name="adj" fmla="val 9354"/>
            </a:avLst>
          </a:prstGeom>
          <a:solidFill>
            <a:srgbClr val="E7F2F9"/>
          </a:solidFill>
          <a:ln/>
        </p:spPr>
      </p:sp>
      <p:sp>
        <p:nvSpPr>
          <p:cNvPr id="23" name="Text 21"/>
          <p:cNvSpPr txBox="1"/>
          <p:nvPr/>
        </p:nvSpPr>
        <p:spPr>
          <a:xfrm>
            <a:off x="6388456"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canalis inguinalis (L) (kanalis inguinalis): </a:t>
            </a:r>
            <a:r>
              <a:rPr lang="en-US" sz="1500" dirty="0">
                <a:solidFill>
                  <a:srgbClr val="1F2937"/>
                </a:solidFill>
                <a:latin typeface="Calibri" pitchFamily="34" charset="0"/>
                <a:ea typeface="Calibri" pitchFamily="34" charset="-122"/>
                <a:cs typeface="Calibri" pitchFamily="34" charset="-120"/>
              </a:rPr>
              <a:t>Kasık kanalı, inguinal kanal</a:t>
            </a:r>
            <a:endParaRPr lang="en-US" sz="1500" dirty="0"/>
          </a:p>
        </p:txBody>
      </p:sp>
      <p:sp>
        <p:nvSpPr>
          <p:cNvPr id="24" name="Shape 22"/>
          <p:cNvSpPr/>
          <p:nvPr/>
        </p:nvSpPr>
        <p:spPr>
          <a:xfrm>
            <a:off x="6233008" y="3841242"/>
            <a:ext cx="5410048" cy="451866"/>
          </a:xfrm>
          <a:prstGeom prst="roundRect">
            <a:avLst>
              <a:gd name="adj" fmla="val 14165"/>
            </a:avLst>
          </a:prstGeom>
          <a:solidFill>
            <a:srgbClr val="E7F2F9"/>
          </a:solidFill>
          <a:ln/>
        </p:spPr>
      </p:sp>
      <p:sp>
        <p:nvSpPr>
          <p:cNvPr id="25" name="Text 23"/>
          <p:cNvSpPr txBox="1"/>
          <p:nvPr/>
        </p:nvSpPr>
        <p:spPr>
          <a:xfrm>
            <a:off x="6388456" y="391439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thorax (G) (toraks): </a:t>
            </a:r>
            <a:r>
              <a:rPr lang="en-US" sz="1500" dirty="0">
                <a:solidFill>
                  <a:srgbClr val="1F2937"/>
                </a:solidFill>
                <a:latin typeface="Calibri" pitchFamily="34" charset="0"/>
                <a:ea typeface="Calibri" pitchFamily="34" charset="-122"/>
                <a:cs typeface="Calibri" pitchFamily="34" charset="-120"/>
              </a:rPr>
              <a:t>Göğüs boşluğu</a:t>
            </a:r>
            <a:endParaRPr lang="en-US" sz="1500" dirty="0"/>
          </a:p>
        </p:txBody>
      </p:sp>
      <p:sp>
        <p:nvSpPr>
          <p:cNvPr id="26" name="Shape 24"/>
          <p:cNvSpPr/>
          <p:nvPr/>
        </p:nvSpPr>
        <p:spPr>
          <a:xfrm>
            <a:off x="6233008" y="4384548"/>
            <a:ext cx="5410048" cy="451866"/>
          </a:xfrm>
          <a:prstGeom prst="roundRect">
            <a:avLst>
              <a:gd name="adj" fmla="val 14165"/>
            </a:avLst>
          </a:prstGeom>
          <a:solidFill>
            <a:srgbClr val="E7F2F9"/>
          </a:solidFill>
          <a:ln/>
        </p:spPr>
      </p:sp>
      <p:sp>
        <p:nvSpPr>
          <p:cNvPr id="27" name="Text 25"/>
          <p:cNvSpPr txBox="1"/>
          <p:nvPr/>
        </p:nvSpPr>
        <p:spPr>
          <a:xfrm>
            <a:off x="6388456" y="445770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abdomen (L) (abdomen): </a:t>
            </a:r>
            <a:r>
              <a:rPr lang="en-US" sz="1500" dirty="0">
                <a:solidFill>
                  <a:srgbClr val="1F2937"/>
                </a:solidFill>
                <a:latin typeface="Calibri" pitchFamily="34" charset="0"/>
                <a:ea typeface="Calibri" pitchFamily="34" charset="-122"/>
                <a:cs typeface="Calibri" pitchFamily="34" charset="-120"/>
              </a:rPr>
              <a:t>Karın boşluğu</a:t>
            </a:r>
            <a:endParaRPr lang="en-US" sz="1500" dirty="0"/>
          </a:p>
        </p:txBody>
      </p:sp>
      <p:sp>
        <p:nvSpPr>
          <p:cNvPr id="28" name="Shape 26"/>
          <p:cNvSpPr/>
          <p:nvPr/>
        </p:nvSpPr>
        <p:spPr>
          <a:xfrm>
            <a:off x="6233008" y="4927854"/>
            <a:ext cx="5410048" cy="684276"/>
          </a:xfrm>
          <a:prstGeom prst="roundRect">
            <a:avLst>
              <a:gd name="adj" fmla="val 9354"/>
            </a:avLst>
          </a:prstGeom>
          <a:solidFill>
            <a:srgbClr val="E7F2F9"/>
          </a:solidFill>
          <a:ln/>
        </p:spPr>
      </p:sp>
      <p:sp>
        <p:nvSpPr>
          <p:cNvPr id="29" name="Text 27"/>
          <p:cNvSpPr txBox="1"/>
          <p:nvPr/>
        </p:nvSpPr>
        <p:spPr>
          <a:xfrm>
            <a:off x="6388456" y="500100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pelvis (L) (pelvis): </a:t>
            </a:r>
            <a:r>
              <a:rPr lang="en-US" sz="1500" dirty="0">
                <a:solidFill>
                  <a:srgbClr val="1F2937"/>
                </a:solidFill>
                <a:latin typeface="Calibri" pitchFamily="34" charset="0"/>
                <a:ea typeface="Calibri" pitchFamily="34" charset="-122"/>
                <a:cs typeface="Calibri" pitchFamily="34" charset="-120"/>
              </a:rPr>
              <a:t>İki kalça kemiği ile sağrı (sakrum) arasındaki boşluk, karın boşluğunun devamıdır.</a:t>
            </a:r>
            <a:endParaRPr lang="en-US" sz="15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500" b="1" dirty="0">
                <a:solidFill>
                  <a:srgbClr val="1F2937"/>
                </a:solidFill>
                <a:latin typeface="Cambria" pitchFamily="34" charset="0"/>
                <a:ea typeface="Cambria" pitchFamily="34" charset="-122"/>
                <a:cs typeface="Cambria" pitchFamily="34" charset="-120"/>
              </a:rPr>
              <a:t>3.e. İnsanın Yapısına İlişkin Temel Tanım ve Terimler</a:t>
            </a:r>
            <a:endParaRPr lang="en-US" sz="25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149</a:t>
            </a:r>
            <a:endParaRPr lang="en-US" sz="1000" dirty="0"/>
          </a:p>
        </p:txBody>
      </p:sp>
      <p:sp>
        <p:nvSpPr>
          <p:cNvPr id="6" name="Shape 4"/>
          <p:cNvSpPr/>
          <p:nvPr/>
        </p:nvSpPr>
        <p:spPr>
          <a:xfrm>
            <a:off x="548640" y="1612392"/>
            <a:ext cx="5410048" cy="368808"/>
          </a:xfrm>
          <a:prstGeom prst="roundRect">
            <a:avLst>
              <a:gd name="adj" fmla="val 17355"/>
            </a:avLst>
          </a:prstGeom>
          <a:solidFill>
            <a:srgbClr val="E7F2F9"/>
          </a:solidFill>
          <a:ln/>
        </p:spPr>
      </p:sp>
      <p:sp>
        <p:nvSpPr>
          <p:cNvPr id="7" name="Text 5"/>
          <p:cNvSpPr txBox="1"/>
          <p:nvPr/>
        </p:nvSpPr>
        <p:spPr>
          <a:xfrm>
            <a:off x="704088" y="168554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axilla (L) (aksilla): </a:t>
            </a:r>
            <a:r>
              <a:rPr lang="en-US" sz="1200" dirty="0">
                <a:solidFill>
                  <a:srgbClr val="1F2937"/>
                </a:solidFill>
                <a:latin typeface="Calibri" pitchFamily="34" charset="0"/>
                <a:ea typeface="Calibri" pitchFamily="34" charset="-122"/>
                <a:cs typeface="Calibri" pitchFamily="34" charset="-120"/>
              </a:rPr>
              <a:t>Koltuk altı çukurluğu</a:t>
            </a:r>
            <a:endParaRPr lang="en-US" sz="1200" dirty="0"/>
          </a:p>
        </p:txBody>
      </p:sp>
      <p:sp>
        <p:nvSpPr>
          <p:cNvPr id="8" name="Shape 6"/>
          <p:cNvSpPr/>
          <p:nvPr/>
        </p:nvSpPr>
        <p:spPr>
          <a:xfrm>
            <a:off x="548640" y="2072640"/>
            <a:ext cx="5410048" cy="368808"/>
          </a:xfrm>
          <a:prstGeom prst="roundRect">
            <a:avLst>
              <a:gd name="adj" fmla="val 17355"/>
            </a:avLst>
          </a:prstGeom>
          <a:solidFill>
            <a:srgbClr val="E7F2F9"/>
          </a:solidFill>
          <a:ln/>
        </p:spPr>
      </p:sp>
      <p:sp>
        <p:nvSpPr>
          <p:cNvPr id="9" name="Text 7"/>
          <p:cNvSpPr txBox="1"/>
          <p:nvPr/>
        </p:nvSpPr>
        <p:spPr>
          <a:xfrm>
            <a:off x="704088" y="2145792"/>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brachium (L) (brakyum): </a:t>
            </a:r>
            <a:r>
              <a:rPr lang="en-US" sz="1200" dirty="0">
                <a:solidFill>
                  <a:srgbClr val="1F2937"/>
                </a:solidFill>
                <a:latin typeface="Calibri" pitchFamily="34" charset="0"/>
                <a:ea typeface="Calibri" pitchFamily="34" charset="-122"/>
                <a:cs typeface="Calibri" pitchFamily="34" charset="-120"/>
              </a:rPr>
              <a:t>Kol</a:t>
            </a:r>
            <a:endParaRPr lang="en-US" sz="1200" dirty="0"/>
          </a:p>
        </p:txBody>
      </p:sp>
      <p:sp>
        <p:nvSpPr>
          <p:cNvPr id="10" name="Shape 8"/>
          <p:cNvSpPr/>
          <p:nvPr/>
        </p:nvSpPr>
        <p:spPr>
          <a:xfrm>
            <a:off x="548640" y="2532888"/>
            <a:ext cx="5410048" cy="368808"/>
          </a:xfrm>
          <a:prstGeom prst="roundRect">
            <a:avLst>
              <a:gd name="adj" fmla="val 17355"/>
            </a:avLst>
          </a:prstGeom>
          <a:solidFill>
            <a:srgbClr val="E7F2F9"/>
          </a:solidFill>
          <a:ln/>
        </p:spPr>
      </p:sp>
      <p:sp>
        <p:nvSpPr>
          <p:cNvPr id="11" name="Text 9"/>
          <p:cNvSpPr txBox="1"/>
          <p:nvPr/>
        </p:nvSpPr>
        <p:spPr>
          <a:xfrm>
            <a:off x="704088" y="260604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antebrachium (L) (antebrakyum): </a:t>
            </a:r>
            <a:r>
              <a:rPr lang="en-US" sz="1200" dirty="0">
                <a:solidFill>
                  <a:srgbClr val="1F2937"/>
                </a:solidFill>
                <a:latin typeface="Calibri" pitchFamily="34" charset="0"/>
                <a:ea typeface="Calibri" pitchFamily="34" charset="-122"/>
                <a:cs typeface="Calibri" pitchFamily="34" charset="-120"/>
              </a:rPr>
              <a:t>Ön kol</a:t>
            </a:r>
            <a:endParaRPr lang="en-US" sz="1200" dirty="0"/>
          </a:p>
        </p:txBody>
      </p:sp>
      <p:sp>
        <p:nvSpPr>
          <p:cNvPr id="12" name="Shape 10"/>
          <p:cNvSpPr/>
          <p:nvPr/>
        </p:nvSpPr>
        <p:spPr>
          <a:xfrm>
            <a:off x="548640" y="2993136"/>
            <a:ext cx="5410048" cy="368808"/>
          </a:xfrm>
          <a:prstGeom prst="roundRect">
            <a:avLst>
              <a:gd name="adj" fmla="val 17355"/>
            </a:avLst>
          </a:prstGeom>
          <a:solidFill>
            <a:srgbClr val="E7F2F9"/>
          </a:solidFill>
          <a:ln/>
        </p:spPr>
      </p:sp>
      <p:sp>
        <p:nvSpPr>
          <p:cNvPr id="13" name="Text 11"/>
          <p:cNvSpPr txBox="1"/>
          <p:nvPr/>
        </p:nvSpPr>
        <p:spPr>
          <a:xfrm>
            <a:off x="704088" y="306628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cubitis (L) (kubitis): </a:t>
            </a:r>
            <a:r>
              <a:rPr lang="en-US" sz="1200" dirty="0">
                <a:solidFill>
                  <a:srgbClr val="1F2937"/>
                </a:solidFill>
                <a:latin typeface="Calibri" pitchFamily="34" charset="0"/>
                <a:ea typeface="Calibri" pitchFamily="34" charset="-122"/>
                <a:cs typeface="Calibri" pitchFamily="34" charset="-120"/>
              </a:rPr>
              <a:t>Dirsek</a:t>
            </a:r>
            <a:endParaRPr lang="en-US" sz="1200" dirty="0"/>
          </a:p>
        </p:txBody>
      </p:sp>
      <p:sp>
        <p:nvSpPr>
          <p:cNvPr id="14" name="Shape 12"/>
          <p:cNvSpPr/>
          <p:nvPr/>
        </p:nvSpPr>
        <p:spPr>
          <a:xfrm>
            <a:off x="548640" y="3453384"/>
            <a:ext cx="5410048" cy="368808"/>
          </a:xfrm>
          <a:prstGeom prst="roundRect">
            <a:avLst>
              <a:gd name="adj" fmla="val 17355"/>
            </a:avLst>
          </a:prstGeom>
          <a:solidFill>
            <a:srgbClr val="E7F2F9"/>
          </a:solidFill>
          <a:ln/>
        </p:spPr>
      </p:sp>
      <p:sp>
        <p:nvSpPr>
          <p:cNvPr id="15" name="Text 13"/>
          <p:cNvSpPr txBox="1"/>
          <p:nvPr/>
        </p:nvSpPr>
        <p:spPr>
          <a:xfrm>
            <a:off x="704088" y="352653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olecranon,  ancon (G) (olekranon, ankon): </a:t>
            </a:r>
            <a:r>
              <a:rPr lang="en-US" sz="1200" dirty="0">
                <a:solidFill>
                  <a:srgbClr val="1F2937"/>
                </a:solidFill>
                <a:latin typeface="Calibri" pitchFamily="34" charset="0"/>
                <a:ea typeface="Calibri" pitchFamily="34" charset="-122"/>
                <a:cs typeface="Calibri" pitchFamily="34" charset="-120"/>
              </a:rPr>
              <a:t>Dirsek</a:t>
            </a:r>
            <a:endParaRPr lang="en-US" sz="1200" dirty="0"/>
          </a:p>
        </p:txBody>
      </p:sp>
      <p:sp>
        <p:nvSpPr>
          <p:cNvPr id="16" name="Shape 14"/>
          <p:cNvSpPr/>
          <p:nvPr/>
        </p:nvSpPr>
        <p:spPr>
          <a:xfrm>
            <a:off x="548640" y="3913632"/>
            <a:ext cx="5410048" cy="554736"/>
          </a:xfrm>
          <a:prstGeom prst="roundRect">
            <a:avLst>
              <a:gd name="adj" fmla="val 11538"/>
            </a:avLst>
          </a:prstGeom>
          <a:solidFill>
            <a:srgbClr val="E7F2F9"/>
          </a:solidFill>
          <a:ln/>
        </p:spPr>
      </p:sp>
      <p:sp>
        <p:nvSpPr>
          <p:cNvPr id="17" name="Text 15"/>
          <p:cNvSpPr txBox="1"/>
          <p:nvPr/>
        </p:nvSpPr>
        <p:spPr>
          <a:xfrm>
            <a:off x="704088" y="3986784"/>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fossa cubiti (L) (fossa kubiti): </a:t>
            </a:r>
            <a:r>
              <a:rPr lang="en-US" sz="1200" dirty="0">
                <a:solidFill>
                  <a:srgbClr val="1F2937"/>
                </a:solidFill>
                <a:latin typeface="Calibri" pitchFamily="34" charset="0"/>
                <a:ea typeface="Calibri" pitchFamily="34" charset="-122"/>
                <a:cs typeface="Calibri" pitchFamily="34" charset="-120"/>
              </a:rPr>
              <a:t>Dirsek eklemlerinin önündeki sığ çukurluk</a:t>
            </a:r>
            <a:endParaRPr lang="en-US" sz="1200" dirty="0"/>
          </a:p>
        </p:txBody>
      </p:sp>
      <p:sp>
        <p:nvSpPr>
          <p:cNvPr id="18" name="Shape 16"/>
          <p:cNvSpPr/>
          <p:nvPr/>
        </p:nvSpPr>
        <p:spPr>
          <a:xfrm>
            <a:off x="548640" y="4559808"/>
            <a:ext cx="5410048" cy="368808"/>
          </a:xfrm>
          <a:prstGeom prst="roundRect">
            <a:avLst>
              <a:gd name="adj" fmla="val 17355"/>
            </a:avLst>
          </a:prstGeom>
          <a:solidFill>
            <a:srgbClr val="E7F2F9"/>
          </a:solidFill>
          <a:ln/>
        </p:spPr>
      </p:sp>
      <p:sp>
        <p:nvSpPr>
          <p:cNvPr id="19" name="Text 17"/>
          <p:cNvSpPr txBox="1"/>
          <p:nvPr/>
        </p:nvSpPr>
        <p:spPr>
          <a:xfrm>
            <a:off x="704088" y="463296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manus (L) (manus): </a:t>
            </a:r>
            <a:r>
              <a:rPr lang="en-US" sz="1200" dirty="0">
                <a:solidFill>
                  <a:srgbClr val="1F2937"/>
                </a:solidFill>
                <a:latin typeface="Calibri" pitchFamily="34" charset="0"/>
                <a:ea typeface="Calibri" pitchFamily="34" charset="-122"/>
                <a:cs typeface="Calibri" pitchFamily="34" charset="-120"/>
              </a:rPr>
              <a:t>El</a:t>
            </a:r>
            <a:endParaRPr lang="en-US" sz="1200" dirty="0"/>
          </a:p>
        </p:txBody>
      </p:sp>
      <p:sp>
        <p:nvSpPr>
          <p:cNvPr id="20" name="Shape 18"/>
          <p:cNvSpPr/>
          <p:nvPr/>
        </p:nvSpPr>
        <p:spPr>
          <a:xfrm>
            <a:off x="548640" y="5020056"/>
            <a:ext cx="5410048" cy="368808"/>
          </a:xfrm>
          <a:prstGeom prst="roundRect">
            <a:avLst>
              <a:gd name="adj" fmla="val 17355"/>
            </a:avLst>
          </a:prstGeom>
          <a:solidFill>
            <a:srgbClr val="E7F2F9"/>
          </a:solidFill>
          <a:ln/>
        </p:spPr>
      </p:sp>
      <p:sp>
        <p:nvSpPr>
          <p:cNvPr id="21" name="Text 19"/>
          <p:cNvSpPr txBox="1"/>
          <p:nvPr/>
        </p:nvSpPr>
        <p:spPr>
          <a:xfrm>
            <a:off x="704088" y="509320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carpus (G-karpos) (karpus): </a:t>
            </a:r>
            <a:r>
              <a:rPr lang="en-US" sz="1200" dirty="0">
                <a:solidFill>
                  <a:srgbClr val="1F2937"/>
                </a:solidFill>
                <a:latin typeface="Calibri" pitchFamily="34" charset="0"/>
                <a:ea typeface="Calibri" pitchFamily="34" charset="-122"/>
                <a:cs typeface="Calibri" pitchFamily="34" charset="-120"/>
              </a:rPr>
              <a:t>El bileği</a:t>
            </a:r>
            <a:endParaRPr lang="en-US" sz="1200" dirty="0"/>
          </a:p>
        </p:txBody>
      </p:sp>
      <p:sp>
        <p:nvSpPr>
          <p:cNvPr id="22" name="Shape 20"/>
          <p:cNvSpPr/>
          <p:nvPr/>
        </p:nvSpPr>
        <p:spPr>
          <a:xfrm>
            <a:off x="548640" y="5480304"/>
            <a:ext cx="5410048" cy="368808"/>
          </a:xfrm>
          <a:prstGeom prst="roundRect">
            <a:avLst>
              <a:gd name="adj" fmla="val 17355"/>
            </a:avLst>
          </a:prstGeom>
          <a:solidFill>
            <a:srgbClr val="E7F2F9"/>
          </a:solidFill>
          <a:ln/>
        </p:spPr>
      </p:sp>
      <p:sp>
        <p:nvSpPr>
          <p:cNvPr id="23" name="Text 21"/>
          <p:cNvSpPr txBox="1"/>
          <p:nvPr/>
        </p:nvSpPr>
        <p:spPr>
          <a:xfrm>
            <a:off x="704088" y="555345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metacarpus (G) (metakarpus): </a:t>
            </a:r>
            <a:r>
              <a:rPr lang="en-US" sz="1200" dirty="0">
                <a:solidFill>
                  <a:srgbClr val="1F2937"/>
                </a:solidFill>
                <a:latin typeface="Calibri" pitchFamily="34" charset="0"/>
                <a:ea typeface="Calibri" pitchFamily="34" charset="-122"/>
                <a:cs typeface="Calibri" pitchFamily="34" charset="-120"/>
              </a:rPr>
              <a:t>El tarağı</a:t>
            </a:r>
            <a:endParaRPr lang="en-US" sz="1200" dirty="0"/>
          </a:p>
        </p:txBody>
      </p:sp>
      <p:sp>
        <p:nvSpPr>
          <p:cNvPr id="24" name="Shape 22"/>
          <p:cNvSpPr/>
          <p:nvPr/>
        </p:nvSpPr>
        <p:spPr>
          <a:xfrm>
            <a:off x="548640" y="5940552"/>
            <a:ext cx="5410048" cy="368808"/>
          </a:xfrm>
          <a:prstGeom prst="roundRect">
            <a:avLst>
              <a:gd name="adj" fmla="val 17355"/>
            </a:avLst>
          </a:prstGeom>
          <a:solidFill>
            <a:srgbClr val="E7F2F9"/>
          </a:solidFill>
          <a:ln/>
        </p:spPr>
      </p:sp>
      <p:sp>
        <p:nvSpPr>
          <p:cNvPr id="25" name="Text 23"/>
          <p:cNvSpPr txBox="1"/>
          <p:nvPr/>
        </p:nvSpPr>
        <p:spPr>
          <a:xfrm>
            <a:off x="704088" y="601370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digitus (L) (dijitus): </a:t>
            </a:r>
            <a:r>
              <a:rPr lang="en-US" sz="1200" dirty="0">
                <a:solidFill>
                  <a:srgbClr val="1F2937"/>
                </a:solidFill>
                <a:latin typeface="Calibri" pitchFamily="34" charset="0"/>
                <a:ea typeface="Calibri" pitchFamily="34" charset="-122"/>
                <a:cs typeface="Calibri" pitchFamily="34" charset="-120"/>
              </a:rPr>
              <a:t>Parmak</a:t>
            </a:r>
            <a:endParaRPr lang="en-US" sz="1200" dirty="0"/>
          </a:p>
        </p:txBody>
      </p:sp>
      <p:sp>
        <p:nvSpPr>
          <p:cNvPr id="26" name="Shape 24"/>
          <p:cNvSpPr/>
          <p:nvPr/>
        </p:nvSpPr>
        <p:spPr>
          <a:xfrm>
            <a:off x="6233008" y="1612392"/>
            <a:ext cx="5410048" cy="368808"/>
          </a:xfrm>
          <a:prstGeom prst="roundRect">
            <a:avLst>
              <a:gd name="adj" fmla="val 17355"/>
            </a:avLst>
          </a:prstGeom>
          <a:solidFill>
            <a:srgbClr val="E7F2F9"/>
          </a:solidFill>
          <a:ln/>
        </p:spPr>
      </p:sp>
      <p:sp>
        <p:nvSpPr>
          <p:cNvPr id="27" name="Text 25"/>
          <p:cNvSpPr txBox="1"/>
          <p:nvPr/>
        </p:nvSpPr>
        <p:spPr>
          <a:xfrm>
            <a:off x="6388456" y="168554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dactylus (G) (daktilsus): </a:t>
            </a:r>
            <a:r>
              <a:rPr lang="en-US" sz="1200" dirty="0">
                <a:solidFill>
                  <a:srgbClr val="1F2937"/>
                </a:solidFill>
                <a:latin typeface="Calibri" pitchFamily="34" charset="0"/>
                <a:ea typeface="Calibri" pitchFamily="34" charset="-122"/>
                <a:cs typeface="Calibri" pitchFamily="34" charset="-120"/>
              </a:rPr>
              <a:t>Parmak</a:t>
            </a:r>
            <a:endParaRPr lang="en-US" sz="1200" dirty="0"/>
          </a:p>
        </p:txBody>
      </p:sp>
      <p:sp>
        <p:nvSpPr>
          <p:cNvPr id="28" name="Shape 26"/>
          <p:cNvSpPr/>
          <p:nvPr/>
        </p:nvSpPr>
        <p:spPr>
          <a:xfrm>
            <a:off x="6233008" y="2072640"/>
            <a:ext cx="5410048" cy="554736"/>
          </a:xfrm>
          <a:prstGeom prst="roundRect">
            <a:avLst>
              <a:gd name="adj" fmla="val 11538"/>
            </a:avLst>
          </a:prstGeom>
          <a:solidFill>
            <a:srgbClr val="E7F2F9"/>
          </a:solidFill>
          <a:ln/>
        </p:spPr>
      </p:sp>
      <p:sp>
        <p:nvSpPr>
          <p:cNvPr id="29" name="Text 27"/>
          <p:cNvSpPr txBox="1"/>
          <p:nvPr/>
        </p:nvSpPr>
        <p:spPr>
          <a:xfrm>
            <a:off x="6388456" y="2145792"/>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femur (L) (femur): </a:t>
            </a:r>
            <a:r>
              <a:rPr lang="en-US" sz="1200" dirty="0">
                <a:solidFill>
                  <a:srgbClr val="1F2937"/>
                </a:solidFill>
                <a:latin typeface="Calibri" pitchFamily="34" charset="0"/>
                <a:ea typeface="Calibri" pitchFamily="34" charset="-122"/>
                <a:cs typeface="Calibri" pitchFamily="34" charset="-120"/>
              </a:rPr>
              <a:t>Uyluk, femoral bölge, kalça ile diz arasındaki kısım</a:t>
            </a:r>
            <a:endParaRPr lang="en-US" sz="1200" dirty="0"/>
          </a:p>
        </p:txBody>
      </p:sp>
      <p:sp>
        <p:nvSpPr>
          <p:cNvPr id="30" name="Shape 28"/>
          <p:cNvSpPr/>
          <p:nvPr/>
        </p:nvSpPr>
        <p:spPr>
          <a:xfrm>
            <a:off x="6233008" y="2718816"/>
            <a:ext cx="5410048" cy="368808"/>
          </a:xfrm>
          <a:prstGeom prst="roundRect">
            <a:avLst>
              <a:gd name="adj" fmla="val 17355"/>
            </a:avLst>
          </a:prstGeom>
          <a:solidFill>
            <a:srgbClr val="E7F2F9"/>
          </a:solidFill>
          <a:ln/>
        </p:spPr>
      </p:sp>
      <p:sp>
        <p:nvSpPr>
          <p:cNvPr id="31" name="Text 29"/>
          <p:cNvSpPr txBox="1"/>
          <p:nvPr/>
        </p:nvSpPr>
        <p:spPr>
          <a:xfrm>
            <a:off x="6388456" y="279196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genu (s) (L) (genu(s)): </a:t>
            </a:r>
            <a:r>
              <a:rPr lang="en-US" sz="1200" dirty="0">
                <a:solidFill>
                  <a:srgbClr val="1F2937"/>
                </a:solidFill>
                <a:latin typeface="Calibri" pitchFamily="34" charset="0"/>
                <a:ea typeface="Calibri" pitchFamily="34" charset="-122"/>
                <a:cs typeface="Calibri" pitchFamily="34" charset="-120"/>
              </a:rPr>
              <a:t>Diz</a:t>
            </a:r>
            <a:endParaRPr lang="en-US" sz="1200" dirty="0"/>
          </a:p>
        </p:txBody>
      </p:sp>
      <p:sp>
        <p:nvSpPr>
          <p:cNvPr id="32" name="Shape 30"/>
          <p:cNvSpPr/>
          <p:nvPr/>
        </p:nvSpPr>
        <p:spPr>
          <a:xfrm>
            <a:off x="6233008" y="3179064"/>
            <a:ext cx="5410048" cy="368808"/>
          </a:xfrm>
          <a:prstGeom prst="roundRect">
            <a:avLst>
              <a:gd name="adj" fmla="val 17355"/>
            </a:avLst>
          </a:prstGeom>
          <a:solidFill>
            <a:srgbClr val="E7F2F9"/>
          </a:solidFill>
          <a:ln/>
        </p:spPr>
      </p:sp>
      <p:sp>
        <p:nvSpPr>
          <p:cNvPr id="33" name="Text 31"/>
          <p:cNvSpPr txBox="1"/>
          <p:nvPr/>
        </p:nvSpPr>
        <p:spPr>
          <a:xfrm>
            <a:off x="6388456" y="325221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fossa poplitea (L) (fossa poplite): </a:t>
            </a:r>
            <a:r>
              <a:rPr lang="en-US" sz="1200" dirty="0">
                <a:solidFill>
                  <a:srgbClr val="1F2937"/>
                </a:solidFill>
                <a:latin typeface="Calibri" pitchFamily="34" charset="0"/>
                <a:ea typeface="Calibri" pitchFamily="34" charset="-122"/>
                <a:cs typeface="Calibri" pitchFamily="34" charset="-120"/>
              </a:rPr>
              <a:t>Diz ardı çukurluğu</a:t>
            </a:r>
            <a:endParaRPr lang="en-US" sz="1200" dirty="0"/>
          </a:p>
        </p:txBody>
      </p:sp>
      <p:sp>
        <p:nvSpPr>
          <p:cNvPr id="34" name="Shape 32"/>
          <p:cNvSpPr/>
          <p:nvPr/>
        </p:nvSpPr>
        <p:spPr>
          <a:xfrm>
            <a:off x="6233008" y="3639312"/>
            <a:ext cx="5410048" cy="368808"/>
          </a:xfrm>
          <a:prstGeom prst="roundRect">
            <a:avLst>
              <a:gd name="adj" fmla="val 17355"/>
            </a:avLst>
          </a:prstGeom>
          <a:solidFill>
            <a:srgbClr val="E7F2F9"/>
          </a:solidFill>
          <a:ln/>
        </p:spPr>
      </p:sp>
      <p:sp>
        <p:nvSpPr>
          <p:cNvPr id="35" name="Text 33"/>
          <p:cNvSpPr txBox="1"/>
          <p:nvPr/>
        </p:nvSpPr>
        <p:spPr>
          <a:xfrm>
            <a:off x="6388456" y="371246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crus (L) (krus): </a:t>
            </a:r>
            <a:r>
              <a:rPr lang="en-US" sz="1200" dirty="0">
                <a:solidFill>
                  <a:srgbClr val="1F2937"/>
                </a:solidFill>
                <a:latin typeface="Calibri" pitchFamily="34" charset="0"/>
                <a:ea typeface="Calibri" pitchFamily="34" charset="-122"/>
                <a:cs typeface="Calibri" pitchFamily="34" charset="-120"/>
              </a:rPr>
              <a:t>Bacak</a:t>
            </a:r>
            <a:endParaRPr lang="en-US" sz="1200" dirty="0"/>
          </a:p>
        </p:txBody>
      </p:sp>
      <p:sp>
        <p:nvSpPr>
          <p:cNvPr id="36" name="Shape 34"/>
          <p:cNvSpPr/>
          <p:nvPr/>
        </p:nvSpPr>
        <p:spPr>
          <a:xfrm>
            <a:off x="6233008" y="4099560"/>
            <a:ext cx="5410048" cy="368808"/>
          </a:xfrm>
          <a:prstGeom prst="roundRect">
            <a:avLst>
              <a:gd name="adj" fmla="val 17355"/>
            </a:avLst>
          </a:prstGeom>
          <a:solidFill>
            <a:srgbClr val="E7F2F9"/>
          </a:solidFill>
          <a:ln/>
        </p:spPr>
      </p:sp>
      <p:sp>
        <p:nvSpPr>
          <p:cNvPr id="37" name="Text 35"/>
          <p:cNvSpPr txBox="1"/>
          <p:nvPr/>
        </p:nvSpPr>
        <p:spPr>
          <a:xfrm>
            <a:off x="6388456" y="4172712"/>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pes, pedis (L) (pes, pedis): </a:t>
            </a:r>
            <a:r>
              <a:rPr lang="en-US" sz="1200" dirty="0">
                <a:solidFill>
                  <a:srgbClr val="1F2937"/>
                </a:solidFill>
                <a:latin typeface="Calibri" pitchFamily="34" charset="0"/>
                <a:ea typeface="Calibri" pitchFamily="34" charset="-122"/>
                <a:cs typeface="Calibri" pitchFamily="34" charset="-120"/>
              </a:rPr>
              <a:t>Ayak</a:t>
            </a:r>
            <a:endParaRPr lang="en-US" sz="1200" dirty="0"/>
          </a:p>
        </p:txBody>
      </p:sp>
      <p:sp>
        <p:nvSpPr>
          <p:cNvPr id="38" name="Shape 36"/>
          <p:cNvSpPr/>
          <p:nvPr/>
        </p:nvSpPr>
        <p:spPr>
          <a:xfrm>
            <a:off x="6233008" y="4559808"/>
            <a:ext cx="5410048" cy="368808"/>
          </a:xfrm>
          <a:prstGeom prst="roundRect">
            <a:avLst>
              <a:gd name="adj" fmla="val 17355"/>
            </a:avLst>
          </a:prstGeom>
          <a:solidFill>
            <a:srgbClr val="E7F2F9"/>
          </a:solidFill>
          <a:ln/>
        </p:spPr>
      </p:sp>
      <p:sp>
        <p:nvSpPr>
          <p:cNvPr id="39" name="Text 37"/>
          <p:cNvSpPr txBox="1"/>
          <p:nvPr/>
        </p:nvSpPr>
        <p:spPr>
          <a:xfrm>
            <a:off x="6388456" y="463296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podos (G) (podos): </a:t>
            </a:r>
            <a:r>
              <a:rPr lang="en-US" sz="1200" dirty="0">
                <a:solidFill>
                  <a:srgbClr val="1F2937"/>
                </a:solidFill>
                <a:latin typeface="Calibri" pitchFamily="34" charset="0"/>
                <a:ea typeface="Calibri" pitchFamily="34" charset="-122"/>
                <a:cs typeface="Calibri" pitchFamily="34" charset="-120"/>
              </a:rPr>
              <a:t>Ayak</a:t>
            </a:r>
            <a:endParaRPr lang="en-US" sz="1200" dirty="0"/>
          </a:p>
        </p:txBody>
      </p:sp>
      <p:sp>
        <p:nvSpPr>
          <p:cNvPr id="40" name="Shape 38"/>
          <p:cNvSpPr/>
          <p:nvPr/>
        </p:nvSpPr>
        <p:spPr>
          <a:xfrm>
            <a:off x="6233008" y="5020056"/>
            <a:ext cx="5410048" cy="368808"/>
          </a:xfrm>
          <a:prstGeom prst="roundRect">
            <a:avLst>
              <a:gd name="adj" fmla="val 17355"/>
            </a:avLst>
          </a:prstGeom>
          <a:solidFill>
            <a:srgbClr val="E7F2F9"/>
          </a:solidFill>
          <a:ln/>
        </p:spPr>
      </p:sp>
      <p:sp>
        <p:nvSpPr>
          <p:cNvPr id="41" name="Text 39"/>
          <p:cNvSpPr txBox="1"/>
          <p:nvPr/>
        </p:nvSpPr>
        <p:spPr>
          <a:xfrm>
            <a:off x="6388456" y="509320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tarsus (L) (tarsus): </a:t>
            </a:r>
            <a:r>
              <a:rPr lang="en-US" sz="1200" dirty="0">
                <a:solidFill>
                  <a:srgbClr val="1F2937"/>
                </a:solidFill>
                <a:latin typeface="Calibri" pitchFamily="34" charset="0"/>
                <a:ea typeface="Calibri" pitchFamily="34" charset="-122"/>
                <a:cs typeface="Calibri" pitchFamily="34" charset="-120"/>
              </a:rPr>
              <a:t>Ayak bileği</a:t>
            </a:r>
            <a:endParaRPr lang="en-US" sz="1200" dirty="0"/>
          </a:p>
        </p:txBody>
      </p:sp>
      <p:sp>
        <p:nvSpPr>
          <p:cNvPr id="42" name="Shape 40"/>
          <p:cNvSpPr/>
          <p:nvPr/>
        </p:nvSpPr>
        <p:spPr>
          <a:xfrm>
            <a:off x="6233008" y="5480304"/>
            <a:ext cx="5410048" cy="368808"/>
          </a:xfrm>
          <a:prstGeom prst="roundRect">
            <a:avLst>
              <a:gd name="adj" fmla="val 17355"/>
            </a:avLst>
          </a:prstGeom>
          <a:solidFill>
            <a:srgbClr val="E7F2F9"/>
          </a:solidFill>
          <a:ln/>
        </p:spPr>
      </p:sp>
      <p:sp>
        <p:nvSpPr>
          <p:cNvPr id="43" name="Text 41"/>
          <p:cNvSpPr txBox="1"/>
          <p:nvPr/>
        </p:nvSpPr>
        <p:spPr>
          <a:xfrm>
            <a:off x="6388456" y="555345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metatarsus [meta (G) tarsus (L)] (metatarsus): </a:t>
            </a:r>
            <a:r>
              <a:rPr lang="en-US" sz="1200" dirty="0">
                <a:solidFill>
                  <a:srgbClr val="1F2937"/>
                </a:solidFill>
                <a:latin typeface="Calibri" pitchFamily="34" charset="0"/>
                <a:ea typeface="Calibri" pitchFamily="34" charset="-122"/>
                <a:cs typeface="Calibri" pitchFamily="34" charset="-120"/>
              </a:rPr>
              <a:t>Ayak tarağı</a:t>
            </a:r>
            <a:endParaRPr lang="en-US" sz="12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3.f. Yön Belirten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150</a:t>
            </a:r>
            <a:endParaRPr lang="en-US" sz="1000" dirty="0"/>
          </a:p>
        </p:txBody>
      </p:sp>
      <p:sp>
        <p:nvSpPr>
          <p:cNvPr id="6" name="Shape 4"/>
          <p:cNvSpPr/>
          <p:nvPr/>
        </p:nvSpPr>
        <p:spPr>
          <a:xfrm>
            <a:off x="548640" y="1565529"/>
            <a:ext cx="11094415" cy="1149096"/>
          </a:xfrm>
          <a:prstGeom prst="roundRect">
            <a:avLst>
              <a:gd name="adj" fmla="val 5570"/>
            </a:avLst>
          </a:prstGeom>
          <a:solidFill>
            <a:srgbClr val="E7F2F9"/>
          </a:solidFill>
          <a:ln/>
        </p:spPr>
      </p:sp>
      <p:sp>
        <p:nvSpPr>
          <p:cNvPr id="7" name="Text 5"/>
          <p:cNvSpPr txBox="1"/>
          <p:nvPr/>
        </p:nvSpPr>
        <p:spPr>
          <a:xfrm>
            <a:off x="704088" y="1638681"/>
            <a:ext cx="10783519" cy="1002792"/>
          </a:xfrm>
          <a:prstGeom prst="rect">
            <a:avLst/>
          </a:prstGeom>
          <a:noFill/>
          <a:ln/>
        </p:spPr>
        <p:txBody>
          <a:bodyPr wrap="square" lIns="0" tIns="0" rIns="0" bIns="0" rtlCol="0" anchor="t"/>
          <a:lstStyle/>
          <a:p>
            <a:pPr marL="0" indent="0">
              <a:lnSpc>
                <a:spcPct val="105000"/>
              </a:lnSpc>
              <a:buNone/>
            </a:pPr>
            <a:r>
              <a:rPr lang="en-US" sz="1500" dirty="0">
                <a:solidFill>
                  <a:srgbClr val="1F2937"/>
                </a:solidFill>
                <a:latin typeface="Calibri" pitchFamily="34" charset="0"/>
                <a:ea typeface="Calibri" pitchFamily="34" charset="-122"/>
                <a:cs typeface="Calibri" pitchFamily="34" charset="-120"/>
              </a:rPr>
              <a:t>Her bilim dalında çok kullanılan terimler ve kavramlar vardır. Bunlar yer ve komşuluk tanımlanmasında da önemlidirler ve sağlık çalışanları arasında anlaşmayı kolaylaştırırlar. Bunların bazıları şunlardır:</a:t>
            </a:r>
            <a:endParaRPr lang="en-US" sz="1500" dirty="0"/>
          </a:p>
        </p:txBody>
      </p:sp>
      <p:sp>
        <p:nvSpPr>
          <p:cNvPr id="8" name="Shape 6"/>
          <p:cNvSpPr/>
          <p:nvPr/>
        </p:nvSpPr>
        <p:spPr>
          <a:xfrm>
            <a:off x="548640" y="2908554"/>
            <a:ext cx="5410048" cy="451866"/>
          </a:xfrm>
          <a:prstGeom prst="roundRect">
            <a:avLst>
              <a:gd name="adj" fmla="val 14165"/>
            </a:avLst>
          </a:prstGeom>
          <a:solidFill>
            <a:srgbClr val="E7F2F9"/>
          </a:solidFill>
          <a:ln/>
        </p:spPr>
      </p:sp>
      <p:sp>
        <p:nvSpPr>
          <p:cNvPr id="9" name="Text 7"/>
          <p:cNvSpPr txBox="1"/>
          <p:nvPr/>
        </p:nvSpPr>
        <p:spPr>
          <a:xfrm>
            <a:off x="704088" y="29817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superior (L) (superiyor): </a:t>
            </a:r>
            <a:r>
              <a:rPr lang="en-US" sz="1500" dirty="0">
                <a:solidFill>
                  <a:srgbClr val="1F2937"/>
                </a:solidFill>
                <a:latin typeface="Calibri" pitchFamily="34" charset="0"/>
                <a:ea typeface="Calibri" pitchFamily="34" charset="-122"/>
                <a:cs typeface="Calibri" pitchFamily="34" charset="-120"/>
              </a:rPr>
              <a:t>Üst</a:t>
            </a:r>
            <a:endParaRPr lang="en-US" sz="1500" dirty="0"/>
          </a:p>
        </p:txBody>
      </p:sp>
      <p:sp>
        <p:nvSpPr>
          <p:cNvPr id="10" name="Shape 8"/>
          <p:cNvSpPr/>
          <p:nvPr/>
        </p:nvSpPr>
        <p:spPr>
          <a:xfrm>
            <a:off x="548640" y="3451860"/>
            <a:ext cx="5410048" cy="451866"/>
          </a:xfrm>
          <a:prstGeom prst="roundRect">
            <a:avLst>
              <a:gd name="adj" fmla="val 14165"/>
            </a:avLst>
          </a:prstGeom>
          <a:solidFill>
            <a:srgbClr val="E7F2F9"/>
          </a:solidFill>
          <a:ln/>
        </p:spPr>
      </p:sp>
      <p:sp>
        <p:nvSpPr>
          <p:cNvPr id="11" name="Text 9"/>
          <p:cNvSpPr txBox="1"/>
          <p:nvPr/>
        </p:nvSpPr>
        <p:spPr>
          <a:xfrm>
            <a:off x="704088"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inferior (L) (inferiyor): </a:t>
            </a:r>
            <a:r>
              <a:rPr lang="en-US" sz="1500" dirty="0">
                <a:solidFill>
                  <a:srgbClr val="1F2937"/>
                </a:solidFill>
                <a:latin typeface="Calibri" pitchFamily="34" charset="0"/>
                <a:ea typeface="Calibri" pitchFamily="34" charset="-122"/>
                <a:cs typeface="Calibri" pitchFamily="34" charset="-120"/>
              </a:rPr>
              <a:t>Alt</a:t>
            </a:r>
            <a:endParaRPr lang="en-US" sz="1500" dirty="0"/>
          </a:p>
        </p:txBody>
      </p:sp>
      <p:sp>
        <p:nvSpPr>
          <p:cNvPr id="12" name="Shape 10"/>
          <p:cNvSpPr/>
          <p:nvPr/>
        </p:nvSpPr>
        <p:spPr>
          <a:xfrm>
            <a:off x="548640" y="3995166"/>
            <a:ext cx="5410048" cy="451866"/>
          </a:xfrm>
          <a:prstGeom prst="roundRect">
            <a:avLst>
              <a:gd name="adj" fmla="val 14165"/>
            </a:avLst>
          </a:prstGeom>
          <a:solidFill>
            <a:srgbClr val="E7F2F9"/>
          </a:solidFill>
          <a:ln/>
        </p:spPr>
      </p:sp>
      <p:sp>
        <p:nvSpPr>
          <p:cNvPr id="13" name="Text 11"/>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caudalis (L) (kavdal): </a:t>
            </a:r>
            <a:r>
              <a:rPr lang="en-US" sz="1500" dirty="0">
                <a:solidFill>
                  <a:srgbClr val="1F2937"/>
                </a:solidFill>
                <a:latin typeface="Calibri" pitchFamily="34" charset="0"/>
                <a:ea typeface="Calibri" pitchFamily="34" charset="-122"/>
                <a:cs typeface="Calibri" pitchFamily="34" charset="-120"/>
              </a:rPr>
              <a:t>Kuyruğa ait, kuyrukla ilgili</a:t>
            </a:r>
            <a:endParaRPr lang="en-US" sz="1500" dirty="0"/>
          </a:p>
        </p:txBody>
      </p:sp>
      <p:sp>
        <p:nvSpPr>
          <p:cNvPr id="14" name="Shape 12"/>
          <p:cNvSpPr/>
          <p:nvPr/>
        </p:nvSpPr>
        <p:spPr>
          <a:xfrm>
            <a:off x="548640" y="4538472"/>
            <a:ext cx="5410048" cy="451866"/>
          </a:xfrm>
          <a:prstGeom prst="roundRect">
            <a:avLst>
              <a:gd name="adj" fmla="val 14165"/>
            </a:avLst>
          </a:prstGeom>
          <a:solidFill>
            <a:srgbClr val="E7F2F9"/>
          </a:solidFill>
          <a:ln/>
        </p:spPr>
      </p:sp>
      <p:sp>
        <p:nvSpPr>
          <p:cNvPr id="15" name="Text 13"/>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apicalis (L) (apikal): </a:t>
            </a:r>
            <a:r>
              <a:rPr lang="en-US" sz="1500" dirty="0">
                <a:solidFill>
                  <a:srgbClr val="1F2937"/>
                </a:solidFill>
                <a:latin typeface="Calibri" pitchFamily="34" charset="0"/>
                <a:ea typeface="Calibri" pitchFamily="34" charset="-122"/>
                <a:cs typeface="Calibri" pitchFamily="34" charset="-120"/>
              </a:rPr>
              <a:t>Tepeyle ilgili, tepeye ait</a:t>
            </a:r>
            <a:endParaRPr lang="en-US" sz="1500" dirty="0"/>
          </a:p>
        </p:txBody>
      </p:sp>
      <p:sp>
        <p:nvSpPr>
          <p:cNvPr id="16" name="Shape 14"/>
          <p:cNvSpPr/>
          <p:nvPr/>
        </p:nvSpPr>
        <p:spPr>
          <a:xfrm>
            <a:off x="548640" y="5081778"/>
            <a:ext cx="5410048" cy="684276"/>
          </a:xfrm>
          <a:prstGeom prst="roundRect">
            <a:avLst>
              <a:gd name="adj" fmla="val 9354"/>
            </a:avLst>
          </a:prstGeom>
          <a:solidFill>
            <a:srgbClr val="E7F2F9"/>
          </a:solidFill>
          <a:ln/>
        </p:spPr>
      </p:sp>
      <p:sp>
        <p:nvSpPr>
          <p:cNvPr id="17" name="Text 15"/>
          <p:cNvSpPr txBox="1"/>
          <p:nvPr/>
        </p:nvSpPr>
        <p:spPr>
          <a:xfrm>
            <a:off x="704088"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basal, basilaris (L) (bazal, bazilaris): </a:t>
            </a:r>
            <a:r>
              <a:rPr lang="en-US" sz="1500" dirty="0">
                <a:solidFill>
                  <a:srgbClr val="1F2937"/>
                </a:solidFill>
                <a:latin typeface="Calibri" pitchFamily="34" charset="0"/>
                <a:ea typeface="Calibri" pitchFamily="34" charset="-122"/>
                <a:cs typeface="Calibri" pitchFamily="34" charset="-120"/>
              </a:rPr>
              <a:t>Tabanla ilgili, tabana ait</a:t>
            </a:r>
            <a:endParaRPr lang="en-US" sz="1500" dirty="0"/>
          </a:p>
        </p:txBody>
      </p:sp>
      <p:sp>
        <p:nvSpPr>
          <p:cNvPr id="18" name="Shape 16"/>
          <p:cNvSpPr/>
          <p:nvPr/>
        </p:nvSpPr>
        <p:spPr>
          <a:xfrm>
            <a:off x="548640" y="5857494"/>
            <a:ext cx="5410048" cy="451866"/>
          </a:xfrm>
          <a:prstGeom prst="roundRect">
            <a:avLst>
              <a:gd name="adj" fmla="val 14165"/>
            </a:avLst>
          </a:prstGeom>
          <a:solidFill>
            <a:srgbClr val="E7F2F9"/>
          </a:solidFill>
          <a:ln/>
        </p:spPr>
      </p:sp>
      <p:sp>
        <p:nvSpPr>
          <p:cNvPr id="19" name="Text 17"/>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externus (L) (eksternus): </a:t>
            </a:r>
            <a:r>
              <a:rPr lang="en-US" sz="1500" dirty="0">
                <a:solidFill>
                  <a:srgbClr val="1F2937"/>
                </a:solidFill>
                <a:latin typeface="Calibri" pitchFamily="34" charset="0"/>
                <a:ea typeface="Calibri" pitchFamily="34" charset="-122"/>
                <a:cs typeface="Calibri" pitchFamily="34" charset="-120"/>
              </a:rPr>
              <a:t>Dış</a:t>
            </a:r>
            <a:endParaRPr lang="en-US" sz="1500" dirty="0"/>
          </a:p>
        </p:txBody>
      </p:sp>
      <p:sp>
        <p:nvSpPr>
          <p:cNvPr id="20" name="Shape 18"/>
          <p:cNvSpPr/>
          <p:nvPr/>
        </p:nvSpPr>
        <p:spPr>
          <a:xfrm>
            <a:off x="6233008" y="2908554"/>
            <a:ext cx="5410048" cy="451866"/>
          </a:xfrm>
          <a:prstGeom prst="roundRect">
            <a:avLst>
              <a:gd name="adj" fmla="val 14165"/>
            </a:avLst>
          </a:prstGeom>
          <a:solidFill>
            <a:srgbClr val="E7F2F9"/>
          </a:solidFill>
          <a:ln/>
        </p:spPr>
      </p:sp>
      <p:sp>
        <p:nvSpPr>
          <p:cNvPr id="21" name="Text 19"/>
          <p:cNvSpPr txBox="1"/>
          <p:nvPr/>
        </p:nvSpPr>
        <p:spPr>
          <a:xfrm>
            <a:off x="6388456" y="29817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internus (L) (internus): </a:t>
            </a:r>
            <a:r>
              <a:rPr lang="en-US" sz="1500" dirty="0">
                <a:solidFill>
                  <a:srgbClr val="1F2937"/>
                </a:solidFill>
                <a:latin typeface="Calibri" pitchFamily="34" charset="0"/>
                <a:ea typeface="Calibri" pitchFamily="34" charset="-122"/>
                <a:cs typeface="Calibri" pitchFamily="34" charset="-120"/>
              </a:rPr>
              <a:t>İç</a:t>
            </a:r>
            <a:endParaRPr lang="en-US" sz="1500" dirty="0"/>
          </a:p>
        </p:txBody>
      </p:sp>
      <p:sp>
        <p:nvSpPr>
          <p:cNvPr id="22" name="Shape 20"/>
          <p:cNvSpPr/>
          <p:nvPr/>
        </p:nvSpPr>
        <p:spPr>
          <a:xfrm>
            <a:off x="6233008" y="3451860"/>
            <a:ext cx="5410048" cy="451866"/>
          </a:xfrm>
          <a:prstGeom prst="roundRect">
            <a:avLst>
              <a:gd name="adj" fmla="val 14165"/>
            </a:avLst>
          </a:prstGeom>
          <a:solidFill>
            <a:srgbClr val="E7F2F9"/>
          </a:solidFill>
          <a:ln/>
        </p:spPr>
      </p:sp>
      <p:sp>
        <p:nvSpPr>
          <p:cNvPr id="23" name="Text 21"/>
          <p:cNvSpPr txBox="1"/>
          <p:nvPr/>
        </p:nvSpPr>
        <p:spPr>
          <a:xfrm>
            <a:off x="6388456"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superficialis (L) (superfisyal): </a:t>
            </a:r>
            <a:r>
              <a:rPr lang="en-US" sz="1500" dirty="0">
                <a:solidFill>
                  <a:srgbClr val="1F2937"/>
                </a:solidFill>
                <a:latin typeface="Calibri" pitchFamily="34" charset="0"/>
                <a:ea typeface="Calibri" pitchFamily="34" charset="-122"/>
                <a:cs typeface="Calibri" pitchFamily="34" charset="-120"/>
              </a:rPr>
              <a:t>Yüzeyel, yüzeysel</a:t>
            </a:r>
            <a:endParaRPr lang="en-US" sz="1500" dirty="0"/>
          </a:p>
        </p:txBody>
      </p:sp>
      <p:sp>
        <p:nvSpPr>
          <p:cNvPr id="24" name="Shape 22"/>
          <p:cNvSpPr/>
          <p:nvPr/>
        </p:nvSpPr>
        <p:spPr>
          <a:xfrm>
            <a:off x="6233008" y="3995166"/>
            <a:ext cx="5410048" cy="451866"/>
          </a:xfrm>
          <a:prstGeom prst="roundRect">
            <a:avLst>
              <a:gd name="adj" fmla="val 14165"/>
            </a:avLst>
          </a:prstGeom>
          <a:solidFill>
            <a:srgbClr val="E7F2F9"/>
          </a:solidFill>
          <a:ln/>
        </p:spPr>
      </p:sp>
      <p:sp>
        <p:nvSpPr>
          <p:cNvPr id="25" name="Text 23"/>
          <p:cNvSpPr txBox="1"/>
          <p:nvPr/>
        </p:nvSpPr>
        <p:spPr>
          <a:xfrm>
            <a:off x="6388456"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profundus (L) (profundus): </a:t>
            </a:r>
            <a:r>
              <a:rPr lang="en-US" sz="1500" dirty="0">
                <a:solidFill>
                  <a:srgbClr val="1F2937"/>
                </a:solidFill>
                <a:latin typeface="Calibri" pitchFamily="34" charset="0"/>
                <a:ea typeface="Calibri" pitchFamily="34" charset="-122"/>
                <a:cs typeface="Calibri" pitchFamily="34" charset="-120"/>
              </a:rPr>
              <a:t>Derin, derinde olan</a:t>
            </a:r>
            <a:endParaRPr lang="en-US" sz="1500" dirty="0"/>
          </a:p>
        </p:txBody>
      </p:sp>
      <p:sp>
        <p:nvSpPr>
          <p:cNvPr id="26" name="Shape 24"/>
          <p:cNvSpPr/>
          <p:nvPr/>
        </p:nvSpPr>
        <p:spPr>
          <a:xfrm>
            <a:off x="6233008" y="4538472"/>
            <a:ext cx="5410048" cy="451866"/>
          </a:xfrm>
          <a:prstGeom prst="roundRect">
            <a:avLst>
              <a:gd name="adj" fmla="val 14165"/>
            </a:avLst>
          </a:prstGeom>
          <a:solidFill>
            <a:srgbClr val="E7F2F9"/>
          </a:solidFill>
          <a:ln/>
        </p:spPr>
      </p:sp>
      <p:sp>
        <p:nvSpPr>
          <p:cNvPr id="27" name="Text 25"/>
          <p:cNvSpPr txBox="1"/>
          <p:nvPr/>
        </p:nvSpPr>
        <p:spPr>
          <a:xfrm>
            <a:off x="6388456"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anterior (L) (anteriyor): </a:t>
            </a:r>
            <a:r>
              <a:rPr lang="en-US" sz="1500" dirty="0">
                <a:solidFill>
                  <a:srgbClr val="1F2937"/>
                </a:solidFill>
                <a:latin typeface="Calibri" pitchFamily="34" charset="0"/>
                <a:ea typeface="Calibri" pitchFamily="34" charset="-122"/>
                <a:cs typeface="Calibri" pitchFamily="34" charset="-120"/>
              </a:rPr>
              <a:t>Ön</a:t>
            </a:r>
            <a:endParaRPr lang="en-US" sz="1500" dirty="0"/>
          </a:p>
        </p:txBody>
      </p:sp>
      <p:sp>
        <p:nvSpPr>
          <p:cNvPr id="28" name="Shape 26"/>
          <p:cNvSpPr/>
          <p:nvPr/>
        </p:nvSpPr>
        <p:spPr>
          <a:xfrm>
            <a:off x="6233008" y="5081778"/>
            <a:ext cx="5410048" cy="451866"/>
          </a:xfrm>
          <a:prstGeom prst="roundRect">
            <a:avLst>
              <a:gd name="adj" fmla="val 14165"/>
            </a:avLst>
          </a:prstGeom>
          <a:solidFill>
            <a:srgbClr val="E7F2F9"/>
          </a:solidFill>
          <a:ln/>
        </p:spPr>
      </p:sp>
      <p:sp>
        <p:nvSpPr>
          <p:cNvPr id="29" name="Text 27"/>
          <p:cNvSpPr txBox="1"/>
          <p:nvPr/>
        </p:nvSpPr>
        <p:spPr>
          <a:xfrm>
            <a:off x="6388456"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posterior (L) (posteriyor): </a:t>
            </a:r>
            <a:r>
              <a:rPr lang="en-US" sz="1500" dirty="0">
                <a:solidFill>
                  <a:srgbClr val="1F2937"/>
                </a:solidFill>
                <a:latin typeface="Calibri" pitchFamily="34" charset="0"/>
                <a:ea typeface="Calibri" pitchFamily="34" charset="-122"/>
                <a:cs typeface="Calibri" pitchFamily="34" charset="-120"/>
              </a:rPr>
              <a:t>Arka</a:t>
            </a:r>
            <a:endParaRPr lang="en-US" sz="15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3.f. Yön Belirten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151</a:t>
            </a:r>
            <a:endParaRPr lang="en-US" sz="1000" dirty="0"/>
          </a:p>
        </p:txBody>
      </p:sp>
      <p:sp>
        <p:nvSpPr>
          <p:cNvPr id="6" name="Shape 4"/>
          <p:cNvSpPr/>
          <p:nvPr/>
        </p:nvSpPr>
        <p:spPr>
          <a:xfrm>
            <a:off x="548640" y="1798320"/>
            <a:ext cx="5410048" cy="368808"/>
          </a:xfrm>
          <a:prstGeom prst="roundRect">
            <a:avLst>
              <a:gd name="adj" fmla="val 17355"/>
            </a:avLst>
          </a:prstGeom>
          <a:solidFill>
            <a:srgbClr val="E7F2F9"/>
          </a:solidFill>
          <a:ln/>
        </p:spPr>
      </p:sp>
      <p:sp>
        <p:nvSpPr>
          <p:cNvPr id="7" name="Text 5"/>
          <p:cNvSpPr txBox="1"/>
          <p:nvPr/>
        </p:nvSpPr>
        <p:spPr>
          <a:xfrm>
            <a:off x="704088" y="1871472"/>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dexter (L) (dekster): </a:t>
            </a:r>
            <a:r>
              <a:rPr lang="en-US" sz="1200" dirty="0">
                <a:solidFill>
                  <a:srgbClr val="1F2937"/>
                </a:solidFill>
                <a:latin typeface="Calibri" pitchFamily="34" charset="0"/>
                <a:ea typeface="Calibri" pitchFamily="34" charset="-122"/>
                <a:cs typeface="Calibri" pitchFamily="34" charset="-120"/>
              </a:rPr>
              <a:t>Sağ</a:t>
            </a:r>
            <a:endParaRPr lang="en-US" sz="1200" dirty="0"/>
          </a:p>
        </p:txBody>
      </p:sp>
      <p:sp>
        <p:nvSpPr>
          <p:cNvPr id="8" name="Shape 6"/>
          <p:cNvSpPr/>
          <p:nvPr/>
        </p:nvSpPr>
        <p:spPr>
          <a:xfrm>
            <a:off x="548640" y="2258568"/>
            <a:ext cx="5410048" cy="368808"/>
          </a:xfrm>
          <a:prstGeom prst="roundRect">
            <a:avLst>
              <a:gd name="adj" fmla="val 17355"/>
            </a:avLst>
          </a:prstGeom>
          <a:solidFill>
            <a:srgbClr val="E7F2F9"/>
          </a:solidFill>
          <a:ln/>
        </p:spPr>
      </p:sp>
      <p:sp>
        <p:nvSpPr>
          <p:cNvPr id="9" name="Text 7"/>
          <p:cNvSpPr txBox="1"/>
          <p:nvPr/>
        </p:nvSpPr>
        <p:spPr>
          <a:xfrm>
            <a:off x="704088" y="233172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sinister (L) (sinister): </a:t>
            </a:r>
            <a:r>
              <a:rPr lang="en-US" sz="1200" dirty="0">
                <a:solidFill>
                  <a:srgbClr val="1F2937"/>
                </a:solidFill>
                <a:latin typeface="Calibri" pitchFamily="34" charset="0"/>
                <a:ea typeface="Calibri" pitchFamily="34" charset="-122"/>
                <a:cs typeface="Calibri" pitchFamily="34" charset="-120"/>
              </a:rPr>
              <a:t>Sol</a:t>
            </a:r>
            <a:endParaRPr lang="en-US" sz="1200" dirty="0"/>
          </a:p>
        </p:txBody>
      </p:sp>
      <p:sp>
        <p:nvSpPr>
          <p:cNvPr id="10" name="Shape 8"/>
          <p:cNvSpPr/>
          <p:nvPr/>
        </p:nvSpPr>
        <p:spPr>
          <a:xfrm>
            <a:off x="548640" y="2718816"/>
            <a:ext cx="5410048" cy="368808"/>
          </a:xfrm>
          <a:prstGeom prst="roundRect">
            <a:avLst>
              <a:gd name="adj" fmla="val 17355"/>
            </a:avLst>
          </a:prstGeom>
          <a:solidFill>
            <a:srgbClr val="E7F2F9"/>
          </a:solidFill>
          <a:ln/>
        </p:spPr>
      </p:sp>
      <p:sp>
        <p:nvSpPr>
          <p:cNvPr id="11" name="Text 9"/>
          <p:cNvSpPr txBox="1"/>
          <p:nvPr/>
        </p:nvSpPr>
        <p:spPr>
          <a:xfrm>
            <a:off x="704088" y="279196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proximalis (L) (proksimal): </a:t>
            </a:r>
            <a:r>
              <a:rPr lang="en-US" sz="1200" dirty="0">
                <a:solidFill>
                  <a:srgbClr val="1F2937"/>
                </a:solidFill>
                <a:latin typeface="Calibri" pitchFamily="34" charset="0"/>
                <a:ea typeface="Calibri" pitchFamily="34" charset="-122"/>
                <a:cs typeface="Calibri" pitchFamily="34" charset="-120"/>
              </a:rPr>
              <a:t>Gövdeye yakın</a:t>
            </a:r>
            <a:endParaRPr lang="en-US" sz="1200" dirty="0"/>
          </a:p>
        </p:txBody>
      </p:sp>
      <p:sp>
        <p:nvSpPr>
          <p:cNvPr id="12" name="Shape 10"/>
          <p:cNvSpPr/>
          <p:nvPr/>
        </p:nvSpPr>
        <p:spPr>
          <a:xfrm>
            <a:off x="548640" y="3179064"/>
            <a:ext cx="5410048" cy="368808"/>
          </a:xfrm>
          <a:prstGeom prst="roundRect">
            <a:avLst>
              <a:gd name="adj" fmla="val 17355"/>
            </a:avLst>
          </a:prstGeom>
          <a:solidFill>
            <a:srgbClr val="E7F2F9"/>
          </a:solidFill>
          <a:ln/>
        </p:spPr>
      </p:sp>
      <p:sp>
        <p:nvSpPr>
          <p:cNvPr id="13" name="Text 11"/>
          <p:cNvSpPr txBox="1"/>
          <p:nvPr/>
        </p:nvSpPr>
        <p:spPr>
          <a:xfrm>
            <a:off x="704088" y="325221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distalis (L) (distal): </a:t>
            </a:r>
            <a:r>
              <a:rPr lang="en-US" sz="1200" dirty="0">
                <a:solidFill>
                  <a:srgbClr val="1F2937"/>
                </a:solidFill>
                <a:latin typeface="Calibri" pitchFamily="34" charset="0"/>
                <a:ea typeface="Calibri" pitchFamily="34" charset="-122"/>
                <a:cs typeface="Calibri" pitchFamily="34" charset="-120"/>
              </a:rPr>
              <a:t>Uzakta olan, gövdeden uzakta olan</a:t>
            </a:r>
            <a:endParaRPr lang="en-US" sz="1200" dirty="0"/>
          </a:p>
        </p:txBody>
      </p:sp>
      <p:sp>
        <p:nvSpPr>
          <p:cNvPr id="14" name="Shape 12"/>
          <p:cNvSpPr/>
          <p:nvPr/>
        </p:nvSpPr>
        <p:spPr>
          <a:xfrm>
            <a:off x="548640" y="3639312"/>
            <a:ext cx="5410048" cy="368808"/>
          </a:xfrm>
          <a:prstGeom prst="roundRect">
            <a:avLst>
              <a:gd name="adj" fmla="val 17355"/>
            </a:avLst>
          </a:prstGeom>
          <a:solidFill>
            <a:srgbClr val="E7F2F9"/>
          </a:solidFill>
          <a:ln/>
        </p:spPr>
      </p:sp>
      <p:sp>
        <p:nvSpPr>
          <p:cNvPr id="15" name="Text 13"/>
          <p:cNvSpPr txBox="1"/>
          <p:nvPr/>
        </p:nvSpPr>
        <p:spPr>
          <a:xfrm>
            <a:off x="704088" y="371246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verticalis (L) (vertikal): </a:t>
            </a:r>
            <a:r>
              <a:rPr lang="en-US" sz="1200" dirty="0">
                <a:solidFill>
                  <a:srgbClr val="1F2937"/>
                </a:solidFill>
                <a:latin typeface="Calibri" pitchFamily="34" charset="0"/>
                <a:ea typeface="Calibri" pitchFamily="34" charset="-122"/>
                <a:cs typeface="Calibri" pitchFamily="34" charset="-120"/>
              </a:rPr>
              <a:t>Dikey, dikine, yere dik olan, vertikal</a:t>
            </a:r>
            <a:endParaRPr lang="en-US" sz="1200" dirty="0"/>
          </a:p>
        </p:txBody>
      </p:sp>
      <p:sp>
        <p:nvSpPr>
          <p:cNvPr id="16" name="Shape 14"/>
          <p:cNvSpPr/>
          <p:nvPr/>
        </p:nvSpPr>
        <p:spPr>
          <a:xfrm>
            <a:off x="548640" y="4099560"/>
            <a:ext cx="5410048" cy="554736"/>
          </a:xfrm>
          <a:prstGeom prst="roundRect">
            <a:avLst>
              <a:gd name="adj" fmla="val 11538"/>
            </a:avLst>
          </a:prstGeom>
          <a:solidFill>
            <a:srgbClr val="E7F2F9"/>
          </a:solidFill>
          <a:ln/>
        </p:spPr>
      </p:sp>
      <p:sp>
        <p:nvSpPr>
          <p:cNvPr id="17" name="Text 15"/>
          <p:cNvSpPr txBox="1"/>
          <p:nvPr/>
        </p:nvSpPr>
        <p:spPr>
          <a:xfrm>
            <a:off x="704088" y="4172712"/>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horizontalis (L) (horizontal): </a:t>
            </a:r>
            <a:r>
              <a:rPr lang="en-US" sz="1200" dirty="0">
                <a:solidFill>
                  <a:srgbClr val="1F2937"/>
                </a:solidFill>
                <a:latin typeface="Calibri" pitchFamily="34" charset="0"/>
                <a:ea typeface="Calibri" pitchFamily="34" charset="-122"/>
                <a:cs typeface="Calibri" pitchFamily="34" charset="-120"/>
              </a:rPr>
              <a:t>Yatay, yere paralel olarak uzanan, horizontal</a:t>
            </a:r>
            <a:endParaRPr lang="en-US" sz="1200" dirty="0"/>
          </a:p>
        </p:txBody>
      </p:sp>
      <p:sp>
        <p:nvSpPr>
          <p:cNvPr id="18" name="Shape 16"/>
          <p:cNvSpPr/>
          <p:nvPr/>
        </p:nvSpPr>
        <p:spPr>
          <a:xfrm>
            <a:off x="548640" y="4745736"/>
            <a:ext cx="5410048" cy="554736"/>
          </a:xfrm>
          <a:prstGeom prst="roundRect">
            <a:avLst>
              <a:gd name="adj" fmla="val 11538"/>
            </a:avLst>
          </a:prstGeom>
          <a:solidFill>
            <a:srgbClr val="E7F2F9"/>
          </a:solidFill>
          <a:ln/>
        </p:spPr>
      </p:sp>
      <p:sp>
        <p:nvSpPr>
          <p:cNvPr id="19" name="Text 17"/>
          <p:cNvSpPr txBox="1"/>
          <p:nvPr/>
        </p:nvSpPr>
        <p:spPr>
          <a:xfrm>
            <a:off x="704088" y="4818888"/>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sagittalis (L) (sajittal): </a:t>
            </a:r>
            <a:r>
              <a:rPr lang="en-US" sz="1200" dirty="0">
                <a:solidFill>
                  <a:srgbClr val="1F2937"/>
                </a:solidFill>
                <a:latin typeface="Calibri" pitchFamily="34" charset="0"/>
                <a:ea typeface="Calibri" pitchFamily="34" charset="-122"/>
                <a:cs typeface="Calibri" pitchFamily="34" charset="-120"/>
              </a:rPr>
              <a:t>Sajital, ok yönünde, oksal, önden arkaya uzanan</a:t>
            </a:r>
            <a:endParaRPr lang="en-US" sz="1200" dirty="0"/>
          </a:p>
        </p:txBody>
      </p:sp>
      <p:sp>
        <p:nvSpPr>
          <p:cNvPr id="20" name="Shape 18"/>
          <p:cNvSpPr/>
          <p:nvPr/>
        </p:nvSpPr>
        <p:spPr>
          <a:xfrm>
            <a:off x="548640" y="5391912"/>
            <a:ext cx="5410048" cy="368808"/>
          </a:xfrm>
          <a:prstGeom prst="roundRect">
            <a:avLst>
              <a:gd name="adj" fmla="val 17355"/>
            </a:avLst>
          </a:prstGeom>
          <a:solidFill>
            <a:srgbClr val="E7F2F9"/>
          </a:solidFill>
          <a:ln/>
        </p:spPr>
      </p:sp>
      <p:sp>
        <p:nvSpPr>
          <p:cNvPr id="21" name="Text 19"/>
          <p:cNvSpPr txBox="1"/>
          <p:nvPr/>
        </p:nvSpPr>
        <p:spPr>
          <a:xfrm>
            <a:off x="704088" y="546506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longitudinalis (L) (lonjitudinal): </a:t>
            </a:r>
            <a:r>
              <a:rPr lang="en-US" sz="1200" dirty="0">
                <a:solidFill>
                  <a:srgbClr val="1F2937"/>
                </a:solidFill>
                <a:latin typeface="Calibri" pitchFamily="34" charset="0"/>
                <a:ea typeface="Calibri" pitchFamily="34" charset="-122"/>
                <a:cs typeface="Calibri" pitchFamily="34" charset="-120"/>
              </a:rPr>
              <a:t>Boyuna uzanan, longitudinal</a:t>
            </a:r>
            <a:endParaRPr lang="en-US" sz="1200" dirty="0"/>
          </a:p>
        </p:txBody>
      </p:sp>
      <p:sp>
        <p:nvSpPr>
          <p:cNvPr id="22" name="Shape 20"/>
          <p:cNvSpPr/>
          <p:nvPr/>
        </p:nvSpPr>
        <p:spPr>
          <a:xfrm>
            <a:off x="548640" y="5852160"/>
            <a:ext cx="5410048" cy="368808"/>
          </a:xfrm>
          <a:prstGeom prst="roundRect">
            <a:avLst>
              <a:gd name="adj" fmla="val 17355"/>
            </a:avLst>
          </a:prstGeom>
          <a:solidFill>
            <a:srgbClr val="E7F2F9"/>
          </a:solidFill>
          <a:ln/>
        </p:spPr>
      </p:sp>
      <p:sp>
        <p:nvSpPr>
          <p:cNvPr id="23" name="Text 21"/>
          <p:cNvSpPr txBox="1"/>
          <p:nvPr/>
        </p:nvSpPr>
        <p:spPr>
          <a:xfrm>
            <a:off x="704088" y="5925312"/>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transversus (L) (transvers): </a:t>
            </a:r>
            <a:r>
              <a:rPr lang="en-US" sz="1200" dirty="0">
                <a:solidFill>
                  <a:srgbClr val="1F2937"/>
                </a:solidFill>
                <a:latin typeface="Calibri" pitchFamily="34" charset="0"/>
                <a:ea typeface="Calibri" pitchFamily="34" charset="-122"/>
                <a:cs typeface="Calibri" pitchFamily="34" charset="-120"/>
              </a:rPr>
              <a:t>Enine uzanan</a:t>
            </a:r>
            <a:endParaRPr lang="en-US" sz="1200" dirty="0"/>
          </a:p>
        </p:txBody>
      </p:sp>
      <p:sp>
        <p:nvSpPr>
          <p:cNvPr id="24" name="Shape 22"/>
          <p:cNvSpPr/>
          <p:nvPr/>
        </p:nvSpPr>
        <p:spPr>
          <a:xfrm>
            <a:off x="6233008" y="1798320"/>
            <a:ext cx="5410048" cy="368808"/>
          </a:xfrm>
          <a:prstGeom prst="roundRect">
            <a:avLst>
              <a:gd name="adj" fmla="val 17355"/>
            </a:avLst>
          </a:prstGeom>
          <a:solidFill>
            <a:srgbClr val="E7F2F9"/>
          </a:solidFill>
          <a:ln/>
        </p:spPr>
      </p:sp>
      <p:sp>
        <p:nvSpPr>
          <p:cNvPr id="25" name="Text 23"/>
          <p:cNvSpPr txBox="1"/>
          <p:nvPr/>
        </p:nvSpPr>
        <p:spPr>
          <a:xfrm>
            <a:off x="6388456" y="1871472"/>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axialis (L) (aksiyal): </a:t>
            </a:r>
            <a:r>
              <a:rPr lang="en-US" sz="1200" dirty="0">
                <a:solidFill>
                  <a:srgbClr val="1F2937"/>
                </a:solidFill>
                <a:latin typeface="Calibri" pitchFamily="34" charset="0"/>
                <a:ea typeface="Calibri" pitchFamily="34" charset="-122"/>
                <a:cs typeface="Calibri" pitchFamily="34" charset="-120"/>
              </a:rPr>
              <a:t>Aksiyal, eksenle ilgili</a:t>
            </a:r>
            <a:endParaRPr lang="en-US" sz="1200" dirty="0"/>
          </a:p>
        </p:txBody>
      </p:sp>
      <p:sp>
        <p:nvSpPr>
          <p:cNvPr id="26" name="Shape 24"/>
          <p:cNvSpPr/>
          <p:nvPr/>
        </p:nvSpPr>
        <p:spPr>
          <a:xfrm>
            <a:off x="6233008" y="2258568"/>
            <a:ext cx="5410048" cy="368808"/>
          </a:xfrm>
          <a:prstGeom prst="roundRect">
            <a:avLst>
              <a:gd name="adj" fmla="val 17355"/>
            </a:avLst>
          </a:prstGeom>
          <a:solidFill>
            <a:srgbClr val="E7F2F9"/>
          </a:solidFill>
          <a:ln/>
        </p:spPr>
      </p:sp>
      <p:sp>
        <p:nvSpPr>
          <p:cNvPr id="27" name="Text 25"/>
          <p:cNvSpPr txBox="1"/>
          <p:nvPr/>
        </p:nvSpPr>
        <p:spPr>
          <a:xfrm>
            <a:off x="6388456" y="233172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centralis (L) (sentral): </a:t>
            </a:r>
            <a:r>
              <a:rPr lang="en-US" sz="1200" dirty="0">
                <a:solidFill>
                  <a:srgbClr val="1F2937"/>
                </a:solidFill>
                <a:latin typeface="Calibri" pitchFamily="34" charset="0"/>
                <a:ea typeface="Calibri" pitchFamily="34" charset="-122"/>
                <a:cs typeface="Calibri" pitchFamily="34" charset="-120"/>
              </a:rPr>
              <a:t>Merkezde, merkezde olan, sentral</a:t>
            </a:r>
            <a:endParaRPr lang="en-US" sz="1200" dirty="0"/>
          </a:p>
        </p:txBody>
      </p:sp>
      <p:sp>
        <p:nvSpPr>
          <p:cNvPr id="28" name="Shape 26"/>
          <p:cNvSpPr/>
          <p:nvPr/>
        </p:nvSpPr>
        <p:spPr>
          <a:xfrm>
            <a:off x="6233008" y="2718816"/>
            <a:ext cx="5410048" cy="368808"/>
          </a:xfrm>
          <a:prstGeom prst="roundRect">
            <a:avLst>
              <a:gd name="adj" fmla="val 17355"/>
            </a:avLst>
          </a:prstGeom>
          <a:solidFill>
            <a:srgbClr val="E7F2F9"/>
          </a:solidFill>
          <a:ln/>
        </p:spPr>
      </p:sp>
      <p:sp>
        <p:nvSpPr>
          <p:cNvPr id="29" name="Text 27"/>
          <p:cNvSpPr txBox="1"/>
          <p:nvPr/>
        </p:nvSpPr>
        <p:spPr>
          <a:xfrm>
            <a:off x="6388456" y="279196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peripheralis (G) (periferal): </a:t>
            </a:r>
            <a:r>
              <a:rPr lang="en-US" sz="1200" dirty="0">
                <a:solidFill>
                  <a:srgbClr val="1F2937"/>
                </a:solidFill>
                <a:latin typeface="Calibri" pitchFamily="34" charset="0"/>
                <a:ea typeface="Calibri" pitchFamily="34" charset="-122"/>
                <a:cs typeface="Calibri" pitchFamily="34" charset="-120"/>
              </a:rPr>
              <a:t>Periferal, çevrede, çevresel olan</a:t>
            </a:r>
            <a:endParaRPr lang="en-US" sz="1200" dirty="0"/>
          </a:p>
        </p:txBody>
      </p:sp>
      <p:sp>
        <p:nvSpPr>
          <p:cNvPr id="30" name="Shape 28"/>
          <p:cNvSpPr/>
          <p:nvPr/>
        </p:nvSpPr>
        <p:spPr>
          <a:xfrm>
            <a:off x="6233008" y="3179064"/>
            <a:ext cx="5410048" cy="368808"/>
          </a:xfrm>
          <a:prstGeom prst="roundRect">
            <a:avLst>
              <a:gd name="adj" fmla="val 17355"/>
            </a:avLst>
          </a:prstGeom>
          <a:solidFill>
            <a:srgbClr val="E7F2F9"/>
          </a:solidFill>
          <a:ln/>
        </p:spPr>
      </p:sp>
      <p:sp>
        <p:nvSpPr>
          <p:cNvPr id="31" name="Text 29"/>
          <p:cNvSpPr txBox="1"/>
          <p:nvPr/>
        </p:nvSpPr>
        <p:spPr>
          <a:xfrm>
            <a:off x="6388456" y="325221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oblique (İ) (oblik): </a:t>
            </a:r>
            <a:r>
              <a:rPr lang="en-US" sz="1200" dirty="0">
                <a:solidFill>
                  <a:srgbClr val="1F2937"/>
                </a:solidFill>
                <a:latin typeface="Calibri" pitchFamily="34" charset="0"/>
                <a:ea typeface="Calibri" pitchFamily="34" charset="-122"/>
                <a:cs typeface="Calibri" pitchFamily="34" charset="-120"/>
              </a:rPr>
              <a:t>Eğik</a:t>
            </a:r>
            <a:endParaRPr lang="en-US" sz="1200" dirty="0"/>
          </a:p>
        </p:txBody>
      </p:sp>
      <p:sp>
        <p:nvSpPr>
          <p:cNvPr id="32" name="Shape 30"/>
          <p:cNvSpPr/>
          <p:nvPr/>
        </p:nvSpPr>
        <p:spPr>
          <a:xfrm>
            <a:off x="6233008" y="3639312"/>
            <a:ext cx="5410048" cy="368808"/>
          </a:xfrm>
          <a:prstGeom prst="roundRect">
            <a:avLst>
              <a:gd name="adj" fmla="val 17355"/>
            </a:avLst>
          </a:prstGeom>
          <a:solidFill>
            <a:srgbClr val="E7F2F9"/>
          </a:solidFill>
          <a:ln/>
        </p:spPr>
      </p:sp>
      <p:sp>
        <p:nvSpPr>
          <p:cNvPr id="33" name="Text 31"/>
          <p:cNvSpPr txBox="1"/>
          <p:nvPr/>
        </p:nvSpPr>
        <p:spPr>
          <a:xfrm>
            <a:off x="6388456" y="371246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medius (L) (mediyus): </a:t>
            </a:r>
            <a:r>
              <a:rPr lang="en-US" sz="1200" dirty="0">
                <a:solidFill>
                  <a:srgbClr val="1F2937"/>
                </a:solidFill>
                <a:latin typeface="Calibri" pitchFamily="34" charset="0"/>
                <a:ea typeface="Calibri" pitchFamily="34" charset="-122"/>
                <a:cs typeface="Calibri" pitchFamily="34" charset="-120"/>
              </a:rPr>
              <a:t>Orta</a:t>
            </a:r>
            <a:endParaRPr lang="en-US" sz="1200" dirty="0"/>
          </a:p>
        </p:txBody>
      </p:sp>
      <p:sp>
        <p:nvSpPr>
          <p:cNvPr id="34" name="Shape 32"/>
          <p:cNvSpPr/>
          <p:nvPr/>
        </p:nvSpPr>
        <p:spPr>
          <a:xfrm>
            <a:off x="6233008" y="4099560"/>
            <a:ext cx="5410048" cy="368808"/>
          </a:xfrm>
          <a:prstGeom prst="roundRect">
            <a:avLst>
              <a:gd name="adj" fmla="val 17355"/>
            </a:avLst>
          </a:prstGeom>
          <a:solidFill>
            <a:srgbClr val="E7F2F9"/>
          </a:solidFill>
          <a:ln/>
        </p:spPr>
      </p:sp>
      <p:sp>
        <p:nvSpPr>
          <p:cNvPr id="35" name="Text 33"/>
          <p:cNvSpPr txBox="1"/>
          <p:nvPr/>
        </p:nvSpPr>
        <p:spPr>
          <a:xfrm>
            <a:off x="6388456" y="4172712"/>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intermedius (L) (intermediyus): </a:t>
            </a:r>
            <a:r>
              <a:rPr lang="en-US" sz="1200" dirty="0">
                <a:solidFill>
                  <a:srgbClr val="1F2937"/>
                </a:solidFill>
                <a:latin typeface="Calibri" pitchFamily="34" charset="0"/>
                <a:ea typeface="Calibri" pitchFamily="34" charset="-122"/>
                <a:cs typeface="Calibri" pitchFamily="34" charset="-120"/>
              </a:rPr>
              <a:t>Ortada, iki parça arasında</a:t>
            </a:r>
            <a:endParaRPr lang="en-US" sz="1200" dirty="0"/>
          </a:p>
        </p:txBody>
      </p:sp>
      <p:sp>
        <p:nvSpPr>
          <p:cNvPr id="36" name="Shape 34"/>
          <p:cNvSpPr/>
          <p:nvPr/>
        </p:nvSpPr>
        <p:spPr>
          <a:xfrm>
            <a:off x="6233008" y="4559808"/>
            <a:ext cx="5410048" cy="368808"/>
          </a:xfrm>
          <a:prstGeom prst="roundRect">
            <a:avLst>
              <a:gd name="adj" fmla="val 17355"/>
            </a:avLst>
          </a:prstGeom>
          <a:solidFill>
            <a:srgbClr val="E7F2F9"/>
          </a:solidFill>
          <a:ln/>
        </p:spPr>
      </p:sp>
      <p:sp>
        <p:nvSpPr>
          <p:cNvPr id="37" name="Text 35"/>
          <p:cNvSpPr txBox="1"/>
          <p:nvPr/>
        </p:nvSpPr>
        <p:spPr>
          <a:xfrm>
            <a:off x="6388456" y="463296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medialis (L) (mediyal): </a:t>
            </a:r>
            <a:r>
              <a:rPr lang="en-US" sz="1200" dirty="0">
                <a:solidFill>
                  <a:srgbClr val="1F2937"/>
                </a:solidFill>
                <a:latin typeface="Calibri" pitchFamily="34" charset="0"/>
                <a:ea typeface="Calibri" pitchFamily="34" charset="-122"/>
                <a:cs typeface="Calibri" pitchFamily="34" charset="-120"/>
              </a:rPr>
              <a:t>İç yan, orta çizgiye yakın</a:t>
            </a:r>
            <a:endParaRPr lang="en-US" sz="1200" dirty="0"/>
          </a:p>
        </p:txBody>
      </p:sp>
      <p:sp>
        <p:nvSpPr>
          <p:cNvPr id="38" name="Shape 36"/>
          <p:cNvSpPr/>
          <p:nvPr/>
        </p:nvSpPr>
        <p:spPr>
          <a:xfrm>
            <a:off x="6233008" y="5020056"/>
            <a:ext cx="5410048" cy="368808"/>
          </a:xfrm>
          <a:prstGeom prst="roundRect">
            <a:avLst>
              <a:gd name="adj" fmla="val 17355"/>
            </a:avLst>
          </a:prstGeom>
          <a:solidFill>
            <a:srgbClr val="E7F2F9"/>
          </a:solidFill>
          <a:ln/>
        </p:spPr>
      </p:sp>
      <p:sp>
        <p:nvSpPr>
          <p:cNvPr id="39" name="Text 37"/>
          <p:cNvSpPr txBox="1"/>
          <p:nvPr/>
        </p:nvSpPr>
        <p:spPr>
          <a:xfrm>
            <a:off x="6388456" y="5093208"/>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lateralis (L) (lateral): </a:t>
            </a:r>
            <a:r>
              <a:rPr lang="en-US" sz="1200" dirty="0">
                <a:solidFill>
                  <a:srgbClr val="1F2937"/>
                </a:solidFill>
                <a:latin typeface="Calibri" pitchFamily="34" charset="0"/>
                <a:ea typeface="Calibri" pitchFamily="34" charset="-122"/>
                <a:cs typeface="Calibri" pitchFamily="34" charset="-120"/>
              </a:rPr>
              <a:t>Dış yan, dış yana doğru</a:t>
            </a:r>
            <a:endParaRPr lang="en-US" sz="1200" dirty="0"/>
          </a:p>
        </p:txBody>
      </p:sp>
      <p:sp>
        <p:nvSpPr>
          <p:cNvPr id="40" name="Shape 38"/>
          <p:cNvSpPr/>
          <p:nvPr/>
        </p:nvSpPr>
        <p:spPr>
          <a:xfrm>
            <a:off x="6233008" y="5480304"/>
            <a:ext cx="5410048" cy="368808"/>
          </a:xfrm>
          <a:prstGeom prst="roundRect">
            <a:avLst>
              <a:gd name="adj" fmla="val 17355"/>
            </a:avLst>
          </a:prstGeom>
          <a:solidFill>
            <a:srgbClr val="E7F2F9"/>
          </a:solidFill>
          <a:ln/>
        </p:spPr>
      </p:sp>
      <p:sp>
        <p:nvSpPr>
          <p:cNvPr id="41" name="Text 39"/>
          <p:cNvSpPr txBox="1"/>
          <p:nvPr/>
        </p:nvSpPr>
        <p:spPr>
          <a:xfrm>
            <a:off x="6388456" y="5553456"/>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ventralis (L) (ventral): </a:t>
            </a:r>
            <a:r>
              <a:rPr lang="en-US" sz="1200" dirty="0">
                <a:solidFill>
                  <a:srgbClr val="1F2937"/>
                </a:solidFill>
                <a:latin typeface="Calibri" pitchFamily="34" charset="0"/>
                <a:ea typeface="Calibri" pitchFamily="34" charset="-122"/>
                <a:cs typeface="Calibri" pitchFamily="34" charset="-120"/>
              </a:rPr>
              <a:t>Karına ait, karına doğru</a:t>
            </a:r>
            <a:endParaRPr lang="en-US" sz="1200" dirty="0"/>
          </a:p>
        </p:txBody>
      </p:sp>
      <p:sp>
        <p:nvSpPr>
          <p:cNvPr id="42" name="Shape 40"/>
          <p:cNvSpPr/>
          <p:nvPr/>
        </p:nvSpPr>
        <p:spPr>
          <a:xfrm>
            <a:off x="6233008" y="5940552"/>
            <a:ext cx="5410048" cy="368808"/>
          </a:xfrm>
          <a:prstGeom prst="roundRect">
            <a:avLst>
              <a:gd name="adj" fmla="val 17355"/>
            </a:avLst>
          </a:prstGeom>
          <a:solidFill>
            <a:srgbClr val="E7F2F9"/>
          </a:solidFill>
          <a:ln/>
        </p:spPr>
      </p:sp>
      <p:sp>
        <p:nvSpPr>
          <p:cNvPr id="43" name="Text 41"/>
          <p:cNvSpPr txBox="1"/>
          <p:nvPr/>
        </p:nvSpPr>
        <p:spPr>
          <a:xfrm>
            <a:off x="6388456" y="601370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0369A1"/>
                </a:solidFill>
                <a:latin typeface="Calibri" pitchFamily="34" charset="0"/>
                <a:ea typeface="Calibri" pitchFamily="34" charset="-122"/>
                <a:cs typeface="Calibri" pitchFamily="34" charset="-120"/>
              </a:rPr>
              <a:t>dorsalis (L) (dorsal): </a:t>
            </a:r>
            <a:r>
              <a:rPr lang="en-US" sz="1200" dirty="0">
                <a:solidFill>
                  <a:srgbClr val="1F2937"/>
                </a:solidFill>
                <a:latin typeface="Calibri" pitchFamily="34" charset="0"/>
                <a:ea typeface="Calibri" pitchFamily="34" charset="-122"/>
                <a:cs typeface="Calibri" pitchFamily="34" charset="-120"/>
              </a:rPr>
              <a:t>Sırta ait, sırtla ilgili</a:t>
            </a:r>
            <a:endParaRPr lang="en-US" sz="1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Shape 0"/>
          <p:cNvSpPr/>
          <p:nvPr/>
        </p:nvSpPr>
        <p:spPr>
          <a:xfrm>
            <a:off x="548640" y="384048"/>
            <a:ext cx="4041648" cy="310896"/>
          </a:xfrm>
          <a:prstGeom prst="roundRect">
            <a:avLst>
              <a:gd name="adj" fmla="val 50000"/>
            </a:avLst>
          </a:prstGeom>
          <a:solidFill>
            <a:srgbClr val="E7F2F9"/>
          </a:solidFill>
          <a:ln/>
        </p:spPr>
      </p:sp>
      <p:sp>
        <p:nvSpPr>
          <p:cNvPr id="3" name="Text 1"/>
          <p:cNvSpPr txBox="1"/>
          <p:nvPr/>
        </p:nvSpPr>
        <p:spPr>
          <a:xfrm>
            <a:off x="694944" y="384048"/>
            <a:ext cx="376732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Genel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152</a:t>
            </a:r>
            <a:endParaRPr lang="en-US" sz="1000" dirty="0"/>
          </a:p>
        </p:txBody>
      </p:sp>
      <p:sp>
        <p:nvSpPr>
          <p:cNvPr id="6" name="Shape 4"/>
          <p:cNvSpPr/>
          <p:nvPr/>
        </p:nvSpPr>
        <p:spPr>
          <a:xfrm>
            <a:off x="548640" y="1746504"/>
            <a:ext cx="5410048" cy="451866"/>
          </a:xfrm>
          <a:prstGeom prst="roundRect">
            <a:avLst>
              <a:gd name="adj" fmla="val 14165"/>
            </a:avLst>
          </a:prstGeom>
          <a:solidFill>
            <a:srgbClr val="E7F2F9"/>
          </a:solidFill>
          <a:ln/>
        </p:spPr>
      </p:sp>
      <p:sp>
        <p:nvSpPr>
          <p:cNvPr id="7" name="Text 5"/>
          <p:cNvSpPr txBox="1"/>
          <p:nvPr/>
        </p:nvSpPr>
        <p:spPr>
          <a:xfrm>
            <a:off x="704088" y="181965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symptom (L) (semptom): </a:t>
            </a:r>
            <a:r>
              <a:rPr lang="en-US" sz="1500" dirty="0">
                <a:solidFill>
                  <a:srgbClr val="1F2937"/>
                </a:solidFill>
                <a:latin typeface="Calibri" pitchFamily="34" charset="0"/>
                <a:ea typeface="Calibri" pitchFamily="34" charset="-122"/>
                <a:cs typeface="Calibri" pitchFamily="34" charset="-120"/>
              </a:rPr>
              <a:t>Hastalık belirtileri</a:t>
            </a:r>
            <a:endParaRPr lang="en-US" sz="1500" dirty="0"/>
          </a:p>
        </p:txBody>
      </p:sp>
      <p:sp>
        <p:nvSpPr>
          <p:cNvPr id="8" name="Shape 6"/>
          <p:cNvSpPr/>
          <p:nvPr/>
        </p:nvSpPr>
        <p:spPr>
          <a:xfrm>
            <a:off x="548640" y="2289810"/>
            <a:ext cx="5410048" cy="684276"/>
          </a:xfrm>
          <a:prstGeom prst="roundRect">
            <a:avLst>
              <a:gd name="adj" fmla="val 9354"/>
            </a:avLst>
          </a:prstGeom>
          <a:solidFill>
            <a:srgbClr val="E7F2F9"/>
          </a:solidFill>
          <a:ln/>
        </p:spPr>
      </p:sp>
      <p:sp>
        <p:nvSpPr>
          <p:cNvPr id="9" name="Text 7"/>
          <p:cNvSpPr txBox="1"/>
          <p:nvPr/>
        </p:nvSpPr>
        <p:spPr>
          <a:xfrm>
            <a:off x="704088" y="236296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anamnesis (G) (anamnez): </a:t>
            </a:r>
            <a:r>
              <a:rPr lang="en-US" sz="1500" dirty="0">
                <a:solidFill>
                  <a:srgbClr val="1F2937"/>
                </a:solidFill>
                <a:latin typeface="Calibri" pitchFamily="34" charset="0"/>
                <a:ea typeface="Calibri" pitchFamily="34" charset="-122"/>
                <a:cs typeface="Calibri" pitchFamily="34" charset="-120"/>
              </a:rPr>
              <a:t>Öykü alma, hastadan hastalığı ve kendi hakkında bilgi alma</a:t>
            </a:r>
            <a:endParaRPr lang="en-US" sz="1500" dirty="0"/>
          </a:p>
        </p:txBody>
      </p:sp>
      <p:sp>
        <p:nvSpPr>
          <p:cNvPr id="10" name="Shape 8"/>
          <p:cNvSpPr/>
          <p:nvPr/>
        </p:nvSpPr>
        <p:spPr>
          <a:xfrm>
            <a:off x="548640" y="3065526"/>
            <a:ext cx="5410048" cy="684276"/>
          </a:xfrm>
          <a:prstGeom prst="roundRect">
            <a:avLst>
              <a:gd name="adj" fmla="val 9354"/>
            </a:avLst>
          </a:prstGeom>
          <a:solidFill>
            <a:srgbClr val="E7F2F9"/>
          </a:solidFill>
          <a:ln/>
        </p:spPr>
      </p:sp>
      <p:sp>
        <p:nvSpPr>
          <p:cNvPr id="11" name="Text 9"/>
          <p:cNvSpPr txBox="1"/>
          <p:nvPr/>
        </p:nvSpPr>
        <p:spPr>
          <a:xfrm>
            <a:off x="704088"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epicrisis (G) (epikriz): </a:t>
            </a:r>
            <a:r>
              <a:rPr lang="en-US" sz="1500" dirty="0">
                <a:solidFill>
                  <a:srgbClr val="1F2937"/>
                </a:solidFill>
                <a:latin typeface="Calibri" pitchFamily="34" charset="0"/>
                <a:ea typeface="Calibri" pitchFamily="34" charset="-122"/>
                <a:cs typeface="Calibri" pitchFamily="34" charset="-120"/>
              </a:rPr>
              <a:t>Hastalıkla ilgili bilgilerin hasta taburcu olurken yazıldığı rapor, çıkış özeti</a:t>
            </a:r>
            <a:endParaRPr lang="en-US" sz="1500" dirty="0"/>
          </a:p>
        </p:txBody>
      </p:sp>
      <p:sp>
        <p:nvSpPr>
          <p:cNvPr id="12" name="Shape 10"/>
          <p:cNvSpPr/>
          <p:nvPr/>
        </p:nvSpPr>
        <p:spPr>
          <a:xfrm>
            <a:off x="548640" y="3841242"/>
            <a:ext cx="5410048" cy="684276"/>
          </a:xfrm>
          <a:prstGeom prst="roundRect">
            <a:avLst>
              <a:gd name="adj" fmla="val 9354"/>
            </a:avLst>
          </a:prstGeom>
          <a:solidFill>
            <a:srgbClr val="E7F2F9"/>
          </a:solidFill>
          <a:ln/>
        </p:spPr>
      </p:sp>
      <p:sp>
        <p:nvSpPr>
          <p:cNvPr id="13" name="Text 11"/>
          <p:cNvSpPr txBox="1"/>
          <p:nvPr/>
        </p:nvSpPr>
        <p:spPr>
          <a:xfrm>
            <a:off x="704088" y="39143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muayene: </a:t>
            </a:r>
            <a:r>
              <a:rPr lang="en-US" sz="1500" dirty="0">
                <a:solidFill>
                  <a:srgbClr val="1F2937"/>
                </a:solidFill>
                <a:latin typeface="Calibri" pitchFamily="34" charset="0"/>
                <a:ea typeface="Calibri" pitchFamily="34" charset="-122"/>
                <a:cs typeface="Calibri" pitchFamily="34" charset="-120"/>
              </a:rPr>
              <a:t>Hastalığın tansı için yapılan işlemlerin tümü, bakı</a:t>
            </a:r>
            <a:endParaRPr lang="en-US" sz="1500" dirty="0"/>
          </a:p>
        </p:txBody>
      </p:sp>
      <p:sp>
        <p:nvSpPr>
          <p:cNvPr id="14" name="Shape 12"/>
          <p:cNvSpPr/>
          <p:nvPr/>
        </p:nvSpPr>
        <p:spPr>
          <a:xfrm>
            <a:off x="548640" y="4616958"/>
            <a:ext cx="5410048" cy="916686"/>
          </a:xfrm>
          <a:prstGeom prst="roundRect">
            <a:avLst>
              <a:gd name="adj" fmla="val 6983"/>
            </a:avLst>
          </a:prstGeom>
          <a:solidFill>
            <a:srgbClr val="E7F2F9"/>
          </a:solidFill>
          <a:ln/>
        </p:spPr>
      </p:sp>
      <p:sp>
        <p:nvSpPr>
          <p:cNvPr id="15" name="Text 13"/>
          <p:cNvSpPr txBox="1"/>
          <p:nvPr/>
        </p:nvSpPr>
        <p:spPr>
          <a:xfrm>
            <a:off x="704088" y="469011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exploration (L) (eksplorasyon): </a:t>
            </a:r>
            <a:r>
              <a:rPr lang="en-US" sz="1500" dirty="0">
                <a:solidFill>
                  <a:srgbClr val="1F2937"/>
                </a:solidFill>
                <a:latin typeface="Calibri" pitchFamily="34" charset="0"/>
                <a:ea typeface="Calibri" pitchFamily="34" charset="-122"/>
                <a:cs typeface="Calibri" pitchFamily="34" charset="-120"/>
              </a:rPr>
              <a:t>Laparotomi  ve operasyonlarda iç organların elle muayenesi, hastalığı teşhis etmek için araştırma yapma</a:t>
            </a:r>
            <a:endParaRPr lang="en-US" sz="1500" dirty="0"/>
          </a:p>
        </p:txBody>
      </p:sp>
      <p:sp>
        <p:nvSpPr>
          <p:cNvPr id="16" name="Shape 14"/>
          <p:cNvSpPr/>
          <p:nvPr/>
        </p:nvSpPr>
        <p:spPr>
          <a:xfrm>
            <a:off x="548640" y="5625084"/>
            <a:ext cx="5410048" cy="684276"/>
          </a:xfrm>
          <a:prstGeom prst="roundRect">
            <a:avLst>
              <a:gd name="adj" fmla="val 9354"/>
            </a:avLst>
          </a:prstGeom>
          <a:solidFill>
            <a:srgbClr val="E7F2F9"/>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diagnosis (G) (diyagnoz): </a:t>
            </a:r>
            <a:r>
              <a:rPr lang="en-US" sz="1500" dirty="0">
                <a:solidFill>
                  <a:srgbClr val="1F2937"/>
                </a:solidFill>
                <a:latin typeface="Calibri" pitchFamily="34" charset="0"/>
                <a:ea typeface="Calibri" pitchFamily="34" charset="-122"/>
                <a:cs typeface="Calibri" pitchFamily="34" charset="-120"/>
              </a:rPr>
              <a:t>Diyagnoz, tanı teşhis, hasta ile ilgili gerekli gözlemlerden sonra varılan sonuç</a:t>
            </a:r>
            <a:endParaRPr lang="en-US" sz="1500" dirty="0"/>
          </a:p>
        </p:txBody>
      </p:sp>
      <p:sp>
        <p:nvSpPr>
          <p:cNvPr id="18" name="Shape 16"/>
          <p:cNvSpPr/>
          <p:nvPr/>
        </p:nvSpPr>
        <p:spPr>
          <a:xfrm>
            <a:off x="6233008" y="1746504"/>
            <a:ext cx="5410048" cy="916686"/>
          </a:xfrm>
          <a:prstGeom prst="roundRect">
            <a:avLst>
              <a:gd name="adj" fmla="val 6983"/>
            </a:avLst>
          </a:prstGeom>
          <a:solidFill>
            <a:srgbClr val="E7F2F9"/>
          </a:solidFill>
          <a:ln/>
        </p:spPr>
      </p:sp>
      <p:sp>
        <p:nvSpPr>
          <p:cNvPr id="19" name="Text 17"/>
          <p:cNvSpPr txBox="1"/>
          <p:nvPr/>
        </p:nvSpPr>
        <p:spPr>
          <a:xfrm>
            <a:off x="6388456" y="181965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prognosis (G) (prognoz): </a:t>
            </a:r>
            <a:r>
              <a:rPr lang="en-US" sz="1500" dirty="0">
                <a:solidFill>
                  <a:srgbClr val="1F2937"/>
                </a:solidFill>
                <a:latin typeface="Calibri" pitchFamily="34" charset="0"/>
                <a:ea typeface="Calibri" pitchFamily="34" charset="-122"/>
                <a:cs typeface="Calibri" pitchFamily="34" charset="-120"/>
              </a:rPr>
              <a:t>Prognoz, hastalığın gidiş hattı ve sonucu hakkında olasılık belirleme ve düşünce belirtme işi</a:t>
            </a:r>
            <a:endParaRPr lang="en-US" sz="1500" dirty="0"/>
          </a:p>
        </p:txBody>
      </p:sp>
      <p:sp>
        <p:nvSpPr>
          <p:cNvPr id="20" name="Shape 18"/>
          <p:cNvSpPr/>
          <p:nvPr/>
        </p:nvSpPr>
        <p:spPr>
          <a:xfrm>
            <a:off x="6233008" y="2754630"/>
            <a:ext cx="5410048" cy="916686"/>
          </a:xfrm>
          <a:prstGeom prst="roundRect">
            <a:avLst>
              <a:gd name="adj" fmla="val 6983"/>
            </a:avLst>
          </a:prstGeom>
          <a:solidFill>
            <a:srgbClr val="E7F2F9"/>
          </a:solidFill>
          <a:ln/>
        </p:spPr>
      </p:sp>
      <p:sp>
        <p:nvSpPr>
          <p:cNvPr id="21" name="Text 19"/>
          <p:cNvSpPr txBox="1"/>
          <p:nvPr/>
        </p:nvSpPr>
        <p:spPr>
          <a:xfrm>
            <a:off x="6388456" y="282778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operation (L) (operasyon): </a:t>
            </a:r>
            <a:r>
              <a:rPr lang="en-US" sz="1500" dirty="0">
                <a:solidFill>
                  <a:srgbClr val="1F2937"/>
                </a:solidFill>
                <a:latin typeface="Calibri" pitchFamily="34" charset="0"/>
                <a:ea typeface="Calibri" pitchFamily="34" charset="-122"/>
                <a:cs typeface="Calibri" pitchFamily="34" charset="-120"/>
              </a:rPr>
              <a:t>Cerrahi işlem, girişim, ameliyat, hastanın bir yerini kesme, dikme ve yamama yoluyla yapılan tedavi</a:t>
            </a:r>
            <a:endParaRPr lang="en-US" sz="1500" dirty="0"/>
          </a:p>
        </p:txBody>
      </p:sp>
      <p:sp>
        <p:nvSpPr>
          <p:cNvPr id="22" name="Shape 20"/>
          <p:cNvSpPr/>
          <p:nvPr/>
        </p:nvSpPr>
        <p:spPr>
          <a:xfrm>
            <a:off x="6233008" y="3762756"/>
            <a:ext cx="5410048" cy="451866"/>
          </a:xfrm>
          <a:prstGeom prst="roundRect">
            <a:avLst>
              <a:gd name="adj" fmla="val 14165"/>
            </a:avLst>
          </a:prstGeom>
          <a:solidFill>
            <a:srgbClr val="E7F2F9"/>
          </a:solidFill>
          <a:ln/>
        </p:spPr>
      </p:sp>
      <p:sp>
        <p:nvSpPr>
          <p:cNvPr id="23" name="Text 21"/>
          <p:cNvSpPr txBox="1"/>
          <p:nvPr/>
        </p:nvSpPr>
        <p:spPr>
          <a:xfrm>
            <a:off x="6388456"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incision (L) (insizyon): </a:t>
            </a:r>
            <a:r>
              <a:rPr lang="en-US" sz="1500" dirty="0">
                <a:solidFill>
                  <a:srgbClr val="1F2937"/>
                </a:solidFill>
                <a:latin typeface="Calibri" pitchFamily="34" charset="0"/>
                <a:ea typeface="Calibri" pitchFamily="34" charset="-122"/>
                <a:cs typeface="Calibri" pitchFamily="34" charset="-120"/>
              </a:rPr>
              <a:t>Bistüri ile kesi yapmak, yarak</a:t>
            </a:r>
            <a:endParaRPr lang="en-US" sz="15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Genel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153</a:t>
            </a:r>
            <a:endParaRPr lang="en-US" sz="1000" dirty="0"/>
          </a:p>
        </p:txBody>
      </p:sp>
      <p:sp>
        <p:nvSpPr>
          <p:cNvPr id="6" name="Shape 4"/>
          <p:cNvSpPr/>
          <p:nvPr/>
        </p:nvSpPr>
        <p:spPr>
          <a:xfrm>
            <a:off x="548640" y="1488567"/>
            <a:ext cx="11094415" cy="1149096"/>
          </a:xfrm>
          <a:prstGeom prst="roundRect">
            <a:avLst>
              <a:gd name="adj" fmla="val 5570"/>
            </a:avLst>
          </a:prstGeom>
          <a:solidFill>
            <a:srgbClr val="E7F2F9"/>
          </a:solidFill>
          <a:ln/>
        </p:spPr>
      </p:sp>
      <p:sp>
        <p:nvSpPr>
          <p:cNvPr id="7" name="Text 5"/>
          <p:cNvSpPr txBox="1"/>
          <p:nvPr/>
        </p:nvSpPr>
        <p:spPr>
          <a:xfrm>
            <a:off x="704088" y="1561719"/>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ecchymosis (G) (ekimoz): </a:t>
            </a:r>
            <a:r>
              <a:rPr lang="en-US" sz="1500" dirty="0">
                <a:solidFill>
                  <a:srgbClr val="1F2937"/>
                </a:solidFill>
                <a:latin typeface="Calibri" pitchFamily="34" charset="0"/>
                <a:ea typeface="Calibri" pitchFamily="34" charset="-122"/>
                <a:cs typeface="Calibri" pitchFamily="34" charset="-120"/>
              </a:rPr>
              <a:t>Vücutta ezici bir cismin vurulmasıyla, deri altındaki kan damarlarının yırtılması sonucu kanın deri altında yayılması nedeniyle ortaya çıkan çürük, bere, morluk</a:t>
            </a:r>
            <a:endParaRPr lang="en-US" sz="1500" dirty="0"/>
          </a:p>
        </p:txBody>
      </p:sp>
      <p:sp>
        <p:nvSpPr>
          <p:cNvPr id="8" name="Shape 6"/>
          <p:cNvSpPr/>
          <p:nvPr/>
        </p:nvSpPr>
        <p:spPr>
          <a:xfrm>
            <a:off x="548640" y="2754630"/>
            <a:ext cx="5410048" cy="916686"/>
          </a:xfrm>
          <a:prstGeom prst="roundRect">
            <a:avLst>
              <a:gd name="adj" fmla="val 6983"/>
            </a:avLst>
          </a:prstGeom>
          <a:solidFill>
            <a:srgbClr val="E7F2F9"/>
          </a:solidFill>
          <a:ln/>
        </p:spPr>
      </p:sp>
      <p:sp>
        <p:nvSpPr>
          <p:cNvPr id="9" name="Text 7"/>
          <p:cNvSpPr txBox="1"/>
          <p:nvPr/>
        </p:nvSpPr>
        <p:spPr>
          <a:xfrm>
            <a:off x="704088" y="282778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resection (L) (rezeksiyon): </a:t>
            </a:r>
            <a:r>
              <a:rPr lang="en-US" sz="1500" dirty="0">
                <a:solidFill>
                  <a:srgbClr val="1F2937"/>
                </a:solidFill>
                <a:latin typeface="Calibri" pitchFamily="34" charset="0"/>
                <a:ea typeface="Calibri" pitchFamily="34" charset="-122"/>
                <a:cs typeface="Calibri" pitchFamily="34" charset="-120"/>
              </a:rPr>
              <a:t>Bir organ veya oluşumun bir bölümünün ya da tamamının ameliyatla kesilip çıkarılması</a:t>
            </a:r>
            <a:endParaRPr lang="en-US" sz="1500" dirty="0"/>
          </a:p>
        </p:txBody>
      </p:sp>
      <p:sp>
        <p:nvSpPr>
          <p:cNvPr id="10" name="Shape 8"/>
          <p:cNvSpPr/>
          <p:nvPr/>
        </p:nvSpPr>
        <p:spPr>
          <a:xfrm>
            <a:off x="548640" y="3762756"/>
            <a:ext cx="5410048" cy="451866"/>
          </a:xfrm>
          <a:prstGeom prst="roundRect">
            <a:avLst>
              <a:gd name="adj" fmla="val 14165"/>
            </a:avLst>
          </a:prstGeom>
          <a:solidFill>
            <a:srgbClr val="E7F2F9"/>
          </a:solidFill>
          <a:ln/>
        </p:spPr>
      </p:sp>
      <p:sp>
        <p:nvSpPr>
          <p:cNvPr id="11" name="Text 9"/>
          <p:cNvSpPr txBox="1"/>
          <p:nvPr/>
        </p:nvSpPr>
        <p:spPr>
          <a:xfrm>
            <a:off x="704088"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excision (L) (eksizyon): </a:t>
            </a:r>
            <a:r>
              <a:rPr lang="en-US" sz="1500" dirty="0">
                <a:solidFill>
                  <a:srgbClr val="1F2937"/>
                </a:solidFill>
                <a:latin typeface="Calibri" pitchFamily="34" charset="0"/>
                <a:ea typeface="Calibri" pitchFamily="34" charset="-122"/>
                <a:cs typeface="Calibri" pitchFamily="34" charset="-120"/>
              </a:rPr>
              <a:t>Kesip çıkarma</a:t>
            </a:r>
            <a:endParaRPr lang="en-US" sz="1500" dirty="0"/>
          </a:p>
        </p:txBody>
      </p:sp>
      <p:sp>
        <p:nvSpPr>
          <p:cNvPr id="12" name="Shape 10"/>
          <p:cNvSpPr/>
          <p:nvPr/>
        </p:nvSpPr>
        <p:spPr>
          <a:xfrm>
            <a:off x="548640" y="4306062"/>
            <a:ext cx="5410048" cy="451866"/>
          </a:xfrm>
          <a:prstGeom prst="roundRect">
            <a:avLst>
              <a:gd name="adj" fmla="val 14165"/>
            </a:avLst>
          </a:prstGeom>
          <a:solidFill>
            <a:srgbClr val="E7F2F9"/>
          </a:solidFill>
          <a:ln/>
        </p:spPr>
      </p:sp>
      <p:sp>
        <p:nvSpPr>
          <p:cNvPr id="13" name="Text 11"/>
          <p:cNvSpPr txBox="1"/>
          <p:nvPr/>
        </p:nvSpPr>
        <p:spPr>
          <a:xfrm>
            <a:off x="704088"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hemostasis (G) (hemostaz): </a:t>
            </a:r>
            <a:r>
              <a:rPr lang="en-US" sz="1500" dirty="0">
                <a:solidFill>
                  <a:srgbClr val="1F2937"/>
                </a:solidFill>
                <a:latin typeface="Calibri" pitchFamily="34" charset="0"/>
                <a:ea typeface="Calibri" pitchFamily="34" charset="-122"/>
                <a:cs typeface="Calibri" pitchFamily="34" charset="-120"/>
              </a:rPr>
              <a:t>Kanamanın durdurulması</a:t>
            </a:r>
            <a:endParaRPr lang="en-US" sz="1500" dirty="0"/>
          </a:p>
        </p:txBody>
      </p:sp>
      <p:sp>
        <p:nvSpPr>
          <p:cNvPr id="14" name="Shape 12"/>
          <p:cNvSpPr/>
          <p:nvPr/>
        </p:nvSpPr>
        <p:spPr>
          <a:xfrm>
            <a:off x="548640" y="4849368"/>
            <a:ext cx="5410048" cy="684276"/>
          </a:xfrm>
          <a:prstGeom prst="roundRect">
            <a:avLst>
              <a:gd name="adj" fmla="val 9354"/>
            </a:avLst>
          </a:prstGeom>
          <a:solidFill>
            <a:srgbClr val="E7F2F9"/>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etiologia (G) (etiyoloji): </a:t>
            </a:r>
            <a:r>
              <a:rPr lang="en-US" sz="1500" dirty="0">
                <a:solidFill>
                  <a:srgbClr val="1F2937"/>
                </a:solidFill>
                <a:latin typeface="Calibri" pitchFamily="34" charset="0"/>
                <a:ea typeface="Calibri" pitchFamily="34" charset="-122"/>
                <a:cs typeface="Calibri" pitchFamily="34" charset="-120"/>
              </a:rPr>
              <a:t>Hastalığının nedeninin araştırılma işi</a:t>
            </a:r>
            <a:endParaRPr lang="en-US" sz="1500" dirty="0"/>
          </a:p>
        </p:txBody>
      </p:sp>
      <p:sp>
        <p:nvSpPr>
          <p:cNvPr id="16" name="Shape 14"/>
          <p:cNvSpPr/>
          <p:nvPr/>
        </p:nvSpPr>
        <p:spPr>
          <a:xfrm>
            <a:off x="548640" y="5625084"/>
            <a:ext cx="5410048" cy="684276"/>
          </a:xfrm>
          <a:prstGeom prst="roundRect">
            <a:avLst>
              <a:gd name="adj" fmla="val 9354"/>
            </a:avLst>
          </a:prstGeom>
          <a:solidFill>
            <a:srgbClr val="E7F2F9"/>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idiopathic (G) (idyopatik): </a:t>
            </a:r>
            <a:r>
              <a:rPr lang="en-US" sz="1500" dirty="0">
                <a:solidFill>
                  <a:srgbClr val="1F2937"/>
                </a:solidFill>
                <a:latin typeface="Calibri" pitchFamily="34" charset="0"/>
                <a:ea typeface="Calibri" pitchFamily="34" charset="-122"/>
                <a:cs typeface="Calibri" pitchFamily="34" charset="-120"/>
              </a:rPr>
              <a:t>Nedeni bilinmeyen hastalıklara verilen genel ad</a:t>
            </a:r>
            <a:endParaRPr lang="en-US" sz="1500" dirty="0"/>
          </a:p>
        </p:txBody>
      </p:sp>
      <p:sp>
        <p:nvSpPr>
          <p:cNvPr id="18" name="Shape 16"/>
          <p:cNvSpPr/>
          <p:nvPr/>
        </p:nvSpPr>
        <p:spPr>
          <a:xfrm>
            <a:off x="6233008" y="2754630"/>
            <a:ext cx="5410048" cy="684276"/>
          </a:xfrm>
          <a:prstGeom prst="roundRect">
            <a:avLst>
              <a:gd name="adj" fmla="val 9354"/>
            </a:avLst>
          </a:prstGeom>
          <a:solidFill>
            <a:srgbClr val="E7F2F9"/>
          </a:solidFill>
          <a:ln/>
        </p:spPr>
      </p:sp>
      <p:sp>
        <p:nvSpPr>
          <p:cNvPr id="19" name="Text 17"/>
          <p:cNvSpPr txBox="1"/>
          <p:nvPr/>
        </p:nvSpPr>
        <p:spPr>
          <a:xfrm>
            <a:off x="6388456" y="282778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trauma (G) (taravma): </a:t>
            </a:r>
            <a:r>
              <a:rPr lang="en-US" sz="1500" dirty="0">
                <a:solidFill>
                  <a:srgbClr val="1F2937"/>
                </a:solidFill>
                <a:latin typeface="Calibri" pitchFamily="34" charset="0"/>
                <a:ea typeface="Calibri" pitchFamily="34" charset="-122"/>
                <a:cs typeface="Calibri" pitchFamily="34" charset="-120"/>
              </a:rPr>
              <a:t>Yaralanma, incinme, zedelenme, harabiyet</a:t>
            </a:r>
            <a:endParaRPr lang="en-US" sz="1500" dirty="0"/>
          </a:p>
        </p:txBody>
      </p:sp>
      <p:sp>
        <p:nvSpPr>
          <p:cNvPr id="20" name="Shape 18"/>
          <p:cNvSpPr/>
          <p:nvPr/>
        </p:nvSpPr>
        <p:spPr>
          <a:xfrm>
            <a:off x="6233008" y="3530346"/>
            <a:ext cx="5410048" cy="684276"/>
          </a:xfrm>
          <a:prstGeom prst="roundRect">
            <a:avLst>
              <a:gd name="adj" fmla="val 9354"/>
            </a:avLst>
          </a:prstGeom>
          <a:solidFill>
            <a:srgbClr val="E7F2F9"/>
          </a:solidFill>
          <a:ln/>
        </p:spPr>
      </p:sp>
      <p:sp>
        <p:nvSpPr>
          <p:cNvPr id="21" name="Text 19"/>
          <p:cNvSpPr txBox="1"/>
          <p:nvPr/>
        </p:nvSpPr>
        <p:spPr>
          <a:xfrm>
            <a:off x="6388456"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lesion (L) (lezyon): </a:t>
            </a:r>
            <a:r>
              <a:rPr lang="en-US" sz="1500" dirty="0">
                <a:solidFill>
                  <a:srgbClr val="1F2937"/>
                </a:solidFill>
                <a:latin typeface="Calibri" pitchFamily="34" charset="0"/>
                <a:ea typeface="Calibri" pitchFamily="34" charset="-122"/>
                <a:cs typeface="Calibri" pitchFamily="34" charset="-120"/>
              </a:rPr>
              <a:t>Doku ve organlarda mikroskobik ya da makroskopik düzeyde görülen değişiklik</a:t>
            </a:r>
            <a:endParaRPr lang="en-US" sz="1500" dirty="0"/>
          </a:p>
        </p:txBody>
      </p:sp>
      <p:sp>
        <p:nvSpPr>
          <p:cNvPr id="22" name="Shape 20"/>
          <p:cNvSpPr/>
          <p:nvPr/>
        </p:nvSpPr>
        <p:spPr>
          <a:xfrm>
            <a:off x="6233008" y="4306062"/>
            <a:ext cx="5410048" cy="451866"/>
          </a:xfrm>
          <a:prstGeom prst="roundRect">
            <a:avLst>
              <a:gd name="adj" fmla="val 14165"/>
            </a:avLst>
          </a:prstGeom>
          <a:solidFill>
            <a:srgbClr val="E7F2F9"/>
          </a:solidFill>
          <a:ln/>
        </p:spPr>
      </p:sp>
      <p:sp>
        <p:nvSpPr>
          <p:cNvPr id="23" name="Text 21"/>
          <p:cNvSpPr txBox="1"/>
          <p:nvPr/>
        </p:nvSpPr>
        <p:spPr>
          <a:xfrm>
            <a:off x="6388456"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infalammation (L) (inflamasyon): </a:t>
            </a:r>
            <a:r>
              <a:rPr lang="en-US" sz="1500" dirty="0">
                <a:solidFill>
                  <a:srgbClr val="1F2937"/>
                </a:solidFill>
                <a:latin typeface="Calibri" pitchFamily="34" charset="0"/>
                <a:ea typeface="Calibri" pitchFamily="34" charset="-122"/>
                <a:cs typeface="Calibri" pitchFamily="34" charset="-120"/>
              </a:rPr>
              <a:t>İltihap, yangı</a:t>
            </a:r>
            <a:endParaRPr lang="en-US" sz="1500" dirty="0"/>
          </a:p>
        </p:txBody>
      </p:sp>
      <p:sp>
        <p:nvSpPr>
          <p:cNvPr id="24" name="Shape 22"/>
          <p:cNvSpPr/>
          <p:nvPr/>
        </p:nvSpPr>
        <p:spPr>
          <a:xfrm>
            <a:off x="6233008" y="4849368"/>
            <a:ext cx="5410048" cy="451866"/>
          </a:xfrm>
          <a:prstGeom prst="roundRect">
            <a:avLst>
              <a:gd name="adj" fmla="val 14165"/>
            </a:avLst>
          </a:prstGeom>
          <a:solidFill>
            <a:srgbClr val="E7F2F9"/>
          </a:solidFill>
          <a:ln/>
        </p:spPr>
      </p:sp>
      <p:sp>
        <p:nvSpPr>
          <p:cNvPr id="25" name="Text 23"/>
          <p:cNvSpPr txBox="1"/>
          <p:nvPr/>
        </p:nvSpPr>
        <p:spPr>
          <a:xfrm>
            <a:off x="6388456" y="492252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erythema (G) (eritem): </a:t>
            </a:r>
            <a:r>
              <a:rPr lang="en-US" sz="1500" dirty="0">
                <a:solidFill>
                  <a:srgbClr val="1F2937"/>
                </a:solidFill>
                <a:latin typeface="Calibri" pitchFamily="34" charset="0"/>
                <a:ea typeface="Calibri" pitchFamily="34" charset="-122"/>
                <a:cs typeface="Calibri" pitchFamily="34" charset="-120"/>
              </a:rPr>
              <a:t>Deride oluşan kızarıklık</a:t>
            </a:r>
            <a:endParaRPr lang="en-US" sz="15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Genel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154</a:t>
            </a:r>
            <a:endParaRPr lang="en-US" sz="1000" dirty="0"/>
          </a:p>
        </p:txBody>
      </p:sp>
      <p:sp>
        <p:nvSpPr>
          <p:cNvPr id="6" name="Shape 4"/>
          <p:cNvSpPr/>
          <p:nvPr/>
        </p:nvSpPr>
        <p:spPr>
          <a:xfrm>
            <a:off x="548640" y="1978914"/>
            <a:ext cx="5410048" cy="684276"/>
          </a:xfrm>
          <a:prstGeom prst="roundRect">
            <a:avLst>
              <a:gd name="adj" fmla="val 9354"/>
            </a:avLst>
          </a:prstGeom>
          <a:solidFill>
            <a:srgbClr val="E7F2F9"/>
          </a:solidFill>
          <a:ln/>
        </p:spPr>
      </p:sp>
      <p:sp>
        <p:nvSpPr>
          <p:cNvPr id="7" name="Text 5"/>
          <p:cNvSpPr txBox="1"/>
          <p:nvPr/>
        </p:nvSpPr>
        <p:spPr>
          <a:xfrm>
            <a:off x="704088" y="205206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contusion (kontuzyon): </a:t>
            </a:r>
            <a:r>
              <a:rPr lang="en-US" sz="1500" dirty="0">
                <a:solidFill>
                  <a:srgbClr val="1F2937"/>
                </a:solidFill>
                <a:latin typeface="Calibri" pitchFamily="34" charset="0"/>
                <a:ea typeface="Calibri" pitchFamily="34" charset="-122"/>
                <a:cs typeface="Calibri" pitchFamily="34" charset="-120"/>
              </a:rPr>
              <a:t>Çeşitli nedenlerle yumuşak dokuların (kasların) ezilmesi</a:t>
            </a:r>
            <a:endParaRPr lang="en-US" sz="1500" dirty="0"/>
          </a:p>
        </p:txBody>
      </p:sp>
      <p:sp>
        <p:nvSpPr>
          <p:cNvPr id="8" name="Shape 6"/>
          <p:cNvSpPr/>
          <p:nvPr/>
        </p:nvSpPr>
        <p:spPr>
          <a:xfrm>
            <a:off x="548640" y="2754630"/>
            <a:ext cx="5410048" cy="684276"/>
          </a:xfrm>
          <a:prstGeom prst="roundRect">
            <a:avLst>
              <a:gd name="adj" fmla="val 9354"/>
            </a:avLst>
          </a:prstGeom>
          <a:solidFill>
            <a:srgbClr val="E7F2F9"/>
          </a:solidFill>
          <a:ln/>
        </p:spPr>
      </p:sp>
      <p:sp>
        <p:nvSpPr>
          <p:cNvPr id="9" name="Text 7"/>
          <p:cNvSpPr txBox="1"/>
          <p:nvPr/>
        </p:nvSpPr>
        <p:spPr>
          <a:xfrm>
            <a:off x="704088" y="282778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abrasion (L) (abrazyon): </a:t>
            </a:r>
            <a:r>
              <a:rPr lang="en-US" sz="1500" dirty="0">
                <a:solidFill>
                  <a:srgbClr val="1F2937"/>
                </a:solidFill>
                <a:latin typeface="Calibri" pitchFamily="34" charset="0"/>
                <a:ea typeface="Calibri" pitchFamily="34" charset="-122"/>
                <a:cs typeface="Calibri" pitchFamily="34" charset="-120"/>
              </a:rPr>
              <a:t>Deri veya yüzeysel mukozanın sırılması. Aşınma, yıpranma, sıyrık, sıyırma</a:t>
            </a:r>
            <a:endParaRPr lang="en-US" sz="1500" dirty="0"/>
          </a:p>
        </p:txBody>
      </p:sp>
      <p:sp>
        <p:nvSpPr>
          <p:cNvPr id="10" name="Shape 8"/>
          <p:cNvSpPr/>
          <p:nvPr/>
        </p:nvSpPr>
        <p:spPr>
          <a:xfrm>
            <a:off x="548640" y="3530346"/>
            <a:ext cx="5410048" cy="451866"/>
          </a:xfrm>
          <a:prstGeom prst="roundRect">
            <a:avLst>
              <a:gd name="adj" fmla="val 14165"/>
            </a:avLst>
          </a:prstGeom>
          <a:solidFill>
            <a:srgbClr val="E7F2F9"/>
          </a:solidFill>
          <a:ln/>
        </p:spPr>
      </p:sp>
      <p:sp>
        <p:nvSpPr>
          <p:cNvPr id="11" name="Text 9"/>
          <p:cNvSpPr txBox="1"/>
          <p:nvPr/>
        </p:nvSpPr>
        <p:spPr>
          <a:xfrm>
            <a:off x="704088" y="360349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laceration (L) (laserasyon): </a:t>
            </a:r>
            <a:r>
              <a:rPr lang="en-US" sz="1500" dirty="0">
                <a:solidFill>
                  <a:srgbClr val="1F2937"/>
                </a:solidFill>
                <a:latin typeface="Calibri" pitchFamily="34" charset="0"/>
                <a:ea typeface="Calibri" pitchFamily="34" charset="-122"/>
                <a:cs typeface="Calibri" pitchFamily="34" charset="-120"/>
              </a:rPr>
              <a:t>Yırtık, yıtma</a:t>
            </a:r>
            <a:endParaRPr lang="en-US" sz="1500" dirty="0"/>
          </a:p>
        </p:txBody>
      </p:sp>
      <p:sp>
        <p:nvSpPr>
          <p:cNvPr id="12" name="Shape 10"/>
          <p:cNvSpPr/>
          <p:nvPr/>
        </p:nvSpPr>
        <p:spPr>
          <a:xfrm>
            <a:off x="548640" y="4073652"/>
            <a:ext cx="5410048" cy="451866"/>
          </a:xfrm>
          <a:prstGeom prst="roundRect">
            <a:avLst>
              <a:gd name="adj" fmla="val 14165"/>
            </a:avLst>
          </a:prstGeom>
          <a:solidFill>
            <a:srgbClr val="E7F2F9"/>
          </a:solidFill>
          <a:ln/>
        </p:spPr>
      </p:sp>
      <p:sp>
        <p:nvSpPr>
          <p:cNvPr id="13" name="Text 11"/>
          <p:cNvSpPr txBox="1"/>
          <p:nvPr/>
        </p:nvSpPr>
        <p:spPr>
          <a:xfrm>
            <a:off x="704088" y="414680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rupture (L) (rüptür): </a:t>
            </a:r>
            <a:r>
              <a:rPr lang="en-US" sz="1500" dirty="0">
                <a:solidFill>
                  <a:srgbClr val="1F2937"/>
                </a:solidFill>
                <a:latin typeface="Calibri" pitchFamily="34" charset="0"/>
                <a:ea typeface="Calibri" pitchFamily="34" charset="-122"/>
                <a:cs typeface="Calibri" pitchFamily="34" charset="-120"/>
              </a:rPr>
              <a:t>Yırtık, yıtma</a:t>
            </a:r>
            <a:endParaRPr lang="en-US" sz="1500" dirty="0"/>
          </a:p>
        </p:txBody>
      </p:sp>
      <p:sp>
        <p:nvSpPr>
          <p:cNvPr id="14" name="Shape 12"/>
          <p:cNvSpPr/>
          <p:nvPr/>
        </p:nvSpPr>
        <p:spPr>
          <a:xfrm>
            <a:off x="548640" y="4616958"/>
            <a:ext cx="5410048" cy="684276"/>
          </a:xfrm>
          <a:prstGeom prst="roundRect">
            <a:avLst>
              <a:gd name="adj" fmla="val 9354"/>
            </a:avLst>
          </a:prstGeom>
          <a:solidFill>
            <a:srgbClr val="E7F2F9"/>
          </a:solidFill>
          <a:ln/>
        </p:spPr>
      </p:sp>
      <p:sp>
        <p:nvSpPr>
          <p:cNvPr id="15" name="Text 13"/>
          <p:cNvSpPr txBox="1"/>
          <p:nvPr/>
        </p:nvSpPr>
        <p:spPr>
          <a:xfrm>
            <a:off x="704088" y="469011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syndrome (G) (sendrom): </a:t>
            </a:r>
            <a:r>
              <a:rPr lang="en-US" sz="1500" dirty="0">
                <a:solidFill>
                  <a:srgbClr val="1F2937"/>
                </a:solidFill>
                <a:latin typeface="Calibri" pitchFamily="34" charset="0"/>
                <a:ea typeface="Calibri" pitchFamily="34" charset="-122"/>
                <a:cs typeface="Calibri" pitchFamily="34" charset="-120"/>
              </a:rPr>
              <a:t>Bir çok semptomun ve lezyonun bir arada bulunması</a:t>
            </a:r>
            <a:endParaRPr lang="en-US" sz="1500" dirty="0"/>
          </a:p>
        </p:txBody>
      </p:sp>
      <p:sp>
        <p:nvSpPr>
          <p:cNvPr id="16" name="Shape 14"/>
          <p:cNvSpPr/>
          <p:nvPr/>
        </p:nvSpPr>
        <p:spPr>
          <a:xfrm>
            <a:off x="548640" y="5392674"/>
            <a:ext cx="5410048" cy="684276"/>
          </a:xfrm>
          <a:prstGeom prst="roundRect">
            <a:avLst>
              <a:gd name="adj" fmla="val 9354"/>
            </a:avLst>
          </a:prstGeom>
          <a:solidFill>
            <a:srgbClr val="E7F2F9"/>
          </a:solidFill>
          <a:ln/>
        </p:spPr>
      </p:sp>
      <p:sp>
        <p:nvSpPr>
          <p:cNvPr id="17" name="Text 15"/>
          <p:cNvSpPr txBox="1"/>
          <p:nvPr/>
        </p:nvSpPr>
        <p:spPr>
          <a:xfrm>
            <a:off x="704088" y="546582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crepitation (L) (krepitasyon): </a:t>
            </a:r>
            <a:r>
              <a:rPr lang="en-US" sz="1500" dirty="0">
                <a:solidFill>
                  <a:srgbClr val="1F2937"/>
                </a:solidFill>
                <a:latin typeface="Calibri" pitchFamily="34" charset="0"/>
                <a:ea typeface="Calibri" pitchFamily="34" charset="-122"/>
                <a:cs typeface="Calibri" pitchFamily="34" charset="-120"/>
              </a:rPr>
              <a:t>Lezyon bölgesindeki çıtırtı olgusu</a:t>
            </a:r>
            <a:endParaRPr lang="en-US" sz="1500" dirty="0"/>
          </a:p>
        </p:txBody>
      </p:sp>
      <p:sp>
        <p:nvSpPr>
          <p:cNvPr id="18" name="Shape 16"/>
          <p:cNvSpPr/>
          <p:nvPr/>
        </p:nvSpPr>
        <p:spPr>
          <a:xfrm>
            <a:off x="6233008" y="1978914"/>
            <a:ext cx="5410048" cy="684276"/>
          </a:xfrm>
          <a:prstGeom prst="roundRect">
            <a:avLst>
              <a:gd name="adj" fmla="val 9354"/>
            </a:avLst>
          </a:prstGeom>
          <a:solidFill>
            <a:srgbClr val="E7F2F9"/>
          </a:solidFill>
          <a:ln/>
        </p:spPr>
      </p:sp>
      <p:sp>
        <p:nvSpPr>
          <p:cNvPr id="19" name="Text 17"/>
          <p:cNvSpPr txBox="1"/>
          <p:nvPr/>
        </p:nvSpPr>
        <p:spPr>
          <a:xfrm>
            <a:off x="6388456" y="205206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intermittent (L) (intermittent): </a:t>
            </a:r>
            <a:r>
              <a:rPr lang="en-US" sz="1500" dirty="0">
                <a:solidFill>
                  <a:srgbClr val="1F2937"/>
                </a:solidFill>
                <a:latin typeface="Calibri" pitchFamily="34" charset="0"/>
                <a:ea typeface="Calibri" pitchFamily="34" charset="-122"/>
                <a:cs typeface="Calibri" pitchFamily="34" charset="-120"/>
              </a:rPr>
              <a:t>Aralıklarla görülen, zaman zaman duran nöbet, çarpıntı, ateş</a:t>
            </a:r>
            <a:endParaRPr lang="en-US" sz="1500" dirty="0"/>
          </a:p>
        </p:txBody>
      </p:sp>
      <p:sp>
        <p:nvSpPr>
          <p:cNvPr id="20" name="Shape 18"/>
          <p:cNvSpPr/>
          <p:nvPr/>
        </p:nvSpPr>
        <p:spPr>
          <a:xfrm>
            <a:off x="6233008" y="2754630"/>
            <a:ext cx="5410048" cy="916686"/>
          </a:xfrm>
          <a:prstGeom prst="roundRect">
            <a:avLst>
              <a:gd name="adj" fmla="val 6983"/>
            </a:avLst>
          </a:prstGeom>
          <a:solidFill>
            <a:srgbClr val="E7F2F9"/>
          </a:solidFill>
          <a:ln/>
        </p:spPr>
      </p:sp>
      <p:sp>
        <p:nvSpPr>
          <p:cNvPr id="21" name="Text 19"/>
          <p:cNvSpPr txBox="1"/>
          <p:nvPr/>
        </p:nvSpPr>
        <p:spPr>
          <a:xfrm>
            <a:off x="6388456" y="282778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consultation (L) (konsültasyon): </a:t>
            </a:r>
            <a:r>
              <a:rPr lang="en-US" sz="1500" dirty="0">
                <a:solidFill>
                  <a:srgbClr val="1F2937"/>
                </a:solidFill>
                <a:latin typeface="Calibri" pitchFamily="34" charset="0"/>
                <a:ea typeface="Calibri" pitchFamily="34" charset="-122"/>
                <a:cs typeface="Calibri" pitchFamily="34" charset="-120"/>
              </a:rPr>
              <a:t>Hastalığın tanı, tedavi ve prognozu için birden çok hekimin karşılıklı görüş bildirmesi olası</a:t>
            </a:r>
            <a:endParaRPr lang="en-US" sz="1500" dirty="0"/>
          </a:p>
        </p:txBody>
      </p:sp>
      <p:sp>
        <p:nvSpPr>
          <p:cNvPr id="22" name="Shape 20"/>
          <p:cNvSpPr/>
          <p:nvPr/>
        </p:nvSpPr>
        <p:spPr>
          <a:xfrm>
            <a:off x="6233008" y="3762756"/>
            <a:ext cx="5410048" cy="451866"/>
          </a:xfrm>
          <a:prstGeom prst="roundRect">
            <a:avLst>
              <a:gd name="adj" fmla="val 14165"/>
            </a:avLst>
          </a:prstGeom>
          <a:solidFill>
            <a:srgbClr val="E7F2F9"/>
          </a:solidFill>
          <a:ln/>
        </p:spPr>
      </p:sp>
      <p:sp>
        <p:nvSpPr>
          <p:cNvPr id="23" name="Text 21"/>
          <p:cNvSpPr txBox="1"/>
          <p:nvPr/>
        </p:nvSpPr>
        <p:spPr>
          <a:xfrm>
            <a:off x="6388456"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complication (L) (komplikasyon): </a:t>
            </a:r>
            <a:r>
              <a:rPr lang="en-US" sz="1500" dirty="0">
                <a:solidFill>
                  <a:srgbClr val="1F2937"/>
                </a:solidFill>
                <a:latin typeface="Calibri" pitchFamily="34" charset="0"/>
                <a:ea typeface="Calibri" pitchFamily="34" charset="-122"/>
                <a:cs typeface="Calibri" pitchFamily="34" charset="-120"/>
              </a:rPr>
              <a:t>Yan etki</a:t>
            </a:r>
            <a:endParaRPr lang="en-US" sz="1500" dirty="0"/>
          </a:p>
        </p:txBody>
      </p:sp>
      <p:sp>
        <p:nvSpPr>
          <p:cNvPr id="24" name="Shape 22"/>
          <p:cNvSpPr/>
          <p:nvPr/>
        </p:nvSpPr>
        <p:spPr>
          <a:xfrm>
            <a:off x="6233008" y="4306062"/>
            <a:ext cx="5410048" cy="684276"/>
          </a:xfrm>
          <a:prstGeom prst="roundRect">
            <a:avLst>
              <a:gd name="adj" fmla="val 9354"/>
            </a:avLst>
          </a:prstGeom>
          <a:solidFill>
            <a:srgbClr val="E7F2F9"/>
          </a:solidFill>
          <a:ln/>
        </p:spPr>
      </p:sp>
      <p:sp>
        <p:nvSpPr>
          <p:cNvPr id="25" name="Text 23"/>
          <p:cNvSpPr txBox="1"/>
          <p:nvPr/>
        </p:nvSpPr>
        <p:spPr>
          <a:xfrm>
            <a:off x="6388456"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sequela (L) (sekel): </a:t>
            </a:r>
            <a:r>
              <a:rPr lang="en-US" sz="1500" dirty="0">
                <a:solidFill>
                  <a:srgbClr val="1F2937"/>
                </a:solidFill>
                <a:latin typeface="Calibri" pitchFamily="34" charset="0"/>
                <a:ea typeface="Calibri" pitchFamily="34" charset="-122"/>
                <a:cs typeface="Calibri" pitchFamily="34" charset="-120"/>
              </a:rPr>
              <a:t>Hastalık ya da operasyon  sonrası oluşan bzukluk</a:t>
            </a:r>
            <a:endParaRPr lang="en-US" sz="1500" dirty="0"/>
          </a:p>
        </p:txBody>
      </p:sp>
      <p:sp>
        <p:nvSpPr>
          <p:cNvPr id="26" name="Shape 24"/>
          <p:cNvSpPr/>
          <p:nvPr/>
        </p:nvSpPr>
        <p:spPr>
          <a:xfrm>
            <a:off x="6233008" y="5081778"/>
            <a:ext cx="5410048" cy="684276"/>
          </a:xfrm>
          <a:prstGeom prst="roundRect">
            <a:avLst>
              <a:gd name="adj" fmla="val 9354"/>
            </a:avLst>
          </a:prstGeom>
          <a:solidFill>
            <a:srgbClr val="E7F2F9"/>
          </a:solidFill>
          <a:ln/>
        </p:spPr>
      </p:sp>
      <p:sp>
        <p:nvSpPr>
          <p:cNvPr id="27" name="Text 25"/>
          <p:cNvSpPr txBox="1"/>
          <p:nvPr/>
        </p:nvSpPr>
        <p:spPr>
          <a:xfrm>
            <a:off x="6388456"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cicatrix (L) (sikatrix): </a:t>
            </a:r>
            <a:r>
              <a:rPr lang="en-US" sz="1500" dirty="0">
                <a:solidFill>
                  <a:srgbClr val="1F2937"/>
                </a:solidFill>
                <a:latin typeface="Calibri" pitchFamily="34" charset="0"/>
                <a:ea typeface="Calibri" pitchFamily="34" charset="-122"/>
                <a:cs typeface="Calibri" pitchFamily="34" charset="-120"/>
              </a:rPr>
              <a:t>Yara izi, nedbe, yaranın onarım dokusu</a:t>
            </a:r>
            <a:endParaRPr lang="en-US" sz="1500" dirty="0"/>
          </a:p>
        </p:txBody>
      </p:sp>
      <p:sp>
        <p:nvSpPr>
          <p:cNvPr id="28" name="Shape 26"/>
          <p:cNvSpPr/>
          <p:nvPr/>
        </p:nvSpPr>
        <p:spPr>
          <a:xfrm>
            <a:off x="6233008" y="5857494"/>
            <a:ext cx="5410048" cy="451866"/>
          </a:xfrm>
          <a:prstGeom prst="roundRect">
            <a:avLst>
              <a:gd name="adj" fmla="val 14165"/>
            </a:avLst>
          </a:prstGeom>
          <a:solidFill>
            <a:srgbClr val="E7F2F9"/>
          </a:solidFill>
          <a:ln/>
        </p:spPr>
      </p:sp>
      <p:sp>
        <p:nvSpPr>
          <p:cNvPr id="29" name="Text 27"/>
          <p:cNvSpPr txBox="1"/>
          <p:nvPr/>
        </p:nvSpPr>
        <p:spPr>
          <a:xfrm>
            <a:off x="6388456"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369A1"/>
                </a:solidFill>
                <a:latin typeface="Calibri" pitchFamily="34" charset="0"/>
                <a:ea typeface="Calibri" pitchFamily="34" charset="-122"/>
                <a:cs typeface="Calibri" pitchFamily="34" charset="-120"/>
              </a:rPr>
              <a:t>scar (İ) (skar): </a:t>
            </a:r>
            <a:r>
              <a:rPr lang="en-US" sz="1500" dirty="0">
                <a:solidFill>
                  <a:srgbClr val="1F2937"/>
                </a:solidFill>
                <a:latin typeface="Calibri" pitchFamily="34" charset="0"/>
                <a:ea typeface="Calibri" pitchFamily="34" charset="-122"/>
                <a:cs typeface="Calibri" pitchFamily="34" charset="-120"/>
              </a:rPr>
              <a:t>Yara izi, nedbe, yaranın onarım dokusu</a:t>
            </a:r>
            <a:endParaRPr lang="en-US" sz="15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7F2F9"/>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0369A1"/>
                </a:solidFill>
                <a:latin typeface="Calibri" pitchFamily="34" charset="0"/>
                <a:ea typeface="Calibri" pitchFamily="34" charset="-122"/>
                <a:cs typeface="Calibri" pitchFamily="34" charset="-120"/>
              </a:rPr>
              <a:t>BÖLÜM 3  ·  TANISAL TERİMLER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Genel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155</a:t>
            </a:r>
            <a:endParaRPr lang="en-US" sz="1000" dirty="0"/>
          </a:p>
        </p:txBody>
      </p:sp>
      <p:sp>
        <p:nvSpPr>
          <p:cNvPr id="6" name="Shape 4"/>
          <p:cNvSpPr/>
          <p:nvPr/>
        </p:nvSpPr>
        <p:spPr>
          <a:xfrm>
            <a:off x="548640" y="1730654"/>
            <a:ext cx="5410048" cy="593039"/>
          </a:xfrm>
          <a:prstGeom prst="roundRect">
            <a:avLst>
              <a:gd name="adj" fmla="val 10793"/>
            </a:avLst>
          </a:prstGeom>
          <a:solidFill>
            <a:srgbClr val="E7F2F9"/>
          </a:solidFill>
          <a:ln/>
        </p:spPr>
      </p:sp>
      <p:sp>
        <p:nvSpPr>
          <p:cNvPr id="7" name="Text 5"/>
          <p:cNvSpPr txBox="1"/>
          <p:nvPr/>
        </p:nvSpPr>
        <p:spPr>
          <a:xfrm>
            <a:off x="704088" y="1803806"/>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prophylaxis (G) (profilaksi): </a:t>
            </a:r>
            <a:r>
              <a:rPr lang="en-US" sz="1300" dirty="0">
                <a:solidFill>
                  <a:srgbClr val="1F2937"/>
                </a:solidFill>
                <a:latin typeface="Calibri" pitchFamily="34" charset="0"/>
                <a:ea typeface="Calibri" pitchFamily="34" charset="-122"/>
                <a:cs typeface="Calibri" pitchFamily="34" charset="-120"/>
              </a:rPr>
              <a:t>Hastalığın oluşmaması için uygulanan koruyucu önlemlerin tümü</a:t>
            </a:r>
            <a:endParaRPr lang="en-US" sz="1300" dirty="0"/>
          </a:p>
        </p:txBody>
      </p:sp>
      <p:sp>
        <p:nvSpPr>
          <p:cNvPr id="8" name="Shape 6"/>
          <p:cNvSpPr/>
          <p:nvPr/>
        </p:nvSpPr>
        <p:spPr>
          <a:xfrm>
            <a:off x="548640" y="2415134"/>
            <a:ext cx="5410048" cy="593039"/>
          </a:xfrm>
          <a:prstGeom prst="roundRect">
            <a:avLst>
              <a:gd name="adj" fmla="val 10793"/>
            </a:avLst>
          </a:prstGeom>
          <a:solidFill>
            <a:srgbClr val="E7F2F9"/>
          </a:solidFill>
          <a:ln/>
        </p:spPr>
      </p:sp>
      <p:sp>
        <p:nvSpPr>
          <p:cNvPr id="9" name="Text 7"/>
          <p:cNvSpPr txBox="1"/>
          <p:nvPr/>
        </p:nvSpPr>
        <p:spPr>
          <a:xfrm>
            <a:off x="704088" y="2488286"/>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dose (G) (doz): </a:t>
            </a:r>
            <a:r>
              <a:rPr lang="en-US" sz="1300" dirty="0">
                <a:solidFill>
                  <a:srgbClr val="1F2937"/>
                </a:solidFill>
                <a:latin typeface="Calibri" pitchFamily="34" charset="0"/>
                <a:ea typeface="Calibri" pitchFamily="34" charset="-122"/>
                <a:cs typeface="Calibri" pitchFamily="34" charset="-120"/>
              </a:rPr>
              <a:t>Tedavide amaca ulaşmayı sağlayan ve toksik etki oluşturmayan etkili ilaç miktarı</a:t>
            </a:r>
            <a:endParaRPr lang="en-US" sz="1300" dirty="0"/>
          </a:p>
        </p:txBody>
      </p:sp>
      <p:sp>
        <p:nvSpPr>
          <p:cNvPr id="10" name="Shape 8"/>
          <p:cNvSpPr/>
          <p:nvPr/>
        </p:nvSpPr>
        <p:spPr>
          <a:xfrm>
            <a:off x="548640" y="3099613"/>
            <a:ext cx="5410048" cy="593039"/>
          </a:xfrm>
          <a:prstGeom prst="roundRect">
            <a:avLst>
              <a:gd name="adj" fmla="val 10793"/>
            </a:avLst>
          </a:prstGeom>
          <a:solidFill>
            <a:srgbClr val="E7F2F9"/>
          </a:solidFill>
          <a:ln/>
        </p:spPr>
      </p:sp>
      <p:sp>
        <p:nvSpPr>
          <p:cNvPr id="11" name="Text 9"/>
          <p:cNvSpPr txBox="1"/>
          <p:nvPr/>
        </p:nvSpPr>
        <p:spPr>
          <a:xfrm>
            <a:off x="704088" y="3172765"/>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spectrum (L) (spektrum): </a:t>
            </a:r>
            <a:r>
              <a:rPr lang="en-US" sz="1300" dirty="0">
                <a:solidFill>
                  <a:srgbClr val="1F2937"/>
                </a:solidFill>
                <a:latin typeface="Calibri" pitchFamily="34" charset="0"/>
                <a:ea typeface="Calibri" pitchFamily="34" charset="-122"/>
                <a:cs typeface="Calibri" pitchFamily="34" charset="-120"/>
              </a:rPr>
              <a:t>İlaçların mikroplara karşı gösterdiği etki alanı</a:t>
            </a:r>
            <a:endParaRPr lang="en-US" sz="1300" dirty="0"/>
          </a:p>
        </p:txBody>
      </p:sp>
      <p:sp>
        <p:nvSpPr>
          <p:cNvPr id="12" name="Shape 10"/>
          <p:cNvSpPr/>
          <p:nvPr/>
        </p:nvSpPr>
        <p:spPr>
          <a:xfrm>
            <a:off x="548640" y="3784092"/>
            <a:ext cx="5410048" cy="593039"/>
          </a:xfrm>
          <a:prstGeom prst="roundRect">
            <a:avLst>
              <a:gd name="adj" fmla="val 10793"/>
            </a:avLst>
          </a:prstGeom>
          <a:solidFill>
            <a:srgbClr val="E7F2F9"/>
          </a:solidFill>
          <a:ln/>
        </p:spPr>
      </p:sp>
      <p:sp>
        <p:nvSpPr>
          <p:cNvPr id="13" name="Text 11"/>
          <p:cNvSpPr txBox="1"/>
          <p:nvPr/>
        </p:nvSpPr>
        <p:spPr>
          <a:xfrm>
            <a:off x="704088" y="3857244"/>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hamartoma (G) (hamartoma): </a:t>
            </a:r>
            <a:r>
              <a:rPr lang="en-US" sz="1300" dirty="0">
                <a:solidFill>
                  <a:srgbClr val="1F2937"/>
                </a:solidFill>
                <a:latin typeface="Calibri" pitchFamily="34" charset="0"/>
                <a:ea typeface="Calibri" pitchFamily="34" charset="-122"/>
                <a:cs typeface="Calibri" pitchFamily="34" charset="-120"/>
              </a:rPr>
              <a:t>Dudaktaki kusurlu gelişmeye bağlı olarak meydana gelen tümöre benzer yumru şeklindeki oluşum</a:t>
            </a:r>
            <a:endParaRPr lang="en-US" sz="1300" dirty="0"/>
          </a:p>
        </p:txBody>
      </p:sp>
      <p:sp>
        <p:nvSpPr>
          <p:cNvPr id="14" name="Shape 12"/>
          <p:cNvSpPr/>
          <p:nvPr/>
        </p:nvSpPr>
        <p:spPr>
          <a:xfrm>
            <a:off x="548640" y="4468571"/>
            <a:ext cx="5410048" cy="391617"/>
          </a:xfrm>
          <a:prstGeom prst="roundRect">
            <a:avLst>
              <a:gd name="adj" fmla="val 16345"/>
            </a:avLst>
          </a:prstGeom>
          <a:solidFill>
            <a:srgbClr val="E7F2F9"/>
          </a:solidFill>
          <a:ln/>
        </p:spPr>
      </p:sp>
      <p:sp>
        <p:nvSpPr>
          <p:cNvPr id="15" name="Text 13"/>
          <p:cNvSpPr txBox="1"/>
          <p:nvPr/>
        </p:nvSpPr>
        <p:spPr>
          <a:xfrm>
            <a:off x="704088" y="4541723"/>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bening (L): </a:t>
            </a:r>
            <a:r>
              <a:rPr lang="en-US" sz="1300" dirty="0">
                <a:solidFill>
                  <a:srgbClr val="1F2937"/>
                </a:solidFill>
                <a:latin typeface="Calibri" pitchFamily="34" charset="0"/>
                <a:ea typeface="Calibri" pitchFamily="34" charset="-122"/>
                <a:cs typeface="Calibri" pitchFamily="34" charset="-120"/>
              </a:rPr>
              <a:t>İyicil ur, iyi huylu tümör (selim tümör)</a:t>
            </a:r>
            <a:endParaRPr lang="en-US" sz="1300" dirty="0"/>
          </a:p>
        </p:txBody>
      </p:sp>
      <p:sp>
        <p:nvSpPr>
          <p:cNvPr id="16" name="Shape 14"/>
          <p:cNvSpPr/>
          <p:nvPr/>
        </p:nvSpPr>
        <p:spPr>
          <a:xfrm>
            <a:off x="548640" y="4951628"/>
            <a:ext cx="5410048" cy="391617"/>
          </a:xfrm>
          <a:prstGeom prst="roundRect">
            <a:avLst>
              <a:gd name="adj" fmla="val 16345"/>
            </a:avLst>
          </a:prstGeom>
          <a:solidFill>
            <a:srgbClr val="E7F2F9"/>
          </a:solidFill>
          <a:ln/>
        </p:spPr>
      </p:sp>
      <p:sp>
        <p:nvSpPr>
          <p:cNvPr id="17" name="Text 15"/>
          <p:cNvSpPr txBox="1"/>
          <p:nvPr/>
        </p:nvSpPr>
        <p:spPr>
          <a:xfrm>
            <a:off x="704088" y="5024780"/>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malign (L): </a:t>
            </a:r>
            <a:r>
              <a:rPr lang="en-US" sz="1300" dirty="0">
                <a:solidFill>
                  <a:srgbClr val="1F2937"/>
                </a:solidFill>
                <a:latin typeface="Calibri" pitchFamily="34" charset="0"/>
                <a:ea typeface="Calibri" pitchFamily="34" charset="-122"/>
                <a:cs typeface="Calibri" pitchFamily="34" charset="-120"/>
              </a:rPr>
              <a:t>Kötücül ur, kötü huylu tümör (habis tümör)</a:t>
            </a:r>
            <a:endParaRPr lang="en-US" sz="1300" dirty="0"/>
          </a:p>
        </p:txBody>
      </p:sp>
      <p:sp>
        <p:nvSpPr>
          <p:cNvPr id="18" name="Shape 16"/>
          <p:cNvSpPr/>
          <p:nvPr/>
        </p:nvSpPr>
        <p:spPr>
          <a:xfrm>
            <a:off x="548640" y="5434686"/>
            <a:ext cx="5410048" cy="593039"/>
          </a:xfrm>
          <a:prstGeom prst="roundRect">
            <a:avLst>
              <a:gd name="adj" fmla="val 10793"/>
            </a:avLst>
          </a:prstGeom>
          <a:solidFill>
            <a:srgbClr val="E7F2F9"/>
          </a:solidFill>
          <a:ln/>
        </p:spPr>
      </p:sp>
      <p:sp>
        <p:nvSpPr>
          <p:cNvPr id="19" name="Text 17"/>
          <p:cNvSpPr txBox="1"/>
          <p:nvPr/>
        </p:nvSpPr>
        <p:spPr>
          <a:xfrm>
            <a:off x="704088" y="5507838"/>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shock (İ) (şok): </a:t>
            </a:r>
            <a:r>
              <a:rPr lang="en-US" sz="1300" dirty="0">
                <a:solidFill>
                  <a:srgbClr val="1F2937"/>
                </a:solidFill>
                <a:latin typeface="Calibri" pitchFamily="34" charset="0"/>
                <a:ea typeface="Calibri" pitchFamily="34" charset="-122"/>
                <a:cs typeface="Calibri" pitchFamily="34" charset="-120"/>
              </a:rPr>
              <a:t>Yaşamsal organların yetersiz kanlanmaları sonucu vücut işlevlerinin aniden düşmesi ya da eksilmesi</a:t>
            </a:r>
            <a:endParaRPr lang="en-US" sz="1300" dirty="0"/>
          </a:p>
        </p:txBody>
      </p:sp>
      <p:sp>
        <p:nvSpPr>
          <p:cNvPr id="20" name="Shape 18"/>
          <p:cNvSpPr/>
          <p:nvPr/>
        </p:nvSpPr>
        <p:spPr>
          <a:xfrm>
            <a:off x="6233008" y="1730654"/>
            <a:ext cx="5410048" cy="593039"/>
          </a:xfrm>
          <a:prstGeom prst="roundRect">
            <a:avLst>
              <a:gd name="adj" fmla="val 10793"/>
            </a:avLst>
          </a:prstGeom>
          <a:solidFill>
            <a:srgbClr val="E7F2F9"/>
          </a:solidFill>
          <a:ln/>
        </p:spPr>
      </p:sp>
      <p:sp>
        <p:nvSpPr>
          <p:cNvPr id="21" name="Text 19"/>
          <p:cNvSpPr txBox="1"/>
          <p:nvPr/>
        </p:nvSpPr>
        <p:spPr>
          <a:xfrm>
            <a:off x="6388456" y="1803806"/>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coma (G) (koma): </a:t>
            </a:r>
            <a:r>
              <a:rPr lang="en-US" sz="1300" dirty="0">
                <a:solidFill>
                  <a:srgbClr val="1F2937"/>
                </a:solidFill>
                <a:latin typeface="Calibri" pitchFamily="34" charset="0"/>
                <a:ea typeface="Calibri" pitchFamily="34" charset="-122"/>
                <a:cs typeface="Calibri" pitchFamily="34" charset="-120"/>
              </a:rPr>
              <a:t>Baygı, bilincin bütünüyle yitirilmesiyle gelişen derin uyku hali</a:t>
            </a:r>
            <a:endParaRPr lang="en-US" sz="1300" dirty="0"/>
          </a:p>
        </p:txBody>
      </p:sp>
      <p:sp>
        <p:nvSpPr>
          <p:cNvPr id="22" name="Shape 20"/>
          <p:cNvSpPr/>
          <p:nvPr/>
        </p:nvSpPr>
        <p:spPr>
          <a:xfrm>
            <a:off x="6233008" y="2415134"/>
            <a:ext cx="5410048" cy="593039"/>
          </a:xfrm>
          <a:prstGeom prst="roundRect">
            <a:avLst>
              <a:gd name="adj" fmla="val 10793"/>
            </a:avLst>
          </a:prstGeom>
          <a:solidFill>
            <a:srgbClr val="E7F2F9"/>
          </a:solidFill>
          <a:ln/>
        </p:spPr>
      </p:sp>
      <p:sp>
        <p:nvSpPr>
          <p:cNvPr id="23" name="Text 21"/>
          <p:cNvSpPr txBox="1"/>
          <p:nvPr/>
        </p:nvSpPr>
        <p:spPr>
          <a:xfrm>
            <a:off x="6388456" y="2488286"/>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morbus (L), pathos (G) (patos): </a:t>
            </a:r>
            <a:r>
              <a:rPr lang="en-US" sz="1300" dirty="0">
                <a:solidFill>
                  <a:srgbClr val="1F2937"/>
                </a:solidFill>
                <a:latin typeface="Calibri" pitchFamily="34" charset="0"/>
                <a:ea typeface="Calibri" pitchFamily="34" charset="-122"/>
                <a:cs typeface="Calibri" pitchFamily="34" charset="-120"/>
              </a:rPr>
              <a:t>Sayrılık, hastalık, maraz, illet</a:t>
            </a:r>
            <a:endParaRPr lang="en-US" sz="1300" dirty="0"/>
          </a:p>
        </p:txBody>
      </p:sp>
      <p:sp>
        <p:nvSpPr>
          <p:cNvPr id="24" name="Shape 22"/>
          <p:cNvSpPr/>
          <p:nvPr/>
        </p:nvSpPr>
        <p:spPr>
          <a:xfrm>
            <a:off x="6233008" y="3099613"/>
            <a:ext cx="5410048" cy="391617"/>
          </a:xfrm>
          <a:prstGeom prst="roundRect">
            <a:avLst>
              <a:gd name="adj" fmla="val 16345"/>
            </a:avLst>
          </a:prstGeom>
          <a:solidFill>
            <a:srgbClr val="E7F2F9"/>
          </a:solidFill>
          <a:ln/>
        </p:spPr>
      </p:sp>
      <p:sp>
        <p:nvSpPr>
          <p:cNvPr id="25" name="Text 23"/>
          <p:cNvSpPr txBox="1"/>
          <p:nvPr/>
        </p:nvSpPr>
        <p:spPr>
          <a:xfrm>
            <a:off x="6388456" y="3172765"/>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mobiditas (L): </a:t>
            </a:r>
            <a:r>
              <a:rPr lang="en-US" sz="1300" dirty="0">
                <a:solidFill>
                  <a:srgbClr val="1F2937"/>
                </a:solidFill>
                <a:latin typeface="Calibri" pitchFamily="34" charset="0"/>
                <a:ea typeface="Calibri" pitchFamily="34" charset="-122"/>
                <a:cs typeface="Calibri" pitchFamily="34" charset="-120"/>
              </a:rPr>
              <a:t>Hastalanma oranı, mobidite</a:t>
            </a:r>
            <a:endParaRPr lang="en-US" sz="1300" dirty="0"/>
          </a:p>
        </p:txBody>
      </p:sp>
      <p:sp>
        <p:nvSpPr>
          <p:cNvPr id="26" name="Shape 24"/>
          <p:cNvSpPr/>
          <p:nvPr/>
        </p:nvSpPr>
        <p:spPr>
          <a:xfrm>
            <a:off x="6233008" y="3582670"/>
            <a:ext cx="5410048" cy="391617"/>
          </a:xfrm>
          <a:prstGeom prst="roundRect">
            <a:avLst>
              <a:gd name="adj" fmla="val 16345"/>
            </a:avLst>
          </a:prstGeom>
          <a:solidFill>
            <a:srgbClr val="E7F2F9"/>
          </a:solidFill>
          <a:ln/>
        </p:spPr>
      </p:sp>
      <p:sp>
        <p:nvSpPr>
          <p:cNvPr id="27" name="Text 25"/>
          <p:cNvSpPr txBox="1"/>
          <p:nvPr/>
        </p:nvSpPr>
        <p:spPr>
          <a:xfrm>
            <a:off x="6388456" y="3655822"/>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mortis, mors (L), thanatos (G) (tanatoz): </a:t>
            </a:r>
            <a:r>
              <a:rPr lang="en-US" sz="1300" dirty="0">
                <a:solidFill>
                  <a:srgbClr val="1F2937"/>
                </a:solidFill>
                <a:latin typeface="Calibri" pitchFamily="34" charset="0"/>
                <a:ea typeface="Calibri" pitchFamily="34" charset="-122"/>
                <a:cs typeface="Calibri" pitchFamily="34" charset="-120"/>
              </a:rPr>
              <a:t>Ölüm, vefat</a:t>
            </a:r>
            <a:endParaRPr lang="en-US" sz="1300" dirty="0"/>
          </a:p>
        </p:txBody>
      </p:sp>
      <p:sp>
        <p:nvSpPr>
          <p:cNvPr id="28" name="Shape 26"/>
          <p:cNvSpPr/>
          <p:nvPr/>
        </p:nvSpPr>
        <p:spPr>
          <a:xfrm>
            <a:off x="6233008" y="4065727"/>
            <a:ext cx="5410048" cy="391617"/>
          </a:xfrm>
          <a:prstGeom prst="roundRect">
            <a:avLst>
              <a:gd name="adj" fmla="val 16345"/>
            </a:avLst>
          </a:prstGeom>
          <a:solidFill>
            <a:srgbClr val="E7F2F9"/>
          </a:solidFill>
          <a:ln/>
        </p:spPr>
      </p:sp>
      <p:sp>
        <p:nvSpPr>
          <p:cNvPr id="29" name="Text 27"/>
          <p:cNvSpPr txBox="1"/>
          <p:nvPr/>
        </p:nvSpPr>
        <p:spPr>
          <a:xfrm>
            <a:off x="6388456" y="4138879"/>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mortalitas (L): </a:t>
            </a:r>
            <a:r>
              <a:rPr lang="en-US" sz="1300" dirty="0">
                <a:solidFill>
                  <a:srgbClr val="1F2937"/>
                </a:solidFill>
                <a:latin typeface="Calibri" pitchFamily="34" charset="0"/>
                <a:ea typeface="Calibri" pitchFamily="34" charset="-122"/>
                <a:cs typeface="Calibri" pitchFamily="34" charset="-120"/>
              </a:rPr>
              <a:t>Ölüm oranı</a:t>
            </a:r>
            <a:endParaRPr lang="en-US" sz="1300" dirty="0"/>
          </a:p>
        </p:txBody>
      </p:sp>
      <p:sp>
        <p:nvSpPr>
          <p:cNvPr id="30" name="Shape 28"/>
          <p:cNvSpPr/>
          <p:nvPr/>
        </p:nvSpPr>
        <p:spPr>
          <a:xfrm>
            <a:off x="6233008" y="4548784"/>
            <a:ext cx="5410048" cy="391617"/>
          </a:xfrm>
          <a:prstGeom prst="roundRect">
            <a:avLst>
              <a:gd name="adj" fmla="val 16345"/>
            </a:avLst>
          </a:prstGeom>
          <a:solidFill>
            <a:srgbClr val="E7F2F9"/>
          </a:solidFill>
          <a:ln/>
        </p:spPr>
      </p:sp>
      <p:sp>
        <p:nvSpPr>
          <p:cNvPr id="31" name="Text 29"/>
          <p:cNvSpPr txBox="1"/>
          <p:nvPr/>
        </p:nvSpPr>
        <p:spPr>
          <a:xfrm>
            <a:off x="6388456" y="4621936"/>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exitus (L) (eksitus): </a:t>
            </a:r>
            <a:r>
              <a:rPr lang="en-US" sz="1300" dirty="0">
                <a:solidFill>
                  <a:srgbClr val="1F2937"/>
                </a:solidFill>
                <a:latin typeface="Calibri" pitchFamily="34" charset="0"/>
                <a:ea typeface="Calibri" pitchFamily="34" charset="-122"/>
                <a:cs typeface="Calibri" pitchFamily="34" charset="-120"/>
              </a:rPr>
              <a:t>Ölme, ex</a:t>
            </a:r>
            <a:endParaRPr lang="en-US" sz="1300" dirty="0"/>
          </a:p>
        </p:txBody>
      </p:sp>
      <p:sp>
        <p:nvSpPr>
          <p:cNvPr id="32" name="Shape 30"/>
          <p:cNvSpPr/>
          <p:nvPr/>
        </p:nvSpPr>
        <p:spPr>
          <a:xfrm>
            <a:off x="6233008" y="5031842"/>
            <a:ext cx="5410048" cy="593039"/>
          </a:xfrm>
          <a:prstGeom prst="roundRect">
            <a:avLst>
              <a:gd name="adj" fmla="val 10793"/>
            </a:avLst>
          </a:prstGeom>
          <a:solidFill>
            <a:srgbClr val="E7F2F9"/>
          </a:solidFill>
          <a:ln/>
        </p:spPr>
      </p:sp>
      <p:sp>
        <p:nvSpPr>
          <p:cNvPr id="33" name="Text 31"/>
          <p:cNvSpPr txBox="1"/>
          <p:nvPr/>
        </p:nvSpPr>
        <p:spPr>
          <a:xfrm>
            <a:off x="6388456" y="5104994"/>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autopsy (G) (otopsi): </a:t>
            </a:r>
            <a:r>
              <a:rPr lang="en-US" sz="1300" dirty="0">
                <a:solidFill>
                  <a:srgbClr val="1F2937"/>
                </a:solidFill>
                <a:latin typeface="Calibri" pitchFamily="34" charset="0"/>
                <a:ea typeface="Calibri" pitchFamily="34" charset="-122"/>
                <a:cs typeface="Calibri" pitchFamily="34" charset="-120"/>
              </a:rPr>
              <a:t>Ölüm ya da hastalık nedeni belirlenmesi için ölüye yapılan cerrahi işlem</a:t>
            </a:r>
            <a:endParaRPr lang="en-US" sz="1300" dirty="0"/>
          </a:p>
        </p:txBody>
      </p:sp>
      <p:sp>
        <p:nvSpPr>
          <p:cNvPr id="34" name="Shape 32"/>
          <p:cNvSpPr/>
          <p:nvPr/>
        </p:nvSpPr>
        <p:spPr>
          <a:xfrm>
            <a:off x="6233008" y="5716321"/>
            <a:ext cx="5410048" cy="593039"/>
          </a:xfrm>
          <a:prstGeom prst="roundRect">
            <a:avLst>
              <a:gd name="adj" fmla="val 10793"/>
            </a:avLst>
          </a:prstGeom>
          <a:solidFill>
            <a:srgbClr val="E7F2F9"/>
          </a:solidFill>
          <a:ln/>
        </p:spPr>
      </p:sp>
      <p:sp>
        <p:nvSpPr>
          <p:cNvPr id="35" name="Text 33"/>
          <p:cNvSpPr txBox="1"/>
          <p:nvPr/>
        </p:nvSpPr>
        <p:spPr>
          <a:xfrm>
            <a:off x="6388456" y="5789473"/>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369A1"/>
                </a:solidFill>
                <a:latin typeface="Calibri" pitchFamily="34" charset="0"/>
                <a:ea typeface="Calibri" pitchFamily="34" charset="-122"/>
                <a:cs typeface="Calibri" pitchFamily="34" charset="-120"/>
              </a:rPr>
              <a:t>resuscitation (L) (resussitasyon): </a:t>
            </a:r>
            <a:r>
              <a:rPr lang="en-US" sz="1300" dirty="0">
                <a:solidFill>
                  <a:srgbClr val="1F2937"/>
                </a:solidFill>
                <a:latin typeface="Calibri" pitchFamily="34" charset="0"/>
                <a:ea typeface="Calibri" pitchFamily="34" charset="-122"/>
                <a:cs typeface="Calibri" pitchFamily="34" charset="-120"/>
              </a:rPr>
              <a:t>Diriltme, yeniden yaşama döndürme</a:t>
            </a:r>
            <a:endParaRPr lang="en-US" sz="13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1E3"/>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F4E2C7"/>
                </a:solidFill>
                <a:latin typeface="Cambria" pitchFamily="34" charset="0"/>
                <a:ea typeface="Cambria" pitchFamily="34" charset="-122"/>
                <a:cs typeface="Cambria" pitchFamily="34" charset="-120"/>
              </a:rPr>
              <a:t>04</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B45309"/>
                </a:solidFill>
                <a:latin typeface="Calibri" pitchFamily="34" charset="0"/>
                <a:ea typeface="Calibri" pitchFamily="34" charset="-122"/>
                <a:cs typeface="Calibri" pitchFamily="34" charset="-120"/>
              </a:rPr>
              <a:t>BÖLÜM 4</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HAREKET SİSTEMİ TERİMLERİ</a:t>
            </a:r>
            <a:endParaRPr lang="en-US" sz="3600" dirty="0"/>
          </a:p>
        </p:txBody>
      </p:sp>
      <p:sp>
        <p:nvSpPr>
          <p:cNvPr id="7" name="Shape 5"/>
          <p:cNvSpPr/>
          <p:nvPr/>
        </p:nvSpPr>
        <p:spPr>
          <a:xfrm>
            <a:off x="8503920" y="2331720"/>
            <a:ext cx="2194560" cy="2194560"/>
          </a:xfrm>
          <a:prstGeom prst="ellipse">
            <a:avLst/>
          </a:prstGeom>
          <a:solidFill>
            <a:srgbClr val="FBF1E3"/>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158</a:t>
            </a:r>
            <a:endParaRPr lang="en-US" sz="10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HAREKET SİSTEMİ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159</a:t>
            </a:r>
            <a:endParaRPr lang="en-US" sz="1000" dirty="0"/>
          </a:p>
        </p:txBody>
      </p:sp>
      <p:sp>
        <p:nvSpPr>
          <p:cNvPr id="6" name="Shape 4"/>
          <p:cNvSpPr/>
          <p:nvPr/>
        </p:nvSpPr>
        <p:spPr>
          <a:xfrm>
            <a:off x="548640" y="2099005"/>
            <a:ext cx="11094415" cy="1100023"/>
          </a:xfrm>
          <a:prstGeom prst="roundRect">
            <a:avLst>
              <a:gd name="adj" fmla="val 5819"/>
            </a:avLst>
          </a:prstGeom>
          <a:solidFill>
            <a:srgbClr val="FBF1E3"/>
          </a:solidFill>
          <a:ln/>
        </p:spPr>
      </p:sp>
      <p:sp>
        <p:nvSpPr>
          <p:cNvPr id="7" name="Text 5"/>
          <p:cNvSpPr txBox="1"/>
          <p:nvPr/>
        </p:nvSpPr>
        <p:spPr>
          <a:xfrm>
            <a:off x="704088" y="2172157"/>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Hareket sistemi, insanın hareketini sağlayan yapılar birliğidir. Bu yapılar kemikler, eklemler ve kaslardır. Bu üç yapı kendilerine destek olan yapılarla birlikte insanı hareket ettirirler. Destek yapılarının başında bağ doku, damarlar ve sinirler gelir.</a:t>
            </a:r>
            <a:endParaRPr lang="en-US" sz="1800" dirty="0"/>
          </a:p>
        </p:txBody>
      </p:sp>
      <p:sp>
        <p:nvSpPr>
          <p:cNvPr id="8" name="Shape 6"/>
          <p:cNvSpPr/>
          <p:nvPr/>
        </p:nvSpPr>
        <p:spPr>
          <a:xfrm>
            <a:off x="548640" y="3290468"/>
            <a:ext cx="11094415" cy="1100023"/>
          </a:xfrm>
          <a:prstGeom prst="roundRect">
            <a:avLst>
              <a:gd name="adj" fmla="val 5819"/>
            </a:avLst>
          </a:prstGeom>
          <a:solidFill>
            <a:srgbClr val="FBF1E3"/>
          </a:solidFill>
          <a:ln/>
        </p:spPr>
      </p:sp>
      <p:sp>
        <p:nvSpPr>
          <p:cNvPr id="9" name="Text 7"/>
          <p:cNvSpPr txBox="1"/>
          <p:nvPr/>
        </p:nvSpPr>
        <p:spPr>
          <a:xfrm>
            <a:off x="704088" y="3363620"/>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Kemikler eklemler aracılığı ile birleşerek iskeleti yaparlar. İskelet vücudun biçimini belirler, organları korur, hareketi sağlar; başta kalsiyum ve fosfor bileşikleri olmak üzere, bazı mineral maddeleri depo eder; içerdiği kemik iliği ile kan hücrelerinin üretimine olanak sağlar.</a:t>
            </a:r>
            <a:endParaRPr lang="en-US" sz="1800" dirty="0"/>
          </a:p>
        </p:txBody>
      </p:sp>
      <p:sp>
        <p:nvSpPr>
          <p:cNvPr id="10" name="Shape 8"/>
          <p:cNvSpPr/>
          <p:nvPr/>
        </p:nvSpPr>
        <p:spPr>
          <a:xfrm>
            <a:off x="548640" y="4481932"/>
            <a:ext cx="11094415" cy="1100023"/>
          </a:xfrm>
          <a:prstGeom prst="roundRect">
            <a:avLst>
              <a:gd name="adj" fmla="val 5819"/>
            </a:avLst>
          </a:prstGeom>
          <a:solidFill>
            <a:srgbClr val="FBF1E3"/>
          </a:solidFill>
          <a:ln/>
        </p:spPr>
      </p:sp>
      <p:sp>
        <p:nvSpPr>
          <p:cNvPr id="11" name="Text 9"/>
          <p:cNvSpPr txBox="1"/>
          <p:nvPr/>
        </p:nvSpPr>
        <p:spPr>
          <a:xfrm>
            <a:off x="704088" y="4555084"/>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Eklemler kemikler arasında oluşur, kemiklerin eklenme yeridirler ve iskeletin hareketini sağlarlar. Bunlar oynar ve oynamaz eklemler olarak ayrılırlar. Eklem hastalıkları genelde oynar eklemlerde görülür. Hastalık eklemi yapan yağılarda oluşur.</a:t>
            </a:r>
            <a:endParaRPr lang="en-US" sz="1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160</a:t>
            </a:r>
            <a:endParaRPr lang="en-US" sz="1000" dirty="0"/>
          </a:p>
        </p:txBody>
      </p:sp>
      <p:sp>
        <p:nvSpPr>
          <p:cNvPr id="6" name="Shape 4"/>
          <p:cNvSpPr/>
          <p:nvPr/>
        </p:nvSpPr>
        <p:spPr>
          <a:xfrm>
            <a:off x="548640" y="1565529"/>
            <a:ext cx="11094415" cy="684276"/>
          </a:xfrm>
          <a:prstGeom prst="roundRect">
            <a:avLst>
              <a:gd name="adj" fmla="val 9354"/>
            </a:avLst>
          </a:prstGeom>
          <a:solidFill>
            <a:srgbClr val="FBF1E3"/>
          </a:solidFill>
          <a:ln/>
        </p:spPr>
      </p:sp>
      <p:sp>
        <p:nvSpPr>
          <p:cNvPr id="7" name="Text 5"/>
          <p:cNvSpPr txBox="1"/>
          <p:nvPr/>
        </p:nvSpPr>
        <p:spPr>
          <a:xfrm>
            <a:off x="704088" y="1638681"/>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periosteum (G) (periosteum, periost): </a:t>
            </a:r>
            <a:r>
              <a:rPr lang="en-US" sz="1500" dirty="0">
                <a:solidFill>
                  <a:srgbClr val="1F2937"/>
                </a:solidFill>
                <a:latin typeface="Calibri" pitchFamily="34" charset="0"/>
                <a:ea typeface="Calibri" pitchFamily="34" charset="-122"/>
                <a:cs typeface="Calibri" pitchFamily="34" charset="-120"/>
              </a:rPr>
              <a:t>Kemiklerin dış yüzeylerini sıkıca saran ve sıkı bağ dokudan yapılmış zardır. Kemiği korur ve kemik kırıklarında onarımı sağlar.</a:t>
            </a:r>
            <a:endParaRPr lang="en-US" sz="1500" dirty="0"/>
          </a:p>
        </p:txBody>
      </p:sp>
      <p:sp>
        <p:nvSpPr>
          <p:cNvPr id="8" name="Shape 6"/>
          <p:cNvSpPr/>
          <p:nvPr/>
        </p:nvSpPr>
        <p:spPr>
          <a:xfrm>
            <a:off x="548640" y="2443734"/>
            <a:ext cx="11094415" cy="451866"/>
          </a:xfrm>
          <a:prstGeom prst="roundRect">
            <a:avLst>
              <a:gd name="adj" fmla="val 14165"/>
            </a:avLst>
          </a:prstGeom>
          <a:solidFill>
            <a:srgbClr val="FBF1E3"/>
          </a:solidFill>
          <a:ln/>
        </p:spPr>
      </p:sp>
      <p:sp>
        <p:nvSpPr>
          <p:cNvPr id="9" name="Text 7"/>
          <p:cNvSpPr txBox="1"/>
          <p:nvPr/>
        </p:nvSpPr>
        <p:spPr>
          <a:xfrm>
            <a:off x="704088" y="251688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4.a.1. Kemik Terimleri</a:t>
            </a:r>
            <a:endParaRPr lang="en-US" sz="1500" dirty="0"/>
          </a:p>
        </p:txBody>
      </p:sp>
      <p:sp>
        <p:nvSpPr>
          <p:cNvPr id="10" name="Shape 8"/>
          <p:cNvSpPr/>
          <p:nvPr/>
        </p:nvSpPr>
        <p:spPr>
          <a:xfrm>
            <a:off x="548640" y="2987040"/>
            <a:ext cx="11094415" cy="451866"/>
          </a:xfrm>
          <a:prstGeom prst="roundRect">
            <a:avLst>
              <a:gd name="adj" fmla="val 14165"/>
            </a:avLst>
          </a:prstGeom>
          <a:solidFill>
            <a:srgbClr val="FBF1E3"/>
          </a:solidFill>
          <a:ln/>
        </p:spPr>
      </p:sp>
      <p:sp>
        <p:nvSpPr>
          <p:cNvPr id="11" name="Text 9"/>
          <p:cNvSpPr txBox="1"/>
          <p:nvPr/>
        </p:nvSpPr>
        <p:spPr>
          <a:xfrm>
            <a:off x="704088" y="306019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(L), osteon (G): </a:t>
            </a:r>
            <a:r>
              <a:rPr lang="en-US" sz="1500" dirty="0">
                <a:solidFill>
                  <a:srgbClr val="1F2937"/>
                </a:solidFill>
                <a:latin typeface="Calibri" pitchFamily="34" charset="0"/>
                <a:ea typeface="Calibri" pitchFamily="34" charset="-122"/>
                <a:cs typeface="Calibri" pitchFamily="34" charset="-120"/>
              </a:rPr>
              <a:t>Kemik, çoğulu </a:t>
            </a:r>
            <a:r>
              <a:rPr lang="en-US" sz="1500" b="1" dirty="0">
                <a:solidFill>
                  <a:srgbClr val="1F2937"/>
                </a:solidFill>
                <a:latin typeface="Calibri" pitchFamily="34" charset="0"/>
                <a:ea typeface="Calibri" pitchFamily="34" charset="-122"/>
                <a:cs typeface="Calibri" pitchFamily="34" charset="-120"/>
              </a:rPr>
              <a:t>ossa</a:t>
            </a:r>
            <a:r>
              <a:rPr lang="en-US" sz="1500" dirty="0">
                <a:solidFill>
                  <a:srgbClr val="1F2937"/>
                </a:solidFill>
                <a:latin typeface="Calibri" pitchFamily="34" charset="0"/>
                <a:ea typeface="Calibri" pitchFamily="34" charset="-122"/>
                <a:cs typeface="Calibri" pitchFamily="34" charset="-120"/>
              </a:rPr>
              <a:t>’dır.</a:t>
            </a:r>
            <a:endParaRPr lang="en-US" sz="1500" dirty="0"/>
          </a:p>
        </p:txBody>
      </p:sp>
      <p:sp>
        <p:nvSpPr>
          <p:cNvPr id="12" name="Shape 10"/>
          <p:cNvSpPr/>
          <p:nvPr/>
        </p:nvSpPr>
        <p:spPr>
          <a:xfrm>
            <a:off x="548640" y="3530346"/>
            <a:ext cx="11094415" cy="684276"/>
          </a:xfrm>
          <a:prstGeom prst="roundRect">
            <a:avLst>
              <a:gd name="adj" fmla="val 9354"/>
            </a:avLst>
          </a:prstGeom>
          <a:solidFill>
            <a:srgbClr val="FBF1E3"/>
          </a:solidFill>
          <a:ln/>
        </p:spPr>
      </p:sp>
      <p:sp>
        <p:nvSpPr>
          <p:cNvPr id="13" name="Text 11"/>
          <p:cNvSpPr txBox="1"/>
          <p:nvPr/>
        </p:nvSpPr>
        <p:spPr>
          <a:xfrm>
            <a:off x="704088" y="360349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osteoblastocytus (osteo-blastos-kytos (G)) (osteoblast): </a:t>
            </a:r>
            <a:r>
              <a:rPr lang="en-US" sz="1500" dirty="0">
                <a:solidFill>
                  <a:srgbClr val="1F2937"/>
                </a:solidFill>
                <a:latin typeface="Calibri" pitchFamily="34" charset="0"/>
                <a:ea typeface="Calibri" pitchFamily="34" charset="-122"/>
                <a:cs typeface="Calibri" pitchFamily="34" charset="-120"/>
              </a:rPr>
              <a:t>Kemik yapan hücreler. Kemik yapımı sırasında ortaya çıkarlar.</a:t>
            </a:r>
            <a:endParaRPr lang="en-US" sz="1500" dirty="0"/>
          </a:p>
        </p:txBody>
      </p:sp>
      <p:sp>
        <p:nvSpPr>
          <p:cNvPr id="14" name="Shape 12"/>
          <p:cNvSpPr/>
          <p:nvPr/>
        </p:nvSpPr>
        <p:spPr>
          <a:xfrm>
            <a:off x="548640" y="4306062"/>
            <a:ext cx="11094415" cy="451866"/>
          </a:xfrm>
          <a:prstGeom prst="roundRect">
            <a:avLst>
              <a:gd name="adj" fmla="val 14165"/>
            </a:avLst>
          </a:prstGeom>
          <a:solidFill>
            <a:srgbClr val="FBF1E3"/>
          </a:solidFill>
          <a:ln/>
        </p:spPr>
      </p:sp>
      <p:sp>
        <p:nvSpPr>
          <p:cNvPr id="15" name="Text 13"/>
          <p:cNvSpPr txBox="1"/>
          <p:nvPr/>
        </p:nvSpPr>
        <p:spPr>
          <a:xfrm>
            <a:off x="704088" y="437921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osteocytus (osteo-kytos (G)) (osteosit): </a:t>
            </a:r>
            <a:r>
              <a:rPr lang="en-US" sz="1500" dirty="0">
                <a:solidFill>
                  <a:srgbClr val="1F2937"/>
                </a:solidFill>
                <a:latin typeface="Calibri" pitchFamily="34" charset="0"/>
                <a:ea typeface="Calibri" pitchFamily="34" charset="-122"/>
                <a:cs typeface="Calibri" pitchFamily="34" charset="-120"/>
              </a:rPr>
              <a:t>Kemik hücresi. Kemik içinde lakuna denen boşluklarda bulunurlar.</a:t>
            </a:r>
            <a:endParaRPr lang="en-US" sz="1500" dirty="0"/>
          </a:p>
        </p:txBody>
      </p:sp>
      <p:sp>
        <p:nvSpPr>
          <p:cNvPr id="16" name="Shape 14"/>
          <p:cNvSpPr/>
          <p:nvPr/>
        </p:nvSpPr>
        <p:spPr>
          <a:xfrm>
            <a:off x="548640" y="4849368"/>
            <a:ext cx="11094415" cy="684276"/>
          </a:xfrm>
          <a:prstGeom prst="roundRect">
            <a:avLst>
              <a:gd name="adj" fmla="val 9354"/>
            </a:avLst>
          </a:prstGeom>
          <a:solidFill>
            <a:srgbClr val="FBF1E3"/>
          </a:solidFill>
          <a:ln/>
        </p:spPr>
      </p:sp>
      <p:sp>
        <p:nvSpPr>
          <p:cNvPr id="17" name="Text 15"/>
          <p:cNvSpPr txBox="1"/>
          <p:nvPr/>
        </p:nvSpPr>
        <p:spPr>
          <a:xfrm>
            <a:off x="704088" y="4922520"/>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osteoclastocytus (osteo-klazein-kytos (G)) (osteoklast): </a:t>
            </a:r>
            <a:r>
              <a:rPr lang="en-US" sz="1500" dirty="0">
                <a:solidFill>
                  <a:srgbClr val="1F2937"/>
                </a:solidFill>
                <a:latin typeface="Calibri" pitchFamily="34" charset="0"/>
                <a:ea typeface="Calibri" pitchFamily="34" charset="-122"/>
                <a:cs typeface="Calibri" pitchFamily="34" charset="-120"/>
              </a:rPr>
              <a:t>Kemik yiyen hücre. Kemik onarımı sırasında ortaya çıkarlar. Çok çekirdekli büyük hücrelerdir.</a:t>
            </a:r>
            <a:endParaRPr lang="en-US" sz="1500" dirty="0"/>
          </a:p>
        </p:txBody>
      </p:sp>
      <p:sp>
        <p:nvSpPr>
          <p:cNvPr id="18" name="Shape 16"/>
          <p:cNvSpPr/>
          <p:nvPr/>
        </p:nvSpPr>
        <p:spPr>
          <a:xfrm>
            <a:off x="548640" y="5625084"/>
            <a:ext cx="11094415" cy="684276"/>
          </a:xfrm>
          <a:prstGeom prst="roundRect">
            <a:avLst>
              <a:gd name="adj" fmla="val 9354"/>
            </a:avLst>
          </a:prstGeom>
          <a:solidFill>
            <a:srgbClr val="FBF1E3"/>
          </a:solidFill>
          <a:ln/>
        </p:spPr>
      </p:sp>
      <p:sp>
        <p:nvSpPr>
          <p:cNvPr id="19" name="Text 17"/>
          <p:cNvSpPr txBox="1"/>
          <p:nvPr/>
        </p:nvSpPr>
        <p:spPr>
          <a:xfrm>
            <a:off x="704088" y="5698236"/>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endosteum (G) (endosteum): </a:t>
            </a:r>
            <a:r>
              <a:rPr lang="en-US" sz="1500" dirty="0">
                <a:solidFill>
                  <a:srgbClr val="1F2937"/>
                </a:solidFill>
                <a:latin typeface="Calibri" pitchFamily="34" charset="0"/>
                <a:ea typeface="Calibri" pitchFamily="34" charset="-122"/>
                <a:cs typeface="Calibri" pitchFamily="34" charset="-120"/>
              </a:rPr>
              <a:t>Kemik içindeki boşluklarda yüzeyi örten bağ dokudan zar. Kemiğe sıkıca yapışmışlardır. Kemik iliğine komşudurlar.</a:t>
            </a:r>
            <a:endParaRPr lang="en-US" sz="15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161</a:t>
            </a:r>
            <a:endParaRPr lang="en-US" sz="1000" dirty="0"/>
          </a:p>
        </p:txBody>
      </p:sp>
      <p:sp>
        <p:nvSpPr>
          <p:cNvPr id="6" name="Shape 4"/>
          <p:cNvSpPr/>
          <p:nvPr/>
        </p:nvSpPr>
        <p:spPr>
          <a:xfrm>
            <a:off x="548640" y="1533144"/>
            <a:ext cx="11094415" cy="740664"/>
          </a:xfrm>
          <a:prstGeom prst="roundRect">
            <a:avLst>
              <a:gd name="adj" fmla="val 8642"/>
            </a:avLst>
          </a:prstGeom>
          <a:solidFill>
            <a:srgbClr val="FBF1E3"/>
          </a:solidFill>
          <a:ln/>
        </p:spPr>
      </p:sp>
      <p:sp>
        <p:nvSpPr>
          <p:cNvPr id="7" name="Text 5"/>
          <p:cNvSpPr txBox="1"/>
          <p:nvPr/>
        </p:nvSpPr>
        <p:spPr>
          <a:xfrm>
            <a:off x="704088" y="1606296"/>
            <a:ext cx="10783519" cy="594360"/>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substantia compacta (L) (substansya kompakta): </a:t>
            </a:r>
            <a:r>
              <a:rPr lang="en-US" sz="1200" dirty="0">
                <a:solidFill>
                  <a:srgbClr val="1F2937"/>
                </a:solidFill>
                <a:latin typeface="Calibri" pitchFamily="34" charset="0"/>
                <a:ea typeface="Calibri" pitchFamily="34" charset="-122"/>
                <a:cs typeface="Calibri" pitchFamily="34" charset="-120"/>
              </a:rPr>
              <a:t>Sıkı (kompakt) olarak adlandırılan kemik yapısıdır. Bu kemik sıkı bir yapı gösterir. İçerisinde boşluk ya da kovuk yoktur. Kemiğin beslenmesini içeren kanalcıklar içerir. Dıştan periosteumla, içten endosteumla sarılıdır. Sıkı kemik uzun kemiklerin gövdelerinde görülür.</a:t>
            </a:r>
            <a:endParaRPr lang="en-US" sz="1200" dirty="0"/>
          </a:p>
        </p:txBody>
      </p:sp>
      <p:sp>
        <p:nvSpPr>
          <p:cNvPr id="8" name="Shape 6"/>
          <p:cNvSpPr/>
          <p:nvPr/>
        </p:nvSpPr>
        <p:spPr>
          <a:xfrm>
            <a:off x="548640" y="2365248"/>
            <a:ext cx="11094415" cy="740664"/>
          </a:xfrm>
          <a:prstGeom prst="roundRect">
            <a:avLst>
              <a:gd name="adj" fmla="val 8642"/>
            </a:avLst>
          </a:prstGeom>
          <a:solidFill>
            <a:srgbClr val="FBF1E3"/>
          </a:solidFill>
          <a:ln/>
        </p:spPr>
      </p:sp>
      <p:sp>
        <p:nvSpPr>
          <p:cNvPr id="9" name="Text 7"/>
          <p:cNvSpPr txBox="1"/>
          <p:nvPr/>
        </p:nvSpPr>
        <p:spPr>
          <a:xfrm>
            <a:off x="704088" y="2438400"/>
            <a:ext cx="10783519" cy="594360"/>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substantia (L) spongiosa (G) (substansia sponjiyoz): </a:t>
            </a:r>
            <a:r>
              <a:rPr lang="en-US" sz="1200" dirty="0">
                <a:solidFill>
                  <a:srgbClr val="1F2937"/>
                </a:solidFill>
                <a:latin typeface="Calibri" pitchFamily="34" charset="0"/>
                <a:ea typeface="Calibri" pitchFamily="34" charset="-122"/>
                <a:cs typeface="Calibri" pitchFamily="34" charset="-120"/>
              </a:rPr>
              <a:t>Spongyoz (süngersi) kemik. Kemiğin içinde süngerlerde olduğu gibi küçük ya da büyük boşluklar bulunur. Sponjiyoz kemik denmesinin sebebi budur. Bu tür kemik yapısı uzun kemiklerin uçları ile, kısa ve küçük kemiklerde görülür. Bu kemiklerin dış yüzeyleri kompakt (sıkı) kemik yapısıyla örtülüdür. Bunun da dışında periosteum bulunur.</a:t>
            </a:r>
            <a:endParaRPr lang="en-US" sz="1200" dirty="0"/>
          </a:p>
        </p:txBody>
      </p:sp>
      <p:sp>
        <p:nvSpPr>
          <p:cNvPr id="10" name="Shape 8"/>
          <p:cNvSpPr/>
          <p:nvPr/>
        </p:nvSpPr>
        <p:spPr>
          <a:xfrm>
            <a:off x="548640" y="3197352"/>
            <a:ext cx="11094415" cy="554736"/>
          </a:xfrm>
          <a:prstGeom prst="roundRect">
            <a:avLst>
              <a:gd name="adj" fmla="val 11538"/>
            </a:avLst>
          </a:prstGeom>
          <a:solidFill>
            <a:srgbClr val="FBF1E3"/>
          </a:solidFill>
          <a:ln/>
        </p:spPr>
      </p:sp>
      <p:sp>
        <p:nvSpPr>
          <p:cNvPr id="11" name="Text 9"/>
          <p:cNvSpPr txBox="1"/>
          <p:nvPr/>
        </p:nvSpPr>
        <p:spPr>
          <a:xfrm>
            <a:off x="704088" y="3270504"/>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cavitas medullaris (L) (kavitas medullaris): </a:t>
            </a:r>
            <a:r>
              <a:rPr lang="en-US" sz="1200" dirty="0">
                <a:solidFill>
                  <a:srgbClr val="1F2937"/>
                </a:solidFill>
                <a:latin typeface="Calibri" pitchFamily="34" charset="0"/>
                <a:ea typeface="Calibri" pitchFamily="34" charset="-122"/>
                <a:cs typeface="Calibri" pitchFamily="34" charset="-120"/>
              </a:rPr>
              <a:t>Kemiklerin ortasında bulunan boşluk. İlik boşluğu anlamında da gelir. İçinde sarı ya da kırmızı kemik iliği bulunur. Kısaca medulla olarak da isimlendirilir.</a:t>
            </a:r>
            <a:endParaRPr lang="en-US" sz="1200" dirty="0"/>
          </a:p>
        </p:txBody>
      </p:sp>
      <p:sp>
        <p:nvSpPr>
          <p:cNvPr id="12" name="Shape 10"/>
          <p:cNvSpPr/>
          <p:nvPr/>
        </p:nvSpPr>
        <p:spPr>
          <a:xfrm>
            <a:off x="548640" y="3843528"/>
            <a:ext cx="11094415" cy="554736"/>
          </a:xfrm>
          <a:prstGeom prst="roundRect">
            <a:avLst>
              <a:gd name="adj" fmla="val 11538"/>
            </a:avLst>
          </a:prstGeom>
          <a:solidFill>
            <a:srgbClr val="FBF1E3"/>
          </a:solidFill>
          <a:ln/>
        </p:spPr>
      </p:sp>
      <p:sp>
        <p:nvSpPr>
          <p:cNvPr id="13" name="Text 11"/>
          <p:cNvSpPr txBox="1"/>
          <p:nvPr/>
        </p:nvSpPr>
        <p:spPr>
          <a:xfrm>
            <a:off x="704088" y="3916680"/>
            <a:ext cx="10783519"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foramen nutriens (L) (foramen nutriyens): </a:t>
            </a:r>
            <a:r>
              <a:rPr lang="en-US" sz="1200" dirty="0">
                <a:solidFill>
                  <a:srgbClr val="1F2937"/>
                </a:solidFill>
                <a:latin typeface="Calibri" pitchFamily="34" charset="0"/>
                <a:ea typeface="Calibri" pitchFamily="34" charset="-122"/>
                <a:cs typeface="Calibri" pitchFamily="34" charset="-120"/>
              </a:rPr>
              <a:t>Kemiklerin yüzeyinde görülen ince delikler. Beslenme deliği anlamındadır. Damar ve sinirler bu deliklerden içeriye girerler.</a:t>
            </a:r>
            <a:endParaRPr lang="en-US" sz="1200" dirty="0"/>
          </a:p>
        </p:txBody>
      </p:sp>
      <p:sp>
        <p:nvSpPr>
          <p:cNvPr id="14" name="Shape 12"/>
          <p:cNvSpPr/>
          <p:nvPr/>
        </p:nvSpPr>
        <p:spPr>
          <a:xfrm>
            <a:off x="548640" y="4559808"/>
            <a:ext cx="11094415" cy="368808"/>
          </a:xfrm>
          <a:prstGeom prst="roundRect">
            <a:avLst>
              <a:gd name="adj" fmla="val 17355"/>
            </a:avLst>
          </a:prstGeom>
          <a:solidFill>
            <a:srgbClr val="FBF1E3"/>
          </a:solidFill>
          <a:ln/>
        </p:spPr>
      </p:sp>
      <p:sp>
        <p:nvSpPr>
          <p:cNvPr id="15" name="Text 13"/>
          <p:cNvSpPr txBox="1"/>
          <p:nvPr/>
        </p:nvSpPr>
        <p:spPr>
          <a:xfrm>
            <a:off x="704088" y="4632960"/>
            <a:ext cx="10783519"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os longum (L) (os longum): </a:t>
            </a:r>
            <a:r>
              <a:rPr lang="en-US" sz="1200" dirty="0">
                <a:solidFill>
                  <a:srgbClr val="1F2937"/>
                </a:solidFill>
                <a:latin typeface="Calibri" pitchFamily="34" charset="0"/>
                <a:ea typeface="Calibri" pitchFamily="34" charset="-122"/>
                <a:cs typeface="Calibri" pitchFamily="34" charset="-120"/>
              </a:rPr>
              <a:t>Uzun kemik. Femur, humerus vb..</a:t>
            </a:r>
            <a:endParaRPr lang="en-US" sz="1200" dirty="0"/>
          </a:p>
        </p:txBody>
      </p:sp>
      <p:sp>
        <p:nvSpPr>
          <p:cNvPr id="16" name="Shape 14"/>
          <p:cNvSpPr/>
          <p:nvPr/>
        </p:nvSpPr>
        <p:spPr>
          <a:xfrm>
            <a:off x="548640" y="5020056"/>
            <a:ext cx="11094415" cy="368808"/>
          </a:xfrm>
          <a:prstGeom prst="roundRect">
            <a:avLst>
              <a:gd name="adj" fmla="val 17355"/>
            </a:avLst>
          </a:prstGeom>
          <a:solidFill>
            <a:srgbClr val="FBF1E3"/>
          </a:solidFill>
          <a:ln/>
        </p:spPr>
      </p:sp>
      <p:sp>
        <p:nvSpPr>
          <p:cNvPr id="17" name="Text 15"/>
          <p:cNvSpPr txBox="1"/>
          <p:nvPr/>
        </p:nvSpPr>
        <p:spPr>
          <a:xfrm>
            <a:off x="704088" y="5093208"/>
            <a:ext cx="10783519"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os breve (L) (os breve): </a:t>
            </a:r>
            <a:r>
              <a:rPr lang="en-US" sz="1200" dirty="0">
                <a:solidFill>
                  <a:srgbClr val="1F2937"/>
                </a:solidFill>
                <a:latin typeface="Calibri" pitchFamily="34" charset="0"/>
                <a:ea typeface="Calibri" pitchFamily="34" charset="-122"/>
                <a:cs typeface="Calibri" pitchFamily="34" charset="-120"/>
              </a:rPr>
              <a:t>Kısa kemik. El bileği ve ayak bileği kemikleri gibi..</a:t>
            </a:r>
            <a:endParaRPr lang="en-US" sz="1200" dirty="0"/>
          </a:p>
        </p:txBody>
      </p:sp>
      <p:sp>
        <p:nvSpPr>
          <p:cNvPr id="18" name="Shape 16"/>
          <p:cNvSpPr/>
          <p:nvPr/>
        </p:nvSpPr>
        <p:spPr>
          <a:xfrm>
            <a:off x="548640" y="5480304"/>
            <a:ext cx="11094415" cy="368808"/>
          </a:xfrm>
          <a:prstGeom prst="roundRect">
            <a:avLst>
              <a:gd name="adj" fmla="val 17355"/>
            </a:avLst>
          </a:prstGeom>
          <a:solidFill>
            <a:srgbClr val="FBF1E3"/>
          </a:solidFill>
          <a:ln/>
        </p:spPr>
      </p:sp>
      <p:sp>
        <p:nvSpPr>
          <p:cNvPr id="19" name="Text 17"/>
          <p:cNvSpPr txBox="1"/>
          <p:nvPr/>
        </p:nvSpPr>
        <p:spPr>
          <a:xfrm>
            <a:off x="704088" y="5553456"/>
            <a:ext cx="10783519"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os planum (L) (os planum): </a:t>
            </a:r>
            <a:r>
              <a:rPr lang="en-US" sz="1200" dirty="0">
                <a:solidFill>
                  <a:srgbClr val="1F2937"/>
                </a:solidFill>
                <a:latin typeface="Calibri" pitchFamily="34" charset="0"/>
                <a:ea typeface="Calibri" pitchFamily="34" charset="-122"/>
                <a:cs typeface="Calibri" pitchFamily="34" charset="-120"/>
              </a:rPr>
              <a:t>Yassı kemik. Kafada bulunan yassı kemikler</a:t>
            </a:r>
            <a:endParaRPr lang="en-US" sz="1200" dirty="0"/>
          </a:p>
        </p:txBody>
      </p:sp>
      <p:sp>
        <p:nvSpPr>
          <p:cNvPr id="20" name="Shape 18"/>
          <p:cNvSpPr/>
          <p:nvPr/>
        </p:nvSpPr>
        <p:spPr>
          <a:xfrm>
            <a:off x="548640" y="5940552"/>
            <a:ext cx="11094415" cy="368808"/>
          </a:xfrm>
          <a:prstGeom prst="roundRect">
            <a:avLst>
              <a:gd name="adj" fmla="val 17355"/>
            </a:avLst>
          </a:prstGeom>
          <a:solidFill>
            <a:srgbClr val="FBF1E3"/>
          </a:solidFill>
          <a:ln/>
        </p:spPr>
      </p:sp>
      <p:sp>
        <p:nvSpPr>
          <p:cNvPr id="21" name="Text 19"/>
          <p:cNvSpPr txBox="1"/>
          <p:nvPr/>
        </p:nvSpPr>
        <p:spPr>
          <a:xfrm>
            <a:off x="704088" y="6013704"/>
            <a:ext cx="10783519"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os irregulare (L) (os irregular): </a:t>
            </a:r>
            <a:r>
              <a:rPr lang="en-US" sz="1200" dirty="0">
                <a:solidFill>
                  <a:srgbClr val="1F2937"/>
                </a:solidFill>
                <a:latin typeface="Calibri" pitchFamily="34" charset="0"/>
                <a:ea typeface="Calibri" pitchFamily="34" charset="-122"/>
                <a:cs typeface="Calibri" pitchFamily="34" charset="-120"/>
              </a:rPr>
              <a:t>Düzensiz, belli bir şekli olmayan kemik. Sakrum, koksa ve mandibula bu gruba girer.</a:t>
            </a:r>
            <a:endParaRPr lang="en-US" sz="12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Vücuttaki Önemli Kemikler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162</a:t>
            </a:r>
            <a:endParaRPr lang="en-US" sz="1000" dirty="0"/>
          </a:p>
        </p:txBody>
      </p:sp>
      <p:sp>
        <p:nvSpPr>
          <p:cNvPr id="6" name="Shape 4"/>
          <p:cNvSpPr/>
          <p:nvPr/>
        </p:nvSpPr>
        <p:spPr>
          <a:xfrm>
            <a:off x="548640" y="1553820"/>
            <a:ext cx="11094415" cy="638658"/>
          </a:xfrm>
          <a:prstGeom prst="roundRect">
            <a:avLst>
              <a:gd name="adj" fmla="val 10022"/>
            </a:avLst>
          </a:prstGeom>
          <a:solidFill>
            <a:srgbClr val="FBF1E3"/>
          </a:solidFill>
          <a:ln/>
        </p:spPr>
      </p:sp>
      <p:sp>
        <p:nvSpPr>
          <p:cNvPr id="7" name="Text 5"/>
          <p:cNvSpPr txBox="1"/>
          <p:nvPr/>
        </p:nvSpPr>
        <p:spPr>
          <a:xfrm>
            <a:off x="704088" y="162697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(L) sphenoidale (G) (os sfenoid): </a:t>
            </a:r>
            <a:r>
              <a:rPr lang="en-US" sz="1400" dirty="0">
                <a:solidFill>
                  <a:srgbClr val="1F2937"/>
                </a:solidFill>
                <a:latin typeface="Calibri" pitchFamily="34" charset="0"/>
                <a:ea typeface="Calibri" pitchFamily="34" charset="-122"/>
                <a:cs typeface="Calibri" pitchFamily="34" charset="-120"/>
              </a:rPr>
              <a:t>Kafanın orta-taban bölümünde bulunur. Cisim kısının içinde sinüs sfenoidalis denilen paranazal boşluk vardır. Hipofiz bezi bu bezin çukuruna yerleşmiştir. Temel ya da taban kemik.</a:t>
            </a:r>
            <a:endParaRPr lang="en-US" sz="1400" dirty="0"/>
          </a:p>
        </p:txBody>
      </p:sp>
      <p:sp>
        <p:nvSpPr>
          <p:cNvPr id="8" name="Shape 6"/>
          <p:cNvSpPr/>
          <p:nvPr/>
        </p:nvSpPr>
        <p:spPr>
          <a:xfrm>
            <a:off x="548640" y="2374697"/>
            <a:ext cx="11094415" cy="421742"/>
          </a:xfrm>
          <a:prstGeom prst="roundRect">
            <a:avLst>
              <a:gd name="adj" fmla="val 15177"/>
            </a:avLst>
          </a:prstGeom>
          <a:solidFill>
            <a:srgbClr val="FBF1E3"/>
          </a:solidFill>
          <a:ln/>
        </p:spPr>
      </p:sp>
      <p:sp>
        <p:nvSpPr>
          <p:cNvPr id="9" name="Text 7"/>
          <p:cNvSpPr txBox="1"/>
          <p:nvPr/>
        </p:nvSpPr>
        <p:spPr>
          <a:xfrm>
            <a:off x="704088" y="244784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parietale (L) (os paryetal): </a:t>
            </a:r>
            <a:r>
              <a:rPr lang="en-US" sz="1400" dirty="0">
                <a:solidFill>
                  <a:srgbClr val="1F2937"/>
                </a:solidFill>
                <a:latin typeface="Calibri" pitchFamily="34" charset="0"/>
                <a:ea typeface="Calibri" pitchFamily="34" charset="-122"/>
                <a:cs typeface="Calibri" pitchFamily="34" charset="-120"/>
              </a:rPr>
              <a:t>Kafanın iki yan duvarını oluşturan yan kafa kemikleridir. İki tanedirler.</a:t>
            </a:r>
            <a:endParaRPr lang="en-US" sz="1400" dirty="0"/>
          </a:p>
        </p:txBody>
      </p:sp>
      <p:sp>
        <p:nvSpPr>
          <p:cNvPr id="10" name="Shape 8"/>
          <p:cNvSpPr/>
          <p:nvPr/>
        </p:nvSpPr>
        <p:spPr>
          <a:xfrm>
            <a:off x="548640" y="2887878"/>
            <a:ext cx="11094415" cy="421742"/>
          </a:xfrm>
          <a:prstGeom prst="roundRect">
            <a:avLst>
              <a:gd name="adj" fmla="val 15177"/>
            </a:avLst>
          </a:prstGeom>
          <a:solidFill>
            <a:srgbClr val="FBF1E3"/>
          </a:solidFill>
          <a:ln/>
        </p:spPr>
      </p:sp>
      <p:sp>
        <p:nvSpPr>
          <p:cNvPr id="11" name="Text 9"/>
          <p:cNvSpPr txBox="1"/>
          <p:nvPr/>
        </p:nvSpPr>
        <p:spPr>
          <a:xfrm>
            <a:off x="704088" y="296103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occipitale (L) (os oksipital): </a:t>
            </a:r>
            <a:r>
              <a:rPr lang="en-US" sz="1400" dirty="0">
                <a:solidFill>
                  <a:srgbClr val="1F2937"/>
                </a:solidFill>
                <a:latin typeface="Calibri" pitchFamily="34" charset="0"/>
                <a:ea typeface="Calibri" pitchFamily="34" charset="-122"/>
                <a:cs typeface="Calibri" pitchFamily="34" charset="-120"/>
              </a:rPr>
              <a:t>Kafanın arkasında bulunan ve birinci vertebra ile eklem yapan kemiktir. Art kafa kemiği</a:t>
            </a:r>
            <a:endParaRPr lang="en-US" sz="1400" dirty="0"/>
          </a:p>
        </p:txBody>
      </p:sp>
      <p:sp>
        <p:nvSpPr>
          <p:cNvPr id="12" name="Shape 10"/>
          <p:cNvSpPr/>
          <p:nvPr/>
        </p:nvSpPr>
        <p:spPr>
          <a:xfrm>
            <a:off x="548640" y="3401060"/>
            <a:ext cx="11094415" cy="638658"/>
          </a:xfrm>
          <a:prstGeom prst="roundRect">
            <a:avLst>
              <a:gd name="adj" fmla="val 10022"/>
            </a:avLst>
          </a:prstGeom>
          <a:solidFill>
            <a:srgbClr val="FBF1E3"/>
          </a:solidFill>
          <a:ln/>
        </p:spPr>
      </p:sp>
      <p:sp>
        <p:nvSpPr>
          <p:cNvPr id="13" name="Text 11"/>
          <p:cNvSpPr txBox="1"/>
          <p:nvPr/>
        </p:nvSpPr>
        <p:spPr>
          <a:xfrm>
            <a:off x="704088" y="347421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frontale (L) (os frontal): </a:t>
            </a:r>
            <a:r>
              <a:rPr lang="en-US" sz="1400" dirty="0">
                <a:solidFill>
                  <a:srgbClr val="1F2937"/>
                </a:solidFill>
                <a:latin typeface="Calibri" pitchFamily="34" charset="0"/>
                <a:ea typeface="Calibri" pitchFamily="34" charset="-122"/>
                <a:cs typeface="Calibri" pitchFamily="34" charset="-120"/>
              </a:rPr>
              <a:t>Kafanın önünde göz boşluklarının bulunduğu kemiktir. İçinde iki sinüs frontalis bulunur. Alın kemiği.</a:t>
            </a:r>
            <a:endParaRPr lang="en-US" sz="1400" dirty="0"/>
          </a:p>
        </p:txBody>
      </p:sp>
      <p:sp>
        <p:nvSpPr>
          <p:cNvPr id="14" name="Shape 12"/>
          <p:cNvSpPr/>
          <p:nvPr/>
        </p:nvSpPr>
        <p:spPr>
          <a:xfrm>
            <a:off x="548640" y="4131158"/>
            <a:ext cx="11094415" cy="421742"/>
          </a:xfrm>
          <a:prstGeom prst="roundRect">
            <a:avLst>
              <a:gd name="adj" fmla="val 15177"/>
            </a:avLst>
          </a:prstGeom>
          <a:solidFill>
            <a:srgbClr val="FBF1E3"/>
          </a:solidFill>
          <a:ln/>
        </p:spPr>
      </p:sp>
      <p:sp>
        <p:nvSpPr>
          <p:cNvPr id="15" name="Text 13"/>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temporale (L) (os temporal): </a:t>
            </a:r>
            <a:r>
              <a:rPr lang="en-US" sz="1400" dirty="0">
                <a:solidFill>
                  <a:srgbClr val="1F2937"/>
                </a:solidFill>
                <a:latin typeface="Calibri" pitchFamily="34" charset="0"/>
                <a:ea typeface="Calibri" pitchFamily="34" charset="-122"/>
                <a:cs typeface="Calibri" pitchFamily="34" charset="-120"/>
              </a:rPr>
              <a:t>Kafanın yan-alt kısmında bulunur. Kulak açıklıkları da buradadır. Şakak kemiği.</a:t>
            </a:r>
            <a:endParaRPr lang="en-US" sz="1400" dirty="0"/>
          </a:p>
        </p:txBody>
      </p:sp>
      <p:sp>
        <p:nvSpPr>
          <p:cNvPr id="16" name="Shape 14"/>
          <p:cNvSpPr/>
          <p:nvPr/>
        </p:nvSpPr>
        <p:spPr>
          <a:xfrm>
            <a:off x="548640" y="4644339"/>
            <a:ext cx="11094415" cy="421742"/>
          </a:xfrm>
          <a:prstGeom prst="roundRect">
            <a:avLst>
              <a:gd name="adj" fmla="val 15177"/>
            </a:avLst>
          </a:prstGeom>
          <a:solidFill>
            <a:srgbClr val="FBF1E3"/>
          </a:solidFill>
          <a:ln/>
        </p:spPr>
      </p:sp>
      <p:sp>
        <p:nvSpPr>
          <p:cNvPr id="17" name="Text 15"/>
          <p:cNvSpPr txBox="1"/>
          <p:nvPr/>
        </p:nvSpPr>
        <p:spPr>
          <a:xfrm>
            <a:off x="704088" y="471749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(L) ethmoidale (G) (os etmoid): </a:t>
            </a:r>
            <a:r>
              <a:rPr lang="en-US" sz="1400" dirty="0">
                <a:solidFill>
                  <a:srgbClr val="1F2937"/>
                </a:solidFill>
                <a:latin typeface="Calibri" pitchFamily="34" charset="0"/>
                <a:ea typeface="Calibri" pitchFamily="34" charset="-122"/>
                <a:cs typeface="Calibri" pitchFamily="34" charset="-120"/>
              </a:rPr>
              <a:t>Kalbur kemik</a:t>
            </a:r>
            <a:endParaRPr lang="en-US" sz="1400" dirty="0"/>
          </a:p>
        </p:txBody>
      </p:sp>
      <p:sp>
        <p:nvSpPr>
          <p:cNvPr id="18" name="Shape 16"/>
          <p:cNvSpPr/>
          <p:nvPr/>
        </p:nvSpPr>
        <p:spPr>
          <a:xfrm>
            <a:off x="548640" y="5157521"/>
            <a:ext cx="11094415" cy="421742"/>
          </a:xfrm>
          <a:prstGeom prst="roundRect">
            <a:avLst>
              <a:gd name="adj" fmla="val 15177"/>
            </a:avLst>
          </a:prstGeom>
          <a:solidFill>
            <a:srgbClr val="FBF1E3"/>
          </a:solidFill>
          <a:ln/>
        </p:spPr>
      </p:sp>
      <p:sp>
        <p:nvSpPr>
          <p:cNvPr id="19" name="Text 17"/>
          <p:cNvSpPr txBox="1"/>
          <p:nvPr/>
        </p:nvSpPr>
        <p:spPr>
          <a:xfrm>
            <a:off x="704088" y="5230673"/>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nasale (L) (os nazal): </a:t>
            </a:r>
            <a:r>
              <a:rPr lang="en-US" sz="1400" dirty="0">
                <a:solidFill>
                  <a:srgbClr val="1F2937"/>
                </a:solidFill>
                <a:latin typeface="Calibri" pitchFamily="34" charset="0"/>
                <a:ea typeface="Calibri" pitchFamily="34" charset="-122"/>
                <a:cs typeface="Calibri" pitchFamily="34" charset="-120"/>
              </a:rPr>
              <a:t>Yaprak şeklinde burun boşluğunu örten iki kemiktir. Burun kemiği</a:t>
            </a:r>
            <a:endParaRPr lang="en-US" sz="1400" dirty="0"/>
          </a:p>
        </p:txBody>
      </p:sp>
      <p:sp>
        <p:nvSpPr>
          <p:cNvPr id="20" name="Shape 18"/>
          <p:cNvSpPr/>
          <p:nvPr/>
        </p:nvSpPr>
        <p:spPr>
          <a:xfrm>
            <a:off x="548640" y="5670702"/>
            <a:ext cx="11094415" cy="638658"/>
          </a:xfrm>
          <a:prstGeom prst="roundRect">
            <a:avLst>
              <a:gd name="adj" fmla="val 10022"/>
            </a:avLst>
          </a:prstGeom>
          <a:solidFill>
            <a:srgbClr val="FBF1E3"/>
          </a:solidFill>
          <a:ln/>
        </p:spPr>
      </p:sp>
      <p:sp>
        <p:nvSpPr>
          <p:cNvPr id="21" name="Text 19"/>
          <p:cNvSpPr txBox="1"/>
          <p:nvPr/>
        </p:nvSpPr>
        <p:spPr>
          <a:xfrm>
            <a:off x="704088" y="5743854"/>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 maxilla (L) (os maksilla): </a:t>
            </a:r>
            <a:r>
              <a:rPr lang="en-US" sz="1400" dirty="0">
                <a:solidFill>
                  <a:srgbClr val="1F2937"/>
                </a:solidFill>
                <a:latin typeface="Calibri" pitchFamily="34" charset="0"/>
                <a:ea typeface="Calibri" pitchFamily="34" charset="-122"/>
                <a:cs typeface="Calibri" pitchFamily="34" charset="-120"/>
              </a:rPr>
              <a:t>Üst çene kemiği. İki tanedir. Ortasında sinüs maksillaris bulunur. Alt kenarında üst dişler dizilidir.</a:t>
            </a:r>
            <a:endParaRPr lang="en-US" sz="14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Vücuttaki Önemli Kemikler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163</a:t>
            </a:r>
            <a:endParaRPr lang="en-US" sz="1000" dirty="0"/>
          </a:p>
        </p:txBody>
      </p:sp>
      <p:sp>
        <p:nvSpPr>
          <p:cNvPr id="6" name="Shape 4"/>
          <p:cNvSpPr/>
          <p:nvPr/>
        </p:nvSpPr>
        <p:spPr>
          <a:xfrm>
            <a:off x="548640" y="1720977"/>
            <a:ext cx="11094415" cy="1149096"/>
          </a:xfrm>
          <a:prstGeom prst="roundRect">
            <a:avLst>
              <a:gd name="adj" fmla="val 5570"/>
            </a:avLst>
          </a:prstGeom>
          <a:solidFill>
            <a:srgbClr val="FBF1E3"/>
          </a:solidFill>
          <a:ln/>
        </p:spPr>
      </p:sp>
      <p:sp>
        <p:nvSpPr>
          <p:cNvPr id="7" name="Text 5"/>
          <p:cNvSpPr txBox="1"/>
          <p:nvPr/>
        </p:nvSpPr>
        <p:spPr>
          <a:xfrm>
            <a:off x="704088" y="1794129"/>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sinus paranasalis (L) (sinüs paranazal): </a:t>
            </a:r>
            <a:r>
              <a:rPr lang="en-US" sz="1500" dirty="0">
                <a:solidFill>
                  <a:srgbClr val="1F2937"/>
                </a:solidFill>
                <a:latin typeface="Calibri" pitchFamily="34" charset="0"/>
                <a:ea typeface="Calibri" pitchFamily="34" charset="-122"/>
                <a:cs typeface="Calibri" pitchFamily="34" charset="-120"/>
              </a:rPr>
              <a:t>Maksilla, etmoid, sfenoid ve frontal kemiklerin içindeki boşluklar. İçerisinde hava bulunur. Duvarlarını döşeyen bağ dokusunun sinüzit denir.</a:t>
            </a:r>
            <a:endParaRPr lang="en-US" sz="1500" dirty="0"/>
          </a:p>
        </p:txBody>
      </p:sp>
      <p:sp>
        <p:nvSpPr>
          <p:cNvPr id="8" name="Shape 6"/>
          <p:cNvSpPr/>
          <p:nvPr/>
        </p:nvSpPr>
        <p:spPr>
          <a:xfrm>
            <a:off x="548640" y="3219450"/>
            <a:ext cx="5410048" cy="916686"/>
          </a:xfrm>
          <a:prstGeom prst="roundRect">
            <a:avLst>
              <a:gd name="adj" fmla="val 6983"/>
            </a:avLst>
          </a:prstGeom>
          <a:solidFill>
            <a:srgbClr val="FBF1E3"/>
          </a:solidFill>
          <a:ln/>
        </p:spPr>
      </p:sp>
      <p:sp>
        <p:nvSpPr>
          <p:cNvPr id="9" name="Text 7"/>
          <p:cNvSpPr txBox="1"/>
          <p:nvPr/>
        </p:nvSpPr>
        <p:spPr>
          <a:xfrm>
            <a:off x="704088" y="329260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mandibula (L) (os mandibula): </a:t>
            </a:r>
            <a:r>
              <a:rPr lang="en-US" sz="1500" dirty="0">
                <a:solidFill>
                  <a:srgbClr val="1F2937"/>
                </a:solidFill>
                <a:latin typeface="Calibri" pitchFamily="34" charset="0"/>
                <a:ea typeface="Calibri" pitchFamily="34" charset="-122"/>
                <a:cs typeface="Calibri" pitchFamily="34" charset="-120"/>
              </a:rPr>
              <a:t>Alt çene kemiği. Temporal kemikle çene eklemini (temporomandibular eklem) yapar. Başın hareketli olan tek eklemidir.</a:t>
            </a:r>
            <a:endParaRPr lang="en-US" sz="1500" dirty="0"/>
          </a:p>
        </p:txBody>
      </p:sp>
      <p:sp>
        <p:nvSpPr>
          <p:cNvPr id="10" name="Shape 8"/>
          <p:cNvSpPr/>
          <p:nvPr/>
        </p:nvSpPr>
        <p:spPr>
          <a:xfrm>
            <a:off x="548640" y="4227576"/>
            <a:ext cx="5410048" cy="451866"/>
          </a:xfrm>
          <a:prstGeom prst="roundRect">
            <a:avLst>
              <a:gd name="adj" fmla="val 14165"/>
            </a:avLst>
          </a:prstGeom>
          <a:solidFill>
            <a:srgbClr val="FBF1E3"/>
          </a:solidFill>
          <a:ln/>
        </p:spPr>
      </p:sp>
      <p:sp>
        <p:nvSpPr>
          <p:cNvPr id="11" name="Text 9"/>
          <p:cNvSpPr txBox="1"/>
          <p:nvPr/>
        </p:nvSpPr>
        <p:spPr>
          <a:xfrm>
            <a:off x="704088" y="430072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palatinum (L) (os palatinum): </a:t>
            </a:r>
            <a:r>
              <a:rPr lang="en-US" sz="1500" dirty="0">
                <a:solidFill>
                  <a:srgbClr val="1F2937"/>
                </a:solidFill>
                <a:latin typeface="Calibri" pitchFamily="34" charset="0"/>
                <a:ea typeface="Calibri" pitchFamily="34" charset="-122"/>
                <a:cs typeface="Calibri" pitchFamily="34" charset="-120"/>
              </a:rPr>
              <a:t>Damak kemiği</a:t>
            </a:r>
            <a:endParaRPr lang="en-US" sz="1500" dirty="0"/>
          </a:p>
        </p:txBody>
      </p:sp>
      <p:sp>
        <p:nvSpPr>
          <p:cNvPr id="12" name="Shape 10"/>
          <p:cNvSpPr/>
          <p:nvPr/>
        </p:nvSpPr>
        <p:spPr>
          <a:xfrm>
            <a:off x="548640" y="4770882"/>
            <a:ext cx="5410048" cy="451866"/>
          </a:xfrm>
          <a:prstGeom prst="roundRect">
            <a:avLst>
              <a:gd name="adj" fmla="val 14165"/>
            </a:avLst>
          </a:prstGeom>
          <a:solidFill>
            <a:srgbClr val="FBF1E3"/>
          </a:solidFill>
          <a:ln/>
        </p:spPr>
      </p:sp>
      <p:sp>
        <p:nvSpPr>
          <p:cNvPr id="13" name="Text 11"/>
          <p:cNvSpPr txBox="1"/>
          <p:nvPr/>
        </p:nvSpPr>
        <p:spPr>
          <a:xfrm>
            <a:off x="704088"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(L) zygomaticum (G) (os zigomatikum): </a:t>
            </a:r>
            <a:r>
              <a:rPr lang="en-US" sz="1500" dirty="0">
                <a:solidFill>
                  <a:srgbClr val="1F2937"/>
                </a:solidFill>
                <a:latin typeface="Calibri" pitchFamily="34" charset="0"/>
                <a:ea typeface="Calibri" pitchFamily="34" charset="-122"/>
                <a:cs typeface="Calibri" pitchFamily="34" charset="-120"/>
              </a:rPr>
              <a:t>Elmacık kemiği</a:t>
            </a:r>
            <a:endParaRPr lang="en-US" sz="1500" dirty="0"/>
          </a:p>
        </p:txBody>
      </p:sp>
      <p:sp>
        <p:nvSpPr>
          <p:cNvPr id="14" name="Shape 12"/>
          <p:cNvSpPr/>
          <p:nvPr/>
        </p:nvSpPr>
        <p:spPr>
          <a:xfrm>
            <a:off x="548640" y="5314188"/>
            <a:ext cx="5410048" cy="451866"/>
          </a:xfrm>
          <a:prstGeom prst="roundRect">
            <a:avLst>
              <a:gd name="adj" fmla="val 14165"/>
            </a:avLst>
          </a:prstGeom>
          <a:solidFill>
            <a:srgbClr val="FBF1E3"/>
          </a:solidFill>
          <a:ln/>
        </p:spPr>
      </p:sp>
      <p:sp>
        <p:nvSpPr>
          <p:cNvPr id="15" name="Text 13"/>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lacrymale (L) (os lakrimal): </a:t>
            </a:r>
            <a:r>
              <a:rPr lang="en-US" sz="1500" dirty="0">
                <a:solidFill>
                  <a:srgbClr val="1F2937"/>
                </a:solidFill>
                <a:latin typeface="Calibri" pitchFamily="34" charset="0"/>
                <a:ea typeface="Calibri" pitchFamily="34" charset="-122"/>
                <a:cs typeface="Calibri" pitchFamily="34" charset="-120"/>
              </a:rPr>
              <a:t>Gözyaşı kemiği</a:t>
            </a:r>
            <a:endParaRPr lang="en-US" sz="1500" dirty="0"/>
          </a:p>
        </p:txBody>
      </p:sp>
      <p:sp>
        <p:nvSpPr>
          <p:cNvPr id="16" name="Shape 14"/>
          <p:cNvSpPr/>
          <p:nvPr/>
        </p:nvSpPr>
        <p:spPr>
          <a:xfrm>
            <a:off x="548640" y="5857494"/>
            <a:ext cx="5410048" cy="451866"/>
          </a:xfrm>
          <a:prstGeom prst="roundRect">
            <a:avLst>
              <a:gd name="adj" fmla="val 14165"/>
            </a:avLst>
          </a:prstGeom>
          <a:solidFill>
            <a:srgbClr val="FBF1E3"/>
          </a:solidFill>
          <a:ln/>
        </p:spPr>
      </p:sp>
      <p:sp>
        <p:nvSpPr>
          <p:cNvPr id="17" name="Text 15"/>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vomer (L) (os vomer): </a:t>
            </a:r>
            <a:r>
              <a:rPr lang="en-US" sz="1500" dirty="0">
                <a:solidFill>
                  <a:srgbClr val="1F2937"/>
                </a:solidFill>
                <a:latin typeface="Calibri" pitchFamily="34" charset="0"/>
                <a:ea typeface="Calibri" pitchFamily="34" charset="-122"/>
                <a:cs typeface="Calibri" pitchFamily="34" charset="-120"/>
              </a:rPr>
              <a:t>Sapan kemik</a:t>
            </a:r>
            <a:endParaRPr lang="en-US" sz="1500" dirty="0"/>
          </a:p>
        </p:txBody>
      </p:sp>
      <p:sp>
        <p:nvSpPr>
          <p:cNvPr id="18" name="Shape 16"/>
          <p:cNvSpPr/>
          <p:nvPr/>
        </p:nvSpPr>
        <p:spPr>
          <a:xfrm>
            <a:off x="6233008" y="3219450"/>
            <a:ext cx="5410048" cy="451866"/>
          </a:xfrm>
          <a:prstGeom prst="roundRect">
            <a:avLst>
              <a:gd name="adj" fmla="val 14165"/>
            </a:avLst>
          </a:prstGeom>
          <a:solidFill>
            <a:srgbClr val="FBF1E3"/>
          </a:solidFill>
          <a:ln/>
        </p:spPr>
      </p:sp>
      <p:sp>
        <p:nvSpPr>
          <p:cNvPr id="19" name="Text 17"/>
          <p:cNvSpPr txBox="1"/>
          <p:nvPr/>
        </p:nvSpPr>
        <p:spPr>
          <a:xfrm>
            <a:off x="6388456"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calivaria (L) (kalvarya): </a:t>
            </a:r>
            <a:r>
              <a:rPr lang="en-US" sz="1500" dirty="0">
                <a:solidFill>
                  <a:srgbClr val="1F2937"/>
                </a:solidFill>
                <a:latin typeface="Calibri" pitchFamily="34" charset="0"/>
                <a:ea typeface="Calibri" pitchFamily="34" charset="-122"/>
                <a:cs typeface="Calibri" pitchFamily="34" charset="-120"/>
              </a:rPr>
              <a:t>Kafa tavanı</a:t>
            </a:r>
            <a:endParaRPr lang="en-US" sz="1500" dirty="0"/>
          </a:p>
        </p:txBody>
      </p:sp>
      <p:sp>
        <p:nvSpPr>
          <p:cNvPr id="20" name="Shape 18"/>
          <p:cNvSpPr/>
          <p:nvPr/>
        </p:nvSpPr>
        <p:spPr>
          <a:xfrm>
            <a:off x="6233008" y="3762756"/>
            <a:ext cx="5410048" cy="451866"/>
          </a:xfrm>
          <a:prstGeom prst="roundRect">
            <a:avLst>
              <a:gd name="adj" fmla="val 14165"/>
            </a:avLst>
          </a:prstGeom>
          <a:solidFill>
            <a:srgbClr val="FBF1E3"/>
          </a:solidFill>
          <a:ln/>
        </p:spPr>
      </p:sp>
      <p:sp>
        <p:nvSpPr>
          <p:cNvPr id="21" name="Text 19"/>
          <p:cNvSpPr txBox="1"/>
          <p:nvPr/>
        </p:nvSpPr>
        <p:spPr>
          <a:xfrm>
            <a:off x="6388456"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orbita (L): </a:t>
            </a:r>
            <a:r>
              <a:rPr lang="en-US" sz="1500" dirty="0">
                <a:solidFill>
                  <a:srgbClr val="1F2937"/>
                </a:solidFill>
                <a:latin typeface="Calibri" pitchFamily="34" charset="0"/>
                <a:ea typeface="Calibri" pitchFamily="34" charset="-122"/>
                <a:cs typeface="Calibri" pitchFamily="34" charset="-120"/>
              </a:rPr>
              <a:t>Gözlerin bulunduğu boşluk</a:t>
            </a:r>
            <a:endParaRPr lang="en-US" sz="1500" dirty="0"/>
          </a:p>
        </p:txBody>
      </p:sp>
      <p:sp>
        <p:nvSpPr>
          <p:cNvPr id="22" name="Shape 20"/>
          <p:cNvSpPr/>
          <p:nvPr/>
        </p:nvSpPr>
        <p:spPr>
          <a:xfrm>
            <a:off x="6233008" y="4306062"/>
            <a:ext cx="5410048" cy="451866"/>
          </a:xfrm>
          <a:prstGeom prst="roundRect">
            <a:avLst>
              <a:gd name="adj" fmla="val 14165"/>
            </a:avLst>
          </a:prstGeom>
          <a:solidFill>
            <a:srgbClr val="FBF1E3"/>
          </a:solidFill>
          <a:ln/>
        </p:spPr>
      </p:sp>
      <p:sp>
        <p:nvSpPr>
          <p:cNvPr id="23" name="Text 21"/>
          <p:cNvSpPr txBox="1"/>
          <p:nvPr/>
        </p:nvSpPr>
        <p:spPr>
          <a:xfrm>
            <a:off x="6388456"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fonticulus (L) (fontikulus): </a:t>
            </a:r>
            <a:r>
              <a:rPr lang="en-US" sz="1500" dirty="0">
                <a:solidFill>
                  <a:srgbClr val="1F2937"/>
                </a:solidFill>
                <a:latin typeface="Calibri" pitchFamily="34" charset="0"/>
                <a:ea typeface="Calibri" pitchFamily="34" charset="-122"/>
                <a:cs typeface="Calibri" pitchFamily="34" charset="-120"/>
              </a:rPr>
              <a:t>Bıngıldak, fontanella</a:t>
            </a:r>
            <a:endParaRPr lang="en-US" sz="1500" dirty="0"/>
          </a:p>
        </p:txBody>
      </p:sp>
      <p:sp>
        <p:nvSpPr>
          <p:cNvPr id="24" name="Shape 22"/>
          <p:cNvSpPr/>
          <p:nvPr/>
        </p:nvSpPr>
        <p:spPr>
          <a:xfrm>
            <a:off x="6233008" y="4849368"/>
            <a:ext cx="5410048" cy="451866"/>
          </a:xfrm>
          <a:prstGeom prst="roundRect">
            <a:avLst>
              <a:gd name="adj" fmla="val 14165"/>
            </a:avLst>
          </a:prstGeom>
          <a:solidFill>
            <a:srgbClr val="FBF1E3"/>
          </a:solidFill>
          <a:ln/>
        </p:spPr>
      </p:sp>
      <p:sp>
        <p:nvSpPr>
          <p:cNvPr id="25" name="Text 23"/>
          <p:cNvSpPr txBox="1"/>
          <p:nvPr/>
        </p:nvSpPr>
        <p:spPr>
          <a:xfrm>
            <a:off x="6388456" y="492252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columna vertebralis (L) (kolumna vertebralis): </a:t>
            </a:r>
            <a:r>
              <a:rPr lang="en-US" sz="1500" dirty="0">
                <a:solidFill>
                  <a:srgbClr val="1F2937"/>
                </a:solidFill>
                <a:latin typeface="Calibri" pitchFamily="34" charset="0"/>
                <a:ea typeface="Calibri" pitchFamily="34" charset="-122"/>
                <a:cs typeface="Calibri" pitchFamily="34" charset="-120"/>
              </a:rPr>
              <a:t>Omurga</a:t>
            </a:r>
            <a:endParaRPr lang="en-US" sz="1500" dirty="0"/>
          </a:p>
        </p:txBody>
      </p:sp>
      <p:sp>
        <p:nvSpPr>
          <p:cNvPr id="26" name="Shape 24"/>
          <p:cNvSpPr/>
          <p:nvPr/>
        </p:nvSpPr>
        <p:spPr>
          <a:xfrm>
            <a:off x="6233008" y="5392674"/>
            <a:ext cx="5410048" cy="451866"/>
          </a:xfrm>
          <a:prstGeom prst="roundRect">
            <a:avLst>
              <a:gd name="adj" fmla="val 14165"/>
            </a:avLst>
          </a:prstGeom>
          <a:solidFill>
            <a:srgbClr val="FBF1E3"/>
          </a:solidFill>
          <a:ln/>
        </p:spPr>
      </p:sp>
      <p:sp>
        <p:nvSpPr>
          <p:cNvPr id="27" name="Text 25"/>
          <p:cNvSpPr txBox="1"/>
          <p:nvPr/>
        </p:nvSpPr>
        <p:spPr>
          <a:xfrm>
            <a:off x="6388456" y="546582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rachis (G) (rakis): </a:t>
            </a:r>
            <a:r>
              <a:rPr lang="en-US" sz="1500" dirty="0">
                <a:solidFill>
                  <a:srgbClr val="1F2937"/>
                </a:solidFill>
                <a:latin typeface="Calibri" pitchFamily="34" charset="0"/>
                <a:ea typeface="Calibri" pitchFamily="34" charset="-122"/>
                <a:cs typeface="Calibri" pitchFamily="34" charset="-120"/>
              </a:rPr>
              <a:t>Omurga</a:t>
            </a:r>
            <a:endParaRPr lang="en-US" sz="15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Vücuttaki Önemli Kemikler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164</a:t>
            </a:r>
            <a:endParaRPr lang="en-US" sz="1000" dirty="0"/>
          </a:p>
        </p:txBody>
      </p:sp>
      <p:sp>
        <p:nvSpPr>
          <p:cNvPr id="6" name="Shape 4"/>
          <p:cNvSpPr/>
          <p:nvPr/>
        </p:nvSpPr>
        <p:spPr>
          <a:xfrm>
            <a:off x="548640" y="1589532"/>
            <a:ext cx="5410048" cy="451866"/>
          </a:xfrm>
          <a:prstGeom prst="roundRect">
            <a:avLst>
              <a:gd name="adj" fmla="val 14165"/>
            </a:avLst>
          </a:prstGeom>
          <a:solidFill>
            <a:srgbClr val="FBF1E3"/>
          </a:solidFill>
          <a:ln/>
        </p:spPr>
      </p:sp>
      <p:sp>
        <p:nvSpPr>
          <p:cNvPr id="7" name="Text 5"/>
          <p:cNvSpPr txBox="1"/>
          <p:nvPr/>
        </p:nvSpPr>
        <p:spPr>
          <a:xfrm>
            <a:off x="704088"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vertebra (L), spondylus (G) (spondilus): </a:t>
            </a:r>
            <a:r>
              <a:rPr lang="en-US" sz="1500" dirty="0">
                <a:solidFill>
                  <a:srgbClr val="1F2937"/>
                </a:solidFill>
                <a:latin typeface="Calibri" pitchFamily="34" charset="0"/>
                <a:ea typeface="Calibri" pitchFamily="34" charset="-122"/>
                <a:cs typeface="Calibri" pitchFamily="34" charset="-120"/>
              </a:rPr>
              <a:t>Omur.</a:t>
            </a:r>
            <a:endParaRPr lang="en-US" sz="1500" dirty="0"/>
          </a:p>
        </p:txBody>
      </p:sp>
      <p:sp>
        <p:nvSpPr>
          <p:cNvPr id="8" name="Shape 6"/>
          <p:cNvSpPr/>
          <p:nvPr/>
        </p:nvSpPr>
        <p:spPr>
          <a:xfrm>
            <a:off x="548640" y="2132838"/>
            <a:ext cx="5410048" cy="684276"/>
          </a:xfrm>
          <a:prstGeom prst="roundRect">
            <a:avLst>
              <a:gd name="adj" fmla="val 9354"/>
            </a:avLst>
          </a:prstGeom>
          <a:solidFill>
            <a:srgbClr val="FBF1E3"/>
          </a:solidFill>
          <a:ln/>
        </p:spPr>
      </p:sp>
      <p:sp>
        <p:nvSpPr>
          <p:cNvPr id="9" name="Text 7"/>
          <p:cNvSpPr txBox="1"/>
          <p:nvPr/>
        </p:nvSpPr>
        <p:spPr>
          <a:xfrm>
            <a:off x="704088" y="220599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cervikal vertebra (L) (servikal vertebra): </a:t>
            </a:r>
            <a:r>
              <a:rPr lang="en-US" sz="1500" dirty="0">
                <a:solidFill>
                  <a:srgbClr val="1F2937"/>
                </a:solidFill>
                <a:latin typeface="Calibri" pitchFamily="34" charset="0"/>
                <a:ea typeface="Calibri" pitchFamily="34" charset="-122"/>
                <a:cs typeface="Calibri" pitchFamily="34" charset="-120"/>
              </a:rPr>
              <a:t>Boyun omurları. C olarak kısaltılır.</a:t>
            </a:r>
            <a:endParaRPr lang="en-US" sz="1500" dirty="0"/>
          </a:p>
        </p:txBody>
      </p:sp>
      <p:sp>
        <p:nvSpPr>
          <p:cNvPr id="10" name="Shape 8"/>
          <p:cNvSpPr/>
          <p:nvPr/>
        </p:nvSpPr>
        <p:spPr>
          <a:xfrm>
            <a:off x="548640" y="2908554"/>
            <a:ext cx="5410048" cy="684276"/>
          </a:xfrm>
          <a:prstGeom prst="roundRect">
            <a:avLst>
              <a:gd name="adj" fmla="val 9354"/>
            </a:avLst>
          </a:prstGeom>
          <a:solidFill>
            <a:srgbClr val="FBF1E3"/>
          </a:solidFill>
          <a:ln/>
        </p:spPr>
      </p:sp>
      <p:sp>
        <p:nvSpPr>
          <p:cNvPr id="11" name="Text 9"/>
          <p:cNvSpPr txBox="1"/>
          <p:nvPr/>
        </p:nvSpPr>
        <p:spPr>
          <a:xfrm>
            <a:off x="704088" y="298170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thoracal (G) vertebra (L) (torakal vertebra): </a:t>
            </a:r>
            <a:r>
              <a:rPr lang="en-US" sz="1500" dirty="0">
                <a:solidFill>
                  <a:srgbClr val="1F2937"/>
                </a:solidFill>
                <a:latin typeface="Calibri" pitchFamily="34" charset="0"/>
                <a:ea typeface="Calibri" pitchFamily="34" charset="-122"/>
                <a:cs typeface="Calibri" pitchFamily="34" charset="-120"/>
              </a:rPr>
              <a:t>Göğüs omuru, T olarak kısaltılır.</a:t>
            </a:r>
            <a:endParaRPr lang="en-US" sz="1500" dirty="0"/>
          </a:p>
        </p:txBody>
      </p:sp>
      <p:sp>
        <p:nvSpPr>
          <p:cNvPr id="12" name="Shape 10"/>
          <p:cNvSpPr/>
          <p:nvPr/>
        </p:nvSpPr>
        <p:spPr>
          <a:xfrm>
            <a:off x="548640" y="3684270"/>
            <a:ext cx="5410048" cy="451866"/>
          </a:xfrm>
          <a:prstGeom prst="roundRect">
            <a:avLst>
              <a:gd name="adj" fmla="val 14165"/>
            </a:avLst>
          </a:prstGeom>
          <a:solidFill>
            <a:srgbClr val="FBF1E3"/>
          </a:solidFill>
          <a:ln/>
        </p:spPr>
      </p:sp>
      <p:sp>
        <p:nvSpPr>
          <p:cNvPr id="13" name="Text 11"/>
          <p:cNvSpPr txBox="1"/>
          <p:nvPr/>
        </p:nvSpPr>
        <p:spPr>
          <a:xfrm>
            <a:off x="704088" y="375742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lumbal vertebra (L): </a:t>
            </a:r>
            <a:r>
              <a:rPr lang="en-US" sz="1500" dirty="0">
                <a:solidFill>
                  <a:srgbClr val="1F2937"/>
                </a:solidFill>
                <a:latin typeface="Calibri" pitchFamily="34" charset="0"/>
                <a:ea typeface="Calibri" pitchFamily="34" charset="-122"/>
                <a:cs typeface="Calibri" pitchFamily="34" charset="-120"/>
              </a:rPr>
              <a:t>Bel omuru, L olarak kısaltılır.</a:t>
            </a:r>
            <a:endParaRPr lang="en-US" sz="1500" dirty="0"/>
          </a:p>
        </p:txBody>
      </p:sp>
      <p:sp>
        <p:nvSpPr>
          <p:cNvPr id="14" name="Shape 12"/>
          <p:cNvSpPr/>
          <p:nvPr/>
        </p:nvSpPr>
        <p:spPr>
          <a:xfrm>
            <a:off x="548640" y="4227576"/>
            <a:ext cx="5410048" cy="684276"/>
          </a:xfrm>
          <a:prstGeom prst="roundRect">
            <a:avLst>
              <a:gd name="adj" fmla="val 9354"/>
            </a:avLst>
          </a:prstGeom>
          <a:solidFill>
            <a:srgbClr val="FBF1E3"/>
          </a:solidFill>
          <a:ln/>
        </p:spPr>
      </p:sp>
      <p:sp>
        <p:nvSpPr>
          <p:cNvPr id="15" name="Text 13"/>
          <p:cNvSpPr txBox="1"/>
          <p:nvPr/>
        </p:nvSpPr>
        <p:spPr>
          <a:xfrm>
            <a:off x="704088" y="430072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sacrum (L) (os sakrum): </a:t>
            </a:r>
            <a:r>
              <a:rPr lang="en-US" sz="1500" dirty="0">
                <a:solidFill>
                  <a:srgbClr val="1F2937"/>
                </a:solidFill>
                <a:latin typeface="Calibri" pitchFamily="34" charset="0"/>
                <a:ea typeface="Calibri" pitchFamily="34" charset="-122"/>
                <a:cs typeface="Calibri" pitchFamily="34" charset="-120"/>
              </a:rPr>
              <a:t>Sağrı omuru, S olarak kısaltılır.</a:t>
            </a:r>
            <a:endParaRPr lang="en-US" sz="1500" dirty="0"/>
          </a:p>
        </p:txBody>
      </p:sp>
      <p:sp>
        <p:nvSpPr>
          <p:cNvPr id="16" name="Shape 14"/>
          <p:cNvSpPr/>
          <p:nvPr/>
        </p:nvSpPr>
        <p:spPr>
          <a:xfrm>
            <a:off x="548640" y="5003292"/>
            <a:ext cx="5410048" cy="684276"/>
          </a:xfrm>
          <a:prstGeom prst="roundRect">
            <a:avLst>
              <a:gd name="adj" fmla="val 9354"/>
            </a:avLst>
          </a:prstGeom>
          <a:solidFill>
            <a:srgbClr val="FBF1E3"/>
          </a:solidFill>
          <a:ln/>
        </p:spPr>
      </p:sp>
      <p:sp>
        <p:nvSpPr>
          <p:cNvPr id="17" name="Text 15"/>
          <p:cNvSpPr txBox="1"/>
          <p:nvPr/>
        </p:nvSpPr>
        <p:spPr>
          <a:xfrm>
            <a:off x="704088" y="507644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 coccyx (L) (os koksiks): </a:t>
            </a:r>
            <a:r>
              <a:rPr lang="en-US" sz="1500" dirty="0">
                <a:solidFill>
                  <a:srgbClr val="1F2937"/>
                </a:solidFill>
                <a:latin typeface="Calibri" pitchFamily="34" charset="0"/>
                <a:ea typeface="Calibri" pitchFamily="34" charset="-122"/>
                <a:cs typeface="Calibri" pitchFamily="34" charset="-120"/>
              </a:rPr>
              <a:t>Kuyruk sokumu kemiği 3-5 omurdan oluşur.</a:t>
            </a:r>
            <a:endParaRPr lang="en-US" sz="1500" dirty="0"/>
          </a:p>
        </p:txBody>
      </p:sp>
      <p:sp>
        <p:nvSpPr>
          <p:cNvPr id="18" name="Shape 16"/>
          <p:cNvSpPr/>
          <p:nvPr/>
        </p:nvSpPr>
        <p:spPr>
          <a:xfrm>
            <a:off x="548640" y="5779008"/>
            <a:ext cx="5410048" cy="451866"/>
          </a:xfrm>
          <a:prstGeom prst="roundRect">
            <a:avLst>
              <a:gd name="adj" fmla="val 14165"/>
            </a:avLst>
          </a:prstGeom>
          <a:solidFill>
            <a:srgbClr val="FBF1E3"/>
          </a:solidFill>
          <a:ln/>
        </p:spPr>
      </p:sp>
      <p:sp>
        <p:nvSpPr>
          <p:cNvPr id="19" name="Text 17"/>
          <p:cNvSpPr txBox="1"/>
          <p:nvPr/>
        </p:nvSpPr>
        <p:spPr>
          <a:xfrm>
            <a:off x="704088" y="585216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costa (L) (kosta): </a:t>
            </a:r>
            <a:r>
              <a:rPr lang="en-US" sz="1500" dirty="0">
                <a:solidFill>
                  <a:srgbClr val="1F2937"/>
                </a:solidFill>
                <a:latin typeface="Calibri" pitchFamily="34" charset="0"/>
                <a:ea typeface="Calibri" pitchFamily="34" charset="-122"/>
                <a:cs typeface="Calibri" pitchFamily="34" charset="-120"/>
              </a:rPr>
              <a:t>Kaburga</a:t>
            </a:r>
            <a:endParaRPr lang="en-US" sz="1500" dirty="0"/>
          </a:p>
        </p:txBody>
      </p:sp>
      <p:sp>
        <p:nvSpPr>
          <p:cNvPr id="20" name="Shape 18"/>
          <p:cNvSpPr/>
          <p:nvPr/>
        </p:nvSpPr>
        <p:spPr>
          <a:xfrm>
            <a:off x="6233008" y="1589532"/>
            <a:ext cx="5410048" cy="451866"/>
          </a:xfrm>
          <a:prstGeom prst="roundRect">
            <a:avLst>
              <a:gd name="adj" fmla="val 14165"/>
            </a:avLst>
          </a:prstGeom>
          <a:solidFill>
            <a:srgbClr val="FBF1E3"/>
          </a:solidFill>
          <a:ln/>
        </p:spPr>
      </p:sp>
      <p:sp>
        <p:nvSpPr>
          <p:cNvPr id="21" name="Text 19"/>
          <p:cNvSpPr txBox="1"/>
          <p:nvPr/>
        </p:nvSpPr>
        <p:spPr>
          <a:xfrm>
            <a:off x="6388456"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sternum (G): </a:t>
            </a:r>
            <a:r>
              <a:rPr lang="en-US" sz="1500" dirty="0">
                <a:solidFill>
                  <a:srgbClr val="1F2937"/>
                </a:solidFill>
                <a:latin typeface="Calibri" pitchFamily="34" charset="0"/>
                <a:ea typeface="Calibri" pitchFamily="34" charset="-122"/>
                <a:cs typeface="Calibri" pitchFamily="34" charset="-120"/>
              </a:rPr>
              <a:t>Göğüs kemiği</a:t>
            </a:r>
            <a:endParaRPr lang="en-US" sz="1500" dirty="0"/>
          </a:p>
        </p:txBody>
      </p:sp>
      <p:sp>
        <p:nvSpPr>
          <p:cNvPr id="22" name="Shape 20"/>
          <p:cNvSpPr/>
          <p:nvPr/>
        </p:nvSpPr>
        <p:spPr>
          <a:xfrm>
            <a:off x="6233008" y="2132838"/>
            <a:ext cx="5410048" cy="451866"/>
          </a:xfrm>
          <a:prstGeom prst="roundRect">
            <a:avLst>
              <a:gd name="adj" fmla="val 14165"/>
            </a:avLst>
          </a:prstGeom>
          <a:solidFill>
            <a:srgbClr val="FBF1E3"/>
          </a:solidFill>
          <a:ln/>
        </p:spPr>
      </p:sp>
      <p:sp>
        <p:nvSpPr>
          <p:cNvPr id="23" name="Text 21"/>
          <p:cNvSpPr txBox="1"/>
          <p:nvPr/>
        </p:nvSpPr>
        <p:spPr>
          <a:xfrm>
            <a:off x="6388456"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clavicula (L) (klavikula): </a:t>
            </a:r>
            <a:r>
              <a:rPr lang="en-US" sz="1500" dirty="0">
                <a:solidFill>
                  <a:srgbClr val="1F2937"/>
                </a:solidFill>
                <a:latin typeface="Calibri" pitchFamily="34" charset="0"/>
                <a:ea typeface="Calibri" pitchFamily="34" charset="-122"/>
                <a:cs typeface="Calibri" pitchFamily="34" charset="-120"/>
              </a:rPr>
              <a:t>Köprücük kemiği</a:t>
            </a:r>
            <a:endParaRPr lang="en-US" sz="1500" dirty="0"/>
          </a:p>
        </p:txBody>
      </p:sp>
      <p:sp>
        <p:nvSpPr>
          <p:cNvPr id="24" name="Shape 22"/>
          <p:cNvSpPr/>
          <p:nvPr/>
        </p:nvSpPr>
        <p:spPr>
          <a:xfrm>
            <a:off x="6233008" y="2676144"/>
            <a:ext cx="5410048" cy="451866"/>
          </a:xfrm>
          <a:prstGeom prst="roundRect">
            <a:avLst>
              <a:gd name="adj" fmla="val 14165"/>
            </a:avLst>
          </a:prstGeom>
          <a:solidFill>
            <a:srgbClr val="FBF1E3"/>
          </a:solidFill>
          <a:ln/>
        </p:spPr>
      </p:sp>
      <p:sp>
        <p:nvSpPr>
          <p:cNvPr id="25" name="Text 23"/>
          <p:cNvSpPr txBox="1"/>
          <p:nvPr/>
        </p:nvSpPr>
        <p:spPr>
          <a:xfrm>
            <a:off x="6388456" y="274929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scapula (L) (skapula): </a:t>
            </a:r>
            <a:r>
              <a:rPr lang="en-US" sz="1500" dirty="0">
                <a:solidFill>
                  <a:srgbClr val="1F2937"/>
                </a:solidFill>
                <a:latin typeface="Calibri" pitchFamily="34" charset="0"/>
                <a:ea typeface="Calibri" pitchFamily="34" charset="-122"/>
                <a:cs typeface="Calibri" pitchFamily="34" charset="-120"/>
              </a:rPr>
              <a:t>Kürek kemiği</a:t>
            </a:r>
            <a:endParaRPr lang="en-US" sz="1500" dirty="0"/>
          </a:p>
        </p:txBody>
      </p:sp>
      <p:sp>
        <p:nvSpPr>
          <p:cNvPr id="26" name="Shape 24"/>
          <p:cNvSpPr/>
          <p:nvPr/>
        </p:nvSpPr>
        <p:spPr>
          <a:xfrm>
            <a:off x="6233008" y="3219450"/>
            <a:ext cx="5410048" cy="451866"/>
          </a:xfrm>
          <a:prstGeom prst="roundRect">
            <a:avLst>
              <a:gd name="adj" fmla="val 14165"/>
            </a:avLst>
          </a:prstGeom>
          <a:solidFill>
            <a:srgbClr val="FBF1E3"/>
          </a:solidFill>
          <a:ln/>
        </p:spPr>
      </p:sp>
      <p:sp>
        <p:nvSpPr>
          <p:cNvPr id="27" name="Text 25"/>
          <p:cNvSpPr txBox="1"/>
          <p:nvPr/>
        </p:nvSpPr>
        <p:spPr>
          <a:xfrm>
            <a:off x="6388456"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humerus (L): </a:t>
            </a:r>
            <a:r>
              <a:rPr lang="en-US" sz="1500" dirty="0">
                <a:solidFill>
                  <a:srgbClr val="1F2937"/>
                </a:solidFill>
                <a:latin typeface="Calibri" pitchFamily="34" charset="0"/>
                <a:ea typeface="Calibri" pitchFamily="34" charset="-122"/>
                <a:cs typeface="Calibri" pitchFamily="34" charset="-120"/>
              </a:rPr>
              <a:t>Kol kemiği</a:t>
            </a:r>
            <a:endParaRPr lang="en-US" sz="1500" dirty="0"/>
          </a:p>
        </p:txBody>
      </p:sp>
      <p:sp>
        <p:nvSpPr>
          <p:cNvPr id="28" name="Shape 26"/>
          <p:cNvSpPr/>
          <p:nvPr/>
        </p:nvSpPr>
        <p:spPr>
          <a:xfrm>
            <a:off x="6233008" y="3762756"/>
            <a:ext cx="5410048" cy="451866"/>
          </a:xfrm>
          <a:prstGeom prst="roundRect">
            <a:avLst>
              <a:gd name="adj" fmla="val 14165"/>
            </a:avLst>
          </a:prstGeom>
          <a:solidFill>
            <a:srgbClr val="FBF1E3"/>
          </a:solidFill>
          <a:ln/>
        </p:spPr>
      </p:sp>
      <p:sp>
        <p:nvSpPr>
          <p:cNvPr id="29" name="Text 27"/>
          <p:cNvSpPr txBox="1"/>
          <p:nvPr/>
        </p:nvSpPr>
        <p:spPr>
          <a:xfrm>
            <a:off x="6388456"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radius (L) (radiyus): </a:t>
            </a:r>
            <a:r>
              <a:rPr lang="en-US" sz="1500" dirty="0">
                <a:solidFill>
                  <a:srgbClr val="1F2937"/>
                </a:solidFill>
                <a:latin typeface="Calibri" pitchFamily="34" charset="0"/>
                <a:ea typeface="Calibri" pitchFamily="34" charset="-122"/>
                <a:cs typeface="Calibri" pitchFamily="34" charset="-120"/>
              </a:rPr>
              <a:t>Ön kolda döner kemik</a:t>
            </a:r>
            <a:endParaRPr lang="en-US" sz="1500" dirty="0"/>
          </a:p>
        </p:txBody>
      </p:sp>
      <p:sp>
        <p:nvSpPr>
          <p:cNvPr id="30" name="Shape 28"/>
          <p:cNvSpPr/>
          <p:nvPr/>
        </p:nvSpPr>
        <p:spPr>
          <a:xfrm>
            <a:off x="6233008" y="4306062"/>
            <a:ext cx="5410048" cy="451866"/>
          </a:xfrm>
          <a:prstGeom prst="roundRect">
            <a:avLst>
              <a:gd name="adj" fmla="val 14165"/>
            </a:avLst>
          </a:prstGeom>
          <a:solidFill>
            <a:srgbClr val="FBF1E3"/>
          </a:solidFill>
          <a:ln/>
        </p:spPr>
      </p:sp>
      <p:sp>
        <p:nvSpPr>
          <p:cNvPr id="31" name="Text 29"/>
          <p:cNvSpPr txBox="1"/>
          <p:nvPr/>
        </p:nvSpPr>
        <p:spPr>
          <a:xfrm>
            <a:off x="6388456"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ulna (L): </a:t>
            </a:r>
            <a:r>
              <a:rPr lang="en-US" sz="1500" dirty="0">
                <a:solidFill>
                  <a:srgbClr val="1F2937"/>
                </a:solidFill>
                <a:latin typeface="Calibri" pitchFamily="34" charset="0"/>
                <a:ea typeface="Calibri" pitchFamily="34" charset="-122"/>
                <a:cs typeface="Calibri" pitchFamily="34" charset="-120"/>
              </a:rPr>
              <a:t>Ön kolda dirsek kemiği</a:t>
            </a:r>
            <a:endParaRPr lang="en-US" sz="1500" dirty="0"/>
          </a:p>
        </p:txBody>
      </p:sp>
      <p:sp>
        <p:nvSpPr>
          <p:cNvPr id="32" name="Shape 30"/>
          <p:cNvSpPr/>
          <p:nvPr/>
        </p:nvSpPr>
        <p:spPr>
          <a:xfrm>
            <a:off x="6233008" y="4849368"/>
            <a:ext cx="5410048" cy="684276"/>
          </a:xfrm>
          <a:prstGeom prst="roundRect">
            <a:avLst>
              <a:gd name="adj" fmla="val 9354"/>
            </a:avLst>
          </a:prstGeom>
          <a:solidFill>
            <a:srgbClr val="FBF1E3"/>
          </a:solidFill>
          <a:ln/>
        </p:spPr>
      </p:sp>
      <p:sp>
        <p:nvSpPr>
          <p:cNvPr id="33" name="Text 31"/>
          <p:cNvSpPr txBox="1"/>
          <p:nvPr/>
        </p:nvSpPr>
        <p:spPr>
          <a:xfrm>
            <a:off x="6388456"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ossa (L) carpi (G) (ossa karpi): </a:t>
            </a:r>
            <a:r>
              <a:rPr lang="en-US" sz="1500" dirty="0">
                <a:solidFill>
                  <a:srgbClr val="1F2937"/>
                </a:solidFill>
                <a:latin typeface="Calibri" pitchFamily="34" charset="0"/>
                <a:ea typeface="Calibri" pitchFamily="34" charset="-122"/>
                <a:cs typeface="Calibri" pitchFamily="34" charset="-120"/>
              </a:rPr>
              <a:t>El bileği kemiklerinin genel adı</a:t>
            </a:r>
            <a:endParaRPr lang="en-US" sz="1500" dirty="0"/>
          </a:p>
        </p:txBody>
      </p:sp>
      <p:sp>
        <p:nvSpPr>
          <p:cNvPr id="34" name="Shape 32"/>
          <p:cNvSpPr/>
          <p:nvPr/>
        </p:nvSpPr>
        <p:spPr>
          <a:xfrm>
            <a:off x="6233008" y="5625084"/>
            <a:ext cx="5410048" cy="684276"/>
          </a:xfrm>
          <a:prstGeom prst="roundRect">
            <a:avLst>
              <a:gd name="adj" fmla="val 9354"/>
            </a:avLst>
          </a:prstGeom>
          <a:solidFill>
            <a:srgbClr val="FBF1E3"/>
          </a:solidFill>
          <a:ln/>
        </p:spPr>
      </p:sp>
      <p:sp>
        <p:nvSpPr>
          <p:cNvPr id="35" name="Text 33"/>
          <p:cNvSpPr txBox="1"/>
          <p:nvPr/>
        </p:nvSpPr>
        <p:spPr>
          <a:xfrm>
            <a:off x="6388456"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ossa (L) metacarpi (G) (ossa metakarpi): </a:t>
            </a:r>
            <a:r>
              <a:rPr lang="en-US" sz="1500" dirty="0">
                <a:solidFill>
                  <a:srgbClr val="1F2937"/>
                </a:solidFill>
                <a:latin typeface="Calibri" pitchFamily="34" charset="0"/>
                <a:ea typeface="Calibri" pitchFamily="34" charset="-122"/>
                <a:cs typeface="Calibri" pitchFamily="34" charset="-120"/>
              </a:rPr>
              <a:t>El tarağı kemikleri</a:t>
            </a:r>
            <a:endParaRPr lang="en-US" sz="15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Vücuttaki Önemli Kemikler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165</a:t>
            </a:r>
            <a:endParaRPr lang="en-US" sz="1000" dirty="0"/>
          </a:p>
        </p:txBody>
      </p:sp>
      <p:sp>
        <p:nvSpPr>
          <p:cNvPr id="6" name="Shape 4"/>
          <p:cNvSpPr/>
          <p:nvPr/>
        </p:nvSpPr>
        <p:spPr>
          <a:xfrm>
            <a:off x="548640" y="1644599"/>
            <a:ext cx="5410048" cy="638658"/>
          </a:xfrm>
          <a:prstGeom prst="roundRect">
            <a:avLst>
              <a:gd name="adj" fmla="val 10022"/>
            </a:avLst>
          </a:prstGeom>
          <a:solidFill>
            <a:srgbClr val="FBF1E3"/>
          </a:solidFill>
          <a:ln/>
        </p:spPr>
      </p:sp>
      <p:sp>
        <p:nvSpPr>
          <p:cNvPr id="7" name="Text 5"/>
          <p:cNvSpPr txBox="1"/>
          <p:nvPr/>
        </p:nvSpPr>
        <p:spPr>
          <a:xfrm>
            <a:off x="704088" y="1717751"/>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ossa digitorum manus (L) (ossa dijitorum manus): </a:t>
            </a:r>
            <a:r>
              <a:rPr lang="en-US" sz="1400" dirty="0">
                <a:solidFill>
                  <a:srgbClr val="1F2937"/>
                </a:solidFill>
                <a:latin typeface="Calibri" pitchFamily="34" charset="0"/>
                <a:ea typeface="Calibri" pitchFamily="34" charset="-122"/>
                <a:cs typeface="Calibri" pitchFamily="34" charset="-120"/>
              </a:rPr>
              <a:t>El parmak kemikleri</a:t>
            </a:r>
            <a:endParaRPr lang="en-US" sz="1400" dirty="0"/>
          </a:p>
        </p:txBody>
      </p:sp>
      <p:sp>
        <p:nvSpPr>
          <p:cNvPr id="8" name="Shape 6"/>
          <p:cNvSpPr/>
          <p:nvPr/>
        </p:nvSpPr>
        <p:spPr>
          <a:xfrm>
            <a:off x="548640" y="2374697"/>
            <a:ext cx="5410048" cy="421742"/>
          </a:xfrm>
          <a:prstGeom prst="roundRect">
            <a:avLst>
              <a:gd name="adj" fmla="val 15177"/>
            </a:avLst>
          </a:prstGeom>
          <a:solidFill>
            <a:srgbClr val="FBF1E3"/>
          </a:solidFill>
          <a:ln/>
        </p:spPr>
      </p:sp>
      <p:sp>
        <p:nvSpPr>
          <p:cNvPr id="9" name="Text 7"/>
          <p:cNvSpPr txBox="1"/>
          <p:nvPr/>
        </p:nvSpPr>
        <p:spPr>
          <a:xfrm>
            <a:off x="704088" y="2447849"/>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coxa (L) (koksa): </a:t>
            </a:r>
            <a:r>
              <a:rPr lang="en-US" sz="1400" dirty="0">
                <a:solidFill>
                  <a:srgbClr val="1F2937"/>
                </a:solidFill>
                <a:latin typeface="Calibri" pitchFamily="34" charset="0"/>
                <a:ea typeface="Calibri" pitchFamily="34" charset="-122"/>
                <a:cs typeface="Calibri" pitchFamily="34" charset="-120"/>
              </a:rPr>
              <a:t>Kalça</a:t>
            </a:r>
            <a:endParaRPr lang="en-US" sz="1400" dirty="0"/>
          </a:p>
        </p:txBody>
      </p:sp>
      <p:sp>
        <p:nvSpPr>
          <p:cNvPr id="10" name="Shape 8"/>
          <p:cNvSpPr/>
          <p:nvPr/>
        </p:nvSpPr>
        <p:spPr>
          <a:xfrm>
            <a:off x="548640" y="2887878"/>
            <a:ext cx="5410048" cy="638658"/>
          </a:xfrm>
          <a:prstGeom prst="roundRect">
            <a:avLst>
              <a:gd name="adj" fmla="val 10022"/>
            </a:avLst>
          </a:prstGeom>
          <a:solidFill>
            <a:srgbClr val="FBF1E3"/>
          </a:solidFill>
          <a:ln/>
        </p:spPr>
      </p:sp>
      <p:sp>
        <p:nvSpPr>
          <p:cNvPr id="11" name="Text 9"/>
          <p:cNvSpPr txBox="1"/>
          <p:nvPr/>
        </p:nvSpPr>
        <p:spPr>
          <a:xfrm>
            <a:off x="704088" y="2961030"/>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pelvis (L): </a:t>
            </a:r>
            <a:r>
              <a:rPr lang="en-US" sz="1400" dirty="0">
                <a:solidFill>
                  <a:srgbClr val="1F2937"/>
                </a:solidFill>
                <a:latin typeface="Calibri" pitchFamily="34" charset="0"/>
                <a:ea typeface="Calibri" pitchFamily="34" charset="-122"/>
                <a:cs typeface="Calibri" pitchFamily="34" charset="-120"/>
              </a:rPr>
              <a:t>İki kalça kemiği ile sakrumun arasında oluşan vücut boşluğu</a:t>
            </a:r>
            <a:endParaRPr lang="en-US" sz="1400" dirty="0"/>
          </a:p>
        </p:txBody>
      </p:sp>
      <p:sp>
        <p:nvSpPr>
          <p:cNvPr id="12" name="Shape 10"/>
          <p:cNvSpPr/>
          <p:nvPr/>
        </p:nvSpPr>
        <p:spPr>
          <a:xfrm>
            <a:off x="548640" y="3617976"/>
            <a:ext cx="5410048" cy="421742"/>
          </a:xfrm>
          <a:prstGeom prst="roundRect">
            <a:avLst>
              <a:gd name="adj" fmla="val 15177"/>
            </a:avLst>
          </a:prstGeom>
          <a:solidFill>
            <a:srgbClr val="FBF1E3"/>
          </a:solidFill>
          <a:ln/>
        </p:spPr>
      </p:sp>
      <p:sp>
        <p:nvSpPr>
          <p:cNvPr id="13" name="Text 11"/>
          <p:cNvSpPr txBox="1"/>
          <p:nvPr/>
        </p:nvSpPr>
        <p:spPr>
          <a:xfrm>
            <a:off x="704088" y="369112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femur (L): </a:t>
            </a:r>
            <a:r>
              <a:rPr lang="en-US" sz="1400" dirty="0">
                <a:solidFill>
                  <a:srgbClr val="1F2937"/>
                </a:solidFill>
                <a:latin typeface="Calibri" pitchFamily="34" charset="0"/>
                <a:ea typeface="Calibri" pitchFamily="34" charset="-122"/>
                <a:cs typeface="Calibri" pitchFamily="34" charset="-120"/>
              </a:rPr>
              <a:t>Uyluk kemiği</a:t>
            </a:r>
            <a:endParaRPr lang="en-US" sz="1400" dirty="0"/>
          </a:p>
        </p:txBody>
      </p:sp>
      <p:sp>
        <p:nvSpPr>
          <p:cNvPr id="14" name="Shape 12"/>
          <p:cNvSpPr/>
          <p:nvPr/>
        </p:nvSpPr>
        <p:spPr>
          <a:xfrm>
            <a:off x="548640" y="4131158"/>
            <a:ext cx="5410048" cy="421742"/>
          </a:xfrm>
          <a:prstGeom prst="roundRect">
            <a:avLst>
              <a:gd name="adj" fmla="val 15177"/>
            </a:avLst>
          </a:prstGeom>
          <a:solidFill>
            <a:srgbClr val="FBF1E3"/>
          </a:solidFill>
          <a:ln/>
        </p:spPr>
      </p:sp>
      <p:sp>
        <p:nvSpPr>
          <p:cNvPr id="15" name="Text 13"/>
          <p:cNvSpPr txBox="1"/>
          <p:nvPr/>
        </p:nvSpPr>
        <p:spPr>
          <a:xfrm>
            <a:off x="704088" y="420431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crus (L) (krus): </a:t>
            </a:r>
            <a:r>
              <a:rPr lang="en-US" sz="1400" dirty="0">
                <a:solidFill>
                  <a:srgbClr val="1F2937"/>
                </a:solidFill>
                <a:latin typeface="Calibri" pitchFamily="34" charset="0"/>
                <a:ea typeface="Calibri" pitchFamily="34" charset="-122"/>
                <a:cs typeface="Calibri" pitchFamily="34" charset="-120"/>
              </a:rPr>
              <a:t>Bacak</a:t>
            </a:r>
            <a:endParaRPr lang="en-US" sz="1400" dirty="0"/>
          </a:p>
        </p:txBody>
      </p:sp>
      <p:sp>
        <p:nvSpPr>
          <p:cNvPr id="16" name="Shape 14"/>
          <p:cNvSpPr/>
          <p:nvPr/>
        </p:nvSpPr>
        <p:spPr>
          <a:xfrm>
            <a:off x="548640" y="4644339"/>
            <a:ext cx="5410048" cy="421742"/>
          </a:xfrm>
          <a:prstGeom prst="roundRect">
            <a:avLst>
              <a:gd name="adj" fmla="val 15177"/>
            </a:avLst>
          </a:prstGeom>
          <a:solidFill>
            <a:srgbClr val="FBF1E3"/>
          </a:solidFill>
          <a:ln/>
        </p:spPr>
      </p:sp>
      <p:sp>
        <p:nvSpPr>
          <p:cNvPr id="17" name="Text 15"/>
          <p:cNvSpPr txBox="1"/>
          <p:nvPr/>
        </p:nvSpPr>
        <p:spPr>
          <a:xfrm>
            <a:off x="704088" y="4717491"/>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patella (L): </a:t>
            </a:r>
            <a:r>
              <a:rPr lang="en-US" sz="1400" dirty="0">
                <a:solidFill>
                  <a:srgbClr val="1F2937"/>
                </a:solidFill>
                <a:latin typeface="Calibri" pitchFamily="34" charset="0"/>
                <a:ea typeface="Calibri" pitchFamily="34" charset="-122"/>
                <a:cs typeface="Calibri" pitchFamily="34" charset="-120"/>
              </a:rPr>
              <a:t>Diz kapağı kemiği</a:t>
            </a:r>
            <a:endParaRPr lang="en-US" sz="1400" dirty="0"/>
          </a:p>
        </p:txBody>
      </p:sp>
      <p:sp>
        <p:nvSpPr>
          <p:cNvPr id="18" name="Shape 16"/>
          <p:cNvSpPr/>
          <p:nvPr/>
        </p:nvSpPr>
        <p:spPr>
          <a:xfrm>
            <a:off x="548640" y="5157521"/>
            <a:ext cx="5410048" cy="638658"/>
          </a:xfrm>
          <a:prstGeom prst="roundRect">
            <a:avLst>
              <a:gd name="adj" fmla="val 10022"/>
            </a:avLst>
          </a:prstGeom>
          <a:solidFill>
            <a:srgbClr val="FBF1E3"/>
          </a:solidFill>
          <a:ln/>
        </p:spPr>
      </p:sp>
      <p:sp>
        <p:nvSpPr>
          <p:cNvPr id="19" name="Text 17"/>
          <p:cNvSpPr txBox="1"/>
          <p:nvPr/>
        </p:nvSpPr>
        <p:spPr>
          <a:xfrm>
            <a:off x="704088" y="5230673"/>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fibula (L): </a:t>
            </a:r>
            <a:r>
              <a:rPr lang="en-US" sz="1400" dirty="0">
                <a:solidFill>
                  <a:srgbClr val="1F2937"/>
                </a:solidFill>
                <a:latin typeface="Calibri" pitchFamily="34" charset="0"/>
                <a:ea typeface="Calibri" pitchFamily="34" charset="-122"/>
                <a:cs typeface="Calibri" pitchFamily="34" charset="-120"/>
              </a:rPr>
              <a:t>İki bacak kemiğinden arka dış yanda ince olanı, kamış kemik</a:t>
            </a:r>
            <a:endParaRPr lang="en-US" sz="1400" dirty="0"/>
          </a:p>
        </p:txBody>
      </p:sp>
      <p:sp>
        <p:nvSpPr>
          <p:cNvPr id="20" name="Shape 18"/>
          <p:cNvSpPr/>
          <p:nvPr/>
        </p:nvSpPr>
        <p:spPr>
          <a:xfrm>
            <a:off x="548640" y="5887618"/>
            <a:ext cx="5410048" cy="421742"/>
          </a:xfrm>
          <a:prstGeom prst="roundRect">
            <a:avLst>
              <a:gd name="adj" fmla="val 15177"/>
            </a:avLst>
          </a:prstGeom>
          <a:solidFill>
            <a:srgbClr val="FBF1E3"/>
          </a:solidFill>
          <a:ln/>
        </p:spPr>
      </p:sp>
      <p:sp>
        <p:nvSpPr>
          <p:cNvPr id="21" name="Text 19"/>
          <p:cNvSpPr txBox="1"/>
          <p:nvPr/>
        </p:nvSpPr>
        <p:spPr>
          <a:xfrm>
            <a:off x="704088" y="596077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tibia (L): </a:t>
            </a:r>
            <a:r>
              <a:rPr lang="en-US" sz="1400" dirty="0">
                <a:solidFill>
                  <a:srgbClr val="1F2937"/>
                </a:solidFill>
                <a:latin typeface="Calibri" pitchFamily="34" charset="0"/>
                <a:ea typeface="Calibri" pitchFamily="34" charset="-122"/>
                <a:cs typeface="Calibri" pitchFamily="34" charset="-120"/>
              </a:rPr>
              <a:t>İki bacak kemiğinden kalın olanı, Kaval kemiği</a:t>
            </a:r>
            <a:endParaRPr lang="en-US" sz="1400" dirty="0"/>
          </a:p>
        </p:txBody>
      </p:sp>
      <p:sp>
        <p:nvSpPr>
          <p:cNvPr id="22" name="Shape 20"/>
          <p:cNvSpPr/>
          <p:nvPr/>
        </p:nvSpPr>
        <p:spPr>
          <a:xfrm>
            <a:off x="6233008" y="1644599"/>
            <a:ext cx="5410048" cy="421742"/>
          </a:xfrm>
          <a:prstGeom prst="roundRect">
            <a:avLst>
              <a:gd name="adj" fmla="val 15177"/>
            </a:avLst>
          </a:prstGeom>
          <a:solidFill>
            <a:srgbClr val="FBF1E3"/>
          </a:solidFill>
          <a:ln/>
        </p:spPr>
      </p:sp>
      <p:sp>
        <p:nvSpPr>
          <p:cNvPr id="23" name="Text 21"/>
          <p:cNvSpPr txBox="1"/>
          <p:nvPr/>
        </p:nvSpPr>
        <p:spPr>
          <a:xfrm>
            <a:off x="6388456" y="1717751"/>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ossa tarsi (L): </a:t>
            </a:r>
            <a:r>
              <a:rPr lang="en-US" sz="1400" dirty="0">
                <a:solidFill>
                  <a:srgbClr val="1F2937"/>
                </a:solidFill>
                <a:latin typeface="Calibri" pitchFamily="34" charset="0"/>
                <a:ea typeface="Calibri" pitchFamily="34" charset="-122"/>
                <a:cs typeface="Calibri" pitchFamily="34" charset="-120"/>
              </a:rPr>
              <a:t>Ayak bileği kemiklerinin genel adı</a:t>
            </a:r>
            <a:endParaRPr lang="en-US" sz="1400" dirty="0"/>
          </a:p>
        </p:txBody>
      </p:sp>
      <p:sp>
        <p:nvSpPr>
          <p:cNvPr id="24" name="Shape 22"/>
          <p:cNvSpPr/>
          <p:nvPr/>
        </p:nvSpPr>
        <p:spPr>
          <a:xfrm>
            <a:off x="6233008" y="2157781"/>
            <a:ext cx="5410048" cy="421742"/>
          </a:xfrm>
          <a:prstGeom prst="roundRect">
            <a:avLst>
              <a:gd name="adj" fmla="val 15177"/>
            </a:avLst>
          </a:prstGeom>
          <a:solidFill>
            <a:srgbClr val="FBF1E3"/>
          </a:solidFill>
          <a:ln/>
        </p:spPr>
      </p:sp>
      <p:sp>
        <p:nvSpPr>
          <p:cNvPr id="25" name="Text 23"/>
          <p:cNvSpPr txBox="1"/>
          <p:nvPr/>
        </p:nvSpPr>
        <p:spPr>
          <a:xfrm>
            <a:off x="6388456" y="2230933"/>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talus (L): </a:t>
            </a:r>
            <a:r>
              <a:rPr lang="en-US" sz="1400" dirty="0">
                <a:solidFill>
                  <a:srgbClr val="1F2937"/>
                </a:solidFill>
                <a:latin typeface="Calibri" pitchFamily="34" charset="0"/>
                <a:ea typeface="Calibri" pitchFamily="34" charset="-122"/>
                <a:cs typeface="Calibri" pitchFamily="34" charset="-120"/>
              </a:rPr>
              <a:t>Aşık kemiği</a:t>
            </a:r>
            <a:endParaRPr lang="en-US" sz="1400" dirty="0"/>
          </a:p>
        </p:txBody>
      </p:sp>
      <p:sp>
        <p:nvSpPr>
          <p:cNvPr id="26" name="Shape 24"/>
          <p:cNvSpPr/>
          <p:nvPr/>
        </p:nvSpPr>
        <p:spPr>
          <a:xfrm>
            <a:off x="6233008" y="2670962"/>
            <a:ext cx="5410048" cy="421742"/>
          </a:xfrm>
          <a:prstGeom prst="roundRect">
            <a:avLst>
              <a:gd name="adj" fmla="val 15177"/>
            </a:avLst>
          </a:prstGeom>
          <a:solidFill>
            <a:srgbClr val="FBF1E3"/>
          </a:solidFill>
          <a:ln/>
        </p:spPr>
      </p:sp>
      <p:sp>
        <p:nvSpPr>
          <p:cNvPr id="27" name="Text 25"/>
          <p:cNvSpPr txBox="1"/>
          <p:nvPr/>
        </p:nvSpPr>
        <p:spPr>
          <a:xfrm>
            <a:off x="6388456" y="2744114"/>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calcaneus (L) (kalkanöz): </a:t>
            </a:r>
            <a:r>
              <a:rPr lang="en-US" sz="1400" dirty="0">
                <a:solidFill>
                  <a:srgbClr val="1F2937"/>
                </a:solidFill>
                <a:latin typeface="Calibri" pitchFamily="34" charset="0"/>
                <a:ea typeface="Calibri" pitchFamily="34" charset="-122"/>
                <a:cs typeface="Calibri" pitchFamily="34" charset="-120"/>
              </a:rPr>
              <a:t>Topuk kemiği</a:t>
            </a:r>
            <a:endParaRPr lang="en-US" sz="1400" dirty="0"/>
          </a:p>
        </p:txBody>
      </p:sp>
      <p:sp>
        <p:nvSpPr>
          <p:cNvPr id="28" name="Shape 26"/>
          <p:cNvSpPr/>
          <p:nvPr/>
        </p:nvSpPr>
        <p:spPr>
          <a:xfrm>
            <a:off x="6233008" y="3184144"/>
            <a:ext cx="5410048" cy="421742"/>
          </a:xfrm>
          <a:prstGeom prst="roundRect">
            <a:avLst>
              <a:gd name="adj" fmla="val 15177"/>
            </a:avLst>
          </a:prstGeom>
          <a:solidFill>
            <a:srgbClr val="FBF1E3"/>
          </a:solidFill>
          <a:ln/>
        </p:spPr>
      </p:sp>
      <p:sp>
        <p:nvSpPr>
          <p:cNvPr id="29" name="Text 27"/>
          <p:cNvSpPr txBox="1"/>
          <p:nvPr/>
        </p:nvSpPr>
        <p:spPr>
          <a:xfrm>
            <a:off x="6388456" y="3257296"/>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ossa (L) metatarsi (G): </a:t>
            </a:r>
            <a:r>
              <a:rPr lang="en-US" sz="1400" dirty="0">
                <a:solidFill>
                  <a:srgbClr val="1F2937"/>
                </a:solidFill>
                <a:latin typeface="Calibri" pitchFamily="34" charset="0"/>
                <a:ea typeface="Calibri" pitchFamily="34" charset="-122"/>
                <a:cs typeface="Calibri" pitchFamily="34" charset="-120"/>
              </a:rPr>
              <a:t>Ayak tarağı kemikleri</a:t>
            </a:r>
            <a:endParaRPr lang="en-US" sz="1400" dirty="0"/>
          </a:p>
        </p:txBody>
      </p:sp>
      <p:sp>
        <p:nvSpPr>
          <p:cNvPr id="30" name="Shape 28"/>
          <p:cNvSpPr/>
          <p:nvPr/>
        </p:nvSpPr>
        <p:spPr>
          <a:xfrm>
            <a:off x="6233008" y="3697326"/>
            <a:ext cx="5410048" cy="421742"/>
          </a:xfrm>
          <a:prstGeom prst="roundRect">
            <a:avLst>
              <a:gd name="adj" fmla="val 15177"/>
            </a:avLst>
          </a:prstGeom>
          <a:solidFill>
            <a:srgbClr val="FBF1E3"/>
          </a:solidFill>
          <a:ln/>
        </p:spPr>
      </p:sp>
      <p:sp>
        <p:nvSpPr>
          <p:cNvPr id="31" name="Text 29"/>
          <p:cNvSpPr txBox="1"/>
          <p:nvPr/>
        </p:nvSpPr>
        <p:spPr>
          <a:xfrm>
            <a:off x="6388456" y="377047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ossa digitorum (dijitorum) pedis (L): </a:t>
            </a:r>
            <a:r>
              <a:rPr lang="en-US" sz="1400" dirty="0">
                <a:solidFill>
                  <a:srgbClr val="1F2937"/>
                </a:solidFill>
                <a:latin typeface="Calibri" pitchFamily="34" charset="0"/>
                <a:ea typeface="Calibri" pitchFamily="34" charset="-122"/>
                <a:cs typeface="Calibri" pitchFamily="34" charset="-120"/>
              </a:rPr>
              <a:t>Ayak parmak kemikleri</a:t>
            </a:r>
            <a:endParaRPr lang="en-US" sz="1400" dirty="0"/>
          </a:p>
        </p:txBody>
      </p:sp>
      <p:sp>
        <p:nvSpPr>
          <p:cNvPr id="32" name="Shape 30"/>
          <p:cNvSpPr/>
          <p:nvPr/>
        </p:nvSpPr>
        <p:spPr>
          <a:xfrm>
            <a:off x="6233008" y="4210507"/>
            <a:ext cx="5410048" cy="421742"/>
          </a:xfrm>
          <a:prstGeom prst="roundRect">
            <a:avLst>
              <a:gd name="adj" fmla="val 15177"/>
            </a:avLst>
          </a:prstGeom>
          <a:solidFill>
            <a:srgbClr val="FBF1E3"/>
          </a:solidFill>
          <a:ln/>
        </p:spPr>
      </p:sp>
      <p:sp>
        <p:nvSpPr>
          <p:cNvPr id="33" name="Text 31"/>
          <p:cNvSpPr txBox="1"/>
          <p:nvPr/>
        </p:nvSpPr>
        <p:spPr>
          <a:xfrm>
            <a:off x="6388456" y="4283659"/>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pes, pedis (L), podos (G): </a:t>
            </a:r>
            <a:r>
              <a:rPr lang="en-US" sz="1400" dirty="0">
                <a:solidFill>
                  <a:srgbClr val="1F2937"/>
                </a:solidFill>
                <a:latin typeface="Calibri" pitchFamily="34" charset="0"/>
                <a:ea typeface="Calibri" pitchFamily="34" charset="-122"/>
                <a:cs typeface="Calibri" pitchFamily="34" charset="-120"/>
              </a:rPr>
              <a:t>Ayak</a:t>
            </a:r>
            <a:endParaRPr lang="en-US" sz="1400" dirty="0"/>
          </a:p>
        </p:txBody>
      </p:sp>
      <p:sp>
        <p:nvSpPr>
          <p:cNvPr id="34" name="Shape 32"/>
          <p:cNvSpPr/>
          <p:nvPr/>
        </p:nvSpPr>
        <p:spPr>
          <a:xfrm>
            <a:off x="6233008" y="4723689"/>
            <a:ext cx="5410048" cy="421742"/>
          </a:xfrm>
          <a:prstGeom prst="roundRect">
            <a:avLst>
              <a:gd name="adj" fmla="val 15177"/>
            </a:avLst>
          </a:prstGeom>
          <a:solidFill>
            <a:srgbClr val="FBF1E3"/>
          </a:solidFill>
          <a:ln/>
        </p:spPr>
      </p:sp>
      <p:sp>
        <p:nvSpPr>
          <p:cNvPr id="35" name="Text 33"/>
          <p:cNvSpPr txBox="1"/>
          <p:nvPr/>
        </p:nvSpPr>
        <p:spPr>
          <a:xfrm>
            <a:off x="6388456" y="4796841"/>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phalanx (G) (falanks): </a:t>
            </a:r>
            <a:r>
              <a:rPr lang="en-US" sz="1400" dirty="0">
                <a:solidFill>
                  <a:srgbClr val="1F2937"/>
                </a:solidFill>
                <a:latin typeface="Calibri" pitchFamily="34" charset="0"/>
                <a:ea typeface="Calibri" pitchFamily="34" charset="-122"/>
                <a:cs typeface="Calibri" pitchFamily="34" charset="-120"/>
              </a:rPr>
              <a:t>Parmak kemiği</a:t>
            </a:r>
            <a:endParaRPr lang="en-US" sz="1400" dirty="0"/>
          </a:p>
        </p:txBody>
      </p:sp>
      <p:sp>
        <p:nvSpPr>
          <p:cNvPr id="36" name="Shape 34"/>
          <p:cNvSpPr/>
          <p:nvPr/>
        </p:nvSpPr>
        <p:spPr>
          <a:xfrm>
            <a:off x="6233008" y="5236870"/>
            <a:ext cx="5410048" cy="421742"/>
          </a:xfrm>
          <a:prstGeom prst="roundRect">
            <a:avLst>
              <a:gd name="adj" fmla="val 15177"/>
            </a:avLst>
          </a:prstGeom>
          <a:solidFill>
            <a:srgbClr val="FBF1E3"/>
          </a:solidFill>
          <a:ln/>
        </p:spPr>
      </p:sp>
      <p:sp>
        <p:nvSpPr>
          <p:cNvPr id="37" name="Text 35"/>
          <p:cNvSpPr txBox="1"/>
          <p:nvPr/>
        </p:nvSpPr>
        <p:spPr>
          <a:xfrm>
            <a:off x="6388456" y="5310022"/>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digitus (L) (dijitus): </a:t>
            </a:r>
            <a:r>
              <a:rPr lang="en-US" sz="1400" dirty="0">
                <a:solidFill>
                  <a:srgbClr val="1F2937"/>
                </a:solidFill>
                <a:latin typeface="Calibri" pitchFamily="34" charset="0"/>
                <a:ea typeface="Calibri" pitchFamily="34" charset="-122"/>
                <a:cs typeface="Calibri" pitchFamily="34" charset="-120"/>
              </a:rPr>
              <a:t>Parmak</a:t>
            </a:r>
            <a:endParaRPr lang="en-US" sz="1400" dirty="0"/>
          </a:p>
        </p:txBody>
      </p:sp>
      <p:sp>
        <p:nvSpPr>
          <p:cNvPr id="38" name="Shape 36"/>
          <p:cNvSpPr/>
          <p:nvPr/>
        </p:nvSpPr>
        <p:spPr>
          <a:xfrm>
            <a:off x="6233008" y="5750052"/>
            <a:ext cx="5410048" cy="421742"/>
          </a:xfrm>
          <a:prstGeom prst="roundRect">
            <a:avLst>
              <a:gd name="adj" fmla="val 15177"/>
            </a:avLst>
          </a:prstGeom>
          <a:solidFill>
            <a:srgbClr val="FBF1E3"/>
          </a:solidFill>
          <a:ln/>
        </p:spPr>
      </p:sp>
      <p:sp>
        <p:nvSpPr>
          <p:cNvPr id="39" name="Text 37"/>
          <p:cNvSpPr txBox="1"/>
          <p:nvPr/>
        </p:nvSpPr>
        <p:spPr>
          <a:xfrm>
            <a:off x="6388456" y="5823204"/>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dactylus (G) (daktilus): </a:t>
            </a:r>
            <a:r>
              <a:rPr lang="en-US" sz="1400" dirty="0">
                <a:solidFill>
                  <a:srgbClr val="1F2937"/>
                </a:solidFill>
                <a:latin typeface="Calibri" pitchFamily="34" charset="0"/>
                <a:ea typeface="Calibri" pitchFamily="34" charset="-122"/>
                <a:cs typeface="Calibri" pitchFamily="34" charset="-120"/>
              </a:rPr>
              <a:t>Parmak</a:t>
            </a:r>
            <a:endParaRPr lang="en-US" sz="14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4.a.2. Eklem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166</a:t>
            </a:r>
            <a:endParaRPr lang="en-US" sz="1000" dirty="0"/>
          </a:p>
        </p:txBody>
      </p:sp>
      <p:sp>
        <p:nvSpPr>
          <p:cNvPr id="6" name="Shape 4"/>
          <p:cNvSpPr/>
          <p:nvPr/>
        </p:nvSpPr>
        <p:spPr>
          <a:xfrm>
            <a:off x="548640" y="1720977"/>
            <a:ext cx="11094415" cy="916686"/>
          </a:xfrm>
          <a:prstGeom prst="roundRect">
            <a:avLst>
              <a:gd name="adj" fmla="val 6983"/>
            </a:avLst>
          </a:prstGeom>
          <a:solidFill>
            <a:srgbClr val="FBF1E3"/>
          </a:solidFill>
          <a:ln/>
        </p:spPr>
      </p:sp>
      <p:sp>
        <p:nvSpPr>
          <p:cNvPr id="7" name="Text 5"/>
          <p:cNvSpPr txBox="1"/>
          <p:nvPr/>
        </p:nvSpPr>
        <p:spPr>
          <a:xfrm>
            <a:off x="704088" y="1794129"/>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capsula articularis (L) (kapsula artikularis): </a:t>
            </a:r>
            <a:r>
              <a:rPr lang="en-US" sz="1500" dirty="0">
                <a:solidFill>
                  <a:srgbClr val="1F2937"/>
                </a:solidFill>
                <a:latin typeface="Calibri" pitchFamily="34" charset="0"/>
                <a:ea typeface="Calibri" pitchFamily="34" charset="-122"/>
                <a:cs typeface="Calibri" pitchFamily="34" charset="-120"/>
              </a:rPr>
              <a:t>Eklem kapsülü. Ekleme katılan kemiğin eklemleşen uçlarını içine alan bağ dokudan kapsül. Eklem bölgesini kucaklar.</a:t>
            </a:r>
            <a:endParaRPr lang="en-US" sz="1500" dirty="0"/>
          </a:p>
        </p:txBody>
      </p:sp>
      <p:sp>
        <p:nvSpPr>
          <p:cNvPr id="8" name="Shape 6"/>
          <p:cNvSpPr/>
          <p:nvPr/>
        </p:nvSpPr>
        <p:spPr>
          <a:xfrm>
            <a:off x="548640" y="2987040"/>
            <a:ext cx="5410048" cy="684276"/>
          </a:xfrm>
          <a:prstGeom prst="roundRect">
            <a:avLst>
              <a:gd name="adj" fmla="val 9354"/>
            </a:avLst>
          </a:prstGeom>
          <a:solidFill>
            <a:srgbClr val="FBF1E3"/>
          </a:solidFill>
          <a:ln/>
        </p:spPr>
      </p:sp>
      <p:sp>
        <p:nvSpPr>
          <p:cNvPr id="9" name="Text 7"/>
          <p:cNvSpPr txBox="1"/>
          <p:nvPr/>
        </p:nvSpPr>
        <p:spPr>
          <a:xfrm>
            <a:off x="704088" y="306019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articulatio (L) (artikulasyo): </a:t>
            </a:r>
            <a:r>
              <a:rPr lang="en-US" sz="1500" dirty="0">
                <a:solidFill>
                  <a:srgbClr val="1F2937"/>
                </a:solidFill>
                <a:latin typeface="Calibri" pitchFamily="34" charset="0"/>
                <a:ea typeface="Calibri" pitchFamily="34" charset="-122"/>
                <a:cs typeface="Calibri" pitchFamily="34" charset="-120"/>
              </a:rPr>
              <a:t>Eklem. Kısaltması ‘‘art.’’. Çoğulu ‘‘articulationes’’</a:t>
            </a:r>
            <a:endParaRPr lang="en-US" sz="1500" dirty="0"/>
          </a:p>
        </p:txBody>
      </p:sp>
      <p:sp>
        <p:nvSpPr>
          <p:cNvPr id="10" name="Shape 8"/>
          <p:cNvSpPr/>
          <p:nvPr/>
        </p:nvSpPr>
        <p:spPr>
          <a:xfrm>
            <a:off x="548640" y="3762756"/>
            <a:ext cx="5410048" cy="451866"/>
          </a:xfrm>
          <a:prstGeom prst="roundRect">
            <a:avLst>
              <a:gd name="adj" fmla="val 14165"/>
            </a:avLst>
          </a:prstGeom>
          <a:solidFill>
            <a:srgbClr val="FBF1E3"/>
          </a:solidFill>
          <a:ln/>
        </p:spPr>
      </p:sp>
      <p:sp>
        <p:nvSpPr>
          <p:cNvPr id="11" name="Text 9"/>
          <p:cNvSpPr txBox="1"/>
          <p:nvPr/>
        </p:nvSpPr>
        <p:spPr>
          <a:xfrm>
            <a:off x="704088"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arthron (G) (artron): </a:t>
            </a:r>
            <a:r>
              <a:rPr lang="en-US" sz="1500" dirty="0">
                <a:solidFill>
                  <a:srgbClr val="1F2937"/>
                </a:solidFill>
                <a:latin typeface="Calibri" pitchFamily="34" charset="0"/>
                <a:ea typeface="Calibri" pitchFamily="34" charset="-122"/>
                <a:cs typeface="Calibri" pitchFamily="34" charset="-120"/>
              </a:rPr>
              <a:t>Eklem</a:t>
            </a:r>
            <a:endParaRPr lang="en-US" sz="1500" dirty="0"/>
          </a:p>
        </p:txBody>
      </p:sp>
      <p:sp>
        <p:nvSpPr>
          <p:cNvPr id="12" name="Shape 10"/>
          <p:cNvSpPr/>
          <p:nvPr/>
        </p:nvSpPr>
        <p:spPr>
          <a:xfrm>
            <a:off x="548640" y="4306062"/>
            <a:ext cx="5410048" cy="451866"/>
          </a:xfrm>
          <a:prstGeom prst="roundRect">
            <a:avLst>
              <a:gd name="adj" fmla="val 14165"/>
            </a:avLst>
          </a:prstGeom>
          <a:solidFill>
            <a:srgbClr val="FBF1E3"/>
          </a:solidFill>
          <a:ln/>
        </p:spPr>
      </p:sp>
      <p:sp>
        <p:nvSpPr>
          <p:cNvPr id="13" name="Text 11"/>
          <p:cNvSpPr txBox="1"/>
          <p:nvPr/>
        </p:nvSpPr>
        <p:spPr>
          <a:xfrm>
            <a:off x="704088"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arthrologia (G) (artroloji): </a:t>
            </a:r>
            <a:r>
              <a:rPr lang="en-US" sz="1500" dirty="0">
                <a:solidFill>
                  <a:srgbClr val="1F2937"/>
                </a:solidFill>
                <a:latin typeface="Calibri" pitchFamily="34" charset="0"/>
                <a:ea typeface="Calibri" pitchFamily="34" charset="-122"/>
                <a:cs typeface="Calibri" pitchFamily="34" charset="-120"/>
              </a:rPr>
              <a:t>Eklem bilimi</a:t>
            </a:r>
            <a:endParaRPr lang="en-US" sz="1500" dirty="0"/>
          </a:p>
        </p:txBody>
      </p:sp>
      <p:sp>
        <p:nvSpPr>
          <p:cNvPr id="14" name="Shape 12"/>
          <p:cNvSpPr/>
          <p:nvPr/>
        </p:nvSpPr>
        <p:spPr>
          <a:xfrm>
            <a:off x="548640" y="4849368"/>
            <a:ext cx="5410048" cy="684276"/>
          </a:xfrm>
          <a:prstGeom prst="roundRect">
            <a:avLst>
              <a:gd name="adj" fmla="val 9354"/>
            </a:avLst>
          </a:prstGeom>
          <a:solidFill>
            <a:srgbClr val="FBF1E3"/>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ligamentum (L): </a:t>
            </a:r>
            <a:r>
              <a:rPr lang="en-US" sz="1500" dirty="0">
                <a:solidFill>
                  <a:srgbClr val="1F2937"/>
                </a:solidFill>
                <a:latin typeface="Calibri" pitchFamily="34" charset="0"/>
                <a:ea typeface="Calibri" pitchFamily="34" charset="-122"/>
                <a:cs typeface="Calibri" pitchFamily="34" charset="-120"/>
              </a:rPr>
              <a:t>Eklem bağı, ‘Lig’ olarak kısaltılır. Çoğulu ‘Ligamenta’ ‘Ligg’</a:t>
            </a:r>
            <a:endParaRPr lang="en-US" sz="1500" dirty="0"/>
          </a:p>
        </p:txBody>
      </p:sp>
      <p:sp>
        <p:nvSpPr>
          <p:cNvPr id="16" name="Shape 14"/>
          <p:cNvSpPr/>
          <p:nvPr/>
        </p:nvSpPr>
        <p:spPr>
          <a:xfrm>
            <a:off x="548640" y="5625084"/>
            <a:ext cx="5410048" cy="684276"/>
          </a:xfrm>
          <a:prstGeom prst="roundRect">
            <a:avLst>
              <a:gd name="adj" fmla="val 9354"/>
            </a:avLst>
          </a:prstGeom>
          <a:solidFill>
            <a:srgbClr val="FBF1E3"/>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sutura (L) (sutur): </a:t>
            </a:r>
            <a:r>
              <a:rPr lang="en-US" sz="1500" dirty="0">
                <a:solidFill>
                  <a:srgbClr val="1F2937"/>
                </a:solidFill>
                <a:latin typeface="Calibri" pitchFamily="34" charset="0"/>
                <a:ea typeface="Calibri" pitchFamily="34" charset="-122"/>
                <a:cs typeface="Calibri" pitchFamily="34" charset="-120"/>
              </a:rPr>
              <a:t>Kısa kemiklerde ekleme katılan yüzeydeki testere benzeri dişli kısım</a:t>
            </a:r>
            <a:endParaRPr lang="en-US" sz="1500" dirty="0"/>
          </a:p>
        </p:txBody>
      </p:sp>
      <p:sp>
        <p:nvSpPr>
          <p:cNvPr id="18" name="Shape 16"/>
          <p:cNvSpPr/>
          <p:nvPr/>
        </p:nvSpPr>
        <p:spPr>
          <a:xfrm>
            <a:off x="6233008" y="2987040"/>
            <a:ext cx="5410048" cy="684276"/>
          </a:xfrm>
          <a:prstGeom prst="roundRect">
            <a:avLst>
              <a:gd name="adj" fmla="val 9354"/>
            </a:avLst>
          </a:prstGeom>
          <a:solidFill>
            <a:srgbClr val="FBF1E3"/>
          </a:solidFill>
          <a:ln/>
        </p:spPr>
      </p:sp>
      <p:sp>
        <p:nvSpPr>
          <p:cNvPr id="19" name="Text 17"/>
          <p:cNvSpPr txBox="1"/>
          <p:nvPr/>
        </p:nvSpPr>
        <p:spPr>
          <a:xfrm>
            <a:off x="6388456" y="306019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gomphosis (G) (gomfozis): </a:t>
            </a:r>
            <a:r>
              <a:rPr lang="en-US" sz="1500" dirty="0">
                <a:solidFill>
                  <a:srgbClr val="1F2937"/>
                </a:solidFill>
                <a:latin typeface="Calibri" pitchFamily="34" charset="0"/>
                <a:ea typeface="Calibri" pitchFamily="34" charset="-122"/>
                <a:cs typeface="Calibri" pitchFamily="34" charset="-120"/>
              </a:rPr>
              <a:t>Dişlerle çene kemiklerindeki alveol kemik duvarı arasındaki meydana gelen eklem</a:t>
            </a:r>
            <a:endParaRPr lang="en-US" sz="1500" dirty="0"/>
          </a:p>
        </p:txBody>
      </p:sp>
      <p:sp>
        <p:nvSpPr>
          <p:cNvPr id="20" name="Shape 18"/>
          <p:cNvSpPr/>
          <p:nvPr/>
        </p:nvSpPr>
        <p:spPr>
          <a:xfrm>
            <a:off x="6233008" y="3762756"/>
            <a:ext cx="5410048" cy="916686"/>
          </a:xfrm>
          <a:prstGeom prst="roundRect">
            <a:avLst>
              <a:gd name="adj" fmla="val 6983"/>
            </a:avLst>
          </a:prstGeom>
          <a:solidFill>
            <a:srgbClr val="FBF1E3"/>
          </a:solidFill>
          <a:ln/>
        </p:spPr>
      </p:sp>
      <p:sp>
        <p:nvSpPr>
          <p:cNvPr id="21" name="Text 19"/>
          <p:cNvSpPr txBox="1"/>
          <p:nvPr/>
        </p:nvSpPr>
        <p:spPr>
          <a:xfrm>
            <a:off x="6388456" y="3835908"/>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facies articularis (L) (fasyes artikularis): </a:t>
            </a:r>
            <a:r>
              <a:rPr lang="en-US" sz="1500" dirty="0">
                <a:solidFill>
                  <a:srgbClr val="1F2937"/>
                </a:solidFill>
                <a:latin typeface="Calibri" pitchFamily="34" charset="0"/>
                <a:ea typeface="Calibri" pitchFamily="34" charset="-122"/>
                <a:cs typeface="Calibri" pitchFamily="34" charset="-120"/>
              </a:rPr>
              <a:t>Uzun kemiklerde iki uçta kemiğin ekleme katılan yüzüdür. Eklem yüzü, artikular yüz,</a:t>
            </a:r>
            <a:endParaRPr lang="en-US" sz="1500" dirty="0"/>
          </a:p>
        </p:txBody>
      </p:sp>
      <p:sp>
        <p:nvSpPr>
          <p:cNvPr id="22" name="Shape 20"/>
          <p:cNvSpPr/>
          <p:nvPr/>
        </p:nvSpPr>
        <p:spPr>
          <a:xfrm>
            <a:off x="6233008" y="4770882"/>
            <a:ext cx="5410048" cy="916686"/>
          </a:xfrm>
          <a:prstGeom prst="roundRect">
            <a:avLst>
              <a:gd name="adj" fmla="val 6983"/>
            </a:avLst>
          </a:prstGeom>
          <a:solidFill>
            <a:srgbClr val="FBF1E3"/>
          </a:solidFill>
          <a:ln/>
        </p:spPr>
      </p:sp>
      <p:sp>
        <p:nvSpPr>
          <p:cNvPr id="23" name="Text 21"/>
          <p:cNvSpPr txBox="1"/>
          <p:nvPr/>
        </p:nvSpPr>
        <p:spPr>
          <a:xfrm>
            <a:off x="6388456" y="4844034"/>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cartilgo articularis (L) (kartilago artikularis): </a:t>
            </a:r>
            <a:r>
              <a:rPr lang="en-US" sz="1500" dirty="0">
                <a:solidFill>
                  <a:srgbClr val="1F2937"/>
                </a:solidFill>
                <a:latin typeface="Calibri" pitchFamily="34" charset="0"/>
                <a:ea typeface="Calibri" pitchFamily="34" charset="-122"/>
                <a:cs typeface="Calibri" pitchFamily="34" charset="-120"/>
              </a:rPr>
              <a:t>Eklem kıkırdağı. Oynar eklemlede ekleme katılan kemiklerin eklem yüzlerini örten kıkırdaktır.</a:t>
            </a:r>
            <a:endParaRPr lang="en-US" sz="15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4.a.2. Eklem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167</a:t>
            </a:r>
            <a:endParaRPr lang="en-US" sz="1000" dirty="0"/>
          </a:p>
        </p:txBody>
      </p:sp>
      <p:sp>
        <p:nvSpPr>
          <p:cNvPr id="6" name="Shape 4"/>
          <p:cNvSpPr/>
          <p:nvPr/>
        </p:nvSpPr>
        <p:spPr>
          <a:xfrm>
            <a:off x="548640" y="1533144"/>
            <a:ext cx="11094415" cy="740664"/>
          </a:xfrm>
          <a:prstGeom prst="roundRect">
            <a:avLst>
              <a:gd name="adj" fmla="val 8642"/>
            </a:avLst>
          </a:prstGeom>
          <a:solidFill>
            <a:srgbClr val="FBF1E3"/>
          </a:solidFill>
          <a:ln/>
        </p:spPr>
      </p:sp>
      <p:sp>
        <p:nvSpPr>
          <p:cNvPr id="7" name="Text 5"/>
          <p:cNvSpPr txBox="1"/>
          <p:nvPr/>
        </p:nvSpPr>
        <p:spPr>
          <a:xfrm>
            <a:off x="704088" y="1606296"/>
            <a:ext cx="10783519" cy="594360"/>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discus (G) intervertebralis (L) (diskus intervertebralis): </a:t>
            </a:r>
            <a:r>
              <a:rPr lang="en-US" sz="1200" dirty="0">
                <a:solidFill>
                  <a:srgbClr val="1F2937"/>
                </a:solidFill>
                <a:latin typeface="Calibri" pitchFamily="34" charset="0"/>
                <a:ea typeface="Calibri" pitchFamily="34" charset="-122"/>
                <a:cs typeface="Calibri" pitchFamily="34" charset="-120"/>
              </a:rPr>
              <a:t>Vertebraların gövde kısımları arasında bulunan disk şeklinde oluşumlar. Vertebralar arası eklemleşmeyi sağlar</a:t>
            </a:r>
            <a:endParaRPr lang="en-US" sz="1200" dirty="0"/>
          </a:p>
        </p:txBody>
      </p:sp>
      <p:sp>
        <p:nvSpPr>
          <p:cNvPr id="8" name="Shape 6"/>
          <p:cNvSpPr/>
          <p:nvPr/>
        </p:nvSpPr>
        <p:spPr>
          <a:xfrm>
            <a:off x="548640" y="2435352"/>
            <a:ext cx="5410048" cy="554736"/>
          </a:xfrm>
          <a:prstGeom prst="roundRect">
            <a:avLst>
              <a:gd name="adj" fmla="val 11538"/>
            </a:avLst>
          </a:prstGeom>
          <a:solidFill>
            <a:srgbClr val="FBF1E3"/>
          </a:solidFill>
          <a:ln/>
        </p:spPr>
      </p:sp>
      <p:sp>
        <p:nvSpPr>
          <p:cNvPr id="9" name="Text 7"/>
          <p:cNvSpPr txBox="1"/>
          <p:nvPr/>
        </p:nvSpPr>
        <p:spPr>
          <a:xfrm>
            <a:off x="704088" y="2508504"/>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cavitas articularis (L) (kavitas artikularis): </a:t>
            </a:r>
            <a:r>
              <a:rPr lang="en-US" sz="1200" dirty="0">
                <a:solidFill>
                  <a:srgbClr val="1F2937"/>
                </a:solidFill>
                <a:latin typeface="Calibri" pitchFamily="34" charset="0"/>
                <a:ea typeface="Calibri" pitchFamily="34" charset="-122"/>
                <a:cs typeface="Calibri" pitchFamily="34" charset="-120"/>
              </a:rPr>
              <a:t>Eklem boşluğu, oynar eklemde ekleme katılan uçlar ile kapsül arasında kalan boşluk</a:t>
            </a:r>
            <a:endParaRPr lang="en-US" sz="1200" dirty="0"/>
          </a:p>
        </p:txBody>
      </p:sp>
      <p:sp>
        <p:nvSpPr>
          <p:cNvPr id="10" name="Shape 8"/>
          <p:cNvSpPr/>
          <p:nvPr/>
        </p:nvSpPr>
        <p:spPr>
          <a:xfrm>
            <a:off x="548640" y="3081528"/>
            <a:ext cx="5410048" cy="554736"/>
          </a:xfrm>
          <a:prstGeom prst="roundRect">
            <a:avLst>
              <a:gd name="adj" fmla="val 11538"/>
            </a:avLst>
          </a:prstGeom>
          <a:solidFill>
            <a:srgbClr val="FBF1E3"/>
          </a:solidFill>
          <a:ln/>
        </p:spPr>
      </p:sp>
      <p:sp>
        <p:nvSpPr>
          <p:cNvPr id="11" name="Text 9"/>
          <p:cNvSpPr txBox="1"/>
          <p:nvPr/>
        </p:nvSpPr>
        <p:spPr>
          <a:xfrm>
            <a:off x="704088" y="3154680"/>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synovia (G) (sinovya): </a:t>
            </a:r>
            <a:r>
              <a:rPr lang="en-US" sz="1200" dirty="0">
                <a:solidFill>
                  <a:srgbClr val="1F2937"/>
                </a:solidFill>
                <a:latin typeface="Calibri" pitchFamily="34" charset="0"/>
                <a:ea typeface="Calibri" pitchFamily="34" charset="-122"/>
                <a:cs typeface="Calibri" pitchFamily="34" charset="-120"/>
              </a:rPr>
              <a:t>Eklem sıvısı, Eklem boşluğunda bulunan sıvı. Koyu ve yapışkandır. Kayganlık sağlayarak sürtünmeyi önler.</a:t>
            </a:r>
            <a:endParaRPr lang="en-US" sz="1200" dirty="0"/>
          </a:p>
        </p:txBody>
      </p:sp>
      <p:sp>
        <p:nvSpPr>
          <p:cNvPr id="12" name="Shape 10"/>
          <p:cNvSpPr/>
          <p:nvPr/>
        </p:nvSpPr>
        <p:spPr>
          <a:xfrm>
            <a:off x="548640" y="3727704"/>
            <a:ext cx="5410048" cy="554736"/>
          </a:xfrm>
          <a:prstGeom prst="roundRect">
            <a:avLst>
              <a:gd name="adj" fmla="val 11538"/>
            </a:avLst>
          </a:prstGeom>
          <a:solidFill>
            <a:srgbClr val="FBF1E3"/>
          </a:solidFill>
          <a:ln/>
        </p:spPr>
      </p:sp>
      <p:sp>
        <p:nvSpPr>
          <p:cNvPr id="13" name="Text 11"/>
          <p:cNvSpPr txBox="1"/>
          <p:nvPr/>
        </p:nvSpPr>
        <p:spPr>
          <a:xfrm>
            <a:off x="704088" y="3800856"/>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articulatio (L) synovialis (G) (artikulasyo sinovyalis): </a:t>
            </a:r>
            <a:r>
              <a:rPr lang="en-US" sz="1200" dirty="0">
                <a:solidFill>
                  <a:srgbClr val="1F2937"/>
                </a:solidFill>
                <a:latin typeface="Calibri" pitchFamily="34" charset="0"/>
                <a:ea typeface="Calibri" pitchFamily="34" charset="-122"/>
                <a:cs typeface="Calibri" pitchFamily="34" charset="-120"/>
              </a:rPr>
              <a:t>Sinovyal eklem, oynar eklem</a:t>
            </a:r>
            <a:endParaRPr lang="en-US" sz="1200" dirty="0"/>
          </a:p>
        </p:txBody>
      </p:sp>
      <p:sp>
        <p:nvSpPr>
          <p:cNvPr id="14" name="Shape 12"/>
          <p:cNvSpPr/>
          <p:nvPr/>
        </p:nvSpPr>
        <p:spPr>
          <a:xfrm>
            <a:off x="548640" y="4373880"/>
            <a:ext cx="5410048" cy="368808"/>
          </a:xfrm>
          <a:prstGeom prst="roundRect">
            <a:avLst>
              <a:gd name="adj" fmla="val 17355"/>
            </a:avLst>
          </a:prstGeom>
          <a:solidFill>
            <a:srgbClr val="FBF1E3"/>
          </a:solidFill>
          <a:ln/>
        </p:spPr>
      </p:sp>
      <p:sp>
        <p:nvSpPr>
          <p:cNvPr id="15" name="Text 13"/>
          <p:cNvSpPr txBox="1"/>
          <p:nvPr/>
        </p:nvSpPr>
        <p:spPr>
          <a:xfrm>
            <a:off x="704088" y="4447032"/>
            <a:ext cx="5099152" cy="222504"/>
          </a:xfrm>
          <a:prstGeom prst="rect">
            <a:avLst/>
          </a:prstGeom>
          <a:noFill/>
          <a:ln/>
        </p:spPr>
        <p:txBody>
          <a:bodyPr wrap="square" lIns="0" tIns="0" rIns="0" bIns="0" rtlCol="0" anchor="t"/>
          <a:lstStyle/>
          <a:p>
            <a:pPr marL="0" indent="0">
              <a:lnSpc>
                <a:spcPct val="105000"/>
              </a:lnSpc>
              <a:buNone/>
            </a:pPr>
            <a:r>
              <a:rPr lang="en-US" sz="1200" dirty="0">
                <a:solidFill>
                  <a:srgbClr val="1F2937"/>
                </a:solidFill>
                <a:latin typeface="Calibri" pitchFamily="34" charset="0"/>
                <a:ea typeface="Calibri" pitchFamily="34" charset="-122"/>
                <a:cs typeface="Calibri" pitchFamily="34" charset="-120"/>
              </a:rPr>
              <a:t>Önemli Eklemler</a:t>
            </a:r>
            <a:endParaRPr lang="en-US" sz="1200" dirty="0"/>
          </a:p>
        </p:txBody>
      </p:sp>
      <p:sp>
        <p:nvSpPr>
          <p:cNvPr id="16" name="Shape 14"/>
          <p:cNvSpPr/>
          <p:nvPr/>
        </p:nvSpPr>
        <p:spPr>
          <a:xfrm>
            <a:off x="548640" y="4834128"/>
            <a:ext cx="5410048" cy="368808"/>
          </a:xfrm>
          <a:prstGeom prst="roundRect">
            <a:avLst>
              <a:gd name="adj" fmla="val 17355"/>
            </a:avLst>
          </a:prstGeom>
          <a:solidFill>
            <a:srgbClr val="FBF1E3"/>
          </a:solidFill>
          <a:ln/>
        </p:spPr>
      </p:sp>
      <p:sp>
        <p:nvSpPr>
          <p:cNvPr id="17" name="Text 15"/>
          <p:cNvSpPr txBox="1"/>
          <p:nvPr/>
        </p:nvSpPr>
        <p:spPr>
          <a:xfrm>
            <a:off x="704088" y="490728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humeri (L): </a:t>
            </a:r>
            <a:r>
              <a:rPr lang="en-US" sz="1200" dirty="0">
                <a:solidFill>
                  <a:srgbClr val="1F2937"/>
                </a:solidFill>
                <a:latin typeface="Calibri" pitchFamily="34" charset="0"/>
                <a:ea typeface="Calibri" pitchFamily="34" charset="-122"/>
                <a:cs typeface="Calibri" pitchFamily="34" charset="-120"/>
              </a:rPr>
              <a:t>Omuz eklemi, skapula ile humerus arasındaki eklem</a:t>
            </a:r>
            <a:endParaRPr lang="en-US" sz="1200" dirty="0"/>
          </a:p>
        </p:txBody>
      </p:sp>
      <p:sp>
        <p:nvSpPr>
          <p:cNvPr id="18" name="Shape 16"/>
          <p:cNvSpPr/>
          <p:nvPr/>
        </p:nvSpPr>
        <p:spPr>
          <a:xfrm>
            <a:off x="548640" y="5294376"/>
            <a:ext cx="5410048" cy="554736"/>
          </a:xfrm>
          <a:prstGeom prst="roundRect">
            <a:avLst>
              <a:gd name="adj" fmla="val 11538"/>
            </a:avLst>
          </a:prstGeom>
          <a:solidFill>
            <a:srgbClr val="FBF1E3"/>
          </a:solidFill>
          <a:ln/>
        </p:spPr>
      </p:sp>
      <p:sp>
        <p:nvSpPr>
          <p:cNvPr id="19" name="Text 17"/>
          <p:cNvSpPr txBox="1"/>
          <p:nvPr/>
        </p:nvSpPr>
        <p:spPr>
          <a:xfrm>
            <a:off x="704088" y="5367528"/>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cubiti (L) (cubiti): </a:t>
            </a:r>
            <a:r>
              <a:rPr lang="en-US" sz="1200" dirty="0">
                <a:solidFill>
                  <a:srgbClr val="1F2937"/>
                </a:solidFill>
                <a:latin typeface="Calibri" pitchFamily="34" charset="0"/>
                <a:ea typeface="Calibri" pitchFamily="34" charset="-122"/>
                <a:cs typeface="Calibri" pitchFamily="34" charset="-120"/>
              </a:rPr>
              <a:t>Dirsek eklemi, humerus, Radius ve ulna arasındaki eklem</a:t>
            </a:r>
            <a:endParaRPr lang="en-US" sz="1200" dirty="0"/>
          </a:p>
        </p:txBody>
      </p:sp>
      <p:sp>
        <p:nvSpPr>
          <p:cNvPr id="20" name="Shape 18"/>
          <p:cNvSpPr/>
          <p:nvPr/>
        </p:nvSpPr>
        <p:spPr>
          <a:xfrm>
            <a:off x="548640" y="5940552"/>
            <a:ext cx="5410048" cy="368808"/>
          </a:xfrm>
          <a:prstGeom prst="roundRect">
            <a:avLst>
              <a:gd name="adj" fmla="val 17355"/>
            </a:avLst>
          </a:prstGeom>
          <a:solidFill>
            <a:srgbClr val="FBF1E3"/>
          </a:solidFill>
          <a:ln/>
        </p:spPr>
      </p:sp>
      <p:sp>
        <p:nvSpPr>
          <p:cNvPr id="21" name="Text 19"/>
          <p:cNvSpPr txBox="1"/>
          <p:nvPr/>
        </p:nvSpPr>
        <p:spPr>
          <a:xfrm>
            <a:off x="704088" y="6013704"/>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coxae (koksa): </a:t>
            </a:r>
            <a:r>
              <a:rPr lang="en-US" sz="1200" dirty="0">
                <a:solidFill>
                  <a:srgbClr val="1F2937"/>
                </a:solidFill>
                <a:latin typeface="Calibri" pitchFamily="34" charset="0"/>
                <a:ea typeface="Calibri" pitchFamily="34" charset="-122"/>
                <a:cs typeface="Calibri" pitchFamily="34" charset="-120"/>
              </a:rPr>
              <a:t>Kalça eklemi, koksa ile femur arasındaki eklem</a:t>
            </a:r>
            <a:endParaRPr lang="en-US" sz="1200" dirty="0"/>
          </a:p>
        </p:txBody>
      </p:sp>
      <p:sp>
        <p:nvSpPr>
          <p:cNvPr id="22" name="Shape 20"/>
          <p:cNvSpPr/>
          <p:nvPr/>
        </p:nvSpPr>
        <p:spPr>
          <a:xfrm>
            <a:off x="6233008" y="2435352"/>
            <a:ext cx="5410048" cy="554736"/>
          </a:xfrm>
          <a:prstGeom prst="roundRect">
            <a:avLst>
              <a:gd name="adj" fmla="val 11538"/>
            </a:avLst>
          </a:prstGeom>
          <a:solidFill>
            <a:srgbClr val="FBF1E3"/>
          </a:solidFill>
          <a:ln/>
        </p:spPr>
      </p:sp>
      <p:sp>
        <p:nvSpPr>
          <p:cNvPr id="23" name="Text 21"/>
          <p:cNvSpPr txBox="1"/>
          <p:nvPr/>
        </p:nvSpPr>
        <p:spPr>
          <a:xfrm>
            <a:off x="6388456" y="2508504"/>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genu (L) (jenu): </a:t>
            </a:r>
            <a:r>
              <a:rPr lang="en-US" sz="1200" dirty="0">
                <a:solidFill>
                  <a:srgbClr val="1F2937"/>
                </a:solidFill>
                <a:latin typeface="Calibri" pitchFamily="34" charset="0"/>
                <a:ea typeface="Calibri" pitchFamily="34" charset="-122"/>
                <a:cs typeface="Calibri" pitchFamily="34" charset="-120"/>
              </a:rPr>
              <a:t>Diz eklemi, femur, tibia ve patellaa kemikleri arasındaki eklem</a:t>
            </a:r>
            <a:endParaRPr lang="en-US" sz="1200" dirty="0"/>
          </a:p>
        </p:txBody>
      </p:sp>
      <p:sp>
        <p:nvSpPr>
          <p:cNvPr id="24" name="Shape 22"/>
          <p:cNvSpPr/>
          <p:nvPr/>
        </p:nvSpPr>
        <p:spPr>
          <a:xfrm>
            <a:off x="6233008" y="3081528"/>
            <a:ext cx="5410048" cy="368808"/>
          </a:xfrm>
          <a:prstGeom prst="roundRect">
            <a:avLst>
              <a:gd name="adj" fmla="val 17355"/>
            </a:avLst>
          </a:prstGeom>
          <a:solidFill>
            <a:srgbClr val="FBF1E3"/>
          </a:solidFill>
          <a:ln/>
        </p:spPr>
      </p:sp>
      <p:sp>
        <p:nvSpPr>
          <p:cNvPr id="25" name="Text 23"/>
          <p:cNvSpPr txBox="1"/>
          <p:nvPr/>
        </p:nvSpPr>
        <p:spPr>
          <a:xfrm>
            <a:off x="6388456" y="3154680"/>
            <a:ext cx="5099152" cy="222504"/>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temporomandibularis (L): </a:t>
            </a:r>
            <a:r>
              <a:rPr lang="en-US" sz="1200" dirty="0">
                <a:solidFill>
                  <a:srgbClr val="1F2937"/>
                </a:solidFill>
                <a:latin typeface="Calibri" pitchFamily="34" charset="0"/>
                <a:ea typeface="Calibri" pitchFamily="34" charset="-122"/>
                <a:cs typeface="Calibri" pitchFamily="34" charset="-120"/>
              </a:rPr>
              <a:t>Mandibula ile temporal kemik arasında</a:t>
            </a:r>
            <a:endParaRPr lang="en-US" sz="1200" dirty="0"/>
          </a:p>
        </p:txBody>
      </p:sp>
      <p:sp>
        <p:nvSpPr>
          <p:cNvPr id="26" name="Shape 24"/>
          <p:cNvSpPr/>
          <p:nvPr/>
        </p:nvSpPr>
        <p:spPr>
          <a:xfrm>
            <a:off x="6233008" y="3541776"/>
            <a:ext cx="5410048" cy="554736"/>
          </a:xfrm>
          <a:prstGeom prst="roundRect">
            <a:avLst>
              <a:gd name="adj" fmla="val 11538"/>
            </a:avLst>
          </a:prstGeom>
          <a:solidFill>
            <a:srgbClr val="FBF1E3"/>
          </a:solidFill>
          <a:ln/>
        </p:spPr>
      </p:sp>
      <p:sp>
        <p:nvSpPr>
          <p:cNvPr id="27" name="Text 25"/>
          <p:cNvSpPr txBox="1"/>
          <p:nvPr/>
        </p:nvSpPr>
        <p:spPr>
          <a:xfrm>
            <a:off x="6388456" y="3614928"/>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radiocarpea (L) (radiokarpe): </a:t>
            </a:r>
            <a:r>
              <a:rPr lang="en-US" sz="1200" dirty="0">
                <a:solidFill>
                  <a:srgbClr val="1F2937"/>
                </a:solidFill>
                <a:latin typeface="Calibri" pitchFamily="34" charset="0"/>
                <a:ea typeface="Calibri" pitchFamily="34" charset="-122"/>
                <a:cs typeface="Calibri" pitchFamily="34" charset="-120"/>
              </a:rPr>
              <a:t>El bileği eklemi, Radius, ulna ve karpal kemiklae arasında oluşur.</a:t>
            </a:r>
            <a:endParaRPr lang="en-US" sz="1200" dirty="0"/>
          </a:p>
        </p:txBody>
      </p:sp>
      <p:sp>
        <p:nvSpPr>
          <p:cNvPr id="28" name="Shape 26"/>
          <p:cNvSpPr/>
          <p:nvPr/>
        </p:nvSpPr>
        <p:spPr>
          <a:xfrm>
            <a:off x="6233008" y="4187952"/>
            <a:ext cx="5410048" cy="554736"/>
          </a:xfrm>
          <a:prstGeom prst="roundRect">
            <a:avLst>
              <a:gd name="adj" fmla="val 11538"/>
            </a:avLst>
          </a:prstGeom>
          <a:solidFill>
            <a:srgbClr val="FBF1E3"/>
          </a:solidFill>
          <a:ln/>
        </p:spPr>
      </p:sp>
      <p:sp>
        <p:nvSpPr>
          <p:cNvPr id="29" name="Text 27"/>
          <p:cNvSpPr txBox="1"/>
          <p:nvPr/>
        </p:nvSpPr>
        <p:spPr>
          <a:xfrm>
            <a:off x="6388456" y="4261104"/>
            <a:ext cx="5099152" cy="408432"/>
          </a:xfrm>
          <a:prstGeom prst="rect">
            <a:avLst/>
          </a:prstGeom>
          <a:noFill/>
          <a:ln/>
        </p:spPr>
        <p:txBody>
          <a:bodyPr wrap="square" lIns="0" tIns="0" rIns="0" bIns="0" rtlCol="0" anchor="t"/>
          <a:lstStyle/>
          <a:p>
            <a:pPr marL="0" indent="0">
              <a:lnSpc>
                <a:spcPct val="105000"/>
              </a:lnSpc>
              <a:buNone/>
            </a:pPr>
            <a:r>
              <a:rPr lang="en-US" sz="1200" b="1" dirty="0">
                <a:solidFill>
                  <a:srgbClr val="B45309"/>
                </a:solidFill>
                <a:latin typeface="Calibri" pitchFamily="34" charset="0"/>
                <a:ea typeface="Calibri" pitchFamily="34" charset="-122"/>
                <a:cs typeface="Calibri" pitchFamily="34" charset="-120"/>
              </a:rPr>
              <a:t>art. talocruralis (L) (talokruralis): </a:t>
            </a:r>
            <a:r>
              <a:rPr lang="en-US" sz="1200" dirty="0">
                <a:solidFill>
                  <a:srgbClr val="1F2937"/>
                </a:solidFill>
                <a:latin typeface="Calibri" pitchFamily="34" charset="0"/>
                <a:ea typeface="Calibri" pitchFamily="34" charset="-122"/>
                <a:cs typeface="Calibri" pitchFamily="34" charset="-120"/>
              </a:rPr>
              <a:t>Tibia, fibula ve talus arasında oluşan ayak bileği eklemi</a:t>
            </a:r>
            <a:endParaRPr lang="en-US" sz="12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4.a.3. Kas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168</a:t>
            </a:r>
            <a:endParaRPr lang="en-US" sz="1000" dirty="0"/>
          </a:p>
        </p:txBody>
      </p:sp>
      <p:sp>
        <p:nvSpPr>
          <p:cNvPr id="6" name="Shape 4"/>
          <p:cNvSpPr/>
          <p:nvPr/>
        </p:nvSpPr>
        <p:spPr>
          <a:xfrm>
            <a:off x="548640" y="1633169"/>
            <a:ext cx="11094415" cy="855574"/>
          </a:xfrm>
          <a:prstGeom prst="roundRect">
            <a:avLst>
              <a:gd name="adj" fmla="val 7481"/>
            </a:avLst>
          </a:prstGeom>
          <a:solidFill>
            <a:srgbClr val="FBF1E3"/>
          </a:solidFill>
          <a:ln/>
        </p:spPr>
      </p:sp>
      <p:sp>
        <p:nvSpPr>
          <p:cNvPr id="7" name="Text 5"/>
          <p:cNvSpPr txBox="1"/>
          <p:nvPr/>
        </p:nvSpPr>
        <p:spPr>
          <a:xfrm>
            <a:off x="704088" y="1706321"/>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musculus (L) (muskulus): </a:t>
            </a:r>
            <a:r>
              <a:rPr lang="en-US" sz="1400" dirty="0">
                <a:solidFill>
                  <a:srgbClr val="1F2937"/>
                </a:solidFill>
                <a:latin typeface="Calibri" pitchFamily="34" charset="0"/>
                <a:ea typeface="Calibri" pitchFamily="34" charset="-122"/>
                <a:cs typeface="Calibri" pitchFamily="34" charset="-120"/>
              </a:rPr>
              <a:t>Kas. Anatomide kas sözcüğü çok geçer. Daha çok kısaltılmış şekliyle yazılır. Kısaltması M. ve m.’dir. Çoğulu musculi’dir ve kısaltması Mm. ve mm.’dir.</a:t>
            </a:r>
            <a:endParaRPr lang="en-US" sz="1400" dirty="0"/>
          </a:p>
        </p:txBody>
      </p:sp>
      <p:sp>
        <p:nvSpPr>
          <p:cNvPr id="8" name="Shape 6"/>
          <p:cNvSpPr/>
          <p:nvPr/>
        </p:nvSpPr>
        <p:spPr>
          <a:xfrm>
            <a:off x="548640" y="2580183"/>
            <a:ext cx="11094415" cy="855574"/>
          </a:xfrm>
          <a:prstGeom prst="roundRect">
            <a:avLst>
              <a:gd name="adj" fmla="val 7481"/>
            </a:avLst>
          </a:prstGeom>
          <a:solidFill>
            <a:srgbClr val="FBF1E3"/>
          </a:solidFill>
          <a:ln/>
        </p:spPr>
      </p:sp>
      <p:sp>
        <p:nvSpPr>
          <p:cNvPr id="9" name="Text 7"/>
          <p:cNvSpPr txBox="1"/>
          <p:nvPr/>
        </p:nvSpPr>
        <p:spPr>
          <a:xfrm>
            <a:off x="704088" y="2653335"/>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myofibrilla (L) (miyofibrilla): </a:t>
            </a:r>
            <a:r>
              <a:rPr lang="en-US" sz="1400" dirty="0">
                <a:solidFill>
                  <a:srgbClr val="1F2937"/>
                </a:solidFill>
                <a:latin typeface="Calibri" pitchFamily="34" charset="0"/>
                <a:ea typeface="Calibri" pitchFamily="34" charset="-122"/>
                <a:cs typeface="Calibri" pitchFamily="34" charset="-120"/>
              </a:rPr>
              <a:t>Kas hücresi sarkoplazması içerisinde uzanan ince iplikçikler. 1-3 mikron kalınlığında olan bu miyofibriller kasılma işlemini yaparlar.</a:t>
            </a:r>
            <a:endParaRPr lang="en-US" sz="1400" dirty="0"/>
          </a:p>
        </p:txBody>
      </p:sp>
      <p:sp>
        <p:nvSpPr>
          <p:cNvPr id="10" name="Shape 8"/>
          <p:cNvSpPr/>
          <p:nvPr/>
        </p:nvSpPr>
        <p:spPr>
          <a:xfrm>
            <a:off x="548640" y="3697326"/>
            <a:ext cx="5410048" cy="421742"/>
          </a:xfrm>
          <a:prstGeom prst="roundRect">
            <a:avLst>
              <a:gd name="adj" fmla="val 15177"/>
            </a:avLst>
          </a:prstGeom>
          <a:solidFill>
            <a:srgbClr val="FBF1E3"/>
          </a:solidFill>
          <a:ln/>
        </p:spPr>
      </p:sp>
      <p:sp>
        <p:nvSpPr>
          <p:cNvPr id="11" name="Text 9"/>
          <p:cNvSpPr txBox="1"/>
          <p:nvPr/>
        </p:nvSpPr>
        <p:spPr>
          <a:xfrm>
            <a:off x="704088" y="377047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myos (G) (miyos): </a:t>
            </a:r>
            <a:r>
              <a:rPr lang="en-US" sz="1400" dirty="0">
                <a:solidFill>
                  <a:srgbClr val="1F2937"/>
                </a:solidFill>
                <a:latin typeface="Calibri" pitchFamily="34" charset="0"/>
                <a:ea typeface="Calibri" pitchFamily="34" charset="-122"/>
                <a:cs typeface="Calibri" pitchFamily="34" charset="-120"/>
              </a:rPr>
              <a:t>Kas</a:t>
            </a:r>
            <a:endParaRPr lang="en-US" sz="1400" dirty="0"/>
          </a:p>
        </p:txBody>
      </p:sp>
      <p:sp>
        <p:nvSpPr>
          <p:cNvPr id="12" name="Shape 10"/>
          <p:cNvSpPr/>
          <p:nvPr/>
        </p:nvSpPr>
        <p:spPr>
          <a:xfrm>
            <a:off x="548640" y="4210507"/>
            <a:ext cx="5410048" cy="638658"/>
          </a:xfrm>
          <a:prstGeom prst="roundRect">
            <a:avLst>
              <a:gd name="adj" fmla="val 10022"/>
            </a:avLst>
          </a:prstGeom>
          <a:solidFill>
            <a:srgbClr val="FBF1E3"/>
          </a:solidFill>
          <a:ln/>
        </p:spPr>
      </p:sp>
      <p:sp>
        <p:nvSpPr>
          <p:cNvPr id="13" name="Text 11"/>
          <p:cNvSpPr txBox="1"/>
          <p:nvPr/>
        </p:nvSpPr>
        <p:spPr>
          <a:xfrm>
            <a:off x="704088" y="4283659"/>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tendon (L), tenon (G): </a:t>
            </a:r>
            <a:r>
              <a:rPr lang="en-US" sz="1400" dirty="0">
                <a:solidFill>
                  <a:srgbClr val="1F2937"/>
                </a:solidFill>
                <a:latin typeface="Calibri" pitchFamily="34" charset="0"/>
                <a:ea typeface="Calibri" pitchFamily="34" charset="-122"/>
                <a:cs typeface="Calibri" pitchFamily="34" charset="-120"/>
              </a:rPr>
              <a:t>İskelet kaslarının ucunda görülen ve kasların kemiklere tutunmasını sağlayan bağ. Kas girişi.</a:t>
            </a:r>
            <a:endParaRPr lang="en-US" sz="1400" dirty="0"/>
          </a:p>
        </p:txBody>
      </p:sp>
      <p:sp>
        <p:nvSpPr>
          <p:cNvPr id="14" name="Shape 12"/>
          <p:cNvSpPr/>
          <p:nvPr/>
        </p:nvSpPr>
        <p:spPr>
          <a:xfrm>
            <a:off x="548640" y="4940605"/>
            <a:ext cx="5410048" cy="855574"/>
          </a:xfrm>
          <a:prstGeom prst="roundRect">
            <a:avLst>
              <a:gd name="adj" fmla="val 7481"/>
            </a:avLst>
          </a:prstGeom>
          <a:solidFill>
            <a:srgbClr val="FBF1E3"/>
          </a:solidFill>
          <a:ln/>
        </p:spPr>
      </p:sp>
      <p:sp>
        <p:nvSpPr>
          <p:cNvPr id="15" name="Text 13"/>
          <p:cNvSpPr txBox="1"/>
          <p:nvPr/>
        </p:nvSpPr>
        <p:spPr>
          <a:xfrm>
            <a:off x="704088" y="5013757"/>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fascia (L) (fasya): </a:t>
            </a:r>
            <a:r>
              <a:rPr lang="en-US" sz="1400" dirty="0">
                <a:solidFill>
                  <a:srgbClr val="1F2937"/>
                </a:solidFill>
                <a:latin typeface="Calibri" pitchFamily="34" charset="0"/>
                <a:ea typeface="Calibri" pitchFamily="34" charset="-122"/>
                <a:cs typeface="Calibri" pitchFamily="34" charset="-120"/>
              </a:rPr>
              <a:t>Kaslar arasında kasları birbirinden ayıran ince saydam zara fasya denir. Sıkı bağ dokudan yapılmıştır.</a:t>
            </a:r>
            <a:endParaRPr lang="en-US" sz="1400" dirty="0"/>
          </a:p>
        </p:txBody>
      </p:sp>
      <p:sp>
        <p:nvSpPr>
          <p:cNvPr id="16" name="Shape 14"/>
          <p:cNvSpPr/>
          <p:nvPr/>
        </p:nvSpPr>
        <p:spPr>
          <a:xfrm>
            <a:off x="548640" y="5887618"/>
            <a:ext cx="5410048" cy="421742"/>
          </a:xfrm>
          <a:prstGeom prst="roundRect">
            <a:avLst>
              <a:gd name="adj" fmla="val 15177"/>
            </a:avLst>
          </a:prstGeom>
          <a:solidFill>
            <a:srgbClr val="FBF1E3"/>
          </a:solidFill>
          <a:ln/>
        </p:spPr>
      </p:sp>
      <p:sp>
        <p:nvSpPr>
          <p:cNvPr id="17" name="Text 15"/>
          <p:cNvSpPr txBox="1"/>
          <p:nvPr/>
        </p:nvSpPr>
        <p:spPr>
          <a:xfrm>
            <a:off x="704088" y="596077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myocytus (G) (miyosit): </a:t>
            </a:r>
            <a:r>
              <a:rPr lang="en-US" sz="1400" dirty="0">
                <a:solidFill>
                  <a:srgbClr val="1F2937"/>
                </a:solidFill>
                <a:latin typeface="Calibri" pitchFamily="34" charset="0"/>
                <a:ea typeface="Calibri" pitchFamily="34" charset="-122"/>
                <a:cs typeface="Calibri" pitchFamily="34" charset="-120"/>
              </a:rPr>
              <a:t>Kas hücresi</a:t>
            </a:r>
            <a:endParaRPr lang="en-US" sz="1400" dirty="0"/>
          </a:p>
        </p:txBody>
      </p:sp>
      <p:sp>
        <p:nvSpPr>
          <p:cNvPr id="18" name="Shape 16"/>
          <p:cNvSpPr/>
          <p:nvPr/>
        </p:nvSpPr>
        <p:spPr>
          <a:xfrm>
            <a:off x="6233008" y="3697326"/>
            <a:ext cx="5410048" cy="421742"/>
          </a:xfrm>
          <a:prstGeom prst="roundRect">
            <a:avLst>
              <a:gd name="adj" fmla="val 15177"/>
            </a:avLst>
          </a:prstGeom>
          <a:solidFill>
            <a:srgbClr val="FBF1E3"/>
          </a:solidFill>
          <a:ln/>
        </p:spPr>
      </p:sp>
      <p:sp>
        <p:nvSpPr>
          <p:cNvPr id="19" name="Text 17"/>
          <p:cNvSpPr txBox="1"/>
          <p:nvPr/>
        </p:nvSpPr>
        <p:spPr>
          <a:xfrm>
            <a:off x="6388456" y="377047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sarcoplasma (G) (sarkoplazma): </a:t>
            </a:r>
            <a:r>
              <a:rPr lang="en-US" sz="1400" dirty="0">
                <a:solidFill>
                  <a:srgbClr val="1F2937"/>
                </a:solidFill>
                <a:latin typeface="Calibri" pitchFamily="34" charset="0"/>
                <a:ea typeface="Calibri" pitchFamily="34" charset="-122"/>
                <a:cs typeface="Calibri" pitchFamily="34" charset="-120"/>
              </a:rPr>
              <a:t>Kas hücresi sitoplazması</a:t>
            </a:r>
            <a:endParaRPr lang="en-US" sz="1400" dirty="0"/>
          </a:p>
        </p:txBody>
      </p:sp>
      <p:sp>
        <p:nvSpPr>
          <p:cNvPr id="20" name="Shape 18"/>
          <p:cNvSpPr/>
          <p:nvPr/>
        </p:nvSpPr>
        <p:spPr>
          <a:xfrm>
            <a:off x="6233008" y="4210507"/>
            <a:ext cx="5410048" cy="421742"/>
          </a:xfrm>
          <a:prstGeom prst="roundRect">
            <a:avLst>
              <a:gd name="adj" fmla="val 15177"/>
            </a:avLst>
          </a:prstGeom>
          <a:solidFill>
            <a:srgbClr val="FBF1E3"/>
          </a:solidFill>
          <a:ln/>
        </p:spPr>
      </p:sp>
      <p:sp>
        <p:nvSpPr>
          <p:cNvPr id="21" name="Text 19"/>
          <p:cNvSpPr txBox="1"/>
          <p:nvPr/>
        </p:nvSpPr>
        <p:spPr>
          <a:xfrm>
            <a:off x="6388456" y="4283659"/>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fibramuscularis (L) (fibramuskularis): </a:t>
            </a:r>
            <a:r>
              <a:rPr lang="en-US" sz="1400" dirty="0">
                <a:solidFill>
                  <a:srgbClr val="1F2937"/>
                </a:solidFill>
                <a:latin typeface="Calibri" pitchFamily="34" charset="0"/>
                <a:ea typeface="Calibri" pitchFamily="34" charset="-122"/>
                <a:cs typeface="Calibri" pitchFamily="34" charset="-120"/>
              </a:rPr>
              <a:t>Kas teli veya lifi</a:t>
            </a:r>
            <a:endParaRPr lang="en-US" sz="1400" dirty="0"/>
          </a:p>
        </p:txBody>
      </p:sp>
      <p:sp>
        <p:nvSpPr>
          <p:cNvPr id="22" name="Shape 20"/>
          <p:cNvSpPr/>
          <p:nvPr/>
        </p:nvSpPr>
        <p:spPr>
          <a:xfrm>
            <a:off x="6233008" y="4723689"/>
            <a:ext cx="5410048" cy="638658"/>
          </a:xfrm>
          <a:prstGeom prst="roundRect">
            <a:avLst>
              <a:gd name="adj" fmla="val 10022"/>
            </a:avLst>
          </a:prstGeom>
          <a:solidFill>
            <a:srgbClr val="FBF1E3"/>
          </a:solidFill>
          <a:ln/>
        </p:spPr>
      </p:sp>
      <p:sp>
        <p:nvSpPr>
          <p:cNvPr id="23" name="Text 21"/>
          <p:cNvSpPr txBox="1"/>
          <p:nvPr/>
        </p:nvSpPr>
        <p:spPr>
          <a:xfrm>
            <a:off x="6388456" y="4796841"/>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discus (G) intercalatus (L) (diskus interkalatus): </a:t>
            </a:r>
            <a:r>
              <a:rPr lang="en-US" sz="1400" dirty="0">
                <a:solidFill>
                  <a:srgbClr val="1F2937"/>
                </a:solidFill>
                <a:latin typeface="Calibri" pitchFamily="34" charset="0"/>
                <a:ea typeface="Calibri" pitchFamily="34" charset="-122"/>
                <a:cs typeface="Calibri" pitchFamily="34" charset="-120"/>
              </a:rPr>
              <a:t>Kalp kası hücreleri arasındaki bağlantı yeridir.</a:t>
            </a:r>
            <a:endParaRPr lang="en-US" sz="14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4.b. 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169</a:t>
            </a:r>
            <a:endParaRPr lang="en-US" sz="1000" dirty="0"/>
          </a:p>
        </p:txBody>
      </p:sp>
      <p:sp>
        <p:nvSpPr>
          <p:cNvPr id="6" name="Shape 4"/>
          <p:cNvSpPr/>
          <p:nvPr/>
        </p:nvSpPr>
        <p:spPr>
          <a:xfrm>
            <a:off x="548640" y="1514145"/>
            <a:ext cx="11094415" cy="638658"/>
          </a:xfrm>
          <a:prstGeom prst="roundRect">
            <a:avLst>
              <a:gd name="adj" fmla="val 10022"/>
            </a:avLst>
          </a:prstGeom>
          <a:solidFill>
            <a:srgbClr val="FBF1E3"/>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fibro(L)myalgia (G) (fibromiyalji): </a:t>
            </a:r>
            <a:r>
              <a:rPr lang="en-US" sz="1400" dirty="0">
                <a:solidFill>
                  <a:srgbClr val="1F2937"/>
                </a:solidFill>
                <a:latin typeface="Calibri" pitchFamily="34" charset="0"/>
                <a:ea typeface="Calibri" pitchFamily="34" charset="-122"/>
                <a:cs typeface="Calibri" pitchFamily="34" charset="-120"/>
              </a:rPr>
              <a:t>Sırt, boyun, omuz ve kalça kaslarında ve eklemlerinde ağrı ve tutukluk şeklinde ortaya çıkan kronik kas iskelet sendromu</a:t>
            </a:r>
            <a:endParaRPr lang="en-US" sz="1400" dirty="0"/>
          </a:p>
        </p:txBody>
      </p:sp>
      <p:sp>
        <p:nvSpPr>
          <p:cNvPr id="8" name="Shape 6"/>
          <p:cNvSpPr/>
          <p:nvPr/>
        </p:nvSpPr>
        <p:spPr>
          <a:xfrm>
            <a:off x="548640" y="2295347"/>
            <a:ext cx="11094415" cy="421742"/>
          </a:xfrm>
          <a:prstGeom prst="roundRect">
            <a:avLst>
              <a:gd name="adj" fmla="val 15177"/>
            </a:avLst>
          </a:prstGeom>
          <a:solidFill>
            <a:srgbClr val="FBF1E3"/>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arthralgia (G) (artralji): </a:t>
            </a:r>
            <a:r>
              <a:rPr lang="en-US" sz="1400" dirty="0">
                <a:solidFill>
                  <a:srgbClr val="1F2937"/>
                </a:solidFill>
                <a:latin typeface="Calibri" pitchFamily="34" charset="0"/>
                <a:ea typeface="Calibri" pitchFamily="34" charset="-122"/>
                <a:cs typeface="Calibri" pitchFamily="34" charset="-120"/>
              </a:rPr>
              <a:t>Eklem ağrısı</a:t>
            </a:r>
            <a:endParaRPr lang="en-US" sz="1400" dirty="0"/>
          </a:p>
        </p:txBody>
      </p:sp>
      <p:sp>
        <p:nvSpPr>
          <p:cNvPr id="10" name="Shape 8"/>
          <p:cNvSpPr/>
          <p:nvPr/>
        </p:nvSpPr>
        <p:spPr>
          <a:xfrm>
            <a:off x="548640" y="2808529"/>
            <a:ext cx="11094415" cy="421742"/>
          </a:xfrm>
          <a:prstGeom prst="roundRect">
            <a:avLst>
              <a:gd name="adj" fmla="val 15177"/>
            </a:avLst>
          </a:prstGeom>
          <a:solidFill>
            <a:srgbClr val="FBF1E3"/>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myalgia (G) (miyalji): </a:t>
            </a:r>
            <a:r>
              <a:rPr lang="en-US" sz="1400" dirty="0">
                <a:solidFill>
                  <a:srgbClr val="1F2937"/>
                </a:solidFill>
                <a:latin typeface="Calibri" pitchFamily="34" charset="0"/>
                <a:ea typeface="Calibri" pitchFamily="34" charset="-122"/>
                <a:cs typeface="Calibri" pitchFamily="34" charset="-120"/>
              </a:rPr>
              <a:t>Kas ağrısı</a:t>
            </a:r>
            <a:endParaRPr lang="en-US" sz="1400" dirty="0"/>
          </a:p>
        </p:txBody>
      </p:sp>
      <p:sp>
        <p:nvSpPr>
          <p:cNvPr id="12" name="Shape 10"/>
          <p:cNvSpPr/>
          <p:nvPr/>
        </p:nvSpPr>
        <p:spPr>
          <a:xfrm>
            <a:off x="548640" y="3321710"/>
            <a:ext cx="11094415" cy="421742"/>
          </a:xfrm>
          <a:prstGeom prst="roundRect">
            <a:avLst>
              <a:gd name="adj" fmla="val 15177"/>
            </a:avLst>
          </a:prstGeom>
          <a:solidFill>
            <a:srgbClr val="FBF1E3"/>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siyatalji: </a:t>
            </a:r>
            <a:r>
              <a:rPr lang="en-US" sz="1400" dirty="0">
                <a:solidFill>
                  <a:srgbClr val="1F2937"/>
                </a:solidFill>
                <a:latin typeface="Calibri" pitchFamily="34" charset="0"/>
                <a:ea typeface="Calibri" pitchFamily="34" charset="-122"/>
                <a:cs typeface="Calibri" pitchFamily="34" charset="-120"/>
              </a:rPr>
              <a:t>N. ischiadicus’un (siyatik sinir) invereve ettiği (yayıldığı) alanda duyulan ağrı. Bacağa yayılan ağrı.</a:t>
            </a:r>
            <a:endParaRPr lang="en-US" sz="1400" dirty="0"/>
          </a:p>
        </p:txBody>
      </p:sp>
      <p:sp>
        <p:nvSpPr>
          <p:cNvPr id="14" name="Shape 12"/>
          <p:cNvSpPr/>
          <p:nvPr/>
        </p:nvSpPr>
        <p:spPr>
          <a:xfrm>
            <a:off x="548640" y="3834892"/>
            <a:ext cx="11094415" cy="421742"/>
          </a:xfrm>
          <a:prstGeom prst="roundRect">
            <a:avLst>
              <a:gd name="adj" fmla="val 15177"/>
            </a:avLst>
          </a:prstGeom>
          <a:solidFill>
            <a:srgbClr val="FBF1E3"/>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meta(L)tarsalgia (L) (metatarsalji): </a:t>
            </a:r>
            <a:r>
              <a:rPr lang="en-US" sz="1400" dirty="0">
                <a:solidFill>
                  <a:srgbClr val="1F2937"/>
                </a:solidFill>
                <a:latin typeface="Calibri" pitchFamily="34" charset="0"/>
                <a:ea typeface="Calibri" pitchFamily="34" charset="-122"/>
                <a:cs typeface="Calibri" pitchFamily="34" charset="-120"/>
              </a:rPr>
              <a:t>Ayak tarağındaki hissedilen ağrı.</a:t>
            </a:r>
            <a:endParaRPr lang="en-US" sz="1400" dirty="0"/>
          </a:p>
        </p:txBody>
      </p:sp>
      <p:sp>
        <p:nvSpPr>
          <p:cNvPr id="16" name="Shape 14"/>
          <p:cNvSpPr/>
          <p:nvPr/>
        </p:nvSpPr>
        <p:spPr>
          <a:xfrm>
            <a:off x="548640" y="4348074"/>
            <a:ext cx="11094415" cy="421742"/>
          </a:xfrm>
          <a:prstGeom prst="roundRect">
            <a:avLst>
              <a:gd name="adj" fmla="val 15177"/>
            </a:avLst>
          </a:prstGeom>
          <a:solidFill>
            <a:srgbClr val="FBF1E3"/>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contracture (L) (kontraktür): </a:t>
            </a:r>
            <a:r>
              <a:rPr lang="en-US" sz="1400" dirty="0">
                <a:solidFill>
                  <a:srgbClr val="1F2937"/>
                </a:solidFill>
                <a:latin typeface="Calibri" pitchFamily="34" charset="0"/>
                <a:ea typeface="Calibri" pitchFamily="34" charset="-122"/>
                <a:cs typeface="Calibri" pitchFamily="34" charset="-120"/>
              </a:rPr>
              <a:t>Kasın devamlı kasılma halinde bulunması</a:t>
            </a:r>
            <a:endParaRPr lang="en-US" sz="1400" dirty="0"/>
          </a:p>
        </p:txBody>
      </p:sp>
      <p:sp>
        <p:nvSpPr>
          <p:cNvPr id="18" name="Shape 16"/>
          <p:cNvSpPr/>
          <p:nvPr/>
        </p:nvSpPr>
        <p:spPr>
          <a:xfrm>
            <a:off x="548640" y="4861255"/>
            <a:ext cx="11094415" cy="421742"/>
          </a:xfrm>
          <a:prstGeom prst="roundRect">
            <a:avLst>
              <a:gd name="adj" fmla="val 15177"/>
            </a:avLst>
          </a:prstGeom>
          <a:solidFill>
            <a:srgbClr val="FBF1E3"/>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myathrophy (G) (miyatrofi): </a:t>
            </a:r>
            <a:r>
              <a:rPr lang="en-US" sz="1400" dirty="0">
                <a:solidFill>
                  <a:srgbClr val="1F2937"/>
                </a:solidFill>
                <a:latin typeface="Calibri" pitchFamily="34" charset="0"/>
                <a:ea typeface="Calibri" pitchFamily="34" charset="-122"/>
                <a:cs typeface="Calibri" pitchFamily="34" charset="-120"/>
              </a:rPr>
              <a:t>Kas erimesi</a:t>
            </a:r>
            <a:endParaRPr lang="en-US" sz="1400" dirty="0"/>
          </a:p>
        </p:txBody>
      </p:sp>
      <p:sp>
        <p:nvSpPr>
          <p:cNvPr id="20" name="Shape 18"/>
          <p:cNvSpPr/>
          <p:nvPr/>
        </p:nvSpPr>
        <p:spPr>
          <a:xfrm>
            <a:off x="548640" y="5374437"/>
            <a:ext cx="11094415" cy="421742"/>
          </a:xfrm>
          <a:prstGeom prst="roundRect">
            <a:avLst>
              <a:gd name="adj" fmla="val 15177"/>
            </a:avLst>
          </a:prstGeom>
          <a:solidFill>
            <a:srgbClr val="FBF1E3"/>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crepitation (L) (krepitasyon): </a:t>
            </a:r>
            <a:r>
              <a:rPr lang="en-US" sz="1400" dirty="0">
                <a:solidFill>
                  <a:srgbClr val="1F2937"/>
                </a:solidFill>
                <a:latin typeface="Calibri" pitchFamily="34" charset="0"/>
                <a:ea typeface="Calibri" pitchFamily="34" charset="-122"/>
                <a:cs typeface="Calibri" pitchFamily="34" charset="-120"/>
              </a:rPr>
              <a:t>Kırı kemiğin uçlarının birbirine sürtünmesinden çıkan ses</a:t>
            </a:r>
            <a:endParaRPr lang="en-US" sz="1400" dirty="0"/>
          </a:p>
        </p:txBody>
      </p:sp>
      <p:sp>
        <p:nvSpPr>
          <p:cNvPr id="22" name="Shape 20"/>
          <p:cNvSpPr/>
          <p:nvPr/>
        </p:nvSpPr>
        <p:spPr>
          <a:xfrm>
            <a:off x="548640" y="5887618"/>
            <a:ext cx="11094415" cy="421742"/>
          </a:xfrm>
          <a:prstGeom prst="roundRect">
            <a:avLst>
              <a:gd name="adj" fmla="val 15177"/>
            </a:avLst>
          </a:prstGeom>
          <a:solidFill>
            <a:srgbClr val="FBF1E3"/>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frakture (L) (fraktur): </a:t>
            </a:r>
            <a:r>
              <a:rPr lang="en-US" sz="1400" dirty="0">
                <a:solidFill>
                  <a:srgbClr val="1F2937"/>
                </a:solidFill>
                <a:latin typeface="Calibri" pitchFamily="34" charset="0"/>
                <a:ea typeface="Calibri" pitchFamily="34" charset="-122"/>
                <a:cs typeface="Calibri" pitchFamily="34" charset="-120"/>
              </a:rPr>
              <a:t>Kırık. Bir kemiğin kırılarak bütünlüğünün bozulması</a:t>
            </a:r>
            <a:endParaRPr lang="en-US" sz="1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4.b. 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170</a:t>
            </a:r>
            <a:endParaRPr lang="en-US" sz="1000" dirty="0"/>
          </a:p>
        </p:txBody>
      </p:sp>
      <p:sp>
        <p:nvSpPr>
          <p:cNvPr id="6" name="Shape 4"/>
          <p:cNvSpPr/>
          <p:nvPr/>
        </p:nvSpPr>
        <p:spPr>
          <a:xfrm>
            <a:off x="548640" y="1514145"/>
            <a:ext cx="11094415" cy="638658"/>
          </a:xfrm>
          <a:prstGeom prst="roundRect">
            <a:avLst>
              <a:gd name="adj" fmla="val 10022"/>
            </a:avLst>
          </a:prstGeom>
          <a:solidFill>
            <a:srgbClr val="FBF1E3"/>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ankylosis (G) (ankiloz): </a:t>
            </a:r>
            <a:r>
              <a:rPr lang="en-US" sz="1400" dirty="0">
                <a:solidFill>
                  <a:srgbClr val="1F2937"/>
                </a:solidFill>
                <a:latin typeface="Calibri" pitchFamily="34" charset="0"/>
                <a:ea typeface="Calibri" pitchFamily="34" charset="-122"/>
                <a:cs typeface="Calibri" pitchFamily="34" charset="-120"/>
              </a:rPr>
              <a:t>Eklemi meydana getiren kemiklerin, eklem yüzeylerinin birbirine kaynaşması. Böylece eklem hareket yeteneğini kaybeder ve sertleşir.</a:t>
            </a:r>
            <a:endParaRPr lang="en-US" sz="1400" dirty="0"/>
          </a:p>
        </p:txBody>
      </p:sp>
      <p:sp>
        <p:nvSpPr>
          <p:cNvPr id="8" name="Shape 6"/>
          <p:cNvSpPr/>
          <p:nvPr/>
        </p:nvSpPr>
        <p:spPr>
          <a:xfrm>
            <a:off x="548640" y="2295347"/>
            <a:ext cx="11094415" cy="421742"/>
          </a:xfrm>
          <a:prstGeom prst="roundRect">
            <a:avLst>
              <a:gd name="adj" fmla="val 15177"/>
            </a:avLst>
          </a:prstGeom>
          <a:solidFill>
            <a:srgbClr val="FBF1E3"/>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refracture (L) (refraktur): </a:t>
            </a:r>
            <a:r>
              <a:rPr lang="en-US" sz="1400" dirty="0">
                <a:solidFill>
                  <a:srgbClr val="1F2937"/>
                </a:solidFill>
                <a:latin typeface="Calibri" pitchFamily="34" charset="0"/>
                <a:ea typeface="Calibri" pitchFamily="34" charset="-122"/>
                <a:cs typeface="Calibri" pitchFamily="34" charset="-120"/>
              </a:rPr>
              <a:t>Eski bir kırıktan sonra kaynayan kemiğin yeniden kırılması</a:t>
            </a:r>
            <a:endParaRPr lang="en-US" sz="1400" dirty="0"/>
          </a:p>
        </p:txBody>
      </p:sp>
      <p:sp>
        <p:nvSpPr>
          <p:cNvPr id="10" name="Shape 8"/>
          <p:cNvSpPr/>
          <p:nvPr/>
        </p:nvSpPr>
        <p:spPr>
          <a:xfrm>
            <a:off x="548640" y="2808529"/>
            <a:ext cx="11094415" cy="421742"/>
          </a:xfrm>
          <a:prstGeom prst="roundRect">
            <a:avLst>
              <a:gd name="adj" fmla="val 15177"/>
            </a:avLst>
          </a:prstGeom>
          <a:solidFill>
            <a:srgbClr val="FBF1E3"/>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dislocation (L) (dislokasyon): </a:t>
            </a:r>
            <a:r>
              <a:rPr lang="en-US" sz="1400" dirty="0">
                <a:solidFill>
                  <a:srgbClr val="1F2937"/>
                </a:solidFill>
                <a:latin typeface="Calibri" pitchFamily="34" charset="0"/>
                <a:ea typeface="Calibri" pitchFamily="34" charset="-122"/>
                <a:cs typeface="Calibri" pitchFamily="34" charset="-120"/>
              </a:rPr>
              <a:t>Çıkık. Ekleme katılan kemiklerin eklem yüzlerinin konumlarının değişmesi</a:t>
            </a:r>
            <a:endParaRPr lang="en-US" sz="1400" dirty="0"/>
          </a:p>
        </p:txBody>
      </p:sp>
      <p:sp>
        <p:nvSpPr>
          <p:cNvPr id="12" name="Shape 10"/>
          <p:cNvSpPr/>
          <p:nvPr/>
        </p:nvSpPr>
        <p:spPr>
          <a:xfrm>
            <a:off x="548640" y="3321710"/>
            <a:ext cx="11094415" cy="421742"/>
          </a:xfrm>
          <a:prstGeom prst="roundRect">
            <a:avLst>
              <a:gd name="adj" fmla="val 15177"/>
            </a:avLst>
          </a:prstGeom>
          <a:solidFill>
            <a:srgbClr val="FBF1E3"/>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subluxation (L) (sublüksasyon): </a:t>
            </a:r>
            <a:r>
              <a:rPr lang="en-US" sz="1400" dirty="0">
                <a:solidFill>
                  <a:srgbClr val="1F2937"/>
                </a:solidFill>
                <a:latin typeface="Calibri" pitchFamily="34" charset="0"/>
                <a:ea typeface="Calibri" pitchFamily="34" charset="-122"/>
                <a:cs typeface="Calibri" pitchFamily="34" charset="-120"/>
              </a:rPr>
              <a:t>Eklem yüzlerinin birbirinden kısmen uzaklaşması. Tam olmayan çıkık</a:t>
            </a:r>
            <a:endParaRPr lang="en-US" sz="1400" dirty="0"/>
          </a:p>
        </p:txBody>
      </p:sp>
      <p:sp>
        <p:nvSpPr>
          <p:cNvPr id="14" name="Shape 12"/>
          <p:cNvSpPr/>
          <p:nvPr/>
        </p:nvSpPr>
        <p:spPr>
          <a:xfrm>
            <a:off x="548640" y="3834892"/>
            <a:ext cx="11094415" cy="421742"/>
          </a:xfrm>
          <a:prstGeom prst="roundRect">
            <a:avLst>
              <a:gd name="adj" fmla="val 15177"/>
            </a:avLst>
          </a:prstGeom>
          <a:solidFill>
            <a:srgbClr val="FBF1E3"/>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distorition (L) (distorsiyon): </a:t>
            </a:r>
            <a:r>
              <a:rPr lang="en-US" sz="1400" dirty="0">
                <a:solidFill>
                  <a:srgbClr val="1F2937"/>
                </a:solidFill>
                <a:latin typeface="Calibri" pitchFamily="34" charset="0"/>
                <a:ea typeface="Calibri" pitchFamily="34" charset="-122"/>
                <a:cs typeface="Calibri" pitchFamily="34" charset="-120"/>
              </a:rPr>
              <a:t>Burkulma, dönme, bükülme</a:t>
            </a:r>
            <a:endParaRPr lang="en-US" sz="1400" dirty="0"/>
          </a:p>
        </p:txBody>
      </p:sp>
      <p:sp>
        <p:nvSpPr>
          <p:cNvPr id="16" name="Shape 14"/>
          <p:cNvSpPr/>
          <p:nvPr/>
        </p:nvSpPr>
        <p:spPr>
          <a:xfrm>
            <a:off x="548640" y="4348074"/>
            <a:ext cx="11094415" cy="421742"/>
          </a:xfrm>
          <a:prstGeom prst="roundRect">
            <a:avLst>
              <a:gd name="adj" fmla="val 15177"/>
            </a:avLst>
          </a:prstGeom>
          <a:solidFill>
            <a:srgbClr val="FBF1E3"/>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dysknesia (L) (diskinezi): </a:t>
            </a:r>
            <a:r>
              <a:rPr lang="en-US" sz="1400" dirty="0">
                <a:solidFill>
                  <a:srgbClr val="1F2937"/>
                </a:solidFill>
                <a:latin typeface="Calibri" pitchFamily="34" charset="0"/>
                <a:ea typeface="Calibri" pitchFamily="34" charset="-122"/>
                <a:cs typeface="Calibri" pitchFamily="34" charset="-120"/>
              </a:rPr>
              <a:t>Hareket güçlüğü, istemli hareketlerin bozulması</a:t>
            </a:r>
            <a:endParaRPr lang="en-US" sz="1400" dirty="0"/>
          </a:p>
        </p:txBody>
      </p:sp>
      <p:sp>
        <p:nvSpPr>
          <p:cNvPr id="18" name="Shape 16"/>
          <p:cNvSpPr/>
          <p:nvPr/>
        </p:nvSpPr>
        <p:spPr>
          <a:xfrm>
            <a:off x="548640" y="4861255"/>
            <a:ext cx="11094415" cy="421742"/>
          </a:xfrm>
          <a:prstGeom prst="roundRect">
            <a:avLst>
              <a:gd name="adj" fmla="val 15177"/>
            </a:avLst>
          </a:prstGeom>
          <a:solidFill>
            <a:srgbClr val="FBF1E3"/>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myorrhexis (G) (miyoreksis): </a:t>
            </a:r>
            <a:r>
              <a:rPr lang="en-US" sz="1400" dirty="0">
                <a:solidFill>
                  <a:srgbClr val="1F2937"/>
                </a:solidFill>
                <a:latin typeface="Calibri" pitchFamily="34" charset="0"/>
                <a:ea typeface="Calibri" pitchFamily="34" charset="-122"/>
                <a:cs typeface="Calibri" pitchFamily="34" charset="-120"/>
              </a:rPr>
              <a:t>Kas yırtılması</a:t>
            </a:r>
            <a:endParaRPr lang="en-US" sz="1400" dirty="0"/>
          </a:p>
        </p:txBody>
      </p:sp>
      <p:sp>
        <p:nvSpPr>
          <p:cNvPr id="20" name="Shape 18"/>
          <p:cNvSpPr/>
          <p:nvPr/>
        </p:nvSpPr>
        <p:spPr>
          <a:xfrm>
            <a:off x="548640" y="5374437"/>
            <a:ext cx="11094415" cy="421742"/>
          </a:xfrm>
          <a:prstGeom prst="roundRect">
            <a:avLst>
              <a:gd name="adj" fmla="val 15177"/>
            </a:avLst>
          </a:prstGeom>
          <a:solidFill>
            <a:srgbClr val="FBF1E3"/>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hematoma (G) (hematom): </a:t>
            </a:r>
            <a:r>
              <a:rPr lang="en-US" sz="1400" dirty="0">
                <a:solidFill>
                  <a:srgbClr val="1F2937"/>
                </a:solidFill>
                <a:latin typeface="Calibri" pitchFamily="34" charset="0"/>
                <a:ea typeface="Calibri" pitchFamily="34" charset="-122"/>
                <a:cs typeface="Calibri" pitchFamily="34" charset="-120"/>
              </a:rPr>
              <a:t>Damarlar görülen lezyonlar sonucu bir bölgede kan birikmesi nedeniyle oluşan kitle</a:t>
            </a:r>
            <a:endParaRPr lang="en-US" sz="1400" dirty="0"/>
          </a:p>
        </p:txBody>
      </p:sp>
      <p:sp>
        <p:nvSpPr>
          <p:cNvPr id="22" name="Shape 20"/>
          <p:cNvSpPr/>
          <p:nvPr/>
        </p:nvSpPr>
        <p:spPr>
          <a:xfrm>
            <a:off x="548640" y="5887618"/>
            <a:ext cx="11094415" cy="421742"/>
          </a:xfrm>
          <a:prstGeom prst="roundRect">
            <a:avLst>
              <a:gd name="adj" fmla="val 15177"/>
            </a:avLst>
          </a:prstGeom>
          <a:solidFill>
            <a:srgbClr val="FBF1E3"/>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hemarthrosis (L) (hemartroz): </a:t>
            </a:r>
            <a:r>
              <a:rPr lang="en-US" sz="1400" dirty="0">
                <a:solidFill>
                  <a:srgbClr val="1F2937"/>
                </a:solidFill>
                <a:latin typeface="Calibri" pitchFamily="34" charset="0"/>
                <a:ea typeface="Calibri" pitchFamily="34" charset="-122"/>
                <a:cs typeface="Calibri" pitchFamily="34" charset="-120"/>
              </a:rPr>
              <a:t>Eklem boşluğuna kanama, eklem boşluğunda kan birikmesi</a:t>
            </a:r>
            <a:endParaRPr lang="en-US" sz="14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4.c. Tanı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171</a:t>
            </a:r>
            <a:endParaRPr lang="en-US" sz="1000" dirty="0"/>
          </a:p>
        </p:txBody>
      </p:sp>
      <p:sp>
        <p:nvSpPr>
          <p:cNvPr id="6" name="Shape 4"/>
          <p:cNvSpPr/>
          <p:nvPr/>
        </p:nvSpPr>
        <p:spPr>
          <a:xfrm>
            <a:off x="548640" y="1488567"/>
            <a:ext cx="11094415" cy="1149096"/>
          </a:xfrm>
          <a:prstGeom prst="roundRect">
            <a:avLst>
              <a:gd name="adj" fmla="val 5570"/>
            </a:avLst>
          </a:prstGeom>
          <a:solidFill>
            <a:srgbClr val="FBF1E3"/>
          </a:solidFill>
          <a:ln/>
        </p:spPr>
      </p:sp>
      <p:sp>
        <p:nvSpPr>
          <p:cNvPr id="7" name="Text 5"/>
          <p:cNvSpPr txBox="1"/>
          <p:nvPr/>
        </p:nvSpPr>
        <p:spPr>
          <a:xfrm>
            <a:off x="704088" y="1561719"/>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osteoarthritis (G) (osteoartrit): </a:t>
            </a:r>
            <a:r>
              <a:rPr lang="en-US" sz="1500" dirty="0">
                <a:solidFill>
                  <a:srgbClr val="1F2937"/>
                </a:solidFill>
                <a:latin typeface="Calibri" pitchFamily="34" charset="0"/>
                <a:ea typeface="Calibri" pitchFamily="34" charset="-122"/>
                <a:cs typeface="Calibri" pitchFamily="34" charset="-120"/>
              </a:rPr>
              <a:t>Eklemi oluşturan kemik yüzeylerinde ve eklem kıkırdağında dejeneratif değişikliklerle belirgin eklemde ağrı, hareket azalması ve şekil bozukluğuna sebep olan eklem hastalığı</a:t>
            </a:r>
            <a:endParaRPr lang="en-US" sz="1500" dirty="0"/>
          </a:p>
        </p:txBody>
      </p:sp>
      <p:sp>
        <p:nvSpPr>
          <p:cNvPr id="8" name="Shape 6"/>
          <p:cNvSpPr/>
          <p:nvPr/>
        </p:nvSpPr>
        <p:spPr>
          <a:xfrm>
            <a:off x="548640" y="2754630"/>
            <a:ext cx="5410048" cy="684276"/>
          </a:xfrm>
          <a:prstGeom prst="roundRect">
            <a:avLst>
              <a:gd name="adj" fmla="val 9354"/>
            </a:avLst>
          </a:prstGeom>
          <a:solidFill>
            <a:srgbClr val="FBF1E3"/>
          </a:solidFill>
          <a:ln/>
        </p:spPr>
      </p:sp>
      <p:sp>
        <p:nvSpPr>
          <p:cNvPr id="9" name="Text 7"/>
          <p:cNvSpPr txBox="1"/>
          <p:nvPr/>
        </p:nvSpPr>
        <p:spPr>
          <a:xfrm>
            <a:off x="704088" y="282778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lumbago (L), lumbalgia (L) (lumbalji): </a:t>
            </a:r>
            <a:r>
              <a:rPr lang="en-US" sz="1500" dirty="0">
                <a:solidFill>
                  <a:srgbClr val="1F2937"/>
                </a:solidFill>
                <a:latin typeface="Calibri" pitchFamily="34" charset="0"/>
                <a:ea typeface="Calibri" pitchFamily="34" charset="-122"/>
                <a:cs typeface="Calibri" pitchFamily="34" charset="-120"/>
              </a:rPr>
              <a:t>Bel ağrısı, sırt ağrısı</a:t>
            </a:r>
            <a:endParaRPr lang="en-US" sz="1500" dirty="0"/>
          </a:p>
        </p:txBody>
      </p:sp>
      <p:sp>
        <p:nvSpPr>
          <p:cNvPr id="10" name="Shape 8"/>
          <p:cNvSpPr/>
          <p:nvPr/>
        </p:nvSpPr>
        <p:spPr>
          <a:xfrm>
            <a:off x="548640" y="3530346"/>
            <a:ext cx="5410048" cy="684276"/>
          </a:xfrm>
          <a:prstGeom prst="roundRect">
            <a:avLst>
              <a:gd name="adj" fmla="val 9354"/>
            </a:avLst>
          </a:prstGeom>
          <a:solidFill>
            <a:srgbClr val="FBF1E3"/>
          </a:solidFill>
          <a:ln/>
        </p:spPr>
      </p:sp>
      <p:sp>
        <p:nvSpPr>
          <p:cNvPr id="11" name="Text 9"/>
          <p:cNvSpPr txBox="1"/>
          <p:nvPr/>
        </p:nvSpPr>
        <p:spPr>
          <a:xfrm>
            <a:off x="704088"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lumber disk lezyonu: </a:t>
            </a:r>
            <a:r>
              <a:rPr lang="en-US" sz="1500" dirty="0">
                <a:solidFill>
                  <a:srgbClr val="1F2937"/>
                </a:solidFill>
                <a:latin typeface="Calibri" pitchFamily="34" charset="0"/>
                <a:ea typeface="Calibri" pitchFamily="34" charset="-122"/>
                <a:cs typeface="Calibri" pitchFamily="34" charset="-120"/>
              </a:rPr>
              <a:t>Bel bölgesi omurları arasındaki disklerde görülen lezyon</a:t>
            </a:r>
            <a:endParaRPr lang="en-US" sz="1500" dirty="0"/>
          </a:p>
        </p:txBody>
      </p:sp>
      <p:sp>
        <p:nvSpPr>
          <p:cNvPr id="12" name="Shape 10"/>
          <p:cNvSpPr/>
          <p:nvPr/>
        </p:nvSpPr>
        <p:spPr>
          <a:xfrm>
            <a:off x="548640" y="4306062"/>
            <a:ext cx="5410048" cy="684276"/>
          </a:xfrm>
          <a:prstGeom prst="roundRect">
            <a:avLst>
              <a:gd name="adj" fmla="val 9354"/>
            </a:avLst>
          </a:prstGeom>
          <a:solidFill>
            <a:srgbClr val="FBF1E3"/>
          </a:solidFill>
          <a:ln/>
        </p:spPr>
      </p:sp>
      <p:sp>
        <p:nvSpPr>
          <p:cNvPr id="13" name="Text 11"/>
          <p:cNvSpPr txBox="1"/>
          <p:nvPr/>
        </p:nvSpPr>
        <p:spPr>
          <a:xfrm>
            <a:off x="704088"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spondylosis (G) (spondiloz): </a:t>
            </a:r>
            <a:r>
              <a:rPr lang="en-US" sz="1500" dirty="0">
                <a:solidFill>
                  <a:srgbClr val="1F2937"/>
                </a:solidFill>
                <a:latin typeface="Calibri" pitchFamily="34" charset="0"/>
                <a:ea typeface="Calibri" pitchFamily="34" charset="-122"/>
                <a:cs typeface="Calibri" pitchFamily="34" charset="-120"/>
              </a:rPr>
              <a:t>İki omurun birbirine kaynaşması</a:t>
            </a:r>
            <a:endParaRPr lang="en-US" sz="1500" dirty="0"/>
          </a:p>
        </p:txBody>
      </p:sp>
      <p:sp>
        <p:nvSpPr>
          <p:cNvPr id="14" name="Shape 12"/>
          <p:cNvSpPr/>
          <p:nvPr/>
        </p:nvSpPr>
        <p:spPr>
          <a:xfrm>
            <a:off x="548640" y="5081778"/>
            <a:ext cx="5410048" cy="451866"/>
          </a:xfrm>
          <a:prstGeom prst="roundRect">
            <a:avLst>
              <a:gd name="adj" fmla="val 14165"/>
            </a:avLst>
          </a:prstGeom>
          <a:solidFill>
            <a:srgbClr val="FBF1E3"/>
          </a:solidFill>
          <a:ln/>
        </p:spPr>
      </p:sp>
      <p:sp>
        <p:nvSpPr>
          <p:cNvPr id="15" name="Text 13"/>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spondylitis (G) (spondilit): </a:t>
            </a:r>
            <a:r>
              <a:rPr lang="en-US" sz="1500" dirty="0">
                <a:solidFill>
                  <a:srgbClr val="1F2937"/>
                </a:solidFill>
                <a:latin typeface="Calibri" pitchFamily="34" charset="0"/>
                <a:ea typeface="Calibri" pitchFamily="34" charset="-122"/>
                <a:cs typeface="Calibri" pitchFamily="34" charset="-120"/>
              </a:rPr>
              <a:t>Omurların iltihabı</a:t>
            </a:r>
            <a:endParaRPr lang="en-US" sz="1500" dirty="0"/>
          </a:p>
        </p:txBody>
      </p:sp>
      <p:sp>
        <p:nvSpPr>
          <p:cNvPr id="16" name="Shape 14"/>
          <p:cNvSpPr/>
          <p:nvPr/>
        </p:nvSpPr>
        <p:spPr>
          <a:xfrm>
            <a:off x="548640" y="5625084"/>
            <a:ext cx="5410048" cy="684276"/>
          </a:xfrm>
          <a:prstGeom prst="roundRect">
            <a:avLst>
              <a:gd name="adj" fmla="val 9354"/>
            </a:avLst>
          </a:prstGeom>
          <a:solidFill>
            <a:srgbClr val="FBF1E3"/>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osteitis (G) (osteit): </a:t>
            </a:r>
            <a:r>
              <a:rPr lang="en-US" sz="1500" dirty="0">
                <a:solidFill>
                  <a:srgbClr val="1F2937"/>
                </a:solidFill>
                <a:latin typeface="Calibri" pitchFamily="34" charset="0"/>
                <a:ea typeface="Calibri" pitchFamily="34" charset="-122"/>
                <a:cs typeface="Calibri" pitchFamily="34" charset="-120"/>
              </a:rPr>
              <a:t>Kemiklerde görülen efeksiyon, kemik iltihabı</a:t>
            </a:r>
            <a:endParaRPr lang="en-US" sz="1500" dirty="0"/>
          </a:p>
        </p:txBody>
      </p:sp>
      <p:sp>
        <p:nvSpPr>
          <p:cNvPr id="18" name="Shape 16"/>
          <p:cNvSpPr/>
          <p:nvPr/>
        </p:nvSpPr>
        <p:spPr>
          <a:xfrm>
            <a:off x="6233008" y="2754630"/>
            <a:ext cx="5410048" cy="451866"/>
          </a:xfrm>
          <a:prstGeom prst="roundRect">
            <a:avLst>
              <a:gd name="adj" fmla="val 14165"/>
            </a:avLst>
          </a:prstGeom>
          <a:solidFill>
            <a:srgbClr val="FBF1E3"/>
          </a:solidFill>
          <a:ln/>
        </p:spPr>
      </p:sp>
      <p:sp>
        <p:nvSpPr>
          <p:cNvPr id="19" name="Text 17"/>
          <p:cNvSpPr txBox="1"/>
          <p:nvPr/>
        </p:nvSpPr>
        <p:spPr>
          <a:xfrm>
            <a:off x="6388456" y="282778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osteomyelitis (G) (osteomiyelit): </a:t>
            </a:r>
            <a:r>
              <a:rPr lang="en-US" sz="1500" dirty="0">
                <a:solidFill>
                  <a:srgbClr val="1F2937"/>
                </a:solidFill>
                <a:latin typeface="Calibri" pitchFamily="34" charset="0"/>
                <a:ea typeface="Calibri" pitchFamily="34" charset="-122"/>
                <a:cs typeface="Calibri" pitchFamily="34" charset="-120"/>
              </a:rPr>
              <a:t>Kemik iliği iltihabı</a:t>
            </a:r>
            <a:endParaRPr lang="en-US" sz="1500" dirty="0"/>
          </a:p>
        </p:txBody>
      </p:sp>
      <p:sp>
        <p:nvSpPr>
          <p:cNvPr id="20" name="Shape 18"/>
          <p:cNvSpPr/>
          <p:nvPr/>
        </p:nvSpPr>
        <p:spPr>
          <a:xfrm>
            <a:off x="6233008" y="3297936"/>
            <a:ext cx="5410048" cy="684276"/>
          </a:xfrm>
          <a:prstGeom prst="roundRect">
            <a:avLst>
              <a:gd name="adj" fmla="val 9354"/>
            </a:avLst>
          </a:prstGeom>
          <a:solidFill>
            <a:srgbClr val="FBF1E3"/>
          </a:solidFill>
          <a:ln/>
        </p:spPr>
      </p:sp>
      <p:sp>
        <p:nvSpPr>
          <p:cNvPr id="21" name="Text 19"/>
          <p:cNvSpPr txBox="1"/>
          <p:nvPr/>
        </p:nvSpPr>
        <p:spPr>
          <a:xfrm>
            <a:off x="6388456" y="337108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periarthritis (G) (periartrit): </a:t>
            </a:r>
            <a:r>
              <a:rPr lang="en-US" sz="1500" dirty="0">
                <a:solidFill>
                  <a:srgbClr val="1F2937"/>
                </a:solidFill>
                <a:latin typeface="Calibri" pitchFamily="34" charset="0"/>
                <a:ea typeface="Calibri" pitchFamily="34" charset="-122"/>
                <a:cs typeface="Calibri" pitchFamily="34" charset="-120"/>
              </a:rPr>
              <a:t>Eklem çevresindeki dokuların iltihabı</a:t>
            </a:r>
            <a:endParaRPr lang="en-US" sz="1500" dirty="0"/>
          </a:p>
        </p:txBody>
      </p:sp>
      <p:sp>
        <p:nvSpPr>
          <p:cNvPr id="22" name="Shape 20"/>
          <p:cNvSpPr/>
          <p:nvPr/>
        </p:nvSpPr>
        <p:spPr>
          <a:xfrm>
            <a:off x="6233008" y="4073652"/>
            <a:ext cx="5410048" cy="451866"/>
          </a:xfrm>
          <a:prstGeom prst="roundRect">
            <a:avLst>
              <a:gd name="adj" fmla="val 14165"/>
            </a:avLst>
          </a:prstGeom>
          <a:solidFill>
            <a:srgbClr val="FBF1E3"/>
          </a:solidFill>
          <a:ln/>
        </p:spPr>
      </p:sp>
      <p:sp>
        <p:nvSpPr>
          <p:cNvPr id="23" name="Text 21"/>
          <p:cNvSpPr txBox="1"/>
          <p:nvPr/>
        </p:nvSpPr>
        <p:spPr>
          <a:xfrm>
            <a:off x="6388456" y="414680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lordosis (G) (lordoz): </a:t>
            </a:r>
            <a:r>
              <a:rPr lang="en-US" sz="1500" dirty="0">
                <a:solidFill>
                  <a:srgbClr val="1F2937"/>
                </a:solidFill>
                <a:latin typeface="Calibri" pitchFamily="34" charset="0"/>
                <a:ea typeface="Calibri" pitchFamily="34" charset="-122"/>
                <a:cs typeface="Calibri" pitchFamily="34" charset="-120"/>
              </a:rPr>
              <a:t>Öne doğru kamburluk</a:t>
            </a:r>
            <a:endParaRPr lang="en-US" sz="1500" dirty="0"/>
          </a:p>
        </p:txBody>
      </p:sp>
      <p:sp>
        <p:nvSpPr>
          <p:cNvPr id="24" name="Shape 22"/>
          <p:cNvSpPr/>
          <p:nvPr/>
        </p:nvSpPr>
        <p:spPr>
          <a:xfrm>
            <a:off x="6233008" y="4616958"/>
            <a:ext cx="5410048" cy="451866"/>
          </a:xfrm>
          <a:prstGeom prst="roundRect">
            <a:avLst>
              <a:gd name="adj" fmla="val 14165"/>
            </a:avLst>
          </a:prstGeom>
          <a:solidFill>
            <a:srgbClr val="FBF1E3"/>
          </a:solidFill>
          <a:ln/>
        </p:spPr>
      </p:sp>
      <p:sp>
        <p:nvSpPr>
          <p:cNvPr id="25" name="Text 23"/>
          <p:cNvSpPr txBox="1"/>
          <p:nvPr/>
        </p:nvSpPr>
        <p:spPr>
          <a:xfrm>
            <a:off x="6388456" y="469011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kyphosis (G) (kifoz): </a:t>
            </a:r>
            <a:r>
              <a:rPr lang="en-US" sz="1500" dirty="0">
                <a:solidFill>
                  <a:srgbClr val="1F2937"/>
                </a:solidFill>
                <a:latin typeface="Calibri" pitchFamily="34" charset="0"/>
                <a:ea typeface="Calibri" pitchFamily="34" charset="-122"/>
                <a:cs typeface="Calibri" pitchFamily="34" charset="-120"/>
              </a:rPr>
              <a:t>Arkaya doğru kamburluk</a:t>
            </a:r>
            <a:endParaRPr lang="en-US" sz="15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4.c. Tanı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172</a:t>
            </a:r>
            <a:endParaRPr lang="en-US" sz="1000" dirty="0"/>
          </a:p>
        </p:txBody>
      </p:sp>
      <p:sp>
        <p:nvSpPr>
          <p:cNvPr id="6" name="Shape 4"/>
          <p:cNvSpPr/>
          <p:nvPr/>
        </p:nvSpPr>
        <p:spPr>
          <a:xfrm>
            <a:off x="548640" y="1633169"/>
            <a:ext cx="11094415" cy="1072490"/>
          </a:xfrm>
          <a:prstGeom prst="roundRect">
            <a:avLst>
              <a:gd name="adj" fmla="val 5968"/>
            </a:avLst>
          </a:prstGeom>
          <a:solidFill>
            <a:srgbClr val="FBF1E3"/>
          </a:solidFill>
          <a:ln/>
        </p:spPr>
      </p:sp>
      <p:sp>
        <p:nvSpPr>
          <p:cNvPr id="7" name="Text 5"/>
          <p:cNvSpPr txBox="1"/>
          <p:nvPr/>
        </p:nvSpPr>
        <p:spPr>
          <a:xfrm>
            <a:off x="704088" y="1706321"/>
            <a:ext cx="10783519" cy="926186"/>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gout (gut) hastalığı: </a:t>
            </a:r>
            <a:r>
              <a:rPr lang="en-US" sz="1400" dirty="0">
                <a:solidFill>
                  <a:srgbClr val="1F2937"/>
                </a:solidFill>
                <a:latin typeface="Calibri" pitchFamily="34" charset="0"/>
                <a:ea typeface="Calibri" pitchFamily="34" charset="-122"/>
                <a:cs typeface="Calibri" pitchFamily="34" charset="-120"/>
              </a:rPr>
              <a:t>Kanda ürik asit düzeyinin yükselmesi, sodyum biürat kristallerinin bağ dokuda ve özellikle küçük eklemlerin, en çok ayak başparmağının metatarso-falangeal eklem çevresinde birikmesi olgusu</a:t>
            </a:r>
            <a:endParaRPr lang="en-US" sz="1400" dirty="0"/>
          </a:p>
        </p:txBody>
      </p:sp>
      <p:sp>
        <p:nvSpPr>
          <p:cNvPr id="8" name="Shape 6"/>
          <p:cNvSpPr/>
          <p:nvPr/>
        </p:nvSpPr>
        <p:spPr>
          <a:xfrm>
            <a:off x="548640" y="2967228"/>
            <a:ext cx="5410048" cy="638658"/>
          </a:xfrm>
          <a:prstGeom prst="roundRect">
            <a:avLst>
              <a:gd name="adj" fmla="val 10022"/>
            </a:avLst>
          </a:prstGeom>
          <a:solidFill>
            <a:srgbClr val="FBF1E3"/>
          </a:solidFill>
          <a:ln/>
        </p:spPr>
      </p:sp>
      <p:sp>
        <p:nvSpPr>
          <p:cNvPr id="9" name="Text 7"/>
          <p:cNvSpPr txBox="1"/>
          <p:nvPr/>
        </p:nvSpPr>
        <p:spPr>
          <a:xfrm>
            <a:off x="704088" y="3040380"/>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juvenile (L) kyphosis (G) (juvenil kifoz): </a:t>
            </a:r>
            <a:r>
              <a:rPr lang="en-US" sz="1400" dirty="0">
                <a:solidFill>
                  <a:srgbClr val="1F2937"/>
                </a:solidFill>
                <a:latin typeface="Calibri" pitchFamily="34" charset="0"/>
                <a:ea typeface="Calibri" pitchFamily="34" charset="-122"/>
                <a:cs typeface="Calibri" pitchFamily="34" charset="-120"/>
              </a:rPr>
              <a:t>Genç ve adolesan yaşlarda görülen vücut duruş bozukluğu</a:t>
            </a:r>
            <a:endParaRPr lang="en-US" sz="1400" dirty="0"/>
          </a:p>
        </p:txBody>
      </p:sp>
      <p:sp>
        <p:nvSpPr>
          <p:cNvPr id="10" name="Shape 8"/>
          <p:cNvSpPr/>
          <p:nvPr/>
        </p:nvSpPr>
        <p:spPr>
          <a:xfrm>
            <a:off x="548640" y="3697326"/>
            <a:ext cx="5410048" cy="421742"/>
          </a:xfrm>
          <a:prstGeom prst="roundRect">
            <a:avLst>
              <a:gd name="adj" fmla="val 15177"/>
            </a:avLst>
          </a:prstGeom>
          <a:solidFill>
            <a:srgbClr val="FBF1E3"/>
          </a:solidFill>
          <a:ln/>
        </p:spPr>
      </p:sp>
      <p:sp>
        <p:nvSpPr>
          <p:cNvPr id="11" name="Text 9"/>
          <p:cNvSpPr txBox="1"/>
          <p:nvPr/>
        </p:nvSpPr>
        <p:spPr>
          <a:xfrm>
            <a:off x="704088" y="377047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scoliosis (G) (skolyoz): </a:t>
            </a:r>
            <a:r>
              <a:rPr lang="en-US" sz="1400" dirty="0">
                <a:solidFill>
                  <a:srgbClr val="1F2937"/>
                </a:solidFill>
                <a:latin typeface="Calibri" pitchFamily="34" charset="0"/>
                <a:ea typeface="Calibri" pitchFamily="34" charset="-122"/>
                <a:cs typeface="Calibri" pitchFamily="34" charset="-120"/>
              </a:rPr>
              <a:t>Omurganın yanlara doğru çarpıklığı</a:t>
            </a:r>
            <a:endParaRPr lang="en-US" sz="1400" dirty="0"/>
          </a:p>
        </p:txBody>
      </p:sp>
      <p:sp>
        <p:nvSpPr>
          <p:cNvPr id="12" name="Shape 10"/>
          <p:cNvSpPr/>
          <p:nvPr/>
        </p:nvSpPr>
        <p:spPr>
          <a:xfrm>
            <a:off x="548640" y="4210507"/>
            <a:ext cx="5410048" cy="421742"/>
          </a:xfrm>
          <a:prstGeom prst="roundRect">
            <a:avLst>
              <a:gd name="adj" fmla="val 15177"/>
            </a:avLst>
          </a:prstGeom>
          <a:solidFill>
            <a:srgbClr val="FBF1E3"/>
          </a:solidFill>
          <a:ln/>
        </p:spPr>
      </p:sp>
      <p:sp>
        <p:nvSpPr>
          <p:cNvPr id="13" name="Text 11"/>
          <p:cNvSpPr txBox="1"/>
          <p:nvPr/>
        </p:nvSpPr>
        <p:spPr>
          <a:xfrm>
            <a:off x="704088" y="4283659"/>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osteoma (G): </a:t>
            </a:r>
            <a:r>
              <a:rPr lang="en-US" sz="1400" dirty="0">
                <a:solidFill>
                  <a:srgbClr val="1F2937"/>
                </a:solidFill>
                <a:latin typeface="Calibri" pitchFamily="34" charset="0"/>
                <a:ea typeface="Calibri" pitchFamily="34" charset="-122"/>
                <a:cs typeface="Calibri" pitchFamily="34" charset="-120"/>
              </a:rPr>
              <a:t>Kemik doku tümörü</a:t>
            </a:r>
            <a:endParaRPr lang="en-US" sz="1400" dirty="0"/>
          </a:p>
        </p:txBody>
      </p:sp>
      <p:sp>
        <p:nvSpPr>
          <p:cNvPr id="14" name="Shape 12"/>
          <p:cNvSpPr/>
          <p:nvPr/>
        </p:nvSpPr>
        <p:spPr>
          <a:xfrm>
            <a:off x="548640" y="4723689"/>
            <a:ext cx="5410048" cy="638658"/>
          </a:xfrm>
          <a:prstGeom prst="roundRect">
            <a:avLst>
              <a:gd name="adj" fmla="val 10022"/>
            </a:avLst>
          </a:prstGeom>
          <a:solidFill>
            <a:srgbClr val="FBF1E3"/>
          </a:solidFill>
          <a:ln/>
        </p:spPr>
      </p:sp>
      <p:sp>
        <p:nvSpPr>
          <p:cNvPr id="15" name="Text 13"/>
          <p:cNvSpPr txBox="1"/>
          <p:nvPr/>
        </p:nvSpPr>
        <p:spPr>
          <a:xfrm>
            <a:off x="704088" y="4796841"/>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chondroma (G) (kondroma): </a:t>
            </a:r>
            <a:r>
              <a:rPr lang="en-US" sz="1400" dirty="0">
                <a:solidFill>
                  <a:srgbClr val="1F2937"/>
                </a:solidFill>
                <a:latin typeface="Calibri" pitchFamily="34" charset="0"/>
                <a:ea typeface="Calibri" pitchFamily="34" charset="-122"/>
                <a:cs typeface="Calibri" pitchFamily="34" charset="-120"/>
              </a:rPr>
              <a:t>Kemiğin kıkırdak hücrelerinde oluşan iyicil tümör</a:t>
            </a:r>
            <a:endParaRPr lang="en-US" sz="1400" dirty="0"/>
          </a:p>
        </p:txBody>
      </p:sp>
      <p:sp>
        <p:nvSpPr>
          <p:cNvPr id="16" name="Shape 14"/>
          <p:cNvSpPr/>
          <p:nvPr/>
        </p:nvSpPr>
        <p:spPr>
          <a:xfrm>
            <a:off x="548640" y="5453786"/>
            <a:ext cx="5410048" cy="855574"/>
          </a:xfrm>
          <a:prstGeom prst="roundRect">
            <a:avLst>
              <a:gd name="adj" fmla="val 7481"/>
            </a:avLst>
          </a:prstGeom>
          <a:solidFill>
            <a:srgbClr val="FBF1E3"/>
          </a:solidFill>
          <a:ln/>
        </p:spPr>
      </p:sp>
      <p:sp>
        <p:nvSpPr>
          <p:cNvPr id="17" name="Text 15"/>
          <p:cNvSpPr txBox="1"/>
          <p:nvPr/>
        </p:nvSpPr>
        <p:spPr>
          <a:xfrm>
            <a:off x="704088" y="5526938"/>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osteogenic sarcoma (G) (osteojenik sarkoma): </a:t>
            </a:r>
            <a:r>
              <a:rPr lang="en-US" sz="1400" dirty="0">
                <a:solidFill>
                  <a:srgbClr val="1F2937"/>
                </a:solidFill>
                <a:latin typeface="Calibri" pitchFamily="34" charset="0"/>
                <a:ea typeface="Calibri" pitchFamily="34" charset="-122"/>
                <a:cs typeface="Calibri" pitchFamily="34" charset="-120"/>
              </a:rPr>
              <a:t>Kemik hücrelerinden köken alan kötücül kemik tümörü. En yaygın görünenidir.</a:t>
            </a:r>
            <a:endParaRPr lang="en-US" sz="1400" dirty="0"/>
          </a:p>
        </p:txBody>
      </p:sp>
      <p:sp>
        <p:nvSpPr>
          <p:cNvPr id="18" name="Shape 16"/>
          <p:cNvSpPr/>
          <p:nvPr/>
        </p:nvSpPr>
        <p:spPr>
          <a:xfrm>
            <a:off x="6233008" y="2967228"/>
            <a:ext cx="5410048" cy="638658"/>
          </a:xfrm>
          <a:prstGeom prst="roundRect">
            <a:avLst>
              <a:gd name="adj" fmla="val 10022"/>
            </a:avLst>
          </a:prstGeom>
          <a:solidFill>
            <a:srgbClr val="FBF1E3"/>
          </a:solidFill>
          <a:ln/>
        </p:spPr>
      </p:sp>
      <p:sp>
        <p:nvSpPr>
          <p:cNvPr id="19" name="Text 17"/>
          <p:cNvSpPr txBox="1"/>
          <p:nvPr/>
        </p:nvSpPr>
        <p:spPr>
          <a:xfrm>
            <a:off x="6388456" y="3040380"/>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doğuştan kalça çıkığı (DKÇ): </a:t>
            </a:r>
            <a:r>
              <a:rPr lang="en-US" sz="1400" dirty="0">
                <a:solidFill>
                  <a:srgbClr val="1F2937"/>
                </a:solidFill>
                <a:latin typeface="Calibri" pitchFamily="34" charset="0"/>
                <a:ea typeface="Calibri" pitchFamily="34" charset="-122"/>
                <a:cs typeface="Calibri" pitchFamily="34" charset="-120"/>
              </a:rPr>
              <a:t>Femur başının asetabulum dışına doğumsal olarak çıkmış olması olgusu</a:t>
            </a:r>
            <a:endParaRPr lang="en-US" sz="1400" dirty="0"/>
          </a:p>
        </p:txBody>
      </p:sp>
      <p:sp>
        <p:nvSpPr>
          <p:cNvPr id="20" name="Shape 18"/>
          <p:cNvSpPr/>
          <p:nvPr/>
        </p:nvSpPr>
        <p:spPr>
          <a:xfrm>
            <a:off x="6233008" y="3697326"/>
            <a:ext cx="5410048" cy="638658"/>
          </a:xfrm>
          <a:prstGeom prst="roundRect">
            <a:avLst>
              <a:gd name="adj" fmla="val 10022"/>
            </a:avLst>
          </a:prstGeom>
          <a:solidFill>
            <a:srgbClr val="FBF1E3"/>
          </a:solidFill>
          <a:ln/>
        </p:spPr>
      </p:sp>
      <p:sp>
        <p:nvSpPr>
          <p:cNvPr id="21" name="Text 19"/>
          <p:cNvSpPr txBox="1"/>
          <p:nvPr/>
        </p:nvSpPr>
        <p:spPr>
          <a:xfrm>
            <a:off x="6388456" y="3770478"/>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cervical (L) strain (İ) (servikal strain): </a:t>
            </a:r>
            <a:r>
              <a:rPr lang="en-US" sz="1400" dirty="0">
                <a:solidFill>
                  <a:srgbClr val="1F2937"/>
                </a:solidFill>
                <a:latin typeface="Calibri" pitchFamily="34" charset="0"/>
                <a:ea typeface="Calibri" pitchFamily="34" charset="-122"/>
                <a:cs typeface="Calibri" pitchFamily="34" charset="-120"/>
              </a:rPr>
              <a:t>Boyunda zorlanma sonucu oluşan incinme</a:t>
            </a:r>
            <a:endParaRPr lang="en-US" sz="1400" dirty="0"/>
          </a:p>
        </p:txBody>
      </p:sp>
      <p:sp>
        <p:nvSpPr>
          <p:cNvPr id="22" name="Shape 20"/>
          <p:cNvSpPr/>
          <p:nvPr/>
        </p:nvSpPr>
        <p:spPr>
          <a:xfrm>
            <a:off x="6233008" y="4427423"/>
            <a:ext cx="5410048" cy="638658"/>
          </a:xfrm>
          <a:prstGeom prst="roundRect">
            <a:avLst>
              <a:gd name="adj" fmla="val 10022"/>
            </a:avLst>
          </a:prstGeom>
          <a:solidFill>
            <a:srgbClr val="FBF1E3"/>
          </a:solidFill>
          <a:ln/>
        </p:spPr>
      </p:sp>
      <p:sp>
        <p:nvSpPr>
          <p:cNvPr id="23" name="Text 21"/>
          <p:cNvSpPr txBox="1"/>
          <p:nvPr/>
        </p:nvSpPr>
        <p:spPr>
          <a:xfrm>
            <a:off x="6388456" y="4500575"/>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osteosclerosis (G) (osteosklerozis): </a:t>
            </a:r>
            <a:r>
              <a:rPr lang="en-US" sz="1400" dirty="0">
                <a:solidFill>
                  <a:srgbClr val="1F2937"/>
                </a:solidFill>
                <a:latin typeface="Calibri" pitchFamily="34" charset="0"/>
                <a:ea typeface="Calibri" pitchFamily="34" charset="-122"/>
                <a:cs typeface="Calibri" pitchFamily="34" charset="-120"/>
              </a:rPr>
              <a:t>Yerel kemik kalınlaşması</a:t>
            </a:r>
            <a:endParaRPr lang="en-US" sz="1400" dirty="0"/>
          </a:p>
        </p:txBody>
      </p:sp>
      <p:sp>
        <p:nvSpPr>
          <p:cNvPr id="24" name="Shape 22"/>
          <p:cNvSpPr/>
          <p:nvPr/>
        </p:nvSpPr>
        <p:spPr>
          <a:xfrm>
            <a:off x="6233008" y="5157521"/>
            <a:ext cx="5410048" cy="855574"/>
          </a:xfrm>
          <a:prstGeom prst="roundRect">
            <a:avLst>
              <a:gd name="adj" fmla="val 7481"/>
            </a:avLst>
          </a:prstGeom>
          <a:solidFill>
            <a:srgbClr val="FBF1E3"/>
          </a:solidFill>
          <a:ln/>
        </p:spPr>
      </p:sp>
      <p:sp>
        <p:nvSpPr>
          <p:cNvPr id="25" name="Text 23"/>
          <p:cNvSpPr txBox="1"/>
          <p:nvPr/>
        </p:nvSpPr>
        <p:spPr>
          <a:xfrm>
            <a:off x="6388456" y="5230673"/>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B45309"/>
                </a:solidFill>
                <a:latin typeface="Calibri" pitchFamily="34" charset="0"/>
                <a:ea typeface="Calibri" pitchFamily="34" charset="-122"/>
                <a:cs typeface="Calibri" pitchFamily="34" charset="-120"/>
              </a:rPr>
              <a:t>osteoporosis (G) (osteoporoz): </a:t>
            </a:r>
            <a:r>
              <a:rPr lang="en-US" sz="1400" dirty="0">
                <a:solidFill>
                  <a:srgbClr val="1F2937"/>
                </a:solidFill>
                <a:latin typeface="Calibri" pitchFamily="34" charset="0"/>
                <a:ea typeface="Calibri" pitchFamily="34" charset="-122"/>
                <a:cs typeface="Calibri" pitchFamily="34" charset="-120"/>
              </a:rPr>
              <a:t>Kemik dokusunda (kalsiyum yitimi sonucu) atrofi gelişmesi ile oluşan belirgin durum. Kemik erimesi</a:t>
            </a:r>
            <a:endParaRPr lang="en-US" sz="14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BF1E3"/>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4.c. Tanı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173</a:t>
            </a:r>
            <a:endParaRPr lang="en-US" sz="1000" dirty="0"/>
          </a:p>
        </p:txBody>
      </p:sp>
      <p:sp>
        <p:nvSpPr>
          <p:cNvPr id="6" name="Shape 4"/>
          <p:cNvSpPr/>
          <p:nvPr/>
        </p:nvSpPr>
        <p:spPr>
          <a:xfrm>
            <a:off x="548640" y="1574597"/>
            <a:ext cx="11094415" cy="821131"/>
          </a:xfrm>
          <a:prstGeom prst="roundRect">
            <a:avLst>
              <a:gd name="adj" fmla="val 7795"/>
            </a:avLst>
          </a:prstGeom>
          <a:solidFill>
            <a:srgbClr val="FBF1E3"/>
          </a:solidFill>
          <a:ln/>
        </p:spPr>
      </p:sp>
      <p:sp>
        <p:nvSpPr>
          <p:cNvPr id="7" name="Text 5"/>
          <p:cNvSpPr txBox="1"/>
          <p:nvPr/>
        </p:nvSpPr>
        <p:spPr>
          <a:xfrm>
            <a:off x="704088" y="1647749"/>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hallux valgus (L), bunion (L) (hallıks valgus bunyon): </a:t>
            </a:r>
            <a:r>
              <a:rPr lang="en-US" sz="1800" dirty="0">
                <a:solidFill>
                  <a:srgbClr val="1F2937"/>
                </a:solidFill>
                <a:latin typeface="Calibri" pitchFamily="34" charset="0"/>
                <a:ea typeface="Calibri" pitchFamily="34" charset="-122"/>
                <a:cs typeface="Calibri" pitchFamily="34" charset="-120"/>
              </a:rPr>
              <a:t>Ayak baş parmağının diğer parmaklarla yanaşmak üzere dışarıyla büyük oluşu. Dışa çarpık ayak başparmağı</a:t>
            </a:r>
            <a:endParaRPr lang="en-US" sz="1800" dirty="0"/>
          </a:p>
        </p:txBody>
      </p:sp>
      <p:sp>
        <p:nvSpPr>
          <p:cNvPr id="8" name="Shape 6"/>
          <p:cNvSpPr/>
          <p:nvPr/>
        </p:nvSpPr>
        <p:spPr>
          <a:xfrm>
            <a:off x="548640" y="2598725"/>
            <a:ext cx="11094415" cy="542239"/>
          </a:xfrm>
          <a:prstGeom prst="roundRect">
            <a:avLst>
              <a:gd name="adj" fmla="val 11804"/>
            </a:avLst>
          </a:prstGeom>
          <a:solidFill>
            <a:srgbClr val="FBF1E3"/>
          </a:solidFill>
          <a:ln/>
        </p:spPr>
      </p:sp>
      <p:sp>
        <p:nvSpPr>
          <p:cNvPr id="9" name="Text 7"/>
          <p:cNvSpPr txBox="1"/>
          <p:nvPr/>
        </p:nvSpPr>
        <p:spPr>
          <a:xfrm>
            <a:off x="704088" y="2671877"/>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pes planus (L), talipes planus (L): </a:t>
            </a:r>
            <a:r>
              <a:rPr lang="en-US" sz="1800" dirty="0">
                <a:solidFill>
                  <a:srgbClr val="1F2937"/>
                </a:solidFill>
                <a:latin typeface="Calibri" pitchFamily="34" charset="0"/>
                <a:ea typeface="Calibri" pitchFamily="34" charset="-122"/>
                <a:cs typeface="Calibri" pitchFamily="34" charset="-120"/>
              </a:rPr>
              <a:t>Düz tabanlık</a:t>
            </a:r>
            <a:endParaRPr lang="en-US" sz="1800" dirty="0"/>
          </a:p>
        </p:txBody>
      </p:sp>
      <p:sp>
        <p:nvSpPr>
          <p:cNvPr id="10" name="Shape 8"/>
          <p:cNvSpPr/>
          <p:nvPr/>
        </p:nvSpPr>
        <p:spPr>
          <a:xfrm>
            <a:off x="548640" y="3232404"/>
            <a:ext cx="11094415" cy="542239"/>
          </a:xfrm>
          <a:prstGeom prst="roundRect">
            <a:avLst>
              <a:gd name="adj" fmla="val 11804"/>
            </a:avLst>
          </a:prstGeom>
          <a:solidFill>
            <a:srgbClr val="FBF1E3"/>
          </a:solidFill>
          <a:ln/>
        </p:spPr>
      </p:sp>
      <p:sp>
        <p:nvSpPr>
          <p:cNvPr id="11" name="Text 9"/>
          <p:cNvSpPr txBox="1"/>
          <p:nvPr/>
        </p:nvSpPr>
        <p:spPr>
          <a:xfrm>
            <a:off x="704088" y="3305556"/>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pes valgus (L), talipes valgus (L): </a:t>
            </a:r>
            <a:r>
              <a:rPr lang="en-US" sz="1800" dirty="0">
                <a:solidFill>
                  <a:srgbClr val="1F2937"/>
                </a:solidFill>
                <a:latin typeface="Calibri" pitchFamily="34" charset="0"/>
                <a:ea typeface="Calibri" pitchFamily="34" charset="-122"/>
                <a:cs typeface="Calibri" pitchFamily="34" charset="-120"/>
              </a:rPr>
              <a:t>Dışa bükük ayaklılık</a:t>
            </a:r>
            <a:endParaRPr lang="en-US" sz="1800" dirty="0"/>
          </a:p>
        </p:txBody>
      </p:sp>
      <p:sp>
        <p:nvSpPr>
          <p:cNvPr id="12" name="Shape 10"/>
          <p:cNvSpPr/>
          <p:nvPr/>
        </p:nvSpPr>
        <p:spPr>
          <a:xfrm>
            <a:off x="548640" y="3866083"/>
            <a:ext cx="11094415" cy="542239"/>
          </a:xfrm>
          <a:prstGeom prst="roundRect">
            <a:avLst>
              <a:gd name="adj" fmla="val 11804"/>
            </a:avLst>
          </a:prstGeom>
          <a:solidFill>
            <a:srgbClr val="FBF1E3"/>
          </a:solidFill>
          <a:ln/>
        </p:spPr>
      </p:sp>
      <p:sp>
        <p:nvSpPr>
          <p:cNvPr id="13" name="Text 11"/>
          <p:cNvSpPr txBox="1"/>
          <p:nvPr/>
        </p:nvSpPr>
        <p:spPr>
          <a:xfrm>
            <a:off x="704088" y="393923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pes varus (L), talipes varus (L): </a:t>
            </a:r>
            <a:r>
              <a:rPr lang="en-US" sz="1800" dirty="0">
                <a:solidFill>
                  <a:srgbClr val="1F2937"/>
                </a:solidFill>
                <a:latin typeface="Calibri" pitchFamily="34" charset="0"/>
                <a:ea typeface="Calibri" pitchFamily="34" charset="-122"/>
                <a:cs typeface="Calibri" pitchFamily="34" charset="-120"/>
              </a:rPr>
              <a:t>İçe bükük ayalılık</a:t>
            </a:r>
            <a:endParaRPr lang="en-US" sz="1800" dirty="0"/>
          </a:p>
        </p:txBody>
      </p:sp>
      <p:sp>
        <p:nvSpPr>
          <p:cNvPr id="14" name="Shape 12"/>
          <p:cNvSpPr/>
          <p:nvPr/>
        </p:nvSpPr>
        <p:spPr>
          <a:xfrm>
            <a:off x="548640" y="4499762"/>
            <a:ext cx="11094415" cy="542239"/>
          </a:xfrm>
          <a:prstGeom prst="roundRect">
            <a:avLst>
              <a:gd name="adj" fmla="val 11804"/>
            </a:avLst>
          </a:prstGeom>
          <a:solidFill>
            <a:srgbClr val="FBF1E3"/>
          </a:solidFill>
          <a:ln/>
        </p:spPr>
      </p:sp>
      <p:sp>
        <p:nvSpPr>
          <p:cNvPr id="15" name="Text 13"/>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pes cavus (L), talipes cavus (L): </a:t>
            </a:r>
            <a:r>
              <a:rPr lang="en-US" sz="1800" dirty="0">
                <a:solidFill>
                  <a:srgbClr val="1F2937"/>
                </a:solidFill>
                <a:latin typeface="Calibri" pitchFamily="34" charset="0"/>
                <a:ea typeface="Calibri" pitchFamily="34" charset="-122"/>
                <a:cs typeface="Calibri" pitchFamily="34" charset="-120"/>
              </a:rPr>
              <a:t>Çukur ayak</a:t>
            </a:r>
            <a:endParaRPr lang="en-US" sz="1800" dirty="0"/>
          </a:p>
        </p:txBody>
      </p:sp>
      <p:sp>
        <p:nvSpPr>
          <p:cNvPr id="16" name="Shape 14"/>
          <p:cNvSpPr/>
          <p:nvPr/>
        </p:nvSpPr>
        <p:spPr>
          <a:xfrm>
            <a:off x="548640" y="5133442"/>
            <a:ext cx="11094415" cy="542239"/>
          </a:xfrm>
          <a:prstGeom prst="roundRect">
            <a:avLst>
              <a:gd name="adj" fmla="val 11804"/>
            </a:avLst>
          </a:prstGeom>
          <a:solidFill>
            <a:srgbClr val="FBF1E3"/>
          </a:solidFill>
          <a:ln/>
        </p:spPr>
      </p:sp>
      <p:sp>
        <p:nvSpPr>
          <p:cNvPr id="17" name="Text 15"/>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cladication (L) (kladikasyon): </a:t>
            </a:r>
            <a:r>
              <a:rPr lang="en-US" sz="1800" dirty="0">
                <a:solidFill>
                  <a:srgbClr val="1F2937"/>
                </a:solidFill>
                <a:latin typeface="Calibri" pitchFamily="34" charset="0"/>
                <a:ea typeface="Calibri" pitchFamily="34" charset="-122"/>
                <a:cs typeface="Calibri" pitchFamily="34" charset="-120"/>
              </a:rPr>
              <a:t>Topallık, topallama</a:t>
            </a:r>
            <a:endParaRPr lang="en-US" sz="1800" dirty="0"/>
          </a:p>
        </p:txBody>
      </p:sp>
      <p:sp>
        <p:nvSpPr>
          <p:cNvPr id="18" name="Shape 16"/>
          <p:cNvSpPr/>
          <p:nvPr/>
        </p:nvSpPr>
        <p:spPr>
          <a:xfrm>
            <a:off x="548640" y="5767121"/>
            <a:ext cx="11094415" cy="542239"/>
          </a:xfrm>
          <a:prstGeom prst="roundRect">
            <a:avLst>
              <a:gd name="adj" fmla="val 11804"/>
            </a:avLst>
          </a:prstGeom>
          <a:solidFill>
            <a:srgbClr val="FBF1E3"/>
          </a:solidFill>
          <a:ln/>
        </p:spPr>
      </p:sp>
      <p:sp>
        <p:nvSpPr>
          <p:cNvPr id="19" name="Text 17"/>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45309"/>
                </a:solidFill>
                <a:latin typeface="Calibri" pitchFamily="34" charset="0"/>
                <a:ea typeface="Calibri" pitchFamily="34" charset="-122"/>
                <a:cs typeface="Calibri" pitchFamily="34" charset="-120"/>
              </a:rPr>
              <a:t>achondroplasia (L) (akandroplazi): </a:t>
            </a:r>
            <a:r>
              <a:rPr lang="en-US" sz="1800" dirty="0">
                <a:solidFill>
                  <a:srgbClr val="1F2937"/>
                </a:solidFill>
                <a:latin typeface="Calibri" pitchFamily="34" charset="0"/>
                <a:ea typeface="Calibri" pitchFamily="34" charset="-122"/>
                <a:cs typeface="Calibri" pitchFamily="34" charset="-120"/>
              </a:rPr>
              <a:t>Ekstremitelerin kısalığı sonucu cücelik</a:t>
            </a:r>
            <a:endParaRPr lang="en-US" sz="18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BF1E3"/>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B45309"/>
                </a:solidFill>
                <a:latin typeface="Calibri" pitchFamily="34" charset="0"/>
                <a:ea typeface="Calibri" pitchFamily="34" charset="-122"/>
                <a:cs typeface="Calibri" pitchFamily="34" charset="-120"/>
              </a:rPr>
              <a:t>BÖLÜM 4  ·  HAREKET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4.d. 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174</a:t>
            </a:r>
            <a:endParaRPr lang="en-US" sz="1000" dirty="0"/>
          </a:p>
        </p:txBody>
      </p:sp>
      <p:sp>
        <p:nvSpPr>
          <p:cNvPr id="6" name="Shape 4"/>
          <p:cNvSpPr/>
          <p:nvPr/>
        </p:nvSpPr>
        <p:spPr>
          <a:xfrm>
            <a:off x="548640" y="1746504"/>
            <a:ext cx="5410048" cy="916686"/>
          </a:xfrm>
          <a:prstGeom prst="roundRect">
            <a:avLst>
              <a:gd name="adj" fmla="val 6983"/>
            </a:avLst>
          </a:prstGeom>
          <a:solidFill>
            <a:srgbClr val="FBF1E3"/>
          </a:solidFill>
          <a:ln/>
        </p:spPr>
      </p:sp>
      <p:sp>
        <p:nvSpPr>
          <p:cNvPr id="7" name="Text 5"/>
          <p:cNvSpPr txBox="1"/>
          <p:nvPr/>
        </p:nvSpPr>
        <p:spPr>
          <a:xfrm>
            <a:off x="704088" y="181965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arthrolisis (G) (artroliz): </a:t>
            </a:r>
            <a:r>
              <a:rPr lang="en-US" sz="1500" dirty="0">
                <a:solidFill>
                  <a:srgbClr val="1F2937"/>
                </a:solidFill>
                <a:latin typeface="Calibri" pitchFamily="34" charset="0"/>
                <a:ea typeface="Calibri" pitchFamily="34" charset="-122"/>
                <a:cs typeface="Calibri" pitchFamily="34" charset="-120"/>
              </a:rPr>
              <a:t>Cerrahi girişimle eklem içi yapışıklıklarının çözülerek ekleme yeniden hareket kazandırılması</a:t>
            </a:r>
            <a:endParaRPr lang="en-US" sz="1500" dirty="0"/>
          </a:p>
        </p:txBody>
      </p:sp>
      <p:sp>
        <p:nvSpPr>
          <p:cNvPr id="8" name="Shape 6"/>
          <p:cNvSpPr/>
          <p:nvPr/>
        </p:nvSpPr>
        <p:spPr>
          <a:xfrm>
            <a:off x="548640" y="2754630"/>
            <a:ext cx="5410048" cy="684276"/>
          </a:xfrm>
          <a:prstGeom prst="roundRect">
            <a:avLst>
              <a:gd name="adj" fmla="val 9354"/>
            </a:avLst>
          </a:prstGeom>
          <a:solidFill>
            <a:srgbClr val="FBF1E3"/>
          </a:solidFill>
          <a:ln/>
        </p:spPr>
      </p:sp>
      <p:sp>
        <p:nvSpPr>
          <p:cNvPr id="9" name="Text 7"/>
          <p:cNvSpPr txBox="1"/>
          <p:nvPr/>
        </p:nvSpPr>
        <p:spPr>
          <a:xfrm>
            <a:off x="704088" y="282778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arthrorisis (G) (artrorizis): </a:t>
            </a:r>
            <a:r>
              <a:rPr lang="en-US" sz="1500" dirty="0">
                <a:solidFill>
                  <a:srgbClr val="1F2937"/>
                </a:solidFill>
                <a:latin typeface="Calibri" pitchFamily="34" charset="0"/>
                <a:ea typeface="Calibri" pitchFamily="34" charset="-122"/>
                <a:cs typeface="Calibri" pitchFamily="34" charset="-120"/>
              </a:rPr>
              <a:t>Cerrahi girişimle eklemin hareket açısının küçültülmesi</a:t>
            </a:r>
            <a:endParaRPr lang="en-US" sz="1500" dirty="0"/>
          </a:p>
        </p:txBody>
      </p:sp>
      <p:sp>
        <p:nvSpPr>
          <p:cNvPr id="10" name="Shape 8"/>
          <p:cNvSpPr/>
          <p:nvPr/>
        </p:nvSpPr>
        <p:spPr>
          <a:xfrm>
            <a:off x="548640" y="3530346"/>
            <a:ext cx="5410048" cy="684276"/>
          </a:xfrm>
          <a:prstGeom prst="roundRect">
            <a:avLst>
              <a:gd name="adj" fmla="val 9354"/>
            </a:avLst>
          </a:prstGeom>
          <a:solidFill>
            <a:srgbClr val="FBF1E3"/>
          </a:solidFill>
          <a:ln/>
        </p:spPr>
      </p:sp>
      <p:sp>
        <p:nvSpPr>
          <p:cNvPr id="11" name="Text 9"/>
          <p:cNvSpPr txBox="1"/>
          <p:nvPr/>
        </p:nvSpPr>
        <p:spPr>
          <a:xfrm>
            <a:off x="704088"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arthrotomy (G) (artrotomi): </a:t>
            </a:r>
            <a:r>
              <a:rPr lang="en-US" sz="1500" dirty="0">
                <a:solidFill>
                  <a:srgbClr val="1F2937"/>
                </a:solidFill>
                <a:latin typeface="Calibri" pitchFamily="34" charset="0"/>
                <a:ea typeface="Calibri" pitchFamily="34" charset="-122"/>
                <a:cs typeface="Calibri" pitchFamily="34" charset="-120"/>
              </a:rPr>
              <a:t>Eklemin cerrahi girişimle açılması</a:t>
            </a:r>
            <a:endParaRPr lang="en-US" sz="1500" dirty="0"/>
          </a:p>
        </p:txBody>
      </p:sp>
      <p:sp>
        <p:nvSpPr>
          <p:cNvPr id="12" name="Shape 10"/>
          <p:cNvSpPr/>
          <p:nvPr/>
        </p:nvSpPr>
        <p:spPr>
          <a:xfrm>
            <a:off x="548640" y="4306062"/>
            <a:ext cx="5410048" cy="684276"/>
          </a:xfrm>
          <a:prstGeom prst="roundRect">
            <a:avLst>
              <a:gd name="adj" fmla="val 9354"/>
            </a:avLst>
          </a:prstGeom>
          <a:solidFill>
            <a:srgbClr val="FBF1E3"/>
          </a:solidFill>
          <a:ln/>
        </p:spPr>
      </p:sp>
      <p:sp>
        <p:nvSpPr>
          <p:cNvPr id="13" name="Text 11"/>
          <p:cNvSpPr txBox="1"/>
          <p:nvPr/>
        </p:nvSpPr>
        <p:spPr>
          <a:xfrm>
            <a:off x="704088"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amputation (L) (ampütasyon): </a:t>
            </a:r>
            <a:r>
              <a:rPr lang="en-US" sz="1500" dirty="0">
                <a:solidFill>
                  <a:srgbClr val="1F2937"/>
                </a:solidFill>
                <a:latin typeface="Calibri" pitchFamily="34" charset="0"/>
                <a:ea typeface="Calibri" pitchFamily="34" charset="-122"/>
                <a:cs typeface="Calibri" pitchFamily="34" charset="-120"/>
              </a:rPr>
              <a:t>Ektremitelerin bir düzeyden kesilmesi</a:t>
            </a:r>
            <a:endParaRPr lang="en-US" sz="1500" dirty="0"/>
          </a:p>
        </p:txBody>
      </p:sp>
      <p:sp>
        <p:nvSpPr>
          <p:cNvPr id="14" name="Shape 12"/>
          <p:cNvSpPr/>
          <p:nvPr/>
        </p:nvSpPr>
        <p:spPr>
          <a:xfrm>
            <a:off x="548640" y="5081778"/>
            <a:ext cx="5410048" cy="684276"/>
          </a:xfrm>
          <a:prstGeom prst="roundRect">
            <a:avLst>
              <a:gd name="adj" fmla="val 9354"/>
            </a:avLst>
          </a:prstGeom>
          <a:solidFill>
            <a:srgbClr val="FBF1E3"/>
          </a:solidFill>
          <a:ln/>
        </p:spPr>
      </p:sp>
      <p:sp>
        <p:nvSpPr>
          <p:cNvPr id="15" name="Text 13"/>
          <p:cNvSpPr txBox="1"/>
          <p:nvPr/>
        </p:nvSpPr>
        <p:spPr>
          <a:xfrm>
            <a:off x="704088"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bone grafting (İ) (kemik grafti): </a:t>
            </a:r>
            <a:r>
              <a:rPr lang="en-US" sz="1500" dirty="0">
                <a:solidFill>
                  <a:srgbClr val="1F2937"/>
                </a:solidFill>
                <a:latin typeface="Calibri" pitchFamily="34" charset="0"/>
                <a:ea typeface="Calibri" pitchFamily="34" charset="-122"/>
                <a:cs typeface="Calibri" pitchFamily="34" charset="-120"/>
              </a:rPr>
              <a:t>Kemiğin bir yerden alınarak vücudun başka bir yerinde kullanılması</a:t>
            </a:r>
            <a:endParaRPr lang="en-US" sz="1500" dirty="0"/>
          </a:p>
        </p:txBody>
      </p:sp>
      <p:sp>
        <p:nvSpPr>
          <p:cNvPr id="16" name="Shape 14"/>
          <p:cNvSpPr/>
          <p:nvPr/>
        </p:nvSpPr>
        <p:spPr>
          <a:xfrm>
            <a:off x="548640" y="5857494"/>
            <a:ext cx="5410048" cy="451866"/>
          </a:xfrm>
          <a:prstGeom prst="roundRect">
            <a:avLst>
              <a:gd name="adj" fmla="val 14165"/>
            </a:avLst>
          </a:prstGeom>
          <a:solidFill>
            <a:srgbClr val="FBF1E3"/>
          </a:solidFill>
          <a:ln/>
        </p:spPr>
      </p:sp>
      <p:sp>
        <p:nvSpPr>
          <p:cNvPr id="17" name="Text 15"/>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myorrhaphy (G) (miyorafi): </a:t>
            </a:r>
            <a:r>
              <a:rPr lang="en-US" sz="1500" dirty="0">
                <a:solidFill>
                  <a:srgbClr val="1F2937"/>
                </a:solidFill>
                <a:latin typeface="Calibri" pitchFamily="34" charset="0"/>
                <a:ea typeface="Calibri" pitchFamily="34" charset="-122"/>
                <a:cs typeface="Calibri" pitchFamily="34" charset="-120"/>
              </a:rPr>
              <a:t>Kasta oluşan yırtığı dikme</a:t>
            </a:r>
            <a:endParaRPr lang="en-US" sz="1500" dirty="0"/>
          </a:p>
        </p:txBody>
      </p:sp>
      <p:sp>
        <p:nvSpPr>
          <p:cNvPr id="18" name="Shape 16"/>
          <p:cNvSpPr/>
          <p:nvPr/>
        </p:nvSpPr>
        <p:spPr>
          <a:xfrm>
            <a:off x="6233008" y="1746504"/>
            <a:ext cx="5410048" cy="684276"/>
          </a:xfrm>
          <a:prstGeom prst="roundRect">
            <a:avLst>
              <a:gd name="adj" fmla="val 9354"/>
            </a:avLst>
          </a:prstGeom>
          <a:solidFill>
            <a:srgbClr val="FBF1E3"/>
          </a:solidFill>
          <a:ln/>
        </p:spPr>
      </p:sp>
      <p:sp>
        <p:nvSpPr>
          <p:cNvPr id="19" name="Text 17"/>
          <p:cNvSpPr txBox="1"/>
          <p:nvPr/>
        </p:nvSpPr>
        <p:spPr>
          <a:xfrm>
            <a:off x="6388456"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ostetomy (G) (osteomi): </a:t>
            </a:r>
            <a:r>
              <a:rPr lang="en-US" sz="1500" dirty="0">
                <a:solidFill>
                  <a:srgbClr val="1F2937"/>
                </a:solidFill>
                <a:latin typeface="Calibri" pitchFamily="34" charset="0"/>
                <a:ea typeface="Calibri" pitchFamily="34" charset="-122"/>
                <a:cs typeface="Calibri" pitchFamily="34" charset="-120"/>
              </a:rPr>
              <a:t>Cerrahi girişimle kemik kesilmesi</a:t>
            </a:r>
            <a:endParaRPr lang="en-US" sz="1500" dirty="0"/>
          </a:p>
        </p:txBody>
      </p:sp>
      <p:sp>
        <p:nvSpPr>
          <p:cNvPr id="20" name="Shape 18"/>
          <p:cNvSpPr/>
          <p:nvPr/>
        </p:nvSpPr>
        <p:spPr>
          <a:xfrm>
            <a:off x="6233008" y="2522220"/>
            <a:ext cx="5410048" cy="684276"/>
          </a:xfrm>
          <a:prstGeom prst="roundRect">
            <a:avLst>
              <a:gd name="adj" fmla="val 9354"/>
            </a:avLst>
          </a:prstGeom>
          <a:solidFill>
            <a:srgbClr val="FBF1E3"/>
          </a:solidFill>
          <a:ln/>
        </p:spPr>
      </p:sp>
      <p:sp>
        <p:nvSpPr>
          <p:cNvPr id="21" name="Text 19"/>
          <p:cNvSpPr txBox="1"/>
          <p:nvPr/>
        </p:nvSpPr>
        <p:spPr>
          <a:xfrm>
            <a:off x="6388456" y="259537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tenotomy (G) (tenotomy): </a:t>
            </a:r>
            <a:r>
              <a:rPr lang="en-US" sz="1500" dirty="0">
                <a:solidFill>
                  <a:srgbClr val="1F2937"/>
                </a:solidFill>
                <a:latin typeface="Calibri" pitchFamily="34" charset="0"/>
                <a:ea typeface="Calibri" pitchFamily="34" charset="-122"/>
                <a:cs typeface="Calibri" pitchFamily="34" charset="-120"/>
              </a:rPr>
              <a:t>Cerrahi girişimle tendonun kesilmesi</a:t>
            </a:r>
            <a:endParaRPr lang="en-US" sz="1500" dirty="0"/>
          </a:p>
        </p:txBody>
      </p:sp>
      <p:sp>
        <p:nvSpPr>
          <p:cNvPr id="22" name="Shape 20"/>
          <p:cNvSpPr/>
          <p:nvPr/>
        </p:nvSpPr>
        <p:spPr>
          <a:xfrm>
            <a:off x="6233008" y="3297936"/>
            <a:ext cx="5410048" cy="451866"/>
          </a:xfrm>
          <a:prstGeom prst="roundRect">
            <a:avLst>
              <a:gd name="adj" fmla="val 14165"/>
            </a:avLst>
          </a:prstGeom>
          <a:solidFill>
            <a:srgbClr val="FBF1E3"/>
          </a:solidFill>
          <a:ln/>
        </p:spPr>
      </p:sp>
      <p:sp>
        <p:nvSpPr>
          <p:cNvPr id="23" name="Text 21"/>
          <p:cNvSpPr txBox="1"/>
          <p:nvPr/>
        </p:nvSpPr>
        <p:spPr>
          <a:xfrm>
            <a:off x="6388456" y="337108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tenorrhaphy (G) (tenorafi): </a:t>
            </a:r>
            <a:r>
              <a:rPr lang="en-US" sz="1500" dirty="0">
                <a:solidFill>
                  <a:srgbClr val="1F2937"/>
                </a:solidFill>
                <a:latin typeface="Calibri" pitchFamily="34" charset="0"/>
                <a:ea typeface="Calibri" pitchFamily="34" charset="-122"/>
                <a:cs typeface="Calibri" pitchFamily="34" charset="-120"/>
              </a:rPr>
              <a:t>Kesik tendonun dikilmesi</a:t>
            </a:r>
            <a:endParaRPr lang="en-US" sz="1500" dirty="0"/>
          </a:p>
        </p:txBody>
      </p:sp>
      <p:sp>
        <p:nvSpPr>
          <p:cNvPr id="24" name="Shape 22"/>
          <p:cNvSpPr/>
          <p:nvPr/>
        </p:nvSpPr>
        <p:spPr>
          <a:xfrm>
            <a:off x="6233008" y="3841242"/>
            <a:ext cx="5410048" cy="684276"/>
          </a:xfrm>
          <a:prstGeom prst="roundRect">
            <a:avLst>
              <a:gd name="adj" fmla="val 9354"/>
            </a:avLst>
          </a:prstGeom>
          <a:solidFill>
            <a:srgbClr val="FBF1E3"/>
          </a:solidFill>
          <a:ln/>
        </p:spPr>
      </p:sp>
      <p:sp>
        <p:nvSpPr>
          <p:cNvPr id="25" name="Text 23"/>
          <p:cNvSpPr txBox="1"/>
          <p:nvPr/>
        </p:nvSpPr>
        <p:spPr>
          <a:xfrm>
            <a:off x="6388456" y="39143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tenolysis (G) (tenoliz): </a:t>
            </a:r>
            <a:r>
              <a:rPr lang="en-US" sz="1500" dirty="0">
                <a:solidFill>
                  <a:srgbClr val="1F2937"/>
                </a:solidFill>
                <a:latin typeface="Calibri" pitchFamily="34" charset="0"/>
                <a:ea typeface="Calibri" pitchFamily="34" charset="-122"/>
                <a:cs typeface="Calibri" pitchFamily="34" charset="-120"/>
              </a:rPr>
              <a:t>Tendonun yapışıklıklarının cerrahi yolla giderilmesi</a:t>
            </a:r>
            <a:endParaRPr lang="en-US" sz="1500" dirty="0"/>
          </a:p>
        </p:txBody>
      </p:sp>
      <p:sp>
        <p:nvSpPr>
          <p:cNvPr id="26" name="Shape 24"/>
          <p:cNvSpPr/>
          <p:nvPr/>
        </p:nvSpPr>
        <p:spPr>
          <a:xfrm>
            <a:off x="6233008" y="4616958"/>
            <a:ext cx="5410048" cy="684276"/>
          </a:xfrm>
          <a:prstGeom prst="roundRect">
            <a:avLst>
              <a:gd name="adj" fmla="val 9354"/>
            </a:avLst>
          </a:prstGeom>
          <a:solidFill>
            <a:srgbClr val="FBF1E3"/>
          </a:solidFill>
          <a:ln/>
        </p:spPr>
      </p:sp>
      <p:sp>
        <p:nvSpPr>
          <p:cNvPr id="27" name="Text 25"/>
          <p:cNvSpPr txBox="1"/>
          <p:nvPr/>
        </p:nvSpPr>
        <p:spPr>
          <a:xfrm>
            <a:off x="6388456" y="469011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45309"/>
                </a:solidFill>
                <a:latin typeface="Calibri" pitchFamily="34" charset="0"/>
                <a:ea typeface="Calibri" pitchFamily="34" charset="-122"/>
                <a:cs typeface="Calibri" pitchFamily="34" charset="-120"/>
              </a:rPr>
              <a:t>arthroscopy (G) (artroskopi): </a:t>
            </a:r>
            <a:r>
              <a:rPr lang="en-US" sz="1500" dirty="0">
                <a:solidFill>
                  <a:srgbClr val="1F2937"/>
                </a:solidFill>
                <a:latin typeface="Calibri" pitchFamily="34" charset="0"/>
                <a:ea typeface="Calibri" pitchFamily="34" charset="-122"/>
                <a:cs typeface="Calibri" pitchFamily="34" charset="-120"/>
              </a:rPr>
              <a:t>Eklemin içini incelemek için yapılan girişim</a:t>
            </a:r>
            <a:endParaRPr lang="en-US" sz="15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ECEC"/>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F5D9D9"/>
                </a:solidFill>
                <a:latin typeface="Cambria" pitchFamily="34" charset="0"/>
                <a:ea typeface="Cambria" pitchFamily="34" charset="-122"/>
                <a:cs typeface="Cambria" pitchFamily="34" charset="-120"/>
              </a:rPr>
              <a:t>05</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B91C1C"/>
                </a:solidFill>
                <a:latin typeface="Calibri" pitchFamily="34" charset="0"/>
                <a:ea typeface="Calibri" pitchFamily="34" charset="-122"/>
                <a:cs typeface="Calibri" pitchFamily="34" charset="-120"/>
              </a:rPr>
              <a:t>BÖLÜM 5</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KAN TERİMLERİ</a:t>
            </a:r>
            <a:endParaRPr lang="en-US" sz="3600" dirty="0"/>
          </a:p>
        </p:txBody>
      </p:sp>
      <p:sp>
        <p:nvSpPr>
          <p:cNvPr id="7" name="Shape 5"/>
          <p:cNvSpPr/>
          <p:nvPr/>
        </p:nvSpPr>
        <p:spPr>
          <a:xfrm>
            <a:off x="8503920" y="2331720"/>
            <a:ext cx="2194560" cy="2194560"/>
          </a:xfrm>
          <a:prstGeom prst="ellipse">
            <a:avLst/>
          </a:prstGeom>
          <a:solidFill>
            <a:srgbClr val="FBECEC"/>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177</a:t>
            </a:r>
            <a:endParaRPr lang="en-US" sz="10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Shape 0"/>
          <p:cNvSpPr/>
          <p:nvPr/>
        </p:nvSpPr>
        <p:spPr>
          <a:xfrm>
            <a:off x="548640" y="384048"/>
            <a:ext cx="3657600" cy="310896"/>
          </a:xfrm>
          <a:prstGeom prst="roundRect">
            <a:avLst>
              <a:gd name="adj" fmla="val 50000"/>
            </a:avLst>
          </a:prstGeom>
          <a:solidFill>
            <a:srgbClr val="FBECEC"/>
          </a:solidFill>
          <a:ln/>
        </p:spPr>
      </p:sp>
      <p:sp>
        <p:nvSpPr>
          <p:cNvPr id="3" name="Text 1"/>
          <p:cNvSpPr txBox="1"/>
          <p:nvPr/>
        </p:nvSpPr>
        <p:spPr>
          <a:xfrm>
            <a:off x="694944" y="384048"/>
            <a:ext cx="338328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KAN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178</a:t>
            </a:r>
            <a:endParaRPr lang="en-US" sz="1000" dirty="0"/>
          </a:p>
        </p:txBody>
      </p:sp>
      <p:sp>
        <p:nvSpPr>
          <p:cNvPr id="6" name="Shape 4"/>
          <p:cNvSpPr/>
          <p:nvPr/>
        </p:nvSpPr>
        <p:spPr>
          <a:xfrm>
            <a:off x="548640" y="2058975"/>
            <a:ext cx="11094415" cy="1302309"/>
          </a:xfrm>
          <a:prstGeom prst="roundRect">
            <a:avLst>
              <a:gd name="adj" fmla="val 4915"/>
            </a:avLst>
          </a:prstGeom>
          <a:solidFill>
            <a:srgbClr val="FBECEC"/>
          </a:solidFill>
          <a:ln/>
        </p:spPr>
      </p:sp>
      <p:sp>
        <p:nvSpPr>
          <p:cNvPr id="7" name="Text 5"/>
          <p:cNvSpPr txBox="1"/>
          <p:nvPr/>
        </p:nvSpPr>
        <p:spPr>
          <a:xfrm>
            <a:off x="704088" y="2132127"/>
            <a:ext cx="10783519" cy="1156005"/>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Kan vücudun sıvı olan dokusudur. Kanı yapan organlara hemopoyetik ve lenfopoyetik organlar denir. Bu organlara ve organlara ait terimlere kan terimleri denir. Hemopoyetik olanlar kırmızı kanı, lenfopoyetik olanlar beyaz (ak) kanı (lenf) yaparlar. Bu iki kan ayrı yerlerde yapılsalar da, bildiğimiz kırmızı kan içinde toplanırlar. Kan dendiğinde kırmızı kan anlaşılır.</a:t>
            </a:r>
            <a:endParaRPr lang="en-US" sz="1700" dirty="0"/>
          </a:p>
        </p:txBody>
      </p:sp>
      <p:sp>
        <p:nvSpPr>
          <p:cNvPr id="8" name="Shape 6"/>
          <p:cNvSpPr/>
          <p:nvPr/>
        </p:nvSpPr>
        <p:spPr>
          <a:xfrm>
            <a:off x="548640" y="3452724"/>
            <a:ext cx="11094415" cy="1038911"/>
          </a:xfrm>
          <a:prstGeom prst="roundRect">
            <a:avLst>
              <a:gd name="adj" fmla="val 6161"/>
            </a:avLst>
          </a:prstGeom>
          <a:solidFill>
            <a:srgbClr val="FBECEC"/>
          </a:solidFill>
          <a:ln/>
        </p:spPr>
      </p:sp>
      <p:sp>
        <p:nvSpPr>
          <p:cNvPr id="9" name="Text 7"/>
          <p:cNvSpPr txBox="1"/>
          <p:nvPr/>
        </p:nvSpPr>
        <p:spPr>
          <a:xfrm>
            <a:off x="704088" y="3525876"/>
            <a:ext cx="10783519" cy="892607"/>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Kan hücreleri yapan doku kırmızı kemik iliği dokusudur. Sarı kemik iliği aktif değildir. Bu ilik gerekli durumlarda kırmızı kemik iliğine dönüşür ve aktif olur. Lenfositler timüs, dalak ve lenf düğümlerinde yapılırlar. Hücreler genel adıyla kan hücreleri olarak anılırlar.</a:t>
            </a:r>
            <a:endParaRPr lang="en-US" sz="1700" dirty="0"/>
          </a:p>
        </p:txBody>
      </p:sp>
      <p:sp>
        <p:nvSpPr>
          <p:cNvPr id="10" name="Shape 8"/>
          <p:cNvSpPr/>
          <p:nvPr/>
        </p:nvSpPr>
        <p:spPr>
          <a:xfrm>
            <a:off x="548640" y="4583074"/>
            <a:ext cx="11094415" cy="1038911"/>
          </a:xfrm>
          <a:prstGeom prst="roundRect">
            <a:avLst>
              <a:gd name="adj" fmla="val 6161"/>
            </a:avLst>
          </a:prstGeom>
          <a:solidFill>
            <a:srgbClr val="FBECEC"/>
          </a:solidFill>
          <a:ln/>
        </p:spPr>
      </p:sp>
      <p:sp>
        <p:nvSpPr>
          <p:cNvPr id="11" name="Text 9"/>
          <p:cNvSpPr txBox="1"/>
          <p:nvPr/>
        </p:nvSpPr>
        <p:spPr>
          <a:xfrm>
            <a:off x="704088" y="4656226"/>
            <a:ext cx="10783519" cy="892607"/>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Kan, kalp ve damar sistemini yapan kapalı boşluklar (dolaşım sistemi) içinde bulunur. Kanın bu sistemin dışına çıkması patolojik olgudur. Lenf, doku sıvısının lenf kapillerine geçmesi ve içine lenfopoyetik organlardan lenfositlerin karışmasıyla oluşur. Bu kan ana lenf damarlarıyla kana karışır.</a:t>
            </a:r>
            <a:endParaRPr lang="en-US" sz="17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Shape 0"/>
          <p:cNvSpPr/>
          <p:nvPr/>
        </p:nvSpPr>
        <p:spPr>
          <a:xfrm>
            <a:off x="548640" y="384048"/>
            <a:ext cx="3657600" cy="310896"/>
          </a:xfrm>
          <a:prstGeom prst="roundRect">
            <a:avLst>
              <a:gd name="adj" fmla="val 50000"/>
            </a:avLst>
          </a:prstGeom>
          <a:solidFill>
            <a:srgbClr val="FBECEC"/>
          </a:solidFill>
          <a:ln/>
        </p:spPr>
      </p:sp>
      <p:sp>
        <p:nvSpPr>
          <p:cNvPr id="3" name="Text 1"/>
          <p:cNvSpPr txBox="1"/>
          <p:nvPr/>
        </p:nvSpPr>
        <p:spPr>
          <a:xfrm>
            <a:off x="694944" y="384048"/>
            <a:ext cx="338328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179</a:t>
            </a:r>
            <a:endParaRPr lang="en-US" sz="1000" dirty="0"/>
          </a:p>
        </p:txBody>
      </p:sp>
      <p:sp>
        <p:nvSpPr>
          <p:cNvPr id="6" name="Shape 4"/>
          <p:cNvSpPr/>
          <p:nvPr/>
        </p:nvSpPr>
        <p:spPr>
          <a:xfrm>
            <a:off x="548640" y="1565529"/>
            <a:ext cx="11094415" cy="684276"/>
          </a:xfrm>
          <a:prstGeom prst="roundRect">
            <a:avLst>
              <a:gd name="adj" fmla="val 9354"/>
            </a:avLst>
          </a:prstGeom>
          <a:solidFill>
            <a:srgbClr val="FBECEC"/>
          </a:solidFill>
          <a:ln/>
        </p:spPr>
      </p:sp>
      <p:sp>
        <p:nvSpPr>
          <p:cNvPr id="7" name="Text 5"/>
          <p:cNvSpPr txBox="1"/>
          <p:nvPr/>
        </p:nvSpPr>
        <p:spPr>
          <a:xfrm>
            <a:off x="704088" y="1638681"/>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erythrocytes (G) (eritrosit): </a:t>
            </a:r>
            <a:r>
              <a:rPr lang="en-US" sz="1500" dirty="0">
                <a:solidFill>
                  <a:srgbClr val="1F2937"/>
                </a:solidFill>
                <a:latin typeface="Calibri" pitchFamily="34" charset="0"/>
                <a:ea typeface="Calibri" pitchFamily="34" charset="-122"/>
                <a:cs typeface="Calibri" pitchFamily="34" charset="-120"/>
              </a:rPr>
              <a:t>Alyuvar. Hücre çekirdeği olmayan ve en çok bulunan kan hücresidir. Kana kırmızı rengi verir. 1mm³ kanda erkeklerde 4-6 milyon, kadında ise 4-5,5 milyon eritrosit bulunur.</a:t>
            </a:r>
            <a:endParaRPr lang="en-US" sz="1500" dirty="0"/>
          </a:p>
        </p:txBody>
      </p:sp>
      <p:sp>
        <p:nvSpPr>
          <p:cNvPr id="8" name="Shape 6"/>
          <p:cNvSpPr/>
          <p:nvPr/>
        </p:nvSpPr>
        <p:spPr>
          <a:xfrm>
            <a:off x="548640" y="2341245"/>
            <a:ext cx="11094415" cy="684276"/>
          </a:xfrm>
          <a:prstGeom prst="roundRect">
            <a:avLst>
              <a:gd name="adj" fmla="val 9354"/>
            </a:avLst>
          </a:prstGeom>
          <a:solidFill>
            <a:srgbClr val="FBECEC"/>
          </a:solidFill>
          <a:ln/>
        </p:spPr>
      </p:sp>
      <p:sp>
        <p:nvSpPr>
          <p:cNvPr id="9" name="Text 7"/>
          <p:cNvSpPr txBox="1"/>
          <p:nvPr/>
        </p:nvSpPr>
        <p:spPr>
          <a:xfrm>
            <a:off x="704088" y="241439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A) agranulocytus (G) (agronulosit): </a:t>
            </a:r>
            <a:r>
              <a:rPr lang="en-US" sz="1500" dirty="0">
                <a:solidFill>
                  <a:srgbClr val="1F2937"/>
                </a:solidFill>
                <a:latin typeface="Calibri" pitchFamily="34" charset="0"/>
                <a:ea typeface="Calibri" pitchFamily="34" charset="-122"/>
                <a:cs typeface="Calibri" pitchFamily="34" charset="-120"/>
              </a:rPr>
              <a:t>Sitoplazmalarında granül içermeyen akyuvar. Çekirdekleri tek parçalıdır. Onun için mononüklear lökositler de denir. Lenfosit ve monosit.</a:t>
            </a:r>
            <a:endParaRPr lang="en-US" sz="1500" dirty="0"/>
          </a:p>
        </p:txBody>
      </p:sp>
      <p:sp>
        <p:nvSpPr>
          <p:cNvPr id="10" name="Shape 8"/>
          <p:cNvSpPr/>
          <p:nvPr/>
        </p:nvSpPr>
        <p:spPr>
          <a:xfrm>
            <a:off x="548640" y="3116961"/>
            <a:ext cx="11094415" cy="684276"/>
          </a:xfrm>
          <a:prstGeom prst="roundRect">
            <a:avLst>
              <a:gd name="adj" fmla="val 9354"/>
            </a:avLst>
          </a:prstGeom>
          <a:solidFill>
            <a:srgbClr val="FBECEC"/>
          </a:solidFill>
          <a:ln/>
        </p:spPr>
      </p:sp>
      <p:sp>
        <p:nvSpPr>
          <p:cNvPr id="11" name="Text 9"/>
          <p:cNvSpPr txBox="1"/>
          <p:nvPr/>
        </p:nvSpPr>
        <p:spPr>
          <a:xfrm>
            <a:off x="704088" y="3190113"/>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1- lymphocytus (lenfosit): </a:t>
            </a:r>
            <a:r>
              <a:rPr lang="en-US" sz="1500" dirty="0">
                <a:solidFill>
                  <a:srgbClr val="1F2937"/>
                </a:solidFill>
                <a:latin typeface="Calibri" pitchFamily="34" charset="0"/>
                <a:ea typeface="Calibri" pitchFamily="34" charset="-122"/>
                <a:cs typeface="Calibri" pitchFamily="34" charset="-120"/>
              </a:rPr>
              <a:t>6-18 mikron büyüklüklerindedir. Çekirdek yuvarlaktır ve büyüktür (stoplazmayı kaplayacak kadar büyük).  Mikroskopta sırf çekirdekmiş gibi görünür. Lökositlerin % 20-30’luk kısmını oluştururlar.</a:t>
            </a:r>
            <a:endParaRPr lang="en-US" sz="1500" dirty="0"/>
          </a:p>
        </p:txBody>
      </p:sp>
      <p:sp>
        <p:nvSpPr>
          <p:cNvPr id="12" name="Shape 10"/>
          <p:cNvSpPr/>
          <p:nvPr/>
        </p:nvSpPr>
        <p:spPr>
          <a:xfrm>
            <a:off x="548640" y="3995166"/>
            <a:ext cx="11094415" cy="451866"/>
          </a:xfrm>
          <a:prstGeom prst="roundRect">
            <a:avLst>
              <a:gd name="adj" fmla="val 14165"/>
            </a:avLst>
          </a:prstGeom>
          <a:solidFill>
            <a:srgbClr val="FBECEC"/>
          </a:solidFill>
          <a:ln/>
        </p:spPr>
      </p:sp>
      <p:sp>
        <p:nvSpPr>
          <p:cNvPr id="13" name="Text 11"/>
          <p:cNvSpPr txBox="1"/>
          <p:nvPr/>
        </p:nvSpPr>
        <p:spPr>
          <a:xfrm>
            <a:off x="704088" y="406831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haema (G) (hema): </a:t>
            </a:r>
            <a:r>
              <a:rPr lang="en-US" sz="1500" dirty="0">
                <a:solidFill>
                  <a:srgbClr val="1F2937"/>
                </a:solidFill>
                <a:latin typeface="Calibri" pitchFamily="34" charset="0"/>
                <a:ea typeface="Calibri" pitchFamily="34" charset="-122"/>
                <a:cs typeface="Calibri" pitchFamily="34" charset="-120"/>
              </a:rPr>
              <a:t>Kan</a:t>
            </a:r>
            <a:endParaRPr lang="en-US" sz="1500" dirty="0"/>
          </a:p>
        </p:txBody>
      </p:sp>
      <p:sp>
        <p:nvSpPr>
          <p:cNvPr id="14" name="Shape 12"/>
          <p:cNvSpPr/>
          <p:nvPr/>
        </p:nvSpPr>
        <p:spPr>
          <a:xfrm>
            <a:off x="548640" y="4538472"/>
            <a:ext cx="11094415" cy="451866"/>
          </a:xfrm>
          <a:prstGeom prst="roundRect">
            <a:avLst>
              <a:gd name="adj" fmla="val 14165"/>
            </a:avLst>
          </a:prstGeom>
          <a:solidFill>
            <a:srgbClr val="FBECEC"/>
          </a:solidFill>
          <a:ln/>
        </p:spPr>
      </p:sp>
      <p:sp>
        <p:nvSpPr>
          <p:cNvPr id="15" name="Text 13"/>
          <p:cNvSpPr txBox="1"/>
          <p:nvPr/>
        </p:nvSpPr>
        <p:spPr>
          <a:xfrm>
            <a:off x="704088" y="461162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sanguis (L) (sanguis): </a:t>
            </a:r>
            <a:r>
              <a:rPr lang="en-US" sz="1500" dirty="0">
                <a:solidFill>
                  <a:srgbClr val="1F2937"/>
                </a:solidFill>
                <a:latin typeface="Calibri" pitchFamily="34" charset="0"/>
                <a:ea typeface="Calibri" pitchFamily="34" charset="-122"/>
                <a:cs typeface="Calibri" pitchFamily="34" charset="-120"/>
              </a:rPr>
              <a:t>Kan</a:t>
            </a:r>
            <a:endParaRPr lang="en-US" sz="1500" dirty="0"/>
          </a:p>
        </p:txBody>
      </p:sp>
      <p:sp>
        <p:nvSpPr>
          <p:cNvPr id="16" name="Shape 14"/>
          <p:cNvSpPr/>
          <p:nvPr/>
        </p:nvSpPr>
        <p:spPr>
          <a:xfrm>
            <a:off x="548640" y="5081778"/>
            <a:ext cx="11094415" cy="451866"/>
          </a:xfrm>
          <a:prstGeom prst="roundRect">
            <a:avLst>
              <a:gd name="adj" fmla="val 14165"/>
            </a:avLst>
          </a:prstGeom>
          <a:solidFill>
            <a:srgbClr val="FBECEC"/>
          </a:solidFill>
          <a:ln/>
        </p:spPr>
      </p:sp>
      <p:sp>
        <p:nvSpPr>
          <p:cNvPr id="17" name="Text 15"/>
          <p:cNvSpPr txBox="1"/>
          <p:nvPr/>
        </p:nvSpPr>
        <p:spPr>
          <a:xfrm>
            <a:off x="704088" y="515493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plasma (G) (plazma): </a:t>
            </a:r>
            <a:r>
              <a:rPr lang="en-US" sz="1500" dirty="0">
                <a:solidFill>
                  <a:srgbClr val="1F2937"/>
                </a:solidFill>
                <a:latin typeface="Calibri" pitchFamily="34" charset="0"/>
                <a:ea typeface="Calibri" pitchFamily="34" charset="-122"/>
                <a:cs typeface="Calibri" pitchFamily="34" charset="-120"/>
              </a:rPr>
              <a:t>Kan hücrelerini barındıran sıvı</a:t>
            </a:r>
            <a:endParaRPr lang="en-US" sz="1500" dirty="0"/>
          </a:p>
        </p:txBody>
      </p:sp>
      <p:sp>
        <p:nvSpPr>
          <p:cNvPr id="18" name="Shape 16"/>
          <p:cNvSpPr/>
          <p:nvPr/>
        </p:nvSpPr>
        <p:spPr>
          <a:xfrm>
            <a:off x="548640" y="5625084"/>
            <a:ext cx="11094415" cy="684276"/>
          </a:xfrm>
          <a:prstGeom prst="roundRect">
            <a:avLst>
              <a:gd name="adj" fmla="val 9354"/>
            </a:avLst>
          </a:prstGeom>
          <a:solidFill>
            <a:srgbClr val="FBECEC"/>
          </a:solidFill>
          <a:ln/>
        </p:spPr>
      </p:sp>
      <p:sp>
        <p:nvSpPr>
          <p:cNvPr id="19" name="Text 17"/>
          <p:cNvSpPr txBox="1"/>
          <p:nvPr/>
        </p:nvSpPr>
        <p:spPr>
          <a:xfrm>
            <a:off x="704088" y="5698236"/>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leucocytus (G) (lökosit): </a:t>
            </a:r>
            <a:r>
              <a:rPr lang="en-US" sz="1500" dirty="0">
                <a:solidFill>
                  <a:srgbClr val="1F2937"/>
                </a:solidFill>
                <a:latin typeface="Calibri" pitchFamily="34" charset="0"/>
                <a:ea typeface="Calibri" pitchFamily="34" charset="-122"/>
                <a:cs typeface="Calibri" pitchFamily="34" charset="-120"/>
              </a:rPr>
              <a:t>Akyuvar. İnsanda 1mm³ kanda 6-10 bindir. Stoplazmalarında granül bulunması durumuna göre ikiye ayrılırlar.</a:t>
            </a:r>
            <a:endParaRPr lang="en-US" sz="15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BECEC"/>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180</a:t>
            </a:r>
            <a:endParaRPr lang="en-US" sz="1000" dirty="0"/>
          </a:p>
        </p:txBody>
      </p:sp>
      <p:sp>
        <p:nvSpPr>
          <p:cNvPr id="6" name="Shape 4"/>
          <p:cNvSpPr/>
          <p:nvPr/>
        </p:nvSpPr>
        <p:spPr>
          <a:xfrm>
            <a:off x="548640" y="1723949"/>
            <a:ext cx="11094415" cy="638658"/>
          </a:xfrm>
          <a:prstGeom prst="roundRect">
            <a:avLst>
              <a:gd name="adj" fmla="val 10022"/>
            </a:avLst>
          </a:prstGeom>
          <a:solidFill>
            <a:srgbClr val="FBECEC"/>
          </a:solidFill>
          <a:ln/>
        </p:spPr>
      </p:sp>
      <p:sp>
        <p:nvSpPr>
          <p:cNvPr id="7" name="Text 5"/>
          <p:cNvSpPr txBox="1"/>
          <p:nvPr/>
        </p:nvSpPr>
        <p:spPr>
          <a:xfrm>
            <a:off x="704088" y="179710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2- monocytus (G) (monosit): </a:t>
            </a:r>
            <a:r>
              <a:rPr lang="en-US" sz="1400" dirty="0">
                <a:solidFill>
                  <a:srgbClr val="1F2937"/>
                </a:solidFill>
                <a:latin typeface="Calibri" pitchFamily="34" charset="0"/>
                <a:ea typeface="Calibri" pitchFamily="34" charset="-122"/>
                <a:cs typeface="Calibri" pitchFamily="34" charset="-120"/>
              </a:rPr>
              <a:t>Kanda en iri hücrelerdir. Çekirdeği böbrek şeklindedir. Kandan damar dışına çıkarak bağ doku içine girebilirler. 1mm³ kanda oranı % 3-8’dir.</a:t>
            </a:r>
            <a:endParaRPr lang="en-US" sz="1400" dirty="0"/>
          </a:p>
        </p:txBody>
      </p:sp>
      <p:sp>
        <p:nvSpPr>
          <p:cNvPr id="8" name="Shape 6"/>
          <p:cNvSpPr/>
          <p:nvPr/>
        </p:nvSpPr>
        <p:spPr>
          <a:xfrm>
            <a:off x="548640" y="2454046"/>
            <a:ext cx="11094415" cy="421742"/>
          </a:xfrm>
          <a:prstGeom prst="roundRect">
            <a:avLst>
              <a:gd name="adj" fmla="val 15177"/>
            </a:avLst>
          </a:prstGeom>
          <a:solidFill>
            <a:srgbClr val="FBECEC"/>
          </a:solidFill>
          <a:ln/>
        </p:spPr>
      </p:sp>
      <p:sp>
        <p:nvSpPr>
          <p:cNvPr id="9" name="Text 7"/>
          <p:cNvSpPr txBox="1"/>
          <p:nvPr/>
        </p:nvSpPr>
        <p:spPr>
          <a:xfrm>
            <a:off x="704088" y="252719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B) granulocytus (granulosit): </a:t>
            </a:r>
            <a:r>
              <a:rPr lang="en-US" sz="1400" dirty="0">
                <a:solidFill>
                  <a:srgbClr val="1F2937"/>
                </a:solidFill>
                <a:latin typeface="Calibri" pitchFamily="34" charset="0"/>
                <a:ea typeface="Calibri" pitchFamily="34" charset="-122"/>
                <a:cs typeface="Calibri" pitchFamily="34" charset="-120"/>
              </a:rPr>
              <a:t>Stoplazmalarında granül bulundururan lökositlerdir. Nötrofil, eozinofil ve bazofil</a:t>
            </a:r>
            <a:endParaRPr lang="en-US" sz="1400" dirty="0"/>
          </a:p>
        </p:txBody>
      </p:sp>
      <p:sp>
        <p:nvSpPr>
          <p:cNvPr id="10" name="Shape 8"/>
          <p:cNvSpPr/>
          <p:nvPr/>
        </p:nvSpPr>
        <p:spPr>
          <a:xfrm>
            <a:off x="548640" y="2967228"/>
            <a:ext cx="11094415" cy="638658"/>
          </a:xfrm>
          <a:prstGeom prst="roundRect">
            <a:avLst>
              <a:gd name="adj" fmla="val 10022"/>
            </a:avLst>
          </a:prstGeom>
          <a:solidFill>
            <a:srgbClr val="FBECEC"/>
          </a:solidFill>
          <a:ln/>
        </p:spPr>
      </p:sp>
      <p:sp>
        <p:nvSpPr>
          <p:cNvPr id="11" name="Text 9"/>
          <p:cNvSpPr txBox="1"/>
          <p:nvPr/>
        </p:nvSpPr>
        <p:spPr>
          <a:xfrm>
            <a:off x="704088" y="3040380"/>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1- neutrophil (L) (nötrofil): </a:t>
            </a:r>
            <a:r>
              <a:rPr lang="en-US" sz="1400" dirty="0">
                <a:solidFill>
                  <a:srgbClr val="1F2937"/>
                </a:solidFill>
                <a:latin typeface="Calibri" pitchFamily="34" charset="0"/>
                <a:ea typeface="Calibri" pitchFamily="34" charset="-122"/>
                <a:cs typeface="Calibri" pitchFamily="34" charset="-120"/>
              </a:rPr>
              <a:t>büyüklüğü 12-15 mikron boyutunda granüllü bir lökosittir. Yuvarlaktır. Çekirdekleri 3-5 parçalıdır. Boya almadıkları için beyaz görünürler.</a:t>
            </a:r>
            <a:endParaRPr lang="en-US" sz="1400" dirty="0"/>
          </a:p>
        </p:txBody>
      </p:sp>
      <p:sp>
        <p:nvSpPr>
          <p:cNvPr id="12" name="Shape 10"/>
          <p:cNvSpPr/>
          <p:nvPr/>
        </p:nvSpPr>
        <p:spPr>
          <a:xfrm>
            <a:off x="548640" y="3697326"/>
            <a:ext cx="11094415" cy="638658"/>
          </a:xfrm>
          <a:prstGeom prst="roundRect">
            <a:avLst>
              <a:gd name="adj" fmla="val 10022"/>
            </a:avLst>
          </a:prstGeom>
          <a:solidFill>
            <a:srgbClr val="FBECEC"/>
          </a:solidFill>
          <a:ln/>
        </p:spPr>
      </p:sp>
      <p:sp>
        <p:nvSpPr>
          <p:cNvPr id="13" name="Text 11"/>
          <p:cNvSpPr txBox="1"/>
          <p:nvPr/>
        </p:nvSpPr>
        <p:spPr>
          <a:xfrm>
            <a:off x="704088" y="3770478"/>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2- eosinophil (G) (eozinofil): </a:t>
            </a:r>
            <a:r>
              <a:rPr lang="en-US" sz="1400" dirty="0">
                <a:solidFill>
                  <a:srgbClr val="1F2937"/>
                </a:solidFill>
                <a:latin typeface="Calibri" pitchFamily="34" charset="0"/>
                <a:ea typeface="Calibri" pitchFamily="34" charset="-122"/>
                <a:cs typeface="Calibri" pitchFamily="34" charset="-120"/>
              </a:rPr>
              <a:t>Büyüklükleri 12-15 mikron boyutundadır. Çeirdekleri genelde iki parçalıdır. Hücre yuvarlaktır ve granülleri pembe-kırmızı boyanır.</a:t>
            </a:r>
            <a:endParaRPr lang="en-US" sz="1400" dirty="0"/>
          </a:p>
        </p:txBody>
      </p:sp>
      <p:sp>
        <p:nvSpPr>
          <p:cNvPr id="14" name="Shape 12"/>
          <p:cNvSpPr/>
          <p:nvPr/>
        </p:nvSpPr>
        <p:spPr>
          <a:xfrm>
            <a:off x="548640" y="4427423"/>
            <a:ext cx="11094415" cy="638658"/>
          </a:xfrm>
          <a:prstGeom prst="roundRect">
            <a:avLst>
              <a:gd name="adj" fmla="val 10022"/>
            </a:avLst>
          </a:prstGeom>
          <a:solidFill>
            <a:srgbClr val="FBECEC"/>
          </a:solidFill>
          <a:ln/>
        </p:spPr>
      </p:sp>
      <p:sp>
        <p:nvSpPr>
          <p:cNvPr id="15" name="Text 13"/>
          <p:cNvSpPr txBox="1"/>
          <p:nvPr/>
        </p:nvSpPr>
        <p:spPr>
          <a:xfrm>
            <a:off x="704088" y="4500575"/>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3- basophil (G) (bazofil): </a:t>
            </a:r>
            <a:r>
              <a:rPr lang="en-US" sz="1400" dirty="0">
                <a:solidFill>
                  <a:srgbClr val="1F2937"/>
                </a:solidFill>
                <a:latin typeface="Calibri" pitchFamily="34" charset="0"/>
                <a:ea typeface="Calibri" pitchFamily="34" charset="-122"/>
                <a:cs typeface="Calibri" pitchFamily="34" charset="-120"/>
              </a:rPr>
              <a:t>%1 oranında bulunur. O yüzden görünmeleri zordur. Büyüklükleri 12-15 mikron boyutlarındadır. Çekirdekleri parçalıdır. Granülleri histamin ve heparin içerir.</a:t>
            </a:r>
            <a:endParaRPr lang="en-US" sz="1400" dirty="0"/>
          </a:p>
        </p:txBody>
      </p:sp>
      <p:sp>
        <p:nvSpPr>
          <p:cNvPr id="16" name="Shape 14"/>
          <p:cNvSpPr/>
          <p:nvPr/>
        </p:nvSpPr>
        <p:spPr>
          <a:xfrm>
            <a:off x="548640" y="5157521"/>
            <a:ext cx="11094415" cy="638658"/>
          </a:xfrm>
          <a:prstGeom prst="roundRect">
            <a:avLst>
              <a:gd name="adj" fmla="val 10022"/>
            </a:avLst>
          </a:prstGeom>
          <a:solidFill>
            <a:srgbClr val="FBECEC"/>
          </a:solidFill>
          <a:ln/>
        </p:spPr>
      </p:sp>
      <p:sp>
        <p:nvSpPr>
          <p:cNvPr id="17" name="Text 15"/>
          <p:cNvSpPr txBox="1"/>
          <p:nvPr/>
        </p:nvSpPr>
        <p:spPr>
          <a:xfrm>
            <a:off x="704088" y="5230673"/>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trombocytus (G) (trombosit): </a:t>
            </a:r>
            <a:r>
              <a:rPr lang="en-US" sz="1400" dirty="0">
                <a:solidFill>
                  <a:srgbClr val="1F2937"/>
                </a:solidFill>
                <a:latin typeface="Calibri" pitchFamily="34" charset="0"/>
                <a:ea typeface="Calibri" pitchFamily="34" charset="-122"/>
                <a:cs typeface="Calibri" pitchFamily="34" charset="-120"/>
              </a:rPr>
              <a:t>Kan pulcuğu. 2-4 mikron büyüklükte küçük sitoplazma parçacıklarıdır. 1mm³ kanda 200-400 bin arasındadırlar.</a:t>
            </a:r>
            <a:endParaRPr lang="en-US" sz="1400" dirty="0"/>
          </a:p>
        </p:txBody>
      </p:sp>
      <p:sp>
        <p:nvSpPr>
          <p:cNvPr id="18" name="Shape 16"/>
          <p:cNvSpPr/>
          <p:nvPr/>
        </p:nvSpPr>
        <p:spPr>
          <a:xfrm>
            <a:off x="548640" y="5887618"/>
            <a:ext cx="11094415" cy="421742"/>
          </a:xfrm>
          <a:prstGeom prst="roundRect">
            <a:avLst>
              <a:gd name="adj" fmla="val 15177"/>
            </a:avLst>
          </a:prstGeom>
          <a:solidFill>
            <a:srgbClr val="FBECEC"/>
          </a:solidFill>
          <a:ln/>
        </p:spPr>
      </p:sp>
      <p:sp>
        <p:nvSpPr>
          <p:cNvPr id="19" name="Text 17"/>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megacaryocytus (G) (megakaryosit): </a:t>
            </a:r>
            <a:r>
              <a:rPr lang="en-US" sz="1400" dirty="0">
                <a:solidFill>
                  <a:srgbClr val="1F2937"/>
                </a:solidFill>
                <a:latin typeface="Calibri" pitchFamily="34" charset="0"/>
                <a:ea typeface="Calibri" pitchFamily="34" charset="-122"/>
                <a:cs typeface="Calibri" pitchFamily="34" charset="-120"/>
              </a:rPr>
              <a:t>Kırmızı kemik iliğinde bulunan iri, dev hücreler. Trombositleri oluşturular</a:t>
            </a:r>
            <a:endParaRPr lang="en-US" sz="14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BECEC"/>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181</a:t>
            </a:r>
            <a:endParaRPr lang="en-US" sz="1000" dirty="0"/>
          </a:p>
        </p:txBody>
      </p:sp>
      <p:sp>
        <p:nvSpPr>
          <p:cNvPr id="6" name="Shape 4"/>
          <p:cNvSpPr/>
          <p:nvPr/>
        </p:nvSpPr>
        <p:spPr>
          <a:xfrm>
            <a:off x="548640" y="1536243"/>
            <a:ext cx="11094415" cy="794461"/>
          </a:xfrm>
          <a:prstGeom prst="roundRect">
            <a:avLst>
              <a:gd name="adj" fmla="val 8057"/>
            </a:avLst>
          </a:prstGeom>
          <a:solidFill>
            <a:srgbClr val="FBECEC"/>
          </a:solidFill>
          <a:ln/>
        </p:spPr>
      </p:sp>
      <p:sp>
        <p:nvSpPr>
          <p:cNvPr id="7" name="Text 5"/>
          <p:cNvSpPr txBox="1"/>
          <p:nvPr/>
        </p:nvSpPr>
        <p:spPr>
          <a:xfrm>
            <a:off x="704088" y="1609395"/>
            <a:ext cx="10783519" cy="648157"/>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lymphocapillare (L) (lemfokapiller): </a:t>
            </a:r>
            <a:r>
              <a:rPr lang="en-US" sz="1300" dirty="0">
                <a:solidFill>
                  <a:srgbClr val="1F2937"/>
                </a:solidFill>
                <a:latin typeface="Calibri" pitchFamily="34" charset="0"/>
                <a:ea typeface="Calibri" pitchFamily="34" charset="-122"/>
                <a:cs typeface="Calibri" pitchFamily="34" charset="-120"/>
              </a:rPr>
              <a:t>Lenf kapilleri (kılcalları). Lenf damarlarının başlangıcındaki küçük ince damarlar. Kör borucuklar olarak başlarlar.</a:t>
            </a:r>
            <a:endParaRPr lang="en-US" sz="1300" dirty="0"/>
          </a:p>
        </p:txBody>
      </p:sp>
      <p:sp>
        <p:nvSpPr>
          <p:cNvPr id="8" name="Shape 6"/>
          <p:cNvSpPr/>
          <p:nvPr/>
        </p:nvSpPr>
        <p:spPr>
          <a:xfrm>
            <a:off x="548640" y="2422144"/>
            <a:ext cx="11094415" cy="1197305"/>
          </a:xfrm>
          <a:prstGeom prst="roundRect">
            <a:avLst>
              <a:gd name="adj" fmla="val 5346"/>
            </a:avLst>
          </a:prstGeom>
          <a:solidFill>
            <a:srgbClr val="FBECEC"/>
          </a:solidFill>
          <a:ln/>
        </p:spPr>
      </p:sp>
      <p:sp>
        <p:nvSpPr>
          <p:cNvPr id="9" name="Text 7"/>
          <p:cNvSpPr txBox="1"/>
          <p:nvPr/>
        </p:nvSpPr>
        <p:spPr>
          <a:xfrm>
            <a:off x="704088" y="2495296"/>
            <a:ext cx="10783519" cy="1051001"/>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Mononüklear fagositik sistem: </a:t>
            </a:r>
            <a:r>
              <a:rPr lang="en-US" sz="1300" dirty="0">
                <a:solidFill>
                  <a:srgbClr val="1F2937"/>
                </a:solidFill>
                <a:latin typeface="Calibri" pitchFamily="34" charset="0"/>
                <a:ea typeface="Calibri" pitchFamily="34" charset="-122"/>
                <a:cs typeface="Calibri" pitchFamily="34" charset="-120"/>
              </a:rPr>
              <a:t>Çeşitli doku ve organlar içine yayılmış olarak bulunan ve monositlerden köken alan hücreler topluluğu. Fagositoz yaparlar. Hücrelerine mononüklear sistem hücreleri denir. Bu hücreler monositler, makrofajlar, kupffer hücreleri, mikroglialar, osteoklastlardır.</a:t>
            </a:r>
            <a:endParaRPr lang="en-US" sz="1300" dirty="0"/>
          </a:p>
        </p:txBody>
      </p:sp>
      <p:sp>
        <p:nvSpPr>
          <p:cNvPr id="10" name="Shape 8"/>
          <p:cNvSpPr/>
          <p:nvPr/>
        </p:nvSpPr>
        <p:spPr>
          <a:xfrm>
            <a:off x="548640" y="3784092"/>
            <a:ext cx="5410048" cy="391617"/>
          </a:xfrm>
          <a:prstGeom prst="roundRect">
            <a:avLst>
              <a:gd name="adj" fmla="val 16345"/>
            </a:avLst>
          </a:prstGeom>
          <a:solidFill>
            <a:srgbClr val="FBECEC"/>
          </a:solidFill>
          <a:ln/>
        </p:spPr>
      </p:sp>
      <p:sp>
        <p:nvSpPr>
          <p:cNvPr id="11" name="Text 9"/>
          <p:cNvSpPr txBox="1"/>
          <p:nvPr/>
        </p:nvSpPr>
        <p:spPr>
          <a:xfrm>
            <a:off x="704088" y="3857244"/>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splen (G): </a:t>
            </a:r>
            <a:r>
              <a:rPr lang="en-US" sz="1300" dirty="0">
                <a:solidFill>
                  <a:srgbClr val="1F2937"/>
                </a:solidFill>
                <a:latin typeface="Calibri" pitchFamily="34" charset="0"/>
                <a:ea typeface="Calibri" pitchFamily="34" charset="-122"/>
                <a:cs typeface="Calibri" pitchFamily="34" charset="-120"/>
              </a:rPr>
              <a:t>Dalak</a:t>
            </a:r>
            <a:endParaRPr lang="en-US" sz="1300" dirty="0"/>
          </a:p>
        </p:txBody>
      </p:sp>
      <p:sp>
        <p:nvSpPr>
          <p:cNvPr id="12" name="Shape 10"/>
          <p:cNvSpPr/>
          <p:nvPr/>
        </p:nvSpPr>
        <p:spPr>
          <a:xfrm>
            <a:off x="548640" y="4267149"/>
            <a:ext cx="5410048" cy="391617"/>
          </a:xfrm>
          <a:prstGeom prst="roundRect">
            <a:avLst>
              <a:gd name="adj" fmla="val 16345"/>
            </a:avLst>
          </a:prstGeom>
          <a:solidFill>
            <a:srgbClr val="FBECEC"/>
          </a:solidFill>
          <a:ln/>
        </p:spPr>
      </p:sp>
      <p:sp>
        <p:nvSpPr>
          <p:cNvPr id="13" name="Text 11"/>
          <p:cNvSpPr txBox="1"/>
          <p:nvPr/>
        </p:nvSpPr>
        <p:spPr>
          <a:xfrm>
            <a:off x="704088" y="4340301"/>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lien (L): </a:t>
            </a:r>
            <a:r>
              <a:rPr lang="en-US" sz="1300" dirty="0">
                <a:solidFill>
                  <a:srgbClr val="1F2937"/>
                </a:solidFill>
                <a:latin typeface="Calibri" pitchFamily="34" charset="0"/>
                <a:ea typeface="Calibri" pitchFamily="34" charset="-122"/>
                <a:cs typeface="Calibri" pitchFamily="34" charset="-120"/>
              </a:rPr>
              <a:t>Dalak</a:t>
            </a:r>
            <a:endParaRPr lang="en-US" sz="1300" dirty="0"/>
          </a:p>
        </p:txBody>
      </p:sp>
      <p:sp>
        <p:nvSpPr>
          <p:cNvPr id="14" name="Shape 12"/>
          <p:cNvSpPr/>
          <p:nvPr/>
        </p:nvSpPr>
        <p:spPr>
          <a:xfrm>
            <a:off x="548640" y="4750206"/>
            <a:ext cx="5410048" cy="391617"/>
          </a:xfrm>
          <a:prstGeom prst="roundRect">
            <a:avLst>
              <a:gd name="adj" fmla="val 16345"/>
            </a:avLst>
          </a:prstGeom>
          <a:solidFill>
            <a:srgbClr val="FBECEC"/>
          </a:solidFill>
          <a:ln/>
        </p:spPr>
      </p:sp>
      <p:sp>
        <p:nvSpPr>
          <p:cNvPr id="15" name="Text 13"/>
          <p:cNvSpPr txBox="1"/>
          <p:nvPr/>
        </p:nvSpPr>
        <p:spPr>
          <a:xfrm>
            <a:off x="704088" y="4823358"/>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medulla ossea rubra (L): </a:t>
            </a:r>
            <a:r>
              <a:rPr lang="en-US" sz="1300" dirty="0">
                <a:solidFill>
                  <a:srgbClr val="1F2937"/>
                </a:solidFill>
                <a:latin typeface="Calibri" pitchFamily="34" charset="0"/>
                <a:ea typeface="Calibri" pitchFamily="34" charset="-122"/>
                <a:cs typeface="Calibri" pitchFamily="34" charset="-120"/>
              </a:rPr>
              <a:t>kırmızı kemik iliği</a:t>
            </a:r>
            <a:endParaRPr lang="en-US" sz="1300" dirty="0"/>
          </a:p>
        </p:txBody>
      </p:sp>
      <p:sp>
        <p:nvSpPr>
          <p:cNvPr id="16" name="Shape 14"/>
          <p:cNvSpPr/>
          <p:nvPr/>
        </p:nvSpPr>
        <p:spPr>
          <a:xfrm>
            <a:off x="548640" y="5233264"/>
            <a:ext cx="5410048" cy="391617"/>
          </a:xfrm>
          <a:prstGeom prst="roundRect">
            <a:avLst>
              <a:gd name="adj" fmla="val 16345"/>
            </a:avLst>
          </a:prstGeom>
          <a:solidFill>
            <a:srgbClr val="FBECEC"/>
          </a:solidFill>
          <a:ln/>
        </p:spPr>
      </p:sp>
      <p:sp>
        <p:nvSpPr>
          <p:cNvPr id="17" name="Text 15"/>
          <p:cNvSpPr txBox="1"/>
          <p:nvPr/>
        </p:nvSpPr>
        <p:spPr>
          <a:xfrm>
            <a:off x="704088" y="5306416"/>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medulla ossea flava (L): </a:t>
            </a:r>
            <a:r>
              <a:rPr lang="en-US" sz="1300" dirty="0">
                <a:solidFill>
                  <a:srgbClr val="1F2937"/>
                </a:solidFill>
                <a:latin typeface="Calibri" pitchFamily="34" charset="0"/>
                <a:ea typeface="Calibri" pitchFamily="34" charset="-122"/>
                <a:cs typeface="Calibri" pitchFamily="34" charset="-120"/>
              </a:rPr>
              <a:t>Sarı kemik iliği</a:t>
            </a:r>
            <a:endParaRPr lang="en-US" sz="1300" dirty="0"/>
          </a:p>
        </p:txBody>
      </p:sp>
      <p:sp>
        <p:nvSpPr>
          <p:cNvPr id="18" name="Shape 16"/>
          <p:cNvSpPr/>
          <p:nvPr/>
        </p:nvSpPr>
        <p:spPr>
          <a:xfrm>
            <a:off x="548640" y="5716321"/>
            <a:ext cx="5410048" cy="593039"/>
          </a:xfrm>
          <a:prstGeom prst="roundRect">
            <a:avLst>
              <a:gd name="adj" fmla="val 10793"/>
            </a:avLst>
          </a:prstGeom>
          <a:solidFill>
            <a:srgbClr val="FBECEC"/>
          </a:solidFill>
          <a:ln/>
        </p:spPr>
      </p:sp>
      <p:sp>
        <p:nvSpPr>
          <p:cNvPr id="19" name="Text 17"/>
          <p:cNvSpPr txBox="1"/>
          <p:nvPr/>
        </p:nvSpPr>
        <p:spPr>
          <a:xfrm>
            <a:off x="704088" y="5789473"/>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lympha (L) (lenf): </a:t>
            </a:r>
            <a:r>
              <a:rPr lang="en-US" sz="1300" dirty="0">
                <a:solidFill>
                  <a:srgbClr val="1F2937"/>
                </a:solidFill>
                <a:latin typeface="Calibri" pitchFamily="34" charset="0"/>
                <a:ea typeface="Calibri" pitchFamily="34" charset="-122"/>
                <a:cs typeface="Calibri" pitchFamily="34" charset="-120"/>
              </a:rPr>
              <a:t>Ak kan. Doku sıvısına lenfositlerin karışmasıyla oluşan sıvı. Venöz kana akıtılır.</a:t>
            </a:r>
            <a:endParaRPr lang="en-US" sz="1300" dirty="0"/>
          </a:p>
        </p:txBody>
      </p:sp>
      <p:sp>
        <p:nvSpPr>
          <p:cNvPr id="20" name="Shape 18"/>
          <p:cNvSpPr/>
          <p:nvPr/>
        </p:nvSpPr>
        <p:spPr>
          <a:xfrm>
            <a:off x="6233008" y="3784092"/>
            <a:ext cx="5410048" cy="391617"/>
          </a:xfrm>
          <a:prstGeom prst="roundRect">
            <a:avLst>
              <a:gd name="adj" fmla="val 16345"/>
            </a:avLst>
          </a:prstGeom>
          <a:solidFill>
            <a:srgbClr val="FBECEC"/>
          </a:solidFill>
          <a:ln/>
        </p:spPr>
      </p:sp>
      <p:sp>
        <p:nvSpPr>
          <p:cNvPr id="21" name="Text 19"/>
          <p:cNvSpPr txBox="1"/>
          <p:nvPr/>
        </p:nvSpPr>
        <p:spPr>
          <a:xfrm>
            <a:off x="6388456" y="3857244"/>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nodus llymphaticus (L) (nodus lemfaticus): </a:t>
            </a:r>
            <a:r>
              <a:rPr lang="en-US" sz="1300" dirty="0">
                <a:solidFill>
                  <a:srgbClr val="1F2937"/>
                </a:solidFill>
                <a:latin typeface="Calibri" pitchFamily="34" charset="0"/>
                <a:ea typeface="Calibri" pitchFamily="34" charset="-122"/>
                <a:cs typeface="Calibri" pitchFamily="34" charset="-120"/>
              </a:rPr>
              <a:t>Lenf düğümleri</a:t>
            </a:r>
            <a:endParaRPr lang="en-US" sz="1300" dirty="0"/>
          </a:p>
        </p:txBody>
      </p:sp>
      <p:sp>
        <p:nvSpPr>
          <p:cNvPr id="22" name="Shape 20"/>
          <p:cNvSpPr/>
          <p:nvPr/>
        </p:nvSpPr>
        <p:spPr>
          <a:xfrm>
            <a:off x="6233008" y="4267149"/>
            <a:ext cx="5410048" cy="391617"/>
          </a:xfrm>
          <a:prstGeom prst="roundRect">
            <a:avLst>
              <a:gd name="adj" fmla="val 16345"/>
            </a:avLst>
          </a:prstGeom>
          <a:solidFill>
            <a:srgbClr val="FBECEC"/>
          </a:solidFill>
          <a:ln/>
        </p:spPr>
      </p:sp>
      <p:sp>
        <p:nvSpPr>
          <p:cNvPr id="23" name="Text 21"/>
          <p:cNvSpPr txBox="1"/>
          <p:nvPr/>
        </p:nvSpPr>
        <p:spPr>
          <a:xfrm>
            <a:off x="6388456" y="4340301"/>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lymphonodus (G) (lemfonodus): </a:t>
            </a:r>
            <a:r>
              <a:rPr lang="en-US" sz="1300" dirty="0">
                <a:solidFill>
                  <a:srgbClr val="1F2937"/>
                </a:solidFill>
                <a:latin typeface="Calibri" pitchFamily="34" charset="0"/>
                <a:ea typeface="Calibri" pitchFamily="34" charset="-122"/>
                <a:cs typeface="Calibri" pitchFamily="34" charset="-120"/>
              </a:rPr>
              <a:t>Lenf düğümü</a:t>
            </a:r>
            <a:endParaRPr lang="en-US" sz="1300" dirty="0"/>
          </a:p>
        </p:txBody>
      </p:sp>
      <p:sp>
        <p:nvSpPr>
          <p:cNvPr id="24" name="Shape 22"/>
          <p:cNvSpPr/>
          <p:nvPr/>
        </p:nvSpPr>
        <p:spPr>
          <a:xfrm>
            <a:off x="6233008" y="4750206"/>
            <a:ext cx="5410048" cy="391617"/>
          </a:xfrm>
          <a:prstGeom prst="roundRect">
            <a:avLst>
              <a:gd name="adj" fmla="val 16345"/>
            </a:avLst>
          </a:prstGeom>
          <a:solidFill>
            <a:srgbClr val="FBECEC"/>
          </a:solidFill>
          <a:ln/>
        </p:spPr>
      </p:sp>
      <p:sp>
        <p:nvSpPr>
          <p:cNvPr id="25" name="Text 23"/>
          <p:cNvSpPr txBox="1"/>
          <p:nvPr/>
        </p:nvSpPr>
        <p:spPr>
          <a:xfrm>
            <a:off x="6388456" y="4823358"/>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thymus (L) (timüs): </a:t>
            </a:r>
            <a:r>
              <a:rPr lang="en-US" sz="1300" dirty="0">
                <a:solidFill>
                  <a:srgbClr val="1F2937"/>
                </a:solidFill>
                <a:latin typeface="Calibri" pitchFamily="34" charset="0"/>
                <a:ea typeface="Calibri" pitchFamily="34" charset="-122"/>
                <a:cs typeface="Calibri" pitchFamily="34" charset="-120"/>
              </a:rPr>
              <a:t>Timus bezi</a:t>
            </a:r>
            <a:endParaRPr lang="en-US" sz="1300" dirty="0"/>
          </a:p>
        </p:txBody>
      </p:sp>
      <p:sp>
        <p:nvSpPr>
          <p:cNvPr id="26" name="Shape 24"/>
          <p:cNvSpPr/>
          <p:nvPr/>
        </p:nvSpPr>
        <p:spPr>
          <a:xfrm>
            <a:off x="6233008" y="5233264"/>
            <a:ext cx="5410048" cy="391617"/>
          </a:xfrm>
          <a:prstGeom prst="roundRect">
            <a:avLst>
              <a:gd name="adj" fmla="val 16345"/>
            </a:avLst>
          </a:prstGeom>
          <a:solidFill>
            <a:srgbClr val="FBECEC"/>
          </a:solidFill>
          <a:ln/>
        </p:spPr>
      </p:sp>
      <p:sp>
        <p:nvSpPr>
          <p:cNvPr id="27" name="Text 25"/>
          <p:cNvSpPr txBox="1"/>
          <p:nvPr/>
        </p:nvSpPr>
        <p:spPr>
          <a:xfrm>
            <a:off x="6388456" y="5306416"/>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91C1C"/>
                </a:solidFill>
                <a:latin typeface="Calibri" pitchFamily="34" charset="0"/>
                <a:ea typeface="Calibri" pitchFamily="34" charset="-122"/>
                <a:cs typeface="Calibri" pitchFamily="34" charset="-120"/>
              </a:rPr>
              <a:t>tonsilla (G): </a:t>
            </a:r>
            <a:r>
              <a:rPr lang="en-US" sz="1300" dirty="0">
                <a:solidFill>
                  <a:srgbClr val="1F2937"/>
                </a:solidFill>
                <a:latin typeface="Calibri" pitchFamily="34" charset="0"/>
                <a:ea typeface="Calibri" pitchFamily="34" charset="-122"/>
                <a:cs typeface="Calibri" pitchFamily="34" charset="-120"/>
              </a:rPr>
              <a:t>Bademcik</a:t>
            </a:r>
            <a:endParaRPr lang="en-US" sz="13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Shape 0"/>
          <p:cNvSpPr/>
          <p:nvPr/>
        </p:nvSpPr>
        <p:spPr>
          <a:xfrm>
            <a:off x="548640" y="384048"/>
            <a:ext cx="3657600" cy="310896"/>
          </a:xfrm>
          <a:prstGeom prst="roundRect">
            <a:avLst>
              <a:gd name="adj" fmla="val 50000"/>
            </a:avLst>
          </a:prstGeom>
          <a:solidFill>
            <a:srgbClr val="FBECEC"/>
          </a:solidFill>
          <a:ln/>
        </p:spPr>
      </p:sp>
      <p:sp>
        <p:nvSpPr>
          <p:cNvPr id="3" name="Text 1"/>
          <p:cNvSpPr txBox="1"/>
          <p:nvPr/>
        </p:nvSpPr>
        <p:spPr>
          <a:xfrm>
            <a:off x="694944" y="384048"/>
            <a:ext cx="338328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5.b. Semptom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182</a:t>
            </a:r>
            <a:endParaRPr lang="en-US" sz="1000" dirty="0"/>
          </a:p>
        </p:txBody>
      </p:sp>
      <p:sp>
        <p:nvSpPr>
          <p:cNvPr id="6" name="Shape 4"/>
          <p:cNvSpPr/>
          <p:nvPr/>
        </p:nvSpPr>
        <p:spPr>
          <a:xfrm>
            <a:off x="548640" y="1589532"/>
            <a:ext cx="5410048" cy="451866"/>
          </a:xfrm>
          <a:prstGeom prst="roundRect">
            <a:avLst>
              <a:gd name="adj" fmla="val 14165"/>
            </a:avLst>
          </a:prstGeom>
          <a:solidFill>
            <a:srgbClr val="FBECEC"/>
          </a:solidFill>
          <a:ln/>
        </p:spPr>
      </p:sp>
      <p:sp>
        <p:nvSpPr>
          <p:cNvPr id="7" name="Text 5"/>
          <p:cNvSpPr txBox="1"/>
          <p:nvPr/>
        </p:nvSpPr>
        <p:spPr>
          <a:xfrm>
            <a:off x="704088"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hemolysis (G) (hemoliz): </a:t>
            </a:r>
            <a:r>
              <a:rPr lang="en-US" sz="1500" dirty="0">
                <a:solidFill>
                  <a:srgbClr val="1F2937"/>
                </a:solidFill>
                <a:latin typeface="Calibri" pitchFamily="34" charset="0"/>
                <a:ea typeface="Calibri" pitchFamily="34" charset="-122"/>
                <a:cs typeface="Calibri" pitchFamily="34" charset="-120"/>
              </a:rPr>
              <a:t>Ertrositlerin parçalanması</a:t>
            </a:r>
            <a:endParaRPr lang="en-US" sz="1500" dirty="0"/>
          </a:p>
        </p:txBody>
      </p:sp>
      <p:sp>
        <p:nvSpPr>
          <p:cNvPr id="8" name="Shape 6"/>
          <p:cNvSpPr/>
          <p:nvPr/>
        </p:nvSpPr>
        <p:spPr>
          <a:xfrm>
            <a:off x="548640" y="2132838"/>
            <a:ext cx="5410048" cy="451866"/>
          </a:xfrm>
          <a:prstGeom prst="roundRect">
            <a:avLst>
              <a:gd name="adj" fmla="val 14165"/>
            </a:avLst>
          </a:prstGeom>
          <a:solidFill>
            <a:srgbClr val="FBECEC"/>
          </a:solidFill>
          <a:ln/>
        </p:spPr>
      </p:sp>
      <p:sp>
        <p:nvSpPr>
          <p:cNvPr id="9" name="Text 7"/>
          <p:cNvSpPr txBox="1"/>
          <p:nvPr/>
        </p:nvSpPr>
        <p:spPr>
          <a:xfrm>
            <a:off x="704088"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icterus (L) (ikter): </a:t>
            </a:r>
            <a:r>
              <a:rPr lang="en-US" sz="1500" dirty="0">
                <a:solidFill>
                  <a:srgbClr val="1F2937"/>
                </a:solidFill>
                <a:latin typeface="Calibri" pitchFamily="34" charset="0"/>
                <a:ea typeface="Calibri" pitchFamily="34" charset="-122"/>
                <a:cs typeface="Calibri" pitchFamily="34" charset="-120"/>
              </a:rPr>
              <a:t>Sarılık</a:t>
            </a:r>
            <a:endParaRPr lang="en-US" sz="1500" dirty="0"/>
          </a:p>
        </p:txBody>
      </p:sp>
      <p:sp>
        <p:nvSpPr>
          <p:cNvPr id="10" name="Shape 8"/>
          <p:cNvSpPr/>
          <p:nvPr/>
        </p:nvSpPr>
        <p:spPr>
          <a:xfrm>
            <a:off x="548640" y="2676144"/>
            <a:ext cx="5410048" cy="684276"/>
          </a:xfrm>
          <a:prstGeom prst="roundRect">
            <a:avLst>
              <a:gd name="adj" fmla="val 9354"/>
            </a:avLst>
          </a:prstGeom>
          <a:solidFill>
            <a:srgbClr val="FBECEC"/>
          </a:solidFill>
          <a:ln/>
        </p:spPr>
      </p:sp>
      <p:sp>
        <p:nvSpPr>
          <p:cNvPr id="11" name="Text 9"/>
          <p:cNvSpPr txBox="1"/>
          <p:nvPr/>
        </p:nvSpPr>
        <p:spPr>
          <a:xfrm>
            <a:off x="704088"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erythropenia (G) (eritropeni): </a:t>
            </a:r>
            <a:r>
              <a:rPr lang="en-US" sz="1500" dirty="0">
                <a:solidFill>
                  <a:srgbClr val="1F2937"/>
                </a:solidFill>
                <a:latin typeface="Calibri" pitchFamily="34" charset="0"/>
                <a:ea typeface="Calibri" pitchFamily="34" charset="-122"/>
                <a:cs typeface="Calibri" pitchFamily="34" charset="-120"/>
              </a:rPr>
              <a:t>Kanda alyuvar sayısının azalması</a:t>
            </a:r>
            <a:endParaRPr lang="en-US" sz="1500" dirty="0"/>
          </a:p>
        </p:txBody>
      </p:sp>
      <p:sp>
        <p:nvSpPr>
          <p:cNvPr id="12" name="Shape 10"/>
          <p:cNvSpPr/>
          <p:nvPr/>
        </p:nvSpPr>
        <p:spPr>
          <a:xfrm>
            <a:off x="548640" y="3451860"/>
            <a:ext cx="5410048" cy="684276"/>
          </a:xfrm>
          <a:prstGeom prst="roundRect">
            <a:avLst>
              <a:gd name="adj" fmla="val 9354"/>
            </a:avLst>
          </a:prstGeom>
          <a:solidFill>
            <a:srgbClr val="FBECEC"/>
          </a:solidFill>
          <a:ln/>
        </p:spPr>
      </p:sp>
      <p:sp>
        <p:nvSpPr>
          <p:cNvPr id="13" name="Text 11"/>
          <p:cNvSpPr txBox="1"/>
          <p:nvPr/>
        </p:nvSpPr>
        <p:spPr>
          <a:xfrm>
            <a:off x="704088" y="352501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erythrocytosis (G) (eritrositos): </a:t>
            </a:r>
            <a:r>
              <a:rPr lang="en-US" sz="1500" dirty="0">
                <a:solidFill>
                  <a:srgbClr val="1F2937"/>
                </a:solidFill>
                <a:latin typeface="Calibri" pitchFamily="34" charset="0"/>
                <a:ea typeface="Calibri" pitchFamily="34" charset="-122"/>
                <a:cs typeface="Calibri" pitchFamily="34" charset="-120"/>
              </a:rPr>
              <a:t>Kanda alyuvar sayısının artması</a:t>
            </a:r>
            <a:endParaRPr lang="en-US" sz="1500" dirty="0"/>
          </a:p>
        </p:txBody>
      </p:sp>
      <p:sp>
        <p:nvSpPr>
          <p:cNvPr id="14" name="Shape 12"/>
          <p:cNvSpPr/>
          <p:nvPr/>
        </p:nvSpPr>
        <p:spPr>
          <a:xfrm>
            <a:off x="548640" y="4227576"/>
            <a:ext cx="5410048" cy="451866"/>
          </a:xfrm>
          <a:prstGeom prst="roundRect">
            <a:avLst>
              <a:gd name="adj" fmla="val 14165"/>
            </a:avLst>
          </a:prstGeom>
          <a:solidFill>
            <a:srgbClr val="FBECEC"/>
          </a:solidFill>
          <a:ln/>
        </p:spPr>
      </p:sp>
      <p:sp>
        <p:nvSpPr>
          <p:cNvPr id="15" name="Text 13"/>
          <p:cNvSpPr txBox="1"/>
          <p:nvPr/>
        </p:nvSpPr>
        <p:spPr>
          <a:xfrm>
            <a:off x="704088" y="430072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leukopenia (G) (lökopeni): </a:t>
            </a:r>
            <a:r>
              <a:rPr lang="en-US" sz="1500" dirty="0">
                <a:solidFill>
                  <a:srgbClr val="1F2937"/>
                </a:solidFill>
                <a:latin typeface="Calibri" pitchFamily="34" charset="0"/>
                <a:ea typeface="Calibri" pitchFamily="34" charset="-122"/>
                <a:cs typeface="Calibri" pitchFamily="34" charset="-120"/>
              </a:rPr>
              <a:t>Akyuvar azlığı</a:t>
            </a:r>
            <a:endParaRPr lang="en-US" sz="1500" dirty="0"/>
          </a:p>
        </p:txBody>
      </p:sp>
      <p:sp>
        <p:nvSpPr>
          <p:cNvPr id="16" name="Shape 14"/>
          <p:cNvSpPr/>
          <p:nvPr/>
        </p:nvSpPr>
        <p:spPr>
          <a:xfrm>
            <a:off x="548640" y="4770882"/>
            <a:ext cx="5410048" cy="451866"/>
          </a:xfrm>
          <a:prstGeom prst="roundRect">
            <a:avLst>
              <a:gd name="adj" fmla="val 14165"/>
            </a:avLst>
          </a:prstGeom>
          <a:solidFill>
            <a:srgbClr val="FBECEC"/>
          </a:solidFill>
          <a:ln/>
        </p:spPr>
      </p:sp>
      <p:sp>
        <p:nvSpPr>
          <p:cNvPr id="17" name="Text 15"/>
          <p:cNvSpPr txBox="1"/>
          <p:nvPr/>
        </p:nvSpPr>
        <p:spPr>
          <a:xfrm>
            <a:off x="704088"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leukocytosis (G) (lökositoz): </a:t>
            </a:r>
            <a:r>
              <a:rPr lang="en-US" sz="1500" dirty="0">
                <a:solidFill>
                  <a:srgbClr val="1F2937"/>
                </a:solidFill>
                <a:latin typeface="Calibri" pitchFamily="34" charset="0"/>
                <a:ea typeface="Calibri" pitchFamily="34" charset="-122"/>
                <a:cs typeface="Calibri" pitchFamily="34" charset="-120"/>
              </a:rPr>
              <a:t>Akyuvarların artması</a:t>
            </a:r>
            <a:endParaRPr lang="en-US" sz="1500" dirty="0"/>
          </a:p>
        </p:txBody>
      </p:sp>
      <p:sp>
        <p:nvSpPr>
          <p:cNvPr id="18" name="Shape 16"/>
          <p:cNvSpPr/>
          <p:nvPr/>
        </p:nvSpPr>
        <p:spPr>
          <a:xfrm>
            <a:off x="548640" y="5314188"/>
            <a:ext cx="5410048" cy="451866"/>
          </a:xfrm>
          <a:prstGeom prst="roundRect">
            <a:avLst>
              <a:gd name="adj" fmla="val 14165"/>
            </a:avLst>
          </a:prstGeom>
          <a:solidFill>
            <a:srgbClr val="FBECEC"/>
          </a:solidFill>
          <a:ln/>
        </p:spPr>
      </p:sp>
      <p:sp>
        <p:nvSpPr>
          <p:cNvPr id="19" name="Text 17"/>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granulocytopenia (granulocytopeni): </a:t>
            </a:r>
            <a:r>
              <a:rPr lang="en-US" sz="1500" dirty="0">
                <a:solidFill>
                  <a:srgbClr val="1F2937"/>
                </a:solidFill>
                <a:latin typeface="Calibri" pitchFamily="34" charset="0"/>
                <a:ea typeface="Calibri" pitchFamily="34" charset="-122"/>
                <a:cs typeface="Calibri" pitchFamily="34" charset="-120"/>
              </a:rPr>
              <a:t>Granulosit azlığı</a:t>
            </a:r>
            <a:endParaRPr lang="en-US" sz="1500" dirty="0"/>
          </a:p>
        </p:txBody>
      </p:sp>
      <p:sp>
        <p:nvSpPr>
          <p:cNvPr id="20" name="Shape 18"/>
          <p:cNvSpPr/>
          <p:nvPr/>
        </p:nvSpPr>
        <p:spPr>
          <a:xfrm>
            <a:off x="548640" y="5857494"/>
            <a:ext cx="5410048" cy="451866"/>
          </a:xfrm>
          <a:prstGeom prst="roundRect">
            <a:avLst>
              <a:gd name="adj" fmla="val 14165"/>
            </a:avLst>
          </a:prstGeom>
          <a:solidFill>
            <a:srgbClr val="FBECEC"/>
          </a:solidFill>
          <a:ln/>
        </p:spPr>
      </p:sp>
      <p:sp>
        <p:nvSpPr>
          <p:cNvPr id="21" name="Text 19"/>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thrombocytopenia (G) (trombositopeni): </a:t>
            </a:r>
            <a:r>
              <a:rPr lang="en-US" sz="1500" dirty="0">
                <a:solidFill>
                  <a:srgbClr val="1F2937"/>
                </a:solidFill>
                <a:latin typeface="Calibri" pitchFamily="34" charset="0"/>
                <a:ea typeface="Calibri" pitchFamily="34" charset="-122"/>
                <a:cs typeface="Calibri" pitchFamily="34" charset="-120"/>
              </a:rPr>
              <a:t>Trombosit azlığı</a:t>
            </a:r>
            <a:endParaRPr lang="en-US" sz="1500" dirty="0"/>
          </a:p>
        </p:txBody>
      </p:sp>
      <p:sp>
        <p:nvSpPr>
          <p:cNvPr id="22" name="Shape 20"/>
          <p:cNvSpPr/>
          <p:nvPr/>
        </p:nvSpPr>
        <p:spPr>
          <a:xfrm>
            <a:off x="6233008" y="1589532"/>
            <a:ext cx="5410048" cy="451866"/>
          </a:xfrm>
          <a:prstGeom prst="roundRect">
            <a:avLst>
              <a:gd name="adj" fmla="val 14165"/>
            </a:avLst>
          </a:prstGeom>
          <a:solidFill>
            <a:srgbClr val="FBECEC"/>
          </a:solidFill>
          <a:ln/>
        </p:spPr>
      </p:sp>
      <p:sp>
        <p:nvSpPr>
          <p:cNvPr id="23" name="Text 21"/>
          <p:cNvSpPr txBox="1"/>
          <p:nvPr/>
        </p:nvSpPr>
        <p:spPr>
          <a:xfrm>
            <a:off x="6388456"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lymphocytopenia (lenfositopeni): </a:t>
            </a:r>
            <a:r>
              <a:rPr lang="en-US" sz="1500" dirty="0">
                <a:solidFill>
                  <a:srgbClr val="1F2937"/>
                </a:solidFill>
                <a:latin typeface="Calibri" pitchFamily="34" charset="0"/>
                <a:ea typeface="Calibri" pitchFamily="34" charset="-122"/>
                <a:cs typeface="Calibri" pitchFamily="34" charset="-120"/>
              </a:rPr>
              <a:t>Lenfosit azlığı</a:t>
            </a:r>
            <a:endParaRPr lang="en-US" sz="1500" dirty="0"/>
          </a:p>
        </p:txBody>
      </p:sp>
      <p:sp>
        <p:nvSpPr>
          <p:cNvPr id="24" name="Shape 22"/>
          <p:cNvSpPr/>
          <p:nvPr/>
        </p:nvSpPr>
        <p:spPr>
          <a:xfrm>
            <a:off x="6233008" y="2132838"/>
            <a:ext cx="5410048" cy="451866"/>
          </a:xfrm>
          <a:prstGeom prst="roundRect">
            <a:avLst>
              <a:gd name="adj" fmla="val 14165"/>
            </a:avLst>
          </a:prstGeom>
          <a:solidFill>
            <a:srgbClr val="FBECEC"/>
          </a:solidFill>
          <a:ln/>
        </p:spPr>
      </p:sp>
      <p:sp>
        <p:nvSpPr>
          <p:cNvPr id="25" name="Text 23"/>
          <p:cNvSpPr txBox="1"/>
          <p:nvPr/>
        </p:nvSpPr>
        <p:spPr>
          <a:xfrm>
            <a:off x="6388456"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lymphocytosis (lenfositoz): </a:t>
            </a:r>
            <a:r>
              <a:rPr lang="en-US" sz="1500" dirty="0">
                <a:solidFill>
                  <a:srgbClr val="1F2937"/>
                </a:solidFill>
                <a:latin typeface="Calibri" pitchFamily="34" charset="0"/>
                <a:ea typeface="Calibri" pitchFamily="34" charset="-122"/>
                <a:cs typeface="Calibri" pitchFamily="34" charset="-120"/>
              </a:rPr>
              <a:t>Lenfositlerin artması</a:t>
            </a:r>
            <a:endParaRPr lang="en-US" sz="1500" dirty="0"/>
          </a:p>
        </p:txBody>
      </p:sp>
      <p:sp>
        <p:nvSpPr>
          <p:cNvPr id="26" name="Shape 24"/>
          <p:cNvSpPr/>
          <p:nvPr/>
        </p:nvSpPr>
        <p:spPr>
          <a:xfrm>
            <a:off x="6233008" y="2676144"/>
            <a:ext cx="5410048" cy="684276"/>
          </a:xfrm>
          <a:prstGeom prst="roundRect">
            <a:avLst>
              <a:gd name="adj" fmla="val 9354"/>
            </a:avLst>
          </a:prstGeom>
          <a:solidFill>
            <a:srgbClr val="FBECEC"/>
          </a:solidFill>
          <a:ln/>
        </p:spPr>
      </p:sp>
      <p:sp>
        <p:nvSpPr>
          <p:cNvPr id="27" name="Text 25"/>
          <p:cNvSpPr txBox="1"/>
          <p:nvPr/>
        </p:nvSpPr>
        <p:spPr>
          <a:xfrm>
            <a:off x="6388456"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anoxemia (G) (anoksemi): </a:t>
            </a:r>
            <a:r>
              <a:rPr lang="en-US" sz="1500" dirty="0">
                <a:solidFill>
                  <a:srgbClr val="1F2937"/>
                </a:solidFill>
                <a:latin typeface="Calibri" pitchFamily="34" charset="0"/>
                <a:ea typeface="Calibri" pitchFamily="34" charset="-122"/>
                <a:cs typeface="Calibri" pitchFamily="34" charset="-120"/>
              </a:rPr>
              <a:t>Kanda yeterince oksijenin bulunmaması, oksiyen azlığı</a:t>
            </a:r>
            <a:endParaRPr lang="en-US" sz="1500" dirty="0"/>
          </a:p>
        </p:txBody>
      </p:sp>
      <p:sp>
        <p:nvSpPr>
          <p:cNvPr id="28" name="Shape 26"/>
          <p:cNvSpPr/>
          <p:nvPr/>
        </p:nvSpPr>
        <p:spPr>
          <a:xfrm>
            <a:off x="6233008" y="3451860"/>
            <a:ext cx="5410048" cy="684276"/>
          </a:xfrm>
          <a:prstGeom prst="roundRect">
            <a:avLst>
              <a:gd name="adj" fmla="val 9354"/>
            </a:avLst>
          </a:prstGeom>
          <a:solidFill>
            <a:srgbClr val="FBECEC"/>
          </a:solidFill>
          <a:ln/>
        </p:spPr>
      </p:sp>
      <p:sp>
        <p:nvSpPr>
          <p:cNvPr id="29" name="Text 27"/>
          <p:cNvSpPr txBox="1"/>
          <p:nvPr/>
        </p:nvSpPr>
        <p:spPr>
          <a:xfrm>
            <a:off x="6388456" y="352501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hemorrhagia (G) (hemoraji): </a:t>
            </a:r>
            <a:r>
              <a:rPr lang="en-US" sz="1500" dirty="0">
                <a:solidFill>
                  <a:srgbClr val="1F2937"/>
                </a:solidFill>
                <a:latin typeface="Calibri" pitchFamily="34" charset="0"/>
                <a:ea typeface="Calibri" pitchFamily="34" charset="-122"/>
                <a:cs typeface="Calibri" pitchFamily="34" charset="-120"/>
              </a:rPr>
              <a:t>Kanama. Herhangi bir damarın yırtılması sonucu oluşan iç veya dış kanama</a:t>
            </a:r>
            <a:endParaRPr lang="en-US" sz="1500" dirty="0"/>
          </a:p>
        </p:txBody>
      </p:sp>
      <p:sp>
        <p:nvSpPr>
          <p:cNvPr id="30" name="Shape 28"/>
          <p:cNvSpPr/>
          <p:nvPr/>
        </p:nvSpPr>
        <p:spPr>
          <a:xfrm>
            <a:off x="6233008" y="4227576"/>
            <a:ext cx="5410048" cy="451866"/>
          </a:xfrm>
          <a:prstGeom prst="roundRect">
            <a:avLst>
              <a:gd name="adj" fmla="val 14165"/>
            </a:avLst>
          </a:prstGeom>
          <a:solidFill>
            <a:srgbClr val="FBECEC"/>
          </a:solidFill>
          <a:ln/>
        </p:spPr>
      </p:sp>
      <p:sp>
        <p:nvSpPr>
          <p:cNvPr id="31" name="Text 29"/>
          <p:cNvSpPr txBox="1"/>
          <p:nvPr/>
        </p:nvSpPr>
        <p:spPr>
          <a:xfrm>
            <a:off x="6388456" y="430072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geophagia (G) (jeofaji): </a:t>
            </a:r>
            <a:r>
              <a:rPr lang="en-US" sz="1500" dirty="0">
                <a:solidFill>
                  <a:srgbClr val="1F2937"/>
                </a:solidFill>
                <a:latin typeface="Calibri" pitchFamily="34" charset="0"/>
                <a:ea typeface="Calibri" pitchFamily="34" charset="-122"/>
                <a:cs typeface="Calibri" pitchFamily="34" charset="-120"/>
              </a:rPr>
              <a:t>Toprak yeme</a:t>
            </a:r>
            <a:endParaRPr lang="en-US" sz="15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Shape 0"/>
          <p:cNvSpPr/>
          <p:nvPr/>
        </p:nvSpPr>
        <p:spPr>
          <a:xfrm>
            <a:off x="548640" y="384048"/>
            <a:ext cx="3657600" cy="310896"/>
          </a:xfrm>
          <a:prstGeom prst="roundRect">
            <a:avLst>
              <a:gd name="adj" fmla="val 50000"/>
            </a:avLst>
          </a:prstGeom>
          <a:solidFill>
            <a:srgbClr val="FBECEC"/>
          </a:solidFill>
          <a:ln/>
        </p:spPr>
      </p:sp>
      <p:sp>
        <p:nvSpPr>
          <p:cNvPr id="3" name="Text 1"/>
          <p:cNvSpPr txBox="1"/>
          <p:nvPr/>
        </p:nvSpPr>
        <p:spPr>
          <a:xfrm>
            <a:off x="694944" y="384048"/>
            <a:ext cx="338328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183</a:t>
            </a:r>
            <a:endParaRPr lang="en-US" sz="1000" dirty="0"/>
          </a:p>
        </p:txBody>
      </p:sp>
      <p:sp>
        <p:nvSpPr>
          <p:cNvPr id="6" name="Shape 4"/>
          <p:cNvSpPr/>
          <p:nvPr/>
        </p:nvSpPr>
        <p:spPr>
          <a:xfrm>
            <a:off x="548640" y="1861515"/>
            <a:ext cx="11094415" cy="421742"/>
          </a:xfrm>
          <a:prstGeom prst="roundRect">
            <a:avLst>
              <a:gd name="adj" fmla="val 15177"/>
            </a:avLst>
          </a:prstGeom>
          <a:solidFill>
            <a:srgbClr val="FBECEC"/>
          </a:solidFill>
          <a:ln/>
        </p:spPr>
      </p:sp>
      <p:sp>
        <p:nvSpPr>
          <p:cNvPr id="7" name="Text 5"/>
          <p:cNvSpPr txBox="1"/>
          <p:nvPr/>
        </p:nvSpPr>
        <p:spPr>
          <a:xfrm>
            <a:off x="704088" y="193466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septicemia (septisemi): </a:t>
            </a:r>
            <a:r>
              <a:rPr lang="en-US" sz="1400" dirty="0">
                <a:solidFill>
                  <a:srgbClr val="1F2937"/>
                </a:solidFill>
                <a:latin typeface="Calibri" pitchFamily="34" charset="0"/>
                <a:ea typeface="Calibri" pitchFamily="34" charset="-122"/>
                <a:cs typeface="Calibri" pitchFamily="34" charset="-120"/>
              </a:rPr>
              <a:t>Bakteri veya bakteri toksinlerinin kana geçmesi sonucu oluşan ateş ve titreme ile belirgin durum.</a:t>
            </a:r>
            <a:endParaRPr lang="en-US" sz="1400" dirty="0"/>
          </a:p>
        </p:txBody>
      </p:sp>
      <p:sp>
        <p:nvSpPr>
          <p:cNvPr id="8" name="Shape 6"/>
          <p:cNvSpPr/>
          <p:nvPr/>
        </p:nvSpPr>
        <p:spPr>
          <a:xfrm>
            <a:off x="548640" y="2374697"/>
            <a:ext cx="11094415" cy="638658"/>
          </a:xfrm>
          <a:prstGeom prst="roundRect">
            <a:avLst>
              <a:gd name="adj" fmla="val 10022"/>
            </a:avLst>
          </a:prstGeom>
          <a:solidFill>
            <a:srgbClr val="FBECEC"/>
          </a:solidFill>
          <a:ln/>
        </p:spPr>
      </p:sp>
      <p:sp>
        <p:nvSpPr>
          <p:cNvPr id="9" name="Text 7"/>
          <p:cNvSpPr txBox="1"/>
          <p:nvPr/>
        </p:nvSpPr>
        <p:spPr>
          <a:xfrm>
            <a:off x="704088" y="2447849"/>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leukemia (G) (lösemi): </a:t>
            </a:r>
            <a:r>
              <a:rPr lang="en-US" sz="1400" dirty="0">
                <a:solidFill>
                  <a:srgbClr val="1F2937"/>
                </a:solidFill>
                <a:latin typeface="Calibri" pitchFamily="34" charset="0"/>
                <a:ea typeface="Calibri" pitchFamily="34" charset="-122"/>
                <a:cs typeface="Calibri" pitchFamily="34" charset="-120"/>
              </a:rPr>
              <a:t>Kan yapan dokuların ve öncelikler lökosit serisinin öncül hücrelerinin genel bir neoplastik (sınırsız çoğalma) hastalığıdır.</a:t>
            </a:r>
            <a:endParaRPr lang="en-US" sz="1400" dirty="0"/>
          </a:p>
        </p:txBody>
      </p:sp>
      <p:sp>
        <p:nvSpPr>
          <p:cNvPr id="10" name="Shape 8"/>
          <p:cNvSpPr/>
          <p:nvPr/>
        </p:nvSpPr>
        <p:spPr>
          <a:xfrm>
            <a:off x="548640" y="3104794"/>
            <a:ext cx="11094415" cy="421742"/>
          </a:xfrm>
          <a:prstGeom prst="roundRect">
            <a:avLst>
              <a:gd name="adj" fmla="val 15177"/>
            </a:avLst>
          </a:prstGeom>
          <a:solidFill>
            <a:srgbClr val="FBECEC"/>
          </a:solidFill>
          <a:ln/>
        </p:spPr>
      </p:sp>
      <p:sp>
        <p:nvSpPr>
          <p:cNvPr id="11" name="Text 9"/>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thrombasthenia (G) (trombasteni): </a:t>
            </a:r>
            <a:r>
              <a:rPr lang="en-US" sz="1400" dirty="0">
                <a:solidFill>
                  <a:srgbClr val="1F2937"/>
                </a:solidFill>
                <a:latin typeface="Calibri" pitchFamily="34" charset="0"/>
                <a:ea typeface="Calibri" pitchFamily="34" charset="-122"/>
                <a:cs typeface="Calibri" pitchFamily="34" charset="-120"/>
              </a:rPr>
              <a:t>Trombosit işlev bozukluğu</a:t>
            </a:r>
            <a:endParaRPr lang="en-US" sz="1400" dirty="0"/>
          </a:p>
        </p:txBody>
      </p:sp>
      <p:sp>
        <p:nvSpPr>
          <p:cNvPr id="12" name="Shape 10"/>
          <p:cNvSpPr/>
          <p:nvPr/>
        </p:nvSpPr>
        <p:spPr>
          <a:xfrm>
            <a:off x="548640" y="3617976"/>
            <a:ext cx="11094415" cy="638658"/>
          </a:xfrm>
          <a:prstGeom prst="roundRect">
            <a:avLst>
              <a:gd name="adj" fmla="val 10022"/>
            </a:avLst>
          </a:prstGeom>
          <a:solidFill>
            <a:srgbClr val="FBECEC"/>
          </a:solidFill>
          <a:ln/>
        </p:spPr>
      </p:sp>
      <p:sp>
        <p:nvSpPr>
          <p:cNvPr id="13" name="Text 11"/>
          <p:cNvSpPr txBox="1"/>
          <p:nvPr/>
        </p:nvSpPr>
        <p:spPr>
          <a:xfrm>
            <a:off x="704088" y="3691128"/>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hemophilia (G) (hemofili): </a:t>
            </a:r>
            <a:r>
              <a:rPr lang="en-US" sz="1400" dirty="0">
                <a:solidFill>
                  <a:srgbClr val="1F2937"/>
                </a:solidFill>
                <a:latin typeface="Calibri" pitchFamily="34" charset="0"/>
                <a:ea typeface="Calibri" pitchFamily="34" charset="-122"/>
                <a:cs typeface="Calibri" pitchFamily="34" charset="-120"/>
              </a:rPr>
              <a:t>Pıhtılaşma faktörlerinin kalıtsa olarak eksik ya da kusurlu oluşları nedeniyle oluşan kanama hastalıkları</a:t>
            </a:r>
            <a:endParaRPr lang="en-US" sz="1400" dirty="0"/>
          </a:p>
        </p:txBody>
      </p:sp>
      <p:sp>
        <p:nvSpPr>
          <p:cNvPr id="14" name="Shape 12"/>
          <p:cNvSpPr/>
          <p:nvPr/>
        </p:nvSpPr>
        <p:spPr>
          <a:xfrm>
            <a:off x="548640" y="4348074"/>
            <a:ext cx="11094415" cy="421742"/>
          </a:xfrm>
          <a:prstGeom prst="roundRect">
            <a:avLst>
              <a:gd name="adj" fmla="val 15177"/>
            </a:avLst>
          </a:prstGeom>
          <a:solidFill>
            <a:srgbClr val="FBECEC"/>
          </a:solidFill>
          <a:ln/>
        </p:spPr>
      </p:sp>
      <p:sp>
        <p:nvSpPr>
          <p:cNvPr id="15" name="Text 13"/>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thalasseima (G) (talasemi): </a:t>
            </a:r>
            <a:r>
              <a:rPr lang="en-US" sz="1400" dirty="0">
                <a:solidFill>
                  <a:srgbClr val="1F2937"/>
                </a:solidFill>
                <a:latin typeface="Calibri" pitchFamily="34" charset="0"/>
                <a:ea typeface="Calibri" pitchFamily="34" charset="-122"/>
                <a:cs typeface="Calibri" pitchFamily="34" charset="-120"/>
              </a:rPr>
              <a:t>Kusurlu hemoglobin sentezi nedeniyle ortaya çıkan ailevi anemik hastalık</a:t>
            </a:r>
            <a:endParaRPr lang="en-US" sz="1400" dirty="0"/>
          </a:p>
        </p:txBody>
      </p:sp>
      <p:sp>
        <p:nvSpPr>
          <p:cNvPr id="16" name="Shape 14"/>
          <p:cNvSpPr/>
          <p:nvPr/>
        </p:nvSpPr>
        <p:spPr>
          <a:xfrm>
            <a:off x="548640" y="4861255"/>
            <a:ext cx="11094415" cy="421742"/>
          </a:xfrm>
          <a:prstGeom prst="roundRect">
            <a:avLst>
              <a:gd name="adj" fmla="val 15177"/>
            </a:avLst>
          </a:prstGeom>
          <a:solidFill>
            <a:srgbClr val="FBECEC"/>
          </a:solidFill>
          <a:ln/>
        </p:spPr>
      </p:sp>
      <p:sp>
        <p:nvSpPr>
          <p:cNvPr id="17" name="Text 15"/>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hereditary elliptocytosis (herediter eliptositozis): </a:t>
            </a:r>
            <a:r>
              <a:rPr lang="en-US" sz="1400" dirty="0">
                <a:solidFill>
                  <a:srgbClr val="1F2937"/>
                </a:solidFill>
                <a:latin typeface="Calibri" pitchFamily="34" charset="0"/>
                <a:ea typeface="Calibri" pitchFamily="34" charset="-122"/>
                <a:cs typeface="Calibri" pitchFamily="34" charset="-120"/>
              </a:rPr>
              <a:t>Eritrosit zar bozukluğu nedeniyle gelişen doğumsal bir hastalık</a:t>
            </a:r>
            <a:endParaRPr lang="en-US" sz="1400" dirty="0"/>
          </a:p>
        </p:txBody>
      </p:sp>
      <p:sp>
        <p:nvSpPr>
          <p:cNvPr id="18" name="Shape 16"/>
          <p:cNvSpPr/>
          <p:nvPr/>
        </p:nvSpPr>
        <p:spPr>
          <a:xfrm>
            <a:off x="548640" y="5374437"/>
            <a:ext cx="11094415" cy="421742"/>
          </a:xfrm>
          <a:prstGeom prst="roundRect">
            <a:avLst>
              <a:gd name="adj" fmla="val 15177"/>
            </a:avLst>
          </a:prstGeom>
          <a:solidFill>
            <a:srgbClr val="FBECEC"/>
          </a:solidFill>
          <a:ln/>
        </p:spPr>
      </p:sp>
      <p:sp>
        <p:nvSpPr>
          <p:cNvPr id="19" name="Text 17"/>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anemia (G) (anemi): </a:t>
            </a:r>
            <a:r>
              <a:rPr lang="en-US" sz="1400" dirty="0">
                <a:solidFill>
                  <a:srgbClr val="1F2937"/>
                </a:solidFill>
                <a:latin typeface="Calibri" pitchFamily="34" charset="0"/>
                <a:ea typeface="Calibri" pitchFamily="34" charset="-122"/>
                <a:cs typeface="Calibri" pitchFamily="34" charset="-120"/>
              </a:rPr>
              <a:t>Alyuvar sayısının ve hemoglobinin normalin altına düşme durumu</a:t>
            </a:r>
            <a:endParaRPr lang="en-US" sz="1400" dirty="0"/>
          </a:p>
        </p:txBody>
      </p:sp>
      <p:sp>
        <p:nvSpPr>
          <p:cNvPr id="20" name="Shape 18"/>
          <p:cNvSpPr/>
          <p:nvPr/>
        </p:nvSpPr>
        <p:spPr>
          <a:xfrm>
            <a:off x="548640" y="5887618"/>
            <a:ext cx="11094415" cy="421742"/>
          </a:xfrm>
          <a:prstGeom prst="roundRect">
            <a:avLst>
              <a:gd name="adj" fmla="val 15177"/>
            </a:avLst>
          </a:prstGeom>
          <a:solidFill>
            <a:srgbClr val="FBECEC"/>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91C1C"/>
                </a:solidFill>
                <a:latin typeface="Calibri" pitchFamily="34" charset="0"/>
                <a:ea typeface="Calibri" pitchFamily="34" charset="-122"/>
                <a:cs typeface="Calibri" pitchFamily="34" charset="-120"/>
              </a:rPr>
              <a:t>hypochromic microcytic anemia (G) (hipokromik mikrositik anemi): </a:t>
            </a:r>
            <a:r>
              <a:rPr lang="en-US" sz="1400" dirty="0">
                <a:solidFill>
                  <a:srgbClr val="1F2937"/>
                </a:solidFill>
                <a:latin typeface="Calibri" pitchFamily="34" charset="0"/>
                <a:ea typeface="Calibri" pitchFamily="34" charset="-122"/>
                <a:cs typeface="Calibri" pitchFamily="34" charset="-120"/>
              </a:rPr>
              <a:t>Demir eksikliğine bağlı anemi</a:t>
            </a:r>
            <a:endParaRPr lang="en-US" sz="14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BECEC"/>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184</a:t>
            </a:r>
            <a:endParaRPr lang="en-US" sz="1000" dirty="0"/>
          </a:p>
        </p:txBody>
      </p:sp>
      <p:sp>
        <p:nvSpPr>
          <p:cNvPr id="6" name="Shape 4"/>
          <p:cNvSpPr/>
          <p:nvPr/>
        </p:nvSpPr>
        <p:spPr>
          <a:xfrm>
            <a:off x="548640" y="1511046"/>
            <a:ext cx="11094415" cy="451866"/>
          </a:xfrm>
          <a:prstGeom prst="roundRect">
            <a:avLst>
              <a:gd name="adj" fmla="val 14165"/>
            </a:avLst>
          </a:prstGeom>
          <a:solidFill>
            <a:srgbClr val="FBECEC"/>
          </a:solidFill>
          <a:ln/>
        </p:spPr>
      </p:sp>
      <p:sp>
        <p:nvSpPr>
          <p:cNvPr id="7" name="Text 5"/>
          <p:cNvSpPr txBox="1"/>
          <p:nvPr/>
        </p:nvSpPr>
        <p:spPr>
          <a:xfrm>
            <a:off x="704088" y="158419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megaloblastic anemia (G) (megaloblastik anemi): </a:t>
            </a:r>
            <a:r>
              <a:rPr lang="en-US" sz="1500" dirty="0">
                <a:solidFill>
                  <a:srgbClr val="1F2937"/>
                </a:solidFill>
                <a:latin typeface="Calibri" pitchFamily="34" charset="0"/>
                <a:ea typeface="Calibri" pitchFamily="34" charset="-122"/>
                <a:cs typeface="Calibri" pitchFamily="34" charset="-120"/>
              </a:rPr>
              <a:t>B₁₂ vitamini veya folikasit eksikliğine bağlı olarak oluşan anemi.</a:t>
            </a:r>
            <a:endParaRPr lang="en-US" sz="1500" dirty="0"/>
          </a:p>
        </p:txBody>
      </p:sp>
      <p:sp>
        <p:nvSpPr>
          <p:cNvPr id="8" name="Shape 6"/>
          <p:cNvSpPr/>
          <p:nvPr/>
        </p:nvSpPr>
        <p:spPr>
          <a:xfrm>
            <a:off x="548640" y="2054352"/>
            <a:ext cx="11094415" cy="451866"/>
          </a:xfrm>
          <a:prstGeom prst="roundRect">
            <a:avLst>
              <a:gd name="adj" fmla="val 14165"/>
            </a:avLst>
          </a:prstGeom>
          <a:solidFill>
            <a:srgbClr val="FBECEC"/>
          </a:solidFill>
          <a:ln/>
        </p:spPr>
      </p:sp>
      <p:sp>
        <p:nvSpPr>
          <p:cNvPr id="9" name="Text 7"/>
          <p:cNvSpPr txBox="1"/>
          <p:nvPr/>
        </p:nvSpPr>
        <p:spPr>
          <a:xfrm>
            <a:off x="704088" y="212750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hemolytic anemia (G) (hemolitik anemi): </a:t>
            </a:r>
            <a:r>
              <a:rPr lang="en-US" sz="1500" dirty="0">
                <a:solidFill>
                  <a:srgbClr val="1F2937"/>
                </a:solidFill>
                <a:latin typeface="Calibri" pitchFamily="34" charset="0"/>
                <a:ea typeface="Calibri" pitchFamily="34" charset="-122"/>
                <a:cs typeface="Calibri" pitchFamily="34" charset="-120"/>
              </a:rPr>
              <a:t>Eritrositlerin yıkılması nedeniyle ortaya çıkan anemi</a:t>
            </a:r>
            <a:endParaRPr lang="en-US" sz="1500" dirty="0"/>
          </a:p>
        </p:txBody>
      </p:sp>
      <p:sp>
        <p:nvSpPr>
          <p:cNvPr id="10" name="Shape 8"/>
          <p:cNvSpPr/>
          <p:nvPr/>
        </p:nvSpPr>
        <p:spPr>
          <a:xfrm>
            <a:off x="548640" y="2597658"/>
            <a:ext cx="11094415" cy="451866"/>
          </a:xfrm>
          <a:prstGeom prst="roundRect">
            <a:avLst>
              <a:gd name="adj" fmla="val 14165"/>
            </a:avLst>
          </a:prstGeom>
          <a:solidFill>
            <a:srgbClr val="FBECEC"/>
          </a:solidFill>
          <a:ln/>
        </p:spPr>
      </p:sp>
      <p:sp>
        <p:nvSpPr>
          <p:cNvPr id="11" name="Text 9"/>
          <p:cNvSpPr txBox="1"/>
          <p:nvPr/>
        </p:nvSpPr>
        <p:spPr>
          <a:xfrm>
            <a:off x="704088" y="267081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orak hücre anemisi: </a:t>
            </a:r>
            <a:r>
              <a:rPr lang="en-US" sz="1500" dirty="0">
                <a:solidFill>
                  <a:srgbClr val="1F2937"/>
                </a:solidFill>
                <a:latin typeface="Calibri" pitchFamily="34" charset="0"/>
                <a:ea typeface="Calibri" pitchFamily="34" charset="-122"/>
                <a:cs typeface="Calibri" pitchFamily="34" charset="-120"/>
              </a:rPr>
              <a:t>Globulin sentezindeki bir defekte bağlı olarak gelişen kalıtsal bir hastalık</a:t>
            </a:r>
            <a:endParaRPr lang="en-US" sz="1500" dirty="0"/>
          </a:p>
        </p:txBody>
      </p:sp>
      <p:sp>
        <p:nvSpPr>
          <p:cNvPr id="12" name="Shape 10"/>
          <p:cNvSpPr/>
          <p:nvPr/>
        </p:nvSpPr>
        <p:spPr>
          <a:xfrm>
            <a:off x="548640" y="3140964"/>
            <a:ext cx="11094415" cy="451866"/>
          </a:xfrm>
          <a:prstGeom prst="roundRect">
            <a:avLst>
              <a:gd name="adj" fmla="val 14165"/>
            </a:avLst>
          </a:prstGeom>
          <a:solidFill>
            <a:srgbClr val="FBECEC"/>
          </a:solidFill>
          <a:ln/>
        </p:spPr>
      </p:sp>
      <p:sp>
        <p:nvSpPr>
          <p:cNvPr id="13" name="Text 11"/>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hemangioma (G) (hemanjioma): </a:t>
            </a:r>
            <a:r>
              <a:rPr lang="en-US" sz="1500" dirty="0">
                <a:solidFill>
                  <a:srgbClr val="1F2937"/>
                </a:solidFill>
                <a:latin typeface="Calibri" pitchFamily="34" charset="0"/>
                <a:ea typeface="Calibri" pitchFamily="34" charset="-122"/>
                <a:cs typeface="Calibri" pitchFamily="34" charset="-120"/>
              </a:rPr>
              <a:t>Kan damarları tümörü</a:t>
            </a:r>
            <a:endParaRPr lang="en-US" sz="1500" dirty="0"/>
          </a:p>
        </p:txBody>
      </p:sp>
      <p:sp>
        <p:nvSpPr>
          <p:cNvPr id="14" name="Shape 12"/>
          <p:cNvSpPr/>
          <p:nvPr/>
        </p:nvSpPr>
        <p:spPr>
          <a:xfrm>
            <a:off x="548640" y="3684270"/>
            <a:ext cx="11094415" cy="451866"/>
          </a:xfrm>
          <a:prstGeom prst="roundRect">
            <a:avLst>
              <a:gd name="adj" fmla="val 14165"/>
            </a:avLst>
          </a:prstGeom>
          <a:solidFill>
            <a:srgbClr val="FBECEC"/>
          </a:solidFill>
          <a:ln/>
        </p:spPr>
      </p:sp>
      <p:sp>
        <p:nvSpPr>
          <p:cNvPr id="15" name="Text 13"/>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hypersplenism (G) (hipersplenizm): </a:t>
            </a:r>
            <a:r>
              <a:rPr lang="en-US" sz="1500" dirty="0">
                <a:solidFill>
                  <a:srgbClr val="1F2937"/>
                </a:solidFill>
                <a:latin typeface="Calibri" pitchFamily="34" charset="0"/>
                <a:ea typeface="Calibri" pitchFamily="34" charset="-122"/>
                <a:cs typeface="Calibri" pitchFamily="34" charset="-120"/>
              </a:rPr>
              <a:t>Dalağın fazla çalışmasına bağlı olarak ortaya çıkan hastalık tablosu</a:t>
            </a:r>
            <a:endParaRPr lang="en-US" sz="1500" dirty="0"/>
          </a:p>
        </p:txBody>
      </p:sp>
      <p:sp>
        <p:nvSpPr>
          <p:cNvPr id="16" name="Shape 14"/>
          <p:cNvSpPr/>
          <p:nvPr/>
        </p:nvSpPr>
        <p:spPr>
          <a:xfrm>
            <a:off x="548640" y="4227576"/>
            <a:ext cx="11094415" cy="451866"/>
          </a:xfrm>
          <a:prstGeom prst="roundRect">
            <a:avLst>
              <a:gd name="adj" fmla="val 14165"/>
            </a:avLst>
          </a:prstGeom>
          <a:solidFill>
            <a:srgbClr val="FBECEC"/>
          </a:solidFill>
          <a:ln/>
        </p:spPr>
      </p:sp>
      <p:sp>
        <p:nvSpPr>
          <p:cNvPr id="17" name="Text 15"/>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splenitis (G) (splenit): </a:t>
            </a:r>
            <a:r>
              <a:rPr lang="en-US" sz="1500" dirty="0">
                <a:solidFill>
                  <a:srgbClr val="1F2937"/>
                </a:solidFill>
                <a:latin typeface="Calibri" pitchFamily="34" charset="0"/>
                <a:ea typeface="Calibri" pitchFamily="34" charset="-122"/>
                <a:cs typeface="Calibri" pitchFamily="34" charset="-120"/>
              </a:rPr>
              <a:t>Dalak iltihabı</a:t>
            </a:r>
            <a:endParaRPr lang="en-US" sz="1500" dirty="0"/>
          </a:p>
        </p:txBody>
      </p:sp>
      <p:sp>
        <p:nvSpPr>
          <p:cNvPr id="18" name="Shape 16"/>
          <p:cNvSpPr/>
          <p:nvPr/>
        </p:nvSpPr>
        <p:spPr>
          <a:xfrm>
            <a:off x="548640" y="4770882"/>
            <a:ext cx="11094415" cy="451866"/>
          </a:xfrm>
          <a:prstGeom prst="roundRect">
            <a:avLst>
              <a:gd name="adj" fmla="val 14165"/>
            </a:avLst>
          </a:prstGeom>
          <a:solidFill>
            <a:srgbClr val="FBECEC"/>
          </a:solidFill>
          <a:ln/>
        </p:spPr>
      </p:sp>
      <p:sp>
        <p:nvSpPr>
          <p:cNvPr id="19" name="Text 17"/>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lymph (L), oedema (G) (lenf ödemi): </a:t>
            </a:r>
            <a:r>
              <a:rPr lang="en-US" sz="1500" dirty="0">
                <a:solidFill>
                  <a:srgbClr val="1F2937"/>
                </a:solidFill>
                <a:latin typeface="Calibri" pitchFamily="34" charset="0"/>
                <a:ea typeface="Calibri" pitchFamily="34" charset="-122"/>
                <a:cs typeface="Calibri" pitchFamily="34" charset="-120"/>
              </a:rPr>
              <a:t>Lenf damarlarının tıkanmasına bağlı olarak lenf sıvısının deri altına birikmesi</a:t>
            </a:r>
            <a:endParaRPr lang="en-US" sz="1500" dirty="0"/>
          </a:p>
        </p:txBody>
      </p:sp>
      <p:sp>
        <p:nvSpPr>
          <p:cNvPr id="20" name="Shape 18"/>
          <p:cNvSpPr/>
          <p:nvPr/>
        </p:nvSpPr>
        <p:spPr>
          <a:xfrm>
            <a:off x="548640" y="5314188"/>
            <a:ext cx="11094415" cy="451866"/>
          </a:xfrm>
          <a:prstGeom prst="roundRect">
            <a:avLst>
              <a:gd name="adj" fmla="val 14165"/>
            </a:avLst>
          </a:prstGeom>
          <a:solidFill>
            <a:srgbClr val="FBECEC"/>
          </a:solidFill>
          <a:ln/>
        </p:spPr>
      </p:sp>
      <p:sp>
        <p:nvSpPr>
          <p:cNvPr id="21" name="Text 19"/>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lympangitis (lenfanjit): </a:t>
            </a:r>
            <a:r>
              <a:rPr lang="en-US" sz="1500" dirty="0">
                <a:solidFill>
                  <a:srgbClr val="1F2937"/>
                </a:solidFill>
                <a:latin typeface="Calibri" pitchFamily="34" charset="0"/>
                <a:ea typeface="Calibri" pitchFamily="34" charset="-122"/>
                <a:cs typeface="Calibri" pitchFamily="34" charset="-120"/>
              </a:rPr>
              <a:t>lenf damarı iltihabı</a:t>
            </a:r>
            <a:endParaRPr lang="en-US" sz="1500" dirty="0"/>
          </a:p>
        </p:txBody>
      </p:sp>
      <p:sp>
        <p:nvSpPr>
          <p:cNvPr id="22" name="Shape 20"/>
          <p:cNvSpPr/>
          <p:nvPr/>
        </p:nvSpPr>
        <p:spPr>
          <a:xfrm>
            <a:off x="548640" y="5857494"/>
            <a:ext cx="11094415" cy="451866"/>
          </a:xfrm>
          <a:prstGeom prst="roundRect">
            <a:avLst>
              <a:gd name="adj" fmla="val 14165"/>
            </a:avLst>
          </a:prstGeom>
          <a:solidFill>
            <a:srgbClr val="FBECEC"/>
          </a:solidFill>
          <a:ln/>
        </p:spPr>
      </p:sp>
      <p:sp>
        <p:nvSpPr>
          <p:cNvPr id="23" name="Text 21"/>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91C1C"/>
                </a:solidFill>
                <a:latin typeface="Calibri" pitchFamily="34" charset="0"/>
                <a:ea typeface="Calibri" pitchFamily="34" charset="-122"/>
                <a:cs typeface="Calibri" pitchFamily="34" charset="-120"/>
              </a:rPr>
              <a:t>lymphoma (lenfoma): </a:t>
            </a:r>
            <a:r>
              <a:rPr lang="en-US" sz="1500" dirty="0">
                <a:solidFill>
                  <a:srgbClr val="1F2937"/>
                </a:solidFill>
                <a:latin typeface="Calibri" pitchFamily="34" charset="0"/>
                <a:ea typeface="Calibri" pitchFamily="34" charset="-122"/>
                <a:cs typeface="Calibri" pitchFamily="34" charset="-120"/>
              </a:rPr>
              <a:t>Lenfoid doku tümörü</a:t>
            </a:r>
            <a:endParaRPr lang="en-US" sz="15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Shape 0"/>
          <p:cNvSpPr/>
          <p:nvPr/>
        </p:nvSpPr>
        <p:spPr>
          <a:xfrm>
            <a:off x="548640" y="384048"/>
            <a:ext cx="3657600" cy="310896"/>
          </a:xfrm>
          <a:prstGeom prst="roundRect">
            <a:avLst>
              <a:gd name="adj" fmla="val 50000"/>
            </a:avLst>
          </a:prstGeom>
          <a:solidFill>
            <a:srgbClr val="FBECEC"/>
          </a:solidFill>
          <a:ln/>
        </p:spPr>
      </p:sp>
      <p:sp>
        <p:nvSpPr>
          <p:cNvPr id="3" name="Text 1"/>
          <p:cNvSpPr txBox="1"/>
          <p:nvPr/>
        </p:nvSpPr>
        <p:spPr>
          <a:xfrm>
            <a:off x="694944" y="384048"/>
            <a:ext cx="3383280" cy="310896"/>
          </a:xfrm>
          <a:prstGeom prst="rect">
            <a:avLst/>
          </a:prstGeom>
          <a:noFill/>
          <a:ln/>
        </p:spPr>
        <p:txBody>
          <a:bodyPr wrap="square" lIns="0" tIns="0" rIns="0" bIns="0" rtlCol="0" anchor="ctr"/>
          <a:lstStyle/>
          <a:p>
            <a:pPr marL="0" indent="0">
              <a:buNone/>
            </a:pPr>
            <a:r>
              <a:rPr lang="en-US" sz="1000" b="1" kern="0" spc="60" dirty="0">
                <a:solidFill>
                  <a:srgbClr val="B91C1C"/>
                </a:solidFill>
                <a:latin typeface="Calibri" pitchFamily="34" charset="0"/>
                <a:ea typeface="Calibri" pitchFamily="34" charset="-122"/>
                <a:cs typeface="Calibri" pitchFamily="34" charset="-120"/>
              </a:rPr>
              <a:t>BÖLÜM 5  ·  KAN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5.d. 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185</a:t>
            </a:r>
            <a:endParaRPr lang="en-US" sz="1000" dirty="0"/>
          </a:p>
        </p:txBody>
      </p:sp>
      <p:sp>
        <p:nvSpPr>
          <p:cNvPr id="6" name="Shape 4"/>
          <p:cNvSpPr/>
          <p:nvPr/>
        </p:nvSpPr>
        <p:spPr>
          <a:xfrm>
            <a:off x="548640" y="2319833"/>
            <a:ext cx="11094415" cy="542239"/>
          </a:xfrm>
          <a:prstGeom prst="roundRect">
            <a:avLst>
              <a:gd name="adj" fmla="val 11804"/>
            </a:avLst>
          </a:prstGeom>
          <a:solidFill>
            <a:srgbClr val="FBECEC"/>
          </a:solidFill>
          <a:ln/>
        </p:spPr>
      </p:sp>
      <p:sp>
        <p:nvSpPr>
          <p:cNvPr id="7" name="Text 5"/>
          <p:cNvSpPr txBox="1"/>
          <p:nvPr/>
        </p:nvSpPr>
        <p:spPr>
          <a:xfrm>
            <a:off x="704088" y="239298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91C1C"/>
                </a:solidFill>
                <a:latin typeface="Calibri" pitchFamily="34" charset="0"/>
                <a:ea typeface="Calibri" pitchFamily="34" charset="-122"/>
                <a:cs typeface="Calibri" pitchFamily="34" charset="-120"/>
              </a:rPr>
              <a:t>splenopexy (G) (splenopeksi): </a:t>
            </a:r>
            <a:r>
              <a:rPr lang="en-US" sz="1800" dirty="0">
                <a:solidFill>
                  <a:srgbClr val="1F2937"/>
                </a:solidFill>
                <a:latin typeface="Calibri" pitchFamily="34" charset="0"/>
                <a:ea typeface="Calibri" pitchFamily="34" charset="-122"/>
                <a:cs typeface="Calibri" pitchFamily="34" charset="-120"/>
              </a:rPr>
              <a:t>Dalağın karın duvarına tespiti</a:t>
            </a:r>
            <a:endParaRPr lang="en-US" sz="1800" dirty="0"/>
          </a:p>
        </p:txBody>
      </p:sp>
      <p:sp>
        <p:nvSpPr>
          <p:cNvPr id="8" name="Shape 6"/>
          <p:cNvSpPr/>
          <p:nvPr/>
        </p:nvSpPr>
        <p:spPr>
          <a:xfrm>
            <a:off x="548640" y="2953512"/>
            <a:ext cx="11094415" cy="542239"/>
          </a:xfrm>
          <a:prstGeom prst="roundRect">
            <a:avLst>
              <a:gd name="adj" fmla="val 11804"/>
            </a:avLst>
          </a:prstGeom>
          <a:solidFill>
            <a:srgbClr val="FBECEC"/>
          </a:solidFill>
          <a:ln/>
        </p:spPr>
      </p:sp>
      <p:sp>
        <p:nvSpPr>
          <p:cNvPr id="9" name="Text 7"/>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91C1C"/>
                </a:solidFill>
                <a:latin typeface="Calibri" pitchFamily="34" charset="0"/>
                <a:ea typeface="Calibri" pitchFamily="34" charset="-122"/>
                <a:cs typeface="Calibri" pitchFamily="34" charset="-120"/>
              </a:rPr>
              <a:t>splenectomy (G) (splenektomi): </a:t>
            </a:r>
            <a:r>
              <a:rPr lang="en-US" sz="1800" dirty="0">
                <a:solidFill>
                  <a:srgbClr val="1F2937"/>
                </a:solidFill>
                <a:latin typeface="Calibri" pitchFamily="34" charset="0"/>
                <a:ea typeface="Calibri" pitchFamily="34" charset="-122"/>
                <a:cs typeface="Calibri" pitchFamily="34" charset="-120"/>
              </a:rPr>
              <a:t>Dalağı çıkarılması</a:t>
            </a:r>
            <a:endParaRPr lang="en-US" sz="1800" dirty="0"/>
          </a:p>
        </p:txBody>
      </p:sp>
      <p:sp>
        <p:nvSpPr>
          <p:cNvPr id="10" name="Shape 8"/>
          <p:cNvSpPr/>
          <p:nvPr/>
        </p:nvSpPr>
        <p:spPr>
          <a:xfrm>
            <a:off x="548640" y="3587191"/>
            <a:ext cx="11094415" cy="542239"/>
          </a:xfrm>
          <a:prstGeom prst="roundRect">
            <a:avLst>
              <a:gd name="adj" fmla="val 11804"/>
            </a:avLst>
          </a:prstGeom>
          <a:solidFill>
            <a:srgbClr val="FBECEC"/>
          </a:solidFill>
          <a:ln/>
        </p:spPr>
      </p:sp>
      <p:sp>
        <p:nvSpPr>
          <p:cNvPr id="11" name="Text 9"/>
          <p:cNvSpPr txBox="1"/>
          <p:nvPr/>
        </p:nvSpPr>
        <p:spPr>
          <a:xfrm>
            <a:off x="704088" y="366034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91C1C"/>
                </a:solidFill>
                <a:latin typeface="Calibri" pitchFamily="34" charset="0"/>
                <a:ea typeface="Calibri" pitchFamily="34" charset="-122"/>
                <a:cs typeface="Calibri" pitchFamily="34" charset="-120"/>
              </a:rPr>
              <a:t>thymectomy (timektomi): </a:t>
            </a:r>
            <a:r>
              <a:rPr lang="en-US" sz="1800" dirty="0">
                <a:solidFill>
                  <a:srgbClr val="1F2937"/>
                </a:solidFill>
                <a:latin typeface="Calibri" pitchFamily="34" charset="0"/>
                <a:ea typeface="Calibri" pitchFamily="34" charset="-122"/>
                <a:cs typeface="Calibri" pitchFamily="34" charset="-120"/>
              </a:rPr>
              <a:t>Timus bezinin çıkarılması</a:t>
            </a:r>
            <a:endParaRPr lang="en-US" sz="1800" dirty="0"/>
          </a:p>
        </p:txBody>
      </p:sp>
      <p:sp>
        <p:nvSpPr>
          <p:cNvPr id="12" name="Shape 10"/>
          <p:cNvSpPr/>
          <p:nvPr/>
        </p:nvSpPr>
        <p:spPr>
          <a:xfrm>
            <a:off x="548640" y="4220870"/>
            <a:ext cx="11094415" cy="542239"/>
          </a:xfrm>
          <a:prstGeom prst="roundRect">
            <a:avLst>
              <a:gd name="adj" fmla="val 11804"/>
            </a:avLst>
          </a:prstGeom>
          <a:solidFill>
            <a:srgbClr val="FBECEC"/>
          </a:solidFill>
          <a:ln/>
        </p:spPr>
      </p:sp>
      <p:sp>
        <p:nvSpPr>
          <p:cNvPr id="13" name="Text 11"/>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91C1C"/>
                </a:solidFill>
                <a:latin typeface="Calibri" pitchFamily="34" charset="0"/>
                <a:ea typeface="Calibri" pitchFamily="34" charset="-122"/>
                <a:cs typeface="Calibri" pitchFamily="34" charset="-120"/>
              </a:rPr>
              <a:t>lymphadenectomy (lenfadenektomi): </a:t>
            </a:r>
            <a:r>
              <a:rPr lang="en-US" sz="1800" dirty="0">
                <a:solidFill>
                  <a:srgbClr val="1F2937"/>
                </a:solidFill>
                <a:latin typeface="Calibri" pitchFamily="34" charset="0"/>
                <a:ea typeface="Calibri" pitchFamily="34" charset="-122"/>
                <a:cs typeface="Calibri" pitchFamily="34" charset="-120"/>
              </a:rPr>
              <a:t>Lenf düğümlerinin kesilip çıkarılması</a:t>
            </a:r>
            <a:endParaRPr lang="en-US" sz="1800" dirty="0"/>
          </a:p>
        </p:txBody>
      </p:sp>
      <p:sp>
        <p:nvSpPr>
          <p:cNvPr id="14" name="Shape 12"/>
          <p:cNvSpPr/>
          <p:nvPr/>
        </p:nvSpPr>
        <p:spPr>
          <a:xfrm>
            <a:off x="548640" y="4854550"/>
            <a:ext cx="11094415" cy="542239"/>
          </a:xfrm>
          <a:prstGeom prst="roundRect">
            <a:avLst>
              <a:gd name="adj" fmla="val 11804"/>
            </a:avLst>
          </a:prstGeom>
          <a:solidFill>
            <a:srgbClr val="FBECEC"/>
          </a:solidFill>
          <a:ln/>
        </p:spPr>
      </p:sp>
      <p:sp>
        <p:nvSpPr>
          <p:cNvPr id="15" name="Text 13"/>
          <p:cNvSpPr txBox="1"/>
          <p:nvPr/>
        </p:nvSpPr>
        <p:spPr>
          <a:xfrm>
            <a:off x="704088" y="492770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B91C1C"/>
                </a:solidFill>
                <a:latin typeface="Calibri" pitchFamily="34" charset="0"/>
                <a:ea typeface="Calibri" pitchFamily="34" charset="-122"/>
                <a:cs typeface="Calibri" pitchFamily="34" charset="-120"/>
              </a:rPr>
              <a:t>tonsillectomy (G) (tonsilektomi): </a:t>
            </a:r>
            <a:r>
              <a:rPr lang="en-US" sz="1800" dirty="0">
                <a:solidFill>
                  <a:srgbClr val="1F2937"/>
                </a:solidFill>
                <a:latin typeface="Calibri" pitchFamily="34" charset="0"/>
                <a:ea typeface="Calibri" pitchFamily="34" charset="-122"/>
                <a:cs typeface="Calibri" pitchFamily="34" charset="-120"/>
              </a:rPr>
              <a:t>Bademciği çıkarma ameliyatı</a:t>
            </a:r>
            <a:endParaRPr lang="en-US" sz="1800" dirty="0"/>
          </a:p>
        </p:txBody>
      </p:sp>
      <p:sp>
        <p:nvSpPr>
          <p:cNvPr id="16" name="Shape 14"/>
          <p:cNvSpPr/>
          <p:nvPr/>
        </p:nvSpPr>
        <p:spPr>
          <a:xfrm>
            <a:off x="548640" y="5488229"/>
            <a:ext cx="11094415" cy="821131"/>
          </a:xfrm>
          <a:prstGeom prst="roundRect">
            <a:avLst>
              <a:gd name="adj" fmla="val 7795"/>
            </a:avLst>
          </a:prstGeom>
          <a:solidFill>
            <a:srgbClr val="FBECEC"/>
          </a:solidFill>
          <a:ln/>
        </p:spPr>
      </p:sp>
      <p:sp>
        <p:nvSpPr>
          <p:cNvPr id="17" name="Text 15"/>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B91C1C"/>
                </a:solidFill>
                <a:latin typeface="Calibri" pitchFamily="34" charset="0"/>
                <a:ea typeface="Calibri" pitchFamily="34" charset="-122"/>
                <a:cs typeface="Calibri" pitchFamily="34" charset="-120"/>
              </a:rPr>
              <a:t>Kemik iliği transplantastonu: </a:t>
            </a:r>
            <a:r>
              <a:rPr lang="en-US" sz="1800" dirty="0">
                <a:solidFill>
                  <a:srgbClr val="1F2937"/>
                </a:solidFill>
                <a:latin typeface="Calibri" pitchFamily="34" charset="0"/>
                <a:ea typeface="Calibri" pitchFamily="34" charset="-122"/>
                <a:cs typeface="Calibri" pitchFamily="34" charset="-120"/>
              </a:rPr>
              <a:t>Hasta kemik iliğinin harap edilerek yerine bir kemik iliğinin verilmesi</a:t>
            </a:r>
            <a:endParaRPr lang="en-US" sz="18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CEAEF"/>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F7D7E0"/>
                </a:solidFill>
                <a:latin typeface="Cambria" pitchFamily="34" charset="0"/>
                <a:ea typeface="Cambria" pitchFamily="34" charset="-122"/>
                <a:cs typeface="Cambria" pitchFamily="34" charset="-120"/>
              </a:rPr>
              <a:t>06</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BE123C"/>
                </a:solidFill>
                <a:latin typeface="Calibri" pitchFamily="34" charset="0"/>
                <a:ea typeface="Calibri" pitchFamily="34" charset="-122"/>
                <a:cs typeface="Calibri" pitchFamily="34" charset="-120"/>
              </a:rPr>
              <a:t>BÖLÜM 6</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000" b="1" dirty="0">
                <a:solidFill>
                  <a:srgbClr val="1F2937"/>
                </a:solidFill>
                <a:latin typeface="Cambria" pitchFamily="34" charset="0"/>
                <a:ea typeface="Cambria" pitchFamily="34" charset="-122"/>
                <a:cs typeface="Cambria" pitchFamily="34" charset="-120"/>
              </a:rPr>
              <a:t>KARDİYOVASKÜLER SİSTEM TERİMLERİ</a:t>
            </a:r>
            <a:endParaRPr lang="en-US" sz="3000" dirty="0"/>
          </a:p>
        </p:txBody>
      </p:sp>
      <p:sp>
        <p:nvSpPr>
          <p:cNvPr id="7" name="Shape 5"/>
          <p:cNvSpPr/>
          <p:nvPr/>
        </p:nvSpPr>
        <p:spPr>
          <a:xfrm>
            <a:off x="8503920" y="2331720"/>
            <a:ext cx="2194560" cy="2194560"/>
          </a:xfrm>
          <a:prstGeom prst="ellipse">
            <a:avLst/>
          </a:prstGeom>
          <a:solidFill>
            <a:srgbClr val="FCEAEF"/>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188</a:t>
            </a:r>
            <a:endParaRPr lang="en-US" sz="10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Shape 0"/>
          <p:cNvSpPr/>
          <p:nvPr/>
        </p:nvSpPr>
        <p:spPr>
          <a:xfrm>
            <a:off x="548640" y="384048"/>
            <a:ext cx="6089904" cy="310896"/>
          </a:xfrm>
          <a:prstGeom prst="roundRect">
            <a:avLst>
              <a:gd name="adj" fmla="val 50000"/>
            </a:avLst>
          </a:prstGeom>
          <a:solidFill>
            <a:srgbClr val="FCEAEF"/>
          </a:solidFill>
          <a:ln/>
        </p:spPr>
      </p:sp>
      <p:sp>
        <p:nvSpPr>
          <p:cNvPr id="3" name="Text 1"/>
          <p:cNvSpPr txBox="1"/>
          <p:nvPr/>
        </p:nvSpPr>
        <p:spPr>
          <a:xfrm>
            <a:off x="694944" y="384048"/>
            <a:ext cx="581558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KARDİYOVASKÜLER SİSTEM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189</a:t>
            </a:r>
            <a:endParaRPr lang="en-US" sz="1000" dirty="0"/>
          </a:p>
        </p:txBody>
      </p:sp>
      <p:sp>
        <p:nvSpPr>
          <p:cNvPr id="6" name="Shape 4"/>
          <p:cNvSpPr/>
          <p:nvPr/>
        </p:nvSpPr>
        <p:spPr>
          <a:xfrm>
            <a:off x="548640" y="2073250"/>
            <a:ext cx="11094415" cy="1225702"/>
          </a:xfrm>
          <a:prstGeom prst="roundRect">
            <a:avLst>
              <a:gd name="adj" fmla="val 5222"/>
            </a:avLst>
          </a:prstGeom>
          <a:solidFill>
            <a:srgbClr val="FCEAEF"/>
          </a:solidFill>
          <a:ln/>
        </p:spPr>
      </p:sp>
      <p:sp>
        <p:nvSpPr>
          <p:cNvPr id="7" name="Text 5"/>
          <p:cNvSpPr txBox="1"/>
          <p:nvPr/>
        </p:nvSpPr>
        <p:spPr>
          <a:xfrm>
            <a:off x="704088" y="2146402"/>
            <a:ext cx="10783519" cy="1079398"/>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Kardiyovasküler (kalp-damar veya dolaşım) sistemi, kanı bütün vücuda dolaştıran organlar topluluğunun işlevsel birliği yapar. Kan, kapalı boşluklar (kalp ve damar) sistemi içinde vücudu dolaşır. Bütün hücrelere değin besin maddeleri ve oksijen götürür, karbondioksit ve artık ürünleri bunlardan alır. Kanın bu işleri yaparken dolaşmasına kan dolaşımı denir.</a:t>
            </a:r>
            <a:endParaRPr lang="en-US" sz="1600" dirty="0"/>
          </a:p>
        </p:txBody>
      </p:sp>
      <p:sp>
        <p:nvSpPr>
          <p:cNvPr id="8" name="Shape 6"/>
          <p:cNvSpPr/>
          <p:nvPr/>
        </p:nvSpPr>
        <p:spPr>
          <a:xfrm>
            <a:off x="548640" y="3390392"/>
            <a:ext cx="11094415" cy="2217318"/>
          </a:xfrm>
          <a:prstGeom prst="roundRect">
            <a:avLst>
              <a:gd name="adj" fmla="val 2887"/>
            </a:avLst>
          </a:prstGeom>
          <a:solidFill>
            <a:srgbClr val="FCEAEF"/>
          </a:solidFill>
          <a:ln/>
        </p:spPr>
      </p:sp>
      <p:sp>
        <p:nvSpPr>
          <p:cNvPr id="9" name="Text 7"/>
          <p:cNvSpPr txBox="1"/>
          <p:nvPr/>
        </p:nvSpPr>
        <p:spPr>
          <a:xfrm>
            <a:off x="704088" y="3463544"/>
            <a:ext cx="10783519" cy="2071014"/>
          </a:xfrm>
          <a:prstGeom prst="rect">
            <a:avLst/>
          </a:prstGeom>
          <a:noFill/>
          <a:ln/>
        </p:spPr>
        <p:txBody>
          <a:bodyPr wrap="square" lIns="0" tIns="0" rIns="0" bIns="0" rtlCol="0" anchor="t"/>
          <a:lstStyle/>
          <a:p>
            <a:pPr marL="0" indent="0">
              <a:lnSpc>
                <a:spcPct val="105000"/>
              </a:lnSpc>
              <a:buNone/>
            </a:pPr>
            <a:r>
              <a:rPr lang="en-US" sz="1600" dirty="0">
                <a:solidFill>
                  <a:srgbClr val="1F2937"/>
                </a:solidFill>
                <a:latin typeface="Calibri" pitchFamily="34" charset="0"/>
                <a:ea typeface="Calibri" pitchFamily="34" charset="-122"/>
                <a:cs typeface="Calibri" pitchFamily="34" charset="-120"/>
              </a:rPr>
              <a:t>Dolaşım sisteminin ana organı kalptir. Kanı kalpten alıp vücutta dolaştıran organlara damar denir. Kalp ve damarlar dışa açılmazlar. O yüzden bunlara kapalı boşluklar sistemi de denir. Dışa açılmaları hastalıktır. Açılan yerden kan akmasına kanama denir. Damarlar arterler ve venler olarak ikiye ayrılırlar. Arterlerde dolaşan kana arteryel kan, venlerde dolaşan kana ise venöz kan denir. Ayrıca lenfin dolaştığı lenf damarları da vardır. Oksijenden ve besin maddelerinden zengin kan arteryel kan, karbondioksin ve artık ürünlerden zengin kan venöz kan adını alır. Arterler kanı kalpten alıp bütün vücuda dağıtırlar. Arterlerin en uç dallarına kapiller denir. Hücrelerle kan arasındaki alışveriş burada olur. Kapillerin devamı venüldür. Venüller birleşerek venleri oluşturur.</a:t>
            </a:r>
            <a:endParaRPr lang="en-US" sz="16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Shape 0"/>
          <p:cNvSpPr/>
          <p:nvPr/>
        </p:nvSpPr>
        <p:spPr>
          <a:xfrm>
            <a:off x="548640" y="384048"/>
            <a:ext cx="6089904" cy="310896"/>
          </a:xfrm>
          <a:prstGeom prst="roundRect">
            <a:avLst>
              <a:gd name="adj" fmla="val 50000"/>
            </a:avLst>
          </a:prstGeom>
          <a:solidFill>
            <a:srgbClr val="FCEAEF"/>
          </a:solidFill>
          <a:ln/>
        </p:spPr>
      </p:sp>
      <p:sp>
        <p:nvSpPr>
          <p:cNvPr id="3" name="Text 1"/>
          <p:cNvSpPr txBox="1"/>
          <p:nvPr/>
        </p:nvSpPr>
        <p:spPr>
          <a:xfrm>
            <a:off x="694944" y="384048"/>
            <a:ext cx="581558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190</a:t>
            </a:r>
            <a:endParaRPr lang="en-US" sz="1000" dirty="0"/>
          </a:p>
        </p:txBody>
      </p:sp>
      <p:sp>
        <p:nvSpPr>
          <p:cNvPr id="6" name="Shape 4"/>
          <p:cNvSpPr/>
          <p:nvPr/>
        </p:nvSpPr>
        <p:spPr>
          <a:xfrm>
            <a:off x="548640" y="1668018"/>
            <a:ext cx="5410048" cy="916686"/>
          </a:xfrm>
          <a:prstGeom prst="roundRect">
            <a:avLst>
              <a:gd name="adj" fmla="val 6983"/>
            </a:avLst>
          </a:prstGeom>
          <a:solidFill>
            <a:srgbClr val="FCEAEF"/>
          </a:solidFill>
          <a:ln/>
        </p:spPr>
      </p:sp>
      <p:sp>
        <p:nvSpPr>
          <p:cNvPr id="7" name="Text 5"/>
          <p:cNvSpPr txBox="1"/>
          <p:nvPr/>
        </p:nvSpPr>
        <p:spPr>
          <a:xfrm>
            <a:off x="704088" y="174117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systema (G) cardio (G) vasculare (L) (sistema kardiyovaskulare): </a:t>
            </a:r>
            <a:r>
              <a:rPr lang="en-US" sz="1500" dirty="0">
                <a:solidFill>
                  <a:srgbClr val="1F2937"/>
                </a:solidFill>
                <a:latin typeface="Calibri" pitchFamily="34" charset="0"/>
                <a:ea typeface="Calibri" pitchFamily="34" charset="-122"/>
                <a:cs typeface="Calibri" pitchFamily="34" charset="-120"/>
              </a:rPr>
              <a:t>Kardiovasküler sistem. Kalp-damar sistemi, doşaşım sistemi</a:t>
            </a:r>
            <a:endParaRPr lang="en-US" sz="1500" dirty="0"/>
          </a:p>
        </p:txBody>
      </p:sp>
      <p:sp>
        <p:nvSpPr>
          <p:cNvPr id="8" name="Shape 6"/>
          <p:cNvSpPr/>
          <p:nvPr/>
        </p:nvSpPr>
        <p:spPr>
          <a:xfrm>
            <a:off x="548640" y="2676144"/>
            <a:ext cx="5410048" cy="451866"/>
          </a:xfrm>
          <a:prstGeom prst="roundRect">
            <a:avLst>
              <a:gd name="adj" fmla="val 14165"/>
            </a:avLst>
          </a:prstGeom>
          <a:solidFill>
            <a:srgbClr val="FCEAEF"/>
          </a:solidFill>
          <a:ln/>
        </p:spPr>
      </p:sp>
      <p:sp>
        <p:nvSpPr>
          <p:cNvPr id="9" name="Text 7"/>
          <p:cNvSpPr txBox="1"/>
          <p:nvPr/>
        </p:nvSpPr>
        <p:spPr>
          <a:xfrm>
            <a:off x="704088" y="274929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vas (L): </a:t>
            </a:r>
            <a:r>
              <a:rPr lang="en-US" sz="1500" dirty="0">
                <a:solidFill>
                  <a:srgbClr val="1F2937"/>
                </a:solidFill>
                <a:latin typeface="Calibri" pitchFamily="34" charset="0"/>
                <a:ea typeface="Calibri" pitchFamily="34" charset="-122"/>
                <a:cs typeface="Calibri" pitchFamily="34" charset="-120"/>
              </a:rPr>
              <a:t>Damar</a:t>
            </a:r>
            <a:endParaRPr lang="en-US" sz="1500" dirty="0"/>
          </a:p>
        </p:txBody>
      </p:sp>
      <p:sp>
        <p:nvSpPr>
          <p:cNvPr id="10" name="Shape 8"/>
          <p:cNvSpPr/>
          <p:nvPr/>
        </p:nvSpPr>
        <p:spPr>
          <a:xfrm>
            <a:off x="548640" y="3219450"/>
            <a:ext cx="5410048" cy="451866"/>
          </a:xfrm>
          <a:prstGeom prst="roundRect">
            <a:avLst>
              <a:gd name="adj" fmla="val 14165"/>
            </a:avLst>
          </a:prstGeom>
          <a:solidFill>
            <a:srgbClr val="FCEAEF"/>
          </a:solidFill>
          <a:ln/>
        </p:spPr>
      </p:sp>
      <p:sp>
        <p:nvSpPr>
          <p:cNvPr id="11" name="Text 9"/>
          <p:cNvSpPr txBox="1"/>
          <p:nvPr/>
        </p:nvSpPr>
        <p:spPr>
          <a:xfrm>
            <a:off x="704088"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angion (G) (anji): </a:t>
            </a:r>
            <a:r>
              <a:rPr lang="en-US" sz="1500" dirty="0">
                <a:solidFill>
                  <a:srgbClr val="1F2937"/>
                </a:solidFill>
                <a:latin typeface="Calibri" pitchFamily="34" charset="0"/>
                <a:ea typeface="Calibri" pitchFamily="34" charset="-122"/>
                <a:cs typeface="Calibri" pitchFamily="34" charset="-120"/>
              </a:rPr>
              <a:t>Damar</a:t>
            </a:r>
            <a:endParaRPr lang="en-US" sz="1500" dirty="0"/>
          </a:p>
        </p:txBody>
      </p:sp>
      <p:sp>
        <p:nvSpPr>
          <p:cNvPr id="12" name="Shape 10"/>
          <p:cNvSpPr/>
          <p:nvPr/>
        </p:nvSpPr>
        <p:spPr>
          <a:xfrm>
            <a:off x="548640" y="3762756"/>
            <a:ext cx="5410048" cy="684276"/>
          </a:xfrm>
          <a:prstGeom prst="roundRect">
            <a:avLst>
              <a:gd name="adj" fmla="val 9354"/>
            </a:avLst>
          </a:prstGeom>
          <a:solidFill>
            <a:srgbClr val="FCEAEF"/>
          </a:solidFill>
          <a:ln/>
        </p:spPr>
      </p:sp>
      <p:sp>
        <p:nvSpPr>
          <p:cNvPr id="13" name="Text 11"/>
          <p:cNvSpPr txBox="1"/>
          <p:nvPr/>
        </p:nvSpPr>
        <p:spPr>
          <a:xfrm>
            <a:off x="704088" y="383590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arteriola (L) (arteriyol): </a:t>
            </a:r>
            <a:r>
              <a:rPr lang="en-US" sz="1500" dirty="0">
                <a:solidFill>
                  <a:srgbClr val="1F2937"/>
                </a:solidFill>
                <a:latin typeface="Calibri" pitchFamily="34" charset="0"/>
                <a:ea typeface="Calibri" pitchFamily="34" charset="-122"/>
                <a:cs typeface="Calibri" pitchFamily="34" charset="-120"/>
              </a:rPr>
              <a:t>Küçük arter. Çapı kapillere göre daha büyüktür.</a:t>
            </a:r>
            <a:endParaRPr lang="en-US" sz="1500" dirty="0"/>
          </a:p>
        </p:txBody>
      </p:sp>
      <p:sp>
        <p:nvSpPr>
          <p:cNvPr id="14" name="Shape 12"/>
          <p:cNvSpPr/>
          <p:nvPr/>
        </p:nvSpPr>
        <p:spPr>
          <a:xfrm>
            <a:off x="548640" y="4538472"/>
            <a:ext cx="5410048" cy="451866"/>
          </a:xfrm>
          <a:prstGeom prst="roundRect">
            <a:avLst>
              <a:gd name="adj" fmla="val 14165"/>
            </a:avLst>
          </a:prstGeom>
          <a:solidFill>
            <a:srgbClr val="FCEAEF"/>
          </a:solidFill>
          <a:ln/>
        </p:spPr>
      </p:sp>
      <p:sp>
        <p:nvSpPr>
          <p:cNvPr id="15" name="Text 13"/>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vena (L) (ven): </a:t>
            </a:r>
            <a:r>
              <a:rPr lang="en-US" sz="1500" dirty="0">
                <a:solidFill>
                  <a:srgbClr val="1F2937"/>
                </a:solidFill>
                <a:latin typeface="Calibri" pitchFamily="34" charset="0"/>
                <a:ea typeface="Calibri" pitchFamily="34" charset="-122"/>
                <a:cs typeface="Calibri" pitchFamily="34" charset="-120"/>
              </a:rPr>
              <a:t>Toplardamar</a:t>
            </a:r>
            <a:endParaRPr lang="en-US" sz="1500" dirty="0"/>
          </a:p>
        </p:txBody>
      </p:sp>
      <p:sp>
        <p:nvSpPr>
          <p:cNvPr id="16" name="Shape 14"/>
          <p:cNvSpPr/>
          <p:nvPr/>
        </p:nvSpPr>
        <p:spPr>
          <a:xfrm>
            <a:off x="548640" y="5081778"/>
            <a:ext cx="5410048" cy="451866"/>
          </a:xfrm>
          <a:prstGeom prst="roundRect">
            <a:avLst>
              <a:gd name="adj" fmla="val 14165"/>
            </a:avLst>
          </a:prstGeom>
          <a:solidFill>
            <a:srgbClr val="FCEAEF"/>
          </a:solidFill>
          <a:ln/>
        </p:spPr>
      </p:sp>
      <p:sp>
        <p:nvSpPr>
          <p:cNvPr id="17" name="Text 15"/>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phlebos (G) (flebos): </a:t>
            </a:r>
            <a:r>
              <a:rPr lang="en-US" sz="1500" dirty="0">
                <a:solidFill>
                  <a:srgbClr val="1F2937"/>
                </a:solidFill>
                <a:latin typeface="Calibri" pitchFamily="34" charset="0"/>
                <a:ea typeface="Calibri" pitchFamily="34" charset="-122"/>
                <a:cs typeface="Calibri" pitchFamily="34" charset="-120"/>
              </a:rPr>
              <a:t>Toplardamar</a:t>
            </a:r>
            <a:endParaRPr lang="en-US" sz="1500" dirty="0"/>
          </a:p>
        </p:txBody>
      </p:sp>
      <p:sp>
        <p:nvSpPr>
          <p:cNvPr id="18" name="Shape 16"/>
          <p:cNvSpPr/>
          <p:nvPr/>
        </p:nvSpPr>
        <p:spPr>
          <a:xfrm>
            <a:off x="548640" y="5625084"/>
            <a:ext cx="5410048" cy="684276"/>
          </a:xfrm>
          <a:prstGeom prst="roundRect">
            <a:avLst>
              <a:gd name="adj" fmla="val 9354"/>
            </a:avLst>
          </a:prstGeom>
          <a:solidFill>
            <a:srgbClr val="FCEAEF"/>
          </a:solidFill>
          <a:ln/>
        </p:spPr>
      </p:sp>
      <p:sp>
        <p:nvSpPr>
          <p:cNvPr id="19" name="Text 17"/>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tunica intima (L) (tunika intima): </a:t>
            </a:r>
            <a:r>
              <a:rPr lang="en-US" sz="1500" dirty="0">
                <a:solidFill>
                  <a:srgbClr val="1F2937"/>
                </a:solidFill>
                <a:latin typeface="Calibri" pitchFamily="34" charset="0"/>
                <a:ea typeface="Calibri" pitchFamily="34" charset="-122"/>
                <a:cs typeface="Calibri" pitchFamily="34" charset="-120"/>
              </a:rPr>
              <a:t>Damarın boşluk tarafında olan ilik katmanı</a:t>
            </a:r>
            <a:endParaRPr lang="en-US" sz="1500" dirty="0"/>
          </a:p>
        </p:txBody>
      </p:sp>
      <p:sp>
        <p:nvSpPr>
          <p:cNvPr id="20" name="Shape 18"/>
          <p:cNvSpPr/>
          <p:nvPr/>
        </p:nvSpPr>
        <p:spPr>
          <a:xfrm>
            <a:off x="6233008" y="1668018"/>
            <a:ext cx="5410048" cy="916686"/>
          </a:xfrm>
          <a:prstGeom prst="roundRect">
            <a:avLst>
              <a:gd name="adj" fmla="val 6983"/>
            </a:avLst>
          </a:prstGeom>
          <a:solidFill>
            <a:srgbClr val="FCEAEF"/>
          </a:solidFill>
          <a:ln/>
        </p:spPr>
      </p:sp>
      <p:sp>
        <p:nvSpPr>
          <p:cNvPr id="21" name="Text 19"/>
          <p:cNvSpPr txBox="1"/>
          <p:nvPr/>
        </p:nvSpPr>
        <p:spPr>
          <a:xfrm>
            <a:off x="6388456" y="174117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tunica media (L) (tunika medya): </a:t>
            </a:r>
            <a:r>
              <a:rPr lang="en-US" sz="1500" dirty="0">
                <a:solidFill>
                  <a:srgbClr val="1F2937"/>
                </a:solidFill>
                <a:latin typeface="Calibri" pitchFamily="34" charset="0"/>
                <a:ea typeface="Calibri" pitchFamily="34" charset="-122"/>
                <a:cs typeface="Calibri" pitchFamily="34" charset="-120"/>
              </a:rPr>
              <a:t>Damarın orta katmanı. Düz kas hücrelerinden ve bağ doku tellerinden yapılmıştır.</a:t>
            </a:r>
            <a:endParaRPr lang="en-US" sz="1500" dirty="0"/>
          </a:p>
        </p:txBody>
      </p:sp>
      <p:sp>
        <p:nvSpPr>
          <p:cNvPr id="22" name="Shape 20"/>
          <p:cNvSpPr/>
          <p:nvPr/>
        </p:nvSpPr>
        <p:spPr>
          <a:xfrm>
            <a:off x="6233008" y="2676144"/>
            <a:ext cx="5410048" cy="684276"/>
          </a:xfrm>
          <a:prstGeom prst="roundRect">
            <a:avLst>
              <a:gd name="adj" fmla="val 9354"/>
            </a:avLst>
          </a:prstGeom>
          <a:solidFill>
            <a:srgbClr val="FCEAEF"/>
          </a:solidFill>
          <a:ln/>
        </p:spPr>
      </p:sp>
      <p:sp>
        <p:nvSpPr>
          <p:cNvPr id="23" name="Text 21"/>
          <p:cNvSpPr txBox="1"/>
          <p:nvPr/>
        </p:nvSpPr>
        <p:spPr>
          <a:xfrm>
            <a:off x="6388456"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tunica externa (L) (tunika eksterna): </a:t>
            </a:r>
            <a:r>
              <a:rPr lang="en-US" sz="1500" dirty="0">
                <a:solidFill>
                  <a:srgbClr val="1F2937"/>
                </a:solidFill>
                <a:latin typeface="Calibri" pitchFamily="34" charset="0"/>
                <a:ea typeface="Calibri" pitchFamily="34" charset="-122"/>
                <a:cs typeface="Calibri" pitchFamily="34" charset="-120"/>
              </a:rPr>
              <a:t>Damarın dış katmanı, bağ dokudan yapılmıştır.</a:t>
            </a:r>
            <a:endParaRPr lang="en-US" sz="1500" dirty="0"/>
          </a:p>
        </p:txBody>
      </p:sp>
      <p:sp>
        <p:nvSpPr>
          <p:cNvPr id="24" name="Shape 22"/>
          <p:cNvSpPr/>
          <p:nvPr/>
        </p:nvSpPr>
        <p:spPr>
          <a:xfrm>
            <a:off x="6233008" y="3451860"/>
            <a:ext cx="5410048" cy="916686"/>
          </a:xfrm>
          <a:prstGeom prst="roundRect">
            <a:avLst>
              <a:gd name="adj" fmla="val 6983"/>
            </a:avLst>
          </a:prstGeom>
          <a:solidFill>
            <a:srgbClr val="FCEAEF"/>
          </a:solidFill>
          <a:ln/>
        </p:spPr>
      </p:sp>
      <p:sp>
        <p:nvSpPr>
          <p:cNvPr id="25" name="Text 23"/>
          <p:cNvSpPr txBox="1"/>
          <p:nvPr/>
        </p:nvSpPr>
        <p:spPr>
          <a:xfrm>
            <a:off x="6388456" y="352501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capillare (L) (kapiller): </a:t>
            </a:r>
            <a:r>
              <a:rPr lang="en-US" sz="1500" dirty="0">
                <a:solidFill>
                  <a:srgbClr val="1F2937"/>
                </a:solidFill>
                <a:latin typeface="Calibri" pitchFamily="34" charset="0"/>
                <a:ea typeface="Calibri" pitchFamily="34" charset="-122"/>
                <a:cs typeface="Calibri" pitchFamily="34" charset="-120"/>
              </a:rPr>
              <a:t>Kılcal damar. Doku ile kanarasındaki alışverişin yapıldığı 10-20 mikron çapındaki ince damarlar.</a:t>
            </a:r>
            <a:endParaRPr lang="en-US" sz="1500" dirty="0"/>
          </a:p>
        </p:txBody>
      </p:sp>
      <p:sp>
        <p:nvSpPr>
          <p:cNvPr id="26" name="Shape 24"/>
          <p:cNvSpPr/>
          <p:nvPr/>
        </p:nvSpPr>
        <p:spPr>
          <a:xfrm>
            <a:off x="6233008" y="4459986"/>
            <a:ext cx="5410048" cy="451866"/>
          </a:xfrm>
          <a:prstGeom prst="roundRect">
            <a:avLst>
              <a:gd name="adj" fmla="val 14165"/>
            </a:avLst>
          </a:prstGeom>
          <a:solidFill>
            <a:srgbClr val="FCEAEF"/>
          </a:solidFill>
          <a:ln/>
        </p:spPr>
      </p:sp>
      <p:sp>
        <p:nvSpPr>
          <p:cNvPr id="27" name="Text 25"/>
          <p:cNvSpPr txBox="1"/>
          <p:nvPr/>
        </p:nvSpPr>
        <p:spPr>
          <a:xfrm>
            <a:off x="6388456" y="453313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cor (L) (kor): </a:t>
            </a:r>
            <a:r>
              <a:rPr lang="en-US" sz="1500" dirty="0">
                <a:solidFill>
                  <a:srgbClr val="1F2937"/>
                </a:solidFill>
                <a:latin typeface="Calibri" pitchFamily="34" charset="0"/>
                <a:ea typeface="Calibri" pitchFamily="34" charset="-122"/>
                <a:cs typeface="Calibri" pitchFamily="34" charset="-120"/>
              </a:rPr>
              <a:t>Yürek, kalp</a:t>
            </a:r>
            <a:endParaRPr lang="en-US" sz="1500" dirty="0"/>
          </a:p>
        </p:txBody>
      </p:sp>
      <p:sp>
        <p:nvSpPr>
          <p:cNvPr id="28" name="Shape 26"/>
          <p:cNvSpPr/>
          <p:nvPr/>
        </p:nvSpPr>
        <p:spPr>
          <a:xfrm>
            <a:off x="6233008" y="5003292"/>
            <a:ext cx="5410048" cy="451866"/>
          </a:xfrm>
          <a:prstGeom prst="roundRect">
            <a:avLst>
              <a:gd name="adj" fmla="val 14165"/>
            </a:avLst>
          </a:prstGeom>
          <a:solidFill>
            <a:srgbClr val="FCEAEF"/>
          </a:solidFill>
          <a:ln/>
        </p:spPr>
      </p:sp>
      <p:sp>
        <p:nvSpPr>
          <p:cNvPr id="29" name="Text 27"/>
          <p:cNvSpPr txBox="1"/>
          <p:nvPr/>
        </p:nvSpPr>
        <p:spPr>
          <a:xfrm>
            <a:off x="6388456" y="507644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cardia (G) (kardiya): </a:t>
            </a:r>
            <a:r>
              <a:rPr lang="en-US" sz="1500" dirty="0">
                <a:solidFill>
                  <a:srgbClr val="1F2937"/>
                </a:solidFill>
                <a:latin typeface="Calibri" pitchFamily="34" charset="0"/>
                <a:ea typeface="Calibri" pitchFamily="34" charset="-122"/>
                <a:cs typeface="Calibri" pitchFamily="34" charset="-120"/>
              </a:rPr>
              <a:t>Yürek, kalp</a:t>
            </a:r>
            <a:endParaRPr lang="en-US" sz="15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Shape 0"/>
          <p:cNvSpPr/>
          <p:nvPr/>
        </p:nvSpPr>
        <p:spPr>
          <a:xfrm>
            <a:off x="548640" y="384048"/>
            <a:ext cx="7370064" cy="310896"/>
          </a:xfrm>
          <a:prstGeom prst="roundRect">
            <a:avLst>
              <a:gd name="adj" fmla="val 50000"/>
            </a:avLst>
          </a:prstGeom>
          <a:solidFill>
            <a:srgbClr val="FCEAEF"/>
          </a:solidFill>
          <a:ln/>
        </p:spPr>
      </p:sp>
      <p:sp>
        <p:nvSpPr>
          <p:cNvPr id="3" name="Text 1"/>
          <p:cNvSpPr txBox="1"/>
          <p:nvPr/>
        </p:nvSpPr>
        <p:spPr>
          <a:xfrm>
            <a:off x="694944" y="384048"/>
            <a:ext cx="709574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191</a:t>
            </a:r>
            <a:endParaRPr lang="en-US" sz="1000" dirty="0"/>
          </a:p>
        </p:txBody>
      </p:sp>
      <p:sp>
        <p:nvSpPr>
          <p:cNvPr id="6" name="Shape 4"/>
          <p:cNvSpPr/>
          <p:nvPr/>
        </p:nvSpPr>
        <p:spPr>
          <a:xfrm>
            <a:off x="548640" y="1589532"/>
            <a:ext cx="11094415" cy="684276"/>
          </a:xfrm>
          <a:prstGeom prst="roundRect">
            <a:avLst>
              <a:gd name="adj" fmla="val 9354"/>
            </a:avLst>
          </a:prstGeom>
          <a:solidFill>
            <a:srgbClr val="FCEAEF"/>
          </a:solidFill>
          <a:ln/>
        </p:spPr>
      </p:sp>
      <p:sp>
        <p:nvSpPr>
          <p:cNvPr id="7" name="Text 5"/>
          <p:cNvSpPr txBox="1"/>
          <p:nvPr/>
        </p:nvSpPr>
        <p:spPr>
          <a:xfrm>
            <a:off x="704088" y="166268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pericardium (G) (pericardiyum): </a:t>
            </a:r>
            <a:r>
              <a:rPr lang="en-US" sz="1500" dirty="0">
                <a:solidFill>
                  <a:srgbClr val="1F2937"/>
                </a:solidFill>
                <a:latin typeface="Calibri" pitchFamily="34" charset="0"/>
                <a:ea typeface="Calibri" pitchFamily="34" charset="-122"/>
                <a:cs typeface="Calibri" pitchFamily="34" charset="-120"/>
              </a:rPr>
              <a:t>Perikard. Kalbi çevreleyen zar. Kalple arasında boşluk bulunur. Boşlukta kaykanlık sağlayan sıvı vardır.</a:t>
            </a:r>
            <a:endParaRPr lang="en-US" sz="1500" dirty="0"/>
          </a:p>
        </p:txBody>
      </p:sp>
      <p:sp>
        <p:nvSpPr>
          <p:cNvPr id="8" name="Shape 6"/>
          <p:cNvSpPr/>
          <p:nvPr/>
        </p:nvSpPr>
        <p:spPr>
          <a:xfrm>
            <a:off x="548640" y="2365248"/>
            <a:ext cx="11094415" cy="451866"/>
          </a:xfrm>
          <a:prstGeom prst="roundRect">
            <a:avLst>
              <a:gd name="adj" fmla="val 14165"/>
            </a:avLst>
          </a:prstGeom>
          <a:solidFill>
            <a:srgbClr val="FCEAEF"/>
          </a:solidFill>
          <a:ln/>
        </p:spPr>
      </p:sp>
      <p:sp>
        <p:nvSpPr>
          <p:cNvPr id="9" name="Text 7"/>
          <p:cNvSpPr txBox="1"/>
          <p:nvPr/>
        </p:nvSpPr>
        <p:spPr>
          <a:xfrm>
            <a:off x="704088" y="243840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epicardium (G) (epikardiyum): </a:t>
            </a:r>
            <a:r>
              <a:rPr lang="en-US" sz="1500" dirty="0">
                <a:solidFill>
                  <a:srgbClr val="1F2937"/>
                </a:solidFill>
                <a:latin typeface="Calibri" pitchFamily="34" charset="0"/>
                <a:ea typeface="Calibri" pitchFamily="34" charset="-122"/>
                <a:cs typeface="Calibri" pitchFamily="34" charset="-120"/>
              </a:rPr>
              <a:t>Kalbin en dıştaki katmanı. Aynı zamanda perikardın visseral yaprağıdır.</a:t>
            </a:r>
            <a:endParaRPr lang="en-US" sz="1500" dirty="0"/>
          </a:p>
        </p:txBody>
      </p:sp>
      <p:sp>
        <p:nvSpPr>
          <p:cNvPr id="10" name="Shape 8"/>
          <p:cNvSpPr/>
          <p:nvPr/>
        </p:nvSpPr>
        <p:spPr>
          <a:xfrm>
            <a:off x="548640" y="2908554"/>
            <a:ext cx="11094415" cy="451866"/>
          </a:xfrm>
          <a:prstGeom prst="roundRect">
            <a:avLst>
              <a:gd name="adj" fmla="val 14165"/>
            </a:avLst>
          </a:prstGeom>
          <a:solidFill>
            <a:srgbClr val="FCEAEF"/>
          </a:solidFill>
          <a:ln/>
        </p:spPr>
      </p:sp>
      <p:sp>
        <p:nvSpPr>
          <p:cNvPr id="11" name="Text 9"/>
          <p:cNvSpPr txBox="1"/>
          <p:nvPr/>
        </p:nvSpPr>
        <p:spPr>
          <a:xfrm>
            <a:off x="704088" y="298170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myocardium (G) (miyokardiyum): </a:t>
            </a:r>
            <a:r>
              <a:rPr lang="en-US" sz="1500" dirty="0">
                <a:solidFill>
                  <a:srgbClr val="1F2937"/>
                </a:solidFill>
                <a:latin typeface="Calibri" pitchFamily="34" charset="0"/>
                <a:ea typeface="Calibri" pitchFamily="34" charset="-122"/>
                <a:cs typeface="Calibri" pitchFamily="34" charset="-120"/>
              </a:rPr>
              <a:t>Kalbin kalp kası hücrelerinden yapılmış orta katmanıdır. Kalındır.</a:t>
            </a:r>
            <a:endParaRPr lang="en-US" sz="1500" dirty="0"/>
          </a:p>
        </p:txBody>
      </p:sp>
      <p:sp>
        <p:nvSpPr>
          <p:cNvPr id="12" name="Shape 10"/>
          <p:cNvSpPr/>
          <p:nvPr/>
        </p:nvSpPr>
        <p:spPr>
          <a:xfrm>
            <a:off x="548640" y="3451860"/>
            <a:ext cx="11094415" cy="451866"/>
          </a:xfrm>
          <a:prstGeom prst="roundRect">
            <a:avLst>
              <a:gd name="adj" fmla="val 14165"/>
            </a:avLst>
          </a:prstGeom>
          <a:solidFill>
            <a:srgbClr val="FCEAEF"/>
          </a:solidFill>
          <a:ln/>
        </p:spPr>
      </p:sp>
      <p:sp>
        <p:nvSpPr>
          <p:cNvPr id="13" name="Text 11"/>
          <p:cNvSpPr txBox="1"/>
          <p:nvPr/>
        </p:nvSpPr>
        <p:spPr>
          <a:xfrm>
            <a:off x="704088" y="352501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endocardium (G) (endokardiyum): </a:t>
            </a:r>
            <a:r>
              <a:rPr lang="en-US" sz="1500" dirty="0">
                <a:solidFill>
                  <a:srgbClr val="1F2937"/>
                </a:solidFill>
                <a:latin typeface="Calibri" pitchFamily="34" charset="0"/>
                <a:ea typeface="Calibri" pitchFamily="34" charset="-122"/>
                <a:cs typeface="Calibri" pitchFamily="34" charset="-120"/>
              </a:rPr>
              <a:t>Kalbin en iç katmanı, yüzeyi endotel hücreleri ile döşelidir.</a:t>
            </a:r>
            <a:endParaRPr lang="en-US" sz="1500" dirty="0"/>
          </a:p>
        </p:txBody>
      </p:sp>
      <p:sp>
        <p:nvSpPr>
          <p:cNvPr id="14" name="Shape 12"/>
          <p:cNvSpPr/>
          <p:nvPr/>
        </p:nvSpPr>
        <p:spPr>
          <a:xfrm>
            <a:off x="548640" y="3995166"/>
            <a:ext cx="11094415" cy="451866"/>
          </a:xfrm>
          <a:prstGeom prst="roundRect">
            <a:avLst>
              <a:gd name="adj" fmla="val 14165"/>
            </a:avLst>
          </a:prstGeom>
          <a:solidFill>
            <a:srgbClr val="FCEAEF"/>
          </a:solidFill>
          <a:ln/>
        </p:spPr>
      </p:sp>
      <p:sp>
        <p:nvSpPr>
          <p:cNvPr id="15" name="Text 13"/>
          <p:cNvSpPr txBox="1"/>
          <p:nvPr/>
        </p:nvSpPr>
        <p:spPr>
          <a:xfrm>
            <a:off x="704088" y="406831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atrium (L) (atriyum): </a:t>
            </a:r>
            <a:r>
              <a:rPr lang="en-US" sz="1500" dirty="0">
                <a:solidFill>
                  <a:srgbClr val="1F2937"/>
                </a:solidFill>
                <a:latin typeface="Calibri" pitchFamily="34" charset="0"/>
                <a:ea typeface="Calibri" pitchFamily="34" charset="-122"/>
                <a:cs typeface="Calibri" pitchFamily="34" charset="-120"/>
              </a:rPr>
              <a:t>Kulakçık, kalp bışluklarından ikisi</a:t>
            </a:r>
            <a:endParaRPr lang="en-US" sz="1500" dirty="0"/>
          </a:p>
        </p:txBody>
      </p:sp>
      <p:sp>
        <p:nvSpPr>
          <p:cNvPr id="16" name="Shape 14"/>
          <p:cNvSpPr/>
          <p:nvPr/>
        </p:nvSpPr>
        <p:spPr>
          <a:xfrm>
            <a:off x="548640" y="4538472"/>
            <a:ext cx="11094415" cy="451866"/>
          </a:xfrm>
          <a:prstGeom prst="roundRect">
            <a:avLst>
              <a:gd name="adj" fmla="val 14165"/>
            </a:avLst>
          </a:prstGeom>
          <a:solidFill>
            <a:srgbClr val="FCEAEF"/>
          </a:solidFill>
          <a:ln/>
        </p:spPr>
      </p:sp>
      <p:sp>
        <p:nvSpPr>
          <p:cNvPr id="17" name="Text 15"/>
          <p:cNvSpPr txBox="1"/>
          <p:nvPr/>
        </p:nvSpPr>
        <p:spPr>
          <a:xfrm>
            <a:off x="704088" y="461162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ventriculus (L) (ventrikül): </a:t>
            </a:r>
            <a:r>
              <a:rPr lang="en-US" sz="1500" dirty="0">
                <a:solidFill>
                  <a:srgbClr val="1F2937"/>
                </a:solidFill>
                <a:latin typeface="Calibri" pitchFamily="34" charset="0"/>
                <a:ea typeface="Calibri" pitchFamily="34" charset="-122"/>
                <a:cs typeface="Calibri" pitchFamily="34" charset="-120"/>
              </a:rPr>
              <a:t>Karıncık, kalbin tepe bölümünde bulunan iki boşluğa verilen isim</a:t>
            </a:r>
            <a:endParaRPr lang="en-US" sz="1500" dirty="0"/>
          </a:p>
        </p:txBody>
      </p:sp>
      <p:sp>
        <p:nvSpPr>
          <p:cNvPr id="18" name="Shape 16"/>
          <p:cNvSpPr/>
          <p:nvPr/>
        </p:nvSpPr>
        <p:spPr>
          <a:xfrm>
            <a:off x="548640" y="5081778"/>
            <a:ext cx="11094415" cy="684276"/>
          </a:xfrm>
          <a:prstGeom prst="roundRect">
            <a:avLst>
              <a:gd name="adj" fmla="val 9354"/>
            </a:avLst>
          </a:prstGeom>
          <a:solidFill>
            <a:srgbClr val="FCEAEF"/>
          </a:solidFill>
          <a:ln/>
        </p:spPr>
      </p:sp>
      <p:sp>
        <p:nvSpPr>
          <p:cNvPr id="19" name="Text 17"/>
          <p:cNvSpPr txBox="1"/>
          <p:nvPr/>
        </p:nvSpPr>
        <p:spPr>
          <a:xfrm>
            <a:off x="704088" y="5154930"/>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septum interatriale (L) (septum interatriyal): </a:t>
            </a:r>
            <a:r>
              <a:rPr lang="en-US" sz="1500" dirty="0">
                <a:solidFill>
                  <a:srgbClr val="1F2937"/>
                </a:solidFill>
                <a:latin typeface="Calibri" pitchFamily="34" charset="0"/>
                <a:ea typeface="Calibri" pitchFamily="34" charset="-122"/>
                <a:cs typeface="Calibri" pitchFamily="34" charset="-120"/>
              </a:rPr>
              <a:t>Atriyumlar arasındaki bölme. Bazı çocuklarda bu bölmede delik bulunur. Bu deliğe foramen ovale denir.</a:t>
            </a:r>
            <a:endParaRPr lang="en-US" sz="1500" dirty="0"/>
          </a:p>
        </p:txBody>
      </p:sp>
      <p:sp>
        <p:nvSpPr>
          <p:cNvPr id="20" name="Shape 18"/>
          <p:cNvSpPr/>
          <p:nvPr/>
        </p:nvSpPr>
        <p:spPr>
          <a:xfrm>
            <a:off x="548640" y="5857494"/>
            <a:ext cx="11094415" cy="451866"/>
          </a:xfrm>
          <a:prstGeom prst="roundRect">
            <a:avLst>
              <a:gd name="adj" fmla="val 14165"/>
            </a:avLst>
          </a:prstGeom>
          <a:solidFill>
            <a:srgbClr val="FCEAEF"/>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septum interventriculare (L) (septum interventrikülare): </a:t>
            </a:r>
            <a:r>
              <a:rPr lang="en-US" sz="1500" dirty="0">
                <a:solidFill>
                  <a:srgbClr val="1F2937"/>
                </a:solidFill>
                <a:latin typeface="Calibri" pitchFamily="34" charset="0"/>
                <a:ea typeface="Calibri" pitchFamily="34" charset="-122"/>
                <a:cs typeface="Calibri" pitchFamily="34" charset="-120"/>
              </a:rPr>
              <a:t>Ventriküller arasındaki bölme</a:t>
            </a:r>
            <a:endParaRPr lang="en-US" sz="15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Shape 0"/>
          <p:cNvSpPr/>
          <p:nvPr/>
        </p:nvSpPr>
        <p:spPr>
          <a:xfrm>
            <a:off x="548640" y="384048"/>
            <a:ext cx="7370064" cy="310896"/>
          </a:xfrm>
          <a:prstGeom prst="roundRect">
            <a:avLst>
              <a:gd name="adj" fmla="val 50000"/>
            </a:avLst>
          </a:prstGeom>
          <a:solidFill>
            <a:srgbClr val="FCEAEF"/>
          </a:solidFill>
          <a:ln/>
        </p:spPr>
      </p:sp>
      <p:sp>
        <p:nvSpPr>
          <p:cNvPr id="3" name="Text 1"/>
          <p:cNvSpPr txBox="1"/>
          <p:nvPr/>
        </p:nvSpPr>
        <p:spPr>
          <a:xfrm>
            <a:off x="694944" y="384048"/>
            <a:ext cx="709574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6.a. 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192</a:t>
            </a:r>
            <a:endParaRPr lang="en-US" sz="1000" dirty="0"/>
          </a:p>
        </p:txBody>
      </p:sp>
      <p:sp>
        <p:nvSpPr>
          <p:cNvPr id="6" name="Shape 4"/>
          <p:cNvSpPr/>
          <p:nvPr/>
        </p:nvSpPr>
        <p:spPr>
          <a:xfrm>
            <a:off x="548640" y="1553820"/>
            <a:ext cx="11094415" cy="638658"/>
          </a:xfrm>
          <a:prstGeom prst="roundRect">
            <a:avLst>
              <a:gd name="adj" fmla="val 10022"/>
            </a:avLst>
          </a:prstGeom>
          <a:solidFill>
            <a:srgbClr val="FCEAEF"/>
          </a:solidFill>
          <a:ln/>
        </p:spPr>
      </p:sp>
      <p:sp>
        <p:nvSpPr>
          <p:cNvPr id="7" name="Text 5"/>
          <p:cNvSpPr txBox="1"/>
          <p:nvPr/>
        </p:nvSpPr>
        <p:spPr>
          <a:xfrm>
            <a:off x="704088" y="162697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valva aorta (L): </a:t>
            </a:r>
            <a:r>
              <a:rPr lang="en-US" sz="1400" dirty="0">
                <a:solidFill>
                  <a:srgbClr val="1F2937"/>
                </a:solidFill>
                <a:latin typeface="Calibri" pitchFamily="34" charset="0"/>
                <a:ea typeface="Calibri" pitchFamily="34" charset="-122"/>
                <a:cs typeface="Calibri" pitchFamily="34" charset="-120"/>
              </a:rPr>
              <a:t>Ostiyum aortta bulunan kapakların her biri. Üç tane olan kapaklar yarım ay şeklindedirler. O yüzden bunlara semilunar (yarımay) kapak da denir.</a:t>
            </a:r>
            <a:endParaRPr lang="en-US" sz="1400" dirty="0"/>
          </a:p>
        </p:txBody>
      </p:sp>
      <p:sp>
        <p:nvSpPr>
          <p:cNvPr id="8" name="Shape 6"/>
          <p:cNvSpPr/>
          <p:nvPr/>
        </p:nvSpPr>
        <p:spPr>
          <a:xfrm>
            <a:off x="548640" y="2374697"/>
            <a:ext cx="11094415" cy="421742"/>
          </a:xfrm>
          <a:prstGeom prst="roundRect">
            <a:avLst>
              <a:gd name="adj" fmla="val 15177"/>
            </a:avLst>
          </a:prstGeom>
          <a:solidFill>
            <a:srgbClr val="FCEAEF"/>
          </a:solidFill>
          <a:ln/>
        </p:spPr>
      </p:sp>
      <p:sp>
        <p:nvSpPr>
          <p:cNvPr id="9" name="Text 7"/>
          <p:cNvSpPr txBox="1"/>
          <p:nvPr/>
        </p:nvSpPr>
        <p:spPr>
          <a:xfrm>
            <a:off x="704088" y="244784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valva (L): </a:t>
            </a:r>
            <a:r>
              <a:rPr lang="en-US" sz="1400" dirty="0">
                <a:solidFill>
                  <a:srgbClr val="1F2937"/>
                </a:solidFill>
                <a:latin typeface="Calibri" pitchFamily="34" charset="0"/>
                <a:ea typeface="Calibri" pitchFamily="34" charset="-122"/>
                <a:cs typeface="Calibri" pitchFamily="34" charset="-120"/>
              </a:rPr>
              <a:t>Kapak</a:t>
            </a:r>
            <a:endParaRPr lang="en-US" sz="1400" dirty="0"/>
          </a:p>
        </p:txBody>
      </p:sp>
      <p:sp>
        <p:nvSpPr>
          <p:cNvPr id="10" name="Shape 8"/>
          <p:cNvSpPr/>
          <p:nvPr/>
        </p:nvSpPr>
        <p:spPr>
          <a:xfrm>
            <a:off x="548640" y="2887878"/>
            <a:ext cx="11094415" cy="421742"/>
          </a:xfrm>
          <a:prstGeom prst="roundRect">
            <a:avLst>
              <a:gd name="adj" fmla="val 15177"/>
            </a:avLst>
          </a:prstGeom>
          <a:solidFill>
            <a:srgbClr val="FCEAEF"/>
          </a:solidFill>
          <a:ln/>
        </p:spPr>
      </p:sp>
      <p:sp>
        <p:nvSpPr>
          <p:cNvPr id="11" name="Text 9"/>
          <p:cNvSpPr txBox="1"/>
          <p:nvPr/>
        </p:nvSpPr>
        <p:spPr>
          <a:xfrm>
            <a:off x="704088" y="296103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valva bicuspidalis (L) (valva biküspidalis): </a:t>
            </a:r>
            <a:r>
              <a:rPr lang="en-US" sz="1400" dirty="0">
                <a:solidFill>
                  <a:srgbClr val="1F2937"/>
                </a:solidFill>
                <a:latin typeface="Calibri" pitchFamily="34" charset="0"/>
                <a:ea typeface="Calibri" pitchFamily="34" charset="-122"/>
                <a:cs typeface="Calibri" pitchFamily="34" charset="-120"/>
              </a:rPr>
              <a:t>Sol atrium ile sol ventrikül arasındaki delikten bulunan ikiz kapak.</a:t>
            </a:r>
            <a:endParaRPr lang="en-US" sz="1400" dirty="0"/>
          </a:p>
        </p:txBody>
      </p:sp>
      <p:sp>
        <p:nvSpPr>
          <p:cNvPr id="12" name="Shape 10"/>
          <p:cNvSpPr/>
          <p:nvPr/>
        </p:nvSpPr>
        <p:spPr>
          <a:xfrm>
            <a:off x="548640" y="3401060"/>
            <a:ext cx="11094415" cy="638658"/>
          </a:xfrm>
          <a:prstGeom prst="roundRect">
            <a:avLst>
              <a:gd name="adj" fmla="val 10022"/>
            </a:avLst>
          </a:prstGeom>
          <a:solidFill>
            <a:srgbClr val="FCEAEF"/>
          </a:solidFill>
          <a:ln/>
        </p:spPr>
      </p:sp>
      <p:sp>
        <p:nvSpPr>
          <p:cNvPr id="13" name="Text 11"/>
          <p:cNvSpPr txBox="1"/>
          <p:nvPr/>
        </p:nvSpPr>
        <p:spPr>
          <a:xfrm>
            <a:off x="704088" y="347421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valva tricuspidalis (L) (valva triküspidalis): </a:t>
            </a:r>
            <a:r>
              <a:rPr lang="en-US" sz="1400" dirty="0">
                <a:solidFill>
                  <a:srgbClr val="1F2937"/>
                </a:solidFill>
                <a:latin typeface="Calibri" pitchFamily="34" charset="0"/>
                <a:ea typeface="Calibri" pitchFamily="34" charset="-122"/>
                <a:cs typeface="Calibri" pitchFamily="34" charset="-120"/>
              </a:rPr>
              <a:t>Triküspidal kapak. Sağ atriumla sağ ventrikül arasındaki delikte bulunan ikiz kapak.</a:t>
            </a:r>
            <a:endParaRPr lang="en-US" sz="1400" dirty="0"/>
          </a:p>
        </p:txBody>
      </p:sp>
      <p:sp>
        <p:nvSpPr>
          <p:cNvPr id="14" name="Shape 12"/>
          <p:cNvSpPr/>
          <p:nvPr/>
        </p:nvSpPr>
        <p:spPr>
          <a:xfrm>
            <a:off x="548640" y="4131158"/>
            <a:ext cx="11094415" cy="638658"/>
          </a:xfrm>
          <a:prstGeom prst="roundRect">
            <a:avLst>
              <a:gd name="adj" fmla="val 10022"/>
            </a:avLst>
          </a:prstGeom>
          <a:solidFill>
            <a:srgbClr val="FCEAEF"/>
          </a:solidFill>
          <a:ln/>
        </p:spPr>
      </p:sp>
      <p:sp>
        <p:nvSpPr>
          <p:cNvPr id="15" name="Text 13"/>
          <p:cNvSpPr txBox="1"/>
          <p:nvPr/>
        </p:nvSpPr>
        <p:spPr>
          <a:xfrm>
            <a:off x="704088" y="4204310"/>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valva trunci pulmonalis (L) (valva trunsi pulmonalis): </a:t>
            </a:r>
            <a:r>
              <a:rPr lang="en-US" sz="1400" dirty="0">
                <a:solidFill>
                  <a:srgbClr val="1F2937"/>
                </a:solidFill>
                <a:latin typeface="Calibri" pitchFamily="34" charset="0"/>
                <a:ea typeface="Calibri" pitchFamily="34" charset="-122"/>
                <a:cs typeface="Calibri" pitchFamily="34" charset="-120"/>
              </a:rPr>
              <a:t>Pulmonal kapak. Sağ ventrikülden akciğere giden arterin başlangıç yerindeki kapak.</a:t>
            </a:r>
            <a:endParaRPr lang="en-US" sz="1400" dirty="0"/>
          </a:p>
        </p:txBody>
      </p:sp>
      <p:sp>
        <p:nvSpPr>
          <p:cNvPr id="16" name="Shape 14"/>
          <p:cNvSpPr/>
          <p:nvPr/>
        </p:nvSpPr>
        <p:spPr>
          <a:xfrm>
            <a:off x="548640" y="4861255"/>
            <a:ext cx="11094415" cy="421742"/>
          </a:xfrm>
          <a:prstGeom prst="roundRect">
            <a:avLst>
              <a:gd name="adj" fmla="val 15177"/>
            </a:avLst>
          </a:prstGeom>
          <a:solidFill>
            <a:srgbClr val="FCEAEF"/>
          </a:solidFill>
          <a:ln/>
        </p:spPr>
      </p:sp>
      <p:sp>
        <p:nvSpPr>
          <p:cNvPr id="17" name="Text 15"/>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systole (G) (sistol): </a:t>
            </a:r>
            <a:r>
              <a:rPr lang="en-US" sz="1400" dirty="0">
                <a:solidFill>
                  <a:srgbClr val="1F2937"/>
                </a:solidFill>
                <a:latin typeface="Calibri" pitchFamily="34" charset="0"/>
                <a:ea typeface="Calibri" pitchFamily="34" charset="-122"/>
                <a:cs typeface="Calibri" pitchFamily="34" charset="-120"/>
              </a:rPr>
              <a:t>Kalbin kanı pompaladığı periyod, kasılma</a:t>
            </a:r>
            <a:endParaRPr lang="en-US" sz="1400" dirty="0"/>
          </a:p>
        </p:txBody>
      </p:sp>
      <p:sp>
        <p:nvSpPr>
          <p:cNvPr id="18" name="Shape 16"/>
          <p:cNvSpPr/>
          <p:nvPr/>
        </p:nvSpPr>
        <p:spPr>
          <a:xfrm>
            <a:off x="548640" y="5374437"/>
            <a:ext cx="11094415" cy="421742"/>
          </a:xfrm>
          <a:prstGeom prst="roundRect">
            <a:avLst>
              <a:gd name="adj" fmla="val 15177"/>
            </a:avLst>
          </a:prstGeom>
          <a:solidFill>
            <a:srgbClr val="FCEAEF"/>
          </a:solidFill>
          <a:ln/>
        </p:spPr>
      </p:sp>
      <p:sp>
        <p:nvSpPr>
          <p:cNvPr id="19" name="Text 17"/>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diastole (G) (diyastol): </a:t>
            </a:r>
            <a:r>
              <a:rPr lang="en-US" sz="1400" dirty="0">
                <a:solidFill>
                  <a:srgbClr val="1F2937"/>
                </a:solidFill>
                <a:latin typeface="Calibri" pitchFamily="34" charset="0"/>
                <a:ea typeface="Calibri" pitchFamily="34" charset="-122"/>
                <a:cs typeface="Calibri" pitchFamily="34" charset="-120"/>
              </a:rPr>
              <a:t>Kanın kalbe dolduğu periyod, gevşeme</a:t>
            </a:r>
            <a:endParaRPr lang="en-US" sz="1400" dirty="0"/>
          </a:p>
        </p:txBody>
      </p:sp>
      <p:sp>
        <p:nvSpPr>
          <p:cNvPr id="20" name="Shape 18"/>
          <p:cNvSpPr/>
          <p:nvPr/>
        </p:nvSpPr>
        <p:spPr>
          <a:xfrm>
            <a:off x="548640" y="5887618"/>
            <a:ext cx="11094415" cy="421742"/>
          </a:xfrm>
          <a:prstGeom prst="roundRect">
            <a:avLst>
              <a:gd name="adj" fmla="val 15177"/>
            </a:avLst>
          </a:prstGeom>
          <a:solidFill>
            <a:srgbClr val="FCEAEF"/>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pulsus (L) (puls), sphygmus (G) (sfigmus): </a:t>
            </a:r>
            <a:r>
              <a:rPr lang="en-US" sz="1400" dirty="0">
                <a:solidFill>
                  <a:srgbClr val="1F2937"/>
                </a:solidFill>
                <a:latin typeface="Calibri" pitchFamily="34" charset="0"/>
                <a:ea typeface="Calibri" pitchFamily="34" charset="-122"/>
                <a:cs typeface="Calibri" pitchFamily="34" charset="-120"/>
              </a:rPr>
              <a:t>Nabız, vuru</a:t>
            </a:r>
            <a:endParaRPr lang="en-US" sz="14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Shape 0"/>
          <p:cNvSpPr/>
          <p:nvPr/>
        </p:nvSpPr>
        <p:spPr>
          <a:xfrm>
            <a:off x="548640" y="384048"/>
            <a:ext cx="6089904" cy="310896"/>
          </a:xfrm>
          <a:prstGeom prst="roundRect">
            <a:avLst>
              <a:gd name="adj" fmla="val 50000"/>
            </a:avLst>
          </a:prstGeom>
          <a:solidFill>
            <a:srgbClr val="FCEAEF"/>
          </a:solidFill>
          <a:ln/>
        </p:spPr>
      </p:sp>
      <p:sp>
        <p:nvSpPr>
          <p:cNvPr id="3" name="Text 1"/>
          <p:cNvSpPr txBox="1"/>
          <p:nvPr/>
        </p:nvSpPr>
        <p:spPr>
          <a:xfrm>
            <a:off x="694944" y="384048"/>
            <a:ext cx="581558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6.b. Semptom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193</a:t>
            </a:r>
            <a:endParaRPr lang="en-US" sz="1000" dirty="0"/>
          </a:p>
        </p:txBody>
      </p:sp>
      <p:sp>
        <p:nvSpPr>
          <p:cNvPr id="6" name="Shape 4"/>
          <p:cNvSpPr/>
          <p:nvPr/>
        </p:nvSpPr>
        <p:spPr>
          <a:xfrm>
            <a:off x="548640" y="1576349"/>
            <a:ext cx="11094415" cy="794461"/>
          </a:xfrm>
          <a:prstGeom prst="roundRect">
            <a:avLst>
              <a:gd name="adj" fmla="val 8057"/>
            </a:avLst>
          </a:prstGeom>
          <a:solidFill>
            <a:srgbClr val="FCEAEF"/>
          </a:solidFill>
          <a:ln/>
        </p:spPr>
      </p:sp>
      <p:sp>
        <p:nvSpPr>
          <p:cNvPr id="7" name="Text 5"/>
          <p:cNvSpPr txBox="1"/>
          <p:nvPr/>
        </p:nvSpPr>
        <p:spPr>
          <a:xfrm>
            <a:off x="704088" y="1649501"/>
            <a:ext cx="10783519" cy="648157"/>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acrocyanosis (G) (akrosiyanoz): </a:t>
            </a:r>
            <a:r>
              <a:rPr lang="en-US" sz="1300" dirty="0">
                <a:solidFill>
                  <a:srgbClr val="1F2937"/>
                </a:solidFill>
                <a:latin typeface="Calibri" pitchFamily="34" charset="0"/>
                <a:ea typeface="Calibri" pitchFamily="34" charset="-122"/>
                <a:cs typeface="Calibri" pitchFamily="34" charset="-120"/>
              </a:rPr>
              <a:t>Ellerde ve daha seyrek olarak ayaklarda görülen ve derideki küçük damarların spazmı nedeniyle oluşan, inatçı, ağrısız ve sistematik siyanozdur.</a:t>
            </a:r>
            <a:endParaRPr lang="en-US" sz="1300" dirty="0"/>
          </a:p>
        </p:txBody>
      </p:sp>
      <p:sp>
        <p:nvSpPr>
          <p:cNvPr id="8" name="Shape 6"/>
          <p:cNvSpPr/>
          <p:nvPr/>
        </p:nvSpPr>
        <p:spPr>
          <a:xfrm>
            <a:off x="548640" y="2462251"/>
            <a:ext cx="11094415" cy="995883"/>
          </a:xfrm>
          <a:prstGeom prst="roundRect">
            <a:avLst>
              <a:gd name="adj" fmla="val 6427"/>
            </a:avLst>
          </a:prstGeom>
          <a:solidFill>
            <a:srgbClr val="FCEAEF"/>
          </a:solidFill>
          <a:ln/>
        </p:spPr>
      </p:sp>
      <p:sp>
        <p:nvSpPr>
          <p:cNvPr id="9" name="Text 7"/>
          <p:cNvSpPr txBox="1"/>
          <p:nvPr/>
        </p:nvSpPr>
        <p:spPr>
          <a:xfrm>
            <a:off x="704088" y="2535403"/>
            <a:ext cx="10783519" cy="849579"/>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claudicatio intermittens (L) (klavdikasyo intermittens): </a:t>
            </a:r>
            <a:r>
              <a:rPr lang="en-US" sz="1300" dirty="0">
                <a:solidFill>
                  <a:srgbClr val="1F2937"/>
                </a:solidFill>
                <a:latin typeface="Calibri" pitchFamily="34" charset="0"/>
                <a:ea typeface="Calibri" pitchFamily="34" charset="-122"/>
                <a:cs typeface="Calibri" pitchFamily="34" charset="-120"/>
              </a:rPr>
              <a:t>Yürüme sırasında bacaklarda ortaya çıkan şiddetli kas ağrısıdır. Dolaşım bozukluğuna bağlı olarak ortaya çıkar. Dinlenme ile geçer. Hasta ağrıdan dolayı topallayarak yürür.</a:t>
            </a:r>
            <a:endParaRPr lang="en-US" sz="1300" dirty="0"/>
          </a:p>
        </p:txBody>
      </p:sp>
      <p:sp>
        <p:nvSpPr>
          <p:cNvPr id="10" name="Shape 8"/>
          <p:cNvSpPr/>
          <p:nvPr/>
        </p:nvSpPr>
        <p:spPr>
          <a:xfrm>
            <a:off x="548640" y="3662883"/>
            <a:ext cx="5410048" cy="593039"/>
          </a:xfrm>
          <a:prstGeom prst="roundRect">
            <a:avLst>
              <a:gd name="adj" fmla="val 10793"/>
            </a:avLst>
          </a:prstGeom>
          <a:solidFill>
            <a:srgbClr val="FCEAEF"/>
          </a:solidFill>
          <a:ln/>
        </p:spPr>
      </p:sp>
      <p:sp>
        <p:nvSpPr>
          <p:cNvPr id="11" name="Text 9"/>
          <p:cNvSpPr txBox="1"/>
          <p:nvPr/>
        </p:nvSpPr>
        <p:spPr>
          <a:xfrm>
            <a:off x="704088" y="3736035"/>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tachycardia (G) (taşikardi): </a:t>
            </a:r>
            <a:r>
              <a:rPr lang="en-US" sz="1300" dirty="0">
                <a:solidFill>
                  <a:srgbClr val="1F2937"/>
                </a:solidFill>
                <a:latin typeface="Calibri" pitchFamily="34" charset="0"/>
                <a:ea typeface="Calibri" pitchFamily="34" charset="-122"/>
                <a:cs typeface="Calibri" pitchFamily="34" charset="-120"/>
              </a:rPr>
              <a:t>Kalp atım hızının normalden fazla olması</a:t>
            </a:r>
            <a:endParaRPr lang="en-US" sz="1300" dirty="0"/>
          </a:p>
        </p:txBody>
      </p:sp>
      <p:sp>
        <p:nvSpPr>
          <p:cNvPr id="12" name="Shape 10"/>
          <p:cNvSpPr/>
          <p:nvPr/>
        </p:nvSpPr>
        <p:spPr>
          <a:xfrm>
            <a:off x="548640" y="4347362"/>
            <a:ext cx="5410048" cy="593039"/>
          </a:xfrm>
          <a:prstGeom prst="roundRect">
            <a:avLst>
              <a:gd name="adj" fmla="val 10793"/>
            </a:avLst>
          </a:prstGeom>
          <a:solidFill>
            <a:srgbClr val="FCEAEF"/>
          </a:solidFill>
          <a:ln/>
        </p:spPr>
      </p:sp>
      <p:sp>
        <p:nvSpPr>
          <p:cNvPr id="13" name="Text 11"/>
          <p:cNvSpPr txBox="1"/>
          <p:nvPr/>
        </p:nvSpPr>
        <p:spPr>
          <a:xfrm>
            <a:off x="704088" y="4420514"/>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bradycardia (G) (bradikardi): </a:t>
            </a:r>
            <a:r>
              <a:rPr lang="en-US" sz="1300" dirty="0">
                <a:solidFill>
                  <a:srgbClr val="1F2937"/>
                </a:solidFill>
                <a:latin typeface="Calibri" pitchFamily="34" charset="0"/>
                <a:ea typeface="Calibri" pitchFamily="34" charset="-122"/>
                <a:cs typeface="Calibri" pitchFamily="34" charset="-120"/>
              </a:rPr>
              <a:t>Kalp atım hızının normalden az olması</a:t>
            </a:r>
            <a:endParaRPr lang="en-US" sz="1300" dirty="0"/>
          </a:p>
        </p:txBody>
      </p:sp>
      <p:sp>
        <p:nvSpPr>
          <p:cNvPr id="14" name="Shape 12"/>
          <p:cNvSpPr/>
          <p:nvPr/>
        </p:nvSpPr>
        <p:spPr>
          <a:xfrm>
            <a:off x="548640" y="5031842"/>
            <a:ext cx="5410048" cy="391617"/>
          </a:xfrm>
          <a:prstGeom prst="roundRect">
            <a:avLst>
              <a:gd name="adj" fmla="val 16345"/>
            </a:avLst>
          </a:prstGeom>
          <a:solidFill>
            <a:srgbClr val="FCEAEF"/>
          </a:solidFill>
          <a:ln/>
        </p:spPr>
      </p:sp>
      <p:sp>
        <p:nvSpPr>
          <p:cNvPr id="15" name="Text 13"/>
          <p:cNvSpPr txBox="1"/>
          <p:nvPr/>
        </p:nvSpPr>
        <p:spPr>
          <a:xfrm>
            <a:off x="704088" y="5104994"/>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arrhytmia (G) (aritmi): </a:t>
            </a:r>
            <a:r>
              <a:rPr lang="en-US" sz="1300" dirty="0">
                <a:solidFill>
                  <a:srgbClr val="1F2937"/>
                </a:solidFill>
                <a:latin typeface="Calibri" pitchFamily="34" charset="0"/>
                <a:ea typeface="Calibri" pitchFamily="34" charset="-122"/>
                <a:cs typeface="Calibri" pitchFamily="34" charset="-120"/>
              </a:rPr>
              <a:t>Kalbin normal ritminin bozulması</a:t>
            </a:r>
            <a:endParaRPr lang="en-US" sz="1300" dirty="0"/>
          </a:p>
        </p:txBody>
      </p:sp>
      <p:sp>
        <p:nvSpPr>
          <p:cNvPr id="16" name="Shape 14"/>
          <p:cNvSpPr/>
          <p:nvPr/>
        </p:nvSpPr>
        <p:spPr>
          <a:xfrm>
            <a:off x="548640" y="5514899"/>
            <a:ext cx="5410048" cy="593039"/>
          </a:xfrm>
          <a:prstGeom prst="roundRect">
            <a:avLst>
              <a:gd name="adj" fmla="val 10793"/>
            </a:avLst>
          </a:prstGeom>
          <a:solidFill>
            <a:srgbClr val="FCEAEF"/>
          </a:solidFill>
          <a:ln/>
        </p:spPr>
      </p:sp>
      <p:sp>
        <p:nvSpPr>
          <p:cNvPr id="17" name="Text 15"/>
          <p:cNvSpPr txBox="1"/>
          <p:nvPr/>
        </p:nvSpPr>
        <p:spPr>
          <a:xfrm>
            <a:off x="704088" y="5588051"/>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palpitation (L) (palpitasyon): </a:t>
            </a:r>
            <a:r>
              <a:rPr lang="en-US" sz="1300" dirty="0">
                <a:solidFill>
                  <a:srgbClr val="1F2937"/>
                </a:solidFill>
                <a:latin typeface="Calibri" pitchFamily="34" charset="0"/>
                <a:ea typeface="Calibri" pitchFamily="34" charset="-122"/>
                <a:cs typeface="Calibri" pitchFamily="34" charset="-120"/>
              </a:rPr>
              <a:t>Çarpıntıç Kalp atımlarının hızlı ve kuvvetli oluşu</a:t>
            </a:r>
            <a:endParaRPr lang="en-US" sz="1300" dirty="0"/>
          </a:p>
        </p:txBody>
      </p:sp>
      <p:sp>
        <p:nvSpPr>
          <p:cNvPr id="18" name="Shape 16"/>
          <p:cNvSpPr/>
          <p:nvPr/>
        </p:nvSpPr>
        <p:spPr>
          <a:xfrm>
            <a:off x="6233008" y="3662883"/>
            <a:ext cx="5410048" cy="593039"/>
          </a:xfrm>
          <a:prstGeom prst="roundRect">
            <a:avLst>
              <a:gd name="adj" fmla="val 10793"/>
            </a:avLst>
          </a:prstGeom>
          <a:solidFill>
            <a:srgbClr val="FCEAEF"/>
          </a:solidFill>
          <a:ln/>
        </p:spPr>
      </p:sp>
      <p:sp>
        <p:nvSpPr>
          <p:cNvPr id="19" name="Text 17"/>
          <p:cNvSpPr txBox="1"/>
          <p:nvPr/>
        </p:nvSpPr>
        <p:spPr>
          <a:xfrm>
            <a:off x="6388456" y="3736035"/>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cyanosis (G) (siyanoz): </a:t>
            </a:r>
            <a:r>
              <a:rPr lang="en-US" sz="1300" dirty="0">
                <a:solidFill>
                  <a:srgbClr val="1F2937"/>
                </a:solidFill>
                <a:latin typeface="Calibri" pitchFamily="34" charset="0"/>
                <a:ea typeface="Calibri" pitchFamily="34" charset="-122"/>
                <a:cs typeface="Calibri" pitchFamily="34" charset="-120"/>
              </a:rPr>
              <a:t>Morarma, kan oksijenlenmesinin yetersiz olmasına bağlı olarak oluşur</a:t>
            </a:r>
            <a:endParaRPr lang="en-US" sz="1300" dirty="0"/>
          </a:p>
        </p:txBody>
      </p:sp>
      <p:sp>
        <p:nvSpPr>
          <p:cNvPr id="20" name="Shape 18"/>
          <p:cNvSpPr/>
          <p:nvPr/>
        </p:nvSpPr>
        <p:spPr>
          <a:xfrm>
            <a:off x="6233008" y="4347362"/>
            <a:ext cx="5410048" cy="593039"/>
          </a:xfrm>
          <a:prstGeom prst="roundRect">
            <a:avLst>
              <a:gd name="adj" fmla="val 10793"/>
            </a:avLst>
          </a:prstGeom>
          <a:solidFill>
            <a:srgbClr val="FCEAEF"/>
          </a:solidFill>
          <a:ln/>
        </p:spPr>
      </p:sp>
      <p:sp>
        <p:nvSpPr>
          <p:cNvPr id="21" name="Text 19"/>
          <p:cNvSpPr txBox="1"/>
          <p:nvPr/>
        </p:nvSpPr>
        <p:spPr>
          <a:xfrm>
            <a:off x="6388456" y="4420514"/>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ischemia (G) (iskemi): </a:t>
            </a:r>
            <a:r>
              <a:rPr lang="en-US" sz="1300" dirty="0">
                <a:solidFill>
                  <a:srgbClr val="1F2937"/>
                </a:solidFill>
                <a:latin typeface="Calibri" pitchFamily="34" charset="0"/>
                <a:ea typeface="Calibri" pitchFamily="34" charset="-122"/>
                <a:cs typeface="Calibri" pitchFamily="34" charset="-120"/>
              </a:rPr>
              <a:t>Herhangi bir organa yeterince kanın gitmemesi</a:t>
            </a:r>
            <a:endParaRPr lang="en-US" sz="1300" dirty="0"/>
          </a:p>
        </p:txBody>
      </p:sp>
      <p:sp>
        <p:nvSpPr>
          <p:cNvPr id="22" name="Shape 20"/>
          <p:cNvSpPr/>
          <p:nvPr/>
        </p:nvSpPr>
        <p:spPr>
          <a:xfrm>
            <a:off x="6233008" y="5031842"/>
            <a:ext cx="5410048" cy="593039"/>
          </a:xfrm>
          <a:prstGeom prst="roundRect">
            <a:avLst>
              <a:gd name="adj" fmla="val 10793"/>
            </a:avLst>
          </a:prstGeom>
          <a:solidFill>
            <a:srgbClr val="FCEAEF"/>
          </a:solidFill>
          <a:ln/>
        </p:spPr>
      </p:sp>
      <p:sp>
        <p:nvSpPr>
          <p:cNvPr id="23" name="Text 21"/>
          <p:cNvSpPr txBox="1"/>
          <p:nvPr/>
        </p:nvSpPr>
        <p:spPr>
          <a:xfrm>
            <a:off x="6388456" y="5104994"/>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vasoconstrivtion (L) (vazoconstriksiyon): </a:t>
            </a:r>
            <a:r>
              <a:rPr lang="en-US" sz="1300" dirty="0">
                <a:solidFill>
                  <a:srgbClr val="1F2937"/>
                </a:solidFill>
                <a:latin typeface="Calibri" pitchFamily="34" charset="0"/>
                <a:ea typeface="Calibri" pitchFamily="34" charset="-122"/>
                <a:cs typeface="Calibri" pitchFamily="34" charset="-120"/>
              </a:rPr>
              <a:t>Kan damarlarının daralması</a:t>
            </a:r>
            <a:endParaRPr lang="en-US" sz="1300" dirty="0"/>
          </a:p>
        </p:txBody>
      </p:sp>
      <p:sp>
        <p:nvSpPr>
          <p:cNvPr id="24" name="Shape 22"/>
          <p:cNvSpPr/>
          <p:nvPr/>
        </p:nvSpPr>
        <p:spPr>
          <a:xfrm>
            <a:off x="6233008" y="5716321"/>
            <a:ext cx="5410048" cy="593039"/>
          </a:xfrm>
          <a:prstGeom prst="roundRect">
            <a:avLst>
              <a:gd name="adj" fmla="val 10793"/>
            </a:avLst>
          </a:prstGeom>
          <a:solidFill>
            <a:srgbClr val="FCEAEF"/>
          </a:solidFill>
          <a:ln/>
        </p:spPr>
      </p:sp>
      <p:sp>
        <p:nvSpPr>
          <p:cNvPr id="25" name="Text 23"/>
          <p:cNvSpPr txBox="1"/>
          <p:nvPr/>
        </p:nvSpPr>
        <p:spPr>
          <a:xfrm>
            <a:off x="6388456" y="5789473"/>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BE123C"/>
                </a:solidFill>
                <a:latin typeface="Calibri" pitchFamily="34" charset="0"/>
                <a:ea typeface="Calibri" pitchFamily="34" charset="-122"/>
                <a:cs typeface="Calibri" pitchFamily="34" charset="-120"/>
              </a:rPr>
              <a:t>vasodilatation (L) (vazodilatosyon): </a:t>
            </a:r>
            <a:r>
              <a:rPr lang="en-US" sz="1300" dirty="0">
                <a:solidFill>
                  <a:srgbClr val="1F2937"/>
                </a:solidFill>
                <a:latin typeface="Calibri" pitchFamily="34" charset="0"/>
                <a:ea typeface="Calibri" pitchFamily="34" charset="-122"/>
                <a:cs typeface="Calibri" pitchFamily="34" charset="-120"/>
              </a:rPr>
              <a:t>Kan damarlarının genişlemesi</a:t>
            </a:r>
            <a:endParaRPr lang="en-US" sz="13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Shape 0"/>
          <p:cNvSpPr/>
          <p:nvPr/>
        </p:nvSpPr>
        <p:spPr>
          <a:xfrm>
            <a:off x="548640" y="384048"/>
            <a:ext cx="6089904" cy="310896"/>
          </a:xfrm>
          <a:prstGeom prst="roundRect">
            <a:avLst>
              <a:gd name="adj" fmla="val 50000"/>
            </a:avLst>
          </a:prstGeom>
          <a:solidFill>
            <a:srgbClr val="FCEAEF"/>
          </a:solidFill>
          <a:ln/>
        </p:spPr>
      </p:sp>
      <p:sp>
        <p:nvSpPr>
          <p:cNvPr id="3" name="Text 1"/>
          <p:cNvSpPr txBox="1"/>
          <p:nvPr/>
        </p:nvSpPr>
        <p:spPr>
          <a:xfrm>
            <a:off x="694944" y="384048"/>
            <a:ext cx="581558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194</a:t>
            </a:r>
            <a:endParaRPr lang="en-US" sz="1000" dirty="0"/>
          </a:p>
        </p:txBody>
      </p:sp>
      <p:sp>
        <p:nvSpPr>
          <p:cNvPr id="6" name="Shape 4"/>
          <p:cNvSpPr/>
          <p:nvPr/>
        </p:nvSpPr>
        <p:spPr>
          <a:xfrm>
            <a:off x="548640" y="1764538"/>
            <a:ext cx="11094415" cy="775513"/>
          </a:xfrm>
          <a:prstGeom prst="roundRect">
            <a:avLst>
              <a:gd name="adj" fmla="val 8254"/>
            </a:avLst>
          </a:prstGeom>
          <a:solidFill>
            <a:srgbClr val="FCEAEF"/>
          </a:solidFill>
          <a:ln/>
        </p:spPr>
      </p:sp>
      <p:sp>
        <p:nvSpPr>
          <p:cNvPr id="7" name="Text 5"/>
          <p:cNvSpPr txBox="1"/>
          <p:nvPr/>
        </p:nvSpPr>
        <p:spPr>
          <a:xfrm>
            <a:off x="704088" y="1837690"/>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atherosclerosis (G) (aterosikleroz): </a:t>
            </a:r>
            <a:r>
              <a:rPr lang="en-US" sz="1700" dirty="0">
                <a:solidFill>
                  <a:srgbClr val="1F2937"/>
                </a:solidFill>
                <a:latin typeface="Calibri" pitchFamily="34" charset="0"/>
                <a:ea typeface="Calibri" pitchFamily="34" charset="-122"/>
                <a:cs typeface="Calibri" pitchFamily="34" charset="-120"/>
              </a:rPr>
              <a:t>Atheroma adıyla bilinen lokalize lipid birikimine bağlı olarak intima tabakasının kalınlaşmasıyla kendini gösteren bir arter lezyonu.</a:t>
            </a:r>
            <a:endParaRPr lang="en-US" sz="1700" dirty="0"/>
          </a:p>
        </p:txBody>
      </p:sp>
      <p:sp>
        <p:nvSpPr>
          <p:cNvPr id="8" name="Shape 6"/>
          <p:cNvSpPr/>
          <p:nvPr/>
        </p:nvSpPr>
        <p:spPr>
          <a:xfrm>
            <a:off x="548640" y="2631491"/>
            <a:ext cx="11094415" cy="1038911"/>
          </a:xfrm>
          <a:prstGeom prst="roundRect">
            <a:avLst>
              <a:gd name="adj" fmla="val 6161"/>
            </a:avLst>
          </a:prstGeom>
          <a:solidFill>
            <a:srgbClr val="FCEAEF"/>
          </a:solidFill>
          <a:ln/>
        </p:spPr>
      </p:sp>
      <p:sp>
        <p:nvSpPr>
          <p:cNvPr id="9" name="Text 7"/>
          <p:cNvSpPr txBox="1"/>
          <p:nvPr/>
        </p:nvSpPr>
        <p:spPr>
          <a:xfrm>
            <a:off x="704088" y="2704643"/>
            <a:ext cx="10783519" cy="892607"/>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angina (G) pectoris (L) (anjina pektori): </a:t>
            </a:r>
            <a:r>
              <a:rPr lang="en-US" sz="1700" dirty="0">
                <a:solidFill>
                  <a:srgbClr val="1F2937"/>
                </a:solidFill>
                <a:latin typeface="Calibri" pitchFamily="34" charset="0"/>
                <a:ea typeface="Calibri" pitchFamily="34" charset="-122"/>
                <a:cs typeface="Calibri" pitchFamily="34" charset="-120"/>
              </a:rPr>
              <a:t>Koroner arterdeki ateroskleroz sonucu miyokard iskemisine bağlı olarak göüste ağrı sonucu ortaya çıkan durum. Çoğu zaman heyecanlanma veya egzersis sonucu ortaya çıkar. Hasta dinlendiğinde geçer.</a:t>
            </a:r>
            <a:endParaRPr lang="en-US" sz="1700" dirty="0"/>
          </a:p>
        </p:txBody>
      </p:sp>
      <p:sp>
        <p:nvSpPr>
          <p:cNvPr id="10" name="Shape 8"/>
          <p:cNvSpPr/>
          <p:nvPr/>
        </p:nvSpPr>
        <p:spPr>
          <a:xfrm>
            <a:off x="548640" y="3761842"/>
            <a:ext cx="11094415" cy="775513"/>
          </a:xfrm>
          <a:prstGeom prst="roundRect">
            <a:avLst>
              <a:gd name="adj" fmla="val 8254"/>
            </a:avLst>
          </a:prstGeom>
          <a:solidFill>
            <a:srgbClr val="FCEAEF"/>
          </a:solidFill>
          <a:ln/>
        </p:spPr>
      </p:sp>
      <p:sp>
        <p:nvSpPr>
          <p:cNvPr id="11" name="Text 9"/>
          <p:cNvSpPr txBox="1"/>
          <p:nvPr/>
        </p:nvSpPr>
        <p:spPr>
          <a:xfrm>
            <a:off x="704088" y="3834994"/>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myocardial (G) infarctus (L) (miokard enfaktüsü-MI): </a:t>
            </a:r>
            <a:r>
              <a:rPr lang="en-US" sz="1700" dirty="0">
                <a:solidFill>
                  <a:srgbClr val="1F2937"/>
                </a:solidFill>
                <a:latin typeface="Calibri" pitchFamily="34" charset="0"/>
                <a:ea typeface="Calibri" pitchFamily="34" charset="-122"/>
                <a:cs typeface="Calibri" pitchFamily="34" charset="-120"/>
              </a:rPr>
              <a:t>Genellikle miyokardın bir bölümüne gelen koroner kan akımının birden bire azalması sonucu ortaya çıkan iskemik miyokard nefrozudur.</a:t>
            </a:r>
            <a:endParaRPr lang="en-US" sz="1700" dirty="0"/>
          </a:p>
        </p:txBody>
      </p:sp>
      <p:sp>
        <p:nvSpPr>
          <p:cNvPr id="12" name="Shape 10"/>
          <p:cNvSpPr/>
          <p:nvPr/>
        </p:nvSpPr>
        <p:spPr>
          <a:xfrm>
            <a:off x="548640" y="4628794"/>
            <a:ext cx="11094415" cy="775513"/>
          </a:xfrm>
          <a:prstGeom prst="roundRect">
            <a:avLst>
              <a:gd name="adj" fmla="val 8254"/>
            </a:avLst>
          </a:prstGeom>
          <a:solidFill>
            <a:srgbClr val="FCEAEF"/>
          </a:solidFill>
          <a:ln/>
        </p:spPr>
      </p:sp>
      <p:sp>
        <p:nvSpPr>
          <p:cNvPr id="13" name="Text 11"/>
          <p:cNvSpPr txBox="1"/>
          <p:nvPr/>
        </p:nvSpPr>
        <p:spPr>
          <a:xfrm>
            <a:off x="704088" y="4701946"/>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ischemic heart disease (İ) (İskemik kalp yetezliği): </a:t>
            </a:r>
            <a:r>
              <a:rPr lang="en-US" sz="1700" dirty="0">
                <a:solidFill>
                  <a:srgbClr val="1F2937"/>
                </a:solidFill>
                <a:latin typeface="Calibri" pitchFamily="34" charset="0"/>
                <a:ea typeface="Calibri" pitchFamily="34" charset="-122"/>
                <a:cs typeface="Calibri" pitchFamily="34" charset="-120"/>
              </a:rPr>
              <a:t>Çoğunlukla koroner aterosklerozdan kaynaklanan ve kalp kaslarına yeterince kan gelmesini engelleyen kalp hastalığı</a:t>
            </a:r>
            <a:endParaRPr lang="en-US" sz="1700" dirty="0"/>
          </a:p>
        </p:txBody>
      </p:sp>
      <p:sp>
        <p:nvSpPr>
          <p:cNvPr id="14" name="Shape 12"/>
          <p:cNvSpPr/>
          <p:nvPr/>
        </p:nvSpPr>
        <p:spPr>
          <a:xfrm>
            <a:off x="548640" y="5797245"/>
            <a:ext cx="11094415" cy="512115"/>
          </a:xfrm>
          <a:prstGeom prst="roundRect">
            <a:avLst>
              <a:gd name="adj" fmla="val 12499"/>
            </a:avLst>
          </a:prstGeom>
          <a:solidFill>
            <a:srgbClr val="FCEAEF"/>
          </a:solidFill>
          <a:ln/>
        </p:spPr>
      </p:sp>
      <p:sp>
        <p:nvSpPr>
          <p:cNvPr id="15" name="Text 13"/>
          <p:cNvSpPr txBox="1"/>
          <p:nvPr/>
        </p:nvSpPr>
        <p:spPr>
          <a:xfrm>
            <a:off x="704088" y="5870397"/>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cardiomyopathy (G) (kardiyomiyopati): </a:t>
            </a:r>
            <a:r>
              <a:rPr lang="en-US" sz="1700" dirty="0">
                <a:solidFill>
                  <a:srgbClr val="1F2937"/>
                </a:solidFill>
                <a:latin typeface="Calibri" pitchFamily="34" charset="0"/>
                <a:ea typeface="Calibri" pitchFamily="34" charset="-122"/>
                <a:cs typeface="Calibri" pitchFamily="34" charset="-120"/>
              </a:rPr>
              <a:t>Kalp kasının iltihabi olmayan patolojik lezyonlarıdırç</a:t>
            </a:r>
            <a:endParaRPr lang="en-US" sz="17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Shape 0"/>
          <p:cNvSpPr/>
          <p:nvPr/>
        </p:nvSpPr>
        <p:spPr>
          <a:xfrm>
            <a:off x="548640" y="384048"/>
            <a:ext cx="7370064" cy="310896"/>
          </a:xfrm>
          <a:prstGeom prst="roundRect">
            <a:avLst>
              <a:gd name="adj" fmla="val 50000"/>
            </a:avLst>
          </a:prstGeom>
          <a:solidFill>
            <a:srgbClr val="FCEAEF"/>
          </a:solidFill>
          <a:ln/>
        </p:spPr>
      </p:sp>
      <p:sp>
        <p:nvSpPr>
          <p:cNvPr id="3" name="Text 1"/>
          <p:cNvSpPr txBox="1"/>
          <p:nvPr/>
        </p:nvSpPr>
        <p:spPr>
          <a:xfrm>
            <a:off x="694944" y="384048"/>
            <a:ext cx="709574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195</a:t>
            </a:r>
            <a:endParaRPr lang="en-US" sz="1000" dirty="0"/>
          </a:p>
        </p:txBody>
      </p:sp>
      <p:sp>
        <p:nvSpPr>
          <p:cNvPr id="6" name="Shape 4"/>
          <p:cNvSpPr/>
          <p:nvPr/>
        </p:nvSpPr>
        <p:spPr>
          <a:xfrm>
            <a:off x="548640" y="1514145"/>
            <a:ext cx="11094415" cy="638658"/>
          </a:xfrm>
          <a:prstGeom prst="roundRect">
            <a:avLst>
              <a:gd name="adj" fmla="val 10022"/>
            </a:avLst>
          </a:prstGeom>
          <a:solidFill>
            <a:srgbClr val="FCEAEF"/>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shock (İ) (şok): </a:t>
            </a:r>
            <a:r>
              <a:rPr lang="en-US" sz="1400" dirty="0">
                <a:solidFill>
                  <a:srgbClr val="1F2937"/>
                </a:solidFill>
                <a:latin typeface="Calibri" pitchFamily="34" charset="0"/>
                <a:ea typeface="Calibri" pitchFamily="34" charset="-122"/>
                <a:cs typeface="Calibri" pitchFamily="34" charset="-120"/>
              </a:rPr>
              <a:t>Dakikadaki kalp atım sayısının yetersiz olması ya da periferik kan akımının kötü bir şekilde dağılması nedeniyle dokulara giden kan akımının, onların canlılıklarını sürdürecek yeterlilikte olmaması durumu</a:t>
            </a:r>
            <a:endParaRPr lang="en-US" sz="1400" dirty="0"/>
          </a:p>
        </p:txBody>
      </p:sp>
      <p:sp>
        <p:nvSpPr>
          <p:cNvPr id="8" name="Shape 6"/>
          <p:cNvSpPr/>
          <p:nvPr/>
        </p:nvSpPr>
        <p:spPr>
          <a:xfrm>
            <a:off x="548640" y="2295347"/>
            <a:ext cx="11094415" cy="421742"/>
          </a:xfrm>
          <a:prstGeom prst="roundRect">
            <a:avLst>
              <a:gd name="adj" fmla="val 15177"/>
            </a:avLst>
          </a:prstGeom>
          <a:solidFill>
            <a:srgbClr val="FCEAEF"/>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hyper(G)tension(L) (hipertansiyon): </a:t>
            </a:r>
            <a:r>
              <a:rPr lang="en-US" sz="1400" dirty="0">
                <a:solidFill>
                  <a:srgbClr val="1F2937"/>
                </a:solidFill>
                <a:latin typeface="Calibri" pitchFamily="34" charset="0"/>
                <a:ea typeface="Calibri" pitchFamily="34" charset="-122"/>
                <a:cs typeface="Calibri" pitchFamily="34" charset="-120"/>
              </a:rPr>
              <a:t>Arteriyel kan basıncının yükselmesi</a:t>
            </a:r>
            <a:endParaRPr lang="en-US" sz="1400" dirty="0"/>
          </a:p>
        </p:txBody>
      </p:sp>
      <p:sp>
        <p:nvSpPr>
          <p:cNvPr id="10" name="Shape 8"/>
          <p:cNvSpPr/>
          <p:nvPr/>
        </p:nvSpPr>
        <p:spPr>
          <a:xfrm>
            <a:off x="548640" y="2808529"/>
            <a:ext cx="11094415" cy="421742"/>
          </a:xfrm>
          <a:prstGeom prst="roundRect">
            <a:avLst>
              <a:gd name="adj" fmla="val 15177"/>
            </a:avLst>
          </a:prstGeom>
          <a:solidFill>
            <a:srgbClr val="FCEAEF"/>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essential (L) hypertension (esensiyal hipertansiyon): </a:t>
            </a:r>
            <a:r>
              <a:rPr lang="en-US" sz="1400" dirty="0">
                <a:solidFill>
                  <a:srgbClr val="1F2937"/>
                </a:solidFill>
                <a:latin typeface="Calibri" pitchFamily="34" charset="0"/>
                <a:ea typeface="Calibri" pitchFamily="34" charset="-122"/>
                <a:cs typeface="Calibri" pitchFamily="34" charset="-120"/>
              </a:rPr>
              <a:t>Tek bir nedene bağlanamayan hipertansiyon.</a:t>
            </a:r>
            <a:endParaRPr lang="en-US" sz="1400" dirty="0"/>
          </a:p>
        </p:txBody>
      </p:sp>
      <p:sp>
        <p:nvSpPr>
          <p:cNvPr id="12" name="Shape 10"/>
          <p:cNvSpPr/>
          <p:nvPr/>
        </p:nvSpPr>
        <p:spPr>
          <a:xfrm>
            <a:off x="548640" y="3321710"/>
            <a:ext cx="11094415" cy="421742"/>
          </a:xfrm>
          <a:prstGeom prst="roundRect">
            <a:avLst>
              <a:gd name="adj" fmla="val 15177"/>
            </a:avLst>
          </a:prstGeom>
          <a:solidFill>
            <a:srgbClr val="FCEAEF"/>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orthostatic hypertension (G) (ortostatik hipertansiyon): </a:t>
            </a:r>
            <a:r>
              <a:rPr lang="en-US" sz="1400" dirty="0">
                <a:solidFill>
                  <a:srgbClr val="1F2937"/>
                </a:solidFill>
                <a:latin typeface="Calibri" pitchFamily="34" charset="0"/>
                <a:ea typeface="Calibri" pitchFamily="34" charset="-122"/>
                <a:cs typeface="Calibri" pitchFamily="34" charset="-120"/>
              </a:rPr>
              <a:t>Kişi dik duruma geçerken, kan basıncının aşırı miktarda düşmesi</a:t>
            </a:r>
            <a:endParaRPr lang="en-US" sz="1400" dirty="0"/>
          </a:p>
        </p:txBody>
      </p:sp>
      <p:sp>
        <p:nvSpPr>
          <p:cNvPr id="14" name="Shape 12"/>
          <p:cNvSpPr/>
          <p:nvPr/>
        </p:nvSpPr>
        <p:spPr>
          <a:xfrm>
            <a:off x="548640" y="3834892"/>
            <a:ext cx="11094415" cy="421742"/>
          </a:xfrm>
          <a:prstGeom prst="roundRect">
            <a:avLst>
              <a:gd name="adj" fmla="val 15177"/>
            </a:avLst>
          </a:prstGeom>
          <a:solidFill>
            <a:srgbClr val="FCEAEF"/>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cardiogenic (G) shock (kardiyojenik şok): </a:t>
            </a:r>
            <a:r>
              <a:rPr lang="en-US" sz="1400" dirty="0">
                <a:solidFill>
                  <a:srgbClr val="1F2937"/>
                </a:solidFill>
                <a:latin typeface="Calibri" pitchFamily="34" charset="0"/>
                <a:ea typeface="Calibri" pitchFamily="34" charset="-122"/>
                <a:cs typeface="Calibri" pitchFamily="34" charset="-120"/>
              </a:rPr>
              <a:t>Kalbin pompalama fonksiyonunun bozulmasına bağlı gelişen şok</a:t>
            </a:r>
            <a:endParaRPr lang="en-US" sz="1400" dirty="0"/>
          </a:p>
        </p:txBody>
      </p:sp>
      <p:sp>
        <p:nvSpPr>
          <p:cNvPr id="16" name="Shape 14"/>
          <p:cNvSpPr/>
          <p:nvPr/>
        </p:nvSpPr>
        <p:spPr>
          <a:xfrm>
            <a:off x="548640" y="4348074"/>
            <a:ext cx="11094415" cy="421742"/>
          </a:xfrm>
          <a:prstGeom prst="roundRect">
            <a:avLst>
              <a:gd name="adj" fmla="val 15177"/>
            </a:avLst>
          </a:prstGeom>
          <a:solidFill>
            <a:srgbClr val="FCEAEF"/>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hypovolemic shock (hipovolemik şok): </a:t>
            </a:r>
            <a:r>
              <a:rPr lang="en-US" sz="1400" dirty="0">
                <a:solidFill>
                  <a:srgbClr val="1F2937"/>
                </a:solidFill>
                <a:latin typeface="Calibri" pitchFamily="34" charset="0"/>
                <a:ea typeface="Calibri" pitchFamily="34" charset="-122"/>
                <a:cs typeface="Calibri" pitchFamily="34" charset="-120"/>
              </a:rPr>
              <a:t>Damar içi sıvı hacminin az olması nedeniyle gelişen şok.</a:t>
            </a:r>
            <a:endParaRPr lang="en-US" sz="1400" dirty="0"/>
          </a:p>
        </p:txBody>
      </p:sp>
      <p:sp>
        <p:nvSpPr>
          <p:cNvPr id="18" name="Shape 16"/>
          <p:cNvSpPr/>
          <p:nvPr/>
        </p:nvSpPr>
        <p:spPr>
          <a:xfrm>
            <a:off x="548640" y="4861255"/>
            <a:ext cx="11094415" cy="421742"/>
          </a:xfrm>
          <a:prstGeom prst="roundRect">
            <a:avLst>
              <a:gd name="adj" fmla="val 15177"/>
            </a:avLst>
          </a:prstGeom>
          <a:solidFill>
            <a:srgbClr val="FCEAEF"/>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septic (L) shock (septik şok): </a:t>
            </a:r>
            <a:r>
              <a:rPr lang="en-US" sz="1400" dirty="0">
                <a:solidFill>
                  <a:srgbClr val="1F2937"/>
                </a:solidFill>
                <a:latin typeface="Calibri" pitchFamily="34" charset="0"/>
                <a:ea typeface="Calibri" pitchFamily="34" charset="-122"/>
                <a:cs typeface="Calibri" pitchFamily="34" charset="-120"/>
              </a:rPr>
              <a:t>Bir enfeksiyon ajanının yol açtığı şoktur.</a:t>
            </a:r>
            <a:endParaRPr lang="en-US" sz="1400" dirty="0"/>
          </a:p>
        </p:txBody>
      </p:sp>
      <p:sp>
        <p:nvSpPr>
          <p:cNvPr id="20" name="Shape 18"/>
          <p:cNvSpPr/>
          <p:nvPr/>
        </p:nvSpPr>
        <p:spPr>
          <a:xfrm>
            <a:off x="548640" y="5374437"/>
            <a:ext cx="11094415" cy="421742"/>
          </a:xfrm>
          <a:prstGeom prst="roundRect">
            <a:avLst>
              <a:gd name="adj" fmla="val 15177"/>
            </a:avLst>
          </a:prstGeom>
          <a:solidFill>
            <a:srgbClr val="FCEAEF"/>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atrial fibrillation (L) (atriyal fibrilasyon): </a:t>
            </a:r>
            <a:r>
              <a:rPr lang="en-US" sz="1400" dirty="0">
                <a:solidFill>
                  <a:srgbClr val="1F2937"/>
                </a:solidFill>
                <a:latin typeface="Calibri" pitchFamily="34" charset="0"/>
                <a:ea typeface="Calibri" pitchFamily="34" charset="-122"/>
                <a:cs typeface="Calibri" pitchFamily="34" charset="-120"/>
              </a:rPr>
              <a:t>Atriyum kasının titreşim şeklinde sürekli ve düzensiz kasılmsı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FCEAEF"/>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ventricular fibrillation (L) (ventriküler fibrilasyon): </a:t>
            </a:r>
            <a:r>
              <a:rPr lang="en-US" sz="1400" dirty="0">
                <a:solidFill>
                  <a:srgbClr val="1F2937"/>
                </a:solidFill>
                <a:latin typeface="Calibri" pitchFamily="34" charset="0"/>
                <a:ea typeface="Calibri" pitchFamily="34" charset="-122"/>
                <a:cs typeface="Calibri" pitchFamily="34" charset="-120"/>
              </a:rPr>
              <a:t>Ventrikül kasının titreşim şeklinde sürekli ve düzensiz kasılması</a:t>
            </a:r>
            <a:endParaRPr lang="en-US" sz="14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Shape 0"/>
          <p:cNvSpPr/>
          <p:nvPr/>
        </p:nvSpPr>
        <p:spPr>
          <a:xfrm>
            <a:off x="548640" y="384048"/>
            <a:ext cx="7370064" cy="310896"/>
          </a:xfrm>
          <a:prstGeom prst="roundRect">
            <a:avLst>
              <a:gd name="adj" fmla="val 50000"/>
            </a:avLst>
          </a:prstGeom>
          <a:solidFill>
            <a:srgbClr val="FCEAEF"/>
          </a:solidFill>
          <a:ln/>
        </p:spPr>
      </p:sp>
      <p:sp>
        <p:nvSpPr>
          <p:cNvPr id="3" name="Text 1"/>
          <p:cNvSpPr txBox="1"/>
          <p:nvPr/>
        </p:nvSpPr>
        <p:spPr>
          <a:xfrm>
            <a:off x="694944" y="384048"/>
            <a:ext cx="709574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196</a:t>
            </a:r>
            <a:endParaRPr lang="en-US" sz="1000" dirty="0"/>
          </a:p>
        </p:txBody>
      </p:sp>
      <p:sp>
        <p:nvSpPr>
          <p:cNvPr id="6" name="Shape 4"/>
          <p:cNvSpPr/>
          <p:nvPr/>
        </p:nvSpPr>
        <p:spPr>
          <a:xfrm>
            <a:off x="548640" y="1524711"/>
            <a:ext cx="11094415" cy="1072490"/>
          </a:xfrm>
          <a:prstGeom prst="roundRect">
            <a:avLst>
              <a:gd name="adj" fmla="val 5968"/>
            </a:avLst>
          </a:prstGeom>
          <a:solidFill>
            <a:srgbClr val="FCEAEF"/>
          </a:solidFill>
          <a:ln/>
        </p:spPr>
      </p:sp>
      <p:sp>
        <p:nvSpPr>
          <p:cNvPr id="7" name="Text 5"/>
          <p:cNvSpPr txBox="1"/>
          <p:nvPr/>
        </p:nvSpPr>
        <p:spPr>
          <a:xfrm>
            <a:off x="704088" y="1597863"/>
            <a:ext cx="10783519" cy="926186"/>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mitral regurgitation (L) (mitral regurjitasyon): </a:t>
            </a:r>
            <a:r>
              <a:rPr lang="en-US" sz="1400" dirty="0">
                <a:solidFill>
                  <a:srgbClr val="1F2937"/>
                </a:solidFill>
                <a:latin typeface="Calibri" pitchFamily="34" charset="0"/>
                <a:ea typeface="Calibri" pitchFamily="34" charset="-122"/>
                <a:cs typeface="Calibri" pitchFamily="34" charset="-120"/>
              </a:rPr>
              <a:t>mitral kapaktaki yetersizlik. Tam olarak kapanmaması nedeniyle sol ventriküldeki kanın, sol atriuma geri kaçmasıyla ortaya çıkan durum</a:t>
            </a:r>
            <a:endParaRPr lang="en-US" sz="1400" dirty="0"/>
          </a:p>
        </p:txBody>
      </p:sp>
      <p:sp>
        <p:nvSpPr>
          <p:cNvPr id="8" name="Shape 6"/>
          <p:cNvSpPr/>
          <p:nvPr/>
        </p:nvSpPr>
        <p:spPr>
          <a:xfrm>
            <a:off x="548640" y="2688641"/>
            <a:ext cx="11094415" cy="855574"/>
          </a:xfrm>
          <a:prstGeom prst="roundRect">
            <a:avLst>
              <a:gd name="adj" fmla="val 7481"/>
            </a:avLst>
          </a:prstGeom>
          <a:solidFill>
            <a:srgbClr val="FCEAEF"/>
          </a:solidFill>
          <a:ln/>
        </p:spPr>
      </p:sp>
      <p:sp>
        <p:nvSpPr>
          <p:cNvPr id="9" name="Text 7"/>
          <p:cNvSpPr txBox="1"/>
          <p:nvPr/>
        </p:nvSpPr>
        <p:spPr>
          <a:xfrm>
            <a:off x="704088" y="2761793"/>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tricuspid regurgitation (G) (triküspid regurjitasyon): </a:t>
            </a:r>
            <a:r>
              <a:rPr lang="en-US" sz="1400" dirty="0">
                <a:solidFill>
                  <a:srgbClr val="1F2937"/>
                </a:solidFill>
                <a:latin typeface="Calibri" pitchFamily="34" charset="0"/>
                <a:ea typeface="Calibri" pitchFamily="34" charset="-122"/>
                <a:cs typeface="Calibri" pitchFamily="34" charset="-120"/>
              </a:rPr>
              <a:t>Triküspid kapaklarının tam olarak kapanmamasından dolayı sağ ventriküldeki kanın sağ atriyuma geri kaçması</a:t>
            </a:r>
            <a:endParaRPr lang="en-US" sz="1400" dirty="0"/>
          </a:p>
        </p:txBody>
      </p:sp>
      <p:sp>
        <p:nvSpPr>
          <p:cNvPr id="10" name="Shape 8"/>
          <p:cNvSpPr/>
          <p:nvPr/>
        </p:nvSpPr>
        <p:spPr>
          <a:xfrm>
            <a:off x="548640" y="3697326"/>
            <a:ext cx="5410048" cy="421742"/>
          </a:xfrm>
          <a:prstGeom prst="roundRect">
            <a:avLst>
              <a:gd name="adj" fmla="val 15177"/>
            </a:avLst>
          </a:prstGeom>
          <a:solidFill>
            <a:srgbClr val="FCEAEF"/>
          </a:solidFill>
          <a:ln/>
        </p:spPr>
      </p:sp>
      <p:sp>
        <p:nvSpPr>
          <p:cNvPr id="11" name="Text 9"/>
          <p:cNvSpPr txBox="1"/>
          <p:nvPr/>
        </p:nvSpPr>
        <p:spPr>
          <a:xfrm>
            <a:off x="704088" y="377047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cardiac (G) arrest (İ) (kardiyak arest): </a:t>
            </a:r>
            <a:r>
              <a:rPr lang="en-US" sz="1400" dirty="0">
                <a:solidFill>
                  <a:srgbClr val="1F2937"/>
                </a:solidFill>
                <a:latin typeface="Calibri" pitchFamily="34" charset="0"/>
                <a:ea typeface="Calibri" pitchFamily="34" charset="-122"/>
                <a:cs typeface="Calibri" pitchFamily="34" charset="-120"/>
              </a:rPr>
              <a:t>Kalp durması</a:t>
            </a:r>
            <a:endParaRPr lang="en-US" sz="1400" dirty="0"/>
          </a:p>
        </p:txBody>
      </p:sp>
      <p:sp>
        <p:nvSpPr>
          <p:cNvPr id="12" name="Shape 10"/>
          <p:cNvSpPr/>
          <p:nvPr/>
        </p:nvSpPr>
        <p:spPr>
          <a:xfrm>
            <a:off x="548640" y="4210507"/>
            <a:ext cx="5410048" cy="638658"/>
          </a:xfrm>
          <a:prstGeom prst="roundRect">
            <a:avLst>
              <a:gd name="adj" fmla="val 10022"/>
            </a:avLst>
          </a:prstGeom>
          <a:solidFill>
            <a:srgbClr val="FCEAEF"/>
          </a:solidFill>
          <a:ln/>
        </p:spPr>
      </p:sp>
      <p:sp>
        <p:nvSpPr>
          <p:cNvPr id="13" name="Text 11"/>
          <p:cNvSpPr txBox="1"/>
          <p:nvPr/>
        </p:nvSpPr>
        <p:spPr>
          <a:xfrm>
            <a:off x="704088" y="4283659"/>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mitral (L) stenosis (G) (mitral sitenoz): </a:t>
            </a:r>
            <a:r>
              <a:rPr lang="en-US" sz="1400" dirty="0">
                <a:solidFill>
                  <a:srgbClr val="1F2937"/>
                </a:solidFill>
                <a:latin typeface="Calibri" pitchFamily="34" charset="0"/>
                <a:ea typeface="Calibri" pitchFamily="34" charset="-122"/>
                <a:cs typeface="Calibri" pitchFamily="34" charset="-120"/>
              </a:rPr>
              <a:t>Mitral kapağın daralması</a:t>
            </a:r>
            <a:endParaRPr lang="en-US" sz="1400" dirty="0"/>
          </a:p>
        </p:txBody>
      </p:sp>
      <p:sp>
        <p:nvSpPr>
          <p:cNvPr id="14" name="Shape 12"/>
          <p:cNvSpPr/>
          <p:nvPr/>
        </p:nvSpPr>
        <p:spPr>
          <a:xfrm>
            <a:off x="548640" y="4940605"/>
            <a:ext cx="5410048" cy="638658"/>
          </a:xfrm>
          <a:prstGeom prst="roundRect">
            <a:avLst>
              <a:gd name="adj" fmla="val 10022"/>
            </a:avLst>
          </a:prstGeom>
          <a:solidFill>
            <a:srgbClr val="FCEAEF"/>
          </a:solidFill>
          <a:ln/>
        </p:spPr>
      </p:sp>
      <p:sp>
        <p:nvSpPr>
          <p:cNvPr id="15" name="Text 13"/>
          <p:cNvSpPr txBox="1"/>
          <p:nvPr/>
        </p:nvSpPr>
        <p:spPr>
          <a:xfrm>
            <a:off x="704088" y="5013757"/>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mitral incompetence (L) (mitral incompotens): </a:t>
            </a:r>
            <a:r>
              <a:rPr lang="en-US" sz="1400" dirty="0">
                <a:solidFill>
                  <a:srgbClr val="1F2937"/>
                </a:solidFill>
                <a:latin typeface="Calibri" pitchFamily="34" charset="0"/>
                <a:ea typeface="Calibri" pitchFamily="34" charset="-122"/>
                <a:cs typeface="Calibri" pitchFamily="34" charset="-120"/>
              </a:rPr>
              <a:t>Mitral kapaktaki yetersizlik, mitral kapağın tam olarak kapanmaması</a:t>
            </a:r>
            <a:endParaRPr lang="en-US" sz="1400" dirty="0"/>
          </a:p>
        </p:txBody>
      </p:sp>
      <p:sp>
        <p:nvSpPr>
          <p:cNvPr id="16" name="Shape 14"/>
          <p:cNvSpPr/>
          <p:nvPr/>
        </p:nvSpPr>
        <p:spPr>
          <a:xfrm>
            <a:off x="548640" y="5670702"/>
            <a:ext cx="5410048" cy="638658"/>
          </a:xfrm>
          <a:prstGeom prst="roundRect">
            <a:avLst>
              <a:gd name="adj" fmla="val 10022"/>
            </a:avLst>
          </a:prstGeom>
          <a:solidFill>
            <a:srgbClr val="FCEAEF"/>
          </a:solidFill>
          <a:ln/>
        </p:spPr>
      </p:sp>
      <p:sp>
        <p:nvSpPr>
          <p:cNvPr id="17" name="Text 15"/>
          <p:cNvSpPr txBox="1"/>
          <p:nvPr/>
        </p:nvSpPr>
        <p:spPr>
          <a:xfrm>
            <a:off x="704088" y="5743854"/>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aort (L) stenosis (G) (aort stenoz): </a:t>
            </a:r>
            <a:r>
              <a:rPr lang="en-US" sz="1400" dirty="0">
                <a:solidFill>
                  <a:srgbClr val="1F2937"/>
                </a:solidFill>
                <a:latin typeface="Calibri" pitchFamily="34" charset="0"/>
                <a:ea typeface="Calibri" pitchFamily="34" charset="-122"/>
                <a:cs typeface="Calibri" pitchFamily="34" charset="-120"/>
              </a:rPr>
              <a:t>Aort kapaklarındaki daralma</a:t>
            </a:r>
            <a:endParaRPr lang="en-US" sz="1400" dirty="0"/>
          </a:p>
        </p:txBody>
      </p:sp>
      <p:sp>
        <p:nvSpPr>
          <p:cNvPr id="18" name="Shape 16"/>
          <p:cNvSpPr/>
          <p:nvPr/>
        </p:nvSpPr>
        <p:spPr>
          <a:xfrm>
            <a:off x="6233008" y="3697326"/>
            <a:ext cx="5410048" cy="638658"/>
          </a:xfrm>
          <a:prstGeom prst="roundRect">
            <a:avLst>
              <a:gd name="adj" fmla="val 10022"/>
            </a:avLst>
          </a:prstGeom>
          <a:solidFill>
            <a:srgbClr val="FCEAEF"/>
          </a:solidFill>
          <a:ln/>
        </p:spPr>
      </p:sp>
      <p:sp>
        <p:nvSpPr>
          <p:cNvPr id="19" name="Text 17"/>
          <p:cNvSpPr txBox="1"/>
          <p:nvPr/>
        </p:nvSpPr>
        <p:spPr>
          <a:xfrm>
            <a:off x="6388456" y="3770478"/>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tricuspid (L) stenosis (G) (triküspid stenoz): </a:t>
            </a:r>
            <a:r>
              <a:rPr lang="en-US" sz="1400" dirty="0">
                <a:solidFill>
                  <a:srgbClr val="1F2937"/>
                </a:solidFill>
                <a:latin typeface="Calibri" pitchFamily="34" charset="0"/>
                <a:ea typeface="Calibri" pitchFamily="34" charset="-122"/>
                <a:cs typeface="Calibri" pitchFamily="34" charset="-120"/>
              </a:rPr>
              <a:t>Triküspid kapaklarındaki daralma</a:t>
            </a:r>
            <a:endParaRPr lang="en-US" sz="1400" dirty="0"/>
          </a:p>
        </p:txBody>
      </p:sp>
      <p:sp>
        <p:nvSpPr>
          <p:cNvPr id="20" name="Shape 18"/>
          <p:cNvSpPr/>
          <p:nvPr/>
        </p:nvSpPr>
        <p:spPr>
          <a:xfrm>
            <a:off x="6233008" y="4427423"/>
            <a:ext cx="5410048" cy="638658"/>
          </a:xfrm>
          <a:prstGeom prst="roundRect">
            <a:avLst>
              <a:gd name="adj" fmla="val 10022"/>
            </a:avLst>
          </a:prstGeom>
          <a:solidFill>
            <a:srgbClr val="FCEAEF"/>
          </a:solidFill>
          <a:ln/>
        </p:spPr>
      </p:sp>
      <p:sp>
        <p:nvSpPr>
          <p:cNvPr id="21" name="Text 19"/>
          <p:cNvSpPr txBox="1"/>
          <p:nvPr/>
        </p:nvSpPr>
        <p:spPr>
          <a:xfrm>
            <a:off x="6388456" y="4500575"/>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pulmonary (L) stenosis (G) (pulmonari stenoz): </a:t>
            </a:r>
            <a:r>
              <a:rPr lang="en-US" sz="1400" dirty="0">
                <a:solidFill>
                  <a:srgbClr val="1F2937"/>
                </a:solidFill>
                <a:latin typeface="Calibri" pitchFamily="34" charset="0"/>
                <a:ea typeface="Calibri" pitchFamily="34" charset="-122"/>
                <a:cs typeface="Calibri" pitchFamily="34" charset="-120"/>
              </a:rPr>
              <a:t>Pulmoner kapak daralması</a:t>
            </a:r>
            <a:endParaRPr lang="en-US" sz="1400" dirty="0"/>
          </a:p>
        </p:txBody>
      </p:sp>
      <p:sp>
        <p:nvSpPr>
          <p:cNvPr id="22" name="Shape 20"/>
          <p:cNvSpPr/>
          <p:nvPr/>
        </p:nvSpPr>
        <p:spPr>
          <a:xfrm>
            <a:off x="6233008" y="5157521"/>
            <a:ext cx="5410048" cy="421742"/>
          </a:xfrm>
          <a:prstGeom prst="roundRect">
            <a:avLst>
              <a:gd name="adj" fmla="val 15177"/>
            </a:avLst>
          </a:prstGeom>
          <a:solidFill>
            <a:srgbClr val="FCEAEF"/>
          </a:solidFill>
          <a:ln/>
        </p:spPr>
      </p:sp>
      <p:sp>
        <p:nvSpPr>
          <p:cNvPr id="23" name="Text 21"/>
          <p:cNvSpPr txBox="1"/>
          <p:nvPr/>
        </p:nvSpPr>
        <p:spPr>
          <a:xfrm>
            <a:off x="6388456" y="5230673"/>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endocarditis (G) (endokardit): </a:t>
            </a:r>
            <a:r>
              <a:rPr lang="en-US" sz="1400" dirty="0">
                <a:solidFill>
                  <a:srgbClr val="1F2937"/>
                </a:solidFill>
                <a:latin typeface="Calibri" pitchFamily="34" charset="0"/>
                <a:ea typeface="Calibri" pitchFamily="34" charset="-122"/>
                <a:cs typeface="Calibri" pitchFamily="34" charset="-120"/>
              </a:rPr>
              <a:t>Endokardın iltihabı</a:t>
            </a:r>
            <a:endParaRPr lang="en-US" sz="1400" dirty="0"/>
          </a:p>
        </p:txBody>
      </p:sp>
      <p:sp>
        <p:nvSpPr>
          <p:cNvPr id="24" name="Shape 22"/>
          <p:cNvSpPr/>
          <p:nvPr/>
        </p:nvSpPr>
        <p:spPr>
          <a:xfrm>
            <a:off x="6233008" y="5670702"/>
            <a:ext cx="5410048" cy="421742"/>
          </a:xfrm>
          <a:prstGeom prst="roundRect">
            <a:avLst>
              <a:gd name="adj" fmla="val 15177"/>
            </a:avLst>
          </a:prstGeom>
          <a:solidFill>
            <a:srgbClr val="FCEAEF"/>
          </a:solidFill>
          <a:ln/>
        </p:spPr>
      </p:sp>
      <p:sp>
        <p:nvSpPr>
          <p:cNvPr id="25" name="Text 23"/>
          <p:cNvSpPr txBox="1"/>
          <p:nvPr/>
        </p:nvSpPr>
        <p:spPr>
          <a:xfrm>
            <a:off x="6388456" y="5743854"/>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BE123C"/>
                </a:solidFill>
                <a:latin typeface="Calibri" pitchFamily="34" charset="0"/>
                <a:ea typeface="Calibri" pitchFamily="34" charset="-122"/>
                <a:cs typeface="Calibri" pitchFamily="34" charset="-120"/>
              </a:rPr>
              <a:t>pericarditis (G) (perikardit): </a:t>
            </a:r>
            <a:r>
              <a:rPr lang="en-US" sz="1400" dirty="0">
                <a:solidFill>
                  <a:srgbClr val="1F2937"/>
                </a:solidFill>
                <a:latin typeface="Calibri" pitchFamily="34" charset="0"/>
                <a:ea typeface="Calibri" pitchFamily="34" charset="-122"/>
                <a:cs typeface="Calibri" pitchFamily="34" charset="-120"/>
              </a:rPr>
              <a:t>Perikardın iltihabı</a:t>
            </a:r>
            <a:endParaRPr lang="en-US" sz="14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Shape 0"/>
          <p:cNvSpPr/>
          <p:nvPr/>
        </p:nvSpPr>
        <p:spPr>
          <a:xfrm>
            <a:off x="548640" y="384048"/>
            <a:ext cx="7370064" cy="310896"/>
          </a:xfrm>
          <a:prstGeom prst="roundRect">
            <a:avLst>
              <a:gd name="adj" fmla="val 50000"/>
            </a:avLst>
          </a:prstGeom>
          <a:solidFill>
            <a:srgbClr val="FCEAEF"/>
          </a:solidFill>
          <a:ln/>
        </p:spPr>
      </p:sp>
      <p:sp>
        <p:nvSpPr>
          <p:cNvPr id="3" name="Text 1"/>
          <p:cNvSpPr txBox="1"/>
          <p:nvPr/>
        </p:nvSpPr>
        <p:spPr>
          <a:xfrm>
            <a:off x="694944" y="384048"/>
            <a:ext cx="709574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197</a:t>
            </a:r>
            <a:endParaRPr lang="en-US" sz="1000" dirty="0"/>
          </a:p>
        </p:txBody>
      </p:sp>
      <p:sp>
        <p:nvSpPr>
          <p:cNvPr id="6" name="Shape 4"/>
          <p:cNvSpPr/>
          <p:nvPr/>
        </p:nvSpPr>
        <p:spPr>
          <a:xfrm>
            <a:off x="548640" y="1565529"/>
            <a:ext cx="11094415" cy="916686"/>
          </a:xfrm>
          <a:prstGeom prst="roundRect">
            <a:avLst>
              <a:gd name="adj" fmla="val 6983"/>
            </a:avLst>
          </a:prstGeom>
          <a:solidFill>
            <a:srgbClr val="FCEAEF"/>
          </a:solidFill>
          <a:ln/>
        </p:spPr>
      </p:sp>
      <p:sp>
        <p:nvSpPr>
          <p:cNvPr id="7" name="Text 5"/>
          <p:cNvSpPr txBox="1"/>
          <p:nvPr/>
        </p:nvSpPr>
        <p:spPr>
          <a:xfrm>
            <a:off x="704088" y="1638681"/>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congestive heart failure (İ) (konjestif kalp yetmezli-KKY): </a:t>
            </a:r>
            <a:r>
              <a:rPr lang="en-US" sz="1500" dirty="0">
                <a:solidFill>
                  <a:srgbClr val="1F2937"/>
                </a:solidFill>
                <a:latin typeface="Calibri" pitchFamily="34" charset="0"/>
                <a:ea typeface="Calibri" pitchFamily="34" charset="-122"/>
                <a:cs typeface="Calibri" pitchFamily="34" charset="-120"/>
              </a:rPr>
              <a:t>Kalbin kanı normal olarak pompalayamamasına bağlı olarak pulmoner ve sistemik dolaşımda konjesyona, dakikadaki kalp atım sayısının azalması nedeniyle dokulara giden kan miktarının düşmesine yol açan sendrom,</a:t>
            </a:r>
            <a:endParaRPr lang="en-US" sz="1500" dirty="0"/>
          </a:p>
        </p:txBody>
      </p:sp>
      <p:sp>
        <p:nvSpPr>
          <p:cNvPr id="8" name="Shape 6"/>
          <p:cNvSpPr/>
          <p:nvPr/>
        </p:nvSpPr>
        <p:spPr>
          <a:xfrm>
            <a:off x="548640" y="2573655"/>
            <a:ext cx="11094415" cy="684276"/>
          </a:xfrm>
          <a:prstGeom prst="roundRect">
            <a:avLst>
              <a:gd name="adj" fmla="val 9354"/>
            </a:avLst>
          </a:prstGeom>
          <a:solidFill>
            <a:srgbClr val="FCEAEF"/>
          </a:solidFill>
          <a:ln/>
        </p:spPr>
      </p:sp>
      <p:sp>
        <p:nvSpPr>
          <p:cNvPr id="9" name="Text 7"/>
          <p:cNvSpPr txBox="1"/>
          <p:nvPr/>
        </p:nvSpPr>
        <p:spPr>
          <a:xfrm>
            <a:off x="704088" y="264680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patent ductus arteriosus (L) (patent ductus arteriyoz-PDA): </a:t>
            </a:r>
            <a:r>
              <a:rPr lang="en-US" sz="1500" dirty="0">
                <a:solidFill>
                  <a:srgbClr val="1F2937"/>
                </a:solidFill>
                <a:latin typeface="Calibri" pitchFamily="34" charset="0"/>
                <a:ea typeface="Calibri" pitchFamily="34" charset="-122"/>
                <a:cs typeface="Calibri" pitchFamily="34" charset="-120"/>
              </a:rPr>
              <a:t>Ductus arteriosusun (fetal dolaşımda aort ile pulmoner arter arasında bulunan damar) açık kalmasıdır.</a:t>
            </a:r>
            <a:endParaRPr lang="en-US" sz="1500" dirty="0"/>
          </a:p>
        </p:txBody>
      </p:sp>
      <p:sp>
        <p:nvSpPr>
          <p:cNvPr id="10" name="Shape 8"/>
          <p:cNvSpPr/>
          <p:nvPr/>
        </p:nvSpPr>
        <p:spPr>
          <a:xfrm>
            <a:off x="548640" y="3349371"/>
            <a:ext cx="11094415" cy="684276"/>
          </a:xfrm>
          <a:prstGeom prst="roundRect">
            <a:avLst>
              <a:gd name="adj" fmla="val 9354"/>
            </a:avLst>
          </a:prstGeom>
          <a:solidFill>
            <a:srgbClr val="FCEAEF"/>
          </a:solidFill>
          <a:ln/>
        </p:spPr>
      </p:sp>
      <p:sp>
        <p:nvSpPr>
          <p:cNvPr id="11" name="Text 9"/>
          <p:cNvSpPr txBox="1"/>
          <p:nvPr/>
        </p:nvSpPr>
        <p:spPr>
          <a:xfrm>
            <a:off x="704088" y="3422523"/>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tetralogy of fallot (İ) (Fallot tetralojisi): </a:t>
            </a:r>
            <a:r>
              <a:rPr lang="en-US" sz="1500" dirty="0">
                <a:solidFill>
                  <a:srgbClr val="1F2937"/>
                </a:solidFill>
                <a:latin typeface="Calibri" pitchFamily="34" charset="0"/>
                <a:ea typeface="Calibri" pitchFamily="34" charset="-122"/>
                <a:cs typeface="Calibri" pitchFamily="34" charset="-120"/>
              </a:rPr>
              <a:t>Pulmoner arter darlığı, ventriküller arası septumda delik, sağ karıncıkta hipertrofi ve aorta dekstrapozisyonula belirgin bir konjenital bir kalp hastalığıdır.</a:t>
            </a:r>
            <a:endParaRPr lang="en-US" sz="1500" dirty="0"/>
          </a:p>
        </p:txBody>
      </p:sp>
      <p:sp>
        <p:nvSpPr>
          <p:cNvPr id="12" name="Shape 10"/>
          <p:cNvSpPr/>
          <p:nvPr/>
        </p:nvSpPr>
        <p:spPr>
          <a:xfrm>
            <a:off x="548640" y="4227576"/>
            <a:ext cx="11094415" cy="451866"/>
          </a:xfrm>
          <a:prstGeom prst="roundRect">
            <a:avLst>
              <a:gd name="adj" fmla="val 14165"/>
            </a:avLst>
          </a:prstGeom>
          <a:solidFill>
            <a:srgbClr val="FCEAEF"/>
          </a:solidFill>
          <a:ln/>
        </p:spPr>
      </p:sp>
      <p:sp>
        <p:nvSpPr>
          <p:cNvPr id="13" name="Text 11"/>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ventricular septal defect (L) (ventriküler septal defect-VSD): </a:t>
            </a:r>
            <a:r>
              <a:rPr lang="en-US" sz="1500" dirty="0">
                <a:solidFill>
                  <a:srgbClr val="1F2937"/>
                </a:solidFill>
                <a:latin typeface="Calibri" pitchFamily="34" charset="0"/>
                <a:ea typeface="Calibri" pitchFamily="34" charset="-122"/>
                <a:cs typeface="Calibri" pitchFamily="34" charset="-120"/>
              </a:rPr>
              <a:t>Ventriküller arası septumda açıklık olması</a:t>
            </a:r>
            <a:endParaRPr lang="en-US" sz="1500" dirty="0"/>
          </a:p>
        </p:txBody>
      </p:sp>
      <p:sp>
        <p:nvSpPr>
          <p:cNvPr id="14" name="Shape 12"/>
          <p:cNvSpPr/>
          <p:nvPr/>
        </p:nvSpPr>
        <p:spPr>
          <a:xfrm>
            <a:off x="548640" y="4770882"/>
            <a:ext cx="11094415" cy="451866"/>
          </a:xfrm>
          <a:prstGeom prst="roundRect">
            <a:avLst>
              <a:gd name="adj" fmla="val 14165"/>
            </a:avLst>
          </a:prstGeom>
          <a:solidFill>
            <a:srgbClr val="FCEAEF"/>
          </a:solidFill>
          <a:ln/>
        </p:spPr>
      </p:sp>
      <p:sp>
        <p:nvSpPr>
          <p:cNvPr id="15" name="Text 13"/>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atrial septal defect (L) (atriyal septal defect-ASD): </a:t>
            </a:r>
            <a:r>
              <a:rPr lang="en-US" sz="1500" dirty="0">
                <a:solidFill>
                  <a:srgbClr val="1F2937"/>
                </a:solidFill>
                <a:latin typeface="Calibri" pitchFamily="34" charset="0"/>
                <a:ea typeface="Calibri" pitchFamily="34" charset="-122"/>
                <a:cs typeface="Calibri" pitchFamily="34" charset="-120"/>
              </a:rPr>
              <a:t>Atriyumlar arası septumda açıklık olamsı</a:t>
            </a:r>
            <a:endParaRPr lang="en-US" sz="1500" dirty="0"/>
          </a:p>
        </p:txBody>
      </p:sp>
      <p:sp>
        <p:nvSpPr>
          <p:cNvPr id="16" name="Shape 14"/>
          <p:cNvSpPr/>
          <p:nvPr/>
        </p:nvSpPr>
        <p:spPr>
          <a:xfrm>
            <a:off x="548640" y="5314188"/>
            <a:ext cx="11094415" cy="451866"/>
          </a:xfrm>
          <a:prstGeom prst="roundRect">
            <a:avLst>
              <a:gd name="adj" fmla="val 14165"/>
            </a:avLst>
          </a:prstGeom>
          <a:solidFill>
            <a:srgbClr val="FCEAEF"/>
          </a:solidFill>
          <a:ln/>
        </p:spPr>
      </p:sp>
      <p:sp>
        <p:nvSpPr>
          <p:cNvPr id="17" name="Text 15"/>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aneurysma (G) (anevrizma): </a:t>
            </a:r>
            <a:r>
              <a:rPr lang="en-US" sz="1500" dirty="0">
                <a:solidFill>
                  <a:srgbClr val="1F2937"/>
                </a:solidFill>
                <a:latin typeface="Calibri" pitchFamily="34" charset="0"/>
                <a:ea typeface="Calibri" pitchFamily="34" charset="-122"/>
                <a:cs typeface="Calibri" pitchFamily="34" charset="-120"/>
              </a:rPr>
              <a:t>Damarın belirli bir bölgesinin genişlemindenden dolayı oluşan başuncuk, şişkinlik</a:t>
            </a:r>
            <a:endParaRPr lang="en-US" sz="1500" dirty="0"/>
          </a:p>
        </p:txBody>
      </p:sp>
      <p:sp>
        <p:nvSpPr>
          <p:cNvPr id="18" name="Shape 16"/>
          <p:cNvSpPr/>
          <p:nvPr/>
        </p:nvSpPr>
        <p:spPr>
          <a:xfrm>
            <a:off x="548640" y="5857494"/>
            <a:ext cx="11094415" cy="451866"/>
          </a:xfrm>
          <a:prstGeom prst="roundRect">
            <a:avLst>
              <a:gd name="adj" fmla="val 14165"/>
            </a:avLst>
          </a:prstGeom>
          <a:solidFill>
            <a:srgbClr val="FCEAEF"/>
          </a:solidFill>
          <a:ln/>
        </p:spPr>
      </p:sp>
      <p:sp>
        <p:nvSpPr>
          <p:cNvPr id="19" name="Text 17"/>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aortic (L) aneurysma (G) (aortik anevrizma): </a:t>
            </a:r>
            <a:r>
              <a:rPr lang="en-US" sz="1500" dirty="0">
                <a:solidFill>
                  <a:srgbClr val="1F2937"/>
                </a:solidFill>
                <a:latin typeface="Calibri" pitchFamily="34" charset="0"/>
                <a:ea typeface="Calibri" pitchFamily="34" charset="-122"/>
                <a:cs typeface="Calibri" pitchFamily="34" charset="-120"/>
              </a:rPr>
              <a:t>Aortta yerel genişleme</a:t>
            </a:r>
            <a:endParaRPr lang="en-US" sz="15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Shape 0"/>
          <p:cNvSpPr/>
          <p:nvPr/>
        </p:nvSpPr>
        <p:spPr>
          <a:xfrm>
            <a:off x="548640" y="384048"/>
            <a:ext cx="7370064" cy="310896"/>
          </a:xfrm>
          <a:prstGeom prst="roundRect">
            <a:avLst>
              <a:gd name="adj" fmla="val 50000"/>
            </a:avLst>
          </a:prstGeom>
          <a:solidFill>
            <a:srgbClr val="FCEAEF"/>
          </a:solidFill>
          <a:ln/>
        </p:spPr>
      </p:sp>
      <p:sp>
        <p:nvSpPr>
          <p:cNvPr id="3" name="Text 1"/>
          <p:cNvSpPr txBox="1"/>
          <p:nvPr/>
        </p:nvSpPr>
        <p:spPr>
          <a:xfrm>
            <a:off x="694944" y="384048"/>
            <a:ext cx="709574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6.c. 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198</a:t>
            </a:r>
            <a:endParaRPr lang="en-US" sz="1000" dirty="0"/>
          </a:p>
        </p:txBody>
      </p:sp>
      <p:sp>
        <p:nvSpPr>
          <p:cNvPr id="6" name="Shape 4"/>
          <p:cNvSpPr/>
          <p:nvPr/>
        </p:nvSpPr>
        <p:spPr>
          <a:xfrm>
            <a:off x="548640" y="1594460"/>
            <a:ext cx="11094415" cy="775513"/>
          </a:xfrm>
          <a:prstGeom prst="roundRect">
            <a:avLst>
              <a:gd name="adj" fmla="val 8254"/>
            </a:avLst>
          </a:prstGeom>
          <a:solidFill>
            <a:srgbClr val="FCEAEF"/>
          </a:solidFill>
          <a:ln/>
        </p:spPr>
      </p:sp>
      <p:sp>
        <p:nvSpPr>
          <p:cNvPr id="7" name="Text 5"/>
          <p:cNvSpPr txBox="1"/>
          <p:nvPr/>
        </p:nvSpPr>
        <p:spPr>
          <a:xfrm>
            <a:off x="704088" y="1667612"/>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varix (L) (varix): </a:t>
            </a:r>
            <a:r>
              <a:rPr lang="en-US" sz="1700" dirty="0">
                <a:solidFill>
                  <a:srgbClr val="1F2937"/>
                </a:solidFill>
                <a:latin typeface="Calibri" pitchFamily="34" charset="0"/>
                <a:ea typeface="Calibri" pitchFamily="34" charset="-122"/>
                <a:cs typeface="Calibri" pitchFamily="34" charset="-120"/>
              </a:rPr>
              <a:t>Özellikle alt ekstermitelerde görülen, ven kapaklarının bozulması sonucu venlerin uzayıp genişleyerek kıvrım kıvrım  olması durumudur.</a:t>
            </a:r>
            <a:endParaRPr lang="en-US" sz="1700" dirty="0"/>
          </a:p>
        </p:txBody>
      </p:sp>
      <p:sp>
        <p:nvSpPr>
          <p:cNvPr id="8" name="Shape 6"/>
          <p:cNvSpPr/>
          <p:nvPr/>
        </p:nvSpPr>
        <p:spPr>
          <a:xfrm>
            <a:off x="548640" y="2461412"/>
            <a:ext cx="11094415" cy="775513"/>
          </a:xfrm>
          <a:prstGeom prst="roundRect">
            <a:avLst>
              <a:gd name="adj" fmla="val 8254"/>
            </a:avLst>
          </a:prstGeom>
          <a:solidFill>
            <a:srgbClr val="FCEAEF"/>
          </a:solidFill>
          <a:ln/>
        </p:spPr>
      </p:sp>
      <p:sp>
        <p:nvSpPr>
          <p:cNvPr id="9" name="Text 7"/>
          <p:cNvSpPr txBox="1"/>
          <p:nvPr/>
        </p:nvSpPr>
        <p:spPr>
          <a:xfrm>
            <a:off x="704088" y="2534564"/>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Raynaud Hastalığı (Reyno Hastalığı): </a:t>
            </a:r>
            <a:r>
              <a:rPr lang="en-US" sz="1700" dirty="0">
                <a:solidFill>
                  <a:srgbClr val="1F2937"/>
                </a:solidFill>
                <a:latin typeface="Calibri" pitchFamily="34" charset="0"/>
                <a:ea typeface="Calibri" pitchFamily="34" charset="-122"/>
                <a:cs typeface="Calibri" pitchFamily="34" charset="-120"/>
              </a:rPr>
              <a:t>Küçük arteriyollerin özellikle parmaklarda ve bazen de burun, dil gibi diğer uç kısımlarda spazm nedeniyle renk solması ve siyanoz görülmesidir.</a:t>
            </a:r>
            <a:endParaRPr lang="en-US" sz="1700" dirty="0"/>
          </a:p>
        </p:txBody>
      </p:sp>
      <p:sp>
        <p:nvSpPr>
          <p:cNvPr id="10" name="Shape 8"/>
          <p:cNvSpPr/>
          <p:nvPr/>
        </p:nvSpPr>
        <p:spPr>
          <a:xfrm>
            <a:off x="548640" y="3459785"/>
            <a:ext cx="11094415" cy="775513"/>
          </a:xfrm>
          <a:prstGeom prst="roundRect">
            <a:avLst>
              <a:gd name="adj" fmla="val 8254"/>
            </a:avLst>
          </a:prstGeom>
          <a:solidFill>
            <a:srgbClr val="FCEAEF"/>
          </a:solidFill>
          <a:ln/>
        </p:spPr>
      </p:sp>
      <p:sp>
        <p:nvSpPr>
          <p:cNvPr id="11" name="Text 9"/>
          <p:cNvSpPr txBox="1"/>
          <p:nvPr/>
        </p:nvSpPr>
        <p:spPr>
          <a:xfrm>
            <a:off x="704088" y="3532937"/>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aortic dissection (L) (aortik diseksiyon): </a:t>
            </a:r>
            <a:r>
              <a:rPr lang="en-US" sz="1700" dirty="0">
                <a:solidFill>
                  <a:srgbClr val="1F2937"/>
                </a:solidFill>
                <a:latin typeface="Calibri" pitchFamily="34" charset="0"/>
                <a:ea typeface="Calibri" pitchFamily="34" charset="-122"/>
                <a:cs typeface="Calibri" pitchFamily="34" charset="-120"/>
              </a:rPr>
              <a:t>Aort duvarının iç tabakasının yırtılarak kanın duvar tabakaları arasına girişi ile belirgin patolojik durum.</a:t>
            </a:r>
            <a:endParaRPr lang="en-US" sz="1700" dirty="0"/>
          </a:p>
        </p:txBody>
      </p:sp>
      <p:sp>
        <p:nvSpPr>
          <p:cNvPr id="12" name="Shape 10"/>
          <p:cNvSpPr/>
          <p:nvPr/>
        </p:nvSpPr>
        <p:spPr>
          <a:xfrm>
            <a:off x="548640" y="4326738"/>
            <a:ext cx="11094415" cy="512115"/>
          </a:xfrm>
          <a:prstGeom prst="roundRect">
            <a:avLst>
              <a:gd name="adj" fmla="val 12499"/>
            </a:avLst>
          </a:prstGeom>
          <a:solidFill>
            <a:srgbClr val="FCEAEF"/>
          </a:solidFill>
          <a:ln/>
        </p:spPr>
      </p:sp>
      <p:sp>
        <p:nvSpPr>
          <p:cNvPr id="13" name="Text 11"/>
          <p:cNvSpPr txBox="1"/>
          <p:nvPr/>
        </p:nvSpPr>
        <p:spPr>
          <a:xfrm>
            <a:off x="704088" y="4399890"/>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phlebitis (G) (flebit): </a:t>
            </a:r>
            <a:r>
              <a:rPr lang="en-US" sz="1700" dirty="0">
                <a:solidFill>
                  <a:srgbClr val="1F2937"/>
                </a:solidFill>
                <a:latin typeface="Calibri" pitchFamily="34" charset="0"/>
                <a:ea typeface="Calibri" pitchFamily="34" charset="-122"/>
                <a:cs typeface="Calibri" pitchFamily="34" charset="-120"/>
              </a:rPr>
              <a:t>Ven iltihabı</a:t>
            </a:r>
            <a:endParaRPr lang="en-US" sz="1700" dirty="0"/>
          </a:p>
        </p:txBody>
      </p:sp>
      <p:sp>
        <p:nvSpPr>
          <p:cNvPr id="14" name="Shape 12"/>
          <p:cNvSpPr/>
          <p:nvPr/>
        </p:nvSpPr>
        <p:spPr>
          <a:xfrm>
            <a:off x="548640" y="4930292"/>
            <a:ext cx="11094415" cy="775513"/>
          </a:xfrm>
          <a:prstGeom prst="roundRect">
            <a:avLst>
              <a:gd name="adj" fmla="val 8254"/>
            </a:avLst>
          </a:prstGeom>
          <a:solidFill>
            <a:srgbClr val="FCEAEF"/>
          </a:solidFill>
          <a:ln/>
        </p:spPr>
      </p:sp>
      <p:sp>
        <p:nvSpPr>
          <p:cNvPr id="15" name="Text 13"/>
          <p:cNvSpPr txBox="1"/>
          <p:nvPr/>
        </p:nvSpPr>
        <p:spPr>
          <a:xfrm>
            <a:off x="704088" y="5003444"/>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Buerger Hastalığı (Burger Hastalığı): </a:t>
            </a:r>
            <a:r>
              <a:rPr lang="en-US" sz="1700" dirty="0">
                <a:solidFill>
                  <a:srgbClr val="1F2937"/>
                </a:solidFill>
                <a:latin typeface="Calibri" pitchFamily="34" charset="0"/>
                <a:ea typeface="Calibri" pitchFamily="34" charset="-122"/>
                <a:cs typeface="Calibri" pitchFamily="34" charset="-120"/>
              </a:rPr>
              <a:t>Damar lümeninin daralması karakterize ve genellikle kangren ile sonlanan damar hastalığı</a:t>
            </a:r>
            <a:endParaRPr lang="en-US" sz="1700" dirty="0"/>
          </a:p>
        </p:txBody>
      </p:sp>
      <p:sp>
        <p:nvSpPr>
          <p:cNvPr id="16" name="Shape 14"/>
          <p:cNvSpPr/>
          <p:nvPr/>
        </p:nvSpPr>
        <p:spPr>
          <a:xfrm>
            <a:off x="548640" y="5797245"/>
            <a:ext cx="11094415" cy="512115"/>
          </a:xfrm>
          <a:prstGeom prst="roundRect">
            <a:avLst>
              <a:gd name="adj" fmla="val 12499"/>
            </a:avLst>
          </a:prstGeom>
          <a:solidFill>
            <a:srgbClr val="FCEAEF"/>
          </a:solidFill>
          <a:ln/>
        </p:spPr>
      </p:sp>
      <p:sp>
        <p:nvSpPr>
          <p:cNvPr id="17" name="Text 15"/>
          <p:cNvSpPr txBox="1"/>
          <p:nvPr/>
        </p:nvSpPr>
        <p:spPr>
          <a:xfrm>
            <a:off x="704088" y="5870397"/>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BE123C"/>
                </a:solidFill>
                <a:latin typeface="Calibri" pitchFamily="34" charset="0"/>
                <a:ea typeface="Calibri" pitchFamily="34" charset="-122"/>
                <a:cs typeface="Calibri" pitchFamily="34" charset="-120"/>
              </a:rPr>
              <a:t>embolism (G) (embolizm): </a:t>
            </a:r>
            <a:r>
              <a:rPr lang="en-US" sz="1700" dirty="0">
                <a:solidFill>
                  <a:srgbClr val="1F2937"/>
                </a:solidFill>
                <a:latin typeface="Calibri" pitchFamily="34" charset="0"/>
                <a:ea typeface="Calibri" pitchFamily="34" charset="-122"/>
                <a:cs typeface="Calibri" pitchFamily="34" charset="-120"/>
              </a:rPr>
              <a:t>Dolaşımla sürüklenen pıhtı, hava, yağ ve bakteri kümesi ile damarın tıkanması</a:t>
            </a:r>
            <a:endParaRPr lang="en-US" sz="17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Shape 0"/>
          <p:cNvSpPr/>
          <p:nvPr/>
        </p:nvSpPr>
        <p:spPr>
          <a:xfrm>
            <a:off x="548640" y="384048"/>
            <a:ext cx="6089904" cy="310896"/>
          </a:xfrm>
          <a:prstGeom prst="roundRect">
            <a:avLst>
              <a:gd name="adj" fmla="val 50000"/>
            </a:avLst>
          </a:prstGeom>
          <a:solidFill>
            <a:srgbClr val="FCEAEF"/>
          </a:solidFill>
          <a:ln/>
        </p:spPr>
      </p:sp>
      <p:sp>
        <p:nvSpPr>
          <p:cNvPr id="3" name="Text 1"/>
          <p:cNvSpPr txBox="1"/>
          <p:nvPr/>
        </p:nvSpPr>
        <p:spPr>
          <a:xfrm>
            <a:off x="694944" y="384048"/>
            <a:ext cx="5815584" cy="310896"/>
          </a:xfrm>
          <a:prstGeom prst="rect">
            <a:avLst/>
          </a:prstGeom>
          <a:noFill/>
          <a:ln/>
        </p:spPr>
        <p:txBody>
          <a:bodyPr wrap="square" lIns="0" tIns="0" rIns="0" bIns="0" rtlCol="0" anchor="ctr"/>
          <a:lstStyle/>
          <a:p>
            <a:pPr marL="0" indent="0">
              <a:buNone/>
            </a:pPr>
            <a:r>
              <a:rPr lang="en-US" sz="1000" b="1" kern="0" spc="60" dirty="0">
                <a:solidFill>
                  <a:srgbClr val="BE123C"/>
                </a:solidFill>
                <a:latin typeface="Calibri" pitchFamily="34" charset="0"/>
                <a:ea typeface="Calibri" pitchFamily="34" charset="-122"/>
                <a:cs typeface="Calibri" pitchFamily="34" charset="-120"/>
              </a:rPr>
              <a:t>BÖLÜM 6  ·  KARDİYOVASKÜLER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6.d. 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199</a:t>
            </a:r>
            <a:endParaRPr lang="en-US" sz="1000" dirty="0"/>
          </a:p>
        </p:txBody>
      </p:sp>
      <p:sp>
        <p:nvSpPr>
          <p:cNvPr id="6" name="Shape 4"/>
          <p:cNvSpPr/>
          <p:nvPr/>
        </p:nvSpPr>
        <p:spPr>
          <a:xfrm>
            <a:off x="548640" y="1514094"/>
            <a:ext cx="5410048" cy="684276"/>
          </a:xfrm>
          <a:prstGeom prst="roundRect">
            <a:avLst>
              <a:gd name="adj" fmla="val 9354"/>
            </a:avLst>
          </a:prstGeom>
          <a:solidFill>
            <a:srgbClr val="FCEAEF"/>
          </a:solidFill>
          <a:ln/>
        </p:spPr>
      </p:sp>
      <p:sp>
        <p:nvSpPr>
          <p:cNvPr id="7" name="Text 5"/>
          <p:cNvSpPr txBox="1"/>
          <p:nvPr/>
        </p:nvSpPr>
        <p:spPr>
          <a:xfrm>
            <a:off x="704088" y="158724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anastomosis (G) (anastomoz): </a:t>
            </a:r>
            <a:r>
              <a:rPr lang="en-US" sz="1500" dirty="0">
                <a:solidFill>
                  <a:srgbClr val="1F2937"/>
                </a:solidFill>
                <a:latin typeface="Calibri" pitchFamily="34" charset="0"/>
                <a:ea typeface="Calibri" pitchFamily="34" charset="-122"/>
                <a:cs typeface="Calibri" pitchFamily="34" charset="-120"/>
              </a:rPr>
              <a:t>Damarı ağız ağza birleştirerek iki damar arasında geçiş oluşturmak</a:t>
            </a:r>
            <a:endParaRPr lang="en-US" sz="1500" dirty="0"/>
          </a:p>
        </p:txBody>
      </p:sp>
      <p:sp>
        <p:nvSpPr>
          <p:cNvPr id="8" name="Shape 6"/>
          <p:cNvSpPr/>
          <p:nvPr/>
        </p:nvSpPr>
        <p:spPr>
          <a:xfrm>
            <a:off x="548640" y="2289810"/>
            <a:ext cx="5410048" cy="684276"/>
          </a:xfrm>
          <a:prstGeom prst="roundRect">
            <a:avLst>
              <a:gd name="adj" fmla="val 9354"/>
            </a:avLst>
          </a:prstGeom>
          <a:solidFill>
            <a:srgbClr val="FCEAEF"/>
          </a:solidFill>
          <a:ln/>
        </p:spPr>
      </p:sp>
      <p:sp>
        <p:nvSpPr>
          <p:cNvPr id="9" name="Text 7"/>
          <p:cNvSpPr txBox="1"/>
          <p:nvPr/>
        </p:nvSpPr>
        <p:spPr>
          <a:xfrm>
            <a:off x="704088" y="236296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by-pass ameliyatı: </a:t>
            </a:r>
            <a:r>
              <a:rPr lang="en-US" sz="1500" dirty="0">
                <a:solidFill>
                  <a:srgbClr val="1F2937"/>
                </a:solidFill>
                <a:latin typeface="Calibri" pitchFamily="34" charset="0"/>
                <a:ea typeface="Calibri" pitchFamily="34" charset="-122"/>
                <a:cs typeface="Calibri" pitchFamily="34" charset="-120"/>
              </a:rPr>
              <a:t>Tıkalı olan koroner arteri köprüleme ameliyatıdır.</a:t>
            </a:r>
            <a:endParaRPr lang="en-US" sz="1500" dirty="0"/>
          </a:p>
        </p:txBody>
      </p:sp>
      <p:sp>
        <p:nvSpPr>
          <p:cNvPr id="10" name="Shape 8"/>
          <p:cNvSpPr/>
          <p:nvPr/>
        </p:nvSpPr>
        <p:spPr>
          <a:xfrm>
            <a:off x="548640" y="3065526"/>
            <a:ext cx="5410048" cy="916686"/>
          </a:xfrm>
          <a:prstGeom prst="roundRect">
            <a:avLst>
              <a:gd name="adj" fmla="val 6983"/>
            </a:avLst>
          </a:prstGeom>
          <a:solidFill>
            <a:srgbClr val="FCEAEF"/>
          </a:solidFill>
          <a:ln/>
        </p:spPr>
      </p:sp>
      <p:sp>
        <p:nvSpPr>
          <p:cNvPr id="11" name="Text 9"/>
          <p:cNvSpPr txBox="1"/>
          <p:nvPr/>
        </p:nvSpPr>
        <p:spPr>
          <a:xfrm>
            <a:off x="704088" y="3138678"/>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valve replacement (valv rileysment): </a:t>
            </a:r>
            <a:r>
              <a:rPr lang="en-US" sz="1500" dirty="0">
                <a:solidFill>
                  <a:srgbClr val="1F2937"/>
                </a:solidFill>
                <a:latin typeface="Calibri" pitchFamily="34" charset="0"/>
                <a:ea typeface="Calibri" pitchFamily="34" charset="-122"/>
                <a:cs typeface="Calibri" pitchFamily="34" charset="-120"/>
              </a:rPr>
              <a:t>Açık kalp ameliyatı. Bozuk kapakçıkları değiştirmek amacıyla yapılan ameliyattır</a:t>
            </a:r>
            <a:endParaRPr lang="en-US" sz="1500" dirty="0"/>
          </a:p>
        </p:txBody>
      </p:sp>
      <p:sp>
        <p:nvSpPr>
          <p:cNvPr id="12" name="Shape 10"/>
          <p:cNvSpPr/>
          <p:nvPr/>
        </p:nvSpPr>
        <p:spPr>
          <a:xfrm>
            <a:off x="548640" y="4073652"/>
            <a:ext cx="5410048" cy="684276"/>
          </a:xfrm>
          <a:prstGeom prst="roundRect">
            <a:avLst>
              <a:gd name="adj" fmla="val 9354"/>
            </a:avLst>
          </a:prstGeom>
          <a:solidFill>
            <a:srgbClr val="FCEAEF"/>
          </a:solidFill>
          <a:ln/>
        </p:spPr>
      </p:sp>
      <p:sp>
        <p:nvSpPr>
          <p:cNvPr id="13" name="Text 11"/>
          <p:cNvSpPr txBox="1"/>
          <p:nvPr/>
        </p:nvSpPr>
        <p:spPr>
          <a:xfrm>
            <a:off x="704088"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pericardiectomy (G) (perikardiektomi): </a:t>
            </a:r>
            <a:r>
              <a:rPr lang="en-US" sz="1500" dirty="0">
                <a:solidFill>
                  <a:srgbClr val="1F2937"/>
                </a:solidFill>
                <a:latin typeface="Calibri" pitchFamily="34" charset="0"/>
                <a:ea typeface="Calibri" pitchFamily="34" charset="-122"/>
                <a:cs typeface="Calibri" pitchFamily="34" charset="-120"/>
              </a:rPr>
              <a:t>Perikardın çıkarılması</a:t>
            </a:r>
            <a:endParaRPr lang="en-US" sz="1500" dirty="0"/>
          </a:p>
        </p:txBody>
      </p:sp>
      <p:sp>
        <p:nvSpPr>
          <p:cNvPr id="14" name="Shape 12"/>
          <p:cNvSpPr/>
          <p:nvPr/>
        </p:nvSpPr>
        <p:spPr>
          <a:xfrm>
            <a:off x="548640" y="4849368"/>
            <a:ext cx="5410048" cy="684276"/>
          </a:xfrm>
          <a:prstGeom prst="roundRect">
            <a:avLst>
              <a:gd name="adj" fmla="val 9354"/>
            </a:avLst>
          </a:prstGeom>
          <a:solidFill>
            <a:srgbClr val="FCEAEF"/>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angioplasty (G) (anjiyoplasti): </a:t>
            </a:r>
            <a:r>
              <a:rPr lang="en-US" sz="1500" dirty="0">
                <a:solidFill>
                  <a:srgbClr val="1F2937"/>
                </a:solidFill>
                <a:latin typeface="Calibri" pitchFamily="34" charset="0"/>
                <a:ea typeface="Calibri" pitchFamily="34" charset="-122"/>
                <a:cs typeface="Calibri" pitchFamily="34" charset="-120"/>
              </a:rPr>
              <a:t>Daralmış kan damarını ameliyatla düzeltme</a:t>
            </a:r>
            <a:endParaRPr lang="en-US" sz="1500" dirty="0"/>
          </a:p>
        </p:txBody>
      </p:sp>
      <p:sp>
        <p:nvSpPr>
          <p:cNvPr id="16" name="Shape 14"/>
          <p:cNvSpPr/>
          <p:nvPr/>
        </p:nvSpPr>
        <p:spPr>
          <a:xfrm>
            <a:off x="548640" y="5625084"/>
            <a:ext cx="5410048" cy="684276"/>
          </a:xfrm>
          <a:prstGeom prst="roundRect">
            <a:avLst>
              <a:gd name="adj" fmla="val 9354"/>
            </a:avLst>
          </a:prstGeom>
          <a:solidFill>
            <a:srgbClr val="FCEAEF"/>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thrombectomy (G) (trombectomi): </a:t>
            </a:r>
            <a:r>
              <a:rPr lang="en-US" sz="1500" dirty="0">
                <a:solidFill>
                  <a:srgbClr val="1F2937"/>
                </a:solidFill>
                <a:latin typeface="Calibri" pitchFamily="34" charset="0"/>
                <a:ea typeface="Calibri" pitchFamily="34" charset="-122"/>
                <a:cs typeface="Calibri" pitchFamily="34" charset="-120"/>
              </a:rPr>
              <a:t>Damar içindeki pıhtının çıkarılması için uygulanan cerrahi yöntem</a:t>
            </a:r>
            <a:endParaRPr lang="en-US" sz="1500" dirty="0"/>
          </a:p>
        </p:txBody>
      </p:sp>
      <p:sp>
        <p:nvSpPr>
          <p:cNvPr id="18" name="Shape 16"/>
          <p:cNvSpPr/>
          <p:nvPr/>
        </p:nvSpPr>
        <p:spPr>
          <a:xfrm>
            <a:off x="6233008" y="1514094"/>
            <a:ext cx="5410048" cy="684276"/>
          </a:xfrm>
          <a:prstGeom prst="roundRect">
            <a:avLst>
              <a:gd name="adj" fmla="val 9354"/>
            </a:avLst>
          </a:prstGeom>
          <a:solidFill>
            <a:srgbClr val="FCEAEF"/>
          </a:solidFill>
          <a:ln/>
        </p:spPr>
      </p:sp>
      <p:sp>
        <p:nvSpPr>
          <p:cNvPr id="19" name="Text 17"/>
          <p:cNvSpPr txBox="1"/>
          <p:nvPr/>
        </p:nvSpPr>
        <p:spPr>
          <a:xfrm>
            <a:off x="6388456" y="158724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cardiac (G) transplantation (L) (kardiyak transplantasyon): </a:t>
            </a:r>
            <a:r>
              <a:rPr lang="en-US" sz="1500" dirty="0">
                <a:solidFill>
                  <a:srgbClr val="1F2937"/>
                </a:solidFill>
                <a:latin typeface="Calibri" pitchFamily="34" charset="0"/>
                <a:ea typeface="Calibri" pitchFamily="34" charset="-122"/>
                <a:cs typeface="Calibri" pitchFamily="34" charset="-120"/>
              </a:rPr>
              <a:t>Kalp nakli</a:t>
            </a:r>
            <a:endParaRPr lang="en-US" sz="1500" dirty="0"/>
          </a:p>
        </p:txBody>
      </p:sp>
      <p:sp>
        <p:nvSpPr>
          <p:cNvPr id="20" name="Shape 18"/>
          <p:cNvSpPr/>
          <p:nvPr/>
        </p:nvSpPr>
        <p:spPr>
          <a:xfrm>
            <a:off x="6233008" y="2289810"/>
            <a:ext cx="5410048" cy="916686"/>
          </a:xfrm>
          <a:prstGeom prst="roundRect">
            <a:avLst>
              <a:gd name="adj" fmla="val 6983"/>
            </a:avLst>
          </a:prstGeom>
          <a:solidFill>
            <a:srgbClr val="FCEAEF"/>
          </a:solidFill>
          <a:ln/>
        </p:spPr>
      </p:sp>
      <p:sp>
        <p:nvSpPr>
          <p:cNvPr id="21" name="Text 19"/>
          <p:cNvSpPr txBox="1"/>
          <p:nvPr/>
        </p:nvSpPr>
        <p:spPr>
          <a:xfrm>
            <a:off x="6388456" y="236296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correction</a:t>
            </a:r>
            <a:r>
              <a:rPr lang="en-US" sz="1500" dirty="0">
                <a:solidFill>
                  <a:srgbClr val="1F2937"/>
                </a:solidFill>
                <a:latin typeface="Calibri" pitchFamily="34" charset="0"/>
                <a:ea typeface="Calibri" pitchFamily="34" charset="-122"/>
                <a:cs typeface="Calibri" pitchFamily="34" charset="-120"/>
              </a:rPr>
              <a:t> (İ) </a:t>
            </a:r>
            <a:r>
              <a:rPr lang="en-US" sz="1500" b="1" dirty="0">
                <a:solidFill>
                  <a:srgbClr val="1F2937"/>
                </a:solidFill>
                <a:latin typeface="Calibri" pitchFamily="34" charset="0"/>
                <a:ea typeface="Calibri" pitchFamily="34" charset="-122"/>
                <a:cs typeface="Calibri" pitchFamily="34" charset="-120"/>
              </a:rPr>
              <a:t>of atrial </a:t>
            </a:r>
            <a:r>
              <a:rPr lang="en-US" sz="1500" dirty="0">
                <a:solidFill>
                  <a:srgbClr val="1F2937"/>
                </a:solidFill>
                <a:latin typeface="Calibri" pitchFamily="34" charset="0"/>
                <a:ea typeface="Calibri" pitchFamily="34" charset="-122"/>
                <a:cs typeface="Calibri" pitchFamily="34" charset="-120"/>
              </a:rPr>
              <a:t>(L) </a:t>
            </a:r>
            <a:r>
              <a:rPr lang="en-US" sz="1500" b="1" dirty="0">
                <a:solidFill>
                  <a:srgbClr val="1F2937"/>
                </a:solidFill>
                <a:latin typeface="Calibri" pitchFamily="34" charset="0"/>
                <a:ea typeface="Calibri" pitchFamily="34" charset="-122"/>
                <a:cs typeface="Calibri" pitchFamily="34" charset="-120"/>
              </a:rPr>
              <a:t>septal </a:t>
            </a:r>
            <a:r>
              <a:rPr lang="en-US" sz="1500" dirty="0">
                <a:solidFill>
                  <a:srgbClr val="1F2937"/>
                </a:solidFill>
                <a:latin typeface="Calibri" pitchFamily="34" charset="0"/>
                <a:ea typeface="Calibri" pitchFamily="34" charset="-122"/>
                <a:cs typeface="Calibri" pitchFamily="34" charset="-120"/>
              </a:rPr>
              <a:t>(L) </a:t>
            </a:r>
            <a:r>
              <a:rPr lang="en-US" sz="1500" b="1" dirty="0">
                <a:solidFill>
                  <a:srgbClr val="1F2937"/>
                </a:solidFill>
                <a:latin typeface="Calibri" pitchFamily="34" charset="0"/>
                <a:ea typeface="Calibri" pitchFamily="34" charset="-122"/>
                <a:cs typeface="Calibri" pitchFamily="34" charset="-120"/>
              </a:rPr>
              <a:t>defect</a:t>
            </a:r>
            <a:r>
              <a:rPr lang="en-US" sz="1500" dirty="0">
                <a:solidFill>
                  <a:srgbClr val="1F2937"/>
                </a:solidFill>
                <a:latin typeface="Calibri" pitchFamily="34" charset="0"/>
                <a:ea typeface="Calibri" pitchFamily="34" charset="-122"/>
                <a:cs typeface="Calibri" pitchFamily="34" charset="-120"/>
              </a:rPr>
              <a:t> (L) (atriyal septal defect onarımı): Kulaklıklar arasındaki septal bozukluğun onarılması</a:t>
            </a:r>
            <a:endParaRPr lang="en-US" sz="1500" dirty="0"/>
          </a:p>
        </p:txBody>
      </p:sp>
      <p:sp>
        <p:nvSpPr>
          <p:cNvPr id="22" name="Shape 20"/>
          <p:cNvSpPr/>
          <p:nvPr/>
        </p:nvSpPr>
        <p:spPr>
          <a:xfrm>
            <a:off x="6233008" y="3297936"/>
            <a:ext cx="5410048" cy="916686"/>
          </a:xfrm>
          <a:prstGeom prst="roundRect">
            <a:avLst>
              <a:gd name="adj" fmla="val 6983"/>
            </a:avLst>
          </a:prstGeom>
          <a:solidFill>
            <a:srgbClr val="FCEAEF"/>
          </a:solidFill>
          <a:ln/>
        </p:spPr>
      </p:sp>
      <p:sp>
        <p:nvSpPr>
          <p:cNvPr id="23" name="Text 21"/>
          <p:cNvSpPr txBox="1"/>
          <p:nvPr/>
        </p:nvSpPr>
        <p:spPr>
          <a:xfrm>
            <a:off x="6388456" y="3371088"/>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correction</a:t>
            </a:r>
            <a:r>
              <a:rPr lang="en-US" sz="1500" dirty="0">
                <a:solidFill>
                  <a:srgbClr val="1F2937"/>
                </a:solidFill>
                <a:latin typeface="Calibri" pitchFamily="34" charset="0"/>
                <a:ea typeface="Calibri" pitchFamily="34" charset="-122"/>
                <a:cs typeface="Calibri" pitchFamily="34" charset="-120"/>
              </a:rPr>
              <a:t> (İ) of </a:t>
            </a:r>
            <a:r>
              <a:rPr lang="en-US" sz="1500" b="1" dirty="0">
                <a:solidFill>
                  <a:srgbClr val="1F2937"/>
                </a:solidFill>
                <a:latin typeface="Calibri" pitchFamily="34" charset="0"/>
                <a:ea typeface="Calibri" pitchFamily="34" charset="-122"/>
                <a:cs typeface="Calibri" pitchFamily="34" charset="-120"/>
              </a:rPr>
              <a:t>ventricular</a:t>
            </a:r>
            <a:r>
              <a:rPr lang="en-US" sz="1500" dirty="0">
                <a:solidFill>
                  <a:srgbClr val="1F2937"/>
                </a:solidFill>
                <a:latin typeface="Calibri" pitchFamily="34" charset="0"/>
                <a:ea typeface="Calibri" pitchFamily="34" charset="-122"/>
                <a:cs typeface="Calibri" pitchFamily="34" charset="-120"/>
              </a:rPr>
              <a:t> (L) </a:t>
            </a:r>
            <a:r>
              <a:rPr lang="en-US" sz="1500" b="1" dirty="0">
                <a:solidFill>
                  <a:srgbClr val="1F2937"/>
                </a:solidFill>
                <a:latin typeface="Calibri" pitchFamily="34" charset="0"/>
                <a:ea typeface="Calibri" pitchFamily="34" charset="-122"/>
                <a:cs typeface="Calibri" pitchFamily="34" charset="-120"/>
              </a:rPr>
              <a:t>septal</a:t>
            </a:r>
            <a:r>
              <a:rPr lang="en-US" sz="1500" dirty="0">
                <a:solidFill>
                  <a:srgbClr val="1F2937"/>
                </a:solidFill>
                <a:latin typeface="Calibri" pitchFamily="34" charset="0"/>
                <a:ea typeface="Calibri" pitchFamily="34" charset="-122"/>
                <a:cs typeface="Calibri" pitchFamily="34" charset="-120"/>
              </a:rPr>
              <a:t> (L) </a:t>
            </a:r>
            <a:r>
              <a:rPr lang="en-US" sz="1500" b="1" dirty="0">
                <a:solidFill>
                  <a:srgbClr val="1F2937"/>
                </a:solidFill>
                <a:latin typeface="Calibri" pitchFamily="34" charset="0"/>
                <a:ea typeface="Calibri" pitchFamily="34" charset="-122"/>
                <a:cs typeface="Calibri" pitchFamily="34" charset="-120"/>
              </a:rPr>
              <a:t>defect</a:t>
            </a:r>
            <a:r>
              <a:rPr lang="en-US" sz="1500" dirty="0">
                <a:solidFill>
                  <a:srgbClr val="1F2937"/>
                </a:solidFill>
                <a:latin typeface="Calibri" pitchFamily="34" charset="0"/>
                <a:ea typeface="Calibri" pitchFamily="34" charset="-122"/>
                <a:cs typeface="Calibri" pitchFamily="34" charset="-120"/>
              </a:rPr>
              <a:t> (L) (ventriküler septal defect onarımı): Karıncıklar arasındaki bozukluğun onarılması</a:t>
            </a:r>
            <a:endParaRPr lang="en-US" sz="1500" dirty="0"/>
          </a:p>
        </p:txBody>
      </p:sp>
      <p:sp>
        <p:nvSpPr>
          <p:cNvPr id="24" name="Shape 22"/>
          <p:cNvSpPr/>
          <p:nvPr/>
        </p:nvSpPr>
        <p:spPr>
          <a:xfrm>
            <a:off x="6233008" y="4306062"/>
            <a:ext cx="5410048" cy="684276"/>
          </a:xfrm>
          <a:prstGeom prst="roundRect">
            <a:avLst>
              <a:gd name="adj" fmla="val 9354"/>
            </a:avLst>
          </a:prstGeom>
          <a:solidFill>
            <a:srgbClr val="FCEAEF"/>
          </a:solidFill>
          <a:ln/>
        </p:spPr>
      </p:sp>
      <p:sp>
        <p:nvSpPr>
          <p:cNvPr id="25" name="Text 23"/>
          <p:cNvSpPr txBox="1"/>
          <p:nvPr/>
        </p:nvSpPr>
        <p:spPr>
          <a:xfrm>
            <a:off x="6388456"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angiography (G) (anjiyografi): </a:t>
            </a:r>
            <a:r>
              <a:rPr lang="en-US" sz="1500" dirty="0">
                <a:solidFill>
                  <a:srgbClr val="1F2937"/>
                </a:solidFill>
                <a:latin typeface="Calibri" pitchFamily="34" charset="0"/>
                <a:ea typeface="Calibri" pitchFamily="34" charset="-122"/>
                <a:cs typeface="Calibri" pitchFamily="34" charset="-120"/>
              </a:rPr>
              <a:t>Kan damarlarının radyoopak madde verilerek röntgen filminin çekilmesi</a:t>
            </a:r>
            <a:endParaRPr lang="en-US" sz="1500" dirty="0"/>
          </a:p>
        </p:txBody>
      </p:sp>
      <p:sp>
        <p:nvSpPr>
          <p:cNvPr id="26" name="Shape 24"/>
          <p:cNvSpPr/>
          <p:nvPr/>
        </p:nvSpPr>
        <p:spPr>
          <a:xfrm>
            <a:off x="6233008" y="5081778"/>
            <a:ext cx="5410048" cy="916686"/>
          </a:xfrm>
          <a:prstGeom prst="roundRect">
            <a:avLst>
              <a:gd name="adj" fmla="val 6983"/>
            </a:avLst>
          </a:prstGeom>
          <a:solidFill>
            <a:srgbClr val="FCEAEF"/>
          </a:solidFill>
          <a:ln/>
        </p:spPr>
      </p:sp>
      <p:sp>
        <p:nvSpPr>
          <p:cNvPr id="27" name="Text 25"/>
          <p:cNvSpPr txBox="1"/>
          <p:nvPr/>
        </p:nvSpPr>
        <p:spPr>
          <a:xfrm>
            <a:off x="6388456" y="515493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BE123C"/>
                </a:solidFill>
                <a:latin typeface="Calibri" pitchFamily="34" charset="0"/>
                <a:ea typeface="Calibri" pitchFamily="34" charset="-122"/>
                <a:cs typeface="Calibri" pitchFamily="34" charset="-120"/>
              </a:rPr>
              <a:t>angiocardiography (G) (anjiyokardiyografi): </a:t>
            </a:r>
            <a:r>
              <a:rPr lang="en-US" sz="1500" dirty="0">
                <a:solidFill>
                  <a:srgbClr val="1F2937"/>
                </a:solidFill>
                <a:latin typeface="Calibri" pitchFamily="34" charset="0"/>
                <a:ea typeface="Calibri" pitchFamily="34" charset="-122"/>
                <a:cs typeface="Calibri" pitchFamily="34" charset="-120"/>
              </a:rPr>
              <a:t>Kalp ve büyük damarlarının radyoopak madde verilerek röntgen filminin çekilmesi</a:t>
            </a:r>
            <a:endParaRPr lang="en-US" sz="15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F3F7"/>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CFE7EF"/>
                </a:solidFill>
                <a:latin typeface="Cambria" pitchFamily="34" charset="0"/>
                <a:ea typeface="Cambria" pitchFamily="34" charset="-122"/>
                <a:cs typeface="Cambria" pitchFamily="34" charset="-120"/>
              </a:rPr>
              <a:t>07</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0E7490"/>
                </a:solidFill>
                <a:latin typeface="Calibri" pitchFamily="34" charset="0"/>
                <a:ea typeface="Calibri" pitchFamily="34" charset="-122"/>
                <a:cs typeface="Calibri" pitchFamily="34" charset="-120"/>
              </a:rPr>
              <a:t>BÖLÜM 7</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SOLUNUM SİSTEMİ TERİMLERİ</a:t>
            </a:r>
            <a:endParaRPr lang="en-US" sz="3600" dirty="0"/>
          </a:p>
        </p:txBody>
      </p:sp>
      <p:sp>
        <p:nvSpPr>
          <p:cNvPr id="7" name="Shape 5"/>
          <p:cNvSpPr/>
          <p:nvPr/>
        </p:nvSpPr>
        <p:spPr>
          <a:xfrm>
            <a:off x="8503920" y="2331720"/>
            <a:ext cx="2194560" cy="2194560"/>
          </a:xfrm>
          <a:prstGeom prst="ellipse">
            <a:avLst/>
          </a:prstGeom>
          <a:solidFill>
            <a:srgbClr val="E6F3F7"/>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202</a:t>
            </a:r>
            <a:endParaRPr lang="en-US" sz="10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3F7"/>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SOLUNUM SİSTEMİ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203</a:t>
            </a:r>
            <a:endParaRPr lang="en-US" sz="1000" dirty="0"/>
          </a:p>
        </p:txBody>
      </p:sp>
      <p:sp>
        <p:nvSpPr>
          <p:cNvPr id="6" name="Shape 4"/>
          <p:cNvSpPr/>
          <p:nvPr/>
        </p:nvSpPr>
        <p:spPr>
          <a:xfrm>
            <a:off x="548640" y="2468880"/>
            <a:ext cx="11094415" cy="1378915"/>
          </a:xfrm>
          <a:prstGeom prst="roundRect">
            <a:avLst>
              <a:gd name="adj" fmla="val 4642"/>
            </a:avLst>
          </a:prstGeom>
          <a:solidFill>
            <a:srgbClr val="E6F3F7"/>
          </a:solidFill>
          <a:ln/>
        </p:spPr>
      </p:sp>
      <p:sp>
        <p:nvSpPr>
          <p:cNvPr id="7" name="Text 5"/>
          <p:cNvSpPr txBox="1"/>
          <p:nvPr/>
        </p:nvSpPr>
        <p:spPr>
          <a:xfrm>
            <a:off x="704088" y="2542032"/>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Solunum sistemi, solunum işiyle ilgili organlar topluluğudur. Bu sistemi burun boşluğu (cavitas naşi), gırtlak (larynx), soluk borusu (trachea) ve akciğerler (pulmones) oluşturur. Akciğerleri ve göğüs boşluğunu saran plevra da solunum organı kabul edilir. Solunum sistemini yapan organlarda görülen bozukluklara solunum sistemi hastalıkları denir.</a:t>
            </a:r>
            <a:endParaRPr lang="en-US" sz="18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3F7"/>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204</a:t>
            </a:r>
            <a:endParaRPr lang="en-US" sz="1000" dirty="0"/>
          </a:p>
        </p:txBody>
      </p:sp>
      <p:sp>
        <p:nvSpPr>
          <p:cNvPr id="6" name="Shape 4"/>
          <p:cNvSpPr/>
          <p:nvPr/>
        </p:nvSpPr>
        <p:spPr>
          <a:xfrm>
            <a:off x="548640" y="1604772"/>
            <a:ext cx="11094415" cy="1613916"/>
          </a:xfrm>
          <a:prstGeom prst="roundRect">
            <a:avLst>
              <a:gd name="adj" fmla="val 3966"/>
            </a:avLst>
          </a:prstGeom>
          <a:solidFill>
            <a:srgbClr val="E6F3F7"/>
          </a:solidFill>
          <a:ln/>
        </p:spPr>
      </p:sp>
      <p:sp>
        <p:nvSpPr>
          <p:cNvPr id="7" name="Text 5"/>
          <p:cNvSpPr txBox="1"/>
          <p:nvPr/>
        </p:nvSpPr>
        <p:spPr>
          <a:xfrm>
            <a:off x="704088" y="1677924"/>
            <a:ext cx="10783519" cy="146761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sinus paranasalis (L) (sinus paranazalis): </a:t>
            </a:r>
            <a:r>
              <a:rPr lang="en-US" sz="1500" dirty="0">
                <a:solidFill>
                  <a:srgbClr val="1F2937"/>
                </a:solidFill>
                <a:latin typeface="Calibri" pitchFamily="34" charset="0"/>
                <a:ea typeface="Calibri" pitchFamily="34" charset="-122"/>
                <a:cs typeface="Calibri" pitchFamily="34" charset="-120"/>
              </a:rPr>
              <a:t>Burun boşluğu çevresindeki kemikler içindeki boşluklar. Bunlara sinuslar da denir. Boşluğa bakan kemik yüzeyleri mukoza ile örtülüdür. En dışta epitel kat, altında az bağ doku bulunur. Sinusların hepsi burun boşluğuna birer delikle açılırlar. Dört paranasal sinus vardır.</a:t>
            </a:r>
            <a:endParaRPr lang="en-US" sz="1500" dirty="0"/>
          </a:p>
        </p:txBody>
      </p:sp>
      <p:sp>
        <p:nvSpPr>
          <p:cNvPr id="8" name="Shape 6"/>
          <p:cNvSpPr/>
          <p:nvPr/>
        </p:nvSpPr>
        <p:spPr>
          <a:xfrm>
            <a:off x="548640" y="3451860"/>
            <a:ext cx="5410048" cy="684276"/>
          </a:xfrm>
          <a:prstGeom prst="roundRect">
            <a:avLst>
              <a:gd name="adj" fmla="val 9354"/>
            </a:avLst>
          </a:prstGeom>
          <a:solidFill>
            <a:srgbClr val="E6F3F7"/>
          </a:solidFill>
          <a:ln/>
        </p:spPr>
      </p:sp>
      <p:sp>
        <p:nvSpPr>
          <p:cNvPr id="9" name="Text 7"/>
          <p:cNvSpPr txBox="1"/>
          <p:nvPr/>
        </p:nvSpPr>
        <p:spPr>
          <a:xfrm>
            <a:off x="704088" y="352501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systema (G) respiratorium (L) (sistema respiratoryum): </a:t>
            </a:r>
            <a:r>
              <a:rPr lang="en-US" sz="1500" dirty="0">
                <a:solidFill>
                  <a:srgbClr val="1F2937"/>
                </a:solidFill>
                <a:latin typeface="Calibri" pitchFamily="34" charset="0"/>
                <a:ea typeface="Calibri" pitchFamily="34" charset="-122"/>
                <a:cs typeface="Calibri" pitchFamily="34" charset="-120"/>
              </a:rPr>
              <a:t>Solunum sistemi</a:t>
            </a:r>
            <a:endParaRPr lang="en-US" sz="1500" dirty="0"/>
          </a:p>
        </p:txBody>
      </p:sp>
      <p:sp>
        <p:nvSpPr>
          <p:cNvPr id="10" name="Shape 8"/>
          <p:cNvSpPr/>
          <p:nvPr/>
        </p:nvSpPr>
        <p:spPr>
          <a:xfrm>
            <a:off x="548640" y="4227576"/>
            <a:ext cx="5410048" cy="451866"/>
          </a:xfrm>
          <a:prstGeom prst="roundRect">
            <a:avLst>
              <a:gd name="adj" fmla="val 14165"/>
            </a:avLst>
          </a:prstGeom>
          <a:solidFill>
            <a:srgbClr val="E6F3F7"/>
          </a:solidFill>
          <a:ln/>
        </p:spPr>
      </p:sp>
      <p:sp>
        <p:nvSpPr>
          <p:cNvPr id="11" name="Text 9"/>
          <p:cNvSpPr txBox="1"/>
          <p:nvPr/>
        </p:nvSpPr>
        <p:spPr>
          <a:xfrm>
            <a:off x="704088" y="430072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nasus (L), rhin (G) (rin): </a:t>
            </a:r>
            <a:r>
              <a:rPr lang="en-US" sz="1500" dirty="0">
                <a:solidFill>
                  <a:srgbClr val="1F2937"/>
                </a:solidFill>
                <a:latin typeface="Calibri" pitchFamily="34" charset="0"/>
                <a:ea typeface="Calibri" pitchFamily="34" charset="-122"/>
                <a:cs typeface="Calibri" pitchFamily="34" charset="-120"/>
              </a:rPr>
              <a:t>Burun</a:t>
            </a:r>
            <a:endParaRPr lang="en-US" sz="1500" dirty="0"/>
          </a:p>
        </p:txBody>
      </p:sp>
      <p:sp>
        <p:nvSpPr>
          <p:cNvPr id="12" name="Shape 10"/>
          <p:cNvSpPr/>
          <p:nvPr/>
        </p:nvSpPr>
        <p:spPr>
          <a:xfrm>
            <a:off x="548640" y="4770882"/>
            <a:ext cx="5410048" cy="451866"/>
          </a:xfrm>
          <a:prstGeom prst="roundRect">
            <a:avLst>
              <a:gd name="adj" fmla="val 14165"/>
            </a:avLst>
          </a:prstGeom>
          <a:solidFill>
            <a:srgbClr val="E6F3F7"/>
          </a:solidFill>
          <a:ln/>
        </p:spPr>
      </p:sp>
      <p:sp>
        <p:nvSpPr>
          <p:cNvPr id="13" name="Text 11"/>
          <p:cNvSpPr txBox="1"/>
          <p:nvPr/>
        </p:nvSpPr>
        <p:spPr>
          <a:xfrm>
            <a:off x="704088"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naris (L): </a:t>
            </a:r>
            <a:r>
              <a:rPr lang="en-US" sz="1500" dirty="0">
                <a:solidFill>
                  <a:srgbClr val="1F2937"/>
                </a:solidFill>
                <a:latin typeface="Calibri" pitchFamily="34" charset="0"/>
                <a:ea typeface="Calibri" pitchFamily="34" charset="-122"/>
                <a:cs typeface="Calibri" pitchFamily="34" charset="-120"/>
              </a:rPr>
              <a:t>Burun deliği, çoğulu nares</a:t>
            </a:r>
            <a:endParaRPr lang="en-US" sz="1500" dirty="0"/>
          </a:p>
        </p:txBody>
      </p:sp>
      <p:sp>
        <p:nvSpPr>
          <p:cNvPr id="14" name="Shape 12"/>
          <p:cNvSpPr/>
          <p:nvPr/>
        </p:nvSpPr>
        <p:spPr>
          <a:xfrm>
            <a:off x="548640" y="5314188"/>
            <a:ext cx="5410048" cy="451866"/>
          </a:xfrm>
          <a:prstGeom prst="roundRect">
            <a:avLst>
              <a:gd name="adj" fmla="val 14165"/>
            </a:avLst>
          </a:prstGeom>
          <a:solidFill>
            <a:srgbClr val="E6F3F7"/>
          </a:solidFill>
          <a:ln/>
        </p:spPr>
      </p:sp>
      <p:sp>
        <p:nvSpPr>
          <p:cNvPr id="15" name="Text 13"/>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choana (G) (koana): </a:t>
            </a:r>
            <a:r>
              <a:rPr lang="en-US" sz="1500" dirty="0">
                <a:solidFill>
                  <a:srgbClr val="1F2937"/>
                </a:solidFill>
                <a:latin typeface="Calibri" pitchFamily="34" charset="0"/>
                <a:ea typeface="Calibri" pitchFamily="34" charset="-122"/>
                <a:cs typeface="Calibri" pitchFamily="34" charset="-120"/>
              </a:rPr>
              <a:t>Arka burun deliği. Çoğulu choanae</a:t>
            </a:r>
            <a:endParaRPr lang="en-US" sz="1500" dirty="0"/>
          </a:p>
        </p:txBody>
      </p:sp>
      <p:sp>
        <p:nvSpPr>
          <p:cNvPr id="16" name="Shape 14"/>
          <p:cNvSpPr/>
          <p:nvPr/>
        </p:nvSpPr>
        <p:spPr>
          <a:xfrm>
            <a:off x="548640" y="5857494"/>
            <a:ext cx="5410048" cy="451866"/>
          </a:xfrm>
          <a:prstGeom prst="roundRect">
            <a:avLst>
              <a:gd name="adj" fmla="val 14165"/>
            </a:avLst>
          </a:prstGeom>
          <a:solidFill>
            <a:srgbClr val="E6F3F7"/>
          </a:solidFill>
          <a:ln/>
        </p:spPr>
      </p:sp>
      <p:sp>
        <p:nvSpPr>
          <p:cNvPr id="17" name="Text 15"/>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cavitas nasi (L) (kavitas nazi): </a:t>
            </a:r>
            <a:r>
              <a:rPr lang="en-US" sz="1500" dirty="0">
                <a:solidFill>
                  <a:srgbClr val="1F2937"/>
                </a:solidFill>
                <a:latin typeface="Calibri" pitchFamily="34" charset="0"/>
                <a:ea typeface="Calibri" pitchFamily="34" charset="-122"/>
                <a:cs typeface="Calibri" pitchFamily="34" charset="-120"/>
              </a:rPr>
              <a:t>Burun boşluğu</a:t>
            </a:r>
            <a:endParaRPr lang="en-US" sz="1500" dirty="0"/>
          </a:p>
        </p:txBody>
      </p:sp>
      <p:sp>
        <p:nvSpPr>
          <p:cNvPr id="18" name="Shape 16"/>
          <p:cNvSpPr/>
          <p:nvPr/>
        </p:nvSpPr>
        <p:spPr>
          <a:xfrm>
            <a:off x="6233008" y="3451860"/>
            <a:ext cx="5410048" cy="684276"/>
          </a:xfrm>
          <a:prstGeom prst="roundRect">
            <a:avLst>
              <a:gd name="adj" fmla="val 9354"/>
            </a:avLst>
          </a:prstGeom>
          <a:solidFill>
            <a:srgbClr val="E6F3F7"/>
          </a:solidFill>
          <a:ln/>
        </p:spPr>
      </p:sp>
      <p:sp>
        <p:nvSpPr>
          <p:cNvPr id="19" name="Text 17"/>
          <p:cNvSpPr txBox="1"/>
          <p:nvPr/>
        </p:nvSpPr>
        <p:spPr>
          <a:xfrm>
            <a:off x="6388456" y="352501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septum nasi (L): </a:t>
            </a:r>
            <a:r>
              <a:rPr lang="en-US" sz="1500" dirty="0">
                <a:solidFill>
                  <a:srgbClr val="1F2937"/>
                </a:solidFill>
                <a:latin typeface="Calibri" pitchFamily="34" charset="0"/>
                <a:ea typeface="Calibri" pitchFamily="34" charset="-122"/>
                <a:cs typeface="Calibri" pitchFamily="34" charset="-120"/>
              </a:rPr>
              <a:t>Burun boşluğunu dikey olarak ikiye bölen bölme</a:t>
            </a:r>
            <a:endParaRPr lang="en-US" sz="1500" dirty="0"/>
          </a:p>
        </p:txBody>
      </p:sp>
      <p:sp>
        <p:nvSpPr>
          <p:cNvPr id="20" name="Shape 18"/>
          <p:cNvSpPr/>
          <p:nvPr/>
        </p:nvSpPr>
        <p:spPr>
          <a:xfrm>
            <a:off x="6233008" y="4227576"/>
            <a:ext cx="5410048" cy="451866"/>
          </a:xfrm>
          <a:prstGeom prst="roundRect">
            <a:avLst>
              <a:gd name="adj" fmla="val 14165"/>
            </a:avLst>
          </a:prstGeom>
          <a:solidFill>
            <a:srgbClr val="E6F3F7"/>
          </a:solidFill>
          <a:ln/>
        </p:spPr>
      </p:sp>
      <p:sp>
        <p:nvSpPr>
          <p:cNvPr id="21" name="Text 19"/>
          <p:cNvSpPr txBox="1"/>
          <p:nvPr/>
        </p:nvSpPr>
        <p:spPr>
          <a:xfrm>
            <a:off x="6388456" y="430072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vestibulum nasi </a:t>
            </a:r>
            <a:r>
              <a:rPr lang="en-US" sz="1500" dirty="0">
                <a:solidFill>
                  <a:srgbClr val="1F2937"/>
                </a:solidFill>
                <a:latin typeface="Calibri" pitchFamily="34" charset="0"/>
                <a:ea typeface="Calibri" pitchFamily="34" charset="-122"/>
                <a:cs typeface="Calibri" pitchFamily="34" charset="-120"/>
              </a:rPr>
              <a:t>(L) Burun boşluğunun giriş kısmı</a:t>
            </a:r>
            <a:endParaRPr lang="en-US" sz="1500" dirty="0"/>
          </a:p>
        </p:txBody>
      </p:sp>
      <p:sp>
        <p:nvSpPr>
          <p:cNvPr id="22" name="Shape 20"/>
          <p:cNvSpPr/>
          <p:nvPr/>
        </p:nvSpPr>
        <p:spPr>
          <a:xfrm>
            <a:off x="6233008" y="4770882"/>
            <a:ext cx="5410048" cy="684276"/>
          </a:xfrm>
          <a:prstGeom prst="roundRect">
            <a:avLst>
              <a:gd name="adj" fmla="val 9354"/>
            </a:avLst>
          </a:prstGeom>
          <a:solidFill>
            <a:srgbClr val="E6F3F7"/>
          </a:solidFill>
          <a:ln/>
        </p:spPr>
      </p:sp>
      <p:sp>
        <p:nvSpPr>
          <p:cNvPr id="23" name="Text 21"/>
          <p:cNvSpPr txBox="1"/>
          <p:nvPr/>
        </p:nvSpPr>
        <p:spPr>
          <a:xfrm>
            <a:off x="6388456" y="484403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regio respiratoria (L) (rejyo respiratorya): </a:t>
            </a:r>
            <a:r>
              <a:rPr lang="en-US" sz="1500" dirty="0">
                <a:solidFill>
                  <a:srgbClr val="1F2937"/>
                </a:solidFill>
                <a:latin typeface="Calibri" pitchFamily="34" charset="0"/>
                <a:ea typeface="Calibri" pitchFamily="34" charset="-122"/>
                <a:cs typeface="Calibri" pitchFamily="34" charset="-120"/>
              </a:rPr>
              <a:t>Burun boşluğunun solunumla ilgili kısmı</a:t>
            </a:r>
            <a:endParaRPr lang="en-US" sz="1500" dirty="0"/>
          </a:p>
        </p:txBody>
      </p:sp>
      <p:sp>
        <p:nvSpPr>
          <p:cNvPr id="24" name="Shape 22"/>
          <p:cNvSpPr/>
          <p:nvPr/>
        </p:nvSpPr>
        <p:spPr>
          <a:xfrm>
            <a:off x="6233008" y="5546598"/>
            <a:ext cx="5410048" cy="684276"/>
          </a:xfrm>
          <a:prstGeom prst="roundRect">
            <a:avLst>
              <a:gd name="adj" fmla="val 9354"/>
            </a:avLst>
          </a:prstGeom>
          <a:solidFill>
            <a:srgbClr val="E6F3F7"/>
          </a:solidFill>
          <a:ln/>
        </p:spPr>
      </p:sp>
      <p:sp>
        <p:nvSpPr>
          <p:cNvPr id="25" name="Text 23"/>
          <p:cNvSpPr txBox="1"/>
          <p:nvPr/>
        </p:nvSpPr>
        <p:spPr>
          <a:xfrm>
            <a:off x="6388456" y="561975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regio olfactoria (L) (rejyo olfaktorya): </a:t>
            </a:r>
            <a:r>
              <a:rPr lang="en-US" sz="1500" dirty="0">
                <a:solidFill>
                  <a:srgbClr val="1F2937"/>
                </a:solidFill>
                <a:latin typeface="Calibri" pitchFamily="34" charset="0"/>
                <a:ea typeface="Calibri" pitchFamily="34" charset="-122"/>
                <a:cs typeface="Calibri" pitchFamily="34" charset="-120"/>
              </a:rPr>
              <a:t>Burun boşluğunun üst kısmı. Koku bölgesi</a:t>
            </a:r>
            <a:endParaRPr lang="en-US" sz="15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205</a:t>
            </a:r>
            <a:endParaRPr lang="en-US" sz="1000" dirty="0"/>
          </a:p>
        </p:txBody>
      </p:sp>
      <p:sp>
        <p:nvSpPr>
          <p:cNvPr id="6" name="Shape 4"/>
          <p:cNvSpPr/>
          <p:nvPr/>
        </p:nvSpPr>
        <p:spPr>
          <a:xfrm>
            <a:off x="548640" y="1746504"/>
            <a:ext cx="5410048" cy="684276"/>
          </a:xfrm>
          <a:prstGeom prst="roundRect">
            <a:avLst>
              <a:gd name="adj" fmla="val 9354"/>
            </a:avLst>
          </a:prstGeom>
          <a:solidFill>
            <a:srgbClr val="E6F3F7"/>
          </a:solidFill>
          <a:ln/>
        </p:spPr>
      </p:sp>
      <p:sp>
        <p:nvSpPr>
          <p:cNvPr id="7" name="Text 5"/>
          <p:cNvSpPr txBox="1"/>
          <p:nvPr/>
        </p:nvSpPr>
        <p:spPr>
          <a:xfrm>
            <a:off x="704088"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sinus maxillaris (L): </a:t>
            </a:r>
            <a:r>
              <a:rPr lang="en-US" sz="1500" dirty="0">
                <a:solidFill>
                  <a:srgbClr val="1F2937"/>
                </a:solidFill>
                <a:latin typeface="Calibri" pitchFamily="34" charset="0"/>
                <a:ea typeface="Calibri" pitchFamily="34" charset="-122"/>
                <a:cs typeface="Calibri" pitchFamily="34" charset="-120"/>
              </a:rPr>
              <a:t>Maksiler sinüsler. Maksilla (üst çene) kemikleri içindeki boşluk.</a:t>
            </a:r>
            <a:endParaRPr lang="en-US" sz="1500" dirty="0"/>
          </a:p>
        </p:txBody>
      </p:sp>
      <p:sp>
        <p:nvSpPr>
          <p:cNvPr id="8" name="Shape 6"/>
          <p:cNvSpPr/>
          <p:nvPr/>
        </p:nvSpPr>
        <p:spPr>
          <a:xfrm>
            <a:off x="548640" y="2522220"/>
            <a:ext cx="5410048" cy="916686"/>
          </a:xfrm>
          <a:prstGeom prst="roundRect">
            <a:avLst>
              <a:gd name="adj" fmla="val 6983"/>
            </a:avLst>
          </a:prstGeom>
          <a:solidFill>
            <a:srgbClr val="E6F3F7"/>
          </a:solidFill>
          <a:ln/>
        </p:spPr>
      </p:sp>
      <p:sp>
        <p:nvSpPr>
          <p:cNvPr id="9" name="Text 7"/>
          <p:cNvSpPr txBox="1"/>
          <p:nvPr/>
        </p:nvSpPr>
        <p:spPr>
          <a:xfrm>
            <a:off x="704088" y="259537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sinus (L) sphenoidalis (G) (sinus sifenoidalis): </a:t>
            </a:r>
            <a:r>
              <a:rPr lang="en-US" sz="1500" dirty="0">
                <a:solidFill>
                  <a:srgbClr val="1F2937"/>
                </a:solidFill>
                <a:latin typeface="Calibri" pitchFamily="34" charset="0"/>
                <a:ea typeface="Calibri" pitchFamily="34" charset="-122"/>
                <a:cs typeface="Calibri" pitchFamily="34" charset="-120"/>
              </a:rPr>
              <a:t>Sfenoidal sinus. En arkadadır. Sfenoid (temel) kemik gövdesi içindeki boşluk.</a:t>
            </a:r>
            <a:endParaRPr lang="en-US" sz="1500" dirty="0"/>
          </a:p>
        </p:txBody>
      </p:sp>
      <p:sp>
        <p:nvSpPr>
          <p:cNvPr id="10" name="Shape 8"/>
          <p:cNvSpPr/>
          <p:nvPr/>
        </p:nvSpPr>
        <p:spPr>
          <a:xfrm>
            <a:off x="548640" y="3530346"/>
            <a:ext cx="5410048" cy="684276"/>
          </a:xfrm>
          <a:prstGeom prst="roundRect">
            <a:avLst>
              <a:gd name="adj" fmla="val 9354"/>
            </a:avLst>
          </a:prstGeom>
          <a:solidFill>
            <a:srgbClr val="E6F3F7"/>
          </a:solidFill>
          <a:ln/>
        </p:spPr>
      </p:sp>
      <p:sp>
        <p:nvSpPr>
          <p:cNvPr id="11" name="Text 9"/>
          <p:cNvSpPr txBox="1"/>
          <p:nvPr/>
        </p:nvSpPr>
        <p:spPr>
          <a:xfrm>
            <a:off x="704088"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sinus frontalis (L): </a:t>
            </a:r>
            <a:r>
              <a:rPr lang="en-US" sz="1500" dirty="0">
                <a:solidFill>
                  <a:srgbClr val="1F2937"/>
                </a:solidFill>
                <a:latin typeface="Calibri" pitchFamily="34" charset="0"/>
                <a:ea typeface="Calibri" pitchFamily="34" charset="-122"/>
                <a:cs typeface="Calibri" pitchFamily="34" charset="-120"/>
              </a:rPr>
              <a:t>Frontal sinus. Frontal kemikte, göz yuvarı üstünde iki tarafta görülen boşluk.</a:t>
            </a:r>
            <a:endParaRPr lang="en-US" sz="1500" dirty="0"/>
          </a:p>
        </p:txBody>
      </p:sp>
      <p:sp>
        <p:nvSpPr>
          <p:cNvPr id="12" name="Shape 10"/>
          <p:cNvSpPr/>
          <p:nvPr/>
        </p:nvSpPr>
        <p:spPr>
          <a:xfrm>
            <a:off x="548640" y="4306062"/>
            <a:ext cx="5410048" cy="684276"/>
          </a:xfrm>
          <a:prstGeom prst="roundRect">
            <a:avLst>
              <a:gd name="adj" fmla="val 9354"/>
            </a:avLst>
          </a:prstGeom>
          <a:solidFill>
            <a:srgbClr val="E6F3F7"/>
          </a:solidFill>
          <a:ln/>
        </p:spPr>
      </p:sp>
      <p:sp>
        <p:nvSpPr>
          <p:cNvPr id="13" name="Text 11"/>
          <p:cNvSpPr txBox="1"/>
          <p:nvPr/>
        </p:nvSpPr>
        <p:spPr>
          <a:xfrm>
            <a:off x="704088"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larynx (G) (larinks): </a:t>
            </a:r>
            <a:r>
              <a:rPr lang="en-US" sz="1500" dirty="0">
                <a:solidFill>
                  <a:srgbClr val="1F2937"/>
                </a:solidFill>
                <a:latin typeface="Calibri" pitchFamily="34" charset="0"/>
                <a:ea typeface="Calibri" pitchFamily="34" charset="-122"/>
                <a:cs typeface="Calibri" pitchFamily="34" charset="-120"/>
              </a:rPr>
              <a:t>Gırtlak. Burun boşluğu ile soluk borusu arasındaki organ</a:t>
            </a:r>
            <a:endParaRPr lang="en-US" sz="1500" dirty="0"/>
          </a:p>
        </p:txBody>
      </p:sp>
      <p:sp>
        <p:nvSpPr>
          <p:cNvPr id="14" name="Shape 12"/>
          <p:cNvSpPr/>
          <p:nvPr/>
        </p:nvSpPr>
        <p:spPr>
          <a:xfrm>
            <a:off x="548640" y="5081778"/>
            <a:ext cx="5410048" cy="451866"/>
          </a:xfrm>
          <a:prstGeom prst="roundRect">
            <a:avLst>
              <a:gd name="adj" fmla="val 14165"/>
            </a:avLst>
          </a:prstGeom>
          <a:solidFill>
            <a:srgbClr val="E6F3F7"/>
          </a:solidFill>
          <a:ln/>
        </p:spPr>
      </p:sp>
      <p:sp>
        <p:nvSpPr>
          <p:cNvPr id="15" name="Text 13"/>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glottis (G): </a:t>
            </a:r>
            <a:r>
              <a:rPr lang="en-US" sz="1500" dirty="0">
                <a:solidFill>
                  <a:srgbClr val="1F2937"/>
                </a:solidFill>
                <a:latin typeface="Calibri" pitchFamily="34" charset="0"/>
                <a:ea typeface="Calibri" pitchFamily="34" charset="-122"/>
                <a:cs typeface="Calibri" pitchFamily="34" charset="-120"/>
              </a:rPr>
              <a:t>Gırtlak</a:t>
            </a:r>
            <a:endParaRPr lang="en-US" sz="1500" dirty="0"/>
          </a:p>
        </p:txBody>
      </p:sp>
      <p:sp>
        <p:nvSpPr>
          <p:cNvPr id="16" name="Shape 14"/>
          <p:cNvSpPr/>
          <p:nvPr/>
        </p:nvSpPr>
        <p:spPr>
          <a:xfrm>
            <a:off x="548640" y="5625084"/>
            <a:ext cx="5410048" cy="684276"/>
          </a:xfrm>
          <a:prstGeom prst="roundRect">
            <a:avLst>
              <a:gd name="adj" fmla="val 9354"/>
            </a:avLst>
          </a:prstGeom>
          <a:solidFill>
            <a:srgbClr val="E6F3F7"/>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epiglottis (G) (epiglot): </a:t>
            </a:r>
            <a:r>
              <a:rPr lang="en-US" sz="1500" dirty="0">
                <a:solidFill>
                  <a:srgbClr val="1F2937"/>
                </a:solidFill>
                <a:latin typeface="Calibri" pitchFamily="34" charset="0"/>
                <a:ea typeface="Calibri" pitchFamily="34" charset="-122"/>
                <a:cs typeface="Calibri" pitchFamily="34" charset="-120"/>
              </a:rPr>
              <a:t>Larinksin boşluğunu yutma sırasında kapatan kıkırdak, gırtlak kapağı</a:t>
            </a:r>
            <a:endParaRPr lang="en-US" sz="1500" dirty="0"/>
          </a:p>
        </p:txBody>
      </p:sp>
      <p:sp>
        <p:nvSpPr>
          <p:cNvPr id="18" name="Shape 16"/>
          <p:cNvSpPr/>
          <p:nvPr/>
        </p:nvSpPr>
        <p:spPr>
          <a:xfrm>
            <a:off x="6233008" y="1746504"/>
            <a:ext cx="5410048" cy="451866"/>
          </a:xfrm>
          <a:prstGeom prst="roundRect">
            <a:avLst>
              <a:gd name="adj" fmla="val 14165"/>
            </a:avLst>
          </a:prstGeom>
          <a:solidFill>
            <a:srgbClr val="E6F3F7"/>
          </a:solidFill>
          <a:ln/>
        </p:spPr>
      </p:sp>
      <p:sp>
        <p:nvSpPr>
          <p:cNvPr id="19" name="Text 17"/>
          <p:cNvSpPr txBox="1"/>
          <p:nvPr/>
        </p:nvSpPr>
        <p:spPr>
          <a:xfrm>
            <a:off x="6388456" y="181965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plica vocalis (L) (plika vokalis): </a:t>
            </a:r>
            <a:r>
              <a:rPr lang="en-US" sz="1500" dirty="0">
                <a:solidFill>
                  <a:srgbClr val="1F2937"/>
                </a:solidFill>
                <a:latin typeface="Calibri" pitchFamily="34" charset="0"/>
                <a:ea typeface="Calibri" pitchFamily="34" charset="-122"/>
                <a:cs typeface="Calibri" pitchFamily="34" charset="-120"/>
              </a:rPr>
              <a:t>Ses telleri</a:t>
            </a:r>
            <a:endParaRPr lang="en-US" sz="1500" dirty="0"/>
          </a:p>
        </p:txBody>
      </p:sp>
      <p:sp>
        <p:nvSpPr>
          <p:cNvPr id="20" name="Shape 18"/>
          <p:cNvSpPr/>
          <p:nvPr/>
        </p:nvSpPr>
        <p:spPr>
          <a:xfrm>
            <a:off x="6233008" y="2289810"/>
            <a:ext cx="5410048" cy="684276"/>
          </a:xfrm>
          <a:prstGeom prst="roundRect">
            <a:avLst>
              <a:gd name="adj" fmla="val 9354"/>
            </a:avLst>
          </a:prstGeom>
          <a:solidFill>
            <a:srgbClr val="E6F3F7"/>
          </a:solidFill>
          <a:ln/>
        </p:spPr>
      </p:sp>
      <p:sp>
        <p:nvSpPr>
          <p:cNvPr id="21" name="Text 19"/>
          <p:cNvSpPr txBox="1"/>
          <p:nvPr/>
        </p:nvSpPr>
        <p:spPr>
          <a:xfrm>
            <a:off x="6388456" y="236296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trachea (G) (trakea): </a:t>
            </a:r>
            <a:r>
              <a:rPr lang="en-US" sz="1500" dirty="0">
                <a:solidFill>
                  <a:srgbClr val="1F2937"/>
                </a:solidFill>
                <a:latin typeface="Calibri" pitchFamily="34" charset="0"/>
                <a:ea typeface="Calibri" pitchFamily="34" charset="-122"/>
                <a:cs typeface="Calibri" pitchFamily="34" charset="-120"/>
              </a:rPr>
              <a:t>Soluk borusu. Larins ile akciğerler arasında uzanan, kıkırdak halkalardan yapılmış organ</a:t>
            </a:r>
            <a:endParaRPr lang="en-US" sz="1500" dirty="0"/>
          </a:p>
        </p:txBody>
      </p:sp>
      <p:sp>
        <p:nvSpPr>
          <p:cNvPr id="22" name="Shape 20"/>
          <p:cNvSpPr/>
          <p:nvPr/>
        </p:nvSpPr>
        <p:spPr>
          <a:xfrm>
            <a:off x="6233008" y="3065526"/>
            <a:ext cx="5410048" cy="684276"/>
          </a:xfrm>
          <a:prstGeom prst="roundRect">
            <a:avLst>
              <a:gd name="adj" fmla="val 9354"/>
            </a:avLst>
          </a:prstGeom>
          <a:solidFill>
            <a:srgbClr val="E6F3F7"/>
          </a:solidFill>
          <a:ln/>
        </p:spPr>
      </p:sp>
      <p:sp>
        <p:nvSpPr>
          <p:cNvPr id="23" name="Text 21"/>
          <p:cNvSpPr txBox="1"/>
          <p:nvPr/>
        </p:nvSpPr>
        <p:spPr>
          <a:xfrm>
            <a:off x="6388456"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cartilago (L) trachea (G) (kartilago trakea): </a:t>
            </a:r>
            <a:r>
              <a:rPr lang="en-US" sz="1500" dirty="0">
                <a:solidFill>
                  <a:srgbClr val="1F2937"/>
                </a:solidFill>
                <a:latin typeface="Calibri" pitchFamily="34" charset="0"/>
                <a:ea typeface="Calibri" pitchFamily="34" charset="-122"/>
                <a:cs typeface="Calibri" pitchFamily="34" charset="-120"/>
              </a:rPr>
              <a:t>Trakeayı yapan at nalı şeklindeki kıkırdak.</a:t>
            </a:r>
            <a:endParaRPr lang="en-US" sz="1500" dirty="0"/>
          </a:p>
        </p:txBody>
      </p:sp>
      <p:sp>
        <p:nvSpPr>
          <p:cNvPr id="24" name="Shape 22"/>
          <p:cNvSpPr/>
          <p:nvPr/>
        </p:nvSpPr>
        <p:spPr>
          <a:xfrm>
            <a:off x="6233008" y="3841242"/>
            <a:ext cx="5410048" cy="684276"/>
          </a:xfrm>
          <a:prstGeom prst="roundRect">
            <a:avLst>
              <a:gd name="adj" fmla="val 9354"/>
            </a:avLst>
          </a:prstGeom>
          <a:solidFill>
            <a:srgbClr val="E6F3F7"/>
          </a:solidFill>
          <a:ln/>
        </p:spPr>
      </p:sp>
      <p:sp>
        <p:nvSpPr>
          <p:cNvPr id="25" name="Text 23"/>
          <p:cNvSpPr txBox="1"/>
          <p:nvPr/>
        </p:nvSpPr>
        <p:spPr>
          <a:xfrm>
            <a:off x="6388456" y="39143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bronchus (L) (bronş): </a:t>
            </a:r>
            <a:r>
              <a:rPr lang="en-US" sz="1500" dirty="0">
                <a:solidFill>
                  <a:srgbClr val="1F2937"/>
                </a:solidFill>
                <a:latin typeface="Calibri" pitchFamily="34" charset="0"/>
                <a:ea typeface="Calibri" pitchFamily="34" charset="-122"/>
                <a:cs typeface="Calibri" pitchFamily="34" charset="-120"/>
              </a:rPr>
              <a:t>Bronş, akciğer içindekiilk ve çapı sonrakilere göre büyük olan dallar.</a:t>
            </a:r>
            <a:endParaRPr lang="en-US" sz="15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206</a:t>
            </a:r>
            <a:endParaRPr lang="en-US" sz="1000" dirty="0"/>
          </a:p>
        </p:txBody>
      </p:sp>
      <p:sp>
        <p:nvSpPr>
          <p:cNvPr id="6" name="Shape 4"/>
          <p:cNvSpPr/>
          <p:nvPr/>
        </p:nvSpPr>
        <p:spPr>
          <a:xfrm>
            <a:off x="548640" y="1604772"/>
            <a:ext cx="11094415" cy="916686"/>
          </a:xfrm>
          <a:prstGeom prst="roundRect">
            <a:avLst>
              <a:gd name="adj" fmla="val 6983"/>
            </a:avLst>
          </a:prstGeom>
          <a:solidFill>
            <a:srgbClr val="E6F3F7"/>
          </a:solidFill>
          <a:ln/>
        </p:spPr>
      </p:sp>
      <p:sp>
        <p:nvSpPr>
          <p:cNvPr id="7" name="Text 5"/>
          <p:cNvSpPr txBox="1"/>
          <p:nvPr/>
        </p:nvSpPr>
        <p:spPr>
          <a:xfrm>
            <a:off x="704088" y="1677924"/>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mediastinum (L) (medyastinum): </a:t>
            </a:r>
            <a:r>
              <a:rPr lang="en-US" sz="1500" dirty="0">
                <a:solidFill>
                  <a:srgbClr val="1F2937"/>
                </a:solidFill>
                <a:latin typeface="Calibri" pitchFamily="34" charset="0"/>
                <a:ea typeface="Calibri" pitchFamily="34" charset="-122"/>
                <a:cs typeface="Calibri" pitchFamily="34" charset="-120"/>
              </a:rPr>
              <a:t>İki akciğer arasındaki boşluk. Önden göğüs kemiği, arkadan omurga sınırlar. İçinde, başta kalp olmak üzere değişik yapılar vardır.</a:t>
            </a:r>
            <a:endParaRPr lang="en-US" sz="1500" dirty="0"/>
          </a:p>
        </p:txBody>
      </p:sp>
      <p:sp>
        <p:nvSpPr>
          <p:cNvPr id="8" name="Shape 6"/>
          <p:cNvSpPr/>
          <p:nvPr/>
        </p:nvSpPr>
        <p:spPr>
          <a:xfrm>
            <a:off x="548640" y="2754630"/>
            <a:ext cx="5410048" cy="684276"/>
          </a:xfrm>
          <a:prstGeom prst="roundRect">
            <a:avLst>
              <a:gd name="adj" fmla="val 9354"/>
            </a:avLst>
          </a:prstGeom>
          <a:solidFill>
            <a:srgbClr val="E6F3F7"/>
          </a:solidFill>
          <a:ln/>
        </p:spPr>
      </p:sp>
      <p:sp>
        <p:nvSpPr>
          <p:cNvPr id="9" name="Text 7"/>
          <p:cNvSpPr txBox="1"/>
          <p:nvPr/>
        </p:nvSpPr>
        <p:spPr>
          <a:xfrm>
            <a:off x="704088" y="282778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bronchiolus (L) (bronşiyol): </a:t>
            </a:r>
            <a:r>
              <a:rPr lang="en-US" sz="1500" dirty="0">
                <a:solidFill>
                  <a:srgbClr val="1F2937"/>
                </a:solidFill>
                <a:latin typeface="Calibri" pitchFamily="34" charset="0"/>
                <a:ea typeface="Calibri" pitchFamily="34" charset="-122"/>
                <a:cs typeface="Calibri" pitchFamily="34" charset="-120"/>
              </a:rPr>
              <a:t>Bronşlardan ayrılan ve daha derinlere uzanan dallar. Bronşcuk.</a:t>
            </a:r>
            <a:endParaRPr lang="en-US" sz="1500" dirty="0"/>
          </a:p>
        </p:txBody>
      </p:sp>
      <p:sp>
        <p:nvSpPr>
          <p:cNvPr id="10" name="Shape 8"/>
          <p:cNvSpPr/>
          <p:nvPr/>
        </p:nvSpPr>
        <p:spPr>
          <a:xfrm>
            <a:off x="548640" y="3530346"/>
            <a:ext cx="5410048" cy="916686"/>
          </a:xfrm>
          <a:prstGeom prst="roundRect">
            <a:avLst>
              <a:gd name="adj" fmla="val 6983"/>
            </a:avLst>
          </a:prstGeom>
          <a:solidFill>
            <a:srgbClr val="E6F3F7"/>
          </a:solidFill>
          <a:ln/>
        </p:spPr>
      </p:sp>
      <p:sp>
        <p:nvSpPr>
          <p:cNvPr id="11" name="Text 9"/>
          <p:cNvSpPr txBox="1"/>
          <p:nvPr/>
        </p:nvSpPr>
        <p:spPr>
          <a:xfrm>
            <a:off x="704088" y="3603498"/>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arbor bronchialis (L) (arbor bronşiyalis): </a:t>
            </a:r>
            <a:r>
              <a:rPr lang="en-US" sz="1500" dirty="0">
                <a:solidFill>
                  <a:srgbClr val="1F2937"/>
                </a:solidFill>
                <a:latin typeface="Calibri" pitchFamily="34" charset="0"/>
                <a:ea typeface="Calibri" pitchFamily="34" charset="-122"/>
                <a:cs typeface="Calibri" pitchFamily="34" charset="-120"/>
              </a:rPr>
              <a:t>Bronş ağacı. Trakeadan ayrılan iki ana bronşun akciğerler içinde dağıldıklaraı ağaçsı görüntü.</a:t>
            </a:r>
            <a:endParaRPr lang="en-US" sz="1500" dirty="0"/>
          </a:p>
        </p:txBody>
      </p:sp>
      <p:sp>
        <p:nvSpPr>
          <p:cNvPr id="12" name="Shape 10"/>
          <p:cNvSpPr/>
          <p:nvPr/>
        </p:nvSpPr>
        <p:spPr>
          <a:xfrm>
            <a:off x="548640" y="4538472"/>
            <a:ext cx="5410048" cy="684276"/>
          </a:xfrm>
          <a:prstGeom prst="roundRect">
            <a:avLst>
              <a:gd name="adj" fmla="val 9354"/>
            </a:avLst>
          </a:prstGeom>
          <a:solidFill>
            <a:srgbClr val="E6F3F7"/>
          </a:solidFill>
          <a:ln/>
        </p:spPr>
      </p:sp>
      <p:sp>
        <p:nvSpPr>
          <p:cNvPr id="13" name="Text 11"/>
          <p:cNvSpPr txBox="1"/>
          <p:nvPr/>
        </p:nvSpPr>
        <p:spPr>
          <a:xfrm>
            <a:off x="704088" y="461162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alveolus (L) (alveol): </a:t>
            </a:r>
            <a:r>
              <a:rPr lang="en-US" sz="1500" dirty="0">
                <a:solidFill>
                  <a:srgbClr val="1F2937"/>
                </a:solidFill>
                <a:latin typeface="Calibri" pitchFamily="34" charset="0"/>
                <a:ea typeface="Calibri" pitchFamily="34" charset="-122"/>
                <a:cs typeface="Calibri" pitchFamily="34" charset="-120"/>
              </a:rPr>
              <a:t>Hava kesecikleri. Gaz değişimi buralarda olur. Duvarı içinde bol kılcal damar bulunur.</a:t>
            </a:r>
            <a:endParaRPr lang="en-US" sz="1500" dirty="0"/>
          </a:p>
        </p:txBody>
      </p:sp>
      <p:sp>
        <p:nvSpPr>
          <p:cNvPr id="14" name="Shape 12"/>
          <p:cNvSpPr/>
          <p:nvPr/>
        </p:nvSpPr>
        <p:spPr>
          <a:xfrm>
            <a:off x="548640" y="5314188"/>
            <a:ext cx="5410048" cy="451866"/>
          </a:xfrm>
          <a:prstGeom prst="roundRect">
            <a:avLst>
              <a:gd name="adj" fmla="val 14165"/>
            </a:avLst>
          </a:prstGeom>
          <a:solidFill>
            <a:srgbClr val="E6F3F7"/>
          </a:solidFill>
          <a:ln/>
        </p:spPr>
      </p:sp>
      <p:sp>
        <p:nvSpPr>
          <p:cNvPr id="15" name="Text 13"/>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pulmo (n) (L), pneumon (G) (pnömon): </a:t>
            </a:r>
            <a:r>
              <a:rPr lang="en-US" sz="1500" dirty="0">
                <a:solidFill>
                  <a:srgbClr val="1F2937"/>
                </a:solidFill>
                <a:latin typeface="Calibri" pitchFamily="34" charset="0"/>
                <a:ea typeface="Calibri" pitchFamily="34" charset="-122"/>
                <a:cs typeface="Calibri" pitchFamily="34" charset="-120"/>
              </a:rPr>
              <a:t>Akciğer</a:t>
            </a:r>
            <a:endParaRPr lang="en-US" sz="1500" dirty="0"/>
          </a:p>
        </p:txBody>
      </p:sp>
      <p:sp>
        <p:nvSpPr>
          <p:cNvPr id="16" name="Shape 14"/>
          <p:cNvSpPr/>
          <p:nvPr/>
        </p:nvSpPr>
        <p:spPr>
          <a:xfrm>
            <a:off x="548640" y="5857494"/>
            <a:ext cx="5410048" cy="451866"/>
          </a:xfrm>
          <a:prstGeom prst="roundRect">
            <a:avLst>
              <a:gd name="adj" fmla="val 14165"/>
            </a:avLst>
          </a:prstGeom>
          <a:solidFill>
            <a:srgbClr val="E6F3F7"/>
          </a:solidFill>
          <a:ln/>
        </p:spPr>
      </p:sp>
      <p:sp>
        <p:nvSpPr>
          <p:cNvPr id="17" name="Text 15"/>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pleura (G) (plevra): </a:t>
            </a:r>
            <a:r>
              <a:rPr lang="en-US" sz="1500" dirty="0">
                <a:solidFill>
                  <a:srgbClr val="1F2937"/>
                </a:solidFill>
                <a:latin typeface="Calibri" pitchFamily="34" charset="0"/>
                <a:ea typeface="Calibri" pitchFamily="34" charset="-122"/>
                <a:cs typeface="Calibri" pitchFamily="34" charset="-120"/>
              </a:rPr>
              <a:t>Göğüs zarı</a:t>
            </a:r>
            <a:endParaRPr lang="en-US" sz="1500" dirty="0"/>
          </a:p>
        </p:txBody>
      </p:sp>
      <p:sp>
        <p:nvSpPr>
          <p:cNvPr id="18" name="Shape 16"/>
          <p:cNvSpPr/>
          <p:nvPr/>
        </p:nvSpPr>
        <p:spPr>
          <a:xfrm>
            <a:off x="6233008" y="2754630"/>
            <a:ext cx="5410048" cy="451866"/>
          </a:xfrm>
          <a:prstGeom prst="roundRect">
            <a:avLst>
              <a:gd name="adj" fmla="val 14165"/>
            </a:avLst>
          </a:prstGeom>
          <a:solidFill>
            <a:srgbClr val="E6F3F7"/>
          </a:solidFill>
          <a:ln/>
        </p:spPr>
      </p:sp>
      <p:sp>
        <p:nvSpPr>
          <p:cNvPr id="19" name="Text 17"/>
          <p:cNvSpPr txBox="1"/>
          <p:nvPr/>
        </p:nvSpPr>
        <p:spPr>
          <a:xfrm>
            <a:off x="6388456" y="282778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thorax (G) (torax): </a:t>
            </a:r>
            <a:r>
              <a:rPr lang="en-US" sz="1500" dirty="0">
                <a:solidFill>
                  <a:srgbClr val="1F2937"/>
                </a:solidFill>
                <a:latin typeface="Calibri" pitchFamily="34" charset="0"/>
                <a:ea typeface="Calibri" pitchFamily="34" charset="-122"/>
                <a:cs typeface="Calibri" pitchFamily="34" charset="-120"/>
              </a:rPr>
              <a:t>göğüs boşluğu, göğüs</a:t>
            </a:r>
            <a:endParaRPr lang="en-US" sz="1500" dirty="0"/>
          </a:p>
        </p:txBody>
      </p:sp>
      <p:sp>
        <p:nvSpPr>
          <p:cNvPr id="20" name="Shape 18"/>
          <p:cNvSpPr/>
          <p:nvPr/>
        </p:nvSpPr>
        <p:spPr>
          <a:xfrm>
            <a:off x="6233008" y="3297936"/>
            <a:ext cx="5410048" cy="451866"/>
          </a:xfrm>
          <a:prstGeom prst="roundRect">
            <a:avLst>
              <a:gd name="adj" fmla="val 14165"/>
            </a:avLst>
          </a:prstGeom>
          <a:solidFill>
            <a:srgbClr val="E6F3F7"/>
          </a:solidFill>
          <a:ln/>
        </p:spPr>
      </p:sp>
      <p:sp>
        <p:nvSpPr>
          <p:cNvPr id="21" name="Text 19"/>
          <p:cNvSpPr txBox="1"/>
          <p:nvPr/>
        </p:nvSpPr>
        <p:spPr>
          <a:xfrm>
            <a:off x="6388456" y="337108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expiration (L) (ekspiraasyon): </a:t>
            </a:r>
            <a:r>
              <a:rPr lang="en-US" sz="1500" dirty="0">
                <a:solidFill>
                  <a:srgbClr val="1F2937"/>
                </a:solidFill>
                <a:latin typeface="Calibri" pitchFamily="34" charset="0"/>
                <a:ea typeface="Calibri" pitchFamily="34" charset="-122"/>
                <a:cs typeface="Calibri" pitchFamily="34" charset="-120"/>
              </a:rPr>
              <a:t>Soluk verme</a:t>
            </a:r>
            <a:endParaRPr lang="en-US" sz="1500" dirty="0"/>
          </a:p>
        </p:txBody>
      </p:sp>
      <p:sp>
        <p:nvSpPr>
          <p:cNvPr id="22" name="Shape 20"/>
          <p:cNvSpPr/>
          <p:nvPr/>
        </p:nvSpPr>
        <p:spPr>
          <a:xfrm>
            <a:off x="6233008" y="3841242"/>
            <a:ext cx="5410048" cy="451866"/>
          </a:xfrm>
          <a:prstGeom prst="roundRect">
            <a:avLst>
              <a:gd name="adj" fmla="val 14165"/>
            </a:avLst>
          </a:prstGeom>
          <a:solidFill>
            <a:srgbClr val="E6F3F7"/>
          </a:solidFill>
          <a:ln/>
        </p:spPr>
      </p:sp>
      <p:sp>
        <p:nvSpPr>
          <p:cNvPr id="23" name="Text 21"/>
          <p:cNvSpPr txBox="1"/>
          <p:nvPr/>
        </p:nvSpPr>
        <p:spPr>
          <a:xfrm>
            <a:off x="6388456" y="391439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inspiration (L) (inspirasyon): </a:t>
            </a:r>
            <a:r>
              <a:rPr lang="en-US" sz="1500" dirty="0">
                <a:solidFill>
                  <a:srgbClr val="1F2937"/>
                </a:solidFill>
                <a:latin typeface="Calibri" pitchFamily="34" charset="0"/>
                <a:ea typeface="Calibri" pitchFamily="34" charset="-122"/>
                <a:cs typeface="Calibri" pitchFamily="34" charset="-120"/>
              </a:rPr>
              <a:t>Soluk alma</a:t>
            </a:r>
            <a:endParaRPr lang="en-US" sz="1500" dirty="0"/>
          </a:p>
        </p:txBody>
      </p:sp>
      <p:sp>
        <p:nvSpPr>
          <p:cNvPr id="24" name="Shape 22"/>
          <p:cNvSpPr/>
          <p:nvPr/>
        </p:nvSpPr>
        <p:spPr>
          <a:xfrm>
            <a:off x="6233008" y="4384548"/>
            <a:ext cx="5410048" cy="684276"/>
          </a:xfrm>
          <a:prstGeom prst="roundRect">
            <a:avLst>
              <a:gd name="adj" fmla="val 9354"/>
            </a:avLst>
          </a:prstGeom>
          <a:solidFill>
            <a:srgbClr val="E6F3F7"/>
          </a:solidFill>
          <a:ln/>
        </p:spPr>
      </p:sp>
      <p:sp>
        <p:nvSpPr>
          <p:cNvPr id="25" name="Text 23"/>
          <p:cNvSpPr txBox="1"/>
          <p:nvPr/>
        </p:nvSpPr>
        <p:spPr>
          <a:xfrm>
            <a:off x="6388456" y="445770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vital kapasite: </a:t>
            </a:r>
            <a:r>
              <a:rPr lang="en-US" sz="1500" dirty="0">
                <a:solidFill>
                  <a:srgbClr val="1F2937"/>
                </a:solidFill>
                <a:latin typeface="Calibri" pitchFamily="34" charset="0"/>
                <a:ea typeface="Calibri" pitchFamily="34" charset="-122"/>
                <a:cs typeface="Calibri" pitchFamily="34" charset="-120"/>
              </a:rPr>
              <a:t>Tam bir inspirasyondan sonra tam bir ekspirasyonla çıkarılan hava miktarı</a:t>
            </a:r>
            <a:endParaRPr lang="en-US" sz="1500" dirty="0"/>
          </a:p>
        </p:txBody>
      </p:sp>
      <p:sp>
        <p:nvSpPr>
          <p:cNvPr id="26" name="Shape 24"/>
          <p:cNvSpPr/>
          <p:nvPr/>
        </p:nvSpPr>
        <p:spPr>
          <a:xfrm>
            <a:off x="6233008" y="5160264"/>
            <a:ext cx="5410048" cy="684276"/>
          </a:xfrm>
          <a:prstGeom prst="roundRect">
            <a:avLst>
              <a:gd name="adj" fmla="val 9354"/>
            </a:avLst>
          </a:prstGeom>
          <a:solidFill>
            <a:srgbClr val="E6F3F7"/>
          </a:solidFill>
          <a:ln/>
        </p:spPr>
      </p:sp>
      <p:sp>
        <p:nvSpPr>
          <p:cNvPr id="27" name="Text 25"/>
          <p:cNvSpPr txBox="1"/>
          <p:nvPr/>
        </p:nvSpPr>
        <p:spPr>
          <a:xfrm>
            <a:off x="6388456" y="523341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fonksiyonel reziduel kapasite: </a:t>
            </a:r>
            <a:r>
              <a:rPr lang="en-US" sz="1500" dirty="0">
                <a:solidFill>
                  <a:srgbClr val="1F2937"/>
                </a:solidFill>
                <a:latin typeface="Calibri" pitchFamily="34" charset="0"/>
                <a:ea typeface="Calibri" pitchFamily="34" charset="-122"/>
                <a:cs typeface="Calibri" pitchFamily="34" charset="-120"/>
              </a:rPr>
              <a:t>Normal bir ekspirasyondan sonra akciğerlerde kalan hava miktarı</a:t>
            </a:r>
            <a:endParaRPr lang="en-US" sz="15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3F7"/>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207</a:t>
            </a:r>
            <a:endParaRPr lang="en-US" sz="1000" dirty="0"/>
          </a:p>
        </p:txBody>
      </p:sp>
      <p:sp>
        <p:nvSpPr>
          <p:cNvPr id="6" name="Shape 4"/>
          <p:cNvSpPr/>
          <p:nvPr/>
        </p:nvSpPr>
        <p:spPr>
          <a:xfrm>
            <a:off x="548640" y="2132838"/>
            <a:ext cx="5410048" cy="451866"/>
          </a:xfrm>
          <a:prstGeom prst="roundRect">
            <a:avLst>
              <a:gd name="adj" fmla="val 14165"/>
            </a:avLst>
          </a:prstGeom>
          <a:solidFill>
            <a:srgbClr val="E6F3F7"/>
          </a:solidFill>
          <a:ln/>
        </p:spPr>
      </p:sp>
      <p:sp>
        <p:nvSpPr>
          <p:cNvPr id="7" name="Text 5"/>
          <p:cNvSpPr txBox="1"/>
          <p:nvPr/>
        </p:nvSpPr>
        <p:spPr>
          <a:xfrm>
            <a:off x="704088"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eupnea (G) (öpne): </a:t>
            </a:r>
            <a:r>
              <a:rPr lang="en-US" sz="1500" dirty="0">
                <a:solidFill>
                  <a:srgbClr val="1F2937"/>
                </a:solidFill>
                <a:latin typeface="Calibri" pitchFamily="34" charset="0"/>
                <a:ea typeface="Calibri" pitchFamily="34" charset="-122"/>
                <a:cs typeface="Calibri" pitchFamily="34" charset="-120"/>
              </a:rPr>
              <a:t>Normal solunum</a:t>
            </a:r>
            <a:endParaRPr lang="en-US" sz="1500" dirty="0"/>
          </a:p>
        </p:txBody>
      </p:sp>
      <p:sp>
        <p:nvSpPr>
          <p:cNvPr id="8" name="Shape 6"/>
          <p:cNvSpPr/>
          <p:nvPr/>
        </p:nvSpPr>
        <p:spPr>
          <a:xfrm>
            <a:off x="548640" y="2676144"/>
            <a:ext cx="5410048" cy="451866"/>
          </a:xfrm>
          <a:prstGeom prst="roundRect">
            <a:avLst>
              <a:gd name="adj" fmla="val 14165"/>
            </a:avLst>
          </a:prstGeom>
          <a:solidFill>
            <a:srgbClr val="E6F3F7"/>
          </a:solidFill>
          <a:ln/>
        </p:spPr>
      </p:sp>
      <p:sp>
        <p:nvSpPr>
          <p:cNvPr id="9" name="Text 7"/>
          <p:cNvSpPr txBox="1"/>
          <p:nvPr/>
        </p:nvSpPr>
        <p:spPr>
          <a:xfrm>
            <a:off x="704088" y="274929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dyspnea (G) (dispne): </a:t>
            </a:r>
            <a:r>
              <a:rPr lang="en-US" sz="1500" dirty="0">
                <a:solidFill>
                  <a:srgbClr val="1F2937"/>
                </a:solidFill>
                <a:latin typeface="Calibri" pitchFamily="34" charset="0"/>
                <a:ea typeface="Calibri" pitchFamily="34" charset="-122"/>
                <a:cs typeface="Calibri" pitchFamily="34" charset="-120"/>
              </a:rPr>
              <a:t>Nefes darlığı, solunum güçlüğü</a:t>
            </a:r>
            <a:endParaRPr lang="en-US" sz="1500" dirty="0"/>
          </a:p>
        </p:txBody>
      </p:sp>
      <p:sp>
        <p:nvSpPr>
          <p:cNvPr id="10" name="Shape 8"/>
          <p:cNvSpPr/>
          <p:nvPr/>
        </p:nvSpPr>
        <p:spPr>
          <a:xfrm>
            <a:off x="548640" y="3219450"/>
            <a:ext cx="5410048" cy="451866"/>
          </a:xfrm>
          <a:prstGeom prst="roundRect">
            <a:avLst>
              <a:gd name="adj" fmla="val 14165"/>
            </a:avLst>
          </a:prstGeom>
          <a:solidFill>
            <a:srgbClr val="E6F3F7"/>
          </a:solidFill>
          <a:ln/>
        </p:spPr>
      </p:sp>
      <p:sp>
        <p:nvSpPr>
          <p:cNvPr id="11" name="Text 9"/>
          <p:cNvSpPr txBox="1"/>
          <p:nvPr/>
        </p:nvSpPr>
        <p:spPr>
          <a:xfrm>
            <a:off x="704088"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apnea (G) (apne): </a:t>
            </a:r>
            <a:r>
              <a:rPr lang="en-US" sz="1500" dirty="0">
                <a:solidFill>
                  <a:srgbClr val="1F2937"/>
                </a:solidFill>
                <a:latin typeface="Calibri" pitchFamily="34" charset="0"/>
                <a:ea typeface="Calibri" pitchFamily="34" charset="-122"/>
                <a:cs typeface="Calibri" pitchFamily="34" charset="-120"/>
              </a:rPr>
              <a:t>Geçici olarak solunum durması</a:t>
            </a:r>
            <a:endParaRPr lang="en-US" sz="1500" dirty="0"/>
          </a:p>
        </p:txBody>
      </p:sp>
      <p:sp>
        <p:nvSpPr>
          <p:cNvPr id="12" name="Shape 10"/>
          <p:cNvSpPr/>
          <p:nvPr/>
        </p:nvSpPr>
        <p:spPr>
          <a:xfrm>
            <a:off x="548640" y="3762756"/>
            <a:ext cx="5410048" cy="451866"/>
          </a:xfrm>
          <a:prstGeom prst="roundRect">
            <a:avLst>
              <a:gd name="adj" fmla="val 14165"/>
            </a:avLst>
          </a:prstGeom>
          <a:solidFill>
            <a:srgbClr val="E6F3F7"/>
          </a:solidFill>
          <a:ln/>
        </p:spPr>
      </p:sp>
      <p:sp>
        <p:nvSpPr>
          <p:cNvPr id="13" name="Text 11"/>
          <p:cNvSpPr txBox="1"/>
          <p:nvPr/>
        </p:nvSpPr>
        <p:spPr>
          <a:xfrm>
            <a:off x="704088"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bradypnea (G) (bradipne): </a:t>
            </a:r>
            <a:r>
              <a:rPr lang="en-US" sz="1500" dirty="0">
                <a:solidFill>
                  <a:srgbClr val="1F2937"/>
                </a:solidFill>
                <a:latin typeface="Calibri" pitchFamily="34" charset="0"/>
                <a:ea typeface="Calibri" pitchFamily="34" charset="-122"/>
                <a:cs typeface="Calibri" pitchFamily="34" charset="-120"/>
              </a:rPr>
              <a:t>Yavaş solunum</a:t>
            </a:r>
            <a:endParaRPr lang="en-US" sz="1500" dirty="0"/>
          </a:p>
        </p:txBody>
      </p:sp>
      <p:sp>
        <p:nvSpPr>
          <p:cNvPr id="14" name="Shape 12"/>
          <p:cNvSpPr/>
          <p:nvPr/>
        </p:nvSpPr>
        <p:spPr>
          <a:xfrm>
            <a:off x="548640" y="4306062"/>
            <a:ext cx="5410048" cy="451866"/>
          </a:xfrm>
          <a:prstGeom prst="roundRect">
            <a:avLst>
              <a:gd name="adj" fmla="val 14165"/>
            </a:avLst>
          </a:prstGeom>
          <a:solidFill>
            <a:srgbClr val="E6F3F7"/>
          </a:solidFill>
          <a:ln/>
        </p:spPr>
      </p:sp>
      <p:sp>
        <p:nvSpPr>
          <p:cNvPr id="15" name="Text 13"/>
          <p:cNvSpPr txBox="1"/>
          <p:nvPr/>
        </p:nvSpPr>
        <p:spPr>
          <a:xfrm>
            <a:off x="704088"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tachypnea (G) (takipne): </a:t>
            </a:r>
            <a:r>
              <a:rPr lang="en-US" sz="1500" dirty="0">
                <a:solidFill>
                  <a:srgbClr val="1F2937"/>
                </a:solidFill>
                <a:latin typeface="Calibri" pitchFamily="34" charset="0"/>
                <a:ea typeface="Calibri" pitchFamily="34" charset="-122"/>
                <a:cs typeface="Calibri" pitchFamily="34" charset="-120"/>
              </a:rPr>
              <a:t>Sık soluma</a:t>
            </a:r>
            <a:endParaRPr lang="en-US" sz="1500" dirty="0"/>
          </a:p>
        </p:txBody>
      </p:sp>
      <p:sp>
        <p:nvSpPr>
          <p:cNvPr id="16" name="Shape 14"/>
          <p:cNvSpPr/>
          <p:nvPr/>
        </p:nvSpPr>
        <p:spPr>
          <a:xfrm>
            <a:off x="548640" y="4849368"/>
            <a:ext cx="5410048" cy="684276"/>
          </a:xfrm>
          <a:prstGeom prst="roundRect">
            <a:avLst>
              <a:gd name="adj" fmla="val 9354"/>
            </a:avLst>
          </a:prstGeom>
          <a:solidFill>
            <a:srgbClr val="E6F3F7"/>
          </a:solidFill>
          <a:ln/>
        </p:spPr>
      </p:sp>
      <p:sp>
        <p:nvSpPr>
          <p:cNvPr id="17" name="Text 15"/>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hyperpnea (G) (hiperpne): </a:t>
            </a:r>
            <a:r>
              <a:rPr lang="en-US" sz="1500" dirty="0">
                <a:solidFill>
                  <a:srgbClr val="1F2937"/>
                </a:solidFill>
                <a:latin typeface="Calibri" pitchFamily="34" charset="0"/>
                <a:ea typeface="Calibri" pitchFamily="34" charset="-122"/>
                <a:cs typeface="Calibri" pitchFamily="34" charset="-120"/>
              </a:rPr>
              <a:t>Derinlik ve sayı olarak fazla solunum</a:t>
            </a:r>
            <a:endParaRPr lang="en-US" sz="1500" dirty="0"/>
          </a:p>
        </p:txBody>
      </p:sp>
      <p:sp>
        <p:nvSpPr>
          <p:cNvPr id="18" name="Shape 16"/>
          <p:cNvSpPr/>
          <p:nvPr/>
        </p:nvSpPr>
        <p:spPr>
          <a:xfrm>
            <a:off x="548640" y="5625084"/>
            <a:ext cx="5410048" cy="684276"/>
          </a:xfrm>
          <a:prstGeom prst="roundRect">
            <a:avLst>
              <a:gd name="adj" fmla="val 9354"/>
            </a:avLst>
          </a:prstGeom>
          <a:solidFill>
            <a:srgbClr val="E6F3F7"/>
          </a:solidFill>
          <a:ln/>
        </p:spPr>
      </p:sp>
      <p:sp>
        <p:nvSpPr>
          <p:cNvPr id="19" name="Text 17"/>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hypopnea (G) (hipopne): </a:t>
            </a:r>
            <a:r>
              <a:rPr lang="en-US" sz="1500" dirty="0">
                <a:solidFill>
                  <a:srgbClr val="1F2937"/>
                </a:solidFill>
                <a:latin typeface="Calibri" pitchFamily="34" charset="0"/>
                <a:ea typeface="Calibri" pitchFamily="34" charset="-122"/>
                <a:cs typeface="Calibri" pitchFamily="34" charset="-120"/>
              </a:rPr>
              <a:t>Solunum sayısı ve derinliğinin az olması</a:t>
            </a:r>
            <a:endParaRPr lang="en-US" sz="1500" dirty="0"/>
          </a:p>
        </p:txBody>
      </p:sp>
      <p:sp>
        <p:nvSpPr>
          <p:cNvPr id="20" name="Shape 18"/>
          <p:cNvSpPr/>
          <p:nvPr/>
        </p:nvSpPr>
        <p:spPr>
          <a:xfrm>
            <a:off x="6233008" y="2132838"/>
            <a:ext cx="5410048" cy="916686"/>
          </a:xfrm>
          <a:prstGeom prst="roundRect">
            <a:avLst>
              <a:gd name="adj" fmla="val 6983"/>
            </a:avLst>
          </a:prstGeom>
          <a:solidFill>
            <a:srgbClr val="E6F3F7"/>
          </a:solidFill>
          <a:ln/>
        </p:spPr>
      </p:sp>
      <p:sp>
        <p:nvSpPr>
          <p:cNvPr id="21" name="Text 19"/>
          <p:cNvSpPr txBox="1"/>
          <p:nvPr/>
        </p:nvSpPr>
        <p:spPr>
          <a:xfrm>
            <a:off x="6388456" y="220599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orthopnea (G) (ortopne): </a:t>
            </a:r>
            <a:r>
              <a:rPr lang="en-US" sz="1500" dirty="0">
                <a:solidFill>
                  <a:srgbClr val="1F2937"/>
                </a:solidFill>
                <a:latin typeface="Calibri" pitchFamily="34" charset="0"/>
                <a:ea typeface="Calibri" pitchFamily="34" charset="-122"/>
                <a:cs typeface="Calibri" pitchFamily="34" charset="-120"/>
              </a:rPr>
              <a:t>Hasta sırt üstü yatarken ortaya çıkan solunum sıkıntısıdır. Hasta oturur durumdayken rahat solunum yapabilir.</a:t>
            </a:r>
            <a:endParaRPr lang="en-US" sz="1500" dirty="0"/>
          </a:p>
        </p:txBody>
      </p:sp>
      <p:sp>
        <p:nvSpPr>
          <p:cNvPr id="22" name="Shape 20"/>
          <p:cNvSpPr/>
          <p:nvPr/>
        </p:nvSpPr>
        <p:spPr>
          <a:xfrm>
            <a:off x="6233008" y="3140964"/>
            <a:ext cx="5410048" cy="684276"/>
          </a:xfrm>
          <a:prstGeom prst="roundRect">
            <a:avLst>
              <a:gd name="adj" fmla="val 9354"/>
            </a:avLst>
          </a:prstGeom>
          <a:solidFill>
            <a:srgbClr val="E6F3F7"/>
          </a:solidFill>
          <a:ln/>
        </p:spPr>
      </p:sp>
      <p:sp>
        <p:nvSpPr>
          <p:cNvPr id="23" name="Text 21"/>
          <p:cNvSpPr txBox="1"/>
          <p:nvPr/>
        </p:nvSpPr>
        <p:spPr>
          <a:xfrm>
            <a:off x="6388456" y="321411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paroxysmal nocturnal dypnea (paroksismal nokturnal dispne): </a:t>
            </a:r>
            <a:r>
              <a:rPr lang="en-US" sz="1500" dirty="0">
                <a:solidFill>
                  <a:srgbClr val="1F2937"/>
                </a:solidFill>
                <a:latin typeface="Calibri" pitchFamily="34" charset="0"/>
                <a:ea typeface="Calibri" pitchFamily="34" charset="-122"/>
                <a:cs typeface="Calibri" pitchFamily="34" charset="-120"/>
              </a:rPr>
              <a:t>Gece nöbetler halinde gelen solunum güçlüğü</a:t>
            </a:r>
            <a:endParaRPr lang="en-US" sz="1500" dirty="0"/>
          </a:p>
        </p:txBody>
      </p:sp>
      <p:sp>
        <p:nvSpPr>
          <p:cNvPr id="24" name="Shape 22"/>
          <p:cNvSpPr/>
          <p:nvPr/>
        </p:nvSpPr>
        <p:spPr>
          <a:xfrm>
            <a:off x="6233008" y="3916680"/>
            <a:ext cx="5410048" cy="684276"/>
          </a:xfrm>
          <a:prstGeom prst="roundRect">
            <a:avLst>
              <a:gd name="adj" fmla="val 9354"/>
            </a:avLst>
          </a:prstGeom>
          <a:solidFill>
            <a:srgbClr val="E6F3F7"/>
          </a:solidFill>
          <a:ln/>
        </p:spPr>
      </p:sp>
      <p:sp>
        <p:nvSpPr>
          <p:cNvPr id="25" name="Text 23"/>
          <p:cNvSpPr txBox="1"/>
          <p:nvPr/>
        </p:nvSpPr>
        <p:spPr>
          <a:xfrm>
            <a:off x="6388456" y="398983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kussmaul respiration (kusmavl respirasyon): </a:t>
            </a:r>
            <a:r>
              <a:rPr lang="en-US" sz="1500" dirty="0">
                <a:solidFill>
                  <a:srgbClr val="1F2937"/>
                </a:solidFill>
                <a:latin typeface="Calibri" pitchFamily="34" charset="0"/>
                <a:ea typeface="Calibri" pitchFamily="34" charset="-122"/>
                <a:cs typeface="Calibri" pitchFamily="34" charset="-120"/>
              </a:rPr>
              <a:t>Hava açlığı nedeniyle derin ve hızlı solunum şeklidir.</a:t>
            </a:r>
            <a:endParaRPr lang="en-US" sz="1500" dirty="0"/>
          </a:p>
        </p:txBody>
      </p:sp>
      <p:sp>
        <p:nvSpPr>
          <p:cNvPr id="26" name="Shape 24"/>
          <p:cNvSpPr/>
          <p:nvPr/>
        </p:nvSpPr>
        <p:spPr>
          <a:xfrm>
            <a:off x="6233008" y="4692396"/>
            <a:ext cx="5410048" cy="451866"/>
          </a:xfrm>
          <a:prstGeom prst="roundRect">
            <a:avLst>
              <a:gd name="adj" fmla="val 14165"/>
            </a:avLst>
          </a:prstGeom>
          <a:solidFill>
            <a:srgbClr val="E6F3F7"/>
          </a:solidFill>
          <a:ln/>
        </p:spPr>
      </p:sp>
      <p:sp>
        <p:nvSpPr>
          <p:cNvPr id="27" name="Text 25"/>
          <p:cNvSpPr txBox="1"/>
          <p:nvPr/>
        </p:nvSpPr>
        <p:spPr>
          <a:xfrm>
            <a:off x="6388456" y="476554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hypoxemia (G) (hipoksemi): </a:t>
            </a:r>
            <a:r>
              <a:rPr lang="en-US" sz="1500" dirty="0">
                <a:solidFill>
                  <a:srgbClr val="1F2937"/>
                </a:solidFill>
                <a:latin typeface="Calibri" pitchFamily="34" charset="0"/>
                <a:ea typeface="Calibri" pitchFamily="34" charset="-122"/>
                <a:cs typeface="Calibri" pitchFamily="34" charset="-120"/>
              </a:rPr>
              <a:t>Kanda oksijen azalması</a:t>
            </a:r>
            <a:endParaRPr lang="en-US" sz="15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208</a:t>
            </a:r>
            <a:endParaRPr lang="en-US" sz="1000" dirty="0"/>
          </a:p>
        </p:txBody>
      </p:sp>
      <p:sp>
        <p:nvSpPr>
          <p:cNvPr id="6" name="Shape 4"/>
          <p:cNvSpPr/>
          <p:nvPr/>
        </p:nvSpPr>
        <p:spPr>
          <a:xfrm>
            <a:off x="548640" y="1565250"/>
            <a:ext cx="11094415" cy="421742"/>
          </a:xfrm>
          <a:prstGeom prst="roundRect">
            <a:avLst>
              <a:gd name="adj" fmla="val 15177"/>
            </a:avLst>
          </a:prstGeom>
          <a:solidFill>
            <a:srgbClr val="E6F3F7"/>
          </a:solidFill>
          <a:ln/>
        </p:spPr>
      </p:sp>
      <p:sp>
        <p:nvSpPr>
          <p:cNvPr id="7" name="Text 5"/>
          <p:cNvSpPr txBox="1"/>
          <p:nvPr/>
        </p:nvSpPr>
        <p:spPr>
          <a:xfrm>
            <a:off x="704088" y="163840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hypercapnia (G) (hiperkapni): </a:t>
            </a:r>
            <a:r>
              <a:rPr lang="en-US" sz="1400" dirty="0">
                <a:solidFill>
                  <a:srgbClr val="1F2937"/>
                </a:solidFill>
                <a:latin typeface="Calibri" pitchFamily="34" charset="0"/>
                <a:ea typeface="Calibri" pitchFamily="34" charset="-122"/>
                <a:cs typeface="Calibri" pitchFamily="34" charset="-120"/>
              </a:rPr>
              <a:t>Kanda karbondioksit artması</a:t>
            </a:r>
            <a:endParaRPr lang="en-US" sz="1400" dirty="0"/>
          </a:p>
        </p:txBody>
      </p:sp>
      <p:sp>
        <p:nvSpPr>
          <p:cNvPr id="8" name="Shape 6"/>
          <p:cNvSpPr/>
          <p:nvPr/>
        </p:nvSpPr>
        <p:spPr>
          <a:xfrm>
            <a:off x="548640" y="2078431"/>
            <a:ext cx="11094415" cy="421742"/>
          </a:xfrm>
          <a:prstGeom prst="roundRect">
            <a:avLst>
              <a:gd name="adj" fmla="val 15177"/>
            </a:avLst>
          </a:prstGeom>
          <a:solidFill>
            <a:srgbClr val="E6F3F7"/>
          </a:solidFill>
          <a:ln/>
        </p:spPr>
      </p:sp>
      <p:sp>
        <p:nvSpPr>
          <p:cNvPr id="9" name="Text 7"/>
          <p:cNvSpPr txBox="1"/>
          <p:nvPr/>
        </p:nvSpPr>
        <p:spPr>
          <a:xfrm>
            <a:off x="704088" y="2151583"/>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ventilation (L) (ventilasyon): </a:t>
            </a:r>
            <a:r>
              <a:rPr lang="en-US" sz="1400" dirty="0">
                <a:solidFill>
                  <a:srgbClr val="1F2937"/>
                </a:solidFill>
                <a:latin typeface="Calibri" pitchFamily="34" charset="0"/>
                <a:ea typeface="Calibri" pitchFamily="34" charset="-122"/>
                <a:cs typeface="Calibri" pitchFamily="34" charset="-120"/>
              </a:rPr>
              <a:t>Havalanma. Fizyolojide akciğerlerden sürekli oksijen akımı</a:t>
            </a:r>
            <a:endParaRPr lang="en-US" sz="1400" dirty="0"/>
          </a:p>
        </p:txBody>
      </p:sp>
      <p:sp>
        <p:nvSpPr>
          <p:cNvPr id="10" name="Shape 8"/>
          <p:cNvSpPr/>
          <p:nvPr/>
        </p:nvSpPr>
        <p:spPr>
          <a:xfrm>
            <a:off x="548640" y="2591613"/>
            <a:ext cx="11094415" cy="421742"/>
          </a:xfrm>
          <a:prstGeom prst="roundRect">
            <a:avLst>
              <a:gd name="adj" fmla="val 15177"/>
            </a:avLst>
          </a:prstGeom>
          <a:solidFill>
            <a:srgbClr val="E6F3F7"/>
          </a:solidFill>
          <a:ln/>
        </p:spPr>
      </p:sp>
      <p:sp>
        <p:nvSpPr>
          <p:cNvPr id="11" name="Text 9"/>
          <p:cNvSpPr txBox="1"/>
          <p:nvPr/>
        </p:nvSpPr>
        <p:spPr>
          <a:xfrm>
            <a:off x="704088" y="2664765"/>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hyperventilation (L) (hiperventilasyon): </a:t>
            </a:r>
            <a:r>
              <a:rPr lang="en-US" sz="1400" dirty="0">
                <a:solidFill>
                  <a:srgbClr val="1F2937"/>
                </a:solidFill>
                <a:latin typeface="Calibri" pitchFamily="34" charset="0"/>
                <a:ea typeface="Calibri" pitchFamily="34" charset="-122"/>
                <a:cs typeface="Calibri" pitchFamily="34" charset="-120"/>
              </a:rPr>
              <a:t>Akciğerlerde hava değişiminin hızlanması. Solunum hızlanmasıyla olur</a:t>
            </a:r>
            <a:endParaRPr lang="en-US" sz="1400" dirty="0"/>
          </a:p>
        </p:txBody>
      </p:sp>
      <p:sp>
        <p:nvSpPr>
          <p:cNvPr id="12" name="Shape 10"/>
          <p:cNvSpPr/>
          <p:nvPr/>
        </p:nvSpPr>
        <p:spPr>
          <a:xfrm>
            <a:off x="548640" y="3104794"/>
            <a:ext cx="11094415" cy="421742"/>
          </a:xfrm>
          <a:prstGeom prst="roundRect">
            <a:avLst>
              <a:gd name="adj" fmla="val 15177"/>
            </a:avLst>
          </a:prstGeom>
          <a:solidFill>
            <a:srgbClr val="E6F3F7"/>
          </a:solidFill>
          <a:ln/>
        </p:spPr>
      </p:sp>
      <p:sp>
        <p:nvSpPr>
          <p:cNvPr id="13" name="Text 11"/>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hypoventilation (L) (hipoventilasyon): </a:t>
            </a:r>
            <a:r>
              <a:rPr lang="en-US" sz="1400" dirty="0">
                <a:solidFill>
                  <a:srgbClr val="1F2937"/>
                </a:solidFill>
                <a:latin typeface="Calibri" pitchFamily="34" charset="0"/>
                <a:ea typeface="Calibri" pitchFamily="34" charset="-122"/>
                <a:cs typeface="Calibri" pitchFamily="34" charset="-120"/>
              </a:rPr>
              <a:t>Akciğerlerde hava değişiminin yetersiz olması</a:t>
            </a:r>
            <a:endParaRPr lang="en-US" sz="1400" dirty="0"/>
          </a:p>
        </p:txBody>
      </p:sp>
      <p:sp>
        <p:nvSpPr>
          <p:cNvPr id="14" name="Shape 12"/>
          <p:cNvSpPr/>
          <p:nvPr/>
        </p:nvSpPr>
        <p:spPr>
          <a:xfrm>
            <a:off x="548640" y="3617976"/>
            <a:ext cx="11094415" cy="421742"/>
          </a:xfrm>
          <a:prstGeom prst="roundRect">
            <a:avLst>
              <a:gd name="adj" fmla="val 15177"/>
            </a:avLst>
          </a:prstGeom>
          <a:solidFill>
            <a:srgbClr val="E6F3F7"/>
          </a:solidFill>
          <a:ln/>
        </p:spPr>
      </p:sp>
      <p:sp>
        <p:nvSpPr>
          <p:cNvPr id="15" name="Text 13"/>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aphonia (G) (afoni): </a:t>
            </a:r>
            <a:r>
              <a:rPr lang="en-US" sz="1400" dirty="0">
                <a:solidFill>
                  <a:srgbClr val="1F2937"/>
                </a:solidFill>
                <a:latin typeface="Calibri" pitchFamily="34" charset="0"/>
                <a:ea typeface="Calibri" pitchFamily="34" charset="-122"/>
                <a:cs typeface="Calibri" pitchFamily="34" charset="-120"/>
              </a:rPr>
              <a:t>Ses kaybı</a:t>
            </a:r>
            <a:endParaRPr lang="en-US" sz="1400" dirty="0"/>
          </a:p>
        </p:txBody>
      </p:sp>
      <p:sp>
        <p:nvSpPr>
          <p:cNvPr id="16" name="Shape 14"/>
          <p:cNvSpPr/>
          <p:nvPr/>
        </p:nvSpPr>
        <p:spPr>
          <a:xfrm>
            <a:off x="548640" y="4131158"/>
            <a:ext cx="11094415" cy="421742"/>
          </a:xfrm>
          <a:prstGeom prst="roundRect">
            <a:avLst>
              <a:gd name="adj" fmla="val 15177"/>
            </a:avLst>
          </a:prstGeom>
          <a:solidFill>
            <a:srgbClr val="E6F3F7"/>
          </a:solidFill>
          <a:ln/>
        </p:spPr>
      </p:sp>
      <p:sp>
        <p:nvSpPr>
          <p:cNvPr id="17" name="Text 15"/>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dysphonia (G) (disfoni): </a:t>
            </a:r>
            <a:r>
              <a:rPr lang="en-US" sz="1400" dirty="0">
                <a:solidFill>
                  <a:srgbClr val="1F2937"/>
                </a:solidFill>
                <a:latin typeface="Calibri" pitchFamily="34" charset="0"/>
                <a:ea typeface="Calibri" pitchFamily="34" charset="-122"/>
                <a:cs typeface="Calibri" pitchFamily="34" charset="-120"/>
              </a:rPr>
              <a:t>Ses kısıklığı nedeniyle konuşmada güçlük</a:t>
            </a:r>
            <a:endParaRPr lang="en-US" sz="1400" dirty="0"/>
          </a:p>
        </p:txBody>
      </p:sp>
      <p:sp>
        <p:nvSpPr>
          <p:cNvPr id="18" name="Shape 16"/>
          <p:cNvSpPr/>
          <p:nvPr/>
        </p:nvSpPr>
        <p:spPr>
          <a:xfrm>
            <a:off x="548640" y="4644339"/>
            <a:ext cx="11094415" cy="421742"/>
          </a:xfrm>
          <a:prstGeom prst="roundRect">
            <a:avLst>
              <a:gd name="adj" fmla="val 15177"/>
            </a:avLst>
          </a:prstGeom>
          <a:solidFill>
            <a:srgbClr val="E6F3F7"/>
          </a:solidFill>
          <a:ln/>
        </p:spPr>
      </p:sp>
      <p:sp>
        <p:nvSpPr>
          <p:cNvPr id="19" name="Text 17"/>
          <p:cNvSpPr txBox="1"/>
          <p:nvPr/>
        </p:nvSpPr>
        <p:spPr>
          <a:xfrm>
            <a:off x="704088" y="471749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tussive (L) (tussif): </a:t>
            </a:r>
            <a:r>
              <a:rPr lang="en-US" sz="1400" dirty="0">
                <a:solidFill>
                  <a:srgbClr val="1F2937"/>
                </a:solidFill>
                <a:latin typeface="Calibri" pitchFamily="34" charset="0"/>
                <a:ea typeface="Calibri" pitchFamily="34" charset="-122"/>
                <a:cs typeface="Calibri" pitchFamily="34" charset="-120"/>
              </a:rPr>
              <a:t>Öksürük</a:t>
            </a:r>
            <a:endParaRPr lang="en-US" sz="1400" dirty="0"/>
          </a:p>
        </p:txBody>
      </p:sp>
      <p:sp>
        <p:nvSpPr>
          <p:cNvPr id="20" name="Shape 18"/>
          <p:cNvSpPr/>
          <p:nvPr/>
        </p:nvSpPr>
        <p:spPr>
          <a:xfrm>
            <a:off x="548640" y="5157521"/>
            <a:ext cx="11094415" cy="638658"/>
          </a:xfrm>
          <a:prstGeom prst="roundRect">
            <a:avLst>
              <a:gd name="adj" fmla="val 10022"/>
            </a:avLst>
          </a:prstGeom>
          <a:solidFill>
            <a:srgbClr val="E6F3F7"/>
          </a:solidFill>
          <a:ln/>
        </p:spPr>
      </p:sp>
      <p:sp>
        <p:nvSpPr>
          <p:cNvPr id="21" name="Text 19"/>
          <p:cNvSpPr txBox="1"/>
          <p:nvPr/>
        </p:nvSpPr>
        <p:spPr>
          <a:xfrm>
            <a:off x="704088" y="5230673"/>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expectoration (L) (ekspektorasyon): </a:t>
            </a:r>
            <a:r>
              <a:rPr lang="en-US" sz="1400" dirty="0">
                <a:solidFill>
                  <a:srgbClr val="1F2937"/>
                </a:solidFill>
                <a:latin typeface="Calibri" pitchFamily="34" charset="0"/>
                <a:ea typeface="Calibri" pitchFamily="34" charset="-122"/>
                <a:cs typeface="Calibri" pitchFamily="34" charset="-120"/>
              </a:rPr>
              <a:t>Akciğer ve soluk borusundaki maddelerin öksürükle dışarı çıkarılması, öksürerek balgam çıkarma</a:t>
            </a:r>
            <a:endParaRPr lang="en-US" sz="1400" dirty="0"/>
          </a:p>
        </p:txBody>
      </p:sp>
      <p:sp>
        <p:nvSpPr>
          <p:cNvPr id="22" name="Shape 20"/>
          <p:cNvSpPr/>
          <p:nvPr/>
        </p:nvSpPr>
        <p:spPr>
          <a:xfrm>
            <a:off x="548640" y="5887618"/>
            <a:ext cx="11094415" cy="421742"/>
          </a:xfrm>
          <a:prstGeom prst="roundRect">
            <a:avLst>
              <a:gd name="adj" fmla="val 15177"/>
            </a:avLst>
          </a:prstGeom>
          <a:solidFill>
            <a:srgbClr val="E6F3F7"/>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E7490"/>
                </a:solidFill>
                <a:latin typeface="Calibri" pitchFamily="34" charset="0"/>
                <a:ea typeface="Calibri" pitchFamily="34" charset="-122"/>
                <a:cs typeface="Calibri" pitchFamily="34" charset="-120"/>
              </a:rPr>
              <a:t>rhinorrhea (G) (rinore): </a:t>
            </a:r>
            <a:r>
              <a:rPr lang="en-US" sz="1400" dirty="0">
                <a:solidFill>
                  <a:srgbClr val="1F2937"/>
                </a:solidFill>
                <a:latin typeface="Calibri" pitchFamily="34" charset="0"/>
                <a:ea typeface="Calibri" pitchFamily="34" charset="-122"/>
                <a:cs typeface="Calibri" pitchFamily="34" charset="-120"/>
              </a:rPr>
              <a:t>Burundan gelen sulu akıntı, burun akıntısı</a:t>
            </a:r>
            <a:endParaRPr lang="en-US" sz="14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209</a:t>
            </a:r>
            <a:endParaRPr lang="en-US" sz="1000" dirty="0"/>
          </a:p>
        </p:txBody>
      </p:sp>
      <p:sp>
        <p:nvSpPr>
          <p:cNvPr id="6" name="Shape 4"/>
          <p:cNvSpPr/>
          <p:nvPr/>
        </p:nvSpPr>
        <p:spPr>
          <a:xfrm>
            <a:off x="548640" y="2953512"/>
            <a:ext cx="11094415" cy="542239"/>
          </a:xfrm>
          <a:prstGeom prst="roundRect">
            <a:avLst>
              <a:gd name="adj" fmla="val 11804"/>
            </a:avLst>
          </a:prstGeom>
          <a:solidFill>
            <a:srgbClr val="E6F3F7"/>
          </a:solidFill>
          <a:ln/>
        </p:spPr>
      </p:sp>
      <p:sp>
        <p:nvSpPr>
          <p:cNvPr id="7" name="Text 5"/>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epistaxis (G) (epistaksis), rhinorrhagia (G) (rinoraji): </a:t>
            </a:r>
            <a:r>
              <a:rPr lang="en-US" sz="1800" dirty="0">
                <a:solidFill>
                  <a:srgbClr val="1F2937"/>
                </a:solidFill>
                <a:latin typeface="Calibri" pitchFamily="34" charset="0"/>
                <a:ea typeface="Calibri" pitchFamily="34" charset="-122"/>
                <a:cs typeface="Calibri" pitchFamily="34" charset="-120"/>
              </a:rPr>
              <a:t>Burun kanaması</a:t>
            </a:r>
            <a:endParaRPr lang="en-US" sz="1800" dirty="0"/>
          </a:p>
        </p:txBody>
      </p:sp>
      <p:sp>
        <p:nvSpPr>
          <p:cNvPr id="8" name="Shape 6"/>
          <p:cNvSpPr/>
          <p:nvPr/>
        </p:nvSpPr>
        <p:spPr>
          <a:xfrm>
            <a:off x="548640" y="3587191"/>
            <a:ext cx="11094415" cy="542239"/>
          </a:xfrm>
          <a:prstGeom prst="roundRect">
            <a:avLst>
              <a:gd name="adj" fmla="val 11804"/>
            </a:avLst>
          </a:prstGeom>
          <a:solidFill>
            <a:srgbClr val="E6F3F7"/>
          </a:solidFill>
          <a:ln/>
        </p:spPr>
      </p:sp>
      <p:sp>
        <p:nvSpPr>
          <p:cNvPr id="9" name="Text 7"/>
          <p:cNvSpPr txBox="1"/>
          <p:nvPr/>
        </p:nvSpPr>
        <p:spPr>
          <a:xfrm>
            <a:off x="704088" y="366034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broncho (L) rrhagia (G) (bronkoraji): </a:t>
            </a:r>
            <a:r>
              <a:rPr lang="en-US" sz="1800" dirty="0">
                <a:solidFill>
                  <a:srgbClr val="1F2937"/>
                </a:solidFill>
                <a:latin typeface="Calibri" pitchFamily="34" charset="0"/>
                <a:ea typeface="Calibri" pitchFamily="34" charset="-122"/>
                <a:cs typeface="Calibri" pitchFamily="34" charset="-120"/>
              </a:rPr>
              <a:t>Bronştan gelen kanama</a:t>
            </a:r>
            <a:endParaRPr lang="en-US" sz="1800" dirty="0"/>
          </a:p>
        </p:txBody>
      </p:sp>
      <p:sp>
        <p:nvSpPr>
          <p:cNvPr id="10" name="Shape 8"/>
          <p:cNvSpPr/>
          <p:nvPr/>
        </p:nvSpPr>
        <p:spPr>
          <a:xfrm>
            <a:off x="548640" y="4220870"/>
            <a:ext cx="11094415" cy="542239"/>
          </a:xfrm>
          <a:prstGeom prst="roundRect">
            <a:avLst>
              <a:gd name="adj" fmla="val 11804"/>
            </a:avLst>
          </a:prstGeom>
          <a:solidFill>
            <a:srgbClr val="E6F3F7"/>
          </a:solidFill>
          <a:ln/>
        </p:spPr>
      </p:sp>
      <p:sp>
        <p:nvSpPr>
          <p:cNvPr id="11" name="Text 9"/>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hemoptysis (G) (hemoptizi): </a:t>
            </a:r>
            <a:r>
              <a:rPr lang="en-US" sz="1800" dirty="0">
                <a:solidFill>
                  <a:srgbClr val="1F2937"/>
                </a:solidFill>
                <a:latin typeface="Calibri" pitchFamily="34" charset="0"/>
                <a:ea typeface="Calibri" pitchFamily="34" charset="-122"/>
                <a:cs typeface="Calibri" pitchFamily="34" charset="-120"/>
              </a:rPr>
              <a:t>Akciğerlerden veya solunum yollarından kan gelmesi, kan tükürme</a:t>
            </a:r>
            <a:endParaRPr lang="en-US" sz="1800" dirty="0"/>
          </a:p>
        </p:txBody>
      </p:sp>
      <p:sp>
        <p:nvSpPr>
          <p:cNvPr id="12" name="Shape 10"/>
          <p:cNvSpPr/>
          <p:nvPr/>
        </p:nvSpPr>
        <p:spPr>
          <a:xfrm>
            <a:off x="548640" y="4854550"/>
            <a:ext cx="11094415" cy="821131"/>
          </a:xfrm>
          <a:prstGeom prst="roundRect">
            <a:avLst>
              <a:gd name="adj" fmla="val 7795"/>
            </a:avLst>
          </a:prstGeom>
          <a:solidFill>
            <a:srgbClr val="E6F3F7"/>
          </a:solidFill>
          <a:ln/>
        </p:spPr>
      </p:sp>
      <p:sp>
        <p:nvSpPr>
          <p:cNvPr id="13" name="Text 11"/>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laryngeal (G) stridor (L) (laringeal stridor): </a:t>
            </a:r>
            <a:r>
              <a:rPr lang="en-US" sz="1800" dirty="0">
                <a:solidFill>
                  <a:srgbClr val="1F2937"/>
                </a:solidFill>
                <a:latin typeface="Calibri" pitchFamily="34" charset="0"/>
                <a:ea typeface="Calibri" pitchFamily="34" charset="-122"/>
                <a:cs typeface="Calibri" pitchFamily="34" charset="-120"/>
              </a:rPr>
              <a:t>Larinksteki kasılma nedeniyle solunumun sesli olması</a:t>
            </a:r>
            <a:endParaRPr lang="en-US" sz="1800" dirty="0"/>
          </a:p>
        </p:txBody>
      </p:sp>
      <p:sp>
        <p:nvSpPr>
          <p:cNvPr id="14" name="Shape 12"/>
          <p:cNvSpPr/>
          <p:nvPr/>
        </p:nvSpPr>
        <p:spPr>
          <a:xfrm>
            <a:off x="548640" y="5767121"/>
            <a:ext cx="11094415" cy="542239"/>
          </a:xfrm>
          <a:prstGeom prst="roundRect">
            <a:avLst>
              <a:gd name="adj" fmla="val 11804"/>
            </a:avLst>
          </a:prstGeom>
          <a:solidFill>
            <a:srgbClr val="E6F3F7"/>
          </a:solidFill>
          <a:ln/>
        </p:spPr>
      </p:sp>
      <p:sp>
        <p:nvSpPr>
          <p:cNvPr id="15" name="Text 13"/>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thoracalgia (G) (torakalji): </a:t>
            </a:r>
            <a:r>
              <a:rPr lang="en-US" sz="1800" dirty="0">
                <a:solidFill>
                  <a:srgbClr val="1F2937"/>
                </a:solidFill>
                <a:latin typeface="Calibri" pitchFamily="34" charset="0"/>
                <a:ea typeface="Calibri" pitchFamily="34" charset="-122"/>
                <a:cs typeface="Calibri" pitchFamily="34" charset="-120"/>
              </a:rPr>
              <a:t>Göğüs duvarında hissedilen ağrı, göğüs ağrısı</a:t>
            </a:r>
            <a:endParaRPr lang="en-US" sz="18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3F7"/>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Tanısal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210</a:t>
            </a:r>
            <a:endParaRPr lang="en-US" sz="1000" dirty="0"/>
          </a:p>
        </p:txBody>
      </p:sp>
      <p:sp>
        <p:nvSpPr>
          <p:cNvPr id="6" name="Shape 4"/>
          <p:cNvSpPr/>
          <p:nvPr/>
        </p:nvSpPr>
        <p:spPr>
          <a:xfrm>
            <a:off x="548640" y="1668018"/>
            <a:ext cx="5410048" cy="684276"/>
          </a:xfrm>
          <a:prstGeom prst="roundRect">
            <a:avLst>
              <a:gd name="adj" fmla="val 9354"/>
            </a:avLst>
          </a:prstGeom>
          <a:solidFill>
            <a:srgbClr val="E6F3F7"/>
          </a:solidFill>
          <a:ln/>
        </p:spPr>
      </p:sp>
      <p:sp>
        <p:nvSpPr>
          <p:cNvPr id="7" name="Text 5"/>
          <p:cNvSpPr txBox="1"/>
          <p:nvPr/>
        </p:nvSpPr>
        <p:spPr>
          <a:xfrm>
            <a:off x="704088" y="174117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septum deviation (L) (septum deviasyon): </a:t>
            </a:r>
            <a:r>
              <a:rPr lang="en-US" sz="1500" dirty="0">
                <a:solidFill>
                  <a:srgbClr val="1F2937"/>
                </a:solidFill>
                <a:latin typeface="Calibri" pitchFamily="34" charset="0"/>
                <a:ea typeface="Calibri" pitchFamily="34" charset="-122"/>
                <a:cs typeface="Calibri" pitchFamily="34" charset="-120"/>
              </a:rPr>
              <a:t>Burun bölmesinin sağa veya sola doğru eğrilik göstermesi</a:t>
            </a:r>
            <a:endParaRPr lang="en-US" sz="1500" dirty="0"/>
          </a:p>
        </p:txBody>
      </p:sp>
      <p:sp>
        <p:nvSpPr>
          <p:cNvPr id="8" name="Shape 6"/>
          <p:cNvSpPr/>
          <p:nvPr/>
        </p:nvSpPr>
        <p:spPr>
          <a:xfrm>
            <a:off x="548640" y="2443734"/>
            <a:ext cx="5410048" cy="684276"/>
          </a:xfrm>
          <a:prstGeom prst="roundRect">
            <a:avLst>
              <a:gd name="adj" fmla="val 9354"/>
            </a:avLst>
          </a:prstGeom>
          <a:solidFill>
            <a:srgbClr val="E6F3F7"/>
          </a:solidFill>
          <a:ln/>
        </p:spPr>
      </p:sp>
      <p:sp>
        <p:nvSpPr>
          <p:cNvPr id="9" name="Text 7"/>
          <p:cNvSpPr txBox="1"/>
          <p:nvPr/>
        </p:nvSpPr>
        <p:spPr>
          <a:xfrm>
            <a:off x="704088" y="251688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rhinokyphosis (G) (rinokifoz): </a:t>
            </a:r>
            <a:r>
              <a:rPr lang="en-US" sz="1500" dirty="0">
                <a:solidFill>
                  <a:srgbClr val="1F2937"/>
                </a:solidFill>
                <a:latin typeface="Calibri" pitchFamily="34" charset="0"/>
                <a:ea typeface="Calibri" pitchFamily="34" charset="-122"/>
                <a:cs typeface="Calibri" pitchFamily="34" charset="-120"/>
              </a:rPr>
              <a:t>Burun sırtında bulunan kemer, kemer burun</a:t>
            </a:r>
            <a:endParaRPr lang="en-US" sz="1500" dirty="0"/>
          </a:p>
        </p:txBody>
      </p:sp>
      <p:sp>
        <p:nvSpPr>
          <p:cNvPr id="10" name="Shape 8"/>
          <p:cNvSpPr/>
          <p:nvPr/>
        </p:nvSpPr>
        <p:spPr>
          <a:xfrm>
            <a:off x="548640" y="3219450"/>
            <a:ext cx="5410048" cy="684276"/>
          </a:xfrm>
          <a:prstGeom prst="roundRect">
            <a:avLst>
              <a:gd name="adj" fmla="val 9354"/>
            </a:avLst>
          </a:prstGeom>
          <a:solidFill>
            <a:srgbClr val="E6F3F7"/>
          </a:solidFill>
          <a:ln/>
        </p:spPr>
      </p:sp>
      <p:sp>
        <p:nvSpPr>
          <p:cNvPr id="11" name="Text 9"/>
          <p:cNvSpPr txBox="1"/>
          <p:nvPr/>
        </p:nvSpPr>
        <p:spPr>
          <a:xfrm>
            <a:off x="704088" y="329260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rhhinitis (G) (rinit): </a:t>
            </a:r>
            <a:r>
              <a:rPr lang="en-US" sz="1500" dirty="0">
                <a:solidFill>
                  <a:srgbClr val="1F2937"/>
                </a:solidFill>
                <a:latin typeface="Calibri" pitchFamily="34" charset="0"/>
                <a:ea typeface="Calibri" pitchFamily="34" charset="-122"/>
                <a:cs typeface="Calibri" pitchFamily="34" charset="-120"/>
              </a:rPr>
              <a:t>Burun mukozasının iltihabı, nezle.</a:t>
            </a:r>
            <a:endParaRPr lang="en-US" sz="1500" dirty="0"/>
          </a:p>
        </p:txBody>
      </p:sp>
      <p:sp>
        <p:nvSpPr>
          <p:cNvPr id="12" name="Shape 10"/>
          <p:cNvSpPr/>
          <p:nvPr/>
        </p:nvSpPr>
        <p:spPr>
          <a:xfrm>
            <a:off x="548640" y="3995166"/>
            <a:ext cx="5410048" cy="451866"/>
          </a:xfrm>
          <a:prstGeom prst="roundRect">
            <a:avLst>
              <a:gd name="adj" fmla="val 14165"/>
            </a:avLst>
          </a:prstGeom>
          <a:solidFill>
            <a:srgbClr val="E6F3F7"/>
          </a:solidFill>
          <a:ln/>
        </p:spPr>
      </p:sp>
      <p:sp>
        <p:nvSpPr>
          <p:cNvPr id="13" name="Text 11"/>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tonsillitis (G) (tonsilit): </a:t>
            </a:r>
            <a:r>
              <a:rPr lang="en-US" sz="1500" dirty="0">
                <a:solidFill>
                  <a:srgbClr val="1F2937"/>
                </a:solidFill>
                <a:latin typeface="Calibri" pitchFamily="34" charset="0"/>
                <a:ea typeface="Calibri" pitchFamily="34" charset="-122"/>
                <a:cs typeface="Calibri" pitchFamily="34" charset="-120"/>
              </a:rPr>
              <a:t>Bademcik iltihabı</a:t>
            </a:r>
            <a:endParaRPr lang="en-US" sz="1500" dirty="0"/>
          </a:p>
        </p:txBody>
      </p:sp>
      <p:sp>
        <p:nvSpPr>
          <p:cNvPr id="14" name="Shape 12"/>
          <p:cNvSpPr/>
          <p:nvPr/>
        </p:nvSpPr>
        <p:spPr>
          <a:xfrm>
            <a:off x="548640" y="4538472"/>
            <a:ext cx="5410048" cy="451866"/>
          </a:xfrm>
          <a:prstGeom prst="roundRect">
            <a:avLst>
              <a:gd name="adj" fmla="val 14165"/>
            </a:avLst>
          </a:prstGeom>
          <a:solidFill>
            <a:srgbClr val="E6F3F7"/>
          </a:solidFill>
          <a:ln/>
        </p:spPr>
      </p:sp>
      <p:sp>
        <p:nvSpPr>
          <p:cNvPr id="15" name="Text 13"/>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pharingitis (G) (farinjit): </a:t>
            </a:r>
            <a:r>
              <a:rPr lang="en-US" sz="1500" dirty="0">
                <a:solidFill>
                  <a:srgbClr val="1F2937"/>
                </a:solidFill>
                <a:latin typeface="Calibri" pitchFamily="34" charset="0"/>
                <a:ea typeface="Calibri" pitchFamily="34" charset="-122"/>
                <a:cs typeface="Calibri" pitchFamily="34" charset="-120"/>
              </a:rPr>
              <a:t>Farinksin (yutak) iltihabı</a:t>
            </a:r>
            <a:endParaRPr lang="en-US" sz="1500" dirty="0"/>
          </a:p>
        </p:txBody>
      </p:sp>
      <p:sp>
        <p:nvSpPr>
          <p:cNvPr id="16" name="Shape 14"/>
          <p:cNvSpPr/>
          <p:nvPr/>
        </p:nvSpPr>
        <p:spPr>
          <a:xfrm>
            <a:off x="548640" y="5081778"/>
            <a:ext cx="5410048" cy="451866"/>
          </a:xfrm>
          <a:prstGeom prst="roundRect">
            <a:avLst>
              <a:gd name="adj" fmla="val 14165"/>
            </a:avLst>
          </a:prstGeom>
          <a:solidFill>
            <a:srgbClr val="E6F3F7"/>
          </a:solidFill>
          <a:ln/>
        </p:spPr>
      </p:sp>
      <p:sp>
        <p:nvSpPr>
          <p:cNvPr id="17" name="Text 15"/>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laryngitis (G) (larinjit): </a:t>
            </a:r>
            <a:r>
              <a:rPr lang="en-US" sz="1500" dirty="0">
                <a:solidFill>
                  <a:srgbClr val="1F2937"/>
                </a:solidFill>
                <a:latin typeface="Calibri" pitchFamily="34" charset="0"/>
                <a:ea typeface="Calibri" pitchFamily="34" charset="-122"/>
                <a:cs typeface="Calibri" pitchFamily="34" charset="-120"/>
              </a:rPr>
              <a:t>Larinksin (gırtlak) iltihabı</a:t>
            </a:r>
            <a:endParaRPr lang="en-US" sz="1500" dirty="0"/>
          </a:p>
        </p:txBody>
      </p:sp>
      <p:sp>
        <p:nvSpPr>
          <p:cNvPr id="18" name="Shape 16"/>
          <p:cNvSpPr/>
          <p:nvPr/>
        </p:nvSpPr>
        <p:spPr>
          <a:xfrm>
            <a:off x="548640" y="5625084"/>
            <a:ext cx="5410048" cy="684276"/>
          </a:xfrm>
          <a:prstGeom prst="roundRect">
            <a:avLst>
              <a:gd name="adj" fmla="val 9354"/>
            </a:avLst>
          </a:prstGeom>
          <a:solidFill>
            <a:srgbClr val="E6F3F7"/>
          </a:solidFill>
          <a:ln/>
        </p:spPr>
      </p:sp>
      <p:sp>
        <p:nvSpPr>
          <p:cNvPr id="19" name="Text 17"/>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laryngopharingitis (G) (laringofarinjit): </a:t>
            </a:r>
            <a:r>
              <a:rPr lang="en-US" sz="1500" dirty="0">
                <a:solidFill>
                  <a:srgbClr val="1F2937"/>
                </a:solidFill>
                <a:latin typeface="Calibri" pitchFamily="34" charset="0"/>
                <a:ea typeface="Calibri" pitchFamily="34" charset="-122"/>
                <a:cs typeface="Calibri" pitchFamily="34" charset="-120"/>
              </a:rPr>
              <a:t>Gırtlak ve yutağın birlikte iltihabı</a:t>
            </a:r>
            <a:endParaRPr lang="en-US" sz="1500" dirty="0"/>
          </a:p>
        </p:txBody>
      </p:sp>
      <p:sp>
        <p:nvSpPr>
          <p:cNvPr id="20" name="Shape 18"/>
          <p:cNvSpPr/>
          <p:nvPr/>
        </p:nvSpPr>
        <p:spPr>
          <a:xfrm>
            <a:off x="6233008" y="1668018"/>
            <a:ext cx="5410048" cy="684276"/>
          </a:xfrm>
          <a:prstGeom prst="roundRect">
            <a:avLst>
              <a:gd name="adj" fmla="val 9354"/>
            </a:avLst>
          </a:prstGeom>
          <a:solidFill>
            <a:srgbClr val="E6F3F7"/>
          </a:solidFill>
          <a:ln/>
        </p:spPr>
      </p:sp>
      <p:sp>
        <p:nvSpPr>
          <p:cNvPr id="21" name="Text 19"/>
          <p:cNvSpPr txBox="1"/>
          <p:nvPr/>
        </p:nvSpPr>
        <p:spPr>
          <a:xfrm>
            <a:off x="6388456" y="174117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sinusitis (GL) (sinüzit): </a:t>
            </a:r>
            <a:r>
              <a:rPr lang="en-US" sz="1500" dirty="0">
                <a:solidFill>
                  <a:srgbClr val="1F2937"/>
                </a:solidFill>
                <a:latin typeface="Calibri" pitchFamily="34" charset="0"/>
                <a:ea typeface="Calibri" pitchFamily="34" charset="-122"/>
                <a:cs typeface="Calibri" pitchFamily="34" charset="-120"/>
              </a:rPr>
              <a:t>Sinusların duvarını döşeyen bağ dokunun iltihabı</a:t>
            </a:r>
            <a:endParaRPr lang="en-US" sz="1500" dirty="0"/>
          </a:p>
        </p:txBody>
      </p:sp>
      <p:sp>
        <p:nvSpPr>
          <p:cNvPr id="22" name="Shape 20"/>
          <p:cNvSpPr/>
          <p:nvPr/>
        </p:nvSpPr>
        <p:spPr>
          <a:xfrm>
            <a:off x="6233008" y="2443734"/>
            <a:ext cx="5410048" cy="684276"/>
          </a:xfrm>
          <a:prstGeom prst="roundRect">
            <a:avLst>
              <a:gd name="adj" fmla="val 9354"/>
            </a:avLst>
          </a:prstGeom>
          <a:solidFill>
            <a:srgbClr val="E6F3F7"/>
          </a:solidFill>
          <a:ln/>
        </p:spPr>
      </p:sp>
      <p:sp>
        <p:nvSpPr>
          <p:cNvPr id="23" name="Text 21"/>
          <p:cNvSpPr txBox="1"/>
          <p:nvPr/>
        </p:nvSpPr>
        <p:spPr>
          <a:xfrm>
            <a:off x="6388456" y="251688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pansinusitis (GLG) (pansinuzit): </a:t>
            </a:r>
            <a:r>
              <a:rPr lang="en-US" sz="1500" dirty="0">
                <a:solidFill>
                  <a:srgbClr val="1F2937"/>
                </a:solidFill>
                <a:latin typeface="Calibri" pitchFamily="34" charset="0"/>
                <a:ea typeface="Calibri" pitchFamily="34" charset="-122"/>
                <a:cs typeface="Calibri" pitchFamily="34" charset="-120"/>
              </a:rPr>
              <a:t>Bütün sinusların iltihabı</a:t>
            </a:r>
            <a:endParaRPr lang="en-US" sz="1500" dirty="0"/>
          </a:p>
        </p:txBody>
      </p:sp>
      <p:sp>
        <p:nvSpPr>
          <p:cNvPr id="24" name="Shape 22"/>
          <p:cNvSpPr/>
          <p:nvPr/>
        </p:nvSpPr>
        <p:spPr>
          <a:xfrm>
            <a:off x="6233008" y="3219450"/>
            <a:ext cx="5410048" cy="451866"/>
          </a:xfrm>
          <a:prstGeom prst="roundRect">
            <a:avLst>
              <a:gd name="adj" fmla="val 14165"/>
            </a:avLst>
          </a:prstGeom>
          <a:solidFill>
            <a:srgbClr val="E6F3F7"/>
          </a:solidFill>
          <a:ln/>
        </p:spPr>
      </p:sp>
      <p:sp>
        <p:nvSpPr>
          <p:cNvPr id="25" name="Text 23"/>
          <p:cNvSpPr txBox="1"/>
          <p:nvPr/>
        </p:nvSpPr>
        <p:spPr>
          <a:xfrm>
            <a:off x="6388456"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bronchitis (LG) (bronşit): </a:t>
            </a:r>
            <a:r>
              <a:rPr lang="en-US" sz="1500" dirty="0">
                <a:solidFill>
                  <a:srgbClr val="1F2937"/>
                </a:solidFill>
                <a:latin typeface="Calibri" pitchFamily="34" charset="0"/>
                <a:ea typeface="Calibri" pitchFamily="34" charset="-122"/>
                <a:cs typeface="Calibri" pitchFamily="34" charset="-120"/>
              </a:rPr>
              <a:t>Bronşların iltihabı</a:t>
            </a:r>
            <a:endParaRPr lang="en-US" sz="1500" dirty="0"/>
          </a:p>
        </p:txBody>
      </p:sp>
      <p:sp>
        <p:nvSpPr>
          <p:cNvPr id="26" name="Shape 24"/>
          <p:cNvSpPr/>
          <p:nvPr/>
        </p:nvSpPr>
        <p:spPr>
          <a:xfrm>
            <a:off x="6233008" y="3762756"/>
            <a:ext cx="5410048" cy="684276"/>
          </a:xfrm>
          <a:prstGeom prst="roundRect">
            <a:avLst>
              <a:gd name="adj" fmla="val 9354"/>
            </a:avLst>
          </a:prstGeom>
          <a:solidFill>
            <a:srgbClr val="E6F3F7"/>
          </a:solidFill>
          <a:ln/>
        </p:spPr>
      </p:sp>
      <p:sp>
        <p:nvSpPr>
          <p:cNvPr id="27" name="Text 25"/>
          <p:cNvSpPr txBox="1"/>
          <p:nvPr/>
        </p:nvSpPr>
        <p:spPr>
          <a:xfrm>
            <a:off x="6388456" y="383590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tracheobronchitis (G) (trakeabronşit): </a:t>
            </a:r>
            <a:r>
              <a:rPr lang="en-US" sz="1500" dirty="0">
                <a:solidFill>
                  <a:srgbClr val="1F2937"/>
                </a:solidFill>
                <a:latin typeface="Calibri" pitchFamily="34" charset="0"/>
                <a:ea typeface="Calibri" pitchFamily="34" charset="-122"/>
                <a:cs typeface="Calibri" pitchFamily="34" charset="-120"/>
              </a:rPr>
              <a:t>Soluk borusu ve bronşların birlikte iltihabı</a:t>
            </a:r>
            <a:endParaRPr lang="en-US" sz="15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Tanısal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211</a:t>
            </a:r>
            <a:endParaRPr lang="en-US" sz="1000" dirty="0"/>
          </a:p>
        </p:txBody>
      </p:sp>
      <p:sp>
        <p:nvSpPr>
          <p:cNvPr id="6" name="Shape 4"/>
          <p:cNvSpPr/>
          <p:nvPr/>
        </p:nvSpPr>
        <p:spPr>
          <a:xfrm>
            <a:off x="548640" y="1526286"/>
            <a:ext cx="11094415" cy="684276"/>
          </a:xfrm>
          <a:prstGeom prst="roundRect">
            <a:avLst>
              <a:gd name="adj" fmla="val 9354"/>
            </a:avLst>
          </a:prstGeom>
          <a:solidFill>
            <a:srgbClr val="E6F3F7"/>
          </a:solidFill>
          <a:ln/>
        </p:spPr>
      </p:sp>
      <p:sp>
        <p:nvSpPr>
          <p:cNvPr id="7" name="Text 5"/>
          <p:cNvSpPr txBox="1"/>
          <p:nvPr/>
        </p:nvSpPr>
        <p:spPr>
          <a:xfrm>
            <a:off x="704088" y="159943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bronchial asthma (G) (bronşiyal astım): </a:t>
            </a:r>
            <a:r>
              <a:rPr lang="en-US" sz="1500" dirty="0">
                <a:solidFill>
                  <a:srgbClr val="1F2937"/>
                </a:solidFill>
                <a:latin typeface="Calibri" pitchFamily="34" charset="0"/>
                <a:ea typeface="Calibri" pitchFamily="34" charset="-122"/>
                <a:cs typeface="Calibri" pitchFamily="34" charset="-120"/>
              </a:rPr>
              <a:t>Hava yollarının başka bir hastalığa bağlı olmayan geçici daralması veya tıkanmasıdır. Dispne ve hırıltılı solunum görülür.</a:t>
            </a:r>
            <a:endParaRPr lang="en-US" sz="1500" dirty="0"/>
          </a:p>
        </p:txBody>
      </p:sp>
      <p:sp>
        <p:nvSpPr>
          <p:cNvPr id="8" name="Shape 6"/>
          <p:cNvSpPr/>
          <p:nvPr/>
        </p:nvSpPr>
        <p:spPr>
          <a:xfrm>
            <a:off x="548640" y="2302002"/>
            <a:ext cx="11094415" cy="684276"/>
          </a:xfrm>
          <a:prstGeom prst="roundRect">
            <a:avLst>
              <a:gd name="adj" fmla="val 9354"/>
            </a:avLst>
          </a:prstGeom>
          <a:solidFill>
            <a:srgbClr val="E6F3F7"/>
          </a:solidFill>
          <a:ln/>
        </p:spPr>
      </p:sp>
      <p:sp>
        <p:nvSpPr>
          <p:cNvPr id="9" name="Text 7"/>
          <p:cNvSpPr txBox="1"/>
          <p:nvPr/>
        </p:nvSpPr>
        <p:spPr>
          <a:xfrm>
            <a:off x="704088" y="2375154"/>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pulmonary (L) embolism (G) (pulmoner embolizm): </a:t>
            </a:r>
            <a:r>
              <a:rPr lang="en-US" sz="1500" dirty="0">
                <a:solidFill>
                  <a:srgbClr val="1F2937"/>
                </a:solidFill>
                <a:latin typeface="Calibri" pitchFamily="34" charset="0"/>
                <a:ea typeface="Calibri" pitchFamily="34" charset="-122"/>
                <a:cs typeface="Calibri" pitchFamily="34" charset="-120"/>
              </a:rPr>
              <a:t>Akciğer embolisi, bir pulmoner arteri tıkayan pıhtıya pıhtıya bağlı olarak akciğer parankimasına giden kan akımının engellenmesidir.</a:t>
            </a:r>
            <a:endParaRPr lang="en-US" sz="1500" dirty="0"/>
          </a:p>
        </p:txBody>
      </p:sp>
      <p:sp>
        <p:nvSpPr>
          <p:cNvPr id="10" name="Shape 8"/>
          <p:cNvSpPr/>
          <p:nvPr/>
        </p:nvSpPr>
        <p:spPr>
          <a:xfrm>
            <a:off x="548640" y="3140964"/>
            <a:ext cx="11094415" cy="451866"/>
          </a:xfrm>
          <a:prstGeom prst="roundRect">
            <a:avLst>
              <a:gd name="adj" fmla="val 14165"/>
            </a:avLst>
          </a:prstGeom>
          <a:solidFill>
            <a:srgbClr val="E6F3F7"/>
          </a:solidFill>
          <a:ln/>
        </p:spPr>
      </p:sp>
      <p:sp>
        <p:nvSpPr>
          <p:cNvPr id="11" name="Text 9"/>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atelectasis (G) (atelektazi): </a:t>
            </a:r>
            <a:r>
              <a:rPr lang="en-US" sz="1500" dirty="0">
                <a:solidFill>
                  <a:srgbClr val="1F2937"/>
                </a:solidFill>
                <a:latin typeface="Calibri" pitchFamily="34" charset="0"/>
                <a:ea typeface="Calibri" pitchFamily="34" charset="-122"/>
                <a:cs typeface="Calibri" pitchFamily="34" charset="-120"/>
              </a:rPr>
              <a:t>Akciğerlerin ir bölümünün sönmesidir. Kollabe olmasıdır.</a:t>
            </a:r>
            <a:endParaRPr lang="en-US" sz="1500" dirty="0"/>
          </a:p>
        </p:txBody>
      </p:sp>
      <p:sp>
        <p:nvSpPr>
          <p:cNvPr id="12" name="Shape 10"/>
          <p:cNvSpPr/>
          <p:nvPr/>
        </p:nvSpPr>
        <p:spPr>
          <a:xfrm>
            <a:off x="548640" y="3684270"/>
            <a:ext cx="11094415" cy="451866"/>
          </a:xfrm>
          <a:prstGeom prst="roundRect">
            <a:avLst>
              <a:gd name="adj" fmla="val 14165"/>
            </a:avLst>
          </a:prstGeom>
          <a:solidFill>
            <a:srgbClr val="E6F3F7"/>
          </a:solidFill>
          <a:ln/>
        </p:spPr>
      </p:sp>
      <p:sp>
        <p:nvSpPr>
          <p:cNvPr id="13" name="Text 11"/>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bronchiectasis (bronşektazi): </a:t>
            </a:r>
            <a:r>
              <a:rPr lang="en-US" sz="1500" dirty="0">
                <a:solidFill>
                  <a:srgbClr val="1F2937"/>
                </a:solidFill>
                <a:latin typeface="Calibri" pitchFamily="34" charset="0"/>
                <a:ea typeface="Calibri" pitchFamily="34" charset="-122"/>
                <a:cs typeface="Calibri" pitchFamily="34" charset="-120"/>
              </a:rPr>
              <a:t>Bronşların geri dönüşsüz olarak silindir, kese veya varis şeklinde genişlemesi</a:t>
            </a:r>
            <a:endParaRPr lang="en-US" sz="1500" dirty="0"/>
          </a:p>
        </p:txBody>
      </p:sp>
      <p:sp>
        <p:nvSpPr>
          <p:cNvPr id="14" name="Shape 12"/>
          <p:cNvSpPr/>
          <p:nvPr/>
        </p:nvSpPr>
        <p:spPr>
          <a:xfrm>
            <a:off x="548640" y="4227576"/>
            <a:ext cx="11094415" cy="451866"/>
          </a:xfrm>
          <a:prstGeom prst="roundRect">
            <a:avLst>
              <a:gd name="adj" fmla="val 14165"/>
            </a:avLst>
          </a:prstGeom>
          <a:solidFill>
            <a:srgbClr val="E6F3F7"/>
          </a:solidFill>
          <a:ln/>
        </p:spPr>
      </p:sp>
      <p:sp>
        <p:nvSpPr>
          <p:cNvPr id="15" name="Text 13"/>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hemothorax (G) (hemotoraks): </a:t>
            </a:r>
            <a:r>
              <a:rPr lang="en-US" sz="1500" dirty="0">
                <a:solidFill>
                  <a:srgbClr val="1F2937"/>
                </a:solidFill>
                <a:latin typeface="Calibri" pitchFamily="34" charset="0"/>
                <a:ea typeface="Calibri" pitchFamily="34" charset="-122"/>
                <a:cs typeface="Calibri" pitchFamily="34" charset="-120"/>
              </a:rPr>
              <a:t>Göğüs boşluğuna kan dolması</a:t>
            </a:r>
            <a:endParaRPr lang="en-US" sz="1500" dirty="0"/>
          </a:p>
        </p:txBody>
      </p:sp>
      <p:sp>
        <p:nvSpPr>
          <p:cNvPr id="16" name="Shape 14"/>
          <p:cNvSpPr/>
          <p:nvPr/>
        </p:nvSpPr>
        <p:spPr>
          <a:xfrm>
            <a:off x="548640" y="4770882"/>
            <a:ext cx="11094415" cy="451866"/>
          </a:xfrm>
          <a:prstGeom prst="roundRect">
            <a:avLst>
              <a:gd name="adj" fmla="val 14165"/>
            </a:avLst>
          </a:prstGeom>
          <a:solidFill>
            <a:srgbClr val="E6F3F7"/>
          </a:solidFill>
          <a:ln/>
        </p:spPr>
      </p:sp>
      <p:sp>
        <p:nvSpPr>
          <p:cNvPr id="17" name="Text 15"/>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pneumothorax (G) (pnömotoraks): </a:t>
            </a:r>
            <a:r>
              <a:rPr lang="en-US" sz="1500" dirty="0">
                <a:solidFill>
                  <a:srgbClr val="1F2937"/>
                </a:solidFill>
                <a:latin typeface="Calibri" pitchFamily="34" charset="0"/>
                <a:ea typeface="Calibri" pitchFamily="34" charset="-122"/>
                <a:cs typeface="Calibri" pitchFamily="34" charset="-120"/>
              </a:rPr>
              <a:t>Plevra boşluğuna hava dolmasıdır.</a:t>
            </a:r>
            <a:endParaRPr lang="en-US" sz="1500" dirty="0"/>
          </a:p>
        </p:txBody>
      </p:sp>
      <p:sp>
        <p:nvSpPr>
          <p:cNvPr id="18" name="Shape 16"/>
          <p:cNvSpPr/>
          <p:nvPr/>
        </p:nvSpPr>
        <p:spPr>
          <a:xfrm>
            <a:off x="548640" y="5314188"/>
            <a:ext cx="11094415" cy="451866"/>
          </a:xfrm>
          <a:prstGeom prst="roundRect">
            <a:avLst>
              <a:gd name="adj" fmla="val 14165"/>
            </a:avLst>
          </a:prstGeom>
          <a:solidFill>
            <a:srgbClr val="E6F3F7"/>
          </a:solidFill>
          <a:ln/>
        </p:spPr>
      </p:sp>
      <p:sp>
        <p:nvSpPr>
          <p:cNvPr id="19" name="Text 17"/>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hydropneumothorax (G) hidropnönotoraks): </a:t>
            </a:r>
            <a:r>
              <a:rPr lang="en-US" sz="1500" dirty="0">
                <a:solidFill>
                  <a:srgbClr val="1F2937"/>
                </a:solidFill>
                <a:latin typeface="Calibri" pitchFamily="34" charset="0"/>
                <a:ea typeface="Calibri" pitchFamily="34" charset="-122"/>
                <a:cs typeface="Calibri" pitchFamily="34" charset="-120"/>
              </a:rPr>
              <a:t>Göğüs boşluğuna hava ve sıvı dolması</a:t>
            </a:r>
            <a:endParaRPr lang="en-US" sz="1500" dirty="0"/>
          </a:p>
        </p:txBody>
      </p:sp>
      <p:sp>
        <p:nvSpPr>
          <p:cNvPr id="20" name="Shape 18"/>
          <p:cNvSpPr/>
          <p:nvPr/>
        </p:nvSpPr>
        <p:spPr>
          <a:xfrm>
            <a:off x="548640" y="5857494"/>
            <a:ext cx="11094415" cy="451866"/>
          </a:xfrm>
          <a:prstGeom prst="roundRect">
            <a:avLst>
              <a:gd name="adj" fmla="val 14165"/>
            </a:avLst>
          </a:prstGeom>
          <a:solidFill>
            <a:srgbClr val="E6F3F7"/>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pyothorax (G) (piyotoraks), empyema (G) (ampiyem): </a:t>
            </a:r>
            <a:r>
              <a:rPr lang="en-US" sz="1500" dirty="0">
                <a:solidFill>
                  <a:srgbClr val="1F2937"/>
                </a:solidFill>
                <a:latin typeface="Calibri" pitchFamily="34" charset="0"/>
                <a:ea typeface="Calibri" pitchFamily="34" charset="-122"/>
                <a:cs typeface="Calibri" pitchFamily="34" charset="-120"/>
              </a:rPr>
              <a:t>Göğüs boşluğunda irin olması</a:t>
            </a:r>
            <a:endParaRPr lang="en-US" sz="15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Tanısal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212</a:t>
            </a:r>
            <a:endParaRPr lang="en-US" sz="1000" dirty="0"/>
          </a:p>
        </p:txBody>
      </p:sp>
      <p:sp>
        <p:nvSpPr>
          <p:cNvPr id="6" name="Shape 4"/>
          <p:cNvSpPr/>
          <p:nvPr/>
        </p:nvSpPr>
        <p:spPr>
          <a:xfrm>
            <a:off x="548640" y="1526286"/>
            <a:ext cx="11094415" cy="684276"/>
          </a:xfrm>
          <a:prstGeom prst="roundRect">
            <a:avLst>
              <a:gd name="adj" fmla="val 9354"/>
            </a:avLst>
          </a:prstGeom>
          <a:solidFill>
            <a:srgbClr val="E6F3F7"/>
          </a:solidFill>
          <a:ln/>
        </p:spPr>
      </p:sp>
      <p:sp>
        <p:nvSpPr>
          <p:cNvPr id="7" name="Text 5"/>
          <p:cNvSpPr txBox="1"/>
          <p:nvPr/>
        </p:nvSpPr>
        <p:spPr>
          <a:xfrm>
            <a:off x="704088" y="159943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emphysema (G) (amfizem): </a:t>
            </a:r>
            <a:r>
              <a:rPr lang="en-US" sz="1500" dirty="0">
                <a:solidFill>
                  <a:srgbClr val="1F2937"/>
                </a:solidFill>
                <a:latin typeface="Calibri" pitchFamily="34" charset="0"/>
                <a:ea typeface="Calibri" pitchFamily="34" charset="-122"/>
                <a:cs typeface="Calibri" pitchFamily="34" charset="-120"/>
              </a:rPr>
              <a:t>Genişlemiş akciğer alveollerinde aşırı hava birikiminin yarattığı gerilimle belirgin, dolaşım yetmezliği ve göğüste şekil bozukluğuna uzanan durum</a:t>
            </a:r>
            <a:endParaRPr lang="en-US" sz="1500" dirty="0"/>
          </a:p>
        </p:txBody>
      </p:sp>
      <p:sp>
        <p:nvSpPr>
          <p:cNvPr id="8" name="Shape 6"/>
          <p:cNvSpPr/>
          <p:nvPr/>
        </p:nvSpPr>
        <p:spPr>
          <a:xfrm>
            <a:off x="548640" y="2365248"/>
            <a:ext cx="11094415" cy="684276"/>
          </a:xfrm>
          <a:prstGeom prst="roundRect">
            <a:avLst>
              <a:gd name="adj" fmla="val 9354"/>
            </a:avLst>
          </a:prstGeom>
          <a:solidFill>
            <a:srgbClr val="E6F3F7"/>
          </a:solidFill>
          <a:ln/>
        </p:spPr>
      </p:sp>
      <p:sp>
        <p:nvSpPr>
          <p:cNvPr id="9" name="Text 7"/>
          <p:cNvSpPr txBox="1"/>
          <p:nvPr/>
        </p:nvSpPr>
        <p:spPr>
          <a:xfrm>
            <a:off x="704088" y="2438400"/>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pulmonary infarctus (L) (pulmonar enfaktüs): </a:t>
            </a:r>
            <a:r>
              <a:rPr lang="en-US" sz="1500" dirty="0">
                <a:solidFill>
                  <a:srgbClr val="1F2937"/>
                </a:solidFill>
                <a:latin typeface="Calibri" pitchFamily="34" charset="0"/>
                <a:ea typeface="Calibri" pitchFamily="34" charset="-122"/>
                <a:cs typeface="Calibri" pitchFamily="34" charset="-120"/>
              </a:rPr>
              <a:t>Akciğer enfaktüsü, pulmoner arter tıkanması sonucu akciğer parankimasında nekroz gelişmesidir.</a:t>
            </a:r>
            <a:endParaRPr lang="en-US" sz="1500" dirty="0"/>
          </a:p>
        </p:txBody>
      </p:sp>
      <p:sp>
        <p:nvSpPr>
          <p:cNvPr id="10" name="Shape 8"/>
          <p:cNvSpPr/>
          <p:nvPr/>
        </p:nvSpPr>
        <p:spPr>
          <a:xfrm>
            <a:off x="548640" y="3140964"/>
            <a:ext cx="11094415" cy="451866"/>
          </a:xfrm>
          <a:prstGeom prst="roundRect">
            <a:avLst>
              <a:gd name="adj" fmla="val 14165"/>
            </a:avLst>
          </a:prstGeom>
          <a:solidFill>
            <a:srgbClr val="E6F3F7"/>
          </a:solidFill>
          <a:ln/>
        </p:spPr>
      </p:sp>
      <p:sp>
        <p:nvSpPr>
          <p:cNvPr id="11" name="Text 9"/>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pulmonary (L) hypertension (G) (pulmonar hipertansiyon): </a:t>
            </a:r>
            <a:r>
              <a:rPr lang="en-US" sz="1500" dirty="0">
                <a:solidFill>
                  <a:srgbClr val="1F2937"/>
                </a:solidFill>
                <a:latin typeface="Calibri" pitchFamily="34" charset="0"/>
                <a:ea typeface="Calibri" pitchFamily="34" charset="-122"/>
                <a:cs typeface="Calibri" pitchFamily="34" charset="-120"/>
              </a:rPr>
              <a:t>Pulmoner dolaşım sisteminde basınç artması</a:t>
            </a:r>
            <a:endParaRPr lang="en-US" sz="1500" dirty="0"/>
          </a:p>
        </p:txBody>
      </p:sp>
      <p:sp>
        <p:nvSpPr>
          <p:cNvPr id="12" name="Shape 10"/>
          <p:cNvSpPr/>
          <p:nvPr/>
        </p:nvSpPr>
        <p:spPr>
          <a:xfrm>
            <a:off x="548640" y="3684270"/>
            <a:ext cx="11094415" cy="451866"/>
          </a:xfrm>
          <a:prstGeom prst="roundRect">
            <a:avLst>
              <a:gd name="adj" fmla="val 14165"/>
            </a:avLst>
          </a:prstGeom>
          <a:solidFill>
            <a:srgbClr val="E6F3F7"/>
          </a:solidFill>
          <a:ln/>
        </p:spPr>
      </p:sp>
      <p:sp>
        <p:nvSpPr>
          <p:cNvPr id="13" name="Text 11"/>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pneumonia (G) (pnömoni): </a:t>
            </a:r>
            <a:r>
              <a:rPr lang="en-US" sz="1500" dirty="0">
                <a:solidFill>
                  <a:srgbClr val="1F2937"/>
                </a:solidFill>
                <a:latin typeface="Calibri" pitchFamily="34" charset="0"/>
                <a:ea typeface="Calibri" pitchFamily="34" charset="-122"/>
                <a:cs typeface="Calibri" pitchFamily="34" charset="-120"/>
              </a:rPr>
              <a:t>Akciğer parankimasının, yani alveollerin ve intersitial dokunun akut enfeksiyonudur.</a:t>
            </a:r>
            <a:endParaRPr lang="en-US" sz="1500" dirty="0"/>
          </a:p>
        </p:txBody>
      </p:sp>
      <p:sp>
        <p:nvSpPr>
          <p:cNvPr id="14" name="Shape 12"/>
          <p:cNvSpPr/>
          <p:nvPr/>
        </p:nvSpPr>
        <p:spPr>
          <a:xfrm>
            <a:off x="548640" y="4227576"/>
            <a:ext cx="11094415" cy="451866"/>
          </a:xfrm>
          <a:prstGeom prst="roundRect">
            <a:avLst>
              <a:gd name="adj" fmla="val 14165"/>
            </a:avLst>
          </a:prstGeom>
          <a:solidFill>
            <a:srgbClr val="E6F3F7"/>
          </a:solidFill>
          <a:ln/>
        </p:spPr>
      </p:sp>
      <p:sp>
        <p:nvSpPr>
          <p:cNvPr id="15" name="Text 13"/>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pneumoconiosis (G) (pnömokonyoz): </a:t>
            </a:r>
            <a:r>
              <a:rPr lang="en-US" sz="1500" dirty="0">
                <a:solidFill>
                  <a:srgbClr val="1F2937"/>
                </a:solidFill>
                <a:latin typeface="Calibri" pitchFamily="34" charset="0"/>
                <a:ea typeface="Calibri" pitchFamily="34" charset="-122"/>
                <a:cs typeface="Calibri" pitchFamily="34" charset="-120"/>
              </a:rPr>
              <a:t>İnorganik tozların solunmasına bağlı olarak oluşan akciğer hastalığı</a:t>
            </a:r>
            <a:endParaRPr lang="en-US" sz="1500" dirty="0"/>
          </a:p>
        </p:txBody>
      </p:sp>
      <p:sp>
        <p:nvSpPr>
          <p:cNvPr id="16" name="Shape 14"/>
          <p:cNvSpPr/>
          <p:nvPr/>
        </p:nvSpPr>
        <p:spPr>
          <a:xfrm>
            <a:off x="548640" y="4770882"/>
            <a:ext cx="11094415" cy="451866"/>
          </a:xfrm>
          <a:prstGeom prst="roundRect">
            <a:avLst>
              <a:gd name="adj" fmla="val 14165"/>
            </a:avLst>
          </a:prstGeom>
          <a:solidFill>
            <a:srgbClr val="E6F3F7"/>
          </a:solidFill>
          <a:ln/>
        </p:spPr>
      </p:sp>
      <p:sp>
        <p:nvSpPr>
          <p:cNvPr id="17" name="Text 15"/>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bronchial Ca (bronşiyal sea): </a:t>
            </a:r>
            <a:r>
              <a:rPr lang="en-US" sz="1500" dirty="0">
                <a:solidFill>
                  <a:srgbClr val="1F2937"/>
                </a:solidFill>
                <a:latin typeface="Calibri" pitchFamily="34" charset="0"/>
                <a:ea typeface="Calibri" pitchFamily="34" charset="-122"/>
                <a:cs typeface="Calibri" pitchFamily="34" charset="-120"/>
              </a:rPr>
              <a:t>Bronş kanseri</a:t>
            </a:r>
            <a:endParaRPr lang="en-US" sz="1500" dirty="0"/>
          </a:p>
        </p:txBody>
      </p:sp>
      <p:sp>
        <p:nvSpPr>
          <p:cNvPr id="18" name="Shape 16"/>
          <p:cNvSpPr/>
          <p:nvPr/>
        </p:nvSpPr>
        <p:spPr>
          <a:xfrm>
            <a:off x="548640" y="5314188"/>
            <a:ext cx="11094415" cy="451866"/>
          </a:xfrm>
          <a:prstGeom prst="roundRect">
            <a:avLst>
              <a:gd name="adj" fmla="val 14165"/>
            </a:avLst>
          </a:prstGeom>
          <a:solidFill>
            <a:srgbClr val="E6F3F7"/>
          </a:solidFill>
          <a:ln/>
        </p:spPr>
      </p:sp>
      <p:sp>
        <p:nvSpPr>
          <p:cNvPr id="19" name="Text 17"/>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pleurisy, pleuritis (G) (plörezi, plörit): </a:t>
            </a:r>
            <a:r>
              <a:rPr lang="en-US" sz="1500" dirty="0">
                <a:solidFill>
                  <a:srgbClr val="1F2937"/>
                </a:solidFill>
                <a:latin typeface="Calibri" pitchFamily="34" charset="0"/>
                <a:ea typeface="Calibri" pitchFamily="34" charset="-122"/>
                <a:cs typeface="Calibri" pitchFamily="34" charset="-120"/>
              </a:rPr>
              <a:t>Plevra iltihavı</a:t>
            </a:r>
            <a:endParaRPr lang="en-US" sz="1500" dirty="0"/>
          </a:p>
        </p:txBody>
      </p:sp>
      <p:sp>
        <p:nvSpPr>
          <p:cNvPr id="20" name="Shape 18"/>
          <p:cNvSpPr/>
          <p:nvPr/>
        </p:nvSpPr>
        <p:spPr>
          <a:xfrm>
            <a:off x="548640" y="5857494"/>
            <a:ext cx="11094415" cy="451866"/>
          </a:xfrm>
          <a:prstGeom prst="roundRect">
            <a:avLst>
              <a:gd name="adj" fmla="val 14165"/>
            </a:avLst>
          </a:prstGeom>
          <a:solidFill>
            <a:srgbClr val="E6F3F7"/>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E7490"/>
                </a:solidFill>
                <a:latin typeface="Calibri" pitchFamily="34" charset="0"/>
                <a:ea typeface="Calibri" pitchFamily="34" charset="-122"/>
                <a:cs typeface="Calibri" pitchFamily="34" charset="-120"/>
              </a:rPr>
              <a:t>Akciğer absesi: </a:t>
            </a:r>
            <a:r>
              <a:rPr lang="en-US" sz="1500" dirty="0">
                <a:solidFill>
                  <a:srgbClr val="1F2937"/>
                </a:solidFill>
                <a:latin typeface="Calibri" pitchFamily="34" charset="0"/>
                <a:ea typeface="Calibri" pitchFamily="34" charset="-122"/>
                <a:cs typeface="Calibri" pitchFamily="34" charset="-120"/>
              </a:rPr>
              <a:t>Akciğer dokusunun nekrozu ve çevresinde pnömoni gelişmesi ile birlikte lokalize iltihabi lezyondur.</a:t>
            </a:r>
            <a:endParaRPr lang="en-US" sz="15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3F7"/>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213</a:t>
            </a:r>
            <a:endParaRPr lang="en-US" sz="1000" dirty="0"/>
          </a:p>
        </p:txBody>
      </p:sp>
      <p:sp>
        <p:nvSpPr>
          <p:cNvPr id="6" name="Shape 4"/>
          <p:cNvSpPr/>
          <p:nvPr/>
        </p:nvSpPr>
        <p:spPr>
          <a:xfrm>
            <a:off x="548640" y="1556080"/>
            <a:ext cx="11094415" cy="775513"/>
          </a:xfrm>
          <a:prstGeom prst="roundRect">
            <a:avLst>
              <a:gd name="adj" fmla="val 8254"/>
            </a:avLst>
          </a:prstGeom>
          <a:solidFill>
            <a:srgbClr val="E6F3F7"/>
          </a:solidFill>
          <a:ln/>
        </p:spPr>
      </p:sp>
      <p:sp>
        <p:nvSpPr>
          <p:cNvPr id="7" name="Text 5"/>
          <p:cNvSpPr txBox="1"/>
          <p:nvPr/>
        </p:nvSpPr>
        <p:spPr>
          <a:xfrm>
            <a:off x="704088" y="1629232"/>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endothoracheal intubation (endotorakal entubasyon): </a:t>
            </a:r>
            <a:r>
              <a:rPr lang="en-US" sz="1700" dirty="0">
                <a:solidFill>
                  <a:srgbClr val="1F2937"/>
                </a:solidFill>
                <a:latin typeface="Calibri" pitchFamily="34" charset="0"/>
                <a:ea typeface="Calibri" pitchFamily="34" charset="-122"/>
                <a:cs typeface="Calibri" pitchFamily="34" charset="-120"/>
              </a:rPr>
              <a:t>Kontrollü bir hava yolu başka türlü sağlanamazsa trakeaya br tüp yerleştirilerek solunumun sağlanmasıdır.</a:t>
            </a:r>
            <a:endParaRPr lang="en-US" sz="1700" dirty="0"/>
          </a:p>
        </p:txBody>
      </p:sp>
      <p:sp>
        <p:nvSpPr>
          <p:cNvPr id="8" name="Shape 6"/>
          <p:cNvSpPr/>
          <p:nvPr/>
        </p:nvSpPr>
        <p:spPr>
          <a:xfrm>
            <a:off x="548640" y="2516073"/>
            <a:ext cx="11094415" cy="512115"/>
          </a:xfrm>
          <a:prstGeom prst="roundRect">
            <a:avLst>
              <a:gd name="adj" fmla="val 12499"/>
            </a:avLst>
          </a:prstGeom>
          <a:solidFill>
            <a:srgbClr val="E6F3F7"/>
          </a:solidFill>
          <a:ln/>
        </p:spPr>
      </p:sp>
      <p:sp>
        <p:nvSpPr>
          <p:cNvPr id="9" name="Text 7"/>
          <p:cNvSpPr txBox="1"/>
          <p:nvPr/>
        </p:nvSpPr>
        <p:spPr>
          <a:xfrm>
            <a:off x="704088" y="2589225"/>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thoracocentesis (G) (torakosentez): </a:t>
            </a:r>
            <a:r>
              <a:rPr lang="en-US" sz="1700" dirty="0">
                <a:solidFill>
                  <a:srgbClr val="1F2937"/>
                </a:solidFill>
                <a:latin typeface="Calibri" pitchFamily="34" charset="0"/>
                <a:ea typeface="Calibri" pitchFamily="34" charset="-122"/>
                <a:cs typeface="Calibri" pitchFamily="34" charset="-120"/>
              </a:rPr>
              <a:t>Göğüs boşluğunda biriken sıvının boşaltılması</a:t>
            </a:r>
            <a:endParaRPr lang="en-US" sz="1700" dirty="0"/>
          </a:p>
        </p:txBody>
      </p:sp>
      <p:sp>
        <p:nvSpPr>
          <p:cNvPr id="10" name="Shape 8"/>
          <p:cNvSpPr/>
          <p:nvPr/>
        </p:nvSpPr>
        <p:spPr>
          <a:xfrm>
            <a:off x="548640" y="3119628"/>
            <a:ext cx="11094415" cy="512115"/>
          </a:xfrm>
          <a:prstGeom prst="roundRect">
            <a:avLst>
              <a:gd name="adj" fmla="val 12499"/>
            </a:avLst>
          </a:prstGeom>
          <a:solidFill>
            <a:srgbClr val="E6F3F7"/>
          </a:solidFill>
          <a:ln/>
        </p:spPr>
      </p:sp>
      <p:sp>
        <p:nvSpPr>
          <p:cNvPr id="11" name="Text 9"/>
          <p:cNvSpPr txBox="1"/>
          <p:nvPr/>
        </p:nvSpPr>
        <p:spPr>
          <a:xfrm>
            <a:off x="704088" y="3192780"/>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pneumocentesis (G) (pnömosentez): </a:t>
            </a:r>
            <a:r>
              <a:rPr lang="en-US" sz="1700" dirty="0">
                <a:solidFill>
                  <a:srgbClr val="1F2937"/>
                </a:solidFill>
                <a:latin typeface="Calibri" pitchFamily="34" charset="0"/>
                <a:ea typeface="Calibri" pitchFamily="34" charset="-122"/>
                <a:cs typeface="Calibri" pitchFamily="34" charset="-120"/>
              </a:rPr>
              <a:t>Akciğerde biriken sıvı veya kanın bir iğne ile girilerek çekilmesi</a:t>
            </a:r>
            <a:endParaRPr lang="en-US" sz="1700" dirty="0"/>
          </a:p>
        </p:txBody>
      </p:sp>
      <p:sp>
        <p:nvSpPr>
          <p:cNvPr id="12" name="Shape 10"/>
          <p:cNvSpPr/>
          <p:nvPr/>
        </p:nvSpPr>
        <p:spPr>
          <a:xfrm>
            <a:off x="548640" y="3723183"/>
            <a:ext cx="11094415" cy="512115"/>
          </a:xfrm>
          <a:prstGeom prst="roundRect">
            <a:avLst>
              <a:gd name="adj" fmla="val 12499"/>
            </a:avLst>
          </a:prstGeom>
          <a:solidFill>
            <a:srgbClr val="E6F3F7"/>
          </a:solidFill>
          <a:ln/>
        </p:spPr>
      </p:sp>
      <p:sp>
        <p:nvSpPr>
          <p:cNvPr id="13" name="Text 11"/>
          <p:cNvSpPr txBox="1"/>
          <p:nvPr/>
        </p:nvSpPr>
        <p:spPr>
          <a:xfrm>
            <a:off x="704088" y="3796335"/>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thoracoscopy (G) (torakoskopi): </a:t>
            </a:r>
            <a:r>
              <a:rPr lang="en-US" sz="1700" dirty="0">
                <a:solidFill>
                  <a:srgbClr val="1F2937"/>
                </a:solidFill>
                <a:latin typeface="Calibri" pitchFamily="34" charset="0"/>
                <a:ea typeface="Calibri" pitchFamily="34" charset="-122"/>
                <a:cs typeface="Calibri" pitchFamily="34" charset="-120"/>
              </a:rPr>
              <a:t>toraks boşluğunun fiberoptik bir aletle incelenmesi</a:t>
            </a:r>
            <a:endParaRPr lang="en-US" sz="1700" dirty="0"/>
          </a:p>
        </p:txBody>
      </p:sp>
      <p:sp>
        <p:nvSpPr>
          <p:cNvPr id="14" name="Shape 12"/>
          <p:cNvSpPr/>
          <p:nvPr/>
        </p:nvSpPr>
        <p:spPr>
          <a:xfrm>
            <a:off x="548640" y="4326738"/>
            <a:ext cx="11094415" cy="775513"/>
          </a:xfrm>
          <a:prstGeom prst="roundRect">
            <a:avLst>
              <a:gd name="adj" fmla="val 8254"/>
            </a:avLst>
          </a:prstGeom>
          <a:solidFill>
            <a:srgbClr val="E6F3F7"/>
          </a:solidFill>
          <a:ln/>
        </p:spPr>
      </p:sp>
      <p:sp>
        <p:nvSpPr>
          <p:cNvPr id="15" name="Text 13"/>
          <p:cNvSpPr txBox="1"/>
          <p:nvPr/>
        </p:nvSpPr>
        <p:spPr>
          <a:xfrm>
            <a:off x="704088" y="4399890"/>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brochoscopy (LG) (bronşoskopi): </a:t>
            </a:r>
            <a:r>
              <a:rPr lang="en-US" sz="1700" dirty="0">
                <a:solidFill>
                  <a:srgbClr val="1F2937"/>
                </a:solidFill>
                <a:latin typeface="Calibri" pitchFamily="34" charset="0"/>
                <a:ea typeface="Calibri" pitchFamily="34" charset="-122"/>
                <a:cs typeface="Calibri" pitchFamily="34" charset="-120"/>
              </a:rPr>
              <a:t>Trakeobronşiyal yollarının fiberoptik veya rijit bir aletle gözle görülerek incelenmesidir.</a:t>
            </a:r>
            <a:endParaRPr lang="en-US" sz="1700" dirty="0"/>
          </a:p>
        </p:txBody>
      </p:sp>
      <p:sp>
        <p:nvSpPr>
          <p:cNvPr id="16" name="Shape 14"/>
          <p:cNvSpPr/>
          <p:nvPr/>
        </p:nvSpPr>
        <p:spPr>
          <a:xfrm>
            <a:off x="548640" y="5193690"/>
            <a:ext cx="11094415" cy="512115"/>
          </a:xfrm>
          <a:prstGeom prst="roundRect">
            <a:avLst>
              <a:gd name="adj" fmla="val 12499"/>
            </a:avLst>
          </a:prstGeom>
          <a:solidFill>
            <a:srgbClr val="E6F3F7"/>
          </a:solidFill>
          <a:ln/>
        </p:spPr>
      </p:sp>
      <p:sp>
        <p:nvSpPr>
          <p:cNvPr id="17" name="Text 15"/>
          <p:cNvSpPr txBox="1"/>
          <p:nvPr/>
        </p:nvSpPr>
        <p:spPr>
          <a:xfrm>
            <a:off x="704088" y="5266842"/>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mediastinoscopy (LG) (medyastinoskopi): </a:t>
            </a:r>
            <a:r>
              <a:rPr lang="en-US" sz="1700" dirty="0">
                <a:solidFill>
                  <a:srgbClr val="1F2937"/>
                </a:solidFill>
                <a:latin typeface="Calibri" pitchFamily="34" charset="0"/>
                <a:ea typeface="Calibri" pitchFamily="34" charset="-122"/>
                <a:cs typeface="Calibri" pitchFamily="34" charset="-120"/>
              </a:rPr>
              <a:t>Mediastenin fiberoptik bir aletle incelenmesidir.</a:t>
            </a:r>
            <a:endParaRPr lang="en-US" sz="1700" dirty="0"/>
          </a:p>
        </p:txBody>
      </p:sp>
      <p:sp>
        <p:nvSpPr>
          <p:cNvPr id="18" name="Shape 16"/>
          <p:cNvSpPr/>
          <p:nvPr/>
        </p:nvSpPr>
        <p:spPr>
          <a:xfrm>
            <a:off x="548640" y="5797245"/>
            <a:ext cx="11094415" cy="512115"/>
          </a:xfrm>
          <a:prstGeom prst="roundRect">
            <a:avLst>
              <a:gd name="adj" fmla="val 12499"/>
            </a:avLst>
          </a:prstGeom>
          <a:solidFill>
            <a:srgbClr val="E6F3F7"/>
          </a:solidFill>
          <a:ln/>
        </p:spPr>
      </p:sp>
      <p:sp>
        <p:nvSpPr>
          <p:cNvPr id="19" name="Text 17"/>
          <p:cNvSpPr txBox="1"/>
          <p:nvPr/>
        </p:nvSpPr>
        <p:spPr>
          <a:xfrm>
            <a:off x="704088" y="5870397"/>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0E7490"/>
                </a:solidFill>
                <a:latin typeface="Calibri" pitchFamily="34" charset="0"/>
                <a:ea typeface="Calibri" pitchFamily="34" charset="-122"/>
                <a:cs typeface="Calibri" pitchFamily="34" charset="-120"/>
              </a:rPr>
              <a:t>thracheostomy (G) (trakeostomi): </a:t>
            </a:r>
            <a:r>
              <a:rPr lang="en-US" sz="1700" dirty="0">
                <a:solidFill>
                  <a:srgbClr val="1F2937"/>
                </a:solidFill>
                <a:latin typeface="Calibri" pitchFamily="34" charset="0"/>
                <a:ea typeface="Calibri" pitchFamily="34" charset="-122"/>
                <a:cs typeface="Calibri" pitchFamily="34" charset="-120"/>
              </a:rPr>
              <a:t>Trakeanın deri ile ağızlaştırılarak hava yolu açılmasıdır.</a:t>
            </a:r>
            <a:endParaRPr lang="en-US" sz="17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3F7"/>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E7490"/>
                </a:solidFill>
                <a:latin typeface="Calibri" pitchFamily="34" charset="0"/>
                <a:ea typeface="Calibri" pitchFamily="34" charset="-122"/>
                <a:cs typeface="Calibri" pitchFamily="34" charset="-120"/>
              </a:rPr>
              <a:t>BÖLÜM 7  ·  SOLUNUM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214</a:t>
            </a:r>
            <a:endParaRPr lang="en-US" sz="1000" dirty="0"/>
          </a:p>
        </p:txBody>
      </p:sp>
      <p:sp>
        <p:nvSpPr>
          <p:cNvPr id="6" name="Shape 4"/>
          <p:cNvSpPr/>
          <p:nvPr/>
        </p:nvSpPr>
        <p:spPr>
          <a:xfrm>
            <a:off x="548640" y="1686154"/>
            <a:ext cx="11094415" cy="821131"/>
          </a:xfrm>
          <a:prstGeom prst="roundRect">
            <a:avLst>
              <a:gd name="adj" fmla="val 7795"/>
            </a:avLst>
          </a:prstGeom>
          <a:solidFill>
            <a:srgbClr val="E6F3F7"/>
          </a:solidFill>
          <a:ln/>
        </p:spPr>
      </p:sp>
      <p:sp>
        <p:nvSpPr>
          <p:cNvPr id="7" name="Text 5"/>
          <p:cNvSpPr txBox="1"/>
          <p:nvPr/>
        </p:nvSpPr>
        <p:spPr>
          <a:xfrm>
            <a:off x="704088" y="1759306"/>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pneumonectomy (G) (pnömonektomi): </a:t>
            </a:r>
            <a:r>
              <a:rPr lang="en-US" sz="1800" dirty="0">
                <a:solidFill>
                  <a:srgbClr val="1F2937"/>
                </a:solidFill>
                <a:latin typeface="Calibri" pitchFamily="34" charset="0"/>
                <a:ea typeface="Calibri" pitchFamily="34" charset="-122"/>
                <a:cs typeface="Calibri" pitchFamily="34" charset="-120"/>
              </a:rPr>
              <a:t>Akciğerin bir kısmının ya da akciğerlerden birinin ameliyatla kesilip çıkarılması</a:t>
            </a:r>
            <a:endParaRPr lang="en-US" sz="1800" dirty="0"/>
          </a:p>
        </p:txBody>
      </p:sp>
      <p:sp>
        <p:nvSpPr>
          <p:cNvPr id="8" name="Shape 6"/>
          <p:cNvSpPr/>
          <p:nvPr/>
        </p:nvSpPr>
        <p:spPr>
          <a:xfrm>
            <a:off x="548640" y="2598725"/>
            <a:ext cx="11094415" cy="542239"/>
          </a:xfrm>
          <a:prstGeom prst="roundRect">
            <a:avLst>
              <a:gd name="adj" fmla="val 11804"/>
            </a:avLst>
          </a:prstGeom>
          <a:solidFill>
            <a:srgbClr val="E6F3F7"/>
          </a:solidFill>
          <a:ln/>
        </p:spPr>
      </p:sp>
      <p:sp>
        <p:nvSpPr>
          <p:cNvPr id="9" name="Text 7"/>
          <p:cNvSpPr txBox="1"/>
          <p:nvPr/>
        </p:nvSpPr>
        <p:spPr>
          <a:xfrm>
            <a:off x="704088" y="2671877"/>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lobectomy (G) (lobektomi): </a:t>
            </a:r>
            <a:r>
              <a:rPr lang="en-US" sz="1800" dirty="0">
                <a:solidFill>
                  <a:srgbClr val="1F2937"/>
                </a:solidFill>
                <a:latin typeface="Calibri" pitchFamily="34" charset="0"/>
                <a:ea typeface="Calibri" pitchFamily="34" charset="-122"/>
                <a:cs typeface="Calibri" pitchFamily="34" charset="-120"/>
              </a:rPr>
              <a:t>Akciğerin bir lobunun çıkarılması</a:t>
            </a:r>
            <a:endParaRPr lang="en-US" sz="1800" dirty="0"/>
          </a:p>
        </p:txBody>
      </p:sp>
      <p:sp>
        <p:nvSpPr>
          <p:cNvPr id="10" name="Shape 8"/>
          <p:cNvSpPr/>
          <p:nvPr/>
        </p:nvSpPr>
        <p:spPr>
          <a:xfrm>
            <a:off x="548640" y="3232404"/>
            <a:ext cx="11094415" cy="542239"/>
          </a:xfrm>
          <a:prstGeom prst="roundRect">
            <a:avLst>
              <a:gd name="adj" fmla="val 11804"/>
            </a:avLst>
          </a:prstGeom>
          <a:solidFill>
            <a:srgbClr val="E6F3F7"/>
          </a:solidFill>
          <a:ln/>
        </p:spPr>
      </p:sp>
      <p:sp>
        <p:nvSpPr>
          <p:cNvPr id="11" name="Text 9"/>
          <p:cNvSpPr txBox="1"/>
          <p:nvPr/>
        </p:nvSpPr>
        <p:spPr>
          <a:xfrm>
            <a:off x="704088" y="3305556"/>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segmentectomy (LG) (segmentektomi): </a:t>
            </a:r>
            <a:r>
              <a:rPr lang="en-US" sz="1800" dirty="0">
                <a:solidFill>
                  <a:srgbClr val="1F2937"/>
                </a:solidFill>
                <a:latin typeface="Calibri" pitchFamily="34" charset="0"/>
                <a:ea typeface="Calibri" pitchFamily="34" charset="-122"/>
                <a:cs typeface="Calibri" pitchFamily="34" charset="-120"/>
              </a:rPr>
              <a:t>Akciğerin bir segmentinin çıkarılması</a:t>
            </a:r>
            <a:endParaRPr lang="en-US" sz="1800" dirty="0"/>
          </a:p>
        </p:txBody>
      </p:sp>
      <p:sp>
        <p:nvSpPr>
          <p:cNvPr id="12" name="Shape 10"/>
          <p:cNvSpPr/>
          <p:nvPr/>
        </p:nvSpPr>
        <p:spPr>
          <a:xfrm>
            <a:off x="548640" y="3866083"/>
            <a:ext cx="11094415" cy="542239"/>
          </a:xfrm>
          <a:prstGeom prst="roundRect">
            <a:avLst>
              <a:gd name="adj" fmla="val 11804"/>
            </a:avLst>
          </a:prstGeom>
          <a:solidFill>
            <a:srgbClr val="E6F3F7"/>
          </a:solidFill>
          <a:ln/>
        </p:spPr>
      </p:sp>
      <p:sp>
        <p:nvSpPr>
          <p:cNvPr id="13" name="Text 11"/>
          <p:cNvSpPr txBox="1"/>
          <p:nvPr/>
        </p:nvSpPr>
        <p:spPr>
          <a:xfrm>
            <a:off x="704088" y="393923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thoracotomy (G) (torakotomi): </a:t>
            </a:r>
            <a:r>
              <a:rPr lang="en-US" sz="1800" dirty="0">
                <a:solidFill>
                  <a:srgbClr val="1F2937"/>
                </a:solidFill>
                <a:latin typeface="Calibri" pitchFamily="34" charset="0"/>
                <a:ea typeface="Calibri" pitchFamily="34" charset="-122"/>
                <a:cs typeface="Calibri" pitchFamily="34" charset="-120"/>
              </a:rPr>
              <a:t>Toraksın (göğüs boşluğunun ) açılması işlemi</a:t>
            </a:r>
            <a:endParaRPr lang="en-US" sz="1800" dirty="0"/>
          </a:p>
        </p:txBody>
      </p:sp>
      <p:sp>
        <p:nvSpPr>
          <p:cNvPr id="14" name="Shape 12"/>
          <p:cNvSpPr/>
          <p:nvPr/>
        </p:nvSpPr>
        <p:spPr>
          <a:xfrm>
            <a:off x="548640" y="4499762"/>
            <a:ext cx="11094415" cy="542239"/>
          </a:xfrm>
          <a:prstGeom prst="roundRect">
            <a:avLst>
              <a:gd name="adj" fmla="val 11804"/>
            </a:avLst>
          </a:prstGeom>
          <a:solidFill>
            <a:srgbClr val="E6F3F7"/>
          </a:solidFill>
          <a:ln/>
        </p:spPr>
      </p:sp>
      <p:sp>
        <p:nvSpPr>
          <p:cNvPr id="15" name="Text 13"/>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mediastinotomy (LG) (medyastinotomi): </a:t>
            </a:r>
            <a:r>
              <a:rPr lang="en-US" sz="1800" dirty="0">
                <a:solidFill>
                  <a:srgbClr val="1F2937"/>
                </a:solidFill>
                <a:latin typeface="Calibri" pitchFamily="34" charset="0"/>
                <a:ea typeface="Calibri" pitchFamily="34" charset="-122"/>
                <a:cs typeface="Calibri" pitchFamily="34" charset="-120"/>
              </a:rPr>
              <a:t>Mediastinumun açılma işlemi</a:t>
            </a:r>
            <a:endParaRPr lang="en-US" sz="1800" dirty="0"/>
          </a:p>
        </p:txBody>
      </p:sp>
      <p:sp>
        <p:nvSpPr>
          <p:cNvPr id="16" name="Shape 14"/>
          <p:cNvSpPr/>
          <p:nvPr/>
        </p:nvSpPr>
        <p:spPr>
          <a:xfrm>
            <a:off x="548640" y="5133442"/>
            <a:ext cx="11094415" cy="542239"/>
          </a:xfrm>
          <a:prstGeom prst="roundRect">
            <a:avLst>
              <a:gd name="adj" fmla="val 11804"/>
            </a:avLst>
          </a:prstGeom>
          <a:solidFill>
            <a:srgbClr val="E6F3F7"/>
          </a:solidFill>
          <a:ln/>
        </p:spPr>
      </p:sp>
      <p:sp>
        <p:nvSpPr>
          <p:cNvPr id="17" name="Text 15"/>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dilatation of the larynx (İ) (larinks dilatasyonu): </a:t>
            </a:r>
            <a:r>
              <a:rPr lang="en-US" sz="1800" dirty="0">
                <a:solidFill>
                  <a:srgbClr val="1F2937"/>
                </a:solidFill>
                <a:latin typeface="Calibri" pitchFamily="34" charset="0"/>
                <a:ea typeface="Calibri" pitchFamily="34" charset="-122"/>
                <a:cs typeface="Calibri" pitchFamily="34" charset="-120"/>
              </a:rPr>
              <a:t>Gırtlağın aletle genişletilmesi</a:t>
            </a:r>
            <a:endParaRPr lang="en-US" sz="1800" dirty="0"/>
          </a:p>
        </p:txBody>
      </p:sp>
      <p:sp>
        <p:nvSpPr>
          <p:cNvPr id="18" name="Shape 16"/>
          <p:cNvSpPr/>
          <p:nvPr/>
        </p:nvSpPr>
        <p:spPr>
          <a:xfrm>
            <a:off x="548640" y="5767121"/>
            <a:ext cx="11094415" cy="542239"/>
          </a:xfrm>
          <a:prstGeom prst="roundRect">
            <a:avLst>
              <a:gd name="adj" fmla="val 11804"/>
            </a:avLst>
          </a:prstGeom>
          <a:solidFill>
            <a:srgbClr val="E6F3F7"/>
          </a:solidFill>
          <a:ln/>
        </p:spPr>
      </p:sp>
      <p:sp>
        <p:nvSpPr>
          <p:cNvPr id="19" name="Text 17"/>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E7490"/>
                </a:solidFill>
                <a:latin typeface="Calibri" pitchFamily="34" charset="0"/>
                <a:ea typeface="Calibri" pitchFamily="34" charset="-122"/>
                <a:cs typeface="Calibri" pitchFamily="34" charset="-120"/>
              </a:rPr>
              <a:t>rhinoplasty (G) (rinoplasti): </a:t>
            </a:r>
            <a:r>
              <a:rPr lang="en-US" sz="1800" dirty="0">
                <a:solidFill>
                  <a:srgbClr val="1F2937"/>
                </a:solidFill>
                <a:latin typeface="Calibri" pitchFamily="34" charset="0"/>
                <a:ea typeface="Calibri" pitchFamily="34" charset="-122"/>
                <a:cs typeface="Calibri" pitchFamily="34" charset="-120"/>
              </a:rPr>
              <a:t>Burunun plastik ameliyatı</a:t>
            </a:r>
            <a:endParaRPr lang="en-US" sz="18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5EE"/>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D5EBDC"/>
                </a:solidFill>
                <a:latin typeface="Cambria" pitchFamily="34" charset="0"/>
                <a:ea typeface="Cambria" pitchFamily="34" charset="-122"/>
                <a:cs typeface="Cambria" pitchFamily="34" charset="-120"/>
              </a:rPr>
              <a:t>08</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15803D"/>
                </a:solidFill>
                <a:latin typeface="Calibri" pitchFamily="34" charset="0"/>
                <a:ea typeface="Calibri" pitchFamily="34" charset="-122"/>
                <a:cs typeface="Calibri" pitchFamily="34" charset="-120"/>
              </a:rPr>
              <a:t>BÖLÜM 8</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SİNDİRİM SİSTEMİ TERİMLERİ</a:t>
            </a:r>
            <a:endParaRPr lang="en-US" sz="3600" dirty="0"/>
          </a:p>
        </p:txBody>
      </p:sp>
      <p:sp>
        <p:nvSpPr>
          <p:cNvPr id="7" name="Shape 5"/>
          <p:cNvSpPr/>
          <p:nvPr/>
        </p:nvSpPr>
        <p:spPr>
          <a:xfrm>
            <a:off x="8503920" y="2331720"/>
            <a:ext cx="2194560" cy="2194560"/>
          </a:xfrm>
          <a:prstGeom prst="ellipse">
            <a:avLst/>
          </a:prstGeom>
          <a:solidFill>
            <a:srgbClr val="EAF5EE"/>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217</a:t>
            </a:r>
            <a:endParaRPr lang="en-US" sz="10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AF5EE"/>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SİNDİRİM SİSTEMİ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218</a:t>
            </a:r>
            <a:endParaRPr lang="en-US" sz="1000" dirty="0"/>
          </a:p>
        </p:txBody>
      </p:sp>
      <p:sp>
        <p:nvSpPr>
          <p:cNvPr id="6" name="Shape 4"/>
          <p:cNvSpPr/>
          <p:nvPr/>
        </p:nvSpPr>
        <p:spPr>
          <a:xfrm>
            <a:off x="548640" y="2136953"/>
            <a:ext cx="11094415" cy="1378915"/>
          </a:xfrm>
          <a:prstGeom prst="roundRect">
            <a:avLst>
              <a:gd name="adj" fmla="val 4642"/>
            </a:avLst>
          </a:prstGeom>
          <a:solidFill>
            <a:srgbClr val="EAF5EE"/>
          </a:solidFill>
          <a:ln/>
        </p:spPr>
      </p:sp>
      <p:sp>
        <p:nvSpPr>
          <p:cNvPr id="7" name="Text 5"/>
          <p:cNvSpPr txBox="1"/>
          <p:nvPr/>
        </p:nvSpPr>
        <p:spPr>
          <a:xfrm>
            <a:off x="704088" y="2210105"/>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Sindirim sistemi ağız boşluğu ile başlar, anüs ile biter. Sindirim işlevleriyle ilgili organlar topluluğu sindirim sistemini oluşturur. Büyük sindirim bezleri sindirim borusuna açılan iki büyük bezdir. Bunlar karaciğer ve pankreastır. Ağız boşluğu çevresine yerleşmiş tükürük bezleri, ağız boşluğuna açıldıkları için, sindirim sistemine ait bezlerdir.</a:t>
            </a:r>
            <a:endParaRPr lang="en-US" sz="1800" dirty="0"/>
          </a:p>
        </p:txBody>
      </p:sp>
      <p:sp>
        <p:nvSpPr>
          <p:cNvPr id="8" name="Shape 6"/>
          <p:cNvSpPr/>
          <p:nvPr/>
        </p:nvSpPr>
        <p:spPr>
          <a:xfrm>
            <a:off x="548640" y="3607308"/>
            <a:ext cx="11094415" cy="1936699"/>
          </a:xfrm>
          <a:prstGeom prst="roundRect">
            <a:avLst>
              <a:gd name="adj" fmla="val 3305"/>
            </a:avLst>
          </a:prstGeom>
          <a:solidFill>
            <a:srgbClr val="EAF5EE"/>
          </a:solidFill>
          <a:ln/>
        </p:spPr>
      </p:sp>
      <p:sp>
        <p:nvSpPr>
          <p:cNvPr id="9" name="Text 7"/>
          <p:cNvSpPr txBox="1"/>
          <p:nvPr/>
        </p:nvSpPr>
        <p:spPr>
          <a:xfrm>
            <a:off x="704088" y="3680460"/>
            <a:ext cx="10783519" cy="1790395"/>
          </a:xfrm>
          <a:prstGeom prst="rect">
            <a:avLst/>
          </a:prstGeom>
          <a:noFill/>
          <a:ln/>
        </p:spPr>
        <p:txBody>
          <a:bodyPr wrap="square" lIns="0" tIns="0" rIns="0" bIns="0" rtlCol="0" anchor="t"/>
          <a:lstStyle/>
          <a:p>
            <a:pPr marL="0" indent="0">
              <a:lnSpc>
                <a:spcPct val="105000"/>
              </a:lnSpc>
              <a:buNone/>
            </a:pPr>
            <a:r>
              <a:rPr lang="en-US" sz="1800" b="1" dirty="0">
                <a:solidFill>
                  <a:srgbClr val="15803D"/>
                </a:solidFill>
                <a:latin typeface="Calibri" pitchFamily="34" charset="0"/>
                <a:ea typeface="Calibri" pitchFamily="34" charset="-122"/>
                <a:cs typeface="Calibri" pitchFamily="34" charset="-120"/>
              </a:rPr>
              <a:t>Sindirim sistemini oluşturan organlar: </a:t>
            </a:r>
            <a:r>
              <a:rPr lang="en-US" sz="1800" dirty="0">
                <a:solidFill>
                  <a:srgbClr val="1F2937"/>
                </a:solidFill>
                <a:latin typeface="Calibri" pitchFamily="34" charset="0"/>
                <a:ea typeface="Calibri" pitchFamily="34" charset="-122"/>
                <a:cs typeface="Calibri" pitchFamily="34" charset="-120"/>
              </a:rPr>
              <a:t>Ağız boiluğu (cavitas oris), dudak (labium), yanak (bucca), diş (dentis, dens), dil (lingua), kulak altı tükrük bezi (parotis), dil altı tükrük bezi (gl. Sublingualis), çenealtı tükürük bezi (gl. submandibularis), damak (palatum), yutak (pharynx), yemek borusu (oesophagus), mide (gaster, ventriculus), onikiparmak bağırsağı (duedenum), yeyenum, ileum, kör bağırsak (caecum), kolonlar (colon), düz bağırsak (rectum), anüs, karaciğer (hepar), pankreas, safra kesesi (vesica fellea, vesica biliaris).</a:t>
            </a:r>
            <a:endParaRPr lang="en-US" sz="18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AF5EE"/>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219</a:t>
            </a:r>
            <a:endParaRPr lang="en-US" sz="1000" dirty="0"/>
          </a:p>
        </p:txBody>
      </p:sp>
      <p:sp>
        <p:nvSpPr>
          <p:cNvPr id="6" name="Shape 4"/>
          <p:cNvSpPr/>
          <p:nvPr/>
        </p:nvSpPr>
        <p:spPr>
          <a:xfrm>
            <a:off x="548640" y="1681734"/>
            <a:ext cx="11094415" cy="916686"/>
          </a:xfrm>
          <a:prstGeom prst="roundRect">
            <a:avLst>
              <a:gd name="adj" fmla="val 6983"/>
            </a:avLst>
          </a:prstGeom>
          <a:solidFill>
            <a:srgbClr val="EAF5EE"/>
          </a:solidFill>
          <a:ln/>
        </p:spPr>
      </p:sp>
      <p:sp>
        <p:nvSpPr>
          <p:cNvPr id="7" name="Text 5"/>
          <p:cNvSpPr txBox="1"/>
          <p:nvPr/>
        </p:nvSpPr>
        <p:spPr>
          <a:xfrm>
            <a:off x="704088" y="1754886"/>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 (L) parotidea (G) (gl. parotis): </a:t>
            </a:r>
            <a:r>
              <a:rPr lang="en-US" sz="1500" dirty="0">
                <a:solidFill>
                  <a:srgbClr val="1F2937"/>
                </a:solidFill>
                <a:latin typeface="Calibri" pitchFamily="34" charset="0"/>
                <a:ea typeface="Calibri" pitchFamily="34" charset="-122"/>
                <a:cs typeface="Calibri" pitchFamily="34" charset="-120"/>
              </a:rPr>
              <a:t>Kulak altı tükürük bezi. Alt çene kemiğinin (mandibula) arkasında ve kulak altı bölgede yerleşik büyük tükürük bezi.</a:t>
            </a:r>
            <a:endParaRPr lang="en-US" sz="1500" dirty="0"/>
          </a:p>
        </p:txBody>
      </p:sp>
      <p:sp>
        <p:nvSpPr>
          <p:cNvPr id="8" name="Shape 6"/>
          <p:cNvSpPr/>
          <p:nvPr/>
        </p:nvSpPr>
        <p:spPr>
          <a:xfrm>
            <a:off x="548640" y="2908554"/>
            <a:ext cx="5410048" cy="451866"/>
          </a:xfrm>
          <a:prstGeom prst="roundRect">
            <a:avLst>
              <a:gd name="adj" fmla="val 14165"/>
            </a:avLst>
          </a:prstGeom>
          <a:solidFill>
            <a:srgbClr val="EAF5EE"/>
          </a:solidFill>
          <a:ln/>
        </p:spPr>
      </p:sp>
      <p:sp>
        <p:nvSpPr>
          <p:cNvPr id="9" name="Text 7"/>
          <p:cNvSpPr txBox="1"/>
          <p:nvPr/>
        </p:nvSpPr>
        <p:spPr>
          <a:xfrm>
            <a:off x="704088" y="29817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cavitas oris (L) (kavitas oris): </a:t>
            </a:r>
            <a:r>
              <a:rPr lang="en-US" sz="1500" dirty="0">
                <a:solidFill>
                  <a:srgbClr val="1F2937"/>
                </a:solidFill>
                <a:latin typeface="Calibri" pitchFamily="34" charset="0"/>
                <a:ea typeface="Calibri" pitchFamily="34" charset="-122"/>
                <a:cs typeface="Calibri" pitchFamily="34" charset="-120"/>
              </a:rPr>
              <a:t>Ağız boşluğu</a:t>
            </a:r>
            <a:endParaRPr lang="en-US" sz="1500" dirty="0"/>
          </a:p>
        </p:txBody>
      </p:sp>
      <p:sp>
        <p:nvSpPr>
          <p:cNvPr id="10" name="Shape 8"/>
          <p:cNvSpPr/>
          <p:nvPr/>
        </p:nvSpPr>
        <p:spPr>
          <a:xfrm>
            <a:off x="548640" y="3451860"/>
            <a:ext cx="5410048" cy="451866"/>
          </a:xfrm>
          <a:prstGeom prst="roundRect">
            <a:avLst>
              <a:gd name="adj" fmla="val 14165"/>
            </a:avLst>
          </a:prstGeom>
          <a:solidFill>
            <a:srgbClr val="EAF5EE"/>
          </a:solidFill>
          <a:ln/>
        </p:spPr>
      </p:sp>
      <p:sp>
        <p:nvSpPr>
          <p:cNvPr id="11" name="Text 9"/>
          <p:cNvSpPr txBox="1"/>
          <p:nvPr/>
        </p:nvSpPr>
        <p:spPr>
          <a:xfrm>
            <a:off x="704088"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labium (L) (labyum), cheilos (G) (keil): </a:t>
            </a:r>
            <a:r>
              <a:rPr lang="en-US" sz="1500" dirty="0">
                <a:solidFill>
                  <a:srgbClr val="1F2937"/>
                </a:solidFill>
                <a:latin typeface="Calibri" pitchFamily="34" charset="0"/>
                <a:ea typeface="Calibri" pitchFamily="34" charset="-122"/>
                <a:cs typeface="Calibri" pitchFamily="34" charset="-120"/>
              </a:rPr>
              <a:t>Dudak</a:t>
            </a:r>
            <a:endParaRPr lang="en-US" sz="1500" dirty="0"/>
          </a:p>
        </p:txBody>
      </p:sp>
      <p:sp>
        <p:nvSpPr>
          <p:cNvPr id="12" name="Shape 10"/>
          <p:cNvSpPr/>
          <p:nvPr/>
        </p:nvSpPr>
        <p:spPr>
          <a:xfrm>
            <a:off x="548640" y="3995166"/>
            <a:ext cx="5410048" cy="451866"/>
          </a:xfrm>
          <a:prstGeom prst="roundRect">
            <a:avLst>
              <a:gd name="adj" fmla="val 14165"/>
            </a:avLst>
          </a:prstGeom>
          <a:solidFill>
            <a:srgbClr val="EAF5EE"/>
          </a:solidFill>
          <a:ln/>
        </p:spPr>
      </p:sp>
      <p:sp>
        <p:nvSpPr>
          <p:cNvPr id="13" name="Text 11"/>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bucca (L) (bukka): </a:t>
            </a:r>
            <a:r>
              <a:rPr lang="en-US" sz="1500" dirty="0">
                <a:solidFill>
                  <a:srgbClr val="1F2937"/>
                </a:solidFill>
                <a:latin typeface="Calibri" pitchFamily="34" charset="0"/>
                <a:ea typeface="Calibri" pitchFamily="34" charset="-122"/>
                <a:cs typeface="Calibri" pitchFamily="34" charset="-120"/>
              </a:rPr>
              <a:t>Yanak</a:t>
            </a:r>
            <a:endParaRPr lang="en-US" sz="1500" dirty="0"/>
          </a:p>
        </p:txBody>
      </p:sp>
      <p:sp>
        <p:nvSpPr>
          <p:cNvPr id="14" name="Shape 12"/>
          <p:cNvSpPr/>
          <p:nvPr/>
        </p:nvSpPr>
        <p:spPr>
          <a:xfrm>
            <a:off x="548640" y="4538472"/>
            <a:ext cx="5410048" cy="451866"/>
          </a:xfrm>
          <a:prstGeom prst="roundRect">
            <a:avLst>
              <a:gd name="adj" fmla="val 14165"/>
            </a:avLst>
          </a:prstGeom>
          <a:solidFill>
            <a:srgbClr val="EAF5EE"/>
          </a:solidFill>
          <a:ln/>
        </p:spPr>
      </p:sp>
      <p:sp>
        <p:nvSpPr>
          <p:cNvPr id="15" name="Text 13"/>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palatum (L): </a:t>
            </a:r>
            <a:r>
              <a:rPr lang="en-US" sz="1500" dirty="0">
                <a:solidFill>
                  <a:srgbClr val="1F2937"/>
                </a:solidFill>
                <a:latin typeface="Calibri" pitchFamily="34" charset="0"/>
                <a:ea typeface="Calibri" pitchFamily="34" charset="-122"/>
                <a:cs typeface="Calibri" pitchFamily="34" charset="-120"/>
              </a:rPr>
              <a:t>Damak</a:t>
            </a:r>
            <a:endParaRPr lang="en-US" sz="1500" dirty="0"/>
          </a:p>
        </p:txBody>
      </p:sp>
      <p:sp>
        <p:nvSpPr>
          <p:cNvPr id="16" name="Shape 14"/>
          <p:cNvSpPr/>
          <p:nvPr/>
        </p:nvSpPr>
        <p:spPr>
          <a:xfrm>
            <a:off x="548640" y="5081778"/>
            <a:ext cx="5410048" cy="451866"/>
          </a:xfrm>
          <a:prstGeom prst="roundRect">
            <a:avLst>
              <a:gd name="adj" fmla="val 14165"/>
            </a:avLst>
          </a:prstGeom>
          <a:solidFill>
            <a:srgbClr val="EAF5EE"/>
          </a:solidFill>
          <a:ln/>
        </p:spPr>
      </p:sp>
      <p:sp>
        <p:nvSpPr>
          <p:cNvPr id="17" name="Text 15"/>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glandula (L): </a:t>
            </a:r>
            <a:r>
              <a:rPr lang="en-US" sz="1500" dirty="0">
                <a:solidFill>
                  <a:srgbClr val="1F2937"/>
                </a:solidFill>
                <a:latin typeface="Calibri" pitchFamily="34" charset="0"/>
                <a:ea typeface="Calibri" pitchFamily="34" charset="-122"/>
                <a:cs typeface="Calibri" pitchFamily="34" charset="-120"/>
              </a:rPr>
              <a:t>Salgı bezi, kısaltması Gl., gl.</a:t>
            </a:r>
            <a:endParaRPr lang="en-US" sz="1500" dirty="0"/>
          </a:p>
        </p:txBody>
      </p:sp>
      <p:sp>
        <p:nvSpPr>
          <p:cNvPr id="18" name="Shape 16"/>
          <p:cNvSpPr/>
          <p:nvPr/>
        </p:nvSpPr>
        <p:spPr>
          <a:xfrm>
            <a:off x="548640" y="5625084"/>
            <a:ext cx="5410048" cy="684276"/>
          </a:xfrm>
          <a:prstGeom prst="roundRect">
            <a:avLst>
              <a:gd name="adj" fmla="val 9354"/>
            </a:avLst>
          </a:prstGeom>
          <a:solidFill>
            <a:srgbClr val="EAF5EE"/>
          </a:solidFill>
          <a:ln/>
        </p:spPr>
      </p:sp>
      <p:sp>
        <p:nvSpPr>
          <p:cNvPr id="19" name="Text 17"/>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glandula salivaria (L) (glandula salivarya): </a:t>
            </a:r>
            <a:r>
              <a:rPr lang="en-US" sz="1500" dirty="0">
                <a:solidFill>
                  <a:srgbClr val="1F2937"/>
                </a:solidFill>
                <a:latin typeface="Calibri" pitchFamily="34" charset="0"/>
                <a:ea typeface="Calibri" pitchFamily="34" charset="-122"/>
                <a:cs typeface="Calibri" pitchFamily="34" charset="-120"/>
              </a:rPr>
              <a:t>Tükrük bezi</a:t>
            </a:r>
            <a:endParaRPr lang="en-US" sz="1500" dirty="0"/>
          </a:p>
        </p:txBody>
      </p:sp>
      <p:sp>
        <p:nvSpPr>
          <p:cNvPr id="20" name="Shape 18"/>
          <p:cNvSpPr/>
          <p:nvPr/>
        </p:nvSpPr>
        <p:spPr>
          <a:xfrm>
            <a:off x="6233008" y="2908554"/>
            <a:ext cx="5410048" cy="684276"/>
          </a:xfrm>
          <a:prstGeom prst="roundRect">
            <a:avLst>
              <a:gd name="adj" fmla="val 9354"/>
            </a:avLst>
          </a:prstGeom>
          <a:solidFill>
            <a:srgbClr val="EAF5EE"/>
          </a:solidFill>
          <a:ln/>
        </p:spPr>
      </p:sp>
      <p:sp>
        <p:nvSpPr>
          <p:cNvPr id="21" name="Text 19"/>
          <p:cNvSpPr txBox="1"/>
          <p:nvPr/>
        </p:nvSpPr>
        <p:spPr>
          <a:xfrm>
            <a:off x="6388456" y="298170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 sublingualis (L): </a:t>
            </a:r>
            <a:r>
              <a:rPr lang="en-US" sz="1500" dirty="0">
                <a:solidFill>
                  <a:srgbClr val="1F2937"/>
                </a:solidFill>
                <a:latin typeface="Calibri" pitchFamily="34" charset="0"/>
                <a:ea typeface="Calibri" pitchFamily="34" charset="-122"/>
                <a:cs typeface="Calibri" pitchFamily="34" charset="-120"/>
              </a:rPr>
              <a:t>Dil altı tükürük bezi. Ağız boşluğu tabanında bağ doku içine yerleşmiş tükürük bezi</a:t>
            </a:r>
            <a:endParaRPr lang="en-US" sz="1500" dirty="0"/>
          </a:p>
        </p:txBody>
      </p:sp>
      <p:sp>
        <p:nvSpPr>
          <p:cNvPr id="22" name="Shape 20"/>
          <p:cNvSpPr/>
          <p:nvPr/>
        </p:nvSpPr>
        <p:spPr>
          <a:xfrm>
            <a:off x="6233008" y="3684270"/>
            <a:ext cx="5410048" cy="916686"/>
          </a:xfrm>
          <a:prstGeom prst="roundRect">
            <a:avLst>
              <a:gd name="adj" fmla="val 6983"/>
            </a:avLst>
          </a:prstGeom>
          <a:solidFill>
            <a:srgbClr val="EAF5EE"/>
          </a:solidFill>
          <a:ln/>
        </p:spPr>
      </p:sp>
      <p:sp>
        <p:nvSpPr>
          <p:cNvPr id="23" name="Text 21"/>
          <p:cNvSpPr txBox="1"/>
          <p:nvPr/>
        </p:nvSpPr>
        <p:spPr>
          <a:xfrm>
            <a:off x="6388456" y="375742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 submandibularis (L): </a:t>
            </a:r>
            <a:r>
              <a:rPr lang="en-US" sz="1500" dirty="0">
                <a:solidFill>
                  <a:srgbClr val="1F2937"/>
                </a:solidFill>
                <a:latin typeface="Calibri" pitchFamily="34" charset="0"/>
                <a:ea typeface="Calibri" pitchFamily="34" charset="-122"/>
                <a:cs typeface="Calibri" pitchFamily="34" charset="-120"/>
              </a:rPr>
              <a:t>Çene altı tükürük bezi. Alt çene kemiğinin altında iki yanda deri ile kemik arasına yerleşik bezler.</a:t>
            </a:r>
            <a:endParaRPr lang="en-US" sz="1500" dirty="0"/>
          </a:p>
        </p:txBody>
      </p:sp>
      <p:sp>
        <p:nvSpPr>
          <p:cNvPr id="24" name="Shape 22"/>
          <p:cNvSpPr/>
          <p:nvPr/>
        </p:nvSpPr>
        <p:spPr>
          <a:xfrm>
            <a:off x="6233008" y="4692396"/>
            <a:ext cx="5410048" cy="451866"/>
          </a:xfrm>
          <a:prstGeom prst="roundRect">
            <a:avLst>
              <a:gd name="adj" fmla="val 14165"/>
            </a:avLst>
          </a:prstGeom>
          <a:solidFill>
            <a:srgbClr val="EAF5EE"/>
          </a:solidFill>
          <a:ln/>
        </p:spPr>
      </p:sp>
      <p:sp>
        <p:nvSpPr>
          <p:cNvPr id="25" name="Text 23"/>
          <p:cNvSpPr txBox="1"/>
          <p:nvPr/>
        </p:nvSpPr>
        <p:spPr>
          <a:xfrm>
            <a:off x="6388456" y="476554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gingiva (L) (jinjiva): </a:t>
            </a:r>
            <a:r>
              <a:rPr lang="en-US" sz="1500" dirty="0">
                <a:solidFill>
                  <a:srgbClr val="1F2937"/>
                </a:solidFill>
                <a:latin typeface="Calibri" pitchFamily="34" charset="0"/>
                <a:ea typeface="Calibri" pitchFamily="34" charset="-122"/>
                <a:cs typeface="Calibri" pitchFamily="34" charset="-120"/>
              </a:rPr>
              <a:t>Diş eti</a:t>
            </a:r>
            <a:endParaRPr lang="en-US" sz="1500" dirty="0"/>
          </a:p>
        </p:txBody>
      </p:sp>
      <p:sp>
        <p:nvSpPr>
          <p:cNvPr id="26" name="Shape 24"/>
          <p:cNvSpPr/>
          <p:nvPr/>
        </p:nvSpPr>
        <p:spPr>
          <a:xfrm>
            <a:off x="6233008" y="5235702"/>
            <a:ext cx="5410048" cy="451866"/>
          </a:xfrm>
          <a:prstGeom prst="roundRect">
            <a:avLst>
              <a:gd name="adj" fmla="val 14165"/>
            </a:avLst>
          </a:prstGeom>
          <a:solidFill>
            <a:srgbClr val="EAF5EE"/>
          </a:solidFill>
          <a:ln/>
        </p:spPr>
      </p:sp>
      <p:sp>
        <p:nvSpPr>
          <p:cNvPr id="27" name="Text 25"/>
          <p:cNvSpPr txBox="1"/>
          <p:nvPr/>
        </p:nvSpPr>
        <p:spPr>
          <a:xfrm>
            <a:off x="6388456" y="530885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dens, dentis (L), odontos (G) (odont): </a:t>
            </a:r>
            <a:r>
              <a:rPr lang="en-US" sz="1500" dirty="0">
                <a:solidFill>
                  <a:srgbClr val="1F2937"/>
                </a:solidFill>
                <a:latin typeface="Calibri" pitchFamily="34" charset="0"/>
                <a:ea typeface="Calibri" pitchFamily="34" charset="-122"/>
                <a:cs typeface="Calibri" pitchFamily="34" charset="-120"/>
              </a:rPr>
              <a:t>Diş</a:t>
            </a:r>
            <a:endParaRPr lang="en-US" sz="15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220</a:t>
            </a:r>
            <a:endParaRPr lang="en-US" sz="1000" dirty="0"/>
          </a:p>
        </p:txBody>
      </p:sp>
      <p:sp>
        <p:nvSpPr>
          <p:cNvPr id="6" name="Shape 4"/>
          <p:cNvSpPr/>
          <p:nvPr/>
        </p:nvSpPr>
        <p:spPr>
          <a:xfrm>
            <a:off x="548640" y="1900428"/>
            <a:ext cx="5410048" cy="451866"/>
          </a:xfrm>
          <a:prstGeom prst="roundRect">
            <a:avLst>
              <a:gd name="adj" fmla="val 14165"/>
            </a:avLst>
          </a:prstGeom>
          <a:solidFill>
            <a:srgbClr val="EAF5EE"/>
          </a:solidFill>
          <a:ln/>
        </p:spPr>
      </p:sp>
      <p:sp>
        <p:nvSpPr>
          <p:cNvPr id="7" name="Text 5"/>
          <p:cNvSpPr txBox="1"/>
          <p:nvPr/>
        </p:nvSpPr>
        <p:spPr>
          <a:xfrm>
            <a:off x="704088" y="197358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(L): </a:t>
            </a:r>
            <a:r>
              <a:rPr lang="en-US" sz="1500" dirty="0">
                <a:solidFill>
                  <a:srgbClr val="1F2937"/>
                </a:solidFill>
                <a:latin typeface="Calibri" pitchFamily="34" charset="0"/>
                <a:ea typeface="Calibri" pitchFamily="34" charset="-122"/>
                <a:cs typeface="Calibri" pitchFamily="34" charset="-120"/>
              </a:rPr>
              <a:t>Dişler</a:t>
            </a:r>
            <a:endParaRPr lang="en-US" sz="1500" dirty="0"/>
          </a:p>
        </p:txBody>
      </p:sp>
      <p:sp>
        <p:nvSpPr>
          <p:cNvPr id="8" name="Shape 6"/>
          <p:cNvSpPr/>
          <p:nvPr/>
        </p:nvSpPr>
        <p:spPr>
          <a:xfrm>
            <a:off x="548640" y="2443734"/>
            <a:ext cx="5410048" cy="684276"/>
          </a:xfrm>
          <a:prstGeom prst="roundRect">
            <a:avLst>
              <a:gd name="adj" fmla="val 9354"/>
            </a:avLst>
          </a:prstGeom>
          <a:solidFill>
            <a:srgbClr val="EAF5EE"/>
          </a:solidFill>
          <a:ln/>
        </p:spPr>
      </p:sp>
      <p:sp>
        <p:nvSpPr>
          <p:cNvPr id="9" name="Text 7"/>
          <p:cNvSpPr txBox="1"/>
          <p:nvPr/>
        </p:nvSpPr>
        <p:spPr>
          <a:xfrm>
            <a:off x="704088" y="251688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radix dentis (L) (radiks dentis): </a:t>
            </a:r>
            <a:r>
              <a:rPr lang="en-US" sz="1500" dirty="0">
                <a:solidFill>
                  <a:srgbClr val="1F2937"/>
                </a:solidFill>
                <a:latin typeface="Calibri" pitchFamily="34" charset="0"/>
                <a:ea typeface="Calibri" pitchFamily="34" charset="-122"/>
                <a:cs typeface="Calibri" pitchFamily="34" charset="-120"/>
              </a:rPr>
              <a:t>Kök. Dişin alveoller içinde gömülü kalan kısmı</a:t>
            </a:r>
            <a:endParaRPr lang="en-US" sz="1500" dirty="0"/>
          </a:p>
        </p:txBody>
      </p:sp>
      <p:sp>
        <p:nvSpPr>
          <p:cNvPr id="10" name="Shape 8"/>
          <p:cNvSpPr/>
          <p:nvPr/>
        </p:nvSpPr>
        <p:spPr>
          <a:xfrm>
            <a:off x="548640" y="3219450"/>
            <a:ext cx="5410048" cy="684276"/>
          </a:xfrm>
          <a:prstGeom prst="roundRect">
            <a:avLst>
              <a:gd name="adj" fmla="val 9354"/>
            </a:avLst>
          </a:prstGeom>
          <a:solidFill>
            <a:srgbClr val="EAF5EE"/>
          </a:solidFill>
          <a:ln/>
        </p:spPr>
      </p:sp>
      <p:sp>
        <p:nvSpPr>
          <p:cNvPr id="11" name="Text 9"/>
          <p:cNvSpPr txBox="1"/>
          <p:nvPr/>
        </p:nvSpPr>
        <p:spPr>
          <a:xfrm>
            <a:off x="704088" y="329260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corona dentis (L) (korona dentis): </a:t>
            </a:r>
            <a:r>
              <a:rPr lang="en-US" sz="1500" dirty="0">
                <a:solidFill>
                  <a:srgbClr val="1F2937"/>
                </a:solidFill>
                <a:latin typeface="Calibri" pitchFamily="34" charset="0"/>
                <a:ea typeface="Calibri" pitchFamily="34" charset="-122"/>
                <a:cs typeface="Calibri" pitchFamily="34" charset="-120"/>
              </a:rPr>
              <a:t>Kron, taç, dişin görülen kısmı</a:t>
            </a:r>
            <a:endParaRPr lang="en-US" sz="1500" dirty="0"/>
          </a:p>
        </p:txBody>
      </p:sp>
      <p:sp>
        <p:nvSpPr>
          <p:cNvPr id="12" name="Shape 10"/>
          <p:cNvSpPr/>
          <p:nvPr/>
        </p:nvSpPr>
        <p:spPr>
          <a:xfrm>
            <a:off x="548640" y="3995166"/>
            <a:ext cx="5410048" cy="684276"/>
          </a:xfrm>
          <a:prstGeom prst="roundRect">
            <a:avLst>
              <a:gd name="adj" fmla="val 9354"/>
            </a:avLst>
          </a:prstGeom>
          <a:solidFill>
            <a:srgbClr val="EAF5EE"/>
          </a:solidFill>
          <a:ln/>
        </p:spPr>
      </p:sp>
      <p:sp>
        <p:nvSpPr>
          <p:cNvPr id="13" name="Text 11"/>
          <p:cNvSpPr txBox="1"/>
          <p:nvPr/>
        </p:nvSpPr>
        <p:spPr>
          <a:xfrm>
            <a:off x="704088" y="406831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cervix dentis (L) (serviks dentis): </a:t>
            </a:r>
            <a:r>
              <a:rPr lang="en-US" sz="1500" dirty="0">
                <a:solidFill>
                  <a:srgbClr val="1F2937"/>
                </a:solidFill>
                <a:latin typeface="Calibri" pitchFamily="34" charset="0"/>
                <a:ea typeface="Calibri" pitchFamily="34" charset="-122"/>
                <a:cs typeface="Calibri" pitchFamily="34" charset="-120"/>
              </a:rPr>
              <a:t>Boyun, dişin kök bölgesine geçiş yeri</a:t>
            </a:r>
            <a:endParaRPr lang="en-US" sz="1500" dirty="0"/>
          </a:p>
        </p:txBody>
      </p:sp>
      <p:sp>
        <p:nvSpPr>
          <p:cNvPr id="14" name="Shape 12"/>
          <p:cNvSpPr/>
          <p:nvPr/>
        </p:nvSpPr>
        <p:spPr>
          <a:xfrm>
            <a:off x="548640" y="4770882"/>
            <a:ext cx="5410048" cy="451866"/>
          </a:xfrm>
          <a:prstGeom prst="roundRect">
            <a:avLst>
              <a:gd name="adj" fmla="val 14165"/>
            </a:avLst>
          </a:prstGeom>
          <a:solidFill>
            <a:srgbClr val="EAF5EE"/>
          </a:solidFill>
          <a:ln/>
        </p:spPr>
      </p:sp>
      <p:sp>
        <p:nvSpPr>
          <p:cNvPr id="15" name="Text 13"/>
          <p:cNvSpPr txBox="1"/>
          <p:nvPr/>
        </p:nvSpPr>
        <p:spPr>
          <a:xfrm>
            <a:off x="704088"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mine: </a:t>
            </a:r>
            <a:r>
              <a:rPr lang="en-US" sz="1500" b="1" dirty="0">
                <a:solidFill>
                  <a:srgbClr val="1F2937"/>
                </a:solidFill>
                <a:latin typeface="Calibri" pitchFamily="34" charset="0"/>
                <a:ea typeface="Calibri" pitchFamily="34" charset="-122"/>
                <a:cs typeface="Calibri" pitchFamily="34" charset="-120"/>
              </a:rPr>
              <a:t>Dişi taç </a:t>
            </a:r>
            <a:r>
              <a:rPr lang="en-US" sz="1500" dirty="0">
                <a:solidFill>
                  <a:srgbClr val="1F2937"/>
                </a:solidFill>
                <a:latin typeface="Calibri" pitchFamily="34" charset="0"/>
                <a:ea typeface="Calibri" pitchFamily="34" charset="-122"/>
                <a:cs typeface="Calibri" pitchFamily="34" charset="-120"/>
              </a:rPr>
              <a:t>kısmında yüzeyi kaplayan en sert kısım</a:t>
            </a:r>
            <a:endParaRPr lang="en-US" sz="1500" dirty="0"/>
          </a:p>
        </p:txBody>
      </p:sp>
      <p:sp>
        <p:nvSpPr>
          <p:cNvPr id="16" name="Shape 14"/>
          <p:cNvSpPr/>
          <p:nvPr/>
        </p:nvSpPr>
        <p:spPr>
          <a:xfrm>
            <a:off x="548640" y="5314188"/>
            <a:ext cx="5410048" cy="684276"/>
          </a:xfrm>
          <a:prstGeom prst="roundRect">
            <a:avLst>
              <a:gd name="adj" fmla="val 9354"/>
            </a:avLst>
          </a:prstGeom>
          <a:solidFill>
            <a:srgbClr val="EAF5EE"/>
          </a:solidFill>
          <a:ln/>
        </p:spPr>
      </p:sp>
      <p:sp>
        <p:nvSpPr>
          <p:cNvPr id="17" name="Text 15"/>
          <p:cNvSpPr txBox="1"/>
          <p:nvPr/>
        </p:nvSpPr>
        <p:spPr>
          <a:xfrm>
            <a:off x="704088" y="538734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incivi (L) (dentes insiv): </a:t>
            </a:r>
            <a:r>
              <a:rPr lang="en-US" sz="1500" dirty="0">
                <a:solidFill>
                  <a:srgbClr val="1F2937"/>
                </a:solidFill>
                <a:latin typeface="Calibri" pitchFamily="34" charset="0"/>
                <a:ea typeface="Calibri" pitchFamily="34" charset="-122"/>
                <a:cs typeface="Calibri" pitchFamily="34" charset="-120"/>
              </a:rPr>
              <a:t>Kesici dişler, insiv dişler</a:t>
            </a:r>
            <a:endParaRPr lang="en-US" sz="1500" dirty="0"/>
          </a:p>
        </p:txBody>
      </p:sp>
      <p:sp>
        <p:nvSpPr>
          <p:cNvPr id="18" name="Shape 16"/>
          <p:cNvSpPr/>
          <p:nvPr/>
        </p:nvSpPr>
        <p:spPr>
          <a:xfrm>
            <a:off x="6233008" y="1900428"/>
            <a:ext cx="5410048" cy="684276"/>
          </a:xfrm>
          <a:prstGeom prst="roundRect">
            <a:avLst>
              <a:gd name="adj" fmla="val 9354"/>
            </a:avLst>
          </a:prstGeom>
          <a:solidFill>
            <a:srgbClr val="EAF5EE"/>
          </a:solidFill>
          <a:ln/>
        </p:spPr>
      </p:sp>
      <p:sp>
        <p:nvSpPr>
          <p:cNvPr id="19" name="Text 17"/>
          <p:cNvSpPr txBox="1"/>
          <p:nvPr/>
        </p:nvSpPr>
        <p:spPr>
          <a:xfrm>
            <a:off x="6388456" y="197358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caninin (L) (dentes kanin): </a:t>
            </a:r>
            <a:r>
              <a:rPr lang="en-US" sz="1500" dirty="0">
                <a:solidFill>
                  <a:srgbClr val="1F2937"/>
                </a:solidFill>
                <a:latin typeface="Calibri" pitchFamily="34" charset="0"/>
                <a:ea typeface="Calibri" pitchFamily="34" charset="-122"/>
                <a:cs typeface="Calibri" pitchFamily="34" charset="-120"/>
              </a:rPr>
              <a:t>Köpek dişleri, kanin dişler</a:t>
            </a:r>
            <a:endParaRPr lang="en-US" sz="1500" dirty="0"/>
          </a:p>
        </p:txBody>
      </p:sp>
      <p:sp>
        <p:nvSpPr>
          <p:cNvPr id="20" name="Shape 18"/>
          <p:cNvSpPr/>
          <p:nvPr/>
        </p:nvSpPr>
        <p:spPr>
          <a:xfrm>
            <a:off x="6233008" y="2676144"/>
            <a:ext cx="5410048" cy="684276"/>
          </a:xfrm>
          <a:prstGeom prst="roundRect">
            <a:avLst>
              <a:gd name="adj" fmla="val 9354"/>
            </a:avLst>
          </a:prstGeom>
          <a:solidFill>
            <a:srgbClr val="EAF5EE"/>
          </a:solidFill>
          <a:ln/>
        </p:spPr>
      </p:sp>
      <p:sp>
        <p:nvSpPr>
          <p:cNvPr id="21" name="Text 19"/>
          <p:cNvSpPr txBox="1"/>
          <p:nvPr/>
        </p:nvSpPr>
        <p:spPr>
          <a:xfrm>
            <a:off x="6388456"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(L) premolaris (G): </a:t>
            </a:r>
            <a:r>
              <a:rPr lang="en-US" sz="1500" dirty="0">
                <a:solidFill>
                  <a:srgbClr val="1F2937"/>
                </a:solidFill>
                <a:latin typeface="Calibri" pitchFamily="34" charset="0"/>
                <a:ea typeface="Calibri" pitchFamily="34" charset="-122"/>
                <a:cs typeface="Calibri" pitchFamily="34" charset="-120"/>
              </a:rPr>
              <a:t>Ön azı dişleri, premolar dişler</a:t>
            </a:r>
            <a:endParaRPr lang="en-US" sz="1500" dirty="0"/>
          </a:p>
        </p:txBody>
      </p:sp>
      <p:sp>
        <p:nvSpPr>
          <p:cNvPr id="22" name="Shape 20"/>
          <p:cNvSpPr/>
          <p:nvPr/>
        </p:nvSpPr>
        <p:spPr>
          <a:xfrm>
            <a:off x="6233008" y="3451860"/>
            <a:ext cx="5410048" cy="451866"/>
          </a:xfrm>
          <a:prstGeom prst="roundRect">
            <a:avLst>
              <a:gd name="adj" fmla="val 14165"/>
            </a:avLst>
          </a:prstGeom>
          <a:solidFill>
            <a:srgbClr val="EAF5EE"/>
          </a:solidFill>
          <a:ln/>
        </p:spPr>
      </p:sp>
      <p:sp>
        <p:nvSpPr>
          <p:cNvPr id="23" name="Text 21"/>
          <p:cNvSpPr txBox="1"/>
          <p:nvPr/>
        </p:nvSpPr>
        <p:spPr>
          <a:xfrm>
            <a:off x="6388456"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molaris (L): </a:t>
            </a:r>
            <a:r>
              <a:rPr lang="en-US" sz="1500" dirty="0">
                <a:solidFill>
                  <a:srgbClr val="1F2937"/>
                </a:solidFill>
                <a:latin typeface="Calibri" pitchFamily="34" charset="0"/>
                <a:ea typeface="Calibri" pitchFamily="34" charset="-122"/>
                <a:cs typeface="Calibri" pitchFamily="34" charset="-120"/>
              </a:rPr>
              <a:t>Azı dişleri, molar dişler</a:t>
            </a:r>
            <a:endParaRPr lang="en-US" sz="1500" dirty="0"/>
          </a:p>
        </p:txBody>
      </p:sp>
      <p:sp>
        <p:nvSpPr>
          <p:cNvPr id="24" name="Shape 22"/>
          <p:cNvSpPr/>
          <p:nvPr/>
        </p:nvSpPr>
        <p:spPr>
          <a:xfrm>
            <a:off x="6233008" y="3995166"/>
            <a:ext cx="5410048" cy="451866"/>
          </a:xfrm>
          <a:prstGeom prst="roundRect">
            <a:avLst>
              <a:gd name="adj" fmla="val 14165"/>
            </a:avLst>
          </a:prstGeom>
          <a:solidFill>
            <a:srgbClr val="EAF5EE"/>
          </a:solidFill>
          <a:ln/>
        </p:spPr>
      </p:sp>
      <p:sp>
        <p:nvSpPr>
          <p:cNvPr id="25" name="Text 23"/>
          <p:cNvSpPr txBox="1"/>
          <p:nvPr/>
        </p:nvSpPr>
        <p:spPr>
          <a:xfrm>
            <a:off x="6388456"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desidua (L): </a:t>
            </a:r>
            <a:r>
              <a:rPr lang="en-US" sz="1500" dirty="0">
                <a:solidFill>
                  <a:srgbClr val="1F2937"/>
                </a:solidFill>
                <a:latin typeface="Calibri" pitchFamily="34" charset="0"/>
                <a:ea typeface="Calibri" pitchFamily="34" charset="-122"/>
                <a:cs typeface="Calibri" pitchFamily="34" charset="-120"/>
              </a:rPr>
              <a:t>Süt dişleri, desidual dişler</a:t>
            </a:r>
            <a:endParaRPr lang="en-US" sz="1500" dirty="0"/>
          </a:p>
        </p:txBody>
      </p:sp>
      <p:sp>
        <p:nvSpPr>
          <p:cNvPr id="26" name="Shape 24"/>
          <p:cNvSpPr/>
          <p:nvPr/>
        </p:nvSpPr>
        <p:spPr>
          <a:xfrm>
            <a:off x="6233008" y="4538472"/>
            <a:ext cx="5410048" cy="684276"/>
          </a:xfrm>
          <a:prstGeom prst="roundRect">
            <a:avLst>
              <a:gd name="adj" fmla="val 9354"/>
            </a:avLst>
          </a:prstGeom>
          <a:solidFill>
            <a:srgbClr val="EAF5EE"/>
          </a:solidFill>
          <a:ln/>
        </p:spPr>
      </p:sp>
      <p:sp>
        <p:nvSpPr>
          <p:cNvPr id="27" name="Text 25"/>
          <p:cNvSpPr txBox="1"/>
          <p:nvPr/>
        </p:nvSpPr>
        <p:spPr>
          <a:xfrm>
            <a:off x="6388456" y="461162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dentes permanentes (L): </a:t>
            </a:r>
            <a:r>
              <a:rPr lang="en-US" sz="1500" dirty="0">
                <a:solidFill>
                  <a:srgbClr val="1F2937"/>
                </a:solidFill>
                <a:latin typeface="Calibri" pitchFamily="34" charset="0"/>
                <a:ea typeface="Calibri" pitchFamily="34" charset="-122"/>
                <a:cs typeface="Calibri" pitchFamily="34" charset="-120"/>
              </a:rPr>
              <a:t>Kalıcı dişler, permanent dişler, 32 diş</a:t>
            </a:r>
            <a:endParaRPr lang="en-US" sz="1500" dirty="0"/>
          </a:p>
        </p:txBody>
      </p:sp>
      <p:sp>
        <p:nvSpPr>
          <p:cNvPr id="28" name="Shape 26"/>
          <p:cNvSpPr/>
          <p:nvPr/>
        </p:nvSpPr>
        <p:spPr>
          <a:xfrm>
            <a:off x="6233008" y="5314188"/>
            <a:ext cx="5410048" cy="451866"/>
          </a:xfrm>
          <a:prstGeom prst="roundRect">
            <a:avLst>
              <a:gd name="adj" fmla="val 14165"/>
            </a:avLst>
          </a:prstGeom>
          <a:solidFill>
            <a:srgbClr val="EAF5EE"/>
          </a:solidFill>
          <a:ln/>
        </p:spPr>
      </p:sp>
      <p:sp>
        <p:nvSpPr>
          <p:cNvPr id="29" name="Text 27"/>
          <p:cNvSpPr txBox="1"/>
          <p:nvPr/>
        </p:nvSpPr>
        <p:spPr>
          <a:xfrm>
            <a:off x="6388456"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lingua (L): </a:t>
            </a:r>
            <a:r>
              <a:rPr lang="en-US" sz="1500" dirty="0">
                <a:solidFill>
                  <a:srgbClr val="1F2937"/>
                </a:solidFill>
                <a:latin typeface="Calibri" pitchFamily="34" charset="0"/>
                <a:ea typeface="Calibri" pitchFamily="34" charset="-122"/>
                <a:cs typeface="Calibri" pitchFamily="34" charset="-120"/>
              </a:rPr>
              <a:t>Dil</a:t>
            </a:r>
            <a:endParaRPr lang="en-US" sz="1500" dirty="0"/>
          </a:p>
        </p:txBody>
      </p:sp>
      <p:sp>
        <p:nvSpPr>
          <p:cNvPr id="30" name="Shape 28"/>
          <p:cNvSpPr/>
          <p:nvPr/>
        </p:nvSpPr>
        <p:spPr>
          <a:xfrm>
            <a:off x="6233008" y="5857494"/>
            <a:ext cx="5410048" cy="451866"/>
          </a:xfrm>
          <a:prstGeom prst="roundRect">
            <a:avLst>
              <a:gd name="adj" fmla="val 14165"/>
            </a:avLst>
          </a:prstGeom>
          <a:solidFill>
            <a:srgbClr val="EAF5EE"/>
          </a:solidFill>
          <a:ln/>
        </p:spPr>
      </p:sp>
      <p:sp>
        <p:nvSpPr>
          <p:cNvPr id="31" name="Text 29"/>
          <p:cNvSpPr txBox="1"/>
          <p:nvPr/>
        </p:nvSpPr>
        <p:spPr>
          <a:xfrm>
            <a:off x="6388456"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glossa (G): </a:t>
            </a:r>
            <a:r>
              <a:rPr lang="en-US" sz="1500" dirty="0">
                <a:solidFill>
                  <a:srgbClr val="1F2937"/>
                </a:solidFill>
                <a:latin typeface="Calibri" pitchFamily="34" charset="0"/>
                <a:ea typeface="Calibri" pitchFamily="34" charset="-122"/>
                <a:cs typeface="Calibri" pitchFamily="34" charset="-120"/>
              </a:rPr>
              <a:t>Dil</a:t>
            </a:r>
            <a:endParaRPr lang="en-US" sz="15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221</a:t>
            </a:r>
            <a:endParaRPr lang="en-US" sz="1000" dirty="0"/>
          </a:p>
        </p:txBody>
      </p:sp>
      <p:sp>
        <p:nvSpPr>
          <p:cNvPr id="6" name="Shape 4"/>
          <p:cNvSpPr/>
          <p:nvPr/>
        </p:nvSpPr>
        <p:spPr>
          <a:xfrm>
            <a:off x="548640" y="2211324"/>
            <a:ext cx="5410048" cy="684276"/>
          </a:xfrm>
          <a:prstGeom prst="roundRect">
            <a:avLst>
              <a:gd name="adj" fmla="val 9354"/>
            </a:avLst>
          </a:prstGeom>
          <a:solidFill>
            <a:srgbClr val="EAF5EE"/>
          </a:solidFill>
          <a:ln/>
        </p:spPr>
      </p:sp>
      <p:sp>
        <p:nvSpPr>
          <p:cNvPr id="7" name="Text 5"/>
          <p:cNvSpPr txBox="1"/>
          <p:nvPr/>
        </p:nvSpPr>
        <p:spPr>
          <a:xfrm>
            <a:off x="704088" y="228447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frenulum linguae (L): </a:t>
            </a:r>
            <a:r>
              <a:rPr lang="en-US" sz="1500" dirty="0">
                <a:solidFill>
                  <a:srgbClr val="1F2937"/>
                </a:solidFill>
                <a:latin typeface="Calibri" pitchFamily="34" charset="0"/>
                <a:ea typeface="Calibri" pitchFamily="34" charset="-122"/>
                <a:cs typeface="Calibri" pitchFamily="34" charset="-120"/>
              </a:rPr>
              <a:t>Dili ağız tabanına bağlayan mukoza kıvrımından oluşmuş bağ</a:t>
            </a:r>
            <a:endParaRPr lang="en-US" sz="1500" dirty="0"/>
          </a:p>
        </p:txBody>
      </p:sp>
      <p:sp>
        <p:nvSpPr>
          <p:cNvPr id="8" name="Shape 6"/>
          <p:cNvSpPr/>
          <p:nvPr/>
        </p:nvSpPr>
        <p:spPr>
          <a:xfrm>
            <a:off x="548640" y="2987040"/>
            <a:ext cx="5410048" cy="451866"/>
          </a:xfrm>
          <a:prstGeom prst="roundRect">
            <a:avLst>
              <a:gd name="adj" fmla="val 14165"/>
            </a:avLst>
          </a:prstGeom>
          <a:solidFill>
            <a:srgbClr val="EAF5EE"/>
          </a:solidFill>
          <a:ln/>
        </p:spPr>
      </p:sp>
      <p:sp>
        <p:nvSpPr>
          <p:cNvPr id="9" name="Text 7"/>
          <p:cNvSpPr txBox="1"/>
          <p:nvPr/>
        </p:nvSpPr>
        <p:spPr>
          <a:xfrm>
            <a:off x="704088" y="306019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uvula (L): </a:t>
            </a:r>
            <a:r>
              <a:rPr lang="en-US" sz="1500" dirty="0">
                <a:solidFill>
                  <a:srgbClr val="1F2937"/>
                </a:solidFill>
                <a:latin typeface="Calibri" pitchFamily="34" charset="0"/>
                <a:ea typeface="Calibri" pitchFamily="34" charset="-122"/>
                <a:cs typeface="Calibri" pitchFamily="34" charset="-120"/>
              </a:rPr>
              <a:t>Küçük dil</a:t>
            </a:r>
            <a:endParaRPr lang="en-US" sz="1500" dirty="0"/>
          </a:p>
        </p:txBody>
      </p:sp>
      <p:sp>
        <p:nvSpPr>
          <p:cNvPr id="10" name="Shape 8"/>
          <p:cNvSpPr/>
          <p:nvPr/>
        </p:nvSpPr>
        <p:spPr>
          <a:xfrm>
            <a:off x="548640" y="3530346"/>
            <a:ext cx="5410048" cy="451866"/>
          </a:xfrm>
          <a:prstGeom prst="roundRect">
            <a:avLst>
              <a:gd name="adj" fmla="val 14165"/>
            </a:avLst>
          </a:prstGeom>
          <a:solidFill>
            <a:srgbClr val="EAF5EE"/>
          </a:solidFill>
          <a:ln/>
        </p:spPr>
      </p:sp>
      <p:sp>
        <p:nvSpPr>
          <p:cNvPr id="11" name="Text 9"/>
          <p:cNvSpPr txBox="1"/>
          <p:nvPr/>
        </p:nvSpPr>
        <p:spPr>
          <a:xfrm>
            <a:off x="704088" y="360349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staphyle (G) (stafil): </a:t>
            </a:r>
            <a:r>
              <a:rPr lang="en-US" sz="1500" dirty="0">
                <a:solidFill>
                  <a:srgbClr val="1F2937"/>
                </a:solidFill>
                <a:latin typeface="Calibri" pitchFamily="34" charset="0"/>
                <a:ea typeface="Calibri" pitchFamily="34" charset="-122"/>
                <a:cs typeface="Calibri" pitchFamily="34" charset="-120"/>
              </a:rPr>
              <a:t>Küçük dil</a:t>
            </a:r>
            <a:endParaRPr lang="en-US" sz="1500" dirty="0"/>
          </a:p>
        </p:txBody>
      </p:sp>
      <p:sp>
        <p:nvSpPr>
          <p:cNvPr id="12" name="Shape 10"/>
          <p:cNvSpPr/>
          <p:nvPr/>
        </p:nvSpPr>
        <p:spPr>
          <a:xfrm>
            <a:off x="548640" y="4073652"/>
            <a:ext cx="5410048" cy="451866"/>
          </a:xfrm>
          <a:prstGeom prst="roundRect">
            <a:avLst>
              <a:gd name="adj" fmla="val 14165"/>
            </a:avLst>
          </a:prstGeom>
          <a:solidFill>
            <a:srgbClr val="EAF5EE"/>
          </a:solidFill>
          <a:ln/>
        </p:spPr>
      </p:sp>
      <p:sp>
        <p:nvSpPr>
          <p:cNvPr id="13" name="Text 11"/>
          <p:cNvSpPr txBox="1"/>
          <p:nvPr/>
        </p:nvSpPr>
        <p:spPr>
          <a:xfrm>
            <a:off x="704088" y="414680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fauces (L) (favses): </a:t>
            </a:r>
            <a:r>
              <a:rPr lang="en-US" sz="1500" dirty="0">
                <a:solidFill>
                  <a:srgbClr val="1F2937"/>
                </a:solidFill>
                <a:latin typeface="Calibri" pitchFamily="34" charset="0"/>
                <a:ea typeface="Calibri" pitchFamily="34" charset="-122"/>
                <a:cs typeface="Calibri" pitchFamily="34" charset="-120"/>
              </a:rPr>
              <a:t>Boğaz</a:t>
            </a:r>
            <a:endParaRPr lang="en-US" sz="1500" dirty="0"/>
          </a:p>
        </p:txBody>
      </p:sp>
      <p:sp>
        <p:nvSpPr>
          <p:cNvPr id="14" name="Shape 12"/>
          <p:cNvSpPr/>
          <p:nvPr/>
        </p:nvSpPr>
        <p:spPr>
          <a:xfrm>
            <a:off x="548640" y="4616958"/>
            <a:ext cx="5410048" cy="916686"/>
          </a:xfrm>
          <a:prstGeom prst="roundRect">
            <a:avLst>
              <a:gd name="adj" fmla="val 6983"/>
            </a:avLst>
          </a:prstGeom>
          <a:solidFill>
            <a:srgbClr val="EAF5EE"/>
          </a:solidFill>
          <a:ln/>
        </p:spPr>
      </p:sp>
      <p:sp>
        <p:nvSpPr>
          <p:cNvPr id="15" name="Text 13"/>
          <p:cNvSpPr txBox="1"/>
          <p:nvPr/>
        </p:nvSpPr>
        <p:spPr>
          <a:xfrm>
            <a:off x="704088" y="469011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tonsilla pharyngealis (G) (tonsilla faringealis): </a:t>
            </a:r>
            <a:r>
              <a:rPr lang="en-US" sz="1500" dirty="0">
                <a:solidFill>
                  <a:srgbClr val="1F2937"/>
                </a:solidFill>
                <a:latin typeface="Calibri" pitchFamily="34" charset="0"/>
                <a:ea typeface="Calibri" pitchFamily="34" charset="-122"/>
                <a:cs typeface="Calibri" pitchFamily="34" charset="-120"/>
              </a:rPr>
              <a:t>Faringeal bademcikler, adenoid: Yutak duvarında mukoza katmanında bulunan bademcikler</a:t>
            </a:r>
            <a:endParaRPr lang="en-US" sz="1500" dirty="0"/>
          </a:p>
        </p:txBody>
      </p:sp>
      <p:sp>
        <p:nvSpPr>
          <p:cNvPr id="16" name="Shape 14"/>
          <p:cNvSpPr/>
          <p:nvPr/>
        </p:nvSpPr>
        <p:spPr>
          <a:xfrm>
            <a:off x="548640" y="5625084"/>
            <a:ext cx="5410048" cy="684276"/>
          </a:xfrm>
          <a:prstGeom prst="roundRect">
            <a:avLst>
              <a:gd name="adj" fmla="val 9354"/>
            </a:avLst>
          </a:prstGeom>
          <a:solidFill>
            <a:srgbClr val="EAF5EE"/>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pharynx (G) (farinks): </a:t>
            </a:r>
            <a:r>
              <a:rPr lang="en-US" sz="1500" dirty="0">
                <a:solidFill>
                  <a:srgbClr val="1F2937"/>
                </a:solidFill>
                <a:latin typeface="Calibri" pitchFamily="34" charset="0"/>
                <a:ea typeface="Calibri" pitchFamily="34" charset="-122"/>
                <a:cs typeface="Calibri" pitchFamily="34" charset="-120"/>
              </a:rPr>
              <a:t>Yutak. Ağız boşluğu ile yemek borusu arasında kalan sindirim borusu parçası</a:t>
            </a:r>
            <a:endParaRPr lang="en-US" sz="1500" dirty="0"/>
          </a:p>
        </p:txBody>
      </p:sp>
      <p:sp>
        <p:nvSpPr>
          <p:cNvPr id="18" name="Shape 16"/>
          <p:cNvSpPr/>
          <p:nvPr/>
        </p:nvSpPr>
        <p:spPr>
          <a:xfrm>
            <a:off x="6233008" y="2211324"/>
            <a:ext cx="5410048" cy="684276"/>
          </a:xfrm>
          <a:prstGeom prst="roundRect">
            <a:avLst>
              <a:gd name="adj" fmla="val 9354"/>
            </a:avLst>
          </a:prstGeom>
          <a:solidFill>
            <a:srgbClr val="EAF5EE"/>
          </a:solidFill>
          <a:ln/>
        </p:spPr>
      </p:sp>
      <p:sp>
        <p:nvSpPr>
          <p:cNvPr id="19" name="Text 17"/>
          <p:cNvSpPr txBox="1"/>
          <p:nvPr/>
        </p:nvSpPr>
        <p:spPr>
          <a:xfrm>
            <a:off x="6388456" y="228447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oesophagus (G) (özofagus): </a:t>
            </a:r>
            <a:r>
              <a:rPr lang="en-US" sz="1500" dirty="0">
                <a:solidFill>
                  <a:srgbClr val="1F2937"/>
                </a:solidFill>
                <a:latin typeface="Calibri" pitchFamily="34" charset="0"/>
                <a:ea typeface="Calibri" pitchFamily="34" charset="-122"/>
                <a:cs typeface="Calibri" pitchFamily="34" charset="-120"/>
              </a:rPr>
              <a:t>Yemek borusu, yutak ile mide arasında uzanan boru gibi olan bölüm</a:t>
            </a:r>
            <a:endParaRPr lang="en-US" sz="1500" dirty="0"/>
          </a:p>
        </p:txBody>
      </p:sp>
      <p:sp>
        <p:nvSpPr>
          <p:cNvPr id="20" name="Shape 18"/>
          <p:cNvSpPr/>
          <p:nvPr/>
        </p:nvSpPr>
        <p:spPr>
          <a:xfrm>
            <a:off x="6233008" y="2987040"/>
            <a:ext cx="5410048" cy="451866"/>
          </a:xfrm>
          <a:prstGeom prst="roundRect">
            <a:avLst>
              <a:gd name="adj" fmla="val 14165"/>
            </a:avLst>
          </a:prstGeom>
          <a:solidFill>
            <a:srgbClr val="EAF5EE"/>
          </a:solidFill>
          <a:ln/>
        </p:spPr>
      </p:sp>
      <p:sp>
        <p:nvSpPr>
          <p:cNvPr id="21" name="Text 19"/>
          <p:cNvSpPr txBox="1"/>
          <p:nvPr/>
        </p:nvSpPr>
        <p:spPr>
          <a:xfrm>
            <a:off x="6388456" y="306019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gaster (G): </a:t>
            </a:r>
            <a:r>
              <a:rPr lang="en-US" sz="1500" dirty="0">
                <a:solidFill>
                  <a:srgbClr val="1F2937"/>
                </a:solidFill>
                <a:latin typeface="Calibri" pitchFamily="34" charset="0"/>
                <a:ea typeface="Calibri" pitchFamily="34" charset="-122"/>
                <a:cs typeface="Calibri" pitchFamily="34" charset="-120"/>
              </a:rPr>
              <a:t>Mide</a:t>
            </a:r>
            <a:endParaRPr lang="en-US" sz="1500" dirty="0"/>
          </a:p>
        </p:txBody>
      </p:sp>
      <p:sp>
        <p:nvSpPr>
          <p:cNvPr id="22" name="Shape 20"/>
          <p:cNvSpPr/>
          <p:nvPr/>
        </p:nvSpPr>
        <p:spPr>
          <a:xfrm>
            <a:off x="6233008" y="3530346"/>
            <a:ext cx="5410048" cy="451866"/>
          </a:xfrm>
          <a:prstGeom prst="roundRect">
            <a:avLst>
              <a:gd name="adj" fmla="val 14165"/>
            </a:avLst>
          </a:prstGeom>
          <a:solidFill>
            <a:srgbClr val="EAF5EE"/>
          </a:solidFill>
          <a:ln/>
        </p:spPr>
      </p:sp>
      <p:sp>
        <p:nvSpPr>
          <p:cNvPr id="23" name="Text 21"/>
          <p:cNvSpPr txBox="1"/>
          <p:nvPr/>
        </p:nvSpPr>
        <p:spPr>
          <a:xfrm>
            <a:off x="6388456" y="360349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ventriculus (L) (ventrikulus): </a:t>
            </a:r>
            <a:r>
              <a:rPr lang="en-US" sz="1500" dirty="0">
                <a:solidFill>
                  <a:srgbClr val="1F2937"/>
                </a:solidFill>
                <a:latin typeface="Calibri" pitchFamily="34" charset="0"/>
                <a:ea typeface="Calibri" pitchFamily="34" charset="-122"/>
                <a:cs typeface="Calibri" pitchFamily="34" charset="-120"/>
              </a:rPr>
              <a:t>Mide</a:t>
            </a:r>
            <a:endParaRPr lang="en-US" sz="1500" dirty="0"/>
          </a:p>
        </p:txBody>
      </p:sp>
      <p:sp>
        <p:nvSpPr>
          <p:cNvPr id="24" name="Shape 22"/>
          <p:cNvSpPr/>
          <p:nvPr/>
        </p:nvSpPr>
        <p:spPr>
          <a:xfrm>
            <a:off x="6233008" y="4073652"/>
            <a:ext cx="5410048" cy="684276"/>
          </a:xfrm>
          <a:prstGeom prst="roundRect">
            <a:avLst>
              <a:gd name="adj" fmla="val 9354"/>
            </a:avLst>
          </a:prstGeom>
          <a:solidFill>
            <a:srgbClr val="EAF5EE"/>
          </a:solidFill>
          <a:ln/>
        </p:spPr>
      </p:sp>
      <p:sp>
        <p:nvSpPr>
          <p:cNvPr id="25" name="Text 23"/>
          <p:cNvSpPr txBox="1"/>
          <p:nvPr/>
        </p:nvSpPr>
        <p:spPr>
          <a:xfrm>
            <a:off x="6388456"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pars (L) cardiaca (G) (pars kardiyaka): </a:t>
            </a:r>
            <a:r>
              <a:rPr lang="en-US" sz="1500" dirty="0">
                <a:solidFill>
                  <a:srgbClr val="1F2937"/>
                </a:solidFill>
                <a:latin typeface="Calibri" pitchFamily="34" charset="0"/>
                <a:ea typeface="Calibri" pitchFamily="34" charset="-122"/>
                <a:cs typeface="Calibri" pitchFamily="34" charset="-120"/>
              </a:rPr>
              <a:t>Midenin giriş bölümü</a:t>
            </a:r>
            <a:endParaRPr lang="en-US" sz="15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222</a:t>
            </a:r>
            <a:endParaRPr lang="en-US" sz="1000" dirty="0"/>
          </a:p>
        </p:txBody>
      </p:sp>
      <p:sp>
        <p:nvSpPr>
          <p:cNvPr id="6" name="Shape 4"/>
          <p:cNvSpPr/>
          <p:nvPr/>
        </p:nvSpPr>
        <p:spPr>
          <a:xfrm>
            <a:off x="548640" y="1604772"/>
            <a:ext cx="11094415" cy="916686"/>
          </a:xfrm>
          <a:prstGeom prst="roundRect">
            <a:avLst>
              <a:gd name="adj" fmla="val 6983"/>
            </a:avLst>
          </a:prstGeom>
          <a:solidFill>
            <a:srgbClr val="EAF5EE"/>
          </a:solidFill>
          <a:ln/>
        </p:spPr>
      </p:sp>
      <p:sp>
        <p:nvSpPr>
          <p:cNvPr id="7" name="Text 5"/>
          <p:cNvSpPr txBox="1"/>
          <p:nvPr/>
        </p:nvSpPr>
        <p:spPr>
          <a:xfrm>
            <a:off x="704088" y="1677924"/>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gl. duodenalis </a:t>
            </a:r>
            <a:r>
              <a:rPr lang="en-US" sz="1500" dirty="0">
                <a:solidFill>
                  <a:srgbClr val="1F2937"/>
                </a:solidFill>
                <a:latin typeface="Calibri" pitchFamily="34" charset="0"/>
                <a:ea typeface="Calibri" pitchFamily="34" charset="-122"/>
                <a:cs typeface="Calibri" pitchFamily="34" charset="-120"/>
              </a:rPr>
              <a:t>(L) Duodenal bez. Onikiparmak bağırsağı submukoza katmanında bulunan, mukus salgılayan bezler. Bağırsaklarda yalnızca bu katmanda bez bulunur.</a:t>
            </a:r>
            <a:endParaRPr lang="en-US" sz="1500" dirty="0"/>
          </a:p>
        </p:txBody>
      </p:sp>
      <p:sp>
        <p:nvSpPr>
          <p:cNvPr id="8" name="Shape 6"/>
          <p:cNvSpPr/>
          <p:nvPr/>
        </p:nvSpPr>
        <p:spPr>
          <a:xfrm>
            <a:off x="548640" y="2754630"/>
            <a:ext cx="5410048" cy="684276"/>
          </a:xfrm>
          <a:prstGeom prst="roundRect">
            <a:avLst>
              <a:gd name="adj" fmla="val 9354"/>
            </a:avLst>
          </a:prstGeom>
          <a:solidFill>
            <a:srgbClr val="EAF5EE"/>
          </a:solidFill>
          <a:ln/>
        </p:spPr>
      </p:sp>
      <p:sp>
        <p:nvSpPr>
          <p:cNvPr id="9" name="Text 7"/>
          <p:cNvSpPr txBox="1"/>
          <p:nvPr/>
        </p:nvSpPr>
        <p:spPr>
          <a:xfrm>
            <a:off x="704088" y="282778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fundus (L): </a:t>
            </a:r>
            <a:r>
              <a:rPr lang="en-US" sz="1500" dirty="0">
                <a:solidFill>
                  <a:srgbClr val="1F2937"/>
                </a:solidFill>
                <a:latin typeface="Calibri" pitchFamily="34" charset="0"/>
                <a:ea typeface="Calibri" pitchFamily="34" charset="-122"/>
                <a:cs typeface="Calibri" pitchFamily="34" charset="-120"/>
              </a:rPr>
              <a:t>Midenin giriş bölümünden sonra gelen kubbe benzeri bölümü</a:t>
            </a:r>
            <a:endParaRPr lang="en-US" sz="1500" dirty="0"/>
          </a:p>
        </p:txBody>
      </p:sp>
      <p:sp>
        <p:nvSpPr>
          <p:cNvPr id="10" name="Shape 8"/>
          <p:cNvSpPr/>
          <p:nvPr/>
        </p:nvSpPr>
        <p:spPr>
          <a:xfrm>
            <a:off x="548640" y="3530346"/>
            <a:ext cx="5410048" cy="684276"/>
          </a:xfrm>
          <a:prstGeom prst="roundRect">
            <a:avLst>
              <a:gd name="adj" fmla="val 9354"/>
            </a:avLst>
          </a:prstGeom>
          <a:solidFill>
            <a:srgbClr val="EAF5EE"/>
          </a:solidFill>
          <a:ln/>
        </p:spPr>
      </p:sp>
      <p:sp>
        <p:nvSpPr>
          <p:cNvPr id="11" name="Text 9"/>
          <p:cNvSpPr txBox="1"/>
          <p:nvPr/>
        </p:nvSpPr>
        <p:spPr>
          <a:xfrm>
            <a:off x="704088"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corpus (L) gastricum (G) (korpus gastrikum): </a:t>
            </a:r>
            <a:r>
              <a:rPr lang="en-US" sz="1500" dirty="0">
                <a:solidFill>
                  <a:srgbClr val="1F2937"/>
                </a:solidFill>
                <a:latin typeface="Calibri" pitchFamily="34" charset="0"/>
                <a:ea typeface="Calibri" pitchFamily="34" charset="-122"/>
                <a:cs typeface="Calibri" pitchFamily="34" charset="-120"/>
              </a:rPr>
              <a:t>Midenin gövde bölüm, korpus</a:t>
            </a:r>
            <a:endParaRPr lang="en-US" sz="1500" dirty="0"/>
          </a:p>
        </p:txBody>
      </p:sp>
      <p:sp>
        <p:nvSpPr>
          <p:cNvPr id="12" name="Shape 10"/>
          <p:cNvSpPr/>
          <p:nvPr/>
        </p:nvSpPr>
        <p:spPr>
          <a:xfrm>
            <a:off x="548640" y="4306062"/>
            <a:ext cx="5410048" cy="684276"/>
          </a:xfrm>
          <a:prstGeom prst="roundRect">
            <a:avLst>
              <a:gd name="adj" fmla="val 9354"/>
            </a:avLst>
          </a:prstGeom>
          <a:solidFill>
            <a:srgbClr val="EAF5EE"/>
          </a:solidFill>
          <a:ln/>
        </p:spPr>
      </p:sp>
      <p:sp>
        <p:nvSpPr>
          <p:cNvPr id="13" name="Text 11"/>
          <p:cNvSpPr txBox="1"/>
          <p:nvPr/>
        </p:nvSpPr>
        <p:spPr>
          <a:xfrm>
            <a:off x="704088"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pylorus (G) (pilorus): </a:t>
            </a:r>
            <a:r>
              <a:rPr lang="en-US" sz="1500" dirty="0">
                <a:solidFill>
                  <a:srgbClr val="1F2937"/>
                </a:solidFill>
                <a:latin typeface="Calibri" pitchFamily="34" charset="0"/>
                <a:ea typeface="Calibri" pitchFamily="34" charset="-122"/>
                <a:cs typeface="Calibri" pitchFamily="34" charset="-120"/>
              </a:rPr>
              <a:t>Midenin onikiparmak bağırsağa açıldığı yere yakın daralmış bölümü</a:t>
            </a:r>
            <a:endParaRPr lang="en-US" sz="1500" dirty="0"/>
          </a:p>
        </p:txBody>
      </p:sp>
      <p:sp>
        <p:nvSpPr>
          <p:cNvPr id="14" name="Shape 12"/>
          <p:cNvSpPr/>
          <p:nvPr/>
        </p:nvSpPr>
        <p:spPr>
          <a:xfrm>
            <a:off x="548640" y="5081778"/>
            <a:ext cx="5410048" cy="451866"/>
          </a:xfrm>
          <a:prstGeom prst="roundRect">
            <a:avLst>
              <a:gd name="adj" fmla="val 14165"/>
            </a:avLst>
          </a:prstGeom>
          <a:solidFill>
            <a:srgbClr val="EAF5EE"/>
          </a:solidFill>
          <a:ln/>
        </p:spPr>
      </p:sp>
      <p:sp>
        <p:nvSpPr>
          <p:cNvPr id="15" name="Text 13"/>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intestinum (L), enteron (G): </a:t>
            </a:r>
            <a:r>
              <a:rPr lang="en-US" sz="1500" dirty="0">
                <a:solidFill>
                  <a:srgbClr val="1F2937"/>
                </a:solidFill>
                <a:latin typeface="Calibri" pitchFamily="34" charset="0"/>
                <a:ea typeface="Calibri" pitchFamily="34" charset="-122"/>
                <a:cs typeface="Calibri" pitchFamily="34" charset="-120"/>
              </a:rPr>
              <a:t>Bağırsak</a:t>
            </a:r>
            <a:endParaRPr lang="en-US" sz="1500" dirty="0"/>
          </a:p>
        </p:txBody>
      </p:sp>
      <p:sp>
        <p:nvSpPr>
          <p:cNvPr id="16" name="Shape 14"/>
          <p:cNvSpPr/>
          <p:nvPr/>
        </p:nvSpPr>
        <p:spPr>
          <a:xfrm>
            <a:off x="548640" y="5625084"/>
            <a:ext cx="5410048" cy="684276"/>
          </a:xfrm>
          <a:prstGeom prst="roundRect">
            <a:avLst>
              <a:gd name="adj" fmla="val 9354"/>
            </a:avLst>
          </a:prstGeom>
          <a:solidFill>
            <a:srgbClr val="EAF5EE"/>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intestinum (L) tenue (G): </a:t>
            </a:r>
            <a:r>
              <a:rPr lang="en-US" sz="1500" dirty="0">
                <a:solidFill>
                  <a:srgbClr val="1F2937"/>
                </a:solidFill>
                <a:latin typeface="Calibri" pitchFamily="34" charset="0"/>
                <a:ea typeface="Calibri" pitchFamily="34" charset="-122"/>
                <a:cs typeface="Calibri" pitchFamily="34" charset="-120"/>
              </a:rPr>
              <a:t>İnce bağırsak. Duedenum, jejenum ve ileum parçalarından oluşur.</a:t>
            </a:r>
            <a:endParaRPr lang="en-US" sz="1500" dirty="0"/>
          </a:p>
        </p:txBody>
      </p:sp>
      <p:sp>
        <p:nvSpPr>
          <p:cNvPr id="18" name="Shape 16"/>
          <p:cNvSpPr/>
          <p:nvPr/>
        </p:nvSpPr>
        <p:spPr>
          <a:xfrm>
            <a:off x="6233008" y="2754630"/>
            <a:ext cx="5410048" cy="916686"/>
          </a:xfrm>
          <a:prstGeom prst="roundRect">
            <a:avLst>
              <a:gd name="adj" fmla="val 6983"/>
            </a:avLst>
          </a:prstGeom>
          <a:solidFill>
            <a:srgbClr val="EAF5EE"/>
          </a:solidFill>
          <a:ln/>
        </p:spPr>
      </p:sp>
      <p:sp>
        <p:nvSpPr>
          <p:cNvPr id="19" name="Text 17"/>
          <p:cNvSpPr txBox="1"/>
          <p:nvPr/>
        </p:nvSpPr>
        <p:spPr>
          <a:xfrm>
            <a:off x="6388456" y="282778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duodenum (L): </a:t>
            </a:r>
            <a:r>
              <a:rPr lang="en-US" sz="1500" dirty="0">
                <a:solidFill>
                  <a:srgbClr val="1F2937"/>
                </a:solidFill>
                <a:latin typeface="Calibri" pitchFamily="34" charset="0"/>
                <a:ea typeface="Calibri" pitchFamily="34" charset="-122"/>
                <a:cs typeface="Calibri" pitchFamily="34" charset="-120"/>
              </a:rPr>
              <a:t>İnce bağırsağın ilk parçası. Mideden sonra gelir. Onikiparmak bağırsağı. Pankreas ve karaciğerin dış salgıları buraya boşalır.</a:t>
            </a:r>
            <a:endParaRPr lang="en-US" sz="1500" dirty="0"/>
          </a:p>
        </p:txBody>
      </p:sp>
      <p:sp>
        <p:nvSpPr>
          <p:cNvPr id="20" name="Shape 18"/>
          <p:cNvSpPr/>
          <p:nvPr/>
        </p:nvSpPr>
        <p:spPr>
          <a:xfrm>
            <a:off x="6233008" y="3762756"/>
            <a:ext cx="5410048" cy="451866"/>
          </a:xfrm>
          <a:prstGeom prst="roundRect">
            <a:avLst>
              <a:gd name="adj" fmla="val 14165"/>
            </a:avLst>
          </a:prstGeom>
          <a:solidFill>
            <a:srgbClr val="EAF5EE"/>
          </a:solidFill>
          <a:ln/>
        </p:spPr>
      </p:sp>
      <p:sp>
        <p:nvSpPr>
          <p:cNvPr id="21" name="Text 19"/>
          <p:cNvSpPr txBox="1"/>
          <p:nvPr/>
        </p:nvSpPr>
        <p:spPr>
          <a:xfrm>
            <a:off x="6388456"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jejenum (L) (yeyenum): </a:t>
            </a:r>
            <a:r>
              <a:rPr lang="en-US" sz="1500" dirty="0">
                <a:solidFill>
                  <a:srgbClr val="1F2937"/>
                </a:solidFill>
                <a:latin typeface="Calibri" pitchFamily="34" charset="0"/>
                <a:ea typeface="Calibri" pitchFamily="34" charset="-122"/>
                <a:cs typeface="Calibri" pitchFamily="34" charset="-120"/>
              </a:rPr>
              <a:t>İnce bağırsağın orta parçası</a:t>
            </a:r>
            <a:endParaRPr lang="en-US" sz="1500" dirty="0"/>
          </a:p>
        </p:txBody>
      </p:sp>
      <p:sp>
        <p:nvSpPr>
          <p:cNvPr id="22" name="Shape 20"/>
          <p:cNvSpPr/>
          <p:nvPr/>
        </p:nvSpPr>
        <p:spPr>
          <a:xfrm>
            <a:off x="6233008" y="4306062"/>
            <a:ext cx="5410048" cy="451866"/>
          </a:xfrm>
          <a:prstGeom prst="roundRect">
            <a:avLst>
              <a:gd name="adj" fmla="val 14165"/>
            </a:avLst>
          </a:prstGeom>
          <a:solidFill>
            <a:srgbClr val="EAF5EE"/>
          </a:solidFill>
          <a:ln/>
        </p:spPr>
      </p:sp>
      <p:sp>
        <p:nvSpPr>
          <p:cNvPr id="23" name="Text 21"/>
          <p:cNvSpPr txBox="1"/>
          <p:nvPr/>
        </p:nvSpPr>
        <p:spPr>
          <a:xfrm>
            <a:off x="6388456"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ileum (L): </a:t>
            </a:r>
            <a:r>
              <a:rPr lang="en-US" sz="1500" dirty="0">
                <a:solidFill>
                  <a:srgbClr val="1F2937"/>
                </a:solidFill>
                <a:latin typeface="Calibri" pitchFamily="34" charset="0"/>
                <a:ea typeface="Calibri" pitchFamily="34" charset="-122"/>
                <a:cs typeface="Calibri" pitchFamily="34" charset="-120"/>
              </a:rPr>
              <a:t>İnce bağırsağın üçüncü ve son parçası</a:t>
            </a:r>
            <a:endParaRPr lang="en-US" sz="15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223</a:t>
            </a:r>
            <a:endParaRPr lang="en-US" sz="1000" dirty="0"/>
          </a:p>
        </p:txBody>
      </p:sp>
      <p:sp>
        <p:nvSpPr>
          <p:cNvPr id="6" name="Shape 4"/>
          <p:cNvSpPr/>
          <p:nvPr/>
        </p:nvSpPr>
        <p:spPr>
          <a:xfrm>
            <a:off x="548640" y="1565250"/>
            <a:ext cx="11094415" cy="421742"/>
          </a:xfrm>
          <a:prstGeom prst="roundRect">
            <a:avLst>
              <a:gd name="adj" fmla="val 15177"/>
            </a:avLst>
          </a:prstGeom>
          <a:solidFill>
            <a:srgbClr val="EAF5EE"/>
          </a:solidFill>
          <a:ln/>
        </p:spPr>
      </p:sp>
      <p:sp>
        <p:nvSpPr>
          <p:cNvPr id="7" name="Text 5"/>
          <p:cNvSpPr txBox="1"/>
          <p:nvPr/>
        </p:nvSpPr>
        <p:spPr>
          <a:xfrm>
            <a:off x="704088" y="163840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intestinum crassum (L) (intestinum krassum): </a:t>
            </a:r>
            <a:r>
              <a:rPr lang="en-US" sz="1400" dirty="0">
                <a:solidFill>
                  <a:srgbClr val="1F2937"/>
                </a:solidFill>
                <a:latin typeface="Calibri" pitchFamily="34" charset="0"/>
                <a:ea typeface="Calibri" pitchFamily="34" charset="-122"/>
                <a:cs typeface="Calibri" pitchFamily="34" charset="-120"/>
              </a:rPr>
              <a:t>Kalın bağırsak.</a:t>
            </a:r>
            <a:endParaRPr lang="en-US" sz="1400" dirty="0"/>
          </a:p>
        </p:txBody>
      </p:sp>
      <p:sp>
        <p:nvSpPr>
          <p:cNvPr id="8" name="Shape 6"/>
          <p:cNvSpPr/>
          <p:nvPr/>
        </p:nvSpPr>
        <p:spPr>
          <a:xfrm>
            <a:off x="548640" y="2078431"/>
            <a:ext cx="11094415" cy="421742"/>
          </a:xfrm>
          <a:prstGeom prst="roundRect">
            <a:avLst>
              <a:gd name="adj" fmla="val 15177"/>
            </a:avLst>
          </a:prstGeom>
          <a:solidFill>
            <a:srgbClr val="EAF5EE"/>
          </a:solidFill>
          <a:ln/>
        </p:spPr>
      </p:sp>
      <p:sp>
        <p:nvSpPr>
          <p:cNvPr id="9" name="Text 7"/>
          <p:cNvSpPr txBox="1"/>
          <p:nvPr/>
        </p:nvSpPr>
        <p:spPr>
          <a:xfrm>
            <a:off x="704088" y="2151583"/>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caecum (L) (sekum): </a:t>
            </a:r>
            <a:r>
              <a:rPr lang="en-US" sz="1400" dirty="0">
                <a:solidFill>
                  <a:srgbClr val="1F2937"/>
                </a:solidFill>
                <a:latin typeface="Calibri" pitchFamily="34" charset="0"/>
                <a:ea typeface="Calibri" pitchFamily="34" charset="-122"/>
                <a:cs typeface="Calibri" pitchFamily="34" charset="-120"/>
              </a:rPr>
              <a:t>Kör bağırsak, sindirim borusundan genişlemiş ikinci parçası</a:t>
            </a:r>
            <a:endParaRPr lang="en-US" sz="1400" dirty="0"/>
          </a:p>
        </p:txBody>
      </p:sp>
      <p:sp>
        <p:nvSpPr>
          <p:cNvPr id="10" name="Shape 8"/>
          <p:cNvSpPr/>
          <p:nvPr/>
        </p:nvSpPr>
        <p:spPr>
          <a:xfrm>
            <a:off x="548640" y="2591613"/>
            <a:ext cx="11094415" cy="421742"/>
          </a:xfrm>
          <a:prstGeom prst="roundRect">
            <a:avLst>
              <a:gd name="adj" fmla="val 15177"/>
            </a:avLst>
          </a:prstGeom>
          <a:solidFill>
            <a:srgbClr val="EAF5EE"/>
          </a:solidFill>
          <a:ln/>
        </p:spPr>
      </p:sp>
      <p:sp>
        <p:nvSpPr>
          <p:cNvPr id="11" name="Text 9"/>
          <p:cNvSpPr txBox="1"/>
          <p:nvPr/>
        </p:nvSpPr>
        <p:spPr>
          <a:xfrm>
            <a:off x="704088" y="2664765"/>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appendix vermiformis (L) (apendiks vermiformis): </a:t>
            </a:r>
            <a:r>
              <a:rPr lang="en-US" sz="1400" dirty="0">
                <a:solidFill>
                  <a:srgbClr val="1F2937"/>
                </a:solidFill>
                <a:latin typeface="Calibri" pitchFamily="34" charset="0"/>
                <a:ea typeface="Calibri" pitchFamily="34" charset="-122"/>
                <a:cs typeface="Calibri" pitchFamily="34" charset="-120"/>
              </a:rPr>
              <a:t>Kör bağırsak üzerindeki parmaksı uzantı.</a:t>
            </a:r>
            <a:endParaRPr lang="en-US" sz="1400" dirty="0"/>
          </a:p>
        </p:txBody>
      </p:sp>
      <p:sp>
        <p:nvSpPr>
          <p:cNvPr id="12" name="Shape 10"/>
          <p:cNvSpPr/>
          <p:nvPr/>
        </p:nvSpPr>
        <p:spPr>
          <a:xfrm>
            <a:off x="548640" y="3104794"/>
            <a:ext cx="11094415" cy="421742"/>
          </a:xfrm>
          <a:prstGeom prst="roundRect">
            <a:avLst>
              <a:gd name="adj" fmla="val 15177"/>
            </a:avLst>
          </a:prstGeom>
          <a:solidFill>
            <a:srgbClr val="EAF5EE"/>
          </a:solidFill>
          <a:ln/>
        </p:spPr>
      </p:sp>
      <p:sp>
        <p:nvSpPr>
          <p:cNvPr id="13" name="Text 11"/>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colon (L) (kolon): </a:t>
            </a:r>
            <a:r>
              <a:rPr lang="en-US" sz="1400" dirty="0">
                <a:solidFill>
                  <a:srgbClr val="1F2937"/>
                </a:solidFill>
                <a:latin typeface="Calibri" pitchFamily="34" charset="0"/>
                <a:ea typeface="Calibri" pitchFamily="34" charset="-122"/>
                <a:cs typeface="Calibri" pitchFamily="34" charset="-120"/>
              </a:rPr>
              <a:t>Kalın bağırsağın sekum ile rektum arasında kalan, ince bağırsağa göre daha çaplı olan bölümü</a:t>
            </a:r>
            <a:endParaRPr lang="en-US" sz="1400" dirty="0"/>
          </a:p>
        </p:txBody>
      </p:sp>
      <p:sp>
        <p:nvSpPr>
          <p:cNvPr id="14" name="Shape 12"/>
          <p:cNvSpPr/>
          <p:nvPr/>
        </p:nvSpPr>
        <p:spPr>
          <a:xfrm>
            <a:off x="548640" y="3617976"/>
            <a:ext cx="11094415" cy="421742"/>
          </a:xfrm>
          <a:prstGeom prst="roundRect">
            <a:avLst>
              <a:gd name="adj" fmla="val 15177"/>
            </a:avLst>
          </a:prstGeom>
          <a:solidFill>
            <a:srgbClr val="EAF5EE"/>
          </a:solidFill>
          <a:ln/>
        </p:spPr>
      </p:sp>
      <p:sp>
        <p:nvSpPr>
          <p:cNvPr id="15" name="Text 13"/>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rectum (L) (rektum), proctos (G) (proktos): </a:t>
            </a:r>
            <a:r>
              <a:rPr lang="en-US" sz="1400" dirty="0">
                <a:solidFill>
                  <a:srgbClr val="1F2937"/>
                </a:solidFill>
                <a:latin typeface="Calibri" pitchFamily="34" charset="0"/>
                <a:ea typeface="Calibri" pitchFamily="34" charset="-122"/>
                <a:cs typeface="Calibri" pitchFamily="34" charset="-120"/>
              </a:rPr>
              <a:t>Düz bağırsak, kalın bağırsağın son parçası, pelvis boşluğunda bulunur.</a:t>
            </a:r>
            <a:endParaRPr lang="en-US" sz="1400" dirty="0"/>
          </a:p>
        </p:txBody>
      </p:sp>
      <p:sp>
        <p:nvSpPr>
          <p:cNvPr id="16" name="Shape 14"/>
          <p:cNvSpPr/>
          <p:nvPr/>
        </p:nvSpPr>
        <p:spPr>
          <a:xfrm>
            <a:off x="548640" y="4131158"/>
            <a:ext cx="11094415" cy="638658"/>
          </a:xfrm>
          <a:prstGeom prst="roundRect">
            <a:avLst>
              <a:gd name="adj" fmla="val 10022"/>
            </a:avLst>
          </a:prstGeom>
          <a:solidFill>
            <a:srgbClr val="EAF5EE"/>
          </a:solidFill>
          <a:ln/>
        </p:spPr>
      </p:sp>
      <p:sp>
        <p:nvSpPr>
          <p:cNvPr id="17" name="Text 15"/>
          <p:cNvSpPr txBox="1"/>
          <p:nvPr/>
        </p:nvSpPr>
        <p:spPr>
          <a:xfrm>
            <a:off x="704088" y="4204310"/>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canalis analis (L) (kanalis analis): </a:t>
            </a:r>
            <a:r>
              <a:rPr lang="en-US" sz="1400" dirty="0">
                <a:solidFill>
                  <a:srgbClr val="1F2937"/>
                </a:solidFill>
                <a:latin typeface="Calibri" pitchFamily="34" charset="0"/>
                <a:ea typeface="Calibri" pitchFamily="34" charset="-122"/>
                <a:cs typeface="Calibri" pitchFamily="34" charset="-120"/>
              </a:rPr>
              <a:t>Anal kanal. Rektumla anüs arasındaki küçük kanal. Bu bölgede bağ doku içinde ven pleksusları çoktur</a:t>
            </a:r>
            <a:endParaRPr lang="en-US" sz="1400" dirty="0"/>
          </a:p>
        </p:txBody>
      </p:sp>
      <p:sp>
        <p:nvSpPr>
          <p:cNvPr id="18" name="Shape 16"/>
          <p:cNvSpPr/>
          <p:nvPr/>
        </p:nvSpPr>
        <p:spPr>
          <a:xfrm>
            <a:off x="548640" y="4861255"/>
            <a:ext cx="11094415" cy="421742"/>
          </a:xfrm>
          <a:prstGeom prst="roundRect">
            <a:avLst>
              <a:gd name="adj" fmla="val 15177"/>
            </a:avLst>
          </a:prstGeom>
          <a:solidFill>
            <a:srgbClr val="EAF5EE"/>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anus (L): </a:t>
            </a:r>
            <a:r>
              <a:rPr lang="en-US" sz="1400" dirty="0">
                <a:solidFill>
                  <a:srgbClr val="1F2937"/>
                </a:solidFill>
                <a:latin typeface="Calibri" pitchFamily="34" charset="0"/>
                <a:ea typeface="Calibri" pitchFamily="34" charset="-122"/>
                <a:cs typeface="Calibri" pitchFamily="34" charset="-120"/>
              </a:rPr>
              <a:t>Sindirim borusunun  en altta dışa açıldığı delik.</a:t>
            </a:r>
            <a:endParaRPr lang="en-US" sz="1400" dirty="0"/>
          </a:p>
        </p:txBody>
      </p:sp>
      <p:sp>
        <p:nvSpPr>
          <p:cNvPr id="20" name="Shape 18"/>
          <p:cNvSpPr/>
          <p:nvPr/>
        </p:nvSpPr>
        <p:spPr>
          <a:xfrm>
            <a:off x="548640" y="5374437"/>
            <a:ext cx="11094415" cy="421742"/>
          </a:xfrm>
          <a:prstGeom prst="roundRect">
            <a:avLst>
              <a:gd name="adj" fmla="val 15177"/>
            </a:avLst>
          </a:prstGeom>
          <a:solidFill>
            <a:srgbClr val="EAF5EE"/>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mesenterium (L) (mezenteryum): </a:t>
            </a:r>
            <a:r>
              <a:rPr lang="en-US" sz="1400" dirty="0">
                <a:solidFill>
                  <a:srgbClr val="1F2937"/>
                </a:solidFill>
                <a:latin typeface="Calibri" pitchFamily="34" charset="0"/>
                <a:ea typeface="Calibri" pitchFamily="34" charset="-122"/>
                <a:cs typeface="Calibri" pitchFamily="34" charset="-120"/>
              </a:rPr>
              <a:t>Bağırsakları karnın arka duvarına bağlayan askı, bağırsak askısı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EAF5EE"/>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peritoneum (G) (periton): </a:t>
            </a:r>
            <a:r>
              <a:rPr lang="en-US" sz="1400" dirty="0">
                <a:solidFill>
                  <a:srgbClr val="1F2937"/>
                </a:solidFill>
                <a:latin typeface="Calibri" pitchFamily="34" charset="0"/>
                <a:ea typeface="Calibri" pitchFamily="34" charset="-122"/>
                <a:cs typeface="Calibri" pitchFamily="34" charset="-120"/>
              </a:rPr>
              <a:t>Karın zarı</a:t>
            </a:r>
            <a:endParaRPr lang="en-US" sz="14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AF5EE"/>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Büyük Sindirim Bezleri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224</a:t>
            </a:r>
            <a:endParaRPr lang="en-US" sz="1000" dirty="0"/>
          </a:p>
        </p:txBody>
      </p:sp>
      <p:sp>
        <p:nvSpPr>
          <p:cNvPr id="6" name="Shape 4"/>
          <p:cNvSpPr/>
          <p:nvPr/>
        </p:nvSpPr>
        <p:spPr>
          <a:xfrm>
            <a:off x="548640" y="1978914"/>
            <a:ext cx="5410048" cy="684276"/>
          </a:xfrm>
          <a:prstGeom prst="roundRect">
            <a:avLst>
              <a:gd name="adj" fmla="val 9354"/>
            </a:avLst>
          </a:prstGeom>
          <a:solidFill>
            <a:srgbClr val="EAF5EE"/>
          </a:solidFill>
          <a:ln/>
        </p:spPr>
      </p:sp>
      <p:sp>
        <p:nvSpPr>
          <p:cNvPr id="7" name="Text 5"/>
          <p:cNvSpPr txBox="1"/>
          <p:nvPr/>
        </p:nvSpPr>
        <p:spPr>
          <a:xfrm>
            <a:off x="704088" y="205206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hepar (G): </a:t>
            </a:r>
            <a:r>
              <a:rPr lang="en-US" sz="1500" dirty="0">
                <a:solidFill>
                  <a:srgbClr val="1F2937"/>
                </a:solidFill>
                <a:latin typeface="Calibri" pitchFamily="34" charset="0"/>
                <a:ea typeface="Calibri" pitchFamily="34" charset="-122"/>
                <a:cs typeface="Calibri" pitchFamily="34" charset="-120"/>
              </a:rPr>
              <a:t>Karaciğer. Vücudun en büyük bezidir. Karın boşluğunda diyafram altında sağ ve üst tarafta bulunur.</a:t>
            </a:r>
            <a:endParaRPr lang="en-US" sz="1500" dirty="0"/>
          </a:p>
        </p:txBody>
      </p:sp>
      <p:sp>
        <p:nvSpPr>
          <p:cNvPr id="8" name="Shape 6"/>
          <p:cNvSpPr/>
          <p:nvPr/>
        </p:nvSpPr>
        <p:spPr>
          <a:xfrm>
            <a:off x="548640" y="2754630"/>
            <a:ext cx="5410048" cy="451866"/>
          </a:xfrm>
          <a:prstGeom prst="roundRect">
            <a:avLst>
              <a:gd name="adj" fmla="val 14165"/>
            </a:avLst>
          </a:prstGeom>
          <a:solidFill>
            <a:srgbClr val="EAF5EE"/>
          </a:solidFill>
          <a:ln/>
        </p:spPr>
      </p:sp>
      <p:sp>
        <p:nvSpPr>
          <p:cNvPr id="9" name="Text 7"/>
          <p:cNvSpPr txBox="1"/>
          <p:nvPr/>
        </p:nvSpPr>
        <p:spPr>
          <a:xfrm>
            <a:off x="704088" y="282778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hepatocytus (G) (hepatosit): </a:t>
            </a:r>
            <a:r>
              <a:rPr lang="en-US" sz="1500" dirty="0">
                <a:solidFill>
                  <a:srgbClr val="1F2937"/>
                </a:solidFill>
                <a:latin typeface="Calibri" pitchFamily="34" charset="0"/>
                <a:ea typeface="Calibri" pitchFamily="34" charset="-122"/>
                <a:cs typeface="Calibri" pitchFamily="34" charset="-120"/>
              </a:rPr>
              <a:t>Karaciğer hücresi</a:t>
            </a:r>
            <a:endParaRPr lang="en-US" sz="1500" dirty="0"/>
          </a:p>
        </p:txBody>
      </p:sp>
      <p:sp>
        <p:nvSpPr>
          <p:cNvPr id="10" name="Shape 8"/>
          <p:cNvSpPr/>
          <p:nvPr/>
        </p:nvSpPr>
        <p:spPr>
          <a:xfrm>
            <a:off x="548640" y="3297936"/>
            <a:ext cx="5410048" cy="451866"/>
          </a:xfrm>
          <a:prstGeom prst="roundRect">
            <a:avLst>
              <a:gd name="adj" fmla="val 14165"/>
            </a:avLst>
          </a:prstGeom>
          <a:solidFill>
            <a:srgbClr val="EAF5EE"/>
          </a:solidFill>
          <a:ln/>
        </p:spPr>
      </p:sp>
      <p:sp>
        <p:nvSpPr>
          <p:cNvPr id="11" name="Text 9"/>
          <p:cNvSpPr txBox="1"/>
          <p:nvPr/>
        </p:nvSpPr>
        <p:spPr>
          <a:xfrm>
            <a:off x="704088" y="337108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stroma (G): </a:t>
            </a:r>
            <a:r>
              <a:rPr lang="en-US" sz="1500" dirty="0">
                <a:solidFill>
                  <a:srgbClr val="1F2937"/>
                </a:solidFill>
                <a:latin typeface="Calibri" pitchFamily="34" charset="0"/>
                <a:ea typeface="Calibri" pitchFamily="34" charset="-122"/>
                <a:cs typeface="Calibri" pitchFamily="34" charset="-120"/>
              </a:rPr>
              <a:t>Karaciğer lobları arasındaki bağ doku</a:t>
            </a:r>
            <a:endParaRPr lang="en-US" sz="1500" dirty="0"/>
          </a:p>
        </p:txBody>
      </p:sp>
      <p:sp>
        <p:nvSpPr>
          <p:cNvPr id="12" name="Shape 10"/>
          <p:cNvSpPr/>
          <p:nvPr/>
        </p:nvSpPr>
        <p:spPr>
          <a:xfrm>
            <a:off x="548640" y="3841242"/>
            <a:ext cx="5410048" cy="684276"/>
          </a:xfrm>
          <a:prstGeom prst="roundRect">
            <a:avLst>
              <a:gd name="adj" fmla="val 9354"/>
            </a:avLst>
          </a:prstGeom>
          <a:solidFill>
            <a:srgbClr val="EAF5EE"/>
          </a:solidFill>
          <a:ln/>
        </p:spPr>
      </p:sp>
      <p:sp>
        <p:nvSpPr>
          <p:cNvPr id="13" name="Text 11"/>
          <p:cNvSpPr txBox="1"/>
          <p:nvPr/>
        </p:nvSpPr>
        <p:spPr>
          <a:xfrm>
            <a:off x="704088" y="39143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parenchyma (G) (parenkima): </a:t>
            </a:r>
            <a:r>
              <a:rPr lang="en-US" sz="1500" dirty="0">
                <a:solidFill>
                  <a:srgbClr val="1F2937"/>
                </a:solidFill>
                <a:latin typeface="Calibri" pitchFamily="34" charset="0"/>
                <a:ea typeface="Calibri" pitchFamily="34" charset="-122"/>
                <a:cs typeface="Calibri" pitchFamily="34" charset="-120"/>
              </a:rPr>
              <a:t>Karaciğerin hepatositlerden yapılmış işlevsel kısmı</a:t>
            </a:r>
            <a:endParaRPr lang="en-US" sz="1500" dirty="0"/>
          </a:p>
        </p:txBody>
      </p:sp>
      <p:sp>
        <p:nvSpPr>
          <p:cNvPr id="14" name="Shape 12"/>
          <p:cNvSpPr/>
          <p:nvPr/>
        </p:nvSpPr>
        <p:spPr>
          <a:xfrm>
            <a:off x="548640" y="4616958"/>
            <a:ext cx="5410048" cy="916686"/>
          </a:xfrm>
          <a:prstGeom prst="roundRect">
            <a:avLst>
              <a:gd name="adj" fmla="val 6983"/>
            </a:avLst>
          </a:prstGeom>
          <a:solidFill>
            <a:srgbClr val="EAF5EE"/>
          </a:solidFill>
          <a:ln/>
        </p:spPr>
      </p:sp>
      <p:sp>
        <p:nvSpPr>
          <p:cNvPr id="15" name="Text 13"/>
          <p:cNvSpPr txBox="1"/>
          <p:nvPr/>
        </p:nvSpPr>
        <p:spPr>
          <a:xfrm>
            <a:off x="704088" y="469011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ductus (L) hepaticus (G) communis (L)(ductus hepaticus kommunis): </a:t>
            </a:r>
            <a:r>
              <a:rPr lang="en-US" sz="1500" dirty="0">
                <a:solidFill>
                  <a:srgbClr val="1F2937"/>
                </a:solidFill>
                <a:latin typeface="Calibri" pitchFamily="34" charset="0"/>
                <a:ea typeface="Calibri" pitchFamily="34" charset="-122"/>
                <a:cs typeface="Calibri" pitchFamily="34" charset="-120"/>
              </a:rPr>
              <a:t>Karaciğerden dışarıya çıkan ana safra kanalı.</a:t>
            </a:r>
            <a:endParaRPr lang="en-US" sz="1500" dirty="0"/>
          </a:p>
        </p:txBody>
      </p:sp>
      <p:sp>
        <p:nvSpPr>
          <p:cNvPr id="16" name="Shape 14"/>
          <p:cNvSpPr/>
          <p:nvPr/>
        </p:nvSpPr>
        <p:spPr>
          <a:xfrm>
            <a:off x="548640" y="5625084"/>
            <a:ext cx="5410048" cy="684276"/>
          </a:xfrm>
          <a:prstGeom prst="roundRect">
            <a:avLst>
              <a:gd name="adj" fmla="val 9354"/>
            </a:avLst>
          </a:prstGeom>
          <a:solidFill>
            <a:srgbClr val="EAF5EE"/>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vesica fellea, vesica biliaris (L) (vezika fella, vezika bilyaris): </a:t>
            </a:r>
            <a:r>
              <a:rPr lang="en-US" sz="1500" dirty="0">
                <a:solidFill>
                  <a:srgbClr val="1F2937"/>
                </a:solidFill>
                <a:latin typeface="Calibri" pitchFamily="34" charset="0"/>
                <a:ea typeface="Calibri" pitchFamily="34" charset="-122"/>
                <a:cs typeface="Calibri" pitchFamily="34" charset="-120"/>
              </a:rPr>
              <a:t>Safra kesesi</a:t>
            </a:r>
            <a:endParaRPr lang="en-US" sz="1500" dirty="0"/>
          </a:p>
        </p:txBody>
      </p:sp>
      <p:sp>
        <p:nvSpPr>
          <p:cNvPr id="18" name="Shape 16"/>
          <p:cNvSpPr/>
          <p:nvPr/>
        </p:nvSpPr>
        <p:spPr>
          <a:xfrm>
            <a:off x="6233008" y="1978914"/>
            <a:ext cx="5410048" cy="451866"/>
          </a:xfrm>
          <a:prstGeom prst="roundRect">
            <a:avLst>
              <a:gd name="adj" fmla="val 14165"/>
            </a:avLst>
          </a:prstGeom>
          <a:solidFill>
            <a:srgbClr val="EAF5EE"/>
          </a:solidFill>
          <a:ln/>
        </p:spPr>
      </p:sp>
      <p:sp>
        <p:nvSpPr>
          <p:cNvPr id="19" name="Text 17"/>
          <p:cNvSpPr txBox="1"/>
          <p:nvPr/>
        </p:nvSpPr>
        <p:spPr>
          <a:xfrm>
            <a:off x="6388456" y="205206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cholecyst (G) (kolesist): </a:t>
            </a:r>
            <a:r>
              <a:rPr lang="en-US" sz="1500" dirty="0">
                <a:solidFill>
                  <a:srgbClr val="1F2937"/>
                </a:solidFill>
                <a:latin typeface="Calibri" pitchFamily="34" charset="0"/>
                <a:ea typeface="Calibri" pitchFamily="34" charset="-122"/>
                <a:cs typeface="Calibri" pitchFamily="34" charset="-120"/>
              </a:rPr>
              <a:t>Safra kesesi</a:t>
            </a:r>
            <a:endParaRPr lang="en-US" sz="1500" dirty="0"/>
          </a:p>
        </p:txBody>
      </p:sp>
      <p:sp>
        <p:nvSpPr>
          <p:cNvPr id="20" name="Shape 18"/>
          <p:cNvSpPr/>
          <p:nvPr/>
        </p:nvSpPr>
        <p:spPr>
          <a:xfrm>
            <a:off x="6233008" y="2522220"/>
            <a:ext cx="5410048" cy="916686"/>
          </a:xfrm>
          <a:prstGeom prst="roundRect">
            <a:avLst>
              <a:gd name="adj" fmla="val 6983"/>
            </a:avLst>
          </a:prstGeom>
          <a:solidFill>
            <a:srgbClr val="EAF5EE"/>
          </a:solidFill>
          <a:ln/>
        </p:spPr>
      </p:sp>
      <p:sp>
        <p:nvSpPr>
          <p:cNvPr id="21" name="Text 19"/>
          <p:cNvSpPr txBox="1"/>
          <p:nvPr/>
        </p:nvSpPr>
        <p:spPr>
          <a:xfrm>
            <a:off x="6388456" y="259537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ductus (L) cysticus (G) (duktus sistikus): </a:t>
            </a:r>
            <a:r>
              <a:rPr lang="en-US" sz="1500" dirty="0">
                <a:solidFill>
                  <a:srgbClr val="1F2937"/>
                </a:solidFill>
                <a:latin typeface="Calibri" pitchFamily="34" charset="0"/>
                <a:ea typeface="Calibri" pitchFamily="34" charset="-122"/>
                <a:cs typeface="Calibri" pitchFamily="34" charset="-120"/>
              </a:rPr>
              <a:t>Safra kesesinden çıkan ve duktus hepatikus kommunisle birleşen safra kanalı</a:t>
            </a:r>
            <a:endParaRPr lang="en-US" sz="1500" dirty="0"/>
          </a:p>
        </p:txBody>
      </p:sp>
      <p:sp>
        <p:nvSpPr>
          <p:cNvPr id="22" name="Shape 20"/>
          <p:cNvSpPr/>
          <p:nvPr/>
        </p:nvSpPr>
        <p:spPr>
          <a:xfrm>
            <a:off x="6233008" y="3530346"/>
            <a:ext cx="5410048" cy="684276"/>
          </a:xfrm>
          <a:prstGeom prst="roundRect">
            <a:avLst>
              <a:gd name="adj" fmla="val 9354"/>
            </a:avLst>
          </a:prstGeom>
          <a:solidFill>
            <a:srgbClr val="EAF5EE"/>
          </a:solidFill>
          <a:ln/>
        </p:spPr>
      </p:sp>
      <p:sp>
        <p:nvSpPr>
          <p:cNvPr id="23" name="Text 21"/>
          <p:cNvSpPr txBox="1"/>
          <p:nvPr/>
        </p:nvSpPr>
        <p:spPr>
          <a:xfrm>
            <a:off x="6388456"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ductus (L) choledochus (G) (duktus koledokus): </a:t>
            </a:r>
            <a:r>
              <a:rPr lang="en-US" sz="1500" dirty="0">
                <a:solidFill>
                  <a:srgbClr val="1F2937"/>
                </a:solidFill>
                <a:latin typeface="Calibri" pitchFamily="34" charset="0"/>
                <a:ea typeface="Calibri" pitchFamily="34" charset="-122"/>
                <a:cs typeface="Calibri" pitchFamily="34" charset="-120"/>
              </a:rPr>
              <a:t>Koledok kanalı, Safrayı duodenuma akıtan büyük safra kanalı</a:t>
            </a:r>
            <a:endParaRPr lang="en-US" sz="1500" dirty="0"/>
          </a:p>
        </p:txBody>
      </p:sp>
      <p:sp>
        <p:nvSpPr>
          <p:cNvPr id="24" name="Shape 22"/>
          <p:cNvSpPr/>
          <p:nvPr/>
        </p:nvSpPr>
        <p:spPr>
          <a:xfrm>
            <a:off x="6233008" y="4306062"/>
            <a:ext cx="5410048" cy="684276"/>
          </a:xfrm>
          <a:prstGeom prst="roundRect">
            <a:avLst>
              <a:gd name="adj" fmla="val 9354"/>
            </a:avLst>
          </a:prstGeom>
          <a:solidFill>
            <a:srgbClr val="EAF5EE"/>
          </a:solidFill>
          <a:ln/>
        </p:spPr>
      </p:sp>
      <p:sp>
        <p:nvSpPr>
          <p:cNvPr id="25" name="Text 23"/>
          <p:cNvSpPr txBox="1"/>
          <p:nvPr/>
        </p:nvSpPr>
        <p:spPr>
          <a:xfrm>
            <a:off x="6388456"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pancreas (G) (pankreas): </a:t>
            </a:r>
            <a:r>
              <a:rPr lang="en-US" sz="1500" dirty="0">
                <a:solidFill>
                  <a:srgbClr val="1F2937"/>
                </a:solidFill>
                <a:latin typeface="Calibri" pitchFamily="34" charset="0"/>
                <a:ea typeface="Calibri" pitchFamily="34" charset="-122"/>
                <a:cs typeface="Calibri" pitchFamily="34" charset="-120"/>
              </a:rPr>
              <a:t>Karın boşluğunda yatay olarak uzanan dış ve iç salgı bezi</a:t>
            </a:r>
            <a:endParaRPr lang="en-US" sz="1500" dirty="0"/>
          </a:p>
        </p:txBody>
      </p:sp>
      <p:sp>
        <p:nvSpPr>
          <p:cNvPr id="26" name="Shape 24"/>
          <p:cNvSpPr/>
          <p:nvPr/>
        </p:nvSpPr>
        <p:spPr>
          <a:xfrm>
            <a:off x="6233008" y="5081778"/>
            <a:ext cx="5410048" cy="916686"/>
          </a:xfrm>
          <a:prstGeom prst="roundRect">
            <a:avLst>
              <a:gd name="adj" fmla="val 6983"/>
            </a:avLst>
          </a:prstGeom>
          <a:solidFill>
            <a:srgbClr val="EAF5EE"/>
          </a:solidFill>
          <a:ln/>
        </p:spPr>
      </p:sp>
      <p:sp>
        <p:nvSpPr>
          <p:cNvPr id="27" name="Text 25"/>
          <p:cNvSpPr txBox="1"/>
          <p:nvPr/>
        </p:nvSpPr>
        <p:spPr>
          <a:xfrm>
            <a:off x="6388456" y="515493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ductus (L) pancreaticus (G) (duktus pankreatikus): </a:t>
            </a:r>
            <a:r>
              <a:rPr lang="en-US" sz="1500" dirty="0">
                <a:solidFill>
                  <a:srgbClr val="1F2937"/>
                </a:solidFill>
                <a:latin typeface="Calibri" pitchFamily="34" charset="0"/>
                <a:ea typeface="Calibri" pitchFamily="34" charset="-122"/>
                <a:cs typeface="Calibri" pitchFamily="34" charset="-120"/>
              </a:rPr>
              <a:t>Pankreas kanalı. Pankreasın dış salgısını duodenuma akıtan kanal, wirsung kanalı</a:t>
            </a:r>
            <a:endParaRPr lang="en-US" sz="15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AF5EE"/>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225</a:t>
            </a:r>
            <a:endParaRPr lang="en-US" sz="1000" dirty="0"/>
          </a:p>
        </p:txBody>
      </p:sp>
      <p:sp>
        <p:nvSpPr>
          <p:cNvPr id="6" name="Shape 4"/>
          <p:cNvSpPr/>
          <p:nvPr/>
        </p:nvSpPr>
        <p:spPr>
          <a:xfrm>
            <a:off x="548640" y="1821942"/>
            <a:ext cx="5410048" cy="451866"/>
          </a:xfrm>
          <a:prstGeom prst="roundRect">
            <a:avLst>
              <a:gd name="adj" fmla="val 14165"/>
            </a:avLst>
          </a:prstGeom>
          <a:solidFill>
            <a:srgbClr val="EAF5EE"/>
          </a:solidFill>
          <a:ln/>
        </p:spPr>
      </p:sp>
      <p:sp>
        <p:nvSpPr>
          <p:cNvPr id="7" name="Text 5"/>
          <p:cNvSpPr txBox="1"/>
          <p:nvPr/>
        </p:nvSpPr>
        <p:spPr>
          <a:xfrm>
            <a:off x="704088" y="189509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aperative (aperatif): </a:t>
            </a:r>
            <a:r>
              <a:rPr lang="en-US" sz="1500" dirty="0">
                <a:solidFill>
                  <a:srgbClr val="1F2937"/>
                </a:solidFill>
                <a:latin typeface="Calibri" pitchFamily="34" charset="0"/>
                <a:ea typeface="Calibri" pitchFamily="34" charset="-122"/>
                <a:cs typeface="Calibri" pitchFamily="34" charset="-120"/>
              </a:rPr>
              <a:t>İştah açıcı</a:t>
            </a:r>
            <a:endParaRPr lang="en-US" sz="1500" dirty="0"/>
          </a:p>
        </p:txBody>
      </p:sp>
      <p:sp>
        <p:nvSpPr>
          <p:cNvPr id="8" name="Shape 6"/>
          <p:cNvSpPr/>
          <p:nvPr/>
        </p:nvSpPr>
        <p:spPr>
          <a:xfrm>
            <a:off x="548640" y="2365248"/>
            <a:ext cx="5410048" cy="451866"/>
          </a:xfrm>
          <a:prstGeom prst="roundRect">
            <a:avLst>
              <a:gd name="adj" fmla="val 14165"/>
            </a:avLst>
          </a:prstGeom>
          <a:solidFill>
            <a:srgbClr val="EAF5EE"/>
          </a:solidFill>
          <a:ln/>
        </p:spPr>
      </p:sp>
      <p:sp>
        <p:nvSpPr>
          <p:cNvPr id="9" name="Text 7"/>
          <p:cNvSpPr txBox="1"/>
          <p:nvPr/>
        </p:nvSpPr>
        <p:spPr>
          <a:xfrm>
            <a:off x="704088" y="243840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obesity (L) (obezite): </a:t>
            </a:r>
            <a:r>
              <a:rPr lang="en-US" sz="1500" dirty="0">
                <a:solidFill>
                  <a:srgbClr val="1F2937"/>
                </a:solidFill>
                <a:latin typeface="Calibri" pitchFamily="34" charset="0"/>
                <a:ea typeface="Calibri" pitchFamily="34" charset="-122"/>
                <a:cs typeface="Calibri" pitchFamily="34" charset="-120"/>
              </a:rPr>
              <a:t>Vücutta aşırı yağ toplanması</a:t>
            </a:r>
            <a:endParaRPr lang="en-US" sz="1500" dirty="0"/>
          </a:p>
        </p:txBody>
      </p:sp>
      <p:sp>
        <p:nvSpPr>
          <p:cNvPr id="10" name="Shape 8"/>
          <p:cNvSpPr/>
          <p:nvPr/>
        </p:nvSpPr>
        <p:spPr>
          <a:xfrm>
            <a:off x="548640" y="2908554"/>
            <a:ext cx="5410048" cy="451866"/>
          </a:xfrm>
          <a:prstGeom prst="roundRect">
            <a:avLst>
              <a:gd name="adj" fmla="val 14165"/>
            </a:avLst>
          </a:prstGeom>
          <a:solidFill>
            <a:srgbClr val="EAF5EE"/>
          </a:solidFill>
          <a:ln/>
        </p:spPr>
      </p:sp>
      <p:sp>
        <p:nvSpPr>
          <p:cNvPr id="11" name="Text 9"/>
          <p:cNvSpPr txBox="1"/>
          <p:nvPr/>
        </p:nvSpPr>
        <p:spPr>
          <a:xfrm>
            <a:off x="704088" y="29817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anorexia (G) (anoreksiya): </a:t>
            </a:r>
            <a:r>
              <a:rPr lang="en-US" sz="1500" dirty="0">
                <a:solidFill>
                  <a:srgbClr val="1F2937"/>
                </a:solidFill>
                <a:latin typeface="Calibri" pitchFamily="34" charset="0"/>
                <a:ea typeface="Calibri" pitchFamily="34" charset="-122"/>
                <a:cs typeface="Calibri" pitchFamily="34" charset="-120"/>
              </a:rPr>
              <a:t>İştah kaybı. Yiyememe durumu</a:t>
            </a:r>
            <a:endParaRPr lang="en-US" sz="1500" dirty="0"/>
          </a:p>
        </p:txBody>
      </p:sp>
      <p:sp>
        <p:nvSpPr>
          <p:cNvPr id="12" name="Shape 10"/>
          <p:cNvSpPr/>
          <p:nvPr/>
        </p:nvSpPr>
        <p:spPr>
          <a:xfrm>
            <a:off x="548640" y="3451860"/>
            <a:ext cx="5410048" cy="451866"/>
          </a:xfrm>
          <a:prstGeom prst="roundRect">
            <a:avLst>
              <a:gd name="adj" fmla="val 14165"/>
            </a:avLst>
          </a:prstGeom>
          <a:solidFill>
            <a:srgbClr val="EAF5EE"/>
          </a:solidFill>
          <a:ln/>
        </p:spPr>
      </p:sp>
      <p:sp>
        <p:nvSpPr>
          <p:cNvPr id="13" name="Text 11"/>
          <p:cNvSpPr txBox="1"/>
          <p:nvPr/>
        </p:nvSpPr>
        <p:spPr>
          <a:xfrm>
            <a:off x="704088"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aphagia (afaji): </a:t>
            </a:r>
            <a:r>
              <a:rPr lang="en-US" sz="1500" dirty="0">
                <a:solidFill>
                  <a:srgbClr val="1F2937"/>
                </a:solidFill>
                <a:latin typeface="Calibri" pitchFamily="34" charset="0"/>
                <a:ea typeface="Calibri" pitchFamily="34" charset="-122"/>
                <a:cs typeface="Calibri" pitchFamily="34" charset="-120"/>
              </a:rPr>
              <a:t>Yutamama, yutma refleksinin kaybolması</a:t>
            </a:r>
            <a:endParaRPr lang="en-US" sz="1500" dirty="0"/>
          </a:p>
        </p:txBody>
      </p:sp>
      <p:sp>
        <p:nvSpPr>
          <p:cNvPr id="14" name="Shape 12"/>
          <p:cNvSpPr/>
          <p:nvPr/>
        </p:nvSpPr>
        <p:spPr>
          <a:xfrm>
            <a:off x="548640" y="3995166"/>
            <a:ext cx="5410048" cy="451866"/>
          </a:xfrm>
          <a:prstGeom prst="roundRect">
            <a:avLst>
              <a:gd name="adj" fmla="val 14165"/>
            </a:avLst>
          </a:prstGeom>
          <a:solidFill>
            <a:srgbClr val="EAF5EE"/>
          </a:solidFill>
          <a:ln/>
        </p:spPr>
      </p:sp>
      <p:sp>
        <p:nvSpPr>
          <p:cNvPr id="15" name="Text 13"/>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polyphagia (G) (polifaji): </a:t>
            </a:r>
            <a:r>
              <a:rPr lang="en-US" sz="1500" dirty="0">
                <a:solidFill>
                  <a:srgbClr val="1F2937"/>
                </a:solidFill>
                <a:latin typeface="Calibri" pitchFamily="34" charset="0"/>
                <a:ea typeface="Calibri" pitchFamily="34" charset="-122"/>
                <a:cs typeface="Calibri" pitchFamily="34" charset="-120"/>
              </a:rPr>
              <a:t>Çok yeme</a:t>
            </a:r>
            <a:endParaRPr lang="en-US" sz="1500" dirty="0"/>
          </a:p>
        </p:txBody>
      </p:sp>
      <p:sp>
        <p:nvSpPr>
          <p:cNvPr id="16" name="Shape 14"/>
          <p:cNvSpPr/>
          <p:nvPr/>
        </p:nvSpPr>
        <p:spPr>
          <a:xfrm>
            <a:off x="548640" y="4538472"/>
            <a:ext cx="5410048" cy="451866"/>
          </a:xfrm>
          <a:prstGeom prst="roundRect">
            <a:avLst>
              <a:gd name="adj" fmla="val 14165"/>
            </a:avLst>
          </a:prstGeom>
          <a:solidFill>
            <a:srgbClr val="EAF5EE"/>
          </a:solidFill>
          <a:ln/>
        </p:spPr>
      </p:sp>
      <p:sp>
        <p:nvSpPr>
          <p:cNvPr id="17" name="Text 15"/>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polydipsia (G) (polidipsi): </a:t>
            </a:r>
            <a:r>
              <a:rPr lang="en-US" sz="1500" dirty="0">
                <a:solidFill>
                  <a:srgbClr val="1F2937"/>
                </a:solidFill>
                <a:latin typeface="Calibri" pitchFamily="34" charset="0"/>
                <a:ea typeface="Calibri" pitchFamily="34" charset="-122"/>
                <a:cs typeface="Calibri" pitchFamily="34" charset="-120"/>
              </a:rPr>
              <a:t>Çok su içme</a:t>
            </a:r>
            <a:endParaRPr lang="en-US" sz="1500" dirty="0"/>
          </a:p>
        </p:txBody>
      </p:sp>
      <p:sp>
        <p:nvSpPr>
          <p:cNvPr id="18" name="Shape 16"/>
          <p:cNvSpPr/>
          <p:nvPr/>
        </p:nvSpPr>
        <p:spPr>
          <a:xfrm>
            <a:off x="548640" y="5081778"/>
            <a:ext cx="5410048" cy="684276"/>
          </a:xfrm>
          <a:prstGeom prst="roundRect">
            <a:avLst>
              <a:gd name="adj" fmla="val 9354"/>
            </a:avLst>
          </a:prstGeom>
          <a:solidFill>
            <a:srgbClr val="EAF5EE"/>
          </a:solidFill>
          <a:ln/>
        </p:spPr>
      </p:sp>
      <p:sp>
        <p:nvSpPr>
          <p:cNvPr id="19" name="Text 17"/>
          <p:cNvSpPr txBox="1"/>
          <p:nvPr/>
        </p:nvSpPr>
        <p:spPr>
          <a:xfrm>
            <a:off x="704088"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meteorism (G) (meteorizm): </a:t>
            </a:r>
            <a:r>
              <a:rPr lang="en-US" sz="1500" dirty="0">
                <a:solidFill>
                  <a:srgbClr val="1F2937"/>
                </a:solidFill>
                <a:latin typeface="Calibri" pitchFamily="34" charset="0"/>
                <a:ea typeface="Calibri" pitchFamily="34" charset="-122"/>
                <a:cs typeface="Calibri" pitchFamily="34" charset="-120"/>
              </a:rPr>
              <a:t>Bağırsaklarda gaz birikimi sonucu karın gerilmesi, gaz nedeniyle karın şişliği</a:t>
            </a:r>
            <a:endParaRPr lang="en-US" sz="1500" dirty="0"/>
          </a:p>
        </p:txBody>
      </p:sp>
      <p:sp>
        <p:nvSpPr>
          <p:cNvPr id="20" name="Shape 18"/>
          <p:cNvSpPr/>
          <p:nvPr/>
        </p:nvSpPr>
        <p:spPr>
          <a:xfrm>
            <a:off x="548640" y="5857494"/>
            <a:ext cx="5410048" cy="451866"/>
          </a:xfrm>
          <a:prstGeom prst="roundRect">
            <a:avLst>
              <a:gd name="adj" fmla="val 14165"/>
            </a:avLst>
          </a:prstGeom>
          <a:solidFill>
            <a:srgbClr val="EAF5EE"/>
          </a:solidFill>
          <a:ln/>
        </p:spPr>
      </p:sp>
      <p:sp>
        <p:nvSpPr>
          <p:cNvPr id="21" name="Text 19"/>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dysphagia (G) (disfaji): </a:t>
            </a:r>
            <a:r>
              <a:rPr lang="en-US" sz="1500" dirty="0">
                <a:solidFill>
                  <a:srgbClr val="1F2937"/>
                </a:solidFill>
                <a:latin typeface="Calibri" pitchFamily="34" charset="0"/>
                <a:ea typeface="Calibri" pitchFamily="34" charset="-122"/>
                <a:cs typeface="Calibri" pitchFamily="34" charset="-120"/>
              </a:rPr>
              <a:t>Yutma güçlüğü</a:t>
            </a:r>
            <a:endParaRPr lang="en-US" sz="1500" dirty="0"/>
          </a:p>
        </p:txBody>
      </p:sp>
      <p:sp>
        <p:nvSpPr>
          <p:cNvPr id="22" name="Shape 20"/>
          <p:cNvSpPr/>
          <p:nvPr/>
        </p:nvSpPr>
        <p:spPr>
          <a:xfrm>
            <a:off x="6233008" y="1821942"/>
            <a:ext cx="5410048" cy="684276"/>
          </a:xfrm>
          <a:prstGeom prst="roundRect">
            <a:avLst>
              <a:gd name="adj" fmla="val 9354"/>
            </a:avLst>
          </a:prstGeom>
          <a:solidFill>
            <a:srgbClr val="EAF5EE"/>
          </a:solidFill>
          <a:ln/>
        </p:spPr>
      </p:sp>
      <p:sp>
        <p:nvSpPr>
          <p:cNvPr id="23" name="Text 21"/>
          <p:cNvSpPr txBox="1"/>
          <p:nvPr/>
        </p:nvSpPr>
        <p:spPr>
          <a:xfrm>
            <a:off x="6388456" y="18950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dyspepsia (G) (dispepsi): </a:t>
            </a:r>
            <a:r>
              <a:rPr lang="en-US" sz="1500" dirty="0">
                <a:solidFill>
                  <a:srgbClr val="1F2937"/>
                </a:solidFill>
                <a:latin typeface="Calibri" pitchFamily="34" charset="0"/>
                <a:ea typeface="Calibri" pitchFamily="34" charset="-122"/>
                <a:cs typeface="Calibri" pitchFamily="34" charset="-120"/>
              </a:rPr>
              <a:t>Sindirim bozukluğu, hazımsızlık</a:t>
            </a:r>
            <a:endParaRPr lang="en-US" sz="1500" dirty="0"/>
          </a:p>
        </p:txBody>
      </p:sp>
      <p:sp>
        <p:nvSpPr>
          <p:cNvPr id="24" name="Shape 22"/>
          <p:cNvSpPr/>
          <p:nvPr/>
        </p:nvSpPr>
        <p:spPr>
          <a:xfrm>
            <a:off x="6233008" y="2597658"/>
            <a:ext cx="5410048" cy="684276"/>
          </a:xfrm>
          <a:prstGeom prst="roundRect">
            <a:avLst>
              <a:gd name="adj" fmla="val 9354"/>
            </a:avLst>
          </a:prstGeom>
          <a:solidFill>
            <a:srgbClr val="EAF5EE"/>
          </a:solidFill>
          <a:ln/>
        </p:spPr>
      </p:sp>
      <p:sp>
        <p:nvSpPr>
          <p:cNvPr id="25" name="Text 23"/>
          <p:cNvSpPr txBox="1"/>
          <p:nvPr/>
        </p:nvSpPr>
        <p:spPr>
          <a:xfrm>
            <a:off x="6388456" y="267081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gingivalgia (LG) (jinjivalji): </a:t>
            </a:r>
            <a:r>
              <a:rPr lang="en-US" sz="1500" dirty="0">
                <a:solidFill>
                  <a:srgbClr val="1F2937"/>
                </a:solidFill>
                <a:latin typeface="Calibri" pitchFamily="34" charset="0"/>
                <a:ea typeface="Calibri" pitchFamily="34" charset="-122"/>
                <a:cs typeface="Calibri" pitchFamily="34" charset="-120"/>
              </a:rPr>
              <a:t>Diş etlerinde duyulan ağrı</a:t>
            </a:r>
            <a:endParaRPr lang="en-US" sz="1500" dirty="0"/>
          </a:p>
        </p:txBody>
      </p:sp>
      <p:sp>
        <p:nvSpPr>
          <p:cNvPr id="26" name="Shape 24"/>
          <p:cNvSpPr/>
          <p:nvPr/>
        </p:nvSpPr>
        <p:spPr>
          <a:xfrm>
            <a:off x="6233008" y="3373374"/>
            <a:ext cx="5410048" cy="451866"/>
          </a:xfrm>
          <a:prstGeom prst="roundRect">
            <a:avLst>
              <a:gd name="adj" fmla="val 14165"/>
            </a:avLst>
          </a:prstGeom>
          <a:solidFill>
            <a:srgbClr val="EAF5EE"/>
          </a:solidFill>
          <a:ln/>
        </p:spPr>
      </p:sp>
      <p:sp>
        <p:nvSpPr>
          <p:cNvPr id="27" name="Text 25"/>
          <p:cNvSpPr txBox="1"/>
          <p:nvPr/>
        </p:nvSpPr>
        <p:spPr>
          <a:xfrm>
            <a:off x="6388456" y="344652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constipation (L) (konstipasyon): </a:t>
            </a:r>
            <a:r>
              <a:rPr lang="en-US" sz="1500" dirty="0">
                <a:solidFill>
                  <a:srgbClr val="1F2937"/>
                </a:solidFill>
                <a:latin typeface="Calibri" pitchFamily="34" charset="0"/>
                <a:ea typeface="Calibri" pitchFamily="34" charset="-122"/>
                <a:cs typeface="Calibri" pitchFamily="34" charset="-120"/>
              </a:rPr>
              <a:t>Kabızlık</a:t>
            </a:r>
            <a:endParaRPr lang="en-US" sz="1500" dirty="0"/>
          </a:p>
        </p:txBody>
      </p:sp>
      <p:sp>
        <p:nvSpPr>
          <p:cNvPr id="28" name="Shape 26"/>
          <p:cNvSpPr/>
          <p:nvPr/>
        </p:nvSpPr>
        <p:spPr>
          <a:xfrm>
            <a:off x="6233008" y="3916680"/>
            <a:ext cx="5410048" cy="451866"/>
          </a:xfrm>
          <a:prstGeom prst="roundRect">
            <a:avLst>
              <a:gd name="adj" fmla="val 14165"/>
            </a:avLst>
          </a:prstGeom>
          <a:solidFill>
            <a:srgbClr val="EAF5EE"/>
          </a:solidFill>
          <a:ln/>
        </p:spPr>
      </p:sp>
      <p:sp>
        <p:nvSpPr>
          <p:cNvPr id="29" name="Text 27"/>
          <p:cNvSpPr txBox="1"/>
          <p:nvPr/>
        </p:nvSpPr>
        <p:spPr>
          <a:xfrm>
            <a:off x="6388456" y="398983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diarrhea (G) (diyare): </a:t>
            </a:r>
            <a:r>
              <a:rPr lang="en-US" sz="1500" dirty="0">
                <a:solidFill>
                  <a:srgbClr val="1F2937"/>
                </a:solidFill>
                <a:latin typeface="Calibri" pitchFamily="34" charset="0"/>
                <a:ea typeface="Calibri" pitchFamily="34" charset="-122"/>
                <a:cs typeface="Calibri" pitchFamily="34" charset="-120"/>
              </a:rPr>
              <a:t>İshal</a:t>
            </a:r>
            <a:endParaRPr lang="en-US" sz="15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226</a:t>
            </a:r>
            <a:endParaRPr lang="en-US" sz="1000" dirty="0"/>
          </a:p>
        </p:txBody>
      </p:sp>
      <p:sp>
        <p:nvSpPr>
          <p:cNvPr id="6" name="Shape 4"/>
          <p:cNvSpPr/>
          <p:nvPr/>
        </p:nvSpPr>
        <p:spPr>
          <a:xfrm>
            <a:off x="548640" y="2211324"/>
            <a:ext cx="5410048" cy="684276"/>
          </a:xfrm>
          <a:prstGeom prst="roundRect">
            <a:avLst>
              <a:gd name="adj" fmla="val 9354"/>
            </a:avLst>
          </a:prstGeom>
          <a:solidFill>
            <a:srgbClr val="EAF5EE"/>
          </a:solidFill>
          <a:ln/>
        </p:spPr>
      </p:sp>
      <p:sp>
        <p:nvSpPr>
          <p:cNvPr id="7" name="Text 5"/>
          <p:cNvSpPr txBox="1"/>
          <p:nvPr/>
        </p:nvSpPr>
        <p:spPr>
          <a:xfrm>
            <a:off x="704088" y="228447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dehidration (L) (dehidrasyon): </a:t>
            </a:r>
            <a:r>
              <a:rPr lang="en-US" sz="1500" dirty="0">
                <a:solidFill>
                  <a:srgbClr val="1F2937"/>
                </a:solidFill>
                <a:latin typeface="Calibri" pitchFamily="34" charset="0"/>
                <a:ea typeface="Calibri" pitchFamily="34" charset="-122"/>
                <a:cs typeface="Calibri" pitchFamily="34" charset="-120"/>
              </a:rPr>
              <a:t>Kusma ve ishale bağlı aşırı su kaybı</a:t>
            </a:r>
            <a:endParaRPr lang="en-US" sz="1500" dirty="0"/>
          </a:p>
        </p:txBody>
      </p:sp>
      <p:sp>
        <p:nvSpPr>
          <p:cNvPr id="8" name="Shape 6"/>
          <p:cNvSpPr/>
          <p:nvPr/>
        </p:nvSpPr>
        <p:spPr>
          <a:xfrm>
            <a:off x="548640" y="2987040"/>
            <a:ext cx="5410048" cy="451866"/>
          </a:xfrm>
          <a:prstGeom prst="roundRect">
            <a:avLst>
              <a:gd name="adj" fmla="val 14165"/>
            </a:avLst>
          </a:prstGeom>
          <a:solidFill>
            <a:srgbClr val="EAF5EE"/>
          </a:solidFill>
          <a:ln/>
        </p:spPr>
      </p:sp>
      <p:sp>
        <p:nvSpPr>
          <p:cNvPr id="9" name="Text 7"/>
          <p:cNvSpPr txBox="1"/>
          <p:nvPr/>
        </p:nvSpPr>
        <p:spPr>
          <a:xfrm>
            <a:off x="704088" y="306019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pruritus ani (L): </a:t>
            </a:r>
            <a:r>
              <a:rPr lang="en-US" sz="1500" dirty="0">
                <a:solidFill>
                  <a:srgbClr val="1F2937"/>
                </a:solidFill>
                <a:latin typeface="Calibri" pitchFamily="34" charset="0"/>
                <a:ea typeface="Calibri" pitchFamily="34" charset="-122"/>
                <a:cs typeface="Calibri" pitchFamily="34" charset="-120"/>
              </a:rPr>
              <a:t>Anüsün kaşınması</a:t>
            </a:r>
            <a:endParaRPr lang="en-US" sz="1500" dirty="0"/>
          </a:p>
        </p:txBody>
      </p:sp>
      <p:sp>
        <p:nvSpPr>
          <p:cNvPr id="10" name="Shape 8"/>
          <p:cNvSpPr/>
          <p:nvPr/>
        </p:nvSpPr>
        <p:spPr>
          <a:xfrm>
            <a:off x="548640" y="3530346"/>
            <a:ext cx="5410048" cy="684276"/>
          </a:xfrm>
          <a:prstGeom prst="roundRect">
            <a:avLst>
              <a:gd name="adj" fmla="val 9354"/>
            </a:avLst>
          </a:prstGeom>
          <a:solidFill>
            <a:srgbClr val="EAF5EE"/>
          </a:solidFill>
          <a:ln/>
        </p:spPr>
      </p:sp>
      <p:sp>
        <p:nvSpPr>
          <p:cNvPr id="11" name="Text 9"/>
          <p:cNvSpPr txBox="1"/>
          <p:nvPr/>
        </p:nvSpPr>
        <p:spPr>
          <a:xfrm>
            <a:off x="704088" y="360349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prolapsus rectum (L): </a:t>
            </a:r>
            <a:r>
              <a:rPr lang="en-US" sz="1500" dirty="0">
                <a:solidFill>
                  <a:srgbClr val="1F2937"/>
                </a:solidFill>
                <a:latin typeface="Calibri" pitchFamily="34" charset="0"/>
                <a:ea typeface="Calibri" pitchFamily="34" charset="-122"/>
                <a:cs typeface="Calibri" pitchFamily="34" charset="-120"/>
              </a:rPr>
              <a:t>Rektumun anüsten dışarı doğru sarkması</a:t>
            </a:r>
            <a:endParaRPr lang="en-US" sz="1500" dirty="0"/>
          </a:p>
        </p:txBody>
      </p:sp>
      <p:sp>
        <p:nvSpPr>
          <p:cNvPr id="12" name="Shape 10"/>
          <p:cNvSpPr/>
          <p:nvPr/>
        </p:nvSpPr>
        <p:spPr>
          <a:xfrm>
            <a:off x="548640" y="4306062"/>
            <a:ext cx="5410048" cy="451866"/>
          </a:xfrm>
          <a:prstGeom prst="roundRect">
            <a:avLst>
              <a:gd name="adj" fmla="val 14165"/>
            </a:avLst>
          </a:prstGeom>
          <a:solidFill>
            <a:srgbClr val="EAF5EE"/>
          </a:solidFill>
          <a:ln/>
        </p:spPr>
      </p:sp>
      <p:sp>
        <p:nvSpPr>
          <p:cNvPr id="13" name="Text 11"/>
          <p:cNvSpPr txBox="1"/>
          <p:nvPr/>
        </p:nvSpPr>
        <p:spPr>
          <a:xfrm>
            <a:off x="704088"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hyperperistalsis (G): </a:t>
            </a:r>
            <a:r>
              <a:rPr lang="en-US" sz="1500" dirty="0">
                <a:solidFill>
                  <a:srgbClr val="1F2937"/>
                </a:solidFill>
                <a:latin typeface="Calibri" pitchFamily="34" charset="0"/>
                <a:ea typeface="Calibri" pitchFamily="34" charset="-122"/>
                <a:cs typeface="Calibri" pitchFamily="34" charset="-120"/>
              </a:rPr>
              <a:t>Peristaltik hareketlerde artış</a:t>
            </a:r>
            <a:endParaRPr lang="en-US" sz="1500" dirty="0"/>
          </a:p>
        </p:txBody>
      </p:sp>
      <p:sp>
        <p:nvSpPr>
          <p:cNvPr id="14" name="Shape 12"/>
          <p:cNvSpPr/>
          <p:nvPr/>
        </p:nvSpPr>
        <p:spPr>
          <a:xfrm>
            <a:off x="548640" y="4849368"/>
            <a:ext cx="5410048" cy="684276"/>
          </a:xfrm>
          <a:prstGeom prst="roundRect">
            <a:avLst>
              <a:gd name="adj" fmla="val 9354"/>
            </a:avLst>
          </a:prstGeom>
          <a:solidFill>
            <a:srgbClr val="EAF5EE"/>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perforation (L) (perforasyon): </a:t>
            </a:r>
            <a:r>
              <a:rPr lang="en-US" sz="1500" dirty="0">
                <a:solidFill>
                  <a:srgbClr val="1F2937"/>
                </a:solidFill>
                <a:latin typeface="Calibri" pitchFamily="34" charset="0"/>
                <a:ea typeface="Calibri" pitchFamily="34" charset="-122"/>
                <a:cs typeface="Calibri" pitchFamily="34" charset="-120"/>
              </a:rPr>
              <a:t>İçi boş bir organın yırtılması</a:t>
            </a:r>
            <a:endParaRPr lang="en-US" sz="1500" dirty="0"/>
          </a:p>
        </p:txBody>
      </p:sp>
      <p:sp>
        <p:nvSpPr>
          <p:cNvPr id="16" name="Shape 14"/>
          <p:cNvSpPr/>
          <p:nvPr/>
        </p:nvSpPr>
        <p:spPr>
          <a:xfrm>
            <a:off x="548640" y="5625084"/>
            <a:ext cx="5410048" cy="684276"/>
          </a:xfrm>
          <a:prstGeom prst="roundRect">
            <a:avLst>
              <a:gd name="adj" fmla="val 9354"/>
            </a:avLst>
          </a:prstGeom>
          <a:solidFill>
            <a:srgbClr val="EAF5EE"/>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penetration (L) (penetrasyon): </a:t>
            </a:r>
            <a:r>
              <a:rPr lang="en-US" sz="1500" dirty="0">
                <a:solidFill>
                  <a:srgbClr val="1F2937"/>
                </a:solidFill>
                <a:latin typeface="Calibri" pitchFamily="34" charset="0"/>
                <a:ea typeface="Calibri" pitchFamily="34" charset="-122"/>
                <a:cs typeface="Calibri" pitchFamily="34" charset="-120"/>
              </a:rPr>
              <a:t>İçi boş bir organın delinerek başka bir organa yapışması</a:t>
            </a:r>
            <a:endParaRPr lang="en-US" sz="1500" dirty="0"/>
          </a:p>
        </p:txBody>
      </p:sp>
      <p:sp>
        <p:nvSpPr>
          <p:cNvPr id="18" name="Shape 16"/>
          <p:cNvSpPr/>
          <p:nvPr/>
        </p:nvSpPr>
        <p:spPr>
          <a:xfrm>
            <a:off x="6233008" y="2211324"/>
            <a:ext cx="5410048" cy="684276"/>
          </a:xfrm>
          <a:prstGeom prst="roundRect">
            <a:avLst>
              <a:gd name="adj" fmla="val 9354"/>
            </a:avLst>
          </a:prstGeom>
          <a:solidFill>
            <a:srgbClr val="EAF5EE"/>
          </a:solidFill>
          <a:ln/>
        </p:spPr>
      </p:sp>
      <p:sp>
        <p:nvSpPr>
          <p:cNvPr id="19" name="Text 17"/>
          <p:cNvSpPr txBox="1"/>
          <p:nvPr/>
        </p:nvSpPr>
        <p:spPr>
          <a:xfrm>
            <a:off x="6388456" y="228447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obstruction (L) (obstrüksiyon): </a:t>
            </a:r>
            <a:r>
              <a:rPr lang="en-US" sz="1500" dirty="0">
                <a:solidFill>
                  <a:srgbClr val="1F2937"/>
                </a:solidFill>
                <a:latin typeface="Calibri" pitchFamily="34" charset="0"/>
                <a:ea typeface="Calibri" pitchFamily="34" charset="-122"/>
                <a:cs typeface="Calibri" pitchFamily="34" charset="-120"/>
              </a:rPr>
              <a:t>İçi boş bir organın lümeninin daralması</a:t>
            </a:r>
            <a:endParaRPr lang="en-US" sz="1500" dirty="0"/>
          </a:p>
        </p:txBody>
      </p:sp>
      <p:sp>
        <p:nvSpPr>
          <p:cNvPr id="20" name="Shape 18"/>
          <p:cNvSpPr/>
          <p:nvPr/>
        </p:nvSpPr>
        <p:spPr>
          <a:xfrm>
            <a:off x="6233008" y="2987040"/>
            <a:ext cx="5410048" cy="684276"/>
          </a:xfrm>
          <a:prstGeom prst="roundRect">
            <a:avLst>
              <a:gd name="adj" fmla="val 9354"/>
            </a:avLst>
          </a:prstGeom>
          <a:solidFill>
            <a:srgbClr val="EAF5EE"/>
          </a:solidFill>
          <a:ln/>
        </p:spPr>
      </p:sp>
      <p:sp>
        <p:nvSpPr>
          <p:cNvPr id="21" name="Text 19"/>
          <p:cNvSpPr txBox="1"/>
          <p:nvPr/>
        </p:nvSpPr>
        <p:spPr>
          <a:xfrm>
            <a:off x="6388456" y="306019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colic (G) (kolik): </a:t>
            </a:r>
            <a:r>
              <a:rPr lang="en-US" sz="1500" dirty="0">
                <a:solidFill>
                  <a:srgbClr val="1F2937"/>
                </a:solidFill>
                <a:latin typeface="Calibri" pitchFamily="34" charset="0"/>
                <a:ea typeface="Calibri" pitchFamily="34" charset="-122"/>
                <a:cs typeface="Calibri" pitchFamily="34" charset="-120"/>
              </a:rPr>
              <a:t>İçi boş organlarda birden bire nöbet tarzında gelen ağrılı kasılmalar</a:t>
            </a:r>
            <a:endParaRPr lang="en-US" sz="1500" dirty="0"/>
          </a:p>
        </p:txBody>
      </p:sp>
      <p:sp>
        <p:nvSpPr>
          <p:cNvPr id="22" name="Shape 20"/>
          <p:cNvSpPr/>
          <p:nvPr/>
        </p:nvSpPr>
        <p:spPr>
          <a:xfrm>
            <a:off x="6233008" y="3762756"/>
            <a:ext cx="5410048" cy="451866"/>
          </a:xfrm>
          <a:prstGeom prst="roundRect">
            <a:avLst>
              <a:gd name="adj" fmla="val 14165"/>
            </a:avLst>
          </a:prstGeom>
          <a:solidFill>
            <a:srgbClr val="EAF5EE"/>
          </a:solidFill>
          <a:ln/>
        </p:spPr>
      </p:sp>
      <p:sp>
        <p:nvSpPr>
          <p:cNvPr id="23" name="Text 21"/>
          <p:cNvSpPr txBox="1"/>
          <p:nvPr/>
        </p:nvSpPr>
        <p:spPr>
          <a:xfrm>
            <a:off x="6388456"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halitosis (L) (halitoz): </a:t>
            </a:r>
            <a:r>
              <a:rPr lang="en-US" sz="1500" dirty="0">
                <a:solidFill>
                  <a:srgbClr val="1F2937"/>
                </a:solidFill>
                <a:latin typeface="Calibri" pitchFamily="34" charset="0"/>
                <a:ea typeface="Calibri" pitchFamily="34" charset="-122"/>
                <a:cs typeface="Calibri" pitchFamily="34" charset="-120"/>
              </a:rPr>
              <a:t>Soluğun kötü kokması</a:t>
            </a:r>
            <a:endParaRPr lang="en-US" sz="1500" dirty="0"/>
          </a:p>
        </p:txBody>
      </p:sp>
      <p:sp>
        <p:nvSpPr>
          <p:cNvPr id="24" name="Shape 22"/>
          <p:cNvSpPr/>
          <p:nvPr/>
        </p:nvSpPr>
        <p:spPr>
          <a:xfrm>
            <a:off x="6233008" y="4306062"/>
            <a:ext cx="5410048" cy="684276"/>
          </a:xfrm>
          <a:prstGeom prst="roundRect">
            <a:avLst>
              <a:gd name="adj" fmla="val 9354"/>
            </a:avLst>
          </a:prstGeom>
          <a:solidFill>
            <a:srgbClr val="EAF5EE"/>
          </a:solidFill>
          <a:ln/>
        </p:spPr>
      </p:sp>
      <p:sp>
        <p:nvSpPr>
          <p:cNvPr id="25" name="Text 23"/>
          <p:cNvSpPr txBox="1"/>
          <p:nvPr/>
        </p:nvSpPr>
        <p:spPr>
          <a:xfrm>
            <a:off x="6388456"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nausea (G) (noze): </a:t>
            </a:r>
            <a:r>
              <a:rPr lang="en-US" sz="1500" dirty="0">
                <a:solidFill>
                  <a:srgbClr val="1F2937"/>
                </a:solidFill>
                <a:latin typeface="Calibri" pitchFamily="34" charset="0"/>
                <a:ea typeface="Calibri" pitchFamily="34" charset="-122"/>
                <a:cs typeface="Calibri" pitchFamily="34" charset="-120"/>
              </a:rPr>
              <a:t>Bulantı, kusmadan önce beliren bulantı hissi</a:t>
            </a:r>
            <a:endParaRPr lang="en-US" sz="1500" dirty="0"/>
          </a:p>
        </p:txBody>
      </p:sp>
      <p:sp>
        <p:nvSpPr>
          <p:cNvPr id="26" name="Shape 24"/>
          <p:cNvSpPr/>
          <p:nvPr/>
        </p:nvSpPr>
        <p:spPr>
          <a:xfrm>
            <a:off x="6233008" y="5081778"/>
            <a:ext cx="5410048" cy="451866"/>
          </a:xfrm>
          <a:prstGeom prst="roundRect">
            <a:avLst>
              <a:gd name="adj" fmla="val 14165"/>
            </a:avLst>
          </a:prstGeom>
          <a:solidFill>
            <a:srgbClr val="EAF5EE"/>
          </a:solidFill>
          <a:ln/>
        </p:spPr>
      </p:sp>
      <p:sp>
        <p:nvSpPr>
          <p:cNvPr id="27" name="Text 25"/>
          <p:cNvSpPr txBox="1"/>
          <p:nvPr/>
        </p:nvSpPr>
        <p:spPr>
          <a:xfrm>
            <a:off x="6388456"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vomituration (L) (vomiturasyon): </a:t>
            </a:r>
            <a:r>
              <a:rPr lang="en-US" sz="1500" dirty="0">
                <a:solidFill>
                  <a:srgbClr val="1F2937"/>
                </a:solidFill>
                <a:latin typeface="Calibri" pitchFamily="34" charset="0"/>
                <a:ea typeface="Calibri" pitchFamily="34" charset="-122"/>
                <a:cs typeface="Calibri" pitchFamily="34" charset="-120"/>
              </a:rPr>
              <a:t>Öğürme</a:t>
            </a:r>
            <a:endParaRPr lang="en-US" sz="15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227</a:t>
            </a:r>
            <a:endParaRPr lang="en-US" sz="1000" dirty="0"/>
          </a:p>
        </p:txBody>
      </p:sp>
      <p:sp>
        <p:nvSpPr>
          <p:cNvPr id="6" name="Shape 4"/>
          <p:cNvSpPr/>
          <p:nvPr/>
        </p:nvSpPr>
        <p:spPr>
          <a:xfrm>
            <a:off x="548640" y="1565453"/>
            <a:ext cx="11094415" cy="481990"/>
          </a:xfrm>
          <a:prstGeom prst="roundRect">
            <a:avLst>
              <a:gd name="adj" fmla="val 13280"/>
            </a:avLst>
          </a:prstGeom>
          <a:solidFill>
            <a:srgbClr val="EAF5EE"/>
          </a:solidFill>
          <a:ln/>
        </p:spPr>
      </p:sp>
      <p:sp>
        <p:nvSpPr>
          <p:cNvPr id="7" name="Text 5"/>
          <p:cNvSpPr txBox="1"/>
          <p:nvPr/>
        </p:nvSpPr>
        <p:spPr>
          <a:xfrm>
            <a:off x="704088" y="1638605"/>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vomitus (L), emesis (G) (emez): </a:t>
            </a:r>
            <a:r>
              <a:rPr lang="en-US" sz="1600" dirty="0">
                <a:solidFill>
                  <a:srgbClr val="1F2937"/>
                </a:solidFill>
                <a:latin typeface="Calibri" pitchFamily="34" charset="0"/>
                <a:ea typeface="Calibri" pitchFamily="34" charset="-122"/>
                <a:cs typeface="Calibri" pitchFamily="34" charset="-120"/>
              </a:rPr>
              <a:t>Kusma</a:t>
            </a:r>
            <a:endParaRPr lang="en-US" sz="1600" dirty="0"/>
          </a:p>
        </p:txBody>
      </p:sp>
      <p:sp>
        <p:nvSpPr>
          <p:cNvPr id="8" name="Shape 6"/>
          <p:cNvSpPr/>
          <p:nvPr/>
        </p:nvSpPr>
        <p:spPr>
          <a:xfrm>
            <a:off x="548640" y="2138883"/>
            <a:ext cx="11094415" cy="481990"/>
          </a:xfrm>
          <a:prstGeom prst="roundRect">
            <a:avLst>
              <a:gd name="adj" fmla="val 13280"/>
            </a:avLst>
          </a:prstGeom>
          <a:solidFill>
            <a:srgbClr val="EAF5EE"/>
          </a:solidFill>
          <a:ln/>
        </p:spPr>
      </p:sp>
      <p:sp>
        <p:nvSpPr>
          <p:cNvPr id="9" name="Text 7"/>
          <p:cNvSpPr txBox="1"/>
          <p:nvPr/>
        </p:nvSpPr>
        <p:spPr>
          <a:xfrm>
            <a:off x="704088" y="2212035"/>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reflux (L) (reflü): </a:t>
            </a:r>
            <a:r>
              <a:rPr lang="en-US" sz="1600" dirty="0">
                <a:solidFill>
                  <a:srgbClr val="1F2937"/>
                </a:solidFill>
                <a:latin typeface="Calibri" pitchFamily="34" charset="0"/>
                <a:ea typeface="Calibri" pitchFamily="34" charset="-122"/>
                <a:cs typeface="Calibri" pitchFamily="34" charset="-120"/>
              </a:rPr>
              <a:t>Geriye doğru akma</a:t>
            </a:r>
            <a:endParaRPr lang="en-US" sz="1600" dirty="0"/>
          </a:p>
        </p:txBody>
      </p:sp>
      <p:sp>
        <p:nvSpPr>
          <p:cNvPr id="10" name="Shape 8"/>
          <p:cNvSpPr/>
          <p:nvPr/>
        </p:nvSpPr>
        <p:spPr>
          <a:xfrm>
            <a:off x="548640" y="2712314"/>
            <a:ext cx="11094415" cy="729894"/>
          </a:xfrm>
          <a:prstGeom prst="roundRect">
            <a:avLst>
              <a:gd name="adj" fmla="val 8769"/>
            </a:avLst>
          </a:prstGeom>
          <a:solidFill>
            <a:srgbClr val="EAF5EE"/>
          </a:solidFill>
          <a:ln/>
        </p:spPr>
      </p:sp>
      <p:sp>
        <p:nvSpPr>
          <p:cNvPr id="11" name="Text 9"/>
          <p:cNvSpPr txBox="1"/>
          <p:nvPr/>
        </p:nvSpPr>
        <p:spPr>
          <a:xfrm>
            <a:off x="704088" y="2785466"/>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gasatrooesophageal (G) reflux (L) (gastroözogageal reflü): </a:t>
            </a:r>
            <a:r>
              <a:rPr lang="en-US" sz="1600" dirty="0">
                <a:solidFill>
                  <a:srgbClr val="1F2937"/>
                </a:solidFill>
                <a:latin typeface="Calibri" pitchFamily="34" charset="0"/>
                <a:ea typeface="Calibri" pitchFamily="34" charset="-122"/>
                <a:cs typeface="Calibri" pitchFamily="34" charset="-120"/>
              </a:rPr>
              <a:t>Bir kısım mide içeriğinin ya da midedeki asit sıvısının yemek borusuna akması</a:t>
            </a:r>
            <a:endParaRPr lang="en-US" sz="1600" dirty="0"/>
          </a:p>
        </p:txBody>
      </p:sp>
      <p:sp>
        <p:nvSpPr>
          <p:cNvPr id="12" name="Shape 10"/>
          <p:cNvSpPr/>
          <p:nvPr/>
        </p:nvSpPr>
        <p:spPr>
          <a:xfrm>
            <a:off x="548640" y="3533648"/>
            <a:ext cx="11094415" cy="481990"/>
          </a:xfrm>
          <a:prstGeom prst="roundRect">
            <a:avLst>
              <a:gd name="adj" fmla="val 13280"/>
            </a:avLst>
          </a:prstGeom>
          <a:solidFill>
            <a:srgbClr val="EAF5EE"/>
          </a:solidFill>
          <a:ln/>
        </p:spPr>
      </p:sp>
      <p:sp>
        <p:nvSpPr>
          <p:cNvPr id="13" name="Text 11"/>
          <p:cNvSpPr txBox="1"/>
          <p:nvPr/>
        </p:nvSpPr>
        <p:spPr>
          <a:xfrm>
            <a:off x="704088" y="360680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regurgitation (L) (regurjitasyon): </a:t>
            </a:r>
            <a:r>
              <a:rPr lang="en-US" sz="1600" dirty="0">
                <a:solidFill>
                  <a:srgbClr val="1F2937"/>
                </a:solidFill>
                <a:latin typeface="Calibri" pitchFamily="34" charset="0"/>
                <a:ea typeface="Calibri" pitchFamily="34" charset="-122"/>
                <a:cs typeface="Calibri" pitchFamily="34" charset="-120"/>
              </a:rPr>
              <a:t>Geri gelme, geri akma</a:t>
            </a:r>
            <a:endParaRPr lang="en-US" sz="1600" dirty="0"/>
          </a:p>
        </p:txBody>
      </p:sp>
      <p:sp>
        <p:nvSpPr>
          <p:cNvPr id="14" name="Shape 12"/>
          <p:cNvSpPr/>
          <p:nvPr/>
        </p:nvSpPr>
        <p:spPr>
          <a:xfrm>
            <a:off x="548640" y="4107078"/>
            <a:ext cx="11094415" cy="481990"/>
          </a:xfrm>
          <a:prstGeom prst="roundRect">
            <a:avLst>
              <a:gd name="adj" fmla="val 13280"/>
            </a:avLst>
          </a:prstGeom>
          <a:solidFill>
            <a:srgbClr val="EAF5EE"/>
          </a:solidFill>
          <a:ln/>
        </p:spPr>
      </p:sp>
      <p:sp>
        <p:nvSpPr>
          <p:cNvPr id="15" name="Text 13"/>
          <p:cNvSpPr txBox="1"/>
          <p:nvPr/>
        </p:nvSpPr>
        <p:spPr>
          <a:xfrm>
            <a:off x="704088" y="418023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duodenal regurgitation (L): </a:t>
            </a:r>
            <a:r>
              <a:rPr lang="en-US" sz="1600" dirty="0">
                <a:solidFill>
                  <a:srgbClr val="1F2937"/>
                </a:solidFill>
                <a:latin typeface="Calibri" pitchFamily="34" charset="0"/>
                <a:ea typeface="Calibri" pitchFamily="34" charset="-122"/>
                <a:cs typeface="Calibri" pitchFamily="34" charset="-120"/>
              </a:rPr>
              <a:t>Bir kısım kimusun duodenumdan mideye  geçişi</a:t>
            </a:r>
            <a:endParaRPr lang="en-US" sz="1600" dirty="0"/>
          </a:p>
        </p:txBody>
      </p:sp>
      <p:sp>
        <p:nvSpPr>
          <p:cNvPr id="16" name="Shape 14"/>
          <p:cNvSpPr/>
          <p:nvPr/>
        </p:nvSpPr>
        <p:spPr>
          <a:xfrm>
            <a:off x="548640" y="4680509"/>
            <a:ext cx="11094415" cy="481990"/>
          </a:xfrm>
          <a:prstGeom prst="roundRect">
            <a:avLst>
              <a:gd name="adj" fmla="val 13280"/>
            </a:avLst>
          </a:prstGeom>
          <a:solidFill>
            <a:srgbClr val="EAF5EE"/>
          </a:solidFill>
          <a:ln/>
        </p:spPr>
      </p:sp>
      <p:sp>
        <p:nvSpPr>
          <p:cNvPr id="17" name="Text 15"/>
          <p:cNvSpPr txBox="1"/>
          <p:nvPr/>
        </p:nvSpPr>
        <p:spPr>
          <a:xfrm>
            <a:off x="704088" y="475366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hematemesis (G) (hematemez): </a:t>
            </a:r>
            <a:r>
              <a:rPr lang="en-US" sz="1600" dirty="0">
                <a:solidFill>
                  <a:srgbClr val="1F2937"/>
                </a:solidFill>
                <a:latin typeface="Calibri" pitchFamily="34" charset="0"/>
                <a:ea typeface="Calibri" pitchFamily="34" charset="-122"/>
                <a:cs typeface="Calibri" pitchFamily="34" charset="-120"/>
              </a:rPr>
              <a:t>Mide kanaması sonucu kusulan kan</a:t>
            </a:r>
            <a:endParaRPr lang="en-US" sz="1600" dirty="0"/>
          </a:p>
        </p:txBody>
      </p:sp>
      <p:sp>
        <p:nvSpPr>
          <p:cNvPr id="18" name="Shape 16"/>
          <p:cNvSpPr/>
          <p:nvPr/>
        </p:nvSpPr>
        <p:spPr>
          <a:xfrm>
            <a:off x="548640" y="5253939"/>
            <a:ext cx="11094415" cy="481990"/>
          </a:xfrm>
          <a:prstGeom prst="roundRect">
            <a:avLst>
              <a:gd name="adj" fmla="val 13280"/>
            </a:avLst>
          </a:prstGeom>
          <a:solidFill>
            <a:srgbClr val="EAF5EE"/>
          </a:solidFill>
          <a:ln/>
        </p:spPr>
      </p:sp>
      <p:sp>
        <p:nvSpPr>
          <p:cNvPr id="19" name="Text 17"/>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melaena (G) (melana): </a:t>
            </a:r>
            <a:r>
              <a:rPr lang="en-US" sz="1600" dirty="0">
                <a:solidFill>
                  <a:srgbClr val="1F2937"/>
                </a:solidFill>
                <a:latin typeface="Calibri" pitchFamily="34" charset="0"/>
                <a:ea typeface="Calibri" pitchFamily="34" charset="-122"/>
                <a:cs typeface="Calibri" pitchFamily="34" charset="-120"/>
              </a:rPr>
              <a:t>Mide kanaması sonucu kanın dışkı ile çıkması</a:t>
            </a:r>
            <a:endParaRPr lang="en-US" sz="1600" dirty="0"/>
          </a:p>
        </p:txBody>
      </p:sp>
      <p:sp>
        <p:nvSpPr>
          <p:cNvPr id="20" name="Shape 18"/>
          <p:cNvSpPr/>
          <p:nvPr/>
        </p:nvSpPr>
        <p:spPr>
          <a:xfrm>
            <a:off x="548640" y="5827370"/>
            <a:ext cx="11094415" cy="481990"/>
          </a:xfrm>
          <a:prstGeom prst="roundRect">
            <a:avLst>
              <a:gd name="adj" fmla="val 13280"/>
            </a:avLst>
          </a:prstGeom>
          <a:solidFill>
            <a:srgbClr val="EAF5EE"/>
          </a:solidFill>
          <a:ln/>
        </p:spPr>
      </p:sp>
      <p:sp>
        <p:nvSpPr>
          <p:cNvPr id="21" name="Text 19"/>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5803D"/>
                </a:solidFill>
                <a:latin typeface="Calibri" pitchFamily="34" charset="0"/>
                <a:ea typeface="Calibri" pitchFamily="34" charset="-122"/>
                <a:cs typeface="Calibri" pitchFamily="34" charset="-120"/>
              </a:rPr>
              <a:t>malabsorption (L) (malabsorbsiyon): </a:t>
            </a:r>
            <a:r>
              <a:rPr lang="en-US" sz="1600" dirty="0">
                <a:solidFill>
                  <a:srgbClr val="1F2937"/>
                </a:solidFill>
                <a:latin typeface="Calibri" pitchFamily="34" charset="0"/>
                <a:ea typeface="Calibri" pitchFamily="34" charset="-122"/>
                <a:cs typeface="Calibri" pitchFamily="34" charset="-120"/>
              </a:rPr>
              <a:t>Besin maddelerinin bağırsaktan yetersiz emilmesi, emilim bozukluğu.</a:t>
            </a:r>
            <a:endParaRPr lang="en-US" sz="16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AF5EE"/>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228</a:t>
            </a:r>
            <a:endParaRPr lang="en-US" sz="1000" dirty="0"/>
          </a:p>
        </p:txBody>
      </p:sp>
      <p:sp>
        <p:nvSpPr>
          <p:cNvPr id="6" name="Shape 4"/>
          <p:cNvSpPr/>
          <p:nvPr/>
        </p:nvSpPr>
        <p:spPr>
          <a:xfrm>
            <a:off x="548640" y="1589532"/>
            <a:ext cx="5410048" cy="451866"/>
          </a:xfrm>
          <a:prstGeom prst="roundRect">
            <a:avLst>
              <a:gd name="adj" fmla="val 14165"/>
            </a:avLst>
          </a:prstGeom>
          <a:solidFill>
            <a:srgbClr val="EAF5EE"/>
          </a:solidFill>
          <a:ln/>
        </p:spPr>
      </p:sp>
      <p:sp>
        <p:nvSpPr>
          <p:cNvPr id="7" name="Text 5"/>
          <p:cNvSpPr txBox="1"/>
          <p:nvPr/>
        </p:nvSpPr>
        <p:spPr>
          <a:xfrm>
            <a:off x="704088"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dental caries (dental karyes): </a:t>
            </a:r>
            <a:r>
              <a:rPr lang="en-US" sz="1500" dirty="0">
                <a:solidFill>
                  <a:srgbClr val="1F2937"/>
                </a:solidFill>
                <a:latin typeface="Calibri" pitchFamily="34" charset="0"/>
                <a:ea typeface="Calibri" pitchFamily="34" charset="-122"/>
                <a:cs typeface="Calibri" pitchFamily="34" charset="-120"/>
              </a:rPr>
              <a:t>Diş çürümesi</a:t>
            </a:r>
            <a:endParaRPr lang="en-US" sz="1500" dirty="0"/>
          </a:p>
        </p:txBody>
      </p:sp>
      <p:sp>
        <p:nvSpPr>
          <p:cNvPr id="8" name="Shape 6"/>
          <p:cNvSpPr/>
          <p:nvPr/>
        </p:nvSpPr>
        <p:spPr>
          <a:xfrm>
            <a:off x="548640" y="2132838"/>
            <a:ext cx="5410048" cy="451866"/>
          </a:xfrm>
          <a:prstGeom prst="roundRect">
            <a:avLst>
              <a:gd name="adj" fmla="val 14165"/>
            </a:avLst>
          </a:prstGeom>
          <a:solidFill>
            <a:srgbClr val="EAF5EE"/>
          </a:solidFill>
          <a:ln/>
        </p:spPr>
      </p:sp>
      <p:sp>
        <p:nvSpPr>
          <p:cNvPr id="9" name="Text 7"/>
          <p:cNvSpPr txBox="1"/>
          <p:nvPr/>
        </p:nvSpPr>
        <p:spPr>
          <a:xfrm>
            <a:off x="704088"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gingivitis (jinjivit): </a:t>
            </a:r>
            <a:r>
              <a:rPr lang="en-US" sz="1500" dirty="0">
                <a:solidFill>
                  <a:srgbClr val="1F2937"/>
                </a:solidFill>
                <a:latin typeface="Calibri" pitchFamily="34" charset="0"/>
                <a:ea typeface="Calibri" pitchFamily="34" charset="-122"/>
                <a:cs typeface="Calibri" pitchFamily="34" charset="-120"/>
              </a:rPr>
              <a:t>Diş eti iltihabı</a:t>
            </a:r>
            <a:endParaRPr lang="en-US" sz="1500" dirty="0"/>
          </a:p>
        </p:txBody>
      </p:sp>
      <p:sp>
        <p:nvSpPr>
          <p:cNvPr id="10" name="Shape 8"/>
          <p:cNvSpPr/>
          <p:nvPr/>
        </p:nvSpPr>
        <p:spPr>
          <a:xfrm>
            <a:off x="548640" y="2676144"/>
            <a:ext cx="5410048" cy="684276"/>
          </a:xfrm>
          <a:prstGeom prst="roundRect">
            <a:avLst>
              <a:gd name="adj" fmla="val 9354"/>
            </a:avLst>
          </a:prstGeom>
          <a:solidFill>
            <a:srgbClr val="EAF5EE"/>
          </a:solidFill>
          <a:ln/>
        </p:spPr>
      </p:sp>
      <p:sp>
        <p:nvSpPr>
          <p:cNvPr id="11" name="Text 9"/>
          <p:cNvSpPr txBox="1"/>
          <p:nvPr/>
        </p:nvSpPr>
        <p:spPr>
          <a:xfrm>
            <a:off x="704088"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stomatitis (G) (stomatit): </a:t>
            </a:r>
            <a:r>
              <a:rPr lang="en-US" sz="1500" dirty="0">
                <a:solidFill>
                  <a:srgbClr val="1F2937"/>
                </a:solidFill>
                <a:latin typeface="Calibri" pitchFamily="34" charset="0"/>
                <a:ea typeface="Calibri" pitchFamily="34" charset="-122"/>
                <a:cs typeface="Calibri" pitchFamily="34" charset="-120"/>
              </a:rPr>
              <a:t>Ağız boşluğunu çevreleyen mukoza iltihabı</a:t>
            </a:r>
            <a:endParaRPr lang="en-US" sz="1500" dirty="0"/>
          </a:p>
        </p:txBody>
      </p:sp>
      <p:sp>
        <p:nvSpPr>
          <p:cNvPr id="12" name="Shape 10"/>
          <p:cNvSpPr/>
          <p:nvPr/>
        </p:nvSpPr>
        <p:spPr>
          <a:xfrm>
            <a:off x="548640" y="3451860"/>
            <a:ext cx="5410048" cy="451866"/>
          </a:xfrm>
          <a:prstGeom prst="roundRect">
            <a:avLst>
              <a:gd name="adj" fmla="val 14165"/>
            </a:avLst>
          </a:prstGeom>
          <a:solidFill>
            <a:srgbClr val="EAF5EE"/>
          </a:solidFill>
          <a:ln/>
        </p:spPr>
      </p:sp>
      <p:sp>
        <p:nvSpPr>
          <p:cNvPr id="13" name="Text 11"/>
          <p:cNvSpPr txBox="1"/>
          <p:nvPr/>
        </p:nvSpPr>
        <p:spPr>
          <a:xfrm>
            <a:off x="704088"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glottitis (G) (glottit): </a:t>
            </a:r>
            <a:r>
              <a:rPr lang="en-US" sz="1500" dirty="0">
                <a:solidFill>
                  <a:srgbClr val="1F2937"/>
                </a:solidFill>
                <a:latin typeface="Calibri" pitchFamily="34" charset="0"/>
                <a:ea typeface="Calibri" pitchFamily="34" charset="-122"/>
                <a:cs typeface="Calibri" pitchFamily="34" charset="-120"/>
              </a:rPr>
              <a:t>Dil iltihabı</a:t>
            </a:r>
            <a:endParaRPr lang="en-US" sz="1500" dirty="0"/>
          </a:p>
        </p:txBody>
      </p:sp>
      <p:sp>
        <p:nvSpPr>
          <p:cNvPr id="14" name="Shape 12"/>
          <p:cNvSpPr/>
          <p:nvPr/>
        </p:nvSpPr>
        <p:spPr>
          <a:xfrm>
            <a:off x="548640" y="3995166"/>
            <a:ext cx="5410048" cy="451866"/>
          </a:xfrm>
          <a:prstGeom prst="roundRect">
            <a:avLst>
              <a:gd name="adj" fmla="val 14165"/>
            </a:avLst>
          </a:prstGeom>
          <a:solidFill>
            <a:srgbClr val="EAF5EE"/>
          </a:solidFill>
          <a:ln/>
        </p:spPr>
      </p:sp>
      <p:sp>
        <p:nvSpPr>
          <p:cNvPr id="15" name="Text 13"/>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cheilitis (G) (keilit): </a:t>
            </a:r>
            <a:r>
              <a:rPr lang="en-US" sz="1500" dirty="0">
                <a:solidFill>
                  <a:srgbClr val="1F2937"/>
                </a:solidFill>
                <a:latin typeface="Calibri" pitchFamily="34" charset="0"/>
                <a:ea typeface="Calibri" pitchFamily="34" charset="-122"/>
                <a:cs typeface="Calibri" pitchFamily="34" charset="-120"/>
              </a:rPr>
              <a:t>Dudak iltihabbı</a:t>
            </a:r>
            <a:endParaRPr lang="en-US" sz="1500" dirty="0"/>
          </a:p>
        </p:txBody>
      </p:sp>
      <p:sp>
        <p:nvSpPr>
          <p:cNvPr id="16" name="Shape 14"/>
          <p:cNvSpPr/>
          <p:nvPr/>
        </p:nvSpPr>
        <p:spPr>
          <a:xfrm>
            <a:off x="548640" y="4538472"/>
            <a:ext cx="5410048" cy="451866"/>
          </a:xfrm>
          <a:prstGeom prst="roundRect">
            <a:avLst>
              <a:gd name="adj" fmla="val 14165"/>
            </a:avLst>
          </a:prstGeom>
          <a:solidFill>
            <a:srgbClr val="EAF5EE"/>
          </a:solidFill>
          <a:ln/>
        </p:spPr>
      </p:sp>
      <p:sp>
        <p:nvSpPr>
          <p:cNvPr id="17" name="Text 15"/>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oesophagitis (G) (özofajit): </a:t>
            </a:r>
            <a:r>
              <a:rPr lang="en-US" sz="1500" dirty="0">
                <a:solidFill>
                  <a:srgbClr val="1F2937"/>
                </a:solidFill>
                <a:latin typeface="Calibri" pitchFamily="34" charset="0"/>
                <a:ea typeface="Calibri" pitchFamily="34" charset="-122"/>
                <a:cs typeface="Calibri" pitchFamily="34" charset="-120"/>
              </a:rPr>
              <a:t>Yemek borusu iltihabı</a:t>
            </a:r>
            <a:endParaRPr lang="en-US" sz="1500" dirty="0"/>
          </a:p>
        </p:txBody>
      </p:sp>
      <p:sp>
        <p:nvSpPr>
          <p:cNvPr id="18" name="Shape 16"/>
          <p:cNvSpPr/>
          <p:nvPr/>
        </p:nvSpPr>
        <p:spPr>
          <a:xfrm>
            <a:off x="548640" y="5081778"/>
            <a:ext cx="5410048" cy="684276"/>
          </a:xfrm>
          <a:prstGeom prst="roundRect">
            <a:avLst>
              <a:gd name="adj" fmla="val 9354"/>
            </a:avLst>
          </a:prstGeom>
          <a:solidFill>
            <a:srgbClr val="EAF5EE"/>
          </a:solidFill>
          <a:ln/>
        </p:spPr>
      </p:sp>
      <p:sp>
        <p:nvSpPr>
          <p:cNvPr id="19" name="Text 17"/>
          <p:cNvSpPr txBox="1"/>
          <p:nvPr/>
        </p:nvSpPr>
        <p:spPr>
          <a:xfrm>
            <a:off x="704088"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parotitis (G) (parotit): </a:t>
            </a:r>
            <a:r>
              <a:rPr lang="en-US" sz="1500" dirty="0">
                <a:solidFill>
                  <a:srgbClr val="1F2937"/>
                </a:solidFill>
                <a:latin typeface="Calibri" pitchFamily="34" charset="0"/>
                <a:ea typeface="Calibri" pitchFamily="34" charset="-122"/>
                <a:cs typeface="Calibri" pitchFamily="34" charset="-120"/>
              </a:rPr>
              <a:t>Kabakulak, kulak altı tükürük bezinin iltihabı</a:t>
            </a:r>
            <a:endParaRPr lang="en-US" sz="1500" dirty="0"/>
          </a:p>
        </p:txBody>
      </p:sp>
      <p:sp>
        <p:nvSpPr>
          <p:cNvPr id="20" name="Shape 18"/>
          <p:cNvSpPr/>
          <p:nvPr/>
        </p:nvSpPr>
        <p:spPr>
          <a:xfrm>
            <a:off x="548640" y="5857494"/>
            <a:ext cx="5410048" cy="451866"/>
          </a:xfrm>
          <a:prstGeom prst="roundRect">
            <a:avLst>
              <a:gd name="adj" fmla="val 14165"/>
            </a:avLst>
          </a:prstGeom>
          <a:solidFill>
            <a:srgbClr val="EAF5EE"/>
          </a:solidFill>
          <a:ln/>
        </p:spPr>
      </p:sp>
      <p:sp>
        <p:nvSpPr>
          <p:cNvPr id="21" name="Text 19"/>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gastritis (G) (gastrit): </a:t>
            </a:r>
            <a:r>
              <a:rPr lang="en-US" sz="1500" dirty="0">
                <a:solidFill>
                  <a:srgbClr val="1F2937"/>
                </a:solidFill>
                <a:latin typeface="Calibri" pitchFamily="34" charset="0"/>
                <a:ea typeface="Calibri" pitchFamily="34" charset="-122"/>
                <a:cs typeface="Calibri" pitchFamily="34" charset="-120"/>
              </a:rPr>
              <a:t>mide iltihabı</a:t>
            </a:r>
            <a:endParaRPr lang="en-US" sz="1500" dirty="0"/>
          </a:p>
        </p:txBody>
      </p:sp>
      <p:sp>
        <p:nvSpPr>
          <p:cNvPr id="22" name="Shape 20"/>
          <p:cNvSpPr/>
          <p:nvPr/>
        </p:nvSpPr>
        <p:spPr>
          <a:xfrm>
            <a:off x="6233008" y="1589532"/>
            <a:ext cx="5410048" cy="451866"/>
          </a:xfrm>
          <a:prstGeom prst="roundRect">
            <a:avLst>
              <a:gd name="adj" fmla="val 14165"/>
            </a:avLst>
          </a:prstGeom>
          <a:solidFill>
            <a:srgbClr val="EAF5EE"/>
          </a:solidFill>
          <a:ln/>
        </p:spPr>
      </p:sp>
      <p:sp>
        <p:nvSpPr>
          <p:cNvPr id="23" name="Text 21"/>
          <p:cNvSpPr txBox="1"/>
          <p:nvPr/>
        </p:nvSpPr>
        <p:spPr>
          <a:xfrm>
            <a:off x="6388456"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enteritis (G) (enterit): </a:t>
            </a:r>
            <a:r>
              <a:rPr lang="en-US" sz="1500" dirty="0">
                <a:solidFill>
                  <a:srgbClr val="1F2937"/>
                </a:solidFill>
                <a:latin typeface="Calibri" pitchFamily="34" charset="0"/>
                <a:ea typeface="Calibri" pitchFamily="34" charset="-122"/>
                <a:cs typeface="Calibri" pitchFamily="34" charset="-120"/>
              </a:rPr>
              <a:t>İnce bağırsak iltihabı</a:t>
            </a:r>
            <a:endParaRPr lang="en-US" sz="1500" dirty="0"/>
          </a:p>
        </p:txBody>
      </p:sp>
      <p:sp>
        <p:nvSpPr>
          <p:cNvPr id="24" name="Shape 22"/>
          <p:cNvSpPr/>
          <p:nvPr/>
        </p:nvSpPr>
        <p:spPr>
          <a:xfrm>
            <a:off x="6233008" y="2132838"/>
            <a:ext cx="5410048" cy="451866"/>
          </a:xfrm>
          <a:prstGeom prst="roundRect">
            <a:avLst>
              <a:gd name="adj" fmla="val 14165"/>
            </a:avLst>
          </a:prstGeom>
          <a:solidFill>
            <a:srgbClr val="EAF5EE"/>
          </a:solidFill>
          <a:ln/>
        </p:spPr>
      </p:sp>
      <p:sp>
        <p:nvSpPr>
          <p:cNvPr id="25" name="Text 23"/>
          <p:cNvSpPr txBox="1"/>
          <p:nvPr/>
        </p:nvSpPr>
        <p:spPr>
          <a:xfrm>
            <a:off x="6388456"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colitis (G) (kolit): </a:t>
            </a:r>
            <a:r>
              <a:rPr lang="en-US" sz="1500" dirty="0">
                <a:solidFill>
                  <a:srgbClr val="1F2937"/>
                </a:solidFill>
                <a:latin typeface="Calibri" pitchFamily="34" charset="0"/>
                <a:ea typeface="Calibri" pitchFamily="34" charset="-122"/>
                <a:cs typeface="Calibri" pitchFamily="34" charset="-120"/>
              </a:rPr>
              <a:t>Kolon iltihabı</a:t>
            </a:r>
            <a:endParaRPr lang="en-US" sz="1500" dirty="0"/>
          </a:p>
        </p:txBody>
      </p:sp>
      <p:sp>
        <p:nvSpPr>
          <p:cNvPr id="26" name="Shape 24"/>
          <p:cNvSpPr/>
          <p:nvPr/>
        </p:nvSpPr>
        <p:spPr>
          <a:xfrm>
            <a:off x="6233008" y="2676144"/>
            <a:ext cx="5410048" cy="684276"/>
          </a:xfrm>
          <a:prstGeom prst="roundRect">
            <a:avLst>
              <a:gd name="adj" fmla="val 9354"/>
            </a:avLst>
          </a:prstGeom>
          <a:solidFill>
            <a:srgbClr val="EAF5EE"/>
          </a:solidFill>
          <a:ln/>
        </p:spPr>
      </p:sp>
      <p:sp>
        <p:nvSpPr>
          <p:cNvPr id="27" name="Text 25"/>
          <p:cNvSpPr txBox="1"/>
          <p:nvPr/>
        </p:nvSpPr>
        <p:spPr>
          <a:xfrm>
            <a:off x="6388456"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ulcerative (L) colitis (G) (ülseratif kolit): </a:t>
            </a:r>
            <a:r>
              <a:rPr lang="en-US" sz="1500" dirty="0">
                <a:solidFill>
                  <a:srgbClr val="1F2937"/>
                </a:solidFill>
                <a:latin typeface="Calibri" pitchFamily="34" charset="0"/>
                <a:ea typeface="Calibri" pitchFamily="34" charset="-122"/>
                <a:cs typeface="Calibri" pitchFamily="34" charset="-120"/>
              </a:rPr>
              <a:t>Kalın bağırsakta ülserle ortaya çıkan iltihabi bir hastalık</a:t>
            </a:r>
            <a:endParaRPr lang="en-US" sz="15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229</a:t>
            </a:r>
            <a:endParaRPr lang="en-US" sz="1000" dirty="0"/>
          </a:p>
        </p:txBody>
      </p:sp>
      <p:sp>
        <p:nvSpPr>
          <p:cNvPr id="6" name="Shape 4"/>
          <p:cNvSpPr/>
          <p:nvPr/>
        </p:nvSpPr>
        <p:spPr>
          <a:xfrm>
            <a:off x="548640" y="2132838"/>
            <a:ext cx="5410048" cy="451866"/>
          </a:xfrm>
          <a:prstGeom prst="roundRect">
            <a:avLst>
              <a:gd name="adj" fmla="val 14165"/>
            </a:avLst>
          </a:prstGeom>
          <a:solidFill>
            <a:srgbClr val="EAF5EE"/>
          </a:solidFill>
          <a:ln/>
        </p:spPr>
      </p:sp>
      <p:sp>
        <p:nvSpPr>
          <p:cNvPr id="7" name="Text 5"/>
          <p:cNvSpPr txBox="1"/>
          <p:nvPr/>
        </p:nvSpPr>
        <p:spPr>
          <a:xfrm>
            <a:off x="704088" y="220599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proctitis (G) (proktit): </a:t>
            </a:r>
            <a:r>
              <a:rPr lang="en-US" sz="1500" dirty="0">
                <a:solidFill>
                  <a:srgbClr val="1F2937"/>
                </a:solidFill>
                <a:latin typeface="Calibri" pitchFamily="34" charset="0"/>
                <a:ea typeface="Calibri" pitchFamily="34" charset="-122"/>
                <a:cs typeface="Calibri" pitchFamily="34" charset="-120"/>
              </a:rPr>
              <a:t>Rektum (düz bağırsak) iltihabı</a:t>
            </a:r>
            <a:endParaRPr lang="en-US" sz="1500" dirty="0"/>
          </a:p>
        </p:txBody>
      </p:sp>
      <p:sp>
        <p:nvSpPr>
          <p:cNvPr id="8" name="Shape 6"/>
          <p:cNvSpPr/>
          <p:nvPr/>
        </p:nvSpPr>
        <p:spPr>
          <a:xfrm>
            <a:off x="548640" y="2676144"/>
            <a:ext cx="5410048" cy="451866"/>
          </a:xfrm>
          <a:prstGeom prst="roundRect">
            <a:avLst>
              <a:gd name="adj" fmla="val 14165"/>
            </a:avLst>
          </a:prstGeom>
          <a:solidFill>
            <a:srgbClr val="EAF5EE"/>
          </a:solidFill>
          <a:ln/>
        </p:spPr>
      </p:sp>
      <p:sp>
        <p:nvSpPr>
          <p:cNvPr id="9" name="Text 7"/>
          <p:cNvSpPr txBox="1"/>
          <p:nvPr/>
        </p:nvSpPr>
        <p:spPr>
          <a:xfrm>
            <a:off x="704088" y="274929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pancreatitis (G) (pankreatit): </a:t>
            </a:r>
            <a:r>
              <a:rPr lang="en-US" sz="1500" dirty="0">
                <a:solidFill>
                  <a:srgbClr val="1F2937"/>
                </a:solidFill>
                <a:latin typeface="Calibri" pitchFamily="34" charset="0"/>
                <a:ea typeface="Calibri" pitchFamily="34" charset="-122"/>
                <a:cs typeface="Calibri" pitchFamily="34" charset="-120"/>
              </a:rPr>
              <a:t>Pankreas iltihabı</a:t>
            </a:r>
            <a:endParaRPr lang="en-US" sz="1500" dirty="0"/>
          </a:p>
        </p:txBody>
      </p:sp>
      <p:sp>
        <p:nvSpPr>
          <p:cNvPr id="10" name="Shape 8"/>
          <p:cNvSpPr/>
          <p:nvPr/>
        </p:nvSpPr>
        <p:spPr>
          <a:xfrm>
            <a:off x="548640" y="3219450"/>
            <a:ext cx="5410048" cy="451866"/>
          </a:xfrm>
          <a:prstGeom prst="roundRect">
            <a:avLst>
              <a:gd name="adj" fmla="val 14165"/>
            </a:avLst>
          </a:prstGeom>
          <a:solidFill>
            <a:srgbClr val="EAF5EE"/>
          </a:solidFill>
          <a:ln/>
        </p:spPr>
      </p:sp>
      <p:sp>
        <p:nvSpPr>
          <p:cNvPr id="11" name="Text 9"/>
          <p:cNvSpPr txBox="1"/>
          <p:nvPr/>
        </p:nvSpPr>
        <p:spPr>
          <a:xfrm>
            <a:off x="704088"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cholecystitis (G) (kolesistit): </a:t>
            </a:r>
            <a:r>
              <a:rPr lang="en-US" sz="1500" dirty="0">
                <a:solidFill>
                  <a:srgbClr val="1F2937"/>
                </a:solidFill>
                <a:latin typeface="Calibri" pitchFamily="34" charset="0"/>
                <a:ea typeface="Calibri" pitchFamily="34" charset="-122"/>
                <a:cs typeface="Calibri" pitchFamily="34" charset="-120"/>
              </a:rPr>
              <a:t>Safra kesesi iltihabı</a:t>
            </a:r>
            <a:endParaRPr lang="en-US" sz="1500" dirty="0"/>
          </a:p>
        </p:txBody>
      </p:sp>
      <p:sp>
        <p:nvSpPr>
          <p:cNvPr id="12" name="Shape 10"/>
          <p:cNvSpPr/>
          <p:nvPr/>
        </p:nvSpPr>
        <p:spPr>
          <a:xfrm>
            <a:off x="548640" y="3762756"/>
            <a:ext cx="5410048" cy="451866"/>
          </a:xfrm>
          <a:prstGeom prst="roundRect">
            <a:avLst>
              <a:gd name="adj" fmla="val 14165"/>
            </a:avLst>
          </a:prstGeom>
          <a:solidFill>
            <a:srgbClr val="EAF5EE"/>
          </a:solidFill>
          <a:ln/>
        </p:spPr>
      </p:sp>
      <p:sp>
        <p:nvSpPr>
          <p:cNvPr id="13" name="Text 11"/>
          <p:cNvSpPr txBox="1"/>
          <p:nvPr/>
        </p:nvSpPr>
        <p:spPr>
          <a:xfrm>
            <a:off x="704088"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cholangitis (G) (kolanjit): </a:t>
            </a:r>
            <a:r>
              <a:rPr lang="en-US" sz="1500" dirty="0">
                <a:solidFill>
                  <a:srgbClr val="1F2937"/>
                </a:solidFill>
                <a:latin typeface="Calibri" pitchFamily="34" charset="0"/>
                <a:ea typeface="Calibri" pitchFamily="34" charset="-122"/>
                <a:cs typeface="Calibri" pitchFamily="34" charset="-120"/>
              </a:rPr>
              <a:t>Safra kanallarının iltihabı</a:t>
            </a:r>
            <a:endParaRPr lang="en-US" sz="1500" dirty="0"/>
          </a:p>
        </p:txBody>
      </p:sp>
      <p:sp>
        <p:nvSpPr>
          <p:cNvPr id="14" name="Shape 12"/>
          <p:cNvSpPr/>
          <p:nvPr/>
        </p:nvSpPr>
        <p:spPr>
          <a:xfrm>
            <a:off x="548640" y="4306062"/>
            <a:ext cx="5410048" cy="684276"/>
          </a:xfrm>
          <a:prstGeom prst="roundRect">
            <a:avLst>
              <a:gd name="adj" fmla="val 9354"/>
            </a:avLst>
          </a:prstGeom>
          <a:solidFill>
            <a:srgbClr val="EAF5EE"/>
          </a:solidFill>
          <a:ln/>
        </p:spPr>
      </p:sp>
      <p:sp>
        <p:nvSpPr>
          <p:cNvPr id="15" name="Text 13"/>
          <p:cNvSpPr txBox="1"/>
          <p:nvPr/>
        </p:nvSpPr>
        <p:spPr>
          <a:xfrm>
            <a:off x="704088"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cholecystolithiasis (G) (kolesistolityaz): </a:t>
            </a:r>
            <a:r>
              <a:rPr lang="en-US" sz="1500" dirty="0">
                <a:solidFill>
                  <a:srgbClr val="1F2937"/>
                </a:solidFill>
                <a:latin typeface="Calibri" pitchFamily="34" charset="0"/>
                <a:ea typeface="Calibri" pitchFamily="34" charset="-122"/>
                <a:cs typeface="Calibri" pitchFamily="34" charset="-120"/>
              </a:rPr>
              <a:t>Safra kesesinde taş oluşması</a:t>
            </a:r>
            <a:endParaRPr lang="en-US" sz="1500" dirty="0"/>
          </a:p>
        </p:txBody>
      </p:sp>
      <p:sp>
        <p:nvSpPr>
          <p:cNvPr id="16" name="Shape 14"/>
          <p:cNvSpPr/>
          <p:nvPr/>
        </p:nvSpPr>
        <p:spPr>
          <a:xfrm>
            <a:off x="548640" y="5081778"/>
            <a:ext cx="5410048" cy="684276"/>
          </a:xfrm>
          <a:prstGeom prst="roundRect">
            <a:avLst>
              <a:gd name="adj" fmla="val 9354"/>
            </a:avLst>
          </a:prstGeom>
          <a:solidFill>
            <a:srgbClr val="EAF5EE"/>
          </a:solidFill>
          <a:ln/>
        </p:spPr>
      </p:sp>
      <p:sp>
        <p:nvSpPr>
          <p:cNvPr id="17" name="Text 15"/>
          <p:cNvSpPr txBox="1"/>
          <p:nvPr/>
        </p:nvSpPr>
        <p:spPr>
          <a:xfrm>
            <a:off x="704088"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icterus (G) (ikter): </a:t>
            </a:r>
            <a:r>
              <a:rPr lang="en-US" sz="1500" dirty="0">
                <a:solidFill>
                  <a:srgbClr val="1F2937"/>
                </a:solidFill>
                <a:latin typeface="Calibri" pitchFamily="34" charset="0"/>
                <a:ea typeface="Calibri" pitchFamily="34" charset="-122"/>
                <a:cs typeface="Calibri" pitchFamily="34" charset="-120"/>
              </a:rPr>
              <a:t>Sarılık. Kanda bilirubin yükselmesiyle belirlenen, deri ve mukozaların sarardığı tablo</a:t>
            </a:r>
            <a:endParaRPr lang="en-US" sz="1500" dirty="0"/>
          </a:p>
        </p:txBody>
      </p:sp>
      <p:sp>
        <p:nvSpPr>
          <p:cNvPr id="18" name="Shape 16"/>
          <p:cNvSpPr/>
          <p:nvPr/>
        </p:nvSpPr>
        <p:spPr>
          <a:xfrm>
            <a:off x="548640" y="5857494"/>
            <a:ext cx="5410048" cy="451866"/>
          </a:xfrm>
          <a:prstGeom prst="roundRect">
            <a:avLst>
              <a:gd name="adj" fmla="val 14165"/>
            </a:avLst>
          </a:prstGeom>
          <a:solidFill>
            <a:srgbClr val="EAF5EE"/>
          </a:solidFill>
          <a:ln/>
        </p:spPr>
      </p:sp>
      <p:sp>
        <p:nvSpPr>
          <p:cNvPr id="19" name="Text 17"/>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hepatitis (G) (hepatit): </a:t>
            </a:r>
            <a:r>
              <a:rPr lang="en-US" sz="1500" dirty="0">
                <a:solidFill>
                  <a:srgbClr val="1F2937"/>
                </a:solidFill>
                <a:latin typeface="Calibri" pitchFamily="34" charset="0"/>
                <a:ea typeface="Calibri" pitchFamily="34" charset="-122"/>
                <a:cs typeface="Calibri" pitchFamily="34" charset="-120"/>
              </a:rPr>
              <a:t>Karaciğer iltihabı</a:t>
            </a:r>
            <a:endParaRPr lang="en-US" sz="1500" dirty="0"/>
          </a:p>
        </p:txBody>
      </p:sp>
      <p:sp>
        <p:nvSpPr>
          <p:cNvPr id="20" name="Shape 18"/>
          <p:cNvSpPr/>
          <p:nvPr/>
        </p:nvSpPr>
        <p:spPr>
          <a:xfrm>
            <a:off x="6233008" y="2132838"/>
            <a:ext cx="5410048" cy="916686"/>
          </a:xfrm>
          <a:prstGeom prst="roundRect">
            <a:avLst>
              <a:gd name="adj" fmla="val 6983"/>
            </a:avLst>
          </a:prstGeom>
          <a:solidFill>
            <a:srgbClr val="EAF5EE"/>
          </a:solidFill>
          <a:ln/>
        </p:spPr>
      </p:sp>
      <p:sp>
        <p:nvSpPr>
          <p:cNvPr id="21" name="Text 19"/>
          <p:cNvSpPr txBox="1"/>
          <p:nvPr/>
        </p:nvSpPr>
        <p:spPr>
          <a:xfrm>
            <a:off x="6388456" y="220599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hepatic cirrhosis (G) (hepatik siroz): </a:t>
            </a:r>
            <a:r>
              <a:rPr lang="en-US" sz="1500" dirty="0">
                <a:solidFill>
                  <a:srgbClr val="1F2937"/>
                </a:solidFill>
                <a:latin typeface="Calibri" pitchFamily="34" charset="0"/>
                <a:ea typeface="Calibri" pitchFamily="34" charset="-122"/>
                <a:cs typeface="Calibri" pitchFamily="34" charset="-120"/>
              </a:rPr>
              <a:t>Karaciğerde parankimal hücre yıkılması ve fibrozisle giden geri dönüşsüz bir hastalık</a:t>
            </a:r>
            <a:endParaRPr lang="en-US" sz="1500" dirty="0"/>
          </a:p>
        </p:txBody>
      </p:sp>
      <p:sp>
        <p:nvSpPr>
          <p:cNvPr id="22" name="Shape 20"/>
          <p:cNvSpPr/>
          <p:nvPr/>
        </p:nvSpPr>
        <p:spPr>
          <a:xfrm>
            <a:off x="6233008" y="3140964"/>
            <a:ext cx="5410048" cy="451866"/>
          </a:xfrm>
          <a:prstGeom prst="roundRect">
            <a:avLst>
              <a:gd name="adj" fmla="val 14165"/>
            </a:avLst>
          </a:prstGeom>
          <a:solidFill>
            <a:srgbClr val="EAF5EE"/>
          </a:solidFill>
          <a:ln/>
        </p:spPr>
      </p:sp>
      <p:sp>
        <p:nvSpPr>
          <p:cNvPr id="23" name="Text 21"/>
          <p:cNvSpPr txBox="1"/>
          <p:nvPr/>
        </p:nvSpPr>
        <p:spPr>
          <a:xfrm>
            <a:off x="6388456" y="321411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hepatic (G) abcess (L) (hepatik abse): </a:t>
            </a:r>
            <a:r>
              <a:rPr lang="en-US" sz="1500" dirty="0">
                <a:solidFill>
                  <a:srgbClr val="1F2937"/>
                </a:solidFill>
                <a:latin typeface="Calibri" pitchFamily="34" charset="0"/>
                <a:ea typeface="Calibri" pitchFamily="34" charset="-122"/>
                <a:cs typeface="Calibri" pitchFamily="34" charset="-120"/>
              </a:rPr>
              <a:t>Karaciğer absesi</a:t>
            </a:r>
            <a:endParaRPr lang="en-US" sz="1500" dirty="0"/>
          </a:p>
        </p:txBody>
      </p:sp>
      <p:sp>
        <p:nvSpPr>
          <p:cNvPr id="24" name="Shape 22"/>
          <p:cNvSpPr/>
          <p:nvPr/>
        </p:nvSpPr>
        <p:spPr>
          <a:xfrm>
            <a:off x="6233008" y="3684270"/>
            <a:ext cx="5410048" cy="451866"/>
          </a:xfrm>
          <a:prstGeom prst="roundRect">
            <a:avLst>
              <a:gd name="adj" fmla="val 14165"/>
            </a:avLst>
          </a:prstGeom>
          <a:solidFill>
            <a:srgbClr val="EAF5EE"/>
          </a:solidFill>
          <a:ln/>
        </p:spPr>
      </p:sp>
      <p:sp>
        <p:nvSpPr>
          <p:cNvPr id="25" name="Text 23"/>
          <p:cNvSpPr txBox="1"/>
          <p:nvPr/>
        </p:nvSpPr>
        <p:spPr>
          <a:xfrm>
            <a:off x="6388456" y="375742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hepatomegaly (G) (hepatomegali): </a:t>
            </a:r>
            <a:r>
              <a:rPr lang="en-US" sz="1500" dirty="0">
                <a:solidFill>
                  <a:srgbClr val="1F2937"/>
                </a:solidFill>
                <a:latin typeface="Calibri" pitchFamily="34" charset="0"/>
                <a:ea typeface="Calibri" pitchFamily="34" charset="-122"/>
                <a:cs typeface="Calibri" pitchFamily="34" charset="-120"/>
              </a:rPr>
              <a:t>Karaciğer büyümesi</a:t>
            </a:r>
            <a:endParaRPr lang="en-US" sz="1500" dirty="0"/>
          </a:p>
        </p:txBody>
      </p:sp>
      <p:sp>
        <p:nvSpPr>
          <p:cNvPr id="26" name="Shape 24"/>
          <p:cNvSpPr/>
          <p:nvPr/>
        </p:nvSpPr>
        <p:spPr>
          <a:xfrm>
            <a:off x="6233008" y="4227576"/>
            <a:ext cx="5410048" cy="684276"/>
          </a:xfrm>
          <a:prstGeom prst="roundRect">
            <a:avLst>
              <a:gd name="adj" fmla="val 9354"/>
            </a:avLst>
          </a:prstGeom>
          <a:solidFill>
            <a:srgbClr val="EAF5EE"/>
          </a:solidFill>
          <a:ln/>
        </p:spPr>
      </p:sp>
      <p:sp>
        <p:nvSpPr>
          <p:cNvPr id="27" name="Text 25"/>
          <p:cNvSpPr txBox="1"/>
          <p:nvPr/>
        </p:nvSpPr>
        <p:spPr>
          <a:xfrm>
            <a:off x="6388456" y="430072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hepatocellular carcinoma (G) (hepatosellülar karsinoma): </a:t>
            </a:r>
            <a:r>
              <a:rPr lang="en-US" sz="1500" dirty="0">
                <a:solidFill>
                  <a:srgbClr val="1F2937"/>
                </a:solidFill>
                <a:latin typeface="Calibri" pitchFamily="34" charset="0"/>
                <a:ea typeface="Calibri" pitchFamily="34" charset="-122"/>
                <a:cs typeface="Calibri" pitchFamily="34" charset="-120"/>
              </a:rPr>
              <a:t>Karaciğer kanseri</a:t>
            </a:r>
            <a:endParaRPr lang="en-US" sz="15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230</a:t>
            </a:r>
            <a:endParaRPr lang="en-US" sz="1000" dirty="0"/>
          </a:p>
        </p:txBody>
      </p:sp>
      <p:sp>
        <p:nvSpPr>
          <p:cNvPr id="6" name="Shape 4"/>
          <p:cNvSpPr/>
          <p:nvPr/>
        </p:nvSpPr>
        <p:spPr>
          <a:xfrm>
            <a:off x="548640" y="1553820"/>
            <a:ext cx="11094415" cy="638658"/>
          </a:xfrm>
          <a:prstGeom prst="roundRect">
            <a:avLst>
              <a:gd name="adj" fmla="val 10022"/>
            </a:avLst>
          </a:prstGeom>
          <a:solidFill>
            <a:srgbClr val="EAF5EE"/>
          </a:solidFill>
          <a:ln/>
        </p:spPr>
      </p:sp>
      <p:sp>
        <p:nvSpPr>
          <p:cNvPr id="7" name="Text 5"/>
          <p:cNvSpPr txBox="1"/>
          <p:nvPr/>
        </p:nvSpPr>
        <p:spPr>
          <a:xfrm>
            <a:off x="704088" y="162697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intestinal intoxiction (intestinal intoksikasyon): </a:t>
            </a:r>
            <a:r>
              <a:rPr lang="en-US" sz="1400" dirty="0">
                <a:solidFill>
                  <a:srgbClr val="1F2937"/>
                </a:solidFill>
                <a:latin typeface="Calibri" pitchFamily="34" charset="0"/>
                <a:ea typeface="Calibri" pitchFamily="34" charset="-122"/>
                <a:cs typeface="Calibri" pitchFamily="34" charset="-120"/>
              </a:rPr>
              <a:t>Toksik nitelikteki metabolizma atıklarının bağırsaklardan emilerek kan ve dokulara geçmesi sonucu gelişen zehirlenme</a:t>
            </a:r>
            <a:endParaRPr lang="en-US" sz="1400" dirty="0"/>
          </a:p>
        </p:txBody>
      </p:sp>
      <p:sp>
        <p:nvSpPr>
          <p:cNvPr id="8" name="Shape 6"/>
          <p:cNvSpPr/>
          <p:nvPr/>
        </p:nvSpPr>
        <p:spPr>
          <a:xfrm>
            <a:off x="548640" y="2374697"/>
            <a:ext cx="11094415" cy="638658"/>
          </a:xfrm>
          <a:prstGeom prst="roundRect">
            <a:avLst>
              <a:gd name="adj" fmla="val 10022"/>
            </a:avLst>
          </a:prstGeom>
          <a:solidFill>
            <a:srgbClr val="EAF5EE"/>
          </a:solidFill>
          <a:ln/>
        </p:spPr>
      </p:sp>
      <p:sp>
        <p:nvSpPr>
          <p:cNvPr id="9" name="Text 7"/>
          <p:cNvSpPr txBox="1"/>
          <p:nvPr/>
        </p:nvSpPr>
        <p:spPr>
          <a:xfrm>
            <a:off x="704088" y="2447849"/>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achalasia (G) (akalazya): </a:t>
            </a:r>
            <a:r>
              <a:rPr lang="en-US" sz="1400" dirty="0">
                <a:solidFill>
                  <a:srgbClr val="1F2937"/>
                </a:solidFill>
                <a:latin typeface="Calibri" pitchFamily="34" charset="0"/>
                <a:ea typeface="Calibri" pitchFamily="34" charset="-122"/>
                <a:cs typeface="Calibri" pitchFamily="34" charset="-120"/>
              </a:rPr>
              <a:t>Özofagus alt ucunda gevşeme bozukluğu ve peristaltismin kaybı neticesinde yiyeceklerin mideye geçememesi durumudur.</a:t>
            </a:r>
            <a:endParaRPr lang="en-US" sz="1400" dirty="0"/>
          </a:p>
        </p:txBody>
      </p:sp>
      <p:sp>
        <p:nvSpPr>
          <p:cNvPr id="10" name="Shape 8"/>
          <p:cNvSpPr/>
          <p:nvPr/>
        </p:nvSpPr>
        <p:spPr>
          <a:xfrm>
            <a:off x="548640" y="3104794"/>
            <a:ext cx="11094415" cy="421742"/>
          </a:xfrm>
          <a:prstGeom prst="roundRect">
            <a:avLst>
              <a:gd name="adj" fmla="val 15177"/>
            </a:avLst>
          </a:prstGeom>
          <a:solidFill>
            <a:srgbClr val="EAF5EE"/>
          </a:solidFill>
          <a:ln/>
        </p:spPr>
      </p:sp>
      <p:sp>
        <p:nvSpPr>
          <p:cNvPr id="11" name="Text 9"/>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oesophageal (G) atresia (L) (özogageal atrezi): </a:t>
            </a:r>
            <a:r>
              <a:rPr lang="en-US" sz="1400" dirty="0">
                <a:solidFill>
                  <a:srgbClr val="1F2937"/>
                </a:solidFill>
                <a:latin typeface="Calibri" pitchFamily="34" charset="0"/>
                <a:ea typeface="Calibri" pitchFamily="34" charset="-122"/>
                <a:cs typeface="Calibri" pitchFamily="34" charset="-120"/>
              </a:rPr>
              <a:t>yemek borusunun doğuştan ve patolojik olarak kapanması</a:t>
            </a:r>
            <a:endParaRPr lang="en-US" sz="1400" dirty="0"/>
          </a:p>
        </p:txBody>
      </p:sp>
      <p:sp>
        <p:nvSpPr>
          <p:cNvPr id="12" name="Shape 10"/>
          <p:cNvSpPr/>
          <p:nvPr/>
        </p:nvSpPr>
        <p:spPr>
          <a:xfrm>
            <a:off x="548640" y="3617976"/>
            <a:ext cx="11094415" cy="638658"/>
          </a:xfrm>
          <a:prstGeom prst="roundRect">
            <a:avLst>
              <a:gd name="adj" fmla="val 10022"/>
            </a:avLst>
          </a:prstGeom>
          <a:solidFill>
            <a:srgbClr val="EAF5EE"/>
          </a:solidFill>
          <a:ln/>
        </p:spPr>
      </p:sp>
      <p:sp>
        <p:nvSpPr>
          <p:cNvPr id="13" name="Text 11"/>
          <p:cNvSpPr txBox="1"/>
          <p:nvPr/>
        </p:nvSpPr>
        <p:spPr>
          <a:xfrm>
            <a:off x="704088" y="3691128"/>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oesophageal (G) diverticulum (L) (özofageal divertikulum): </a:t>
            </a:r>
            <a:r>
              <a:rPr lang="en-US" sz="1400" dirty="0">
                <a:solidFill>
                  <a:srgbClr val="1F2937"/>
                </a:solidFill>
                <a:latin typeface="Calibri" pitchFamily="34" charset="0"/>
                <a:ea typeface="Calibri" pitchFamily="34" charset="-122"/>
                <a:cs typeface="Calibri" pitchFamily="34" charset="-120"/>
              </a:rPr>
              <a:t>Özofagus duvarının bir yerinden dışarıya doğru torba gibi çıkıntı yapması</a:t>
            </a:r>
            <a:endParaRPr lang="en-US" sz="1400" dirty="0"/>
          </a:p>
        </p:txBody>
      </p:sp>
      <p:sp>
        <p:nvSpPr>
          <p:cNvPr id="14" name="Shape 12"/>
          <p:cNvSpPr/>
          <p:nvPr/>
        </p:nvSpPr>
        <p:spPr>
          <a:xfrm>
            <a:off x="548640" y="4348074"/>
            <a:ext cx="11094415" cy="421742"/>
          </a:xfrm>
          <a:prstGeom prst="roundRect">
            <a:avLst>
              <a:gd name="adj" fmla="val 15177"/>
            </a:avLst>
          </a:prstGeom>
          <a:solidFill>
            <a:srgbClr val="EAF5EE"/>
          </a:solidFill>
          <a:ln/>
        </p:spPr>
      </p:sp>
      <p:sp>
        <p:nvSpPr>
          <p:cNvPr id="15" name="Text 13"/>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Zenker diverticulum (L): </a:t>
            </a:r>
            <a:r>
              <a:rPr lang="en-US" sz="1400" dirty="0">
                <a:solidFill>
                  <a:srgbClr val="1F2937"/>
                </a:solidFill>
                <a:latin typeface="Calibri" pitchFamily="34" charset="0"/>
                <a:ea typeface="Calibri" pitchFamily="34" charset="-122"/>
                <a:cs typeface="Calibri" pitchFamily="34" charset="-120"/>
              </a:rPr>
              <a:t>Farinksle özofagusun birleştiği yerde lateral duvarda oluşan divertiküller</a:t>
            </a:r>
            <a:endParaRPr lang="en-US" sz="1400" dirty="0"/>
          </a:p>
        </p:txBody>
      </p:sp>
      <p:sp>
        <p:nvSpPr>
          <p:cNvPr id="16" name="Shape 14"/>
          <p:cNvSpPr/>
          <p:nvPr/>
        </p:nvSpPr>
        <p:spPr>
          <a:xfrm>
            <a:off x="548640" y="4861255"/>
            <a:ext cx="11094415" cy="421742"/>
          </a:xfrm>
          <a:prstGeom prst="roundRect">
            <a:avLst>
              <a:gd name="adj" fmla="val 15177"/>
            </a:avLst>
          </a:prstGeom>
          <a:solidFill>
            <a:srgbClr val="EAF5EE"/>
          </a:solidFill>
          <a:ln/>
        </p:spPr>
      </p:sp>
      <p:sp>
        <p:nvSpPr>
          <p:cNvPr id="17" name="Text 15"/>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peptic ulcus (G) (peptik ulkus): </a:t>
            </a:r>
            <a:r>
              <a:rPr lang="en-US" sz="1400" dirty="0">
                <a:solidFill>
                  <a:srgbClr val="1F2937"/>
                </a:solidFill>
                <a:latin typeface="Calibri" pitchFamily="34" charset="0"/>
                <a:ea typeface="Calibri" pitchFamily="34" charset="-122"/>
                <a:cs typeface="Calibri" pitchFamily="34" charset="-120"/>
              </a:rPr>
              <a:t>mide ve duodenumda asit-pepsin aktivitesinin artışı sonucudoku kaybı ile ortaya çıkan yara</a:t>
            </a:r>
            <a:endParaRPr lang="en-US" sz="1400" dirty="0"/>
          </a:p>
        </p:txBody>
      </p:sp>
      <p:sp>
        <p:nvSpPr>
          <p:cNvPr id="18" name="Shape 16"/>
          <p:cNvSpPr/>
          <p:nvPr/>
        </p:nvSpPr>
        <p:spPr>
          <a:xfrm>
            <a:off x="548640" y="5374437"/>
            <a:ext cx="11094415" cy="421742"/>
          </a:xfrm>
          <a:prstGeom prst="roundRect">
            <a:avLst>
              <a:gd name="adj" fmla="val 15177"/>
            </a:avLst>
          </a:prstGeom>
          <a:solidFill>
            <a:srgbClr val="EAF5EE"/>
          </a:solidFill>
          <a:ln/>
        </p:spPr>
      </p:sp>
      <p:sp>
        <p:nvSpPr>
          <p:cNvPr id="19" name="Text 17"/>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peptic oesophagitis (G) (peptic özogajit): </a:t>
            </a:r>
            <a:r>
              <a:rPr lang="en-US" sz="1400" dirty="0">
                <a:solidFill>
                  <a:srgbClr val="1F2937"/>
                </a:solidFill>
                <a:latin typeface="Calibri" pitchFamily="34" charset="0"/>
                <a:ea typeface="Calibri" pitchFamily="34" charset="-122"/>
                <a:cs typeface="Calibri" pitchFamily="34" charset="-120"/>
              </a:rPr>
              <a:t>Mide asidinin özofagusa geri kaçması sonucu oluşan özofagus iltihabıdır</a:t>
            </a:r>
            <a:endParaRPr lang="en-US" sz="1400" dirty="0"/>
          </a:p>
        </p:txBody>
      </p:sp>
      <p:sp>
        <p:nvSpPr>
          <p:cNvPr id="20" name="Shape 18"/>
          <p:cNvSpPr/>
          <p:nvPr/>
        </p:nvSpPr>
        <p:spPr>
          <a:xfrm>
            <a:off x="548640" y="5887618"/>
            <a:ext cx="11094415" cy="421742"/>
          </a:xfrm>
          <a:prstGeom prst="roundRect">
            <a:avLst>
              <a:gd name="adj" fmla="val 15177"/>
            </a:avLst>
          </a:prstGeom>
          <a:solidFill>
            <a:srgbClr val="EAF5EE"/>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5803D"/>
                </a:solidFill>
                <a:latin typeface="Calibri" pitchFamily="34" charset="0"/>
                <a:ea typeface="Calibri" pitchFamily="34" charset="-122"/>
                <a:cs typeface="Calibri" pitchFamily="34" charset="-120"/>
              </a:rPr>
              <a:t>intoxication (intoksikasyon): </a:t>
            </a:r>
            <a:r>
              <a:rPr lang="en-US" sz="1400" dirty="0">
                <a:solidFill>
                  <a:srgbClr val="1F2937"/>
                </a:solidFill>
                <a:latin typeface="Calibri" pitchFamily="34" charset="0"/>
                <a:ea typeface="Calibri" pitchFamily="34" charset="-122"/>
                <a:cs typeface="Calibri" pitchFamily="34" charset="-120"/>
              </a:rPr>
              <a:t>Zehirlenme</a:t>
            </a:r>
            <a:endParaRPr lang="en-US" sz="14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231</a:t>
            </a:r>
            <a:endParaRPr lang="en-US" sz="1000" dirty="0"/>
          </a:p>
        </p:txBody>
      </p:sp>
      <p:sp>
        <p:nvSpPr>
          <p:cNvPr id="6" name="Shape 4"/>
          <p:cNvSpPr/>
          <p:nvPr/>
        </p:nvSpPr>
        <p:spPr>
          <a:xfrm>
            <a:off x="548640" y="1514094"/>
            <a:ext cx="5410048" cy="916686"/>
          </a:xfrm>
          <a:prstGeom prst="roundRect">
            <a:avLst>
              <a:gd name="adj" fmla="val 6983"/>
            </a:avLst>
          </a:prstGeom>
          <a:solidFill>
            <a:srgbClr val="EAF5EE"/>
          </a:solidFill>
          <a:ln/>
        </p:spPr>
      </p:sp>
      <p:sp>
        <p:nvSpPr>
          <p:cNvPr id="7" name="Text 5"/>
          <p:cNvSpPr txBox="1"/>
          <p:nvPr/>
        </p:nvSpPr>
        <p:spPr>
          <a:xfrm>
            <a:off x="704088" y="158724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regional (L) enteritis (Chron hastalığı): </a:t>
            </a:r>
            <a:r>
              <a:rPr lang="en-US" sz="1500" dirty="0">
                <a:solidFill>
                  <a:srgbClr val="1F2937"/>
                </a:solidFill>
                <a:latin typeface="Calibri" pitchFamily="34" charset="0"/>
                <a:ea typeface="Calibri" pitchFamily="34" charset="-122"/>
                <a:cs typeface="Calibri" pitchFamily="34" charset="-120"/>
              </a:rPr>
              <a:t>En sık terminal ileumu tutan, granülom ve ülserasyonlarla ortaya çıkan inflamatuvar bir hastalık</a:t>
            </a:r>
            <a:endParaRPr lang="en-US" sz="1500" dirty="0"/>
          </a:p>
        </p:txBody>
      </p:sp>
      <p:sp>
        <p:nvSpPr>
          <p:cNvPr id="8" name="Shape 6"/>
          <p:cNvSpPr/>
          <p:nvPr/>
        </p:nvSpPr>
        <p:spPr>
          <a:xfrm>
            <a:off x="548640" y="2522220"/>
            <a:ext cx="5410048" cy="684276"/>
          </a:xfrm>
          <a:prstGeom prst="roundRect">
            <a:avLst>
              <a:gd name="adj" fmla="val 9354"/>
            </a:avLst>
          </a:prstGeom>
          <a:solidFill>
            <a:srgbClr val="EAF5EE"/>
          </a:solidFill>
          <a:ln/>
        </p:spPr>
      </p:sp>
      <p:sp>
        <p:nvSpPr>
          <p:cNvPr id="9" name="Text 7"/>
          <p:cNvSpPr txBox="1"/>
          <p:nvPr/>
        </p:nvSpPr>
        <p:spPr>
          <a:xfrm>
            <a:off x="704088" y="259537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colon diverticulum (L): </a:t>
            </a:r>
            <a:r>
              <a:rPr lang="en-US" sz="1500" dirty="0">
                <a:solidFill>
                  <a:srgbClr val="1F2937"/>
                </a:solidFill>
                <a:latin typeface="Calibri" pitchFamily="34" charset="0"/>
                <a:ea typeface="Calibri" pitchFamily="34" charset="-122"/>
                <a:cs typeface="Calibri" pitchFamily="34" charset="-120"/>
              </a:rPr>
              <a:t>kolon duvarında torbalanma. Burası bazen yangılaşır ve divertikülit oluşur.</a:t>
            </a:r>
            <a:endParaRPr lang="en-US" sz="1500" dirty="0"/>
          </a:p>
        </p:txBody>
      </p:sp>
      <p:sp>
        <p:nvSpPr>
          <p:cNvPr id="10" name="Shape 8"/>
          <p:cNvSpPr/>
          <p:nvPr/>
        </p:nvSpPr>
        <p:spPr>
          <a:xfrm>
            <a:off x="548640" y="3297936"/>
            <a:ext cx="5410048" cy="684276"/>
          </a:xfrm>
          <a:prstGeom prst="roundRect">
            <a:avLst>
              <a:gd name="adj" fmla="val 9354"/>
            </a:avLst>
          </a:prstGeom>
          <a:solidFill>
            <a:srgbClr val="EAF5EE"/>
          </a:solidFill>
          <a:ln/>
        </p:spPr>
      </p:sp>
      <p:sp>
        <p:nvSpPr>
          <p:cNvPr id="11" name="Text 9"/>
          <p:cNvSpPr txBox="1"/>
          <p:nvPr/>
        </p:nvSpPr>
        <p:spPr>
          <a:xfrm>
            <a:off x="704088" y="337108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colon polyp (LG) (kolon polip): </a:t>
            </a:r>
            <a:r>
              <a:rPr lang="en-US" sz="1500" dirty="0">
                <a:solidFill>
                  <a:srgbClr val="1F2937"/>
                </a:solidFill>
                <a:latin typeface="Calibri" pitchFamily="34" charset="0"/>
                <a:ea typeface="Calibri" pitchFamily="34" charset="-122"/>
                <a:cs typeface="Calibri" pitchFamily="34" charset="-120"/>
              </a:rPr>
              <a:t>Bağırsak lümenine sarkan saplı ya da sapsız solid kitle</a:t>
            </a:r>
            <a:endParaRPr lang="en-US" sz="1500" dirty="0"/>
          </a:p>
        </p:txBody>
      </p:sp>
      <p:sp>
        <p:nvSpPr>
          <p:cNvPr id="12" name="Shape 10"/>
          <p:cNvSpPr/>
          <p:nvPr/>
        </p:nvSpPr>
        <p:spPr>
          <a:xfrm>
            <a:off x="548640" y="4073652"/>
            <a:ext cx="5410048" cy="684276"/>
          </a:xfrm>
          <a:prstGeom prst="roundRect">
            <a:avLst>
              <a:gd name="adj" fmla="val 9354"/>
            </a:avLst>
          </a:prstGeom>
          <a:solidFill>
            <a:srgbClr val="EAF5EE"/>
          </a:solidFill>
          <a:ln/>
        </p:spPr>
      </p:sp>
      <p:sp>
        <p:nvSpPr>
          <p:cNvPr id="13" name="Text 11"/>
          <p:cNvSpPr txBox="1"/>
          <p:nvPr/>
        </p:nvSpPr>
        <p:spPr>
          <a:xfrm>
            <a:off x="704088"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appendicitis (LG) (apendisit): </a:t>
            </a:r>
            <a:r>
              <a:rPr lang="en-US" sz="1500" dirty="0">
                <a:solidFill>
                  <a:srgbClr val="1F2937"/>
                </a:solidFill>
                <a:latin typeface="Calibri" pitchFamily="34" charset="0"/>
                <a:ea typeface="Calibri" pitchFamily="34" charset="-122"/>
                <a:cs typeface="Calibri" pitchFamily="34" charset="-120"/>
              </a:rPr>
              <a:t>Apendiks vermiformisin tıkanması ve iltihabı</a:t>
            </a:r>
            <a:endParaRPr lang="en-US" sz="1500" dirty="0"/>
          </a:p>
        </p:txBody>
      </p:sp>
      <p:sp>
        <p:nvSpPr>
          <p:cNvPr id="14" name="Shape 12"/>
          <p:cNvSpPr/>
          <p:nvPr/>
        </p:nvSpPr>
        <p:spPr>
          <a:xfrm>
            <a:off x="548640" y="4849368"/>
            <a:ext cx="5410048" cy="684276"/>
          </a:xfrm>
          <a:prstGeom prst="roundRect">
            <a:avLst>
              <a:gd name="adj" fmla="val 9354"/>
            </a:avLst>
          </a:prstGeom>
          <a:solidFill>
            <a:srgbClr val="EAF5EE"/>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peritonitis (G) (peritonit): </a:t>
            </a:r>
            <a:r>
              <a:rPr lang="en-US" sz="1500" dirty="0">
                <a:solidFill>
                  <a:srgbClr val="1F2937"/>
                </a:solidFill>
                <a:latin typeface="Calibri" pitchFamily="34" charset="0"/>
                <a:ea typeface="Calibri" pitchFamily="34" charset="-122"/>
                <a:cs typeface="Calibri" pitchFamily="34" charset="-120"/>
              </a:rPr>
              <a:t>Periton denilen karın zarının iltihabı</a:t>
            </a:r>
            <a:endParaRPr lang="en-US" sz="1500" dirty="0"/>
          </a:p>
        </p:txBody>
      </p:sp>
      <p:sp>
        <p:nvSpPr>
          <p:cNvPr id="16" name="Shape 14"/>
          <p:cNvSpPr/>
          <p:nvPr/>
        </p:nvSpPr>
        <p:spPr>
          <a:xfrm>
            <a:off x="548640" y="5625084"/>
            <a:ext cx="5410048" cy="684276"/>
          </a:xfrm>
          <a:prstGeom prst="roundRect">
            <a:avLst>
              <a:gd name="adj" fmla="val 9354"/>
            </a:avLst>
          </a:prstGeom>
          <a:solidFill>
            <a:srgbClr val="EAF5EE"/>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henorrhoid (G) (hemoroid): </a:t>
            </a:r>
            <a:r>
              <a:rPr lang="en-US" sz="1500" dirty="0">
                <a:solidFill>
                  <a:srgbClr val="1F2937"/>
                </a:solidFill>
                <a:latin typeface="Calibri" pitchFamily="34" charset="0"/>
                <a:ea typeface="Calibri" pitchFamily="34" charset="-122"/>
                <a:cs typeface="Calibri" pitchFamily="34" charset="-120"/>
              </a:rPr>
              <a:t>Anüs çevresindeki genişleyen venerin meydana getirdiği meme şeklinde oluşum, basur</a:t>
            </a:r>
            <a:endParaRPr lang="en-US" sz="1500" dirty="0"/>
          </a:p>
        </p:txBody>
      </p:sp>
      <p:sp>
        <p:nvSpPr>
          <p:cNvPr id="18" name="Shape 16"/>
          <p:cNvSpPr/>
          <p:nvPr/>
        </p:nvSpPr>
        <p:spPr>
          <a:xfrm>
            <a:off x="6233008" y="1514094"/>
            <a:ext cx="5410048" cy="684276"/>
          </a:xfrm>
          <a:prstGeom prst="roundRect">
            <a:avLst>
              <a:gd name="adj" fmla="val 9354"/>
            </a:avLst>
          </a:prstGeom>
          <a:solidFill>
            <a:srgbClr val="EAF5EE"/>
          </a:solidFill>
          <a:ln/>
        </p:spPr>
      </p:sp>
      <p:sp>
        <p:nvSpPr>
          <p:cNvPr id="19" name="Text 17"/>
          <p:cNvSpPr txBox="1"/>
          <p:nvPr/>
        </p:nvSpPr>
        <p:spPr>
          <a:xfrm>
            <a:off x="6388456" y="158724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fistula (L) (fistül): </a:t>
            </a:r>
            <a:r>
              <a:rPr lang="en-US" sz="1500" dirty="0">
                <a:solidFill>
                  <a:srgbClr val="1F2937"/>
                </a:solidFill>
                <a:latin typeface="Calibri" pitchFamily="34" charset="0"/>
                <a:ea typeface="Calibri" pitchFamily="34" charset="-122"/>
                <a:cs typeface="Calibri" pitchFamily="34" charset="-120"/>
              </a:rPr>
              <a:t>İçi boş bir organın başka bir içi boş organa ya da deriye ağızlaşması olgusu</a:t>
            </a:r>
            <a:endParaRPr lang="en-US" sz="1500" dirty="0"/>
          </a:p>
        </p:txBody>
      </p:sp>
      <p:sp>
        <p:nvSpPr>
          <p:cNvPr id="20" name="Shape 18"/>
          <p:cNvSpPr/>
          <p:nvPr/>
        </p:nvSpPr>
        <p:spPr>
          <a:xfrm>
            <a:off x="6233008" y="2289810"/>
            <a:ext cx="5410048" cy="916686"/>
          </a:xfrm>
          <a:prstGeom prst="roundRect">
            <a:avLst>
              <a:gd name="adj" fmla="val 6983"/>
            </a:avLst>
          </a:prstGeom>
          <a:solidFill>
            <a:srgbClr val="EAF5EE"/>
          </a:solidFill>
          <a:ln/>
        </p:spPr>
      </p:sp>
      <p:sp>
        <p:nvSpPr>
          <p:cNvPr id="21" name="Text 19"/>
          <p:cNvSpPr txBox="1"/>
          <p:nvPr/>
        </p:nvSpPr>
        <p:spPr>
          <a:xfrm>
            <a:off x="6388456" y="236296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anal fistula (L) (anal fitül): </a:t>
            </a:r>
            <a:r>
              <a:rPr lang="en-US" sz="1500" dirty="0">
                <a:solidFill>
                  <a:srgbClr val="1F2937"/>
                </a:solidFill>
                <a:latin typeface="Calibri" pitchFamily="34" charset="0"/>
                <a:ea typeface="Calibri" pitchFamily="34" charset="-122"/>
                <a:cs typeface="Calibri" pitchFamily="34" charset="-120"/>
              </a:rPr>
              <a:t>Kriptoglandular enfeksiyon sonucu oluşan apselerin perianal bölgeye açılması sonucu oluşan fistül</a:t>
            </a:r>
            <a:endParaRPr lang="en-US" sz="1500" dirty="0"/>
          </a:p>
        </p:txBody>
      </p:sp>
      <p:sp>
        <p:nvSpPr>
          <p:cNvPr id="22" name="Shape 20"/>
          <p:cNvSpPr/>
          <p:nvPr/>
        </p:nvSpPr>
        <p:spPr>
          <a:xfrm>
            <a:off x="6233008" y="3297936"/>
            <a:ext cx="5410048" cy="684276"/>
          </a:xfrm>
          <a:prstGeom prst="roundRect">
            <a:avLst>
              <a:gd name="adj" fmla="val 9354"/>
            </a:avLst>
          </a:prstGeom>
          <a:solidFill>
            <a:srgbClr val="EAF5EE"/>
          </a:solidFill>
          <a:ln/>
        </p:spPr>
      </p:sp>
      <p:sp>
        <p:nvSpPr>
          <p:cNvPr id="23" name="Text 21"/>
          <p:cNvSpPr txBox="1"/>
          <p:nvPr/>
        </p:nvSpPr>
        <p:spPr>
          <a:xfrm>
            <a:off x="6388456" y="337108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anal fissura (L) (anal fissur): </a:t>
            </a:r>
            <a:r>
              <a:rPr lang="en-US" sz="1500" dirty="0">
                <a:solidFill>
                  <a:srgbClr val="1F2937"/>
                </a:solidFill>
                <a:latin typeface="Calibri" pitchFamily="34" charset="0"/>
                <a:ea typeface="Calibri" pitchFamily="34" charset="-122"/>
                <a:cs typeface="Calibri" pitchFamily="34" charset="-120"/>
              </a:rPr>
              <a:t>Anüste oluşan longitudinal yarıklar</a:t>
            </a:r>
            <a:endParaRPr lang="en-US" sz="1500" dirty="0"/>
          </a:p>
        </p:txBody>
      </p:sp>
      <p:sp>
        <p:nvSpPr>
          <p:cNvPr id="24" name="Shape 22"/>
          <p:cNvSpPr/>
          <p:nvPr/>
        </p:nvSpPr>
        <p:spPr>
          <a:xfrm>
            <a:off x="6233008" y="4073652"/>
            <a:ext cx="5410048" cy="451866"/>
          </a:xfrm>
          <a:prstGeom prst="roundRect">
            <a:avLst>
              <a:gd name="adj" fmla="val 14165"/>
            </a:avLst>
          </a:prstGeom>
          <a:solidFill>
            <a:srgbClr val="EAF5EE"/>
          </a:solidFill>
          <a:ln/>
        </p:spPr>
      </p:sp>
      <p:sp>
        <p:nvSpPr>
          <p:cNvPr id="25" name="Text 23"/>
          <p:cNvSpPr txBox="1"/>
          <p:nvPr/>
        </p:nvSpPr>
        <p:spPr>
          <a:xfrm>
            <a:off x="6388456" y="414680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ileus (L): </a:t>
            </a:r>
            <a:r>
              <a:rPr lang="en-US" sz="1500" dirty="0">
                <a:solidFill>
                  <a:srgbClr val="1F2937"/>
                </a:solidFill>
                <a:latin typeface="Calibri" pitchFamily="34" charset="0"/>
                <a:ea typeface="Calibri" pitchFamily="34" charset="-122"/>
                <a:cs typeface="Calibri" pitchFamily="34" charset="-120"/>
              </a:rPr>
              <a:t>Bağırsak tıkanması</a:t>
            </a:r>
            <a:endParaRPr lang="en-US" sz="15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232</a:t>
            </a:r>
            <a:endParaRPr lang="en-US" sz="1000" dirty="0"/>
          </a:p>
        </p:txBody>
      </p:sp>
      <p:sp>
        <p:nvSpPr>
          <p:cNvPr id="6" name="Shape 4"/>
          <p:cNvSpPr/>
          <p:nvPr/>
        </p:nvSpPr>
        <p:spPr>
          <a:xfrm>
            <a:off x="548640" y="1526286"/>
            <a:ext cx="11094415" cy="684276"/>
          </a:xfrm>
          <a:prstGeom prst="roundRect">
            <a:avLst>
              <a:gd name="adj" fmla="val 9354"/>
            </a:avLst>
          </a:prstGeom>
          <a:solidFill>
            <a:srgbClr val="EAF5EE"/>
          </a:solidFill>
          <a:ln/>
        </p:spPr>
      </p:sp>
      <p:sp>
        <p:nvSpPr>
          <p:cNvPr id="7" name="Text 5"/>
          <p:cNvSpPr txBox="1"/>
          <p:nvPr/>
        </p:nvSpPr>
        <p:spPr>
          <a:xfrm>
            <a:off x="704088" y="159943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paralytic ileus (L) (paralitik ileus): </a:t>
            </a:r>
            <a:r>
              <a:rPr lang="en-US" sz="1500" dirty="0">
                <a:solidFill>
                  <a:srgbClr val="1F2937"/>
                </a:solidFill>
                <a:latin typeface="Calibri" pitchFamily="34" charset="0"/>
                <a:ea typeface="Calibri" pitchFamily="34" charset="-122"/>
                <a:cs typeface="Calibri" pitchFamily="34" charset="-120"/>
              </a:rPr>
              <a:t>Bağırsak kaslarındaki felç nedeniyle, mekanik tıkanma olmamasına rağmen, bağırsak içeriğinin içeriye doğru hareket edememesi</a:t>
            </a:r>
            <a:endParaRPr lang="en-US" sz="1500" dirty="0"/>
          </a:p>
        </p:txBody>
      </p:sp>
      <p:sp>
        <p:nvSpPr>
          <p:cNvPr id="8" name="Shape 6"/>
          <p:cNvSpPr/>
          <p:nvPr/>
        </p:nvSpPr>
        <p:spPr>
          <a:xfrm>
            <a:off x="548640" y="2365248"/>
            <a:ext cx="11094415" cy="451866"/>
          </a:xfrm>
          <a:prstGeom prst="roundRect">
            <a:avLst>
              <a:gd name="adj" fmla="val 14165"/>
            </a:avLst>
          </a:prstGeom>
          <a:solidFill>
            <a:srgbClr val="EAF5EE"/>
          </a:solidFill>
          <a:ln/>
        </p:spPr>
      </p:sp>
      <p:sp>
        <p:nvSpPr>
          <p:cNvPr id="9" name="Text 7"/>
          <p:cNvSpPr txBox="1"/>
          <p:nvPr/>
        </p:nvSpPr>
        <p:spPr>
          <a:xfrm>
            <a:off x="704088" y="243840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intestinal volvulus (L): </a:t>
            </a:r>
            <a:r>
              <a:rPr lang="en-US" sz="1500" dirty="0">
                <a:solidFill>
                  <a:srgbClr val="1F2937"/>
                </a:solidFill>
                <a:latin typeface="Calibri" pitchFamily="34" charset="0"/>
                <a:ea typeface="Calibri" pitchFamily="34" charset="-122"/>
                <a:cs typeface="Calibri" pitchFamily="34" charset="-120"/>
              </a:rPr>
              <a:t>Bir bağırsak halkasının kendi etrafında dönerek, kendi kendine düğümlenmesi</a:t>
            </a:r>
            <a:endParaRPr lang="en-US" sz="1500" dirty="0"/>
          </a:p>
        </p:txBody>
      </p:sp>
      <p:sp>
        <p:nvSpPr>
          <p:cNvPr id="10" name="Shape 8"/>
          <p:cNvSpPr/>
          <p:nvPr/>
        </p:nvSpPr>
        <p:spPr>
          <a:xfrm>
            <a:off x="548640" y="2908554"/>
            <a:ext cx="11094415" cy="451866"/>
          </a:xfrm>
          <a:prstGeom prst="roundRect">
            <a:avLst>
              <a:gd name="adj" fmla="val 14165"/>
            </a:avLst>
          </a:prstGeom>
          <a:solidFill>
            <a:srgbClr val="EAF5EE"/>
          </a:solidFill>
          <a:ln/>
        </p:spPr>
      </p:sp>
      <p:sp>
        <p:nvSpPr>
          <p:cNvPr id="11" name="Text 9"/>
          <p:cNvSpPr txBox="1"/>
          <p:nvPr/>
        </p:nvSpPr>
        <p:spPr>
          <a:xfrm>
            <a:off x="704088" y="298170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insulinoma (LG): </a:t>
            </a:r>
            <a:r>
              <a:rPr lang="en-US" sz="1500" dirty="0">
                <a:solidFill>
                  <a:srgbClr val="1F2937"/>
                </a:solidFill>
                <a:latin typeface="Calibri" pitchFamily="34" charset="0"/>
                <a:ea typeface="Calibri" pitchFamily="34" charset="-122"/>
                <a:cs typeface="Calibri" pitchFamily="34" charset="-120"/>
              </a:rPr>
              <a:t>Pankreasta beta hücrelerinden kaynaklanan bir adacık tümörü</a:t>
            </a:r>
            <a:endParaRPr lang="en-US" sz="1500" dirty="0"/>
          </a:p>
        </p:txBody>
      </p:sp>
      <p:sp>
        <p:nvSpPr>
          <p:cNvPr id="12" name="Shape 10"/>
          <p:cNvSpPr/>
          <p:nvPr/>
        </p:nvSpPr>
        <p:spPr>
          <a:xfrm>
            <a:off x="548640" y="3451860"/>
            <a:ext cx="11094415" cy="684276"/>
          </a:xfrm>
          <a:prstGeom prst="roundRect">
            <a:avLst>
              <a:gd name="adj" fmla="val 9354"/>
            </a:avLst>
          </a:prstGeom>
          <a:solidFill>
            <a:srgbClr val="EAF5EE"/>
          </a:solidFill>
          <a:ln/>
        </p:spPr>
      </p:sp>
      <p:sp>
        <p:nvSpPr>
          <p:cNvPr id="13" name="Text 11"/>
          <p:cNvSpPr txBox="1"/>
          <p:nvPr/>
        </p:nvSpPr>
        <p:spPr>
          <a:xfrm>
            <a:off x="704088" y="3525012"/>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umblical hernia (L) (umblikal herni): </a:t>
            </a:r>
            <a:r>
              <a:rPr lang="en-US" sz="1500" dirty="0">
                <a:solidFill>
                  <a:srgbClr val="1F2937"/>
                </a:solidFill>
                <a:latin typeface="Calibri" pitchFamily="34" charset="0"/>
                <a:ea typeface="Calibri" pitchFamily="34" charset="-122"/>
                <a:cs typeface="Calibri" pitchFamily="34" charset="-120"/>
              </a:rPr>
              <a:t>Göbek fıtığı. Göbeğin çevresindeki karın duvarının zayıflaması sonucu bağırsağın dışarı çıkması</a:t>
            </a:r>
            <a:endParaRPr lang="en-US" sz="1500" dirty="0"/>
          </a:p>
        </p:txBody>
      </p:sp>
      <p:sp>
        <p:nvSpPr>
          <p:cNvPr id="14" name="Shape 12"/>
          <p:cNvSpPr/>
          <p:nvPr/>
        </p:nvSpPr>
        <p:spPr>
          <a:xfrm>
            <a:off x="548640" y="4227576"/>
            <a:ext cx="11094415" cy="451866"/>
          </a:xfrm>
          <a:prstGeom prst="roundRect">
            <a:avLst>
              <a:gd name="adj" fmla="val 14165"/>
            </a:avLst>
          </a:prstGeom>
          <a:solidFill>
            <a:srgbClr val="EAF5EE"/>
          </a:solidFill>
          <a:ln/>
        </p:spPr>
      </p:sp>
      <p:sp>
        <p:nvSpPr>
          <p:cNvPr id="15" name="Text 13"/>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inguinal hernia (L): </a:t>
            </a:r>
            <a:r>
              <a:rPr lang="en-US" sz="1500" dirty="0">
                <a:solidFill>
                  <a:srgbClr val="1F2937"/>
                </a:solidFill>
                <a:latin typeface="Calibri" pitchFamily="34" charset="0"/>
                <a:ea typeface="Calibri" pitchFamily="34" charset="-122"/>
                <a:cs typeface="Calibri" pitchFamily="34" charset="-120"/>
              </a:rPr>
              <a:t>Kasık fıtığı</a:t>
            </a:r>
            <a:endParaRPr lang="en-US" sz="1500" dirty="0"/>
          </a:p>
        </p:txBody>
      </p:sp>
      <p:sp>
        <p:nvSpPr>
          <p:cNvPr id="16" name="Shape 14"/>
          <p:cNvSpPr/>
          <p:nvPr/>
        </p:nvSpPr>
        <p:spPr>
          <a:xfrm>
            <a:off x="548640" y="4770882"/>
            <a:ext cx="11094415" cy="451866"/>
          </a:xfrm>
          <a:prstGeom prst="roundRect">
            <a:avLst>
              <a:gd name="adj" fmla="val 14165"/>
            </a:avLst>
          </a:prstGeom>
          <a:solidFill>
            <a:srgbClr val="EAF5EE"/>
          </a:solidFill>
          <a:ln/>
        </p:spPr>
      </p:sp>
      <p:sp>
        <p:nvSpPr>
          <p:cNvPr id="17" name="Text 15"/>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femoral hernia (L): </a:t>
            </a:r>
            <a:r>
              <a:rPr lang="en-US" sz="1500" dirty="0">
                <a:solidFill>
                  <a:srgbClr val="1F2937"/>
                </a:solidFill>
                <a:latin typeface="Calibri" pitchFamily="34" charset="0"/>
                <a:ea typeface="Calibri" pitchFamily="34" charset="-122"/>
                <a:cs typeface="Calibri" pitchFamily="34" charset="-120"/>
              </a:rPr>
              <a:t>Femoral üçgende gelişen fıtık</a:t>
            </a:r>
            <a:endParaRPr lang="en-US" sz="1500" dirty="0"/>
          </a:p>
        </p:txBody>
      </p:sp>
      <p:sp>
        <p:nvSpPr>
          <p:cNvPr id="18" name="Shape 16"/>
          <p:cNvSpPr/>
          <p:nvPr/>
        </p:nvSpPr>
        <p:spPr>
          <a:xfrm>
            <a:off x="548640" y="5314188"/>
            <a:ext cx="11094415" cy="451866"/>
          </a:xfrm>
          <a:prstGeom prst="roundRect">
            <a:avLst>
              <a:gd name="adj" fmla="val 14165"/>
            </a:avLst>
          </a:prstGeom>
          <a:solidFill>
            <a:srgbClr val="EAF5EE"/>
          </a:solidFill>
          <a:ln/>
        </p:spPr>
      </p:sp>
      <p:sp>
        <p:nvSpPr>
          <p:cNvPr id="19" name="Text 17"/>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hiatus hernia </a:t>
            </a:r>
            <a:r>
              <a:rPr lang="en-US" sz="1500" dirty="0">
                <a:solidFill>
                  <a:srgbClr val="1F2937"/>
                </a:solidFill>
                <a:latin typeface="Calibri" pitchFamily="34" charset="0"/>
                <a:ea typeface="Calibri" pitchFamily="34" charset="-122"/>
                <a:cs typeface="Calibri" pitchFamily="34" charset="-120"/>
              </a:rPr>
              <a:t>(L) Midenin diyaframı zorlayarak yemek borusu deliğinden yukarı doğru çıkması</a:t>
            </a:r>
            <a:endParaRPr lang="en-US" sz="1500" dirty="0"/>
          </a:p>
        </p:txBody>
      </p:sp>
      <p:sp>
        <p:nvSpPr>
          <p:cNvPr id="20" name="Shape 18"/>
          <p:cNvSpPr/>
          <p:nvPr/>
        </p:nvSpPr>
        <p:spPr>
          <a:xfrm>
            <a:off x="548640" y="5857494"/>
            <a:ext cx="11094415" cy="451866"/>
          </a:xfrm>
          <a:prstGeom prst="roundRect">
            <a:avLst>
              <a:gd name="adj" fmla="val 14165"/>
            </a:avLst>
          </a:prstGeom>
          <a:solidFill>
            <a:srgbClr val="EAF5EE"/>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incisional hernia (L) (insizyonel herni): </a:t>
            </a:r>
            <a:r>
              <a:rPr lang="en-US" sz="1500" dirty="0">
                <a:solidFill>
                  <a:srgbClr val="1F2937"/>
                </a:solidFill>
                <a:latin typeface="Calibri" pitchFamily="34" charset="0"/>
                <a:ea typeface="Calibri" pitchFamily="34" charset="-122"/>
                <a:cs typeface="Calibri" pitchFamily="34" charset="-120"/>
              </a:rPr>
              <a:t>Ameliyat sonrası kesi yerinde gelişen fıtık</a:t>
            </a:r>
            <a:endParaRPr lang="en-US" sz="15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EAF5EE"/>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233</a:t>
            </a:r>
            <a:endParaRPr lang="en-US" sz="1000" dirty="0"/>
          </a:p>
        </p:txBody>
      </p:sp>
      <p:sp>
        <p:nvSpPr>
          <p:cNvPr id="6" name="Shape 4"/>
          <p:cNvSpPr/>
          <p:nvPr/>
        </p:nvSpPr>
        <p:spPr>
          <a:xfrm>
            <a:off x="548640" y="1511046"/>
            <a:ext cx="11094415" cy="451866"/>
          </a:xfrm>
          <a:prstGeom prst="roundRect">
            <a:avLst>
              <a:gd name="adj" fmla="val 14165"/>
            </a:avLst>
          </a:prstGeom>
          <a:solidFill>
            <a:srgbClr val="EAF5EE"/>
          </a:solidFill>
          <a:ln/>
        </p:spPr>
      </p:sp>
      <p:sp>
        <p:nvSpPr>
          <p:cNvPr id="7" name="Text 5"/>
          <p:cNvSpPr txBox="1"/>
          <p:nvPr/>
        </p:nvSpPr>
        <p:spPr>
          <a:xfrm>
            <a:off x="704088" y="158419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cheiloplasty (G) (keyloplasti): </a:t>
            </a:r>
            <a:r>
              <a:rPr lang="en-US" sz="1500" dirty="0">
                <a:solidFill>
                  <a:srgbClr val="1F2937"/>
                </a:solidFill>
                <a:latin typeface="Calibri" pitchFamily="34" charset="0"/>
                <a:ea typeface="Calibri" pitchFamily="34" charset="-122"/>
                <a:cs typeface="Calibri" pitchFamily="34" charset="-120"/>
              </a:rPr>
              <a:t>Dudağın plastik ameliyatı</a:t>
            </a:r>
            <a:endParaRPr lang="en-US" sz="1500" dirty="0"/>
          </a:p>
        </p:txBody>
      </p:sp>
      <p:sp>
        <p:nvSpPr>
          <p:cNvPr id="8" name="Shape 6"/>
          <p:cNvSpPr/>
          <p:nvPr/>
        </p:nvSpPr>
        <p:spPr>
          <a:xfrm>
            <a:off x="548640" y="2054352"/>
            <a:ext cx="11094415" cy="451866"/>
          </a:xfrm>
          <a:prstGeom prst="roundRect">
            <a:avLst>
              <a:gd name="adj" fmla="val 14165"/>
            </a:avLst>
          </a:prstGeom>
          <a:solidFill>
            <a:srgbClr val="EAF5EE"/>
          </a:solidFill>
          <a:ln/>
        </p:spPr>
      </p:sp>
      <p:sp>
        <p:nvSpPr>
          <p:cNvPr id="9" name="Text 7"/>
          <p:cNvSpPr txBox="1"/>
          <p:nvPr/>
        </p:nvSpPr>
        <p:spPr>
          <a:xfrm>
            <a:off x="704088" y="212750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pneumatic (G) dilatation (L) (pnömatik dilatosyon): </a:t>
            </a:r>
            <a:r>
              <a:rPr lang="en-US" sz="1500" dirty="0">
                <a:solidFill>
                  <a:srgbClr val="1F2937"/>
                </a:solidFill>
                <a:latin typeface="Calibri" pitchFamily="34" charset="0"/>
                <a:ea typeface="Calibri" pitchFamily="34" charset="-122"/>
                <a:cs typeface="Calibri" pitchFamily="34" charset="-120"/>
              </a:rPr>
              <a:t>Özofagogastrik sfinkterin basınçlı hava ile genişlemesi</a:t>
            </a:r>
            <a:endParaRPr lang="en-US" sz="1500" dirty="0"/>
          </a:p>
        </p:txBody>
      </p:sp>
      <p:sp>
        <p:nvSpPr>
          <p:cNvPr id="10" name="Shape 8"/>
          <p:cNvSpPr/>
          <p:nvPr/>
        </p:nvSpPr>
        <p:spPr>
          <a:xfrm>
            <a:off x="548640" y="2597658"/>
            <a:ext cx="11094415" cy="451866"/>
          </a:xfrm>
          <a:prstGeom prst="roundRect">
            <a:avLst>
              <a:gd name="adj" fmla="val 14165"/>
            </a:avLst>
          </a:prstGeom>
          <a:solidFill>
            <a:srgbClr val="EAF5EE"/>
          </a:solidFill>
          <a:ln/>
        </p:spPr>
      </p:sp>
      <p:sp>
        <p:nvSpPr>
          <p:cNvPr id="11" name="Text 9"/>
          <p:cNvSpPr txBox="1"/>
          <p:nvPr/>
        </p:nvSpPr>
        <p:spPr>
          <a:xfrm>
            <a:off x="704088" y="267081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oesophagotomy (G) (özofagotomi): </a:t>
            </a:r>
            <a:r>
              <a:rPr lang="en-US" sz="1500" dirty="0">
                <a:solidFill>
                  <a:srgbClr val="1F2937"/>
                </a:solidFill>
                <a:latin typeface="Calibri" pitchFamily="34" charset="0"/>
                <a:ea typeface="Calibri" pitchFamily="34" charset="-122"/>
                <a:cs typeface="Calibri" pitchFamily="34" charset="-120"/>
              </a:rPr>
              <a:t>Özofagogastrik sfinkter kaslarına kesi yapılarak genişletme operasyonu</a:t>
            </a:r>
            <a:endParaRPr lang="en-US" sz="1500" dirty="0"/>
          </a:p>
        </p:txBody>
      </p:sp>
      <p:sp>
        <p:nvSpPr>
          <p:cNvPr id="12" name="Shape 10"/>
          <p:cNvSpPr/>
          <p:nvPr/>
        </p:nvSpPr>
        <p:spPr>
          <a:xfrm>
            <a:off x="548640" y="3140964"/>
            <a:ext cx="11094415" cy="451866"/>
          </a:xfrm>
          <a:prstGeom prst="roundRect">
            <a:avLst>
              <a:gd name="adj" fmla="val 14165"/>
            </a:avLst>
          </a:prstGeom>
          <a:solidFill>
            <a:srgbClr val="EAF5EE"/>
          </a:solidFill>
          <a:ln/>
        </p:spPr>
      </p:sp>
      <p:sp>
        <p:nvSpPr>
          <p:cNvPr id="13" name="Text 11"/>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sialadenoctomy (G) (siyaladenoktomi): </a:t>
            </a:r>
            <a:r>
              <a:rPr lang="en-US" sz="1500" dirty="0">
                <a:solidFill>
                  <a:srgbClr val="1F2937"/>
                </a:solidFill>
                <a:latin typeface="Calibri" pitchFamily="34" charset="0"/>
                <a:ea typeface="Calibri" pitchFamily="34" charset="-122"/>
                <a:cs typeface="Calibri" pitchFamily="34" charset="-120"/>
              </a:rPr>
              <a:t>Tükürük bezinin ameliyatla çıkarılması</a:t>
            </a:r>
            <a:endParaRPr lang="en-US" sz="1500" dirty="0"/>
          </a:p>
        </p:txBody>
      </p:sp>
      <p:sp>
        <p:nvSpPr>
          <p:cNvPr id="14" name="Shape 12"/>
          <p:cNvSpPr/>
          <p:nvPr/>
        </p:nvSpPr>
        <p:spPr>
          <a:xfrm>
            <a:off x="548640" y="3684270"/>
            <a:ext cx="11094415" cy="451866"/>
          </a:xfrm>
          <a:prstGeom prst="roundRect">
            <a:avLst>
              <a:gd name="adj" fmla="val 14165"/>
            </a:avLst>
          </a:prstGeom>
          <a:solidFill>
            <a:srgbClr val="EAF5EE"/>
          </a:solidFill>
          <a:ln/>
        </p:spPr>
      </p:sp>
      <p:sp>
        <p:nvSpPr>
          <p:cNvPr id="15" name="Text 13"/>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abdominocentesis (LG) (abdominosentez): </a:t>
            </a:r>
            <a:r>
              <a:rPr lang="en-US" sz="1500" dirty="0">
                <a:solidFill>
                  <a:srgbClr val="1F2937"/>
                </a:solidFill>
                <a:latin typeface="Calibri" pitchFamily="34" charset="0"/>
                <a:ea typeface="Calibri" pitchFamily="34" charset="-122"/>
                <a:cs typeface="Calibri" pitchFamily="34" charset="-120"/>
              </a:rPr>
              <a:t>Karın boşluğuna iğne ile girip sıvı çekme</a:t>
            </a:r>
            <a:endParaRPr lang="en-US" sz="1500" dirty="0"/>
          </a:p>
        </p:txBody>
      </p:sp>
      <p:sp>
        <p:nvSpPr>
          <p:cNvPr id="16" name="Shape 14"/>
          <p:cNvSpPr/>
          <p:nvPr/>
        </p:nvSpPr>
        <p:spPr>
          <a:xfrm>
            <a:off x="548640" y="4227576"/>
            <a:ext cx="11094415" cy="451866"/>
          </a:xfrm>
          <a:prstGeom prst="roundRect">
            <a:avLst>
              <a:gd name="adj" fmla="val 14165"/>
            </a:avLst>
          </a:prstGeom>
          <a:solidFill>
            <a:srgbClr val="EAF5EE"/>
          </a:solidFill>
          <a:ln/>
        </p:spPr>
      </p:sp>
      <p:sp>
        <p:nvSpPr>
          <p:cNvPr id="17" name="Text 15"/>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cholecystography (G) (kolesistografi): </a:t>
            </a:r>
            <a:r>
              <a:rPr lang="en-US" sz="1500" dirty="0">
                <a:solidFill>
                  <a:srgbClr val="1F2937"/>
                </a:solidFill>
                <a:latin typeface="Calibri" pitchFamily="34" charset="0"/>
                <a:ea typeface="Calibri" pitchFamily="34" charset="-122"/>
                <a:cs typeface="Calibri" pitchFamily="34" charset="-120"/>
              </a:rPr>
              <a:t>Röntgen ışınları aracılığıyla safra kesesi filminin alınması</a:t>
            </a:r>
            <a:endParaRPr lang="en-US" sz="1500" dirty="0"/>
          </a:p>
        </p:txBody>
      </p:sp>
      <p:sp>
        <p:nvSpPr>
          <p:cNvPr id="18" name="Shape 16"/>
          <p:cNvSpPr/>
          <p:nvPr/>
        </p:nvSpPr>
        <p:spPr>
          <a:xfrm>
            <a:off x="548640" y="4770882"/>
            <a:ext cx="11094415" cy="451866"/>
          </a:xfrm>
          <a:prstGeom prst="roundRect">
            <a:avLst>
              <a:gd name="adj" fmla="val 14165"/>
            </a:avLst>
          </a:prstGeom>
          <a:solidFill>
            <a:srgbClr val="EAF5EE"/>
          </a:solidFill>
          <a:ln/>
        </p:spPr>
      </p:sp>
      <p:sp>
        <p:nvSpPr>
          <p:cNvPr id="19" name="Text 17"/>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cholecystectomy (G) (kolesistektomi): </a:t>
            </a:r>
            <a:r>
              <a:rPr lang="en-US" sz="1500" dirty="0">
                <a:solidFill>
                  <a:srgbClr val="1F2937"/>
                </a:solidFill>
                <a:latin typeface="Calibri" pitchFamily="34" charset="0"/>
                <a:ea typeface="Calibri" pitchFamily="34" charset="-122"/>
                <a:cs typeface="Calibri" pitchFamily="34" charset="-120"/>
              </a:rPr>
              <a:t>Safra kesesinin ameliyatla çıkarılması</a:t>
            </a:r>
            <a:endParaRPr lang="en-US" sz="1500" dirty="0"/>
          </a:p>
        </p:txBody>
      </p:sp>
      <p:sp>
        <p:nvSpPr>
          <p:cNvPr id="20" name="Shape 18"/>
          <p:cNvSpPr/>
          <p:nvPr/>
        </p:nvSpPr>
        <p:spPr>
          <a:xfrm>
            <a:off x="548640" y="5314188"/>
            <a:ext cx="11094415" cy="451866"/>
          </a:xfrm>
          <a:prstGeom prst="roundRect">
            <a:avLst>
              <a:gd name="adj" fmla="val 14165"/>
            </a:avLst>
          </a:prstGeom>
          <a:solidFill>
            <a:srgbClr val="EAF5EE"/>
          </a:solidFill>
          <a:ln/>
        </p:spPr>
      </p:sp>
      <p:sp>
        <p:nvSpPr>
          <p:cNvPr id="21" name="Text 19"/>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cholelithotomy (G) (kolelitotomi): </a:t>
            </a:r>
            <a:r>
              <a:rPr lang="en-US" sz="1500" dirty="0">
                <a:solidFill>
                  <a:srgbClr val="1F2937"/>
                </a:solidFill>
                <a:latin typeface="Calibri" pitchFamily="34" charset="0"/>
                <a:ea typeface="Calibri" pitchFamily="34" charset="-122"/>
                <a:cs typeface="Calibri" pitchFamily="34" charset="-120"/>
              </a:rPr>
              <a:t>Safra taşlarının çıkarılması için yapılan ameliyat</a:t>
            </a:r>
            <a:endParaRPr lang="en-US" sz="1500" dirty="0"/>
          </a:p>
        </p:txBody>
      </p:sp>
      <p:sp>
        <p:nvSpPr>
          <p:cNvPr id="22" name="Shape 20"/>
          <p:cNvSpPr/>
          <p:nvPr/>
        </p:nvSpPr>
        <p:spPr>
          <a:xfrm>
            <a:off x="548640" y="5857494"/>
            <a:ext cx="11094415" cy="451866"/>
          </a:xfrm>
          <a:prstGeom prst="roundRect">
            <a:avLst>
              <a:gd name="adj" fmla="val 14165"/>
            </a:avLst>
          </a:prstGeom>
          <a:solidFill>
            <a:srgbClr val="EAF5EE"/>
          </a:solidFill>
          <a:ln/>
        </p:spPr>
      </p:sp>
      <p:sp>
        <p:nvSpPr>
          <p:cNvPr id="23" name="Text 21"/>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cholelithotripsy (G) (kolelitotripsi): </a:t>
            </a:r>
            <a:r>
              <a:rPr lang="en-US" sz="1500" dirty="0">
                <a:solidFill>
                  <a:srgbClr val="1F2937"/>
                </a:solidFill>
                <a:latin typeface="Calibri" pitchFamily="34" charset="0"/>
                <a:ea typeface="Calibri" pitchFamily="34" charset="-122"/>
                <a:cs typeface="Calibri" pitchFamily="34" charset="-120"/>
              </a:rPr>
              <a:t>Safra kesesi ve safra kanallarını açmaksızın, içindeki taşları kırma (ezme)</a:t>
            </a:r>
            <a:endParaRPr lang="en-US" sz="15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EAF5EE"/>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15803D"/>
                </a:solidFill>
                <a:latin typeface="Calibri" pitchFamily="34" charset="0"/>
                <a:ea typeface="Calibri" pitchFamily="34" charset="-122"/>
                <a:cs typeface="Calibri" pitchFamily="34" charset="-120"/>
              </a:rPr>
              <a:t>BÖLÜM 8  ·  SİNDİRİM SİSTEMİ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234</a:t>
            </a:r>
            <a:endParaRPr lang="en-US" sz="1000" dirty="0"/>
          </a:p>
        </p:txBody>
      </p:sp>
      <p:sp>
        <p:nvSpPr>
          <p:cNvPr id="6" name="Shape 4"/>
          <p:cNvSpPr/>
          <p:nvPr/>
        </p:nvSpPr>
        <p:spPr>
          <a:xfrm>
            <a:off x="548640" y="1746504"/>
            <a:ext cx="5410048" cy="684276"/>
          </a:xfrm>
          <a:prstGeom prst="roundRect">
            <a:avLst>
              <a:gd name="adj" fmla="val 9354"/>
            </a:avLst>
          </a:prstGeom>
          <a:solidFill>
            <a:srgbClr val="EAF5EE"/>
          </a:solidFill>
          <a:ln/>
        </p:spPr>
      </p:sp>
      <p:sp>
        <p:nvSpPr>
          <p:cNvPr id="7" name="Text 5"/>
          <p:cNvSpPr txBox="1"/>
          <p:nvPr/>
        </p:nvSpPr>
        <p:spPr>
          <a:xfrm>
            <a:off x="704088"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colectomy (LG) (kolektomi): </a:t>
            </a:r>
            <a:r>
              <a:rPr lang="en-US" sz="1500" dirty="0">
                <a:solidFill>
                  <a:srgbClr val="1F2937"/>
                </a:solidFill>
                <a:latin typeface="Calibri" pitchFamily="34" charset="0"/>
                <a:ea typeface="Calibri" pitchFamily="34" charset="-122"/>
                <a:cs typeface="Calibri" pitchFamily="34" charset="-120"/>
              </a:rPr>
              <a:t>Kalın bağırsağın kesilerek çıkarılması</a:t>
            </a:r>
            <a:endParaRPr lang="en-US" sz="1500" dirty="0"/>
          </a:p>
        </p:txBody>
      </p:sp>
      <p:sp>
        <p:nvSpPr>
          <p:cNvPr id="8" name="Shape 6"/>
          <p:cNvSpPr/>
          <p:nvPr/>
        </p:nvSpPr>
        <p:spPr>
          <a:xfrm>
            <a:off x="548640" y="2522220"/>
            <a:ext cx="5410048" cy="684276"/>
          </a:xfrm>
          <a:prstGeom prst="roundRect">
            <a:avLst>
              <a:gd name="adj" fmla="val 9354"/>
            </a:avLst>
          </a:prstGeom>
          <a:solidFill>
            <a:srgbClr val="EAF5EE"/>
          </a:solidFill>
          <a:ln/>
        </p:spPr>
      </p:sp>
      <p:sp>
        <p:nvSpPr>
          <p:cNvPr id="9" name="Text 7"/>
          <p:cNvSpPr txBox="1"/>
          <p:nvPr/>
        </p:nvSpPr>
        <p:spPr>
          <a:xfrm>
            <a:off x="704088" y="259537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hemorrhoidectomy (G) (hemoroidektomi): </a:t>
            </a:r>
            <a:r>
              <a:rPr lang="en-US" sz="1500" dirty="0">
                <a:solidFill>
                  <a:srgbClr val="1F2937"/>
                </a:solidFill>
                <a:latin typeface="Calibri" pitchFamily="34" charset="0"/>
                <a:ea typeface="Calibri" pitchFamily="34" charset="-122"/>
                <a:cs typeface="Calibri" pitchFamily="34" charset="-120"/>
              </a:rPr>
              <a:t>Hemoroidlerin ameliyatla çıkarılması</a:t>
            </a:r>
            <a:endParaRPr lang="en-US" sz="1500" dirty="0"/>
          </a:p>
        </p:txBody>
      </p:sp>
      <p:sp>
        <p:nvSpPr>
          <p:cNvPr id="10" name="Shape 8"/>
          <p:cNvSpPr/>
          <p:nvPr/>
        </p:nvSpPr>
        <p:spPr>
          <a:xfrm>
            <a:off x="548640" y="3297936"/>
            <a:ext cx="5410048" cy="684276"/>
          </a:xfrm>
          <a:prstGeom prst="roundRect">
            <a:avLst>
              <a:gd name="adj" fmla="val 9354"/>
            </a:avLst>
          </a:prstGeom>
          <a:solidFill>
            <a:srgbClr val="EAF5EE"/>
          </a:solidFill>
          <a:ln/>
        </p:spPr>
      </p:sp>
      <p:sp>
        <p:nvSpPr>
          <p:cNvPr id="11" name="Text 9"/>
          <p:cNvSpPr txBox="1"/>
          <p:nvPr/>
        </p:nvSpPr>
        <p:spPr>
          <a:xfrm>
            <a:off x="704088" y="337108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herniorrhaphy (LG) (herniorafi): </a:t>
            </a:r>
            <a:r>
              <a:rPr lang="en-US" sz="1500" dirty="0">
                <a:solidFill>
                  <a:srgbClr val="1F2937"/>
                </a:solidFill>
                <a:latin typeface="Calibri" pitchFamily="34" charset="0"/>
                <a:ea typeface="Calibri" pitchFamily="34" charset="-122"/>
                <a:cs typeface="Calibri" pitchFamily="34" charset="-120"/>
              </a:rPr>
              <a:t>Fıtıktaki yırtığın ya da kesiğin dikilmesi</a:t>
            </a:r>
            <a:endParaRPr lang="en-US" sz="1500" dirty="0"/>
          </a:p>
        </p:txBody>
      </p:sp>
      <p:sp>
        <p:nvSpPr>
          <p:cNvPr id="12" name="Shape 10"/>
          <p:cNvSpPr/>
          <p:nvPr/>
        </p:nvSpPr>
        <p:spPr>
          <a:xfrm>
            <a:off x="548640" y="4073652"/>
            <a:ext cx="5410048" cy="684276"/>
          </a:xfrm>
          <a:prstGeom prst="roundRect">
            <a:avLst>
              <a:gd name="adj" fmla="val 9354"/>
            </a:avLst>
          </a:prstGeom>
          <a:solidFill>
            <a:srgbClr val="EAF5EE"/>
          </a:solidFill>
          <a:ln/>
        </p:spPr>
      </p:sp>
      <p:sp>
        <p:nvSpPr>
          <p:cNvPr id="13" name="Text 11"/>
          <p:cNvSpPr txBox="1"/>
          <p:nvPr/>
        </p:nvSpPr>
        <p:spPr>
          <a:xfrm>
            <a:off x="704088"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gastropexy (G) (gastropeksi): </a:t>
            </a:r>
            <a:r>
              <a:rPr lang="en-US" sz="1500" dirty="0">
                <a:solidFill>
                  <a:srgbClr val="1F2937"/>
                </a:solidFill>
                <a:latin typeface="Calibri" pitchFamily="34" charset="0"/>
                <a:ea typeface="Calibri" pitchFamily="34" charset="-122"/>
                <a:cs typeface="Calibri" pitchFamily="34" charset="-120"/>
              </a:rPr>
              <a:t>Mideyi ameliyat ile karın duvarına tespit etme</a:t>
            </a:r>
            <a:endParaRPr lang="en-US" sz="1500" dirty="0"/>
          </a:p>
        </p:txBody>
      </p:sp>
      <p:sp>
        <p:nvSpPr>
          <p:cNvPr id="14" name="Shape 12"/>
          <p:cNvSpPr/>
          <p:nvPr/>
        </p:nvSpPr>
        <p:spPr>
          <a:xfrm>
            <a:off x="548640" y="4849368"/>
            <a:ext cx="5410048" cy="684276"/>
          </a:xfrm>
          <a:prstGeom prst="roundRect">
            <a:avLst>
              <a:gd name="adj" fmla="val 9354"/>
            </a:avLst>
          </a:prstGeom>
          <a:solidFill>
            <a:srgbClr val="EAF5EE"/>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gastrojejunostomy (GLG) (gastroyeyunostomi): </a:t>
            </a:r>
            <a:r>
              <a:rPr lang="en-US" sz="1500" dirty="0">
                <a:solidFill>
                  <a:srgbClr val="1F2937"/>
                </a:solidFill>
                <a:latin typeface="Calibri" pitchFamily="34" charset="0"/>
                <a:ea typeface="Calibri" pitchFamily="34" charset="-122"/>
                <a:cs typeface="Calibri" pitchFamily="34" charset="-120"/>
              </a:rPr>
              <a:t>Mide ile yeyunumun birleştirilmesi</a:t>
            </a:r>
            <a:endParaRPr lang="en-US" sz="1500" dirty="0"/>
          </a:p>
        </p:txBody>
      </p:sp>
      <p:sp>
        <p:nvSpPr>
          <p:cNvPr id="16" name="Shape 14"/>
          <p:cNvSpPr/>
          <p:nvPr/>
        </p:nvSpPr>
        <p:spPr>
          <a:xfrm>
            <a:off x="548640" y="5625084"/>
            <a:ext cx="5410048" cy="684276"/>
          </a:xfrm>
          <a:prstGeom prst="roundRect">
            <a:avLst>
              <a:gd name="adj" fmla="val 9354"/>
            </a:avLst>
          </a:prstGeom>
          <a:solidFill>
            <a:srgbClr val="EAF5EE"/>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colostomy (LG) (kolostomi): </a:t>
            </a:r>
            <a:r>
              <a:rPr lang="en-US" sz="1500" dirty="0">
                <a:solidFill>
                  <a:srgbClr val="1F2937"/>
                </a:solidFill>
                <a:latin typeface="Calibri" pitchFamily="34" charset="0"/>
                <a:ea typeface="Calibri" pitchFamily="34" charset="-122"/>
                <a:cs typeface="Calibri" pitchFamily="34" charset="-120"/>
              </a:rPr>
              <a:t>Kalın bağırsağın karın duvarına ağızlaştırılması</a:t>
            </a:r>
            <a:endParaRPr lang="en-US" sz="1500" dirty="0"/>
          </a:p>
        </p:txBody>
      </p:sp>
      <p:sp>
        <p:nvSpPr>
          <p:cNvPr id="18" name="Shape 16"/>
          <p:cNvSpPr/>
          <p:nvPr/>
        </p:nvSpPr>
        <p:spPr>
          <a:xfrm>
            <a:off x="6233008" y="1746504"/>
            <a:ext cx="5410048" cy="451866"/>
          </a:xfrm>
          <a:prstGeom prst="roundRect">
            <a:avLst>
              <a:gd name="adj" fmla="val 14165"/>
            </a:avLst>
          </a:prstGeom>
          <a:solidFill>
            <a:srgbClr val="EAF5EE"/>
          </a:solidFill>
          <a:ln/>
        </p:spPr>
      </p:sp>
      <p:sp>
        <p:nvSpPr>
          <p:cNvPr id="19" name="Text 17"/>
          <p:cNvSpPr txBox="1"/>
          <p:nvPr/>
        </p:nvSpPr>
        <p:spPr>
          <a:xfrm>
            <a:off x="6388456" y="181965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appendectomy (LG) (apendektomi): </a:t>
            </a:r>
            <a:r>
              <a:rPr lang="en-US" sz="1500" dirty="0">
                <a:solidFill>
                  <a:srgbClr val="1F2937"/>
                </a:solidFill>
                <a:latin typeface="Calibri" pitchFamily="34" charset="0"/>
                <a:ea typeface="Calibri" pitchFamily="34" charset="-122"/>
                <a:cs typeface="Calibri" pitchFamily="34" charset="-120"/>
              </a:rPr>
              <a:t>Apendiksin çıkarılması</a:t>
            </a:r>
            <a:endParaRPr lang="en-US" sz="1500" dirty="0"/>
          </a:p>
        </p:txBody>
      </p:sp>
      <p:sp>
        <p:nvSpPr>
          <p:cNvPr id="20" name="Shape 18"/>
          <p:cNvSpPr/>
          <p:nvPr/>
        </p:nvSpPr>
        <p:spPr>
          <a:xfrm>
            <a:off x="6233008" y="2289810"/>
            <a:ext cx="5410048" cy="451866"/>
          </a:xfrm>
          <a:prstGeom prst="roundRect">
            <a:avLst>
              <a:gd name="adj" fmla="val 14165"/>
            </a:avLst>
          </a:prstGeom>
          <a:solidFill>
            <a:srgbClr val="EAF5EE"/>
          </a:solidFill>
          <a:ln/>
        </p:spPr>
      </p:sp>
      <p:sp>
        <p:nvSpPr>
          <p:cNvPr id="21" name="Text 19"/>
          <p:cNvSpPr txBox="1"/>
          <p:nvPr/>
        </p:nvSpPr>
        <p:spPr>
          <a:xfrm>
            <a:off x="6388456" y="236296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antrectomy (LG) (antrektomi): </a:t>
            </a:r>
            <a:r>
              <a:rPr lang="en-US" sz="1500" dirty="0">
                <a:solidFill>
                  <a:srgbClr val="1F2937"/>
                </a:solidFill>
                <a:latin typeface="Calibri" pitchFamily="34" charset="0"/>
                <a:ea typeface="Calibri" pitchFamily="34" charset="-122"/>
                <a:cs typeface="Calibri" pitchFamily="34" charset="-120"/>
              </a:rPr>
              <a:t>Antrumun çıkarılması</a:t>
            </a:r>
            <a:endParaRPr lang="en-US" sz="1500" dirty="0"/>
          </a:p>
        </p:txBody>
      </p:sp>
      <p:sp>
        <p:nvSpPr>
          <p:cNvPr id="22" name="Shape 20"/>
          <p:cNvSpPr/>
          <p:nvPr/>
        </p:nvSpPr>
        <p:spPr>
          <a:xfrm>
            <a:off x="6233008" y="2833116"/>
            <a:ext cx="5410048" cy="684276"/>
          </a:xfrm>
          <a:prstGeom prst="roundRect">
            <a:avLst>
              <a:gd name="adj" fmla="val 9354"/>
            </a:avLst>
          </a:prstGeom>
          <a:solidFill>
            <a:srgbClr val="EAF5EE"/>
          </a:solidFill>
          <a:ln/>
        </p:spPr>
      </p:sp>
      <p:sp>
        <p:nvSpPr>
          <p:cNvPr id="23" name="Text 21"/>
          <p:cNvSpPr txBox="1"/>
          <p:nvPr/>
        </p:nvSpPr>
        <p:spPr>
          <a:xfrm>
            <a:off x="6388456" y="290626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gastrectomy (G) (gastrektomi): </a:t>
            </a:r>
            <a:r>
              <a:rPr lang="en-US" sz="1500" dirty="0">
                <a:solidFill>
                  <a:srgbClr val="1F2937"/>
                </a:solidFill>
                <a:latin typeface="Calibri" pitchFamily="34" charset="0"/>
                <a:ea typeface="Calibri" pitchFamily="34" charset="-122"/>
                <a:cs typeface="Calibri" pitchFamily="34" charset="-120"/>
              </a:rPr>
              <a:t>Midenin kımen veya tamamının çıkarılması</a:t>
            </a:r>
            <a:endParaRPr lang="en-US" sz="1500" dirty="0"/>
          </a:p>
        </p:txBody>
      </p:sp>
      <p:sp>
        <p:nvSpPr>
          <p:cNvPr id="24" name="Shape 22"/>
          <p:cNvSpPr/>
          <p:nvPr/>
        </p:nvSpPr>
        <p:spPr>
          <a:xfrm>
            <a:off x="6233008" y="3608832"/>
            <a:ext cx="5410048" cy="684276"/>
          </a:xfrm>
          <a:prstGeom prst="roundRect">
            <a:avLst>
              <a:gd name="adj" fmla="val 9354"/>
            </a:avLst>
          </a:prstGeom>
          <a:solidFill>
            <a:srgbClr val="EAF5EE"/>
          </a:solidFill>
          <a:ln/>
        </p:spPr>
      </p:sp>
      <p:sp>
        <p:nvSpPr>
          <p:cNvPr id="25" name="Text 23"/>
          <p:cNvSpPr txBox="1"/>
          <p:nvPr/>
        </p:nvSpPr>
        <p:spPr>
          <a:xfrm>
            <a:off x="6388456" y="368198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lavage (F) (lavaj): </a:t>
            </a:r>
            <a:r>
              <a:rPr lang="en-US" sz="1500" dirty="0">
                <a:solidFill>
                  <a:srgbClr val="1F2937"/>
                </a:solidFill>
                <a:latin typeface="Calibri" pitchFamily="34" charset="0"/>
                <a:ea typeface="Calibri" pitchFamily="34" charset="-122"/>
                <a:cs typeface="Calibri" pitchFamily="34" charset="-120"/>
              </a:rPr>
              <a:t>Bir organın ya da bölgenin yıkanması</a:t>
            </a:r>
            <a:endParaRPr lang="en-US" sz="1500" dirty="0"/>
          </a:p>
        </p:txBody>
      </p:sp>
      <p:sp>
        <p:nvSpPr>
          <p:cNvPr id="26" name="Shape 24"/>
          <p:cNvSpPr/>
          <p:nvPr/>
        </p:nvSpPr>
        <p:spPr>
          <a:xfrm>
            <a:off x="6233008" y="4384548"/>
            <a:ext cx="5410048" cy="451866"/>
          </a:xfrm>
          <a:prstGeom prst="roundRect">
            <a:avLst>
              <a:gd name="adj" fmla="val 14165"/>
            </a:avLst>
          </a:prstGeom>
          <a:solidFill>
            <a:srgbClr val="EAF5EE"/>
          </a:solidFill>
          <a:ln/>
        </p:spPr>
      </p:sp>
      <p:sp>
        <p:nvSpPr>
          <p:cNvPr id="27" name="Text 25"/>
          <p:cNvSpPr txBox="1"/>
          <p:nvPr/>
        </p:nvSpPr>
        <p:spPr>
          <a:xfrm>
            <a:off x="6388456" y="445770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5803D"/>
                </a:solidFill>
                <a:latin typeface="Calibri" pitchFamily="34" charset="0"/>
                <a:ea typeface="Calibri" pitchFamily="34" charset="-122"/>
                <a:cs typeface="Calibri" pitchFamily="34" charset="-120"/>
              </a:rPr>
              <a:t>enema (G): </a:t>
            </a:r>
            <a:r>
              <a:rPr lang="en-US" sz="1500" dirty="0">
                <a:solidFill>
                  <a:srgbClr val="1F2937"/>
                </a:solidFill>
                <a:latin typeface="Calibri" pitchFamily="34" charset="0"/>
                <a:ea typeface="Calibri" pitchFamily="34" charset="-122"/>
                <a:cs typeface="Calibri" pitchFamily="34" charset="-120"/>
              </a:rPr>
              <a:t>Lavman, rektum içine sıvı verilmesi</a:t>
            </a:r>
            <a:endParaRPr lang="en-US" sz="15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5E4"/>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E1ECCB"/>
                </a:solidFill>
                <a:latin typeface="Cambria" pitchFamily="34" charset="0"/>
                <a:ea typeface="Cambria" pitchFamily="34" charset="-122"/>
                <a:cs typeface="Cambria" pitchFamily="34" charset="-120"/>
              </a:rPr>
              <a:t>09</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4D7C0F"/>
                </a:solidFill>
                <a:latin typeface="Calibri" pitchFamily="34" charset="0"/>
                <a:ea typeface="Calibri" pitchFamily="34" charset="-122"/>
                <a:cs typeface="Calibri" pitchFamily="34" charset="-120"/>
              </a:rPr>
              <a:t>BÖLÜM 9</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ÜRİNER SİSTEM TERİMLERİ</a:t>
            </a:r>
            <a:endParaRPr lang="en-US" sz="3600" dirty="0"/>
          </a:p>
        </p:txBody>
      </p:sp>
      <p:sp>
        <p:nvSpPr>
          <p:cNvPr id="7" name="Shape 5"/>
          <p:cNvSpPr/>
          <p:nvPr/>
        </p:nvSpPr>
        <p:spPr>
          <a:xfrm>
            <a:off x="8503920" y="2331720"/>
            <a:ext cx="2194560" cy="2194560"/>
          </a:xfrm>
          <a:prstGeom prst="ellipse">
            <a:avLst/>
          </a:prstGeom>
          <a:solidFill>
            <a:srgbClr val="F0F5E4"/>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237</a:t>
            </a:r>
            <a:endParaRPr lang="en-US" sz="10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0F5E4"/>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ÜRİNER SİSTEM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238</a:t>
            </a:r>
            <a:endParaRPr lang="en-US" sz="1000" dirty="0"/>
          </a:p>
        </p:txBody>
      </p:sp>
      <p:sp>
        <p:nvSpPr>
          <p:cNvPr id="6" name="Shape 4"/>
          <p:cNvSpPr/>
          <p:nvPr/>
        </p:nvSpPr>
        <p:spPr>
          <a:xfrm>
            <a:off x="548640" y="2468880"/>
            <a:ext cx="11094415" cy="1378915"/>
          </a:xfrm>
          <a:prstGeom prst="roundRect">
            <a:avLst>
              <a:gd name="adj" fmla="val 4642"/>
            </a:avLst>
          </a:prstGeom>
          <a:solidFill>
            <a:srgbClr val="F0F5E4"/>
          </a:solidFill>
          <a:ln/>
        </p:spPr>
      </p:sp>
      <p:sp>
        <p:nvSpPr>
          <p:cNvPr id="7" name="Text 5"/>
          <p:cNvSpPr txBox="1"/>
          <p:nvPr/>
        </p:nvSpPr>
        <p:spPr>
          <a:xfrm>
            <a:off x="704088" y="2542032"/>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Üriner sistem idrarın oluşması, taşınması, toplanması ve dışarıya atılmasında görev alan organlardan oluşur. Bu organlar; böbrekler (renes), idrar boruları (ureter), idrar kesesi (vesica urinaria) ve idrar yolu (urethra)’dur. İdrar böbreklerde oluşur. Diğer organlar idrarı taşıma, depolama ve dışarı atmada görevlidirler.</a:t>
            </a:r>
            <a:endParaRPr lang="en-US" sz="18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0F5E4"/>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239</a:t>
            </a:r>
            <a:endParaRPr lang="en-US" sz="1000" dirty="0"/>
          </a:p>
        </p:txBody>
      </p:sp>
      <p:sp>
        <p:nvSpPr>
          <p:cNvPr id="6" name="Shape 4"/>
          <p:cNvSpPr/>
          <p:nvPr/>
        </p:nvSpPr>
        <p:spPr>
          <a:xfrm>
            <a:off x="548640" y="2211324"/>
            <a:ext cx="5410048" cy="684276"/>
          </a:xfrm>
          <a:prstGeom prst="roundRect">
            <a:avLst>
              <a:gd name="adj" fmla="val 9354"/>
            </a:avLst>
          </a:prstGeom>
          <a:solidFill>
            <a:srgbClr val="F0F5E4"/>
          </a:solidFill>
          <a:ln/>
        </p:spPr>
      </p:sp>
      <p:sp>
        <p:nvSpPr>
          <p:cNvPr id="7" name="Text 5"/>
          <p:cNvSpPr txBox="1"/>
          <p:nvPr/>
        </p:nvSpPr>
        <p:spPr>
          <a:xfrm>
            <a:off x="704088" y="228447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organa (G) urinaria (L) (organa urinarya): </a:t>
            </a:r>
            <a:r>
              <a:rPr lang="en-US" sz="1500" dirty="0">
                <a:solidFill>
                  <a:srgbClr val="1F2937"/>
                </a:solidFill>
                <a:latin typeface="Calibri" pitchFamily="34" charset="0"/>
                <a:ea typeface="Calibri" pitchFamily="34" charset="-122"/>
                <a:cs typeface="Calibri" pitchFamily="34" charset="-120"/>
              </a:rPr>
              <a:t>Üriner organlar.</a:t>
            </a:r>
            <a:endParaRPr lang="en-US" sz="1500" dirty="0"/>
          </a:p>
        </p:txBody>
      </p:sp>
      <p:sp>
        <p:nvSpPr>
          <p:cNvPr id="8" name="Shape 6"/>
          <p:cNvSpPr/>
          <p:nvPr/>
        </p:nvSpPr>
        <p:spPr>
          <a:xfrm>
            <a:off x="548640" y="2987040"/>
            <a:ext cx="5410048" cy="451866"/>
          </a:xfrm>
          <a:prstGeom prst="roundRect">
            <a:avLst>
              <a:gd name="adj" fmla="val 14165"/>
            </a:avLst>
          </a:prstGeom>
          <a:solidFill>
            <a:srgbClr val="F0F5E4"/>
          </a:solidFill>
          <a:ln/>
        </p:spPr>
      </p:sp>
      <p:sp>
        <p:nvSpPr>
          <p:cNvPr id="9" name="Text 7"/>
          <p:cNvSpPr txBox="1"/>
          <p:nvPr/>
        </p:nvSpPr>
        <p:spPr>
          <a:xfrm>
            <a:off x="704088" y="306019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ren (L): </a:t>
            </a:r>
            <a:r>
              <a:rPr lang="en-US" sz="1500" dirty="0">
                <a:solidFill>
                  <a:srgbClr val="1F2937"/>
                </a:solidFill>
                <a:latin typeface="Calibri" pitchFamily="34" charset="0"/>
                <a:ea typeface="Calibri" pitchFamily="34" charset="-122"/>
                <a:cs typeface="Calibri" pitchFamily="34" charset="-120"/>
              </a:rPr>
              <a:t>Böbrek</a:t>
            </a:r>
            <a:endParaRPr lang="en-US" sz="1500" dirty="0"/>
          </a:p>
        </p:txBody>
      </p:sp>
      <p:sp>
        <p:nvSpPr>
          <p:cNvPr id="10" name="Shape 8"/>
          <p:cNvSpPr/>
          <p:nvPr/>
        </p:nvSpPr>
        <p:spPr>
          <a:xfrm>
            <a:off x="548640" y="3530346"/>
            <a:ext cx="5410048" cy="451866"/>
          </a:xfrm>
          <a:prstGeom prst="roundRect">
            <a:avLst>
              <a:gd name="adj" fmla="val 14165"/>
            </a:avLst>
          </a:prstGeom>
          <a:solidFill>
            <a:srgbClr val="F0F5E4"/>
          </a:solidFill>
          <a:ln/>
        </p:spPr>
      </p:sp>
      <p:sp>
        <p:nvSpPr>
          <p:cNvPr id="11" name="Text 9"/>
          <p:cNvSpPr txBox="1"/>
          <p:nvPr/>
        </p:nvSpPr>
        <p:spPr>
          <a:xfrm>
            <a:off x="704088" y="360349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nephros (G) (nefroz): </a:t>
            </a:r>
            <a:r>
              <a:rPr lang="en-US" sz="1500" dirty="0">
                <a:solidFill>
                  <a:srgbClr val="1F2937"/>
                </a:solidFill>
                <a:latin typeface="Calibri" pitchFamily="34" charset="0"/>
                <a:ea typeface="Calibri" pitchFamily="34" charset="-122"/>
                <a:cs typeface="Calibri" pitchFamily="34" charset="-120"/>
              </a:rPr>
              <a:t>Böbrek</a:t>
            </a:r>
            <a:endParaRPr lang="en-US" sz="1500" dirty="0"/>
          </a:p>
        </p:txBody>
      </p:sp>
      <p:sp>
        <p:nvSpPr>
          <p:cNvPr id="12" name="Shape 10"/>
          <p:cNvSpPr/>
          <p:nvPr/>
        </p:nvSpPr>
        <p:spPr>
          <a:xfrm>
            <a:off x="548640" y="4073652"/>
            <a:ext cx="5410048" cy="684276"/>
          </a:xfrm>
          <a:prstGeom prst="roundRect">
            <a:avLst>
              <a:gd name="adj" fmla="val 9354"/>
            </a:avLst>
          </a:prstGeom>
          <a:solidFill>
            <a:srgbClr val="F0F5E4"/>
          </a:solidFill>
          <a:ln/>
        </p:spPr>
      </p:sp>
      <p:sp>
        <p:nvSpPr>
          <p:cNvPr id="13" name="Text 11"/>
          <p:cNvSpPr txBox="1"/>
          <p:nvPr/>
        </p:nvSpPr>
        <p:spPr>
          <a:xfrm>
            <a:off x="704088"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hilum renale (L): </a:t>
            </a:r>
            <a:r>
              <a:rPr lang="en-US" sz="1500" dirty="0">
                <a:solidFill>
                  <a:srgbClr val="1F2937"/>
                </a:solidFill>
                <a:latin typeface="Calibri" pitchFamily="34" charset="0"/>
                <a:ea typeface="Calibri" pitchFamily="34" charset="-122"/>
                <a:cs typeface="Calibri" pitchFamily="34" charset="-120"/>
              </a:rPr>
              <a:t>Böbreğin ortasında ve böbreğe giren çıkan oluşumların olduğu göbek bölgesi. Hilum, hilus</a:t>
            </a:r>
            <a:endParaRPr lang="en-US" sz="1500" dirty="0"/>
          </a:p>
        </p:txBody>
      </p:sp>
      <p:sp>
        <p:nvSpPr>
          <p:cNvPr id="14" name="Shape 12"/>
          <p:cNvSpPr/>
          <p:nvPr/>
        </p:nvSpPr>
        <p:spPr>
          <a:xfrm>
            <a:off x="548640" y="4849368"/>
            <a:ext cx="5410048" cy="684276"/>
          </a:xfrm>
          <a:prstGeom prst="roundRect">
            <a:avLst>
              <a:gd name="adj" fmla="val 9354"/>
            </a:avLst>
          </a:prstGeom>
          <a:solidFill>
            <a:srgbClr val="F0F5E4"/>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cortex renalis (L) (kortex renalis): </a:t>
            </a:r>
            <a:r>
              <a:rPr lang="en-US" sz="1500" dirty="0">
                <a:solidFill>
                  <a:srgbClr val="1F2937"/>
                </a:solidFill>
                <a:latin typeface="Calibri" pitchFamily="34" charset="0"/>
                <a:ea typeface="Calibri" pitchFamily="34" charset="-122"/>
                <a:cs typeface="Calibri" pitchFamily="34" charset="-120"/>
              </a:rPr>
              <a:t>Korteks, Böbreğin iki katmanından dışta olan kısmı.</a:t>
            </a:r>
            <a:endParaRPr lang="en-US" sz="1500" dirty="0"/>
          </a:p>
        </p:txBody>
      </p:sp>
      <p:sp>
        <p:nvSpPr>
          <p:cNvPr id="16" name="Shape 14"/>
          <p:cNvSpPr/>
          <p:nvPr/>
        </p:nvSpPr>
        <p:spPr>
          <a:xfrm>
            <a:off x="548640" y="5625084"/>
            <a:ext cx="5410048" cy="684276"/>
          </a:xfrm>
          <a:prstGeom prst="roundRect">
            <a:avLst>
              <a:gd name="adj" fmla="val 9354"/>
            </a:avLst>
          </a:prstGeom>
          <a:solidFill>
            <a:srgbClr val="F0F5E4"/>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medulla renalis (L): </a:t>
            </a:r>
            <a:r>
              <a:rPr lang="en-US" sz="1500" dirty="0">
                <a:solidFill>
                  <a:srgbClr val="1F2937"/>
                </a:solidFill>
                <a:latin typeface="Calibri" pitchFamily="34" charset="0"/>
                <a:ea typeface="Calibri" pitchFamily="34" charset="-122"/>
                <a:cs typeface="Calibri" pitchFamily="34" charset="-120"/>
              </a:rPr>
              <a:t>Medulla, böbreğin iki katmanından içte ve hiluma yakın olanı</a:t>
            </a:r>
            <a:endParaRPr lang="en-US" sz="1500" dirty="0"/>
          </a:p>
        </p:txBody>
      </p:sp>
      <p:sp>
        <p:nvSpPr>
          <p:cNvPr id="18" name="Shape 16"/>
          <p:cNvSpPr/>
          <p:nvPr/>
        </p:nvSpPr>
        <p:spPr>
          <a:xfrm>
            <a:off x="6233008" y="2211324"/>
            <a:ext cx="5410048" cy="916686"/>
          </a:xfrm>
          <a:prstGeom prst="roundRect">
            <a:avLst>
              <a:gd name="adj" fmla="val 6983"/>
            </a:avLst>
          </a:prstGeom>
          <a:solidFill>
            <a:srgbClr val="F0F5E4"/>
          </a:solidFill>
          <a:ln/>
        </p:spPr>
      </p:sp>
      <p:sp>
        <p:nvSpPr>
          <p:cNvPr id="19" name="Text 17"/>
          <p:cNvSpPr txBox="1"/>
          <p:nvPr/>
        </p:nvSpPr>
        <p:spPr>
          <a:xfrm>
            <a:off x="6388456" y="228447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glomerulus (L): </a:t>
            </a:r>
            <a:r>
              <a:rPr lang="en-US" sz="1500" dirty="0">
                <a:solidFill>
                  <a:srgbClr val="1F2937"/>
                </a:solidFill>
                <a:latin typeface="Calibri" pitchFamily="34" charset="0"/>
                <a:ea typeface="Calibri" pitchFamily="34" charset="-122"/>
                <a:cs typeface="Calibri" pitchFamily="34" charset="-120"/>
              </a:rPr>
              <a:t>Glomerul. Böbreğin korteks katmanında bulunur. Kapiller yumağı şeklinde dağılmış olarak bulunur.</a:t>
            </a:r>
            <a:endParaRPr lang="en-US" sz="1500" dirty="0"/>
          </a:p>
        </p:txBody>
      </p:sp>
      <p:sp>
        <p:nvSpPr>
          <p:cNvPr id="20" name="Shape 18"/>
          <p:cNvSpPr/>
          <p:nvPr/>
        </p:nvSpPr>
        <p:spPr>
          <a:xfrm>
            <a:off x="6233008" y="3219450"/>
            <a:ext cx="5410048" cy="916686"/>
          </a:xfrm>
          <a:prstGeom prst="roundRect">
            <a:avLst>
              <a:gd name="adj" fmla="val 6983"/>
            </a:avLst>
          </a:prstGeom>
          <a:solidFill>
            <a:srgbClr val="F0F5E4"/>
          </a:solidFill>
          <a:ln/>
        </p:spPr>
      </p:sp>
      <p:sp>
        <p:nvSpPr>
          <p:cNvPr id="21" name="Text 19"/>
          <p:cNvSpPr txBox="1"/>
          <p:nvPr/>
        </p:nvSpPr>
        <p:spPr>
          <a:xfrm>
            <a:off x="6388456" y="3292602"/>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corpusculum renalis (L) (korpuskulum renalis): </a:t>
            </a:r>
            <a:r>
              <a:rPr lang="en-US" sz="1500" dirty="0">
                <a:solidFill>
                  <a:srgbClr val="1F2937"/>
                </a:solidFill>
                <a:latin typeface="Calibri" pitchFamily="34" charset="0"/>
                <a:ea typeface="Calibri" pitchFamily="34" charset="-122"/>
                <a:cs typeface="Calibri" pitchFamily="34" charset="-120"/>
              </a:rPr>
              <a:t>Böbrek cisimciği. Glomerulusu içeren ve arada boşluk olan oluşumlar.</a:t>
            </a:r>
            <a:endParaRPr lang="en-US" sz="1500" dirty="0"/>
          </a:p>
        </p:txBody>
      </p:sp>
      <p:sp>
        <p:nvSpPr>
          <p:cNvPr id="22" name="Shape 20"/>
          <p:cNvSpPr/>
          <p:nvPr/>
        </p:nvSpPr>
        <p:spPr>
          <a:xfrm>
            <a:off x="6233008" y="4227576"/>
            <a:ext cx="5410048" cy="684276"/>
          </a:xfrm>
          <a:prstGeom prst="roundRect">
            <a:avLst>
              <a:gd name="adj" fmla="val 9354"/>
            </a:avLst>
          </a:prstGeom>
          <a:solidFill>
            <a:srgbClr val="F0F5E4"/>
          </a:solidFill>
          <a:ln/>
        </p:spPr>
      </p:sp>
      <p:sp>
        <p:nvSpPr>
          <p:cNvPr id="23" name="Text 21"/>
          <p:cNvSpPr txBox="1"/>
          <p:nvPr/>
        </p:nvSpPr>
        <p:spPr>
          <a:xfrm>
            <a:off x="6388456" y="430072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tubulus renalis (L): </a:t>
            </a:r>
            <a:r>
              <a:rPr lang="en-US" sz="1500" dirty="0">
                <a:solidFill>
                  <a:srgbClr val="1F2937"/>
                </a:solidFill>
                <a:latin typeface="Calibri" pitchFamily="34" charset="0"/>
                <a:ea typeface="Calibri" pitchFamily="34" charset="-122"/>
                <a:cs typeface="Calibri" pitchFamily="34" charset="-120"/>
              </a:rPr>
              <a:t>Böbrek borucuğu. Böbrekte her iki katmanda görülen ince borucuk</a:t>
            </a:r>
            <a:endParaRPr lang="en-US" sz="1500" dirty="0"/>
          </a:p>
        </p:txBody>
      </p:sp>
      <p:sp>
        <p:nvSpPr>
          <p:cNvPr id="24" name="Shape 22"/>
          <p:cNvSpPr/>
          <p:nvPr/>
        </p:nvSpPr>
        <p:spPr>
          <a:xfrm>
            <a:off x="6233008" y="5003292"/>
            <a:ext cx="5410048" cy="684276"/>
          </a:xfrm>
          <a:prstGeom prst="roundRect">
            <a:avLst>
              <a:gd name="adj" fmla="val 9354"/>
            </a:avLst>
          </a:prstGeom>
          <a:solidFill>
            <a:srgbClr val="F0F5E4"/>
          </a:solidFill>
          <a:ln/>
        </p:spPr>
      </p:sp>
      <p:sp>
        <p:nvSpPr>
          <p:cNvPr id="25" name="Text 23"/>
          <p:cNvSpPr txBox="1"/>
          <p:nvPr/>
        </p:nvSpPr>
        <p:spPr>
          <a:xfrm>
            <a:off x="6388456" y="507644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nephron (G) (nefron): </a:t>
            </a:r>
            <a:r>
              <a:rPr lang="en-US" sz="1500" dirty="0">
                <a:solidFill>
                  <a:srgbClr val="1F2937"/>
                </a:solidFill>
                <a:latin typeface="Calibri" pitchFamily="34" charset="0"/>
                <a:ea typeface="Calibri" pitchFamily="34" charset="-122"/>
                <a:cs typeface="Calibri" pitchFamily="34" charset="-120"/>
              </a:rPr>
              <a:t>Böbreğin idrar üreten en küçük ünitesi</a:t>
            </a:r>
            <a:endParaRPr lang="en-US" sz="15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240</a:t>
            </a:r>
            <a:endParaRPr lang="en-US" sz="1000" dirty="0"/>
          </a:p>
        </p:txBody>
      </p:sp>
      <p:sp>
        <p:nvSpPr>
          <p:cNvPr id="6" name="Shape 4"/>
          <p:cNvSpPr/>
          <p:nvPr/>
        </p:nvSpPr>
        <p:spPr>
          <a:xfrm>
            <a:off x="548640" y="1483157"/>
            <a:ext cx="11094415" cy="821131"/>
          </a:xfrm>
          <a:prstGeom prst="roundRect">
            <a:avLst>
              <a:gd name="adj" fmla="val 7795"/>
            </a:avLst>
          </a:prstGeom>
          <a:solidFill>
            <a:srgbClr val="F0F5E4"/>
          </a:solidFill>
          <a:ln/>
        </p:spPr>
      </p:sp>
      <p:sp>
        <p:nvSpPr>
          <p:cNvPr id="7" name="Text 5"/>
          <p:cNvSpPr txBox="1"/>
          <p:nvPr/>
        </p:nvSpPr>
        <p:spPr>
          <a:xfrm>
            <a:off x="704088" y="1556309"/>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pelvis renalis (L): </a:t>
            </a:r>
            <a:r>
              <a:rPr lang="en-US" sz="1800" dirty="0">
                <a:solidFill>
                  <a:srgbClr val="1F2937"/>
                </a:solidFill>
                <a:latin typeface="Calibri" pitchFamily="34" charset="0"/>
                <a:ea typeface="Calibri" pitchFamily="34" charset="-122"/>
                <a:cs typeface="Calibri" pitchFamily="34" charset="-120"/>
              </a:rPr>
              <a:t>Böbrekte boşaltma borularının açıldıkları geniş boşluk. Buradan üreter başlar. İdrar önce buraya akıtılır.</a:t>
            </a:r>
            <a:endParaRPr lang="en-US" sz="1800" dirty="0"/>
          </a:p>
        </p:txBody>
      </p:sp>
      <p:sp>
        <p:nvSpPr>
          <p:cNvPr id="8" name="Shape 6"/>
          <p:cNvSpPr/>
          <p:nvPr/>
        </p:nvSpPr>
        <p:spPr>
          <a:xfrm>
            <a:off x="548640" y="2395728"/>
            <a:ext cx="11094415" cy="542239"/>
          </a:xfrm>
          <a:prstGeom prst="roundRect">
            <a:avLst>
              <a:gd name="adj" fmla="val 11804"/>
            </a:avLst>
          </a:prstGeom>
          <a:solidFill>
            <a:srgbClr val="F0F5E4"/>
          </a:solidFill>
          <a:ln/>
        </p:spPr>
      </p:sp>
      <p:sp>
        <p:nvSpPr>
          <p:cNvPr id="9" name="Text 7"/>
          <p:cNvSpPr txBox="1"/>
          <p:nvPr/>
        </p:nvSpPr>
        <p:spPr>
          <a:xfrm>
            <a:off x="704088" y="246888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ureter (G): </a:t>
            </a:r>
            <a:r>
              <a:rPr lang="en-US" sz="1800" dirty="0">
                <a:solidFill>
                  <a:srgbClr val="1F2937"/>
                </a:solidFill>
                <a:latin typeface="Calibri" pitchFamily="34" charset="0"/>
                <a:ea typeface="Calibri" pitchFamily="34" charset="-122"/>
                <a:cs typeface="Calibri" pitchFamily="34" charset="-120"/>
              </a:rPr>
              <a:t>İdrar boruları. Pelvis renalis ile idrar kesesi arasında uzanan ince boru.</a:t>
            </a:r>
            <a:endParaRPr lang="en-US" sz="1800" dirty="0"/>
          </a:p>
        </p:txBody>
      </p:sp>
      <p:sp>
        <p:nvSpPr>
          <p:cNvPr id="10" name="Shape 8"/>
          <p:cNvSpPr/>
          <p:nvPr/>
        </p:nvSpPr>
        <p:spPr>
          <a:xfrm>
            <a:off x="548640" y="3029407"/>
            <a:ext cx="11094415" cy="821131"/>
          </a:xfrm>
          <a:prstGeom prst="roundRect">
            <a:avLst>
              <a:gd name="adj" fmla="val 7795"/>
            </a:avLst>
          </a:prstGeom>
          <a:solidFill>
            <a:srgbClr val="F0F5E4"/>
          </a:solidFill>
          <a:ln/>
        </p:spPr>
      </p:sp>
      <p:sp>
        <p:nvSpPr>
          <p:cNvPr id="11" name="Text 9"/>
          <p:cNvSpPr txBox="1"/>
          <p:nvPr/>
        </p:nvSpPr>
        <p:spPr>
          <a:xfrm>
            <a:off x="704088" y="3102559"/>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vesica urinaria (L) (vezika urinarya): </a:t>
            </a:r>
            <a:r>
              <a:rPr lang="en-US" sz="1800" dirty="0">
                <a:solidFill>
                  <a:srgbClr val="1F2937"/>
                </a:solidFill>
                <a:latin typeface="Calibri" pitchFamily="34" charset="0"/>
                <a:ea typeface="Calibri" pitchFamily="34" charset="-122"/>
                <a:cs typeface="Calibri" pitchFamily="34" charset="-120"/>
              </a:rPr>
              <a:t>Mesane. İdrar kesesi. Pelvis boşluğunda bulunur. İdrarın depolandığı organdır.</a:t>
            </a:r>
            <a:endParaRPr lang="en-US" sz="1800" dirty="0"/>
          </a:p>
        </p:txBody>
      </p:sp>
      <p:sp>
        <p:nvSpPr>
          <p:cNvPr id="12" name="Shape 10"/>
          <p:cNvSpPr/>
          <p:nvPr/>
        </p:nvSpPr>
        <p:spPr>
          <a:xfrm>
            <a:off x="548640" y="3941978"/>
            <a:ext cx="11094415" cy="542239"/>
          </a:xfrm>
          <a:prstGeom prst="roundRect">
            <a:avLst>
              <a:gd name="adj" fmla="val 11804"/>
            </a:avLst>
          </a:prstGeom>
          <a:solidFill>
            <a:srgbClr val="F0F5E4"/>
          </a:solidFill>
          <a:ln/>
        </p:spPr>
      </p:sp>
      <p:sp>
        <p:nvSpPr>
          <p:cNvPr id="13" name="Text 11"/>
          <p:cNvSpPr txBox="1"/>
          <p:nvPr/>
        </p:nvSpPr>
        <p:spPr>
          <a:xfrm>
            <a:off x="704088" y="401513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 (G) (sist): </a:t>
            </a:r>
            <a:r>
              <a:rPr lang="en-US" sz="1800" dirty="0">
                <a:solidFill>
                  <a:srgbClr val="1F2937"/>
                </a:solidFill>
                <a:latin typeface="Calibri" pitchFamily="34" charset="0"/>
                <a:ea typeface="Calibri" pitchFamily="34" charset="-122"/>
                <a:cs typeface="Calibri" pitchFamily="34" charset="-120"/>
              </a:rPr>
              <a:t>İdrar kesesi</a:t>
            </a:r>
            <a:endParaRPr lang="en-US" sz="1800" dirty="0"/>
          </a:p>
        </p:txBody>
      </p:sp>
      <p:sp>
        <p:nvSpPr>
          <p:cNvPr id="14" name="Shape 12"/>
          <p:cNvSpPr/>
          <p:nvPr/>
        </p:nvSpPr>
        <p:spPr>
          <a:xfrm>
            <a:off x="548640" y="4575658"/>
            <a:ext cx="11094415" cy="821131"/>
          </a:xfrm>
          <a:prstGeom prst="roundRect">
            <a:avLst>
              <a:gd name="adj" fmla="val 7795"/>
            </a:avLst>
          </a:prstGeom>
          <a:solidFill>
            <a:srgbClr val="F0F5E4"/>
          </a:solidFill>
          <a:ln/>
        </p:spPr>
      </p:sp>
      <p:sp>
        <p:nvSpPr>
          <p:cNvPr id="15" name="Text 13"/>
          <p:cNvSpPr txBox="1"/>
          <p:nvPr/>
        </p:nvSpPr>
        <p:spPr>
          <a:xfrm>
            <a:off x="704088" y="464881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urethra (G) masculina (L) (uretra maskulina): </a:t>
            </a:r>
            <a:r>
              <a:rPr lang="en-US" sz="1800" dirty="0">
                <a:solidFill>
                  <a:srgbClr val="1F2937"/>
                </a:solidFill>
                <a:latin typeface="Calibri" pitchFamily="34" charset="0"/>
                <a:ea typeface="Calibri" pitchFamily="34" charset="-122"/>
                <a:cs typeface="Calibri" pitchFamily="34" charset="-120"/>
              </a:rPr>
              <a:t>Erkek üretrası. İdrar kesesinden başlar ve penis başında dışa açılır. Boşaltma ve üreme organıdır.</a:t>
            </a:r>
            <a:endParaRPr lang="en-US" sz="1800" dirty="0"/>
          </a:p>
        </p:txBody>
      </p:sp>
      <p:sp>
        <p:nvSpPr>
          <p:cNvPr id="16" name="Shape 14"/>
          <p:cNvSpPr/>
          <p:nvPr/>
        </p:nvSpPr>
        <p:spPr>
          <a:xfrm>
            <a:off x="548640" y="5488229"/>
            <a:ext cx="11094415" cy="821131"/>
          </a:xfrm>
          <a:prstGeom prst="roundRect">
            <a:avLst>
              <a:gd name="adj" fmla="val 7795"/>
            </a:avLst>
          </a:prstGeom>
          <a:solidFill>
            <a:srgbClr val="F0F5E4"/>
          </a:solidFill>
          <a:ln/>
        </p:spPr>
      </p:sp>
      <p:sp>
        <p:nvSpPr>
          <p:cNvPr id="17" name="Text 15"/>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urethra (G) feminina (L) (uretra feminina): </a:t>
            </a:r>
            <a:r>
              <a:rPr lang="en-US" sz="1800" dirty="0">
                <a:solidFill>
                  <a:srgbClr val="1F2937"/>
                </a:solidFill>
                <a:latin typeface="Calibri" pitchFamily="34" charset="0"/>
                <a:ea typeface="Calibri" pitchFamily="34" charset="-122"/>
                <a:cs typeface="Calibri" pitchFamily="34" charset="-120"/>
              </a:rPr>
              <a:t>Kadın üretrası. İdrar kesesinden başlar vulvadan dışa açılır. Sadece boşaltma organıdır.</a:t>
            </a:r>
            <a:endParaRPr lang="en-US" sz="18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0F5E4"/>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241</a:t>
            </a:r>
            <a:endParaRPr lang="en-US" sz="1000" dirty="0"/>
          </a:p>
        </p:txBody>
      </p:sp>
      <p:sp>
        <p:nvSpPr>
          <p:cNvPr id="6" name="Shape 4"/>
          <p:cNvSpPr/>
          <p:nvPr/>
        </p:nvSpPr>
        <p:spPr>
          <a:xfrm>
            <a:off x="548640" y="1900428"/>
            <a:ext cx="5410048" cy="451866"/>
          </a:xfrm>
          <a:prstGeom prst="roundRect">
            <a:avLst>
              <a:gd name="adj" fmla="val 14165"/>
            </a:avLst>
          </a:prstGeom>
          <a:solidFill>
            <a:srgbClr val="F0F5E4"/>
          </a:solidFill>
          <a:ln/>
        </p:spPr>
      </p:sp>
      <p:sp>
        <p:nvSpPr>
          <p:cNvPr id="7" name="Text 5"/>
          <p:cNvSpPr txBox="1"/>
          <p:nvPr/>
        </p:nvSpPr>
        <p:spPr>
          <a:xfrm>
            <a:off x="704088" y="197358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urina (L) (ürin), uron (G) (uron): </a:t>
            </a:r>
            <a:r>
              <a:rPr lang="en-US" sz="1500" dirty="0">
                <a:solidFill>
                  <a:srgbClr val="1F2937"/>
                </a:solidFill>
                <a:latin typeface="Calibri" pitchFamily="34" charset="0"/>
                <a:ea typeface="Calibri" pitchFamily="34" charset="-122"/>
                <a:cs typeface="Calibri" pitchFamily="34" charset="-120"/>
              </a:rPr>
              <a:t>Sidik, idrar</a:t>
            </a:r>
            <a:endParaRPr lang="en-US" sz="1500" dirty="0"/>
          </a:p>
        </p:txBody>
      </p:sp>
      <p:sp>
        <p:nvSpPr>
          <p:cNvPr id="8" name="Shape 6"/>
          <p:cNvSpPr/>
          <p:nvPr/>
        </p:nvSpPr>
        <p:spPr>
          <a:xfrm>
            <a:off x="548640" y="2443734"/>
            <a:ext cx="5410048" cy="684276"/>
          </a:xfrm>
          <a:prstGeom prst="roundRect">
            <a:avLst>
              <a:gd name="adj" fmla="val 9354"/>
            </a:avLst>
          </a:prstGeom>
          <a:solidFill>
            <a:srgbClr val="F0F5E4"/>
          </a:solidFill>
          <a:ln/>
        </p:spPr>
      </p:sp>
      <p:sp>
        <p:nvSpPr>
          <p:cNvPr id="9" name="Text 7"/>
          <p:cNvSpPr txBox="1"/>
          <p:nvPr/>
        </p:nvSpPr>
        <p:spPr>
          <a:xfrm>
            <a:off x="704088" y="251688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mictio (L) (miksiyo), uresis (G) (ürez): </a:t>
            </a:r>
            <a:r>
              <a:rPr lang="en-US" sz="1500" dirty="0">
                <a:solidFill>
                  <a:srgbClr val="1F2937"/>
                </a:solidFill>
                <a:latin typeface="Calibri" pitchFamily="34" charset="0"/>
                <a:ea typeface="Calibri" pitchFamily="34" charset="-122"/>
                <a:cs typeface="Calibri" pitchFamily="34" charset="-120"/>
              </a:rPr>
              <a:t>İdrar yapma, işeme</a:t>
            </a:r>
            <a:endParaRPr lang="en-US" sz="1500" dirty="0"/>
          </a:p>
        </p:txBody>
      </p:sp>
      <p:sp>
        <p:nvSpPr>
          <p:cNvPr id="10" name="Shape 8"/>
          <p:cNvSpPr/>
          <p:nvPr/>
        </p:nvSpPr>
        <p:spPr>
          <a:xfrm>
            <a:off x="548640" y="3219450"/>
            <a:ext cx="5410048" cy="451866"/>
          </a:xfrm>
          <a:prstGeom prst="roundRect">
            <a:avLst>
              <a:gd name="adj" fmla="val 14165"/>
            </a:avLst>
          </a:prstGeom>
          <a:solidFill>
            <a:srgbClr val="F0F5E4"/>
          </a:solidFill>
          <a:ln/>
        </p:spPr>
      </p:sp>
      <p:sp>
        <p:nvSpPr>
          <p:cNvPr id="11" name="Text 9"/>
          <p:cNvSpPr txBox="1"/>
          <p:nvPr/>
        </p:nvSpPr>
        <p:spPr>
          <a:xfrm>
            <a:off x="704088"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polyuria (G) (poliüri): </a:t>
            </a:r>
            <a:r>
              <a:rPr lang="en-US" sz="1500" dirty="0">
                <a:solidFill>
                  <a:srgbClr val="1F2937"/>
                </a:solidFill>
                <a:latin typeface="Calibri" pitchFamily="34" charset="0"/>
                <a:ea typeface="Calibri" pitchFamily="34" charset="-122"/>
                <a:cs typeface="Calibri" pitchFamily="34" charset="-120"/>
              </a:rPr>
              <a:t>Sık idrar yapma, idrar çokluğu</a:t>
            </a:r>
            <a:endParaRPr lang="en-US" sz="1500" dirty="0"/>
          </a:p>
        </p:txBody>
      </p:sp>
      <p:sp>
        <p:nvSpPr>
          <p:cNvPr id="12" name="Shape 10"/>
          <p:cNvSpPr/>
          <p:nvPr/>
        </p:nvSpPr>
        <p:spPr>
          <a:xfrm>
            <a:off x="548640" y="3762756"/>
            <a:ext cx="5410048" cy="684276"/>
          </a:xfrm>
          <a:prstGeom prst="roundRect">
            <a:avLst>
              <a:gd name="adj" fmla="val 9354"/>
            </a:avLst>
          </a:prstGeom>
          <a:solidFill>
            <a:srgbClr val="F0F5E4"/>
          </a:solidFill>
          <a:ln/>
        </p:spPr>
      </p:sp>
      <p:sp>
        <p:nvSpPr>
          <p:cNvPr id="13" name="Text 11"/>
          <p:cNvSpPr txBox="1"/>
          <p:nvPr/>
        </p:nvSpPr>
        <p:spPr>
          <a:xfrm>
            <a:off x="704088" y="383590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oliguria (G) (oligüri): </a:t>
            </a:r>
            <a:r>
              <a:rPr lang="en-US" sz="1500" dirty="0">
                <a:solidFill>
                  <a:srgbClr val="1F2937"/>
                </a:solidFill>
                <a:latin typeface="Calibri" pitchFamily="34" charset="0"/>
                <a:ea typeface="Calibri" pitchFamily="34" charset="-122"/>
                <a:cs typeface="Calibri" pitchFamily="34" charset="-120"/>
              </a:rPr>
              <a:t>Seyrek idrar yapma, idrar azalması</a:t>
            </a:r>
            <a:endParaRPr lang="en-US" sz="1500" dirty="0"/>
          </a:p>
        </p:txBody>
      </p:sp>
      <p:sp>
        <p:nvSpPr>
          <p:cNvPr id="14" name="Shape 12"/>
          <p:cNvSpPr/>
          <p:nvPr/>
        </p:nvSpPr>
        <p:spPr>
          <a:xfrm>
            <a:off x="548640" y="4538472"/>
            <a:ext cx="5410048" cy="684276"/>
          </a:xfrm>
          <a:prstGeom prst="roundRect">
            <a:avLst>
              <a:gd name="adj" fmla="val 9354"/>
            </a:avLst>
          </a:prstGeom>
          <a:solidFill>
            <a:srgbClr val="F0F5E4"/>
          </a:solidFill>
          <a:ln/>
        </p:spPr>
      </p:sp>
      <p:sp>
        <p:nvSpPr>
          <p:cNvPr id="15" name="Text 13"/>
          <p:cNvSpPr txBox="1"/>
          <p:nvPr/>
        </p:nvSpPr>
        <p:spPr>
          <a:xfrm>
            <a:off x="704088" y="461162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stranguria (G) (strangüri): </a:t>
            </a:r>
            <a:r>
              <a:rPr lang="en-US" sz="1500" dirty="0">
                <a:solidFill>
                  <a:srgbClr val="1F2937"/>
                </a:solidFill>
                <a:latin typeface="Calibri" pitchFamily="34" charset="0"/>
                <a:ea typeface="Calibri" pitchFamily="34" charset="-122"/>
                <a:cs typeface="Calibri" pitchFamily="34" charset="-120"/>
              </a:rPr>
              <a:t>Damla damla ve ağrılı idrar yapma</a:t>
            </a:r>
            <a:endParaRPr lang="en-US" sz="1500" dirty="0"/>
          </a:p>
        </p:txBody>
      </p:sp>
      <p:sp>
        <p:nvSpPr>
          <p:cNvPr id="16" name="Shape 14"/>
          <p:cNvSpPr/>
          <p:nvPr/>
        </p:nvSpPr>
        <p:spPr>
          <a:xfrm>
            <a:off x="548640" y="5314188"/>
            <a:ext cx="5410048" cy="451866"/>
          </a:xfrm>
          <a:prstGeom prst="roundRect">
            <a:avLst>
              <a:gd name="adj" fmla="val 14165"/>
            </a:avLst>
          </a:prstGeom>
          <a:solidFill>
            <a:srgbClr val="F0F5E4"/>
          </a:solidFill>
          <a:ln/>
        </p:spPr>
      </p:sp>
      <p:sp>
        <p:nvSpPr>
          <p:cNvPr id="17" name="Text 15"/>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dysuria (G) (disüri): </a:t>
            </a:r>
            <a:r>
              <a:rPr lang="en-US" sz="1500" dirty="0">
                <a:solidFill>
                  <a:srgbClr val="1F2937"/>
                </a:solidFill>
                <a:latin typeface="Calibri" pitchFamily="34" charset="0"/>
                <a:ea typeface="Calibri" pitchFamily="34" charset="-122"/>
                <a:cs typeface="Calibri" pitchFamily="34" charset="-120"/>
              </a:rPr>
              <a:t>Ağrılı idrar yapma</a:t>
            </a:r>
            <a:endParaRPr lang="en-US" sz="1500" dirty="0"/>
          </a:p>
        </p:txBody>
      </p:sp>
      <p:sp>
        <p:nvSpPr>
          <p:cNvPr id="18" name="Shape 16"/>
          <p:cNvSpPr/>
          <p:nvPr/>
        </p:nvSpPr>
        <p:spPr>
          <a:xfrm>
            <a:off x="548640" y="5857494"/>
            <a:ext cx="5410048" cy="451866"/>
          </a:xfrm>
          <a:prstGeom prst="roundRect">
            <a:avLst>
              <a:gd name="adj" fmla="val 14165"/>
            </a:avLst>
          </a:prstGeom>
          <a:solidFill>
            <a:srgbClr val="F0F5E4"/>
          </a:solidFill>
          <a:ln/>
        </p:spPr>
      </p:sp>
      <p:sp>
        <p:nvSpPr>
          <p:cNvPr id="19" name="Text 17"/>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anuria (G) (anüri): </a:t>
            </a:r>
            <a:r>
              <a:rPr lang="en-US" sz="1500" dirty="0">
                <a:solidFill>
                  <a:srgbClr val="1F2937"/>
                </a:solidFill>
                <a:latin typeface="Calibri" pitchFamily="34" charset="0"/>
                <a:ea typeface="Calibri" pitchFamily="34" charset="-122"/>
                <a:cs typeface="Calibri" pitchFamily="34" charset="-120"/>
              </a:rPr>
              <a:t>Adrarın olmaması</a:t>
            </a:r>
            <a:endParaRPr lang="en-US" sz="1500" dirty="0"/>
          </a:p>
        </p:txBody>
      </p:sp>
      <p:sp>
        <p:nvSpPr>
          <p:cNvPr id="20" name="Shape 18"/>
          <p:cNvSpPr/>
          <p:nvPr/>
        </p:nvSpPr>
        <p:spPr>
          <a:xfrm>
            <a:off x="6233008" y="1900428"/>
            <a:ext cx="5410048" cy="451866"/>
          </a:xfrm>
          <a:prstGeom prst="roundRect">
            <a:avLst>
              <a:gd name="adj" fmla="val 14165"/>
            </a:avLst>
          </a:prstGeom>
          <a:solidFill>
            <a:srgbClr val="F0F5E4"/>
          </a:solidFill>
          <a:ln/>
        </p:spPr>
      </p:sp>
      <p:sp>
        <p:nvSpPr>
          <p:cNvPr id="21" name="Text 19"/>
          <p:cNvSpPr txBox="1"/>
          <p:nvPr/>
        </p:nvSpPr>
        <p:spPr>
          <a:xfrm>
            <a:off x="6388456" y="197358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nocturia (LG) (noktüri): </a:t>
            </a:r>
            <a:r>
              <a:rPr lang="en-US" sz="1500" dirty="0">
                <a:solidFill>
                  <a:srgbClr val="1F2937"/>
                </a:solidFill>
                <a:latin typeface="Calibri" pitchFamily="34" charset="0"/>
                <a:ea typeface="Calibri" pitchFamily="34" charset="-122"/>
                <a:cs typeface="Calibri" pitchFamily="34" charset="-120"/>
              </a:rPr>
              <a:t>Gecelere idrara çıkma</a:t>
            </a:r>
            <a:endParaRPr lang="en-US" sz="1500" dirty="0"/>
          </a:p>
        </p:txBody>
      </p:sp>
      <p:sp>
        <p:nvSpPr>
          <p:cNvPr id="22" name="Shape 20"/>
          <p:cNvSpPr/>
          <p:nvPr/>
        </p:nvSpPr>
        <p:spPr>
          <a:xfrm>
            <a:off x="6233008" y="2443734"/>
            <a:ext cx="5410048" cy="684276"/>
          </a:xfrm>
          <a:prstGeom prst="roundRect">
            <a:avLst>
              <a:gd name="adj" fmla="val 9354"/>
            </a:avLst>
          </a:prstGeom>
          <a:solidFill>
            <a:srgbClr val="F0F5E4"/>
          </a:solidFill>
          <a:ln/>
        </p:spPr>
      </p:sp>
      <p:sp>
        <p:nvSpPr>
          <p:cNvPr id="23" name="Text 21"/>
          <p:cNvSpPr txBox="1"/>
          <p:nvPr/>
        </p:nvSpPr>
        <p:spPr>
          <a:xfrm>
            <a:off x="6388456" y="251688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incontinence (inkontinens): </a:t>
            </a:r>
            <a:r>
              <a:rPr lang="en-US" sz="1500" dirty="0">
                <a:solidFill>
                  <a:srgbClr val="1F2937"/>
                </a:solidFill>
                <a:latin typeface="Calibri" pitchFamily="34" charset="0"/>
                <a:ea typeface="Calibri" pitchFamily="34" charset="-122"/>
                <a:cs typeface="Calibri" pitchFamily="34" charset="-120"/>
              </a:rPr>
              <a:t>İdrar veya dışkının tutulamaması,</a:t>
            </a:r>
            <a:endParaRPr lang="en-US" sz="1500" dirty="0"/>
          </a:p>
        </p:txBody>
      </p:sp>
      <p:sp>
        <p:nvSpPr>
          <p:cNvPr id="24" name="Shape 22"/>
          <p:cNvSpPr/>
          <p:nvPr/>
        </p:nvSpPr>
        <p:spPr>
          <a:xfrm>
            <a:off x="6233008" y="3219450"/>
            <a:ext cx="5410048" cy="684276"/>
          </a:xfrm>
          <a:prstGeom prst="roundRect">
            <a:avLst>
              <a:gd name="adj" fmla="val 9354"/>
            </a:avLst>
          </a:prstGeom>
          <a:solidFill>
            <a:srgbClr val="F0F5E4"/>
          </a:solidFill>
          <a:ln/>
        </p:spPr>
      </p:sp>
      <p:sp>
        <p:nvSpPr>
          <p:cNvPr id="25" name="Text 23"/>
          <p:cNvSpPr txBox="1"/>
          <p:nvPr/>
        </p:nvSpPr>
        <p:spPr>
          <a:xfrm>
            <a:off x="6388456" y="329260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enuresis (G) (enürezis): </a:t>
            </a:r>
            <a:r>
              <a:rPr lang="en-US" sz="1500" dirty="0">
                <a:solidFill>
                  <a:srgbClr val="1F2937"/>
                </a:solidFill>
                <a:latin typeface="Calibri" pitchFamily="34" charset="0"/>
                <a:ea typeface="Calibri" pitchFamily="34" charset="-122"/>
                <a:cs typeface="Calibri" pitchFamily="34" charset="-120"/>
              </a:rPr>
              <a:t>İdrar kaçırma, idrarın istemsiz çıkarılması</a:t>
            </a:r>
            <a:endParaRPr lang="en-US" sz="1500" dirty="0"/>
          </a:p>
        </p:txBody>
      </p:sp>
      <p:sp>
        <p:nvSpPr>
          <p:cNvPr id="26" name="Shape 24"/>
          <p:cNvSpPr/>
          <p:nvPr/>
        </p:nvSpPr>
        <p:spPr>
          <a:xfrm>
            <a:off x="6233008" y="3995166"/>
            <a:ext cx="5410048" cy="684276"/>
          </a:xfrm>
          <a:prstGeom prst="roundRect">
            <a:avLst>
              <a:gd name="adj" fmla="val 9354"/>
            </a:avLst>
          </a:prstGeom>
          <a:solidFill>
            <a:srgbClr val="F0F5E4"/>
          </a:solidFill>
          <a:ln/>
        </p:spPr>
      </p:sp>
      <p:sp>
        <p:nvSpPr>
          <p:cNvPr id="27" name="Text 25"/>
          <p:cNvSpPr txBox="1"/>
          <p:nvPr/>
        </p:nvSpPr>
        <p:spPr>
          <a:xfrm>
            <a:off x="6388456" y="406831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nocturnal (L) enuresis (G) (nokturnal enürezis): </a:t>
            </a:r>
            <a:r>
              <a:rPr lang="en-US" sz="1500" dirty="0">
                <a:solidFill>
                  <a:srgbClr val="1F2937"/>
                </a:solidFill>
                <a:latin typeface="Calibri" pitchFamily="34" charset="0"/>
                <a:ea typeface="Calibri" pitchFamily="34" charset="-122"/>
                <a:cs typeface="Calibri" pitchFamily="34" charset="-120"/>
              </a:rPr>
              <a:t>Uykuda idrar tutamama</a:t>
            </a:r>
            <a:endParaRPr lang="en-US" sz="1500" dirty="0"/>
          </a:p>
        </p:txBody>
      </p:sp>
      <p:sp>
        <p:nvSpPr>
          <p:cNvPr id="28" name="Shape 26"/>
          <p:cNvSpPr/>
          <p:nvPr/>
        </p:nvSpPr>
        <p:spPr>
          <a:xfrm>
            <a:off x="6233008" y="4770882"/>
            <a:ext cx="5410048" cy="451866"/>
          </a:xfrm>
          <a:prstGeom prst="roundRect">
            <a:avLst>
              <a:gd name="adj" fmla="val 14165"/>
            </a:avLst>
          </a:prstGeom>
          <a:solidFill>
            <a:srgbClr val="F0F5E4"/>
          </a:solidFill>
          <a:ln/>
        </p:spPr>
      </p:sp>
      <p:sp>
        <p:nvSpPr>
          <p:cNvPr id="29" name="Text 27"/>
          <p:cNvSpPr txBox="1"/>
          <p:nvPr/>
        </p:nvSpPr>
        <p:spPr>
          <a:xfrm>
            <a:off x="6388456"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4D7C0F"/>
                </a:solidFill>
                <a:latin typeface="Calibri" pitchFamily="34" charset="0"/>
                <a:ea typeface="Calibri" pitchFamily="34" charset="-122"/>
                <a:cs typeface="Calibri" pitchFamily="34" charset="-120"/>
              </a:rPr>
              <a:t>hematuria (G) (hematüri): </a:t>
            </a:r>
            <a:r>
              <a:rPr lang="en-US" sz="1500" dirty="0">
                <a:solidFill>
                  <a:srgbClr val="1F2937"/>
                </a:solidFill>
                <a:latin typeface="Calibri" pitchFamily="34" charset="0"/>
                <a:ea typeface="Calibri" pitchFamily="34" charset="-122"/>
                <a:cs typeface="Calibri" pitchFamily="34" charset="-120"/>
              </a:rPr>
              <a:t>İdrarda kan bulunması</a:t>
            </a:r>
            <a:endParaRPr lang="en-US" sz="15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242</a:t>
            </a:r>
            <a:endParaRPr lang="en-US" sz="1000" dirty="0"/>
          </a:p>
        </p:txBody>
      </p:sp>
      <p:sp>
        <p:nvSpPr>
          <p:cNvPr id="6" name="Shape 4"/>
          <p:cNvSpPr/>
          <p:nvPr/>
        </p:nvSpPr>
        <p:spPr>
          <a:xfrm>
            <a:off x="548640" y="2674620"/>
            <a:ext cx="11094415" cy="542239"/>
          </a:xfrm>
          <a:prstGeom prst="roundRect">
            <a:avLst>
              <a:gd name="adj" fmla="val 11804"/>
            </a:avLst>
          </a:prstGeom>
          <a:solidFill>
            <a:srgbClr val="F0F5E4"/>
          </a:solidFill>
          <a:ln/>
        </p:spPr>
      </p:sp>
      <p:sp>
        <p:nvSpPr>
          <p:cNvPr id="7" name="Text 5"/>
          <p:cNvSpPr txBox="1"/>
          <p:nvPr/>
        </p:nvSpPr>
        <p:spPr>
          <a:xfrm>
            <a:off x="704088" y="27477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proteinuria (G) (proteinüri): </a:t>
            </a:r>
            <a:r>
              <a:rPr lang="en-US" sz="1800" dirty="0">
                <a:solidFill>
                  <a:srgbClr val="1F2937"/>
                </a:solidFill>
                <a:latin typeface="Calibri" pitchFamily="34" charset="0"/>
                <a:ea typeface="Calibri" pitchFamily="34" charset="-122"/>
                <a:cs typeface="Calibri" pitchFamily="34" charset="-120"/>
              </a:rPr>
              <a:t>İdrarda protein bulunması</a:t>
            </a:r>
            <a:endParaRPr lang="en-US" sz="1800" dirty="0"/>
          </a:p>
        </p:txBody>
      </p:sp>
      <p:sp>
        <p:nvSpPr>
          <p:cNvPr id="8" name="Shape 6"/>
          <p:cNvSpPr/>
          <p:nvPr/>
        </p:nvSpPr>
        <p:spPr>
          <a:xfrm>
            <a:off x="548640" y="3308299"/>
            <a:ext cx="11094415" cy="542239"/>
          </a:xfrm>
          <a:prstGeom prst="roundRect">
            <a:avLst>
              <a:gd name="adj" fmla="val 11804"/>
            </a:avLst>
          </a:prstGeom>
          <a:solidFill>
            <a:srgbClr val="F0F5E4"/>
          </a:solidFill>
          <a:ln/>
        </p:spPr>
      </p:sp>
      <p:sp>
        <p:nvSpPr>
          <p:cNvPr id="9" name="Text 7"/>
          <p:cNvSpPr txBox="1"/>
          <p:nvPr/>
        </p:nvSpPr>
        <p:spPr>
          <a:xfrm>
            <a:off x="704088" y="33814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glycosuria (G) (glikozüri): </a:t>
            </a:r>
            <a:r>
              <a:rPr lang="en-US" sz="1800" dirty="0">
                <a:solidFill>
                  <a:srgbClr val="1F2937"/>
                </a:solidFill>
                <a:latin typeface="Calibri" pitchFamily="34" charset="0"/>
                <a:ea typeface="Calibri" pitchFamily="34" charset="-122"/>
                <a:cs typeface="Calibri" pitchFamily="34" charset="-120"/>
              </a:rPr>
              <a:t>İdrarda şeker bulunması</a:t>
            </a:r>
            <a:endParaRPr lang="en-US" sz="1800" dirty="0"/>
          </a:p>
        </p:txBody>
      </p:sp>
      <p:sp>
        <p:nvSpPr>
          <p:cNvPr id="10" name="Shape 8"/>
          <p:cNvSpPr/>
          <p:nvPr/>
        </p:nvSpPr>
        <p:spPr>
          <a:xfrm>
            <a:off x="548640" y="3941978"/>
            <a:ext cx="11094415" cy="821131"/>
          </a:xfrm>
          <a:prstGeom prst="roundRect">
            <a:avLst>
              <a:gd name="adj" fmla="val 7795"/>
            </a:avLst>
          </a:prstGeom>
          <a:solidFill>
            <a:srgbClr val="F0F5E4"/>
          </a:solidFill>
          <a:ln/>
        </p:spPr>
      </p:sp>
      <p:sp>
        <p:nvSpPr>
          <p:cNvPr id="11" name="Text 9"/>
          <p:cNvSpPr txBox="1"/>
          <p:nvPr/>
        </p:nvSpPr>
        <p:spPr>
          <a:xfrm>
            <a:off x="704088" y="401513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urinary retention (ürinari retensiyon): </a:t>
            </a:r>
            <a:r>
              <a:rPr lang="en-US" sz="1800" dirty="0">
                <a:solidFill>
                  <a:srgbClr val="1F2937"/>
                </a:solidFill>
                <a:latin typeface="Calibri" pitchFamily="34" charset="0"/>
                <a:ea typeface="Calibri" pitchFamily="34" charset="-122"/>
                <a:cs typeface="Calibri" pitchFamily="34" charset="-120"/>
              </a:rPr>
              <a:t>İdrar retansiyonu. Çeşitli nedenlerle idrarın yapılamaması sonucu mesanede idrarın birikmesi</a:t>
            </a:r>
            <a:endParaRPr lang="en-US" sz="1800" dirty="0"/>
          </a:p>
        </p:txBody>
      </p:sp>
      <p:sp>
        <p:nvSpPr>
          <p:cNvPr id="12" name="Shape 10"/>
          <p:cNvSpPr/>
          <p:nvPr/>
        </p:nvSpPr>
        <p:spPr>
          <a:xfrm>
            <a:off x="548640" y="4854550"/>
            <a:ext cx="11094415" cy="542239"/>
          </a:xfrm>
          <a:prstGeom prst="roundRect">
            <a:avLst>
              <a:gd name="adj" fmla="val 11804"/>
            </a:avLst>
          </a:prstGeom>
          <a:solidFill>
            <a:srgbClr val="F0F5E4"/>
          </a:solidFill>
          <a:ln/>
        </p:spPr>
      </p:sp>
      <p:sp>
        <p:nvSpPr>
          <p:cNvPr id="13" name="Text 11"/>
          <p:cNvSpPr txBox="1"/>
          <p:nvPr/>
        </p:nvSpPr>
        <p:spPr>
          <a:xfrm>
            <a:off x="704088" y="492770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residual urinary (rezidual ürinari): </a:t>
            </a:r>
            <a:r>
              <a:rPr lang="en-US" sz="1800" dirty="0">
                <a:solidFill>
                  <a:srgbClr val="1F2937"/>
                </a:solidFill>
                <a:latin typeface="Calibri" pitchFamily="34" charset="0"/>
                <a:ea typeface="Calibri" pitchFamily="34" charset="-122"/>
                <a:cs typeface="Calibri" pitchFamily="34" charset="-120"/>
              </a:rPr>
              <a:t>İşedikten sonra idrar kesesinde kalan idrar</a:t>
            </a:r>
            <a:endParaRPr lang="en-US" sz="1800" dirty="0"/>
          </a:p>
        </p:txBody>
      </p:sp>
      <p:sp>
        <p:nvSpPr>
          <p:cNvPr id="14" name="Shape 12"/>
          <p:cNvSpPr/>
          <p:nvPr/>
        </p:nvSpPr>
        <p:spPr>
          <a:xfrm>
            <a:off x="548640" y="5488229"/>
            <a:ext cx="11094415" cy="821131"/>
          </a:xfrm>
          <a:prstGeom prst="roundRect">
            <a:avLst>
              <a:gd name="adj" fmla="val 7795"/>
            </a:avLst>
          </a:prstGeom>
          <a:solidFill>
            <a:srgbClr val="F0F5E4"/>
          </a:solidFill>
          <a:ln/>
        </p:spPr>
      </p:sp>
      <p:sp>
        <p:nvSpPr>
          <p:cNvPr id="15" name="Text 13"/>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oedema (L) (ödem): </a:t>
            </a:r>
            <a:r>
              <a:rPr lang="en-US" sz="1800" dirty="0">
                <a:solidFill>
                  <a:srgbClr val="1F2937"/>
                </a:solidFill>
                <a:latin typeface="Calibri" pitchFamily="34" charset="0"/>
                <a:ea typeface="Calibri" pitchFamily="34" charset="-122"/>
                <a:cs typeface="Calibri" pitchFamily="34" charset="-120"/>
              </a:rPr>
              <a:t>Hücreler arası aralıklarda aşırı sıvı toplanmasına bağlı olarak vücudun bir bölümünün şişmesi</a:t>
            </a:r>
            <a:endParaRPr lang="en-US" sz="18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spTree>
      <p:nvGrpSpPr>
        <p:cNvPr id="1" name=""/>
        <p:cNvGrpSpPr/>
        <p:nvPr/>
      </p:nvGrpSpPr>
      <p:grpSpPr>
        <a:xfrm>
          <a:off x="0" y="0"/>
          <a:ext cx="0" cy="0"/>
          <a:chOff x="0" y="0"/>
          <a:chExt cx="0" cy="0"/>
        </a:xfrm>
      </p:grpSpPr>
      <p:sp>
        <p:nvSpPr>
          <p:cNvPr id="2" name="Shape 0"/>
          <p:cNvSpPr/>
          <p:nvPr/>
        </p:nvSpPr>
        <p:spPr>
          <a:xfrm>
            <a:off x="548640" y="384048"/>
            <a:ext cx="4937760" cy="310896"/>
          </a:xfrm>
          <a:prstGeom prst="roundRect">
            <a:avLst>
              <a:gd name="adj" fmla="val 50000"/>
            </a:avLst>
          </a:prstGeom>
          <a:solidFill>
            <a:srgbClr val="F0F5E4"/>
          </a:solidFill>
          <a:ln/>
        </p:spPr>
      </p:sp>
      <p:sp>
        <p:nvSpPr>
          <p:cNvPr id="3" name="Text 1"/>
          <p:cNvSpPr txBox="1"/>
          <p:nvPr/>
        </p:nvSpPr>
        <p:spPr>
          <a:xfrm>
            <a:off x="694944" y="384048"/>
            <a:ext cx="466344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243</a:t>
            </a:r>
            <a:endParaRPr lang="en-US" sz="1000" dirty="0"/>
          </a:p>
        </p:txBody>
      </p:sp>
      <p:sp>
        <p:nvSpPr>
          <p:cNvPr id="6" name="Shape 4"/>
          <p:cNvSpPr/>
          <p:nvPr/>
        </p:nvSpPr>
        <p:spPr>
          <a:xfrm>
            <a:off x="548640" y="1564386"/>
            <a:ext cx="11094415" cy="855574"/>
          </a:xfrm>
          <a:prstGeom prst="roundRect">
            <a:avLst>
              <a:gd name="adj" fmla="val 7481"/>
            </a:avLst>
          </a:prstGeom>
          <a:solidFill>
            <a:srgbClr val="F0F5E4"/>
          </a:solidFill>
          <a:ln/>
        </p:spPr>
      </p:sp>
      <p:sp>
        <p:nvSpPr>
          <p:cNvPr id="7" name="Text 5"/>
          <p:cNvSpPr txBox="1"/>
          <p:nvPr/>
        </p:nvSpPr>
        <p:spPr>
          <a:xfrm>
            <a:off x="704088" y="1637538"/>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Kronik böbrek yetmezliği: </a:t>
            </a:r>
            <a:r>
              <a:rPr lang="en-US" sz="1400" dirty="0">
                <a:solidFill>
                  <a:srgbClr val="1F2937"/>
                </a:solidFill>
                <a:latin typeface="Calibri" pitchFamily="34" charset="0"/>
                <a:ea typeface="Calibri" pitchFamily="34" charset="-122"/>
                <a:cs typeface="Calibri" pitchFamily="34" charset="-120"/>
              </a:rPr>
              <a:t>Böbreğin filtrasyon ve düzenleme işlevlerinde bozulma ve yetmezliğe yol açan çok sayıda patolojik duruma bağlı olarak ortaya çıkan tablo</a:t>
            </a:r>
            <a:endParaRPr lang="en-US" sz="1400" dirty="0"/>
          </a:p>
        </p:txBody>
      </p:sp>
      <p:sp>
        <p:nvSpPr>
          <p:cNvPr id="8" name="Shape 6"/>
          <p:cNvSpPr/>
          <p:nvPr/>
        </p:nvSpPr>
        <p:spPr>
          <a:xfrm>
            <a:off x="548640" y="2511400"/>
            <a:ext cx="11094415" cy="1072490"/>
          </a:xfrm>
          <a:prstGeom prst="roundRect">
            <a:avLst>
              <a:gd name="adj" fmla="val 5968"/>
            </a:avLst>
          </a:prstGeom>
          <a:solidFill>
            <a:srgbClr val="F0F5E4"/>
          </a:solidFill>
          <a:ln/>
        </p:spPr>
      </p:sp>
      <p:sp>
        <p:nvSpPr>
          <p:cNvPr id="9" name="Text 7"/>
          <p:cNvSpPr txBox="1"/>
          <p:nvPr/>
        </p:nvSpPr>
        <p:spPr>
          <a:xfrm>
            <a:off x="704088" y="2584552"/>
            <a:ext cx="10783519" cy="926186"/>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peritoneal dialyisis (G) (periton diyalizi): </a:t>
            </a:r>
            <a:r>
              <a:rPr lang="en-US" sz="1400" dirty="0">
                <a:solidFill>
                  <a:srgbClr val="1F2937"/>
                </a:solidFill>
                <a:latin typeface="Calibri" pitchFamily="34" charset="0"/>
                <a:ea typeface="Calibri" pitchFamily="34" charset="-122"/>
                <a:cs typeface="Calibri" pitchFamily="34" charset="-120"/>
              </a:rPr>
              <a:t>Karın ön duvarından yapılan bir kesit ile periton boşluğuna diyaliz sıvısı verilir. Kandaki toksik maddeler diyaliz sıvısına difüzyon yoluyla geçer.</a:t>
            </a:r>
            <a:endParaRPr lang="en-US" sz="1400" dirty="0"/>
          </a:p>
        </p:txBody>
      </p:sp>
      <p:sp>
        <p:nvSpPr>
          <p:cNvPr id="10" name="Shape 8"/>
          <p:cNvSpPr/>
          <p:nvPr/>
        </p:nvSpPr>
        <p:spPr>
          <a:xfrm>
            <a:off x="548640" y="3776675"/>
            <a:ext cx="5410048" cy="638658"/>
          </a:xfrm>
          <a:prstGeom prst="roundRect">
            <a:avLst>
              <a:gd name="adj" fmla="val 10022"/>
            </a:avLst>
          </a:prstGeom>
          <a:solidFill>
            <a:srgbClr val="F0F5E4"/>
          </a:solidFill>
          <a:ln/>
        </p:spPr>
      </p:sp>
      <p:sp>
        <p:nvSpPr>
          <p:cNvPr id="11" name="Text 9"/>
          <p:cNvSpPr txBox="1"/>
          <p:nvPr/>
        </p:nvSpPr>
        <p:spPr>
          <a:xfrm>
            <a:off x="704088" y="3849827"/>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Akut böbrek yetmezliği: </a:t>
            </a:r>
            <a:r>
              <a:rPr lang="en-US" sz="1400" dirty="0">
                <a:solidFill>
                  <a:srgbClr val="1F2937"/>
                </a:solidFill>
                <a:latin typeface="Calibri" pitchFamily="34" charset="0"/>
                <a:ea typeface="Calibri" pitchFamily="34" charset="-122"/>
                <a:cs typeface="Calibri" pitchFamily="34" charset="-120"/>
              </a:rPr>
              <a:t>Kısa sürede oligüri veya anürüye azoteminin eşlik ettiği tablo</a:t>
            </a:r>
            <a:endParaRPr lang="en-US" sz="1400" dirty="0"/>
          </a:p>
        </p:txBody>
      </p:sp>
      <p:sp>
        <p:nvSpPr>
          <p:cNvPr id="12" name="Shape 10"/>
          <p:cNvSpPr/>
          <p:nvPr/>
        </p:nvSpPr>
        <p:spPr>
          <a:xfrm>
            <a:off x="548640" y="4506773"/>
            <a:ext cx="5410048" cy="855574"/>
          </a:xfrm>
          <a:prstGeom prst="roundRect">
            <a:avLst>
              <a:gd name="adj" fmla="val 7481"/>
            </a:avLst>
          </a:prstGeom>
          <a:solidFill>
            <a:srgbClr val="F0F5E4"/>
          </a:solidFill>
          <a:ln/>
        </p:spPr>
      </p:sp>
      <p:sp>
        <p:nvSpPr>
          <p:cNvPr id="13" name="Text 11"/>
          <p:cNvSpPr txBox="1"/>
          <p:nvPr/>
        </p:nvSpPr>
        <p:spPr>
          <a:xfrm>
            <a:off x="704088" y="4579925"/>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dialysis (G) (diyaliz): </a:t>
            </a:r>
            <a:r>
              <a:rPr lang="en-US" sz="1400" dirty="0">
                <a:solidFill>
                  <a:srgbClr val="1F2937"/>
                </a:solidFill>
                <a:latin typeface="Calibri" pitchFamily="34" charset="0"/>
                <a:ea typeface="Calibri" pitchFamily="34" charset="-122"/>
                <a:cs typeface="Calibri" pitchFamily="34" charset="-120"/>
              </a:rPr>
              <a:t>Bir çözeltinin içerisindeki elementlerin yarı geçirgen bir zarın bir yandan öbür yanına diffüzyon yoluyla geçirilerek ayrılması</a:t>
            </a:r>
            <a:endParaRPr lang="en-US" sz="1400" dirty="0"/>
          </a:p>
        </p:txBody>
      </p:sp>
      <p:sp>
        <p:nvSpPr>
          <p:cNvPr id="14" name="Shape 12"/>
          <p:cNvSpPr/>
          <p:nvPr/>
        </p:nvSpPr>
        <p:spPr>
          <a:xfrm>
            <a:off x="548640" y="5453786"/>
            <a:ext cx="5410048" cy="855574"/>
          </a:xfrm>
          <a:prstGeom prst="roundRect">
            <a:avLst>
              <a:gd name="adj" fmla="val 7481"/>
            </a:avLst>
          </a:prstGeom>
          <a:solidFill>
            <a:srgbClr val="F0F5E4"/>
          </a:solidFill>
          <a:ln/>
        </p:spPr>
      </p:sp>
      <p:sp>
        <p:nvSpPr>
          <p:cNvPr id="15" name="Text 13"/>
          <p:cNvSpPr txBox="1"/>
          <p:nvPr/>
        </p:nvSpPr>
        <p:spPr>
          <a:xfrm>
            <a:off x="704088" y="5526938"/>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hemodialysis (G) (hemodiyaliz): </a:t>
            </a:r>
            <a:r>
              <a:rPr lang="en-US" sz="1400" dirty="0">
                <a:solidFill>
                  <a:srgbClr val="1F2937"/>
                </a:solidFill>
                <a:latin typeface="Calibri" pitchFamily="34" charset="0"/>
                <a:ea typeface="Calibri" pitchFamily="34" charset="-122"/>
                <a:cs typeface="Calibri" pitchFamily="34" charset="-120"/>
              </a:rPr>
              <a:t>Toksik maddelerin hemodiyaliz aygıtları ve sıvıları aracılığı ile kandan uzaklaştırılması</a:t>
            </a:r>
            <a:endParaRPr lang="en-US" sz="1400" dirty="0"/>
          </a:p>
        </p:txBody>
      </p:sp>
      <p:sp>
        <p:nvSpPr>
          <p:cNvPr id="16" name="Shape 14"/>
          <p:cNvSpPr/>
          <p:nvPr/>
        </p:nvSpPr>
        <p:spPr>
          <a:xfrm>
            <a:off x="6233008" y="3776675"/>
            <a:ext cx="5410048" cy="638658"/>
          </a:xfrm>
          <a:prstGeom prst="roundRect">
            <a:avLst>
              <a:gd name="adj" fmla="val 10022"/>
            </a:avLst>
          </a:prstGeom>
          <a:solidFill>
            <a:srgbClr val="F0F5E4"/>
          </a:solidFill>
          <a:ln/>
        </p:spPr>
      </p:sp>
      <p:sp>
        <p:nvSpPr>
          <p:cNvPr id="17" name="Text 15"/>
          <p:cNvSpPr txBox="1"/>
          <p:nvPr/>
        </p:nvSpPr>
        <p:spPr>
          <a:xfrm>
            <a:off x="6388456" y="3849827"/>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glomerulonephritis (LG) (glomerulonefrit): </a:t>
            </a:r>
            <a:r>
              <a:rPr lang="en-US" sz="1400" dirty="0">
                <a:solidFill>
                  <a:srgbClr val="1F2937"/>
                </a:solidFill>
                <a:latin typeface="Calibri" pitchFamily="34" charset="0"/>
                <a:ea typeface="Calibri" pitchFamily="34" charset="-122"/>
                <a:cs typeface="Calibri" pitchFamily="34" charset="-120"/>
              </a:rPr>
              <a:t>Glomerulus iltihabı</a:t>
            </a:r>
            <a:endParaRPr lang="en-US" sz="1400" dirty="0"/>
          </a:p>
        </p:txBody>
      </p:sp>
      <p:sp>
        <p:nvSpPr>
          <p:cNvPr id="18" name="Shape 16"/>
          <p:cNvSpPr/>
          <p:nvPr/>
        </p:nvSpPr>
        <p:spPr>
          <a:xfrm>
            <a:off x="6233008" y="4506773"/>
            <a:ext cx="5410048" cy="855574"/>
          </a:xfrm>
          <a:prstGeom prst="roundRect">
            <a:avLst>
              <a:gd name="adj" fmla="val 7481"/>
            </a:avLst>
          </a:prstGeom>
          <a:solidFill>
            <a:srgbClr val="F0F5E4"/>
          </a:solidFill>
          <a:ln/>
        </p:spPr>
      </p:sp>
      <p:sp>
        <p:nvSpPr>
          <p:cNvPr id="19" name="Text 17"/>
          <p:cNvSpPr txBox="1"/>
          <p:nvPr/>
        </p:nvSpPr>
        <p:spPr>
          <a:xfrm>
            <a:off x="6388456" y="4579925"/>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nephrotic syndrome (G) (nefrotik sendrom): </a:t>
            </a:r>
            <a:r>
              <a:rPr lang="en-US" sz="1400" dirty="0">
                <a:solidFill>
                  <a:srgbClr val="1F2937"/>
                </a:solidFill>
                <a:latin typeface="Calibri" pitchFamily="34" charset="0"/>
                <a:ea typeface="Calibri" pitchFamily="34" charset="-122"/>
                <a:cs typeface="Calibri" pitchFamily="34" charset="-120"/>
              </a:rPr>
              <a:t>Ödem, proteinüri, hipoalbüminemi, lipidüri ve hiperlipemi ile ortaya çıkan bir grup hastalık</a:t>
            </a:r>
            <a:endParaRPr lang="en-US" sz="1400" dirty="0"/>
          </a:p>
        </p:txBody>
      </p:sp>
      <p:sp>
        <p:nvSpPr>
          <p:cNvPr id="20" name="Shape 18"/>
          <p:cNvSpPr/>
          <p:nvPr/>
        </p:nvSpPr>
        <p:spPr>
          <a:xfrm>
            <a:off x="6233008" y="5453786"/>
            <a:ext cx="5410048" cy="855574"/>
          </a:xfrm>
          <a:prstGeom prst="roundRect">
            <a:avLst>
              <a:gd name="adj" fmla="val 7481"/>
            </a:avLst>
          </a:prstGeom>
          <a:solidFill>
            <a:srgbClr val="F0F5E4"/>
          </a:solidFill>
          <a:ln/>
        </p:spPr>
      </p:sp>
      <p:sp>
        <p:nvSpPr>
          <p:cNvPr id="21" name="Text 19"/>
          <p:cNvSpPr txBox="1"/>
          <p:nvPr/>
        </p:nvSpPr>
        <p:spPr>
          <a:xfrm>
            <a:off x="6388456" y="5526938"/>
            <a:ext cx="5099152" cy="709270"/>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renal (L) glycosuria (G) (renal glikozüri): </a:t>
            </a:r>
            <a:r>
              <a:rPr lang="en-US" sz="1400" dirty="0">
                <a:solidFill>
                  <a:srgbClr val="1F2937"/>
                </a:solidFill>
                <a:latin typeface="Calibri" pitchFamily="34" charset="0"/>
                <a:ea typeface="Calibri" pitchFamily="34" charset="-122"/>
                <a:cs typeface="Calibri" pitchFamily="34" charset="-120"/>
              </a:rPr>
              <a:t>Kan glikoz düzeyi normal veya düşük olmasına rağmen, idrara glikoz çıkarılması</a:t>
            </a:r>
            <a:endParaRPr lang="en-US" sz="14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244</a:t>
            </a:r>
            <a:endParaRPr lang="en-US" sz="1000" dirty="0"/>
          </a:p>
        </p:txBody>
      </p:sp>
      <p:sp>
        <p:nvSpPr>
          <p:cNvPr id="6" name="Shape 4"/>
          <p:cNvSpPr/>
          <p:nvPr/>
        </p:nvSpPr>
        <p:spPr>
          <a:xfrm>
            <a:off x="548640" y="1467917"/>
            <a:ext cx="11094415" cy="729894"/>
          </a:xfrm>
          <a:prstGeom prst="roundRect">
            <a:avLst>
              <a:gd name="adj" fmla="val 8769"/>
            </a:avLst>
          </a:prstGeom>
          <a:solidFill>
            <a:srgbClr val="F0F5E4"/>
          </a:solidFill>
          <a:ln/>
        </p:spPr>
      </p:sp>
      <p:sp>
        <p:nvSpPr>
          <p:cNvPr id="7" name="Text 5"/>
          <p:cNvSpPr txBox="1"/>
          <p:nvPr/>
        </p:nvSpPr>
        <p:spPr>
          <a:xfrm>
            <a:off x="704088" y="1541069"/>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D7C0F"/>
                </a:solidFill>
                <a:latin typeface="Calibri" pitchFamily="34" charset="0"/>
                <a:ea typeface="Calibri" pitchFamily="34" charset="-122"/>
                <a:cs typeface="Calibri" pitchFamily="34" charset="-120"/>
              </a:rPr>
              <a:t>acute tubulointerstital nephritis (LLG) (akut tubulointerstisyel nefrit): </a:t>
            </a:r>
            <a:r>
              <a:rPr lang="en-US" sz="1600" dirty="0">
                <a:solidFill>
                  <a:srgbClr val="1F2937"/>
                </a:solidFill>
                <a:latin typeface="Calibri" pitchFamily="34" charset="0"/>
                <a:ea typeface="Calibri" pitchFamily="34" charset="-122"/>
                <a:cs typeface="Calibri" pitchFamily="34" charset="-120"/>
              </a:rPr>
              <a:t>Çoğunlukla ilaçlara karşı aşırı duyarlılık durumunun neden olduğu bir akut böbrek yetmezliği sendromudur</a:t>
            </a:r>
            <a:endParaRPr lang="en-US" sz="1600" dirty="0"/>
          </a:p>
        </p:txBody>
      </p:sp>
      <p:sp>
        <p:nvSpPr>
          <p:cNvPr id="8" name="Shape 6"/>
          <p:cNvSpPr/>
          <p:nvPr/>
        </p:nvSpPr>
        <p:spPr>
          <a:xfrm>
            <a:off x="548640" y="2289251"/>
            <a:ext cx="11094415" cy="729894"/>
          </a:xfrm>
          <a:prstGeom prst="roundRect">
            <a:avLst>
              <a:gd name="adj" fmla="val 8769"/>
            </a:avLst>
          </a:prstGeom>
          <a:solidFill>
            <a:srgbClr val="F0F5E4"/>
          </a:solidFill>
          <a:ln/>
        </p:spPr>
      </p:sp>
      <p:sp>
        <p:nvSpPr>
          <p:cNvPr id="9" name="Text 7"/>
          <p:cNvSpPr txBox="1"/>
          <p:nvPr/>
        </p:nvSpPr>
        <p:spPr>
          <a:xfrm>
            <a:off x="704088" y="236240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D7C0F"/>
                </a:solidFill>
                <a:latin typeface="Calibri" pitchFamily="34" charset="0"/>
                <a:ea typeface="Calibri" pitchFamily="34" charset="-122"/>
                <a:cs typeface="Calibri" pitchFamily="34" charset="-120"/>
              </a:rPr>
              <a:t>chronic tubulointerstital nephopathy (LLG) (kronik tubulointerstisyel nefropati): </a:t>
            </a:r>
            <a:r>
              <a:rPr lang="en-US" sz="1600" dirty="0">
                <a:solidFill>
                  <a:srgbClr val="1F2937"/>
                </a:solidFill>
                <a:latin typeface="Calibri" pitchFamily="34" charset="0"/>
                <a:ea typeface="Calibri" pitchFamily="34" charset="-122"/>
                <a:cs typeface="Calibri" pitchFamily="34" charset="-120"/>
              </a:rPr>
              <a:t>Tubulointerstisyel altındaki lezyonların ön planda olduğu kronik böbrek hastalığı tablosu</a:t>
            </a:r>
            <a:endParaRPr lang="en-US" sz="1600" dirty="0"/>
          </a:p>
        </p:txBody>
      </p:sp>
      <p:sp>
        <p:nvSpPr>
          <p:cNvPr id="10" name="Shape 8"/>
          <p:cNvSpPr/>
          <p:nvPr/>
        </p:nvSpPr>
        <p:spPr>
          <a:xfrm>
            <a:off x="548640" y="3110586"/>
            <a:ext cx="11094415" cy="729894"/>
          </a:xfrm>
          <a:prstGeom prst="roundRect">
            <a:avLst>
              <a:gd name="adj" fmla="val 8769"/>
            </a:avLst>
          </a:prstGeom>
          <a:solidFill>
            <a:srgbClr val="F0F5E4"/>
          </a:solidFill>
          <a:ln/>
        </p:spPr>
      </p:sp>
      <p:sp>
        <p:nvSpPr>
          <p:cNvPr id="11" name="Text 9"/>
          <p:cNvSpPr txBox="1"/>
          <p:nvPr/>
        </p:nvSpPr>
        <p:spPr>
          <a:xfrm>
            <a:off x="704088" y="318373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D7C0F"/>
                </a:solidFill>
                <a:latin typeface="Calibri" pitchFamily="34" charset="0"/>
                <a:ea typeface="Calibri" pitchFamily="34" charset="-122"/>
                <a:cs typeface="Calibri" pitchFamily="34" charset="-120"/>
              </a:rPr>
              <a:t>toxic nephropathy (G) (toksik nefropati): </a:t>
            </a:r>
            <a:r>
              <a:rPr lang="en-US" sz="1600" dirty="0">
                <a:solidFill>
                  <a:srgbClr val="1F2937"/>
                </a:solidFill>
                <a:latin typeface="Calibri" pitchFamily="34" charset="0"/>
                <a:ea typeface="Calibri" pitchFamily="34" charset="-122"/>
                <a:cs typeface="Calibri" pitchFamily="34" charset="-120"/>
              </a:rPr>
              <a:t>Böbrekte ilaç, yenilen içilen , absorbe edilen veya solunan kimyasal ya da biyolojik bir madde tarafından oluşturulan morfolojik veya fonksiyonel değişiklik</a:t>
            </a:r>
            <a:endParaRPr lang="en-US" sz="1600" dirty="0"/>
          </a:p>
        </p:txBody>
      </p:sp>
      <p:sp>
        <p:nvSpPr>
          <p:cNvPr id="12" name="Shape 10"/>
          <p:cNvSpPr/>
          <p:nvPr/>
        </p:nvSpPr>
        <p:spPr>
          <a:xfrm>
            <a:off x="548640" y="3936797"/>
            <a:ext cx="11094415" cy="729894"/>
          </a:xfrm>
          <a:prstGeom prst="roundRect">
            <a:avLst>
              <a:gd name="adj" fmla="val 8769"/>
            </a:avLst>
          </a:prstGeom>
          <a:solidFill>
            <a:srgbClr val="F0F5E4"/>
          </a:solidFill>
          <a:ln/>
        </p:spPr>
      </p:sp>
      <p:sp>
        <p:nvSpPr>
          <p:cNvPr id="13" name="Text 11"/>
          <p:cNvSpPr txBox="1"/>
          <p:nvPr/>
        </p:nvSpPr>
        <p:spPr>
          <a:xfrm>
            <a:off x="704088" y="4009949"/>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D7C0F"/>
                </a:solidFill>
                <a:latin typeface="Calibri" pitchFamily="34" charset="0"/>
                <a:ea typeface="Calibri" pitchFamily="34" charset="-122"/>
                <a:cs typeface="Calibri" pitchFamily="34" charset="-120"/>
              </a:rPr>
              <a:t>nephrogenic diabetes insipidus (G) (nefrojenik diyabet insipidus): </a:t>
            </a:r>
            <a:r>
              <a:rPr lang="en-US" sz="1600" dirty="0">
                <a:solidFill>
                  <a:srgbClr val="1F2937"/>
                </a:solidFill>
                <a:latin typeface="Calibri" pitchFamily="34" charset="0"/>
                <a:ea typeface="Calibri" pitchFamily="34" charset="-122"/>
                <a:cs typeface="Calibri" pitchFamily="34" charset="-120"/>
              </a:rPr>
              <a:t>Böbrek tubuluslarının antidiüretik hormana (ADH) duyarsız olması</a:t>
            </a:r>
            <a:endParaRPr lang="en-US" sz="1600" dirty="0"/>
          </a:p>
        </p:txBody>
      </p:sp>
      <p:sp>
        <p:nvSpPr>
          <p:cNvPr id="14" name="Shape 12"/>
          <p:cNvSpPr/>
          <p:nvPr/>
        </p:nvSpPr>
        <p:spPr>
          <a:xfrm>
            <a:off x="548640" y="4758131"/>
            <a:ext cx="11094415" cy="729894"/>
          </a:xfrm>
          <a:prstGeom prst="roundRect">
            <a:avLst>
              <a:gd name="adj" fmla="val 8769"/>
            </a:avLst>
          </a:prstGeom>
          <a:solidFill>
            <a:srgbClr val="F0F5E4"/>
          </a:solidFill>
          <a:ln/>
        </p:spPr>
      </p:sp>
      <p:sp>
        <p:nvSpPr>
          <p:cNvPr id="15" name="Text 13"/>
          <p:cNvSpPr txBox="1"/>
          <p:nvPr/>
        </p:nvSpPr>
        <p:spPr>
          <a:xfrm>
            <a:off x="704088" y="483128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D7C0F"/>
                </a:solidFill>
                <a:latin typeface="Calibri" pitchFamily="34" charset="0"/>
                <a:ea typeface="Calibri" pitchFamily="34" charset="-122"/>
                <a:cs typeface="Calibri" pitchFamily="34" charset="-120"/>
              </a:rPr>
              <a:t>Atnalı böbrek: </a:t>
            </a:r>
            <a:r>
              <a:rPr lang="en-US" sz="1600" dirty="0">
                <a:solidFill>
                  <a:srgbClr val="1F2937"/>
                </a:solidFill>
                <a:latin typeface="Calibri" pitchFamily="34" charset="0"/>
                <a:ea typeface="Calibri" pitchFamily="34" charset="-122"/>
                <a:cs typeface="Calibri" pitchFamily="34" charset="-120"/>
              </a:rPr>
              <a:t>Her iki böbreğin normal konumlarını alamayarak alt uçlarından birleşmeleri sonucu oluşan doğumsal bir anomalidir.</a:t>
            </a:r>
            <a:endParaRPr lang="en-US" sz="1600" dirty="0"/>
          </a:p>
        </p:txBody>
      </p:sp>
      <p:sp>
        <p:nvSpPr>
          <p:cNvPr id="16" name="Shape 14"/>
          <p:cNvSpPr/>
          <p:nvPr/>
        </p:nvSpPr>
        <p:spPr>
          <a:xfrm>
            <a:off x="548640" y="5579466"/>
            <a:ext cx="11094415" cy="729894"/>
          </a:xfrm>
          <a:prstGeom prst="roundRect">
            <a:avLst>
              <a:gd name="adj" fmla="val 8769"/>
            </a:avLst>
          </a:prstGeom>
          <a:solidFill>
            <a:srgbClr val="F0F5E4"/>
          </a:solidFill>
          <a:ln/>
        </p:spPr>
      </p:sp>
      <p:sp>
        <p:nvSpPr>
          <p:cNvPr id="17" name="Text 15"/>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4D7C0F"/>
                </a:solidFill>
                <a:latin typeface="Calibri" pitchFamily="34" charset="0"/>
                <a:ea typeface="Calibri" pitchFamily="34" charset="-122"/>
                <a:cs typeface="Calibri" pitchFamily="34" charset="-120"/>
              </a:rPr>
              <a:t>pyelonephritis (G) (piyelonefrit): </a:t>
            </a:r>
            <a:r>
              <a:rPr lang="en-US" sz="1600" dirty="0">
                <a:solidFill>
                  <a:srgbClr val="1F2937"/>
                </a:solidFill>
                <a:latin typeface="Calibri" pitchFamily="34" charset="0"/>
                <a:ea typeface="Calibri" pitchFamily="34" charset="-122"/>
                <a:cs typeface="Calibri" pitchFamily="34" charset="-120"/>
              </a:rPr>
              <a:t>Böbrek pelvis ve parankima dokusunun iltihabıdır. Akut ve kronik şekli vardır.</a:t>
            </a:r>
            <a:endParaRPr lang="en-US" sz="16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245</a:t>
            </a:r>
            <a:endParaRPr lang="en-US" sz="1000" dirty="0"/>
          </a:p>
        </p:txBody>
      </p:sp>
      <p:sp>
        <p:nvSpPr>
          <p:cNvPr id="6" name="Shape 4"/>
          <p:cNvSpPr/>
          <p:nvPr/>
        </p:nvSpPr>
        <p:spPr>
          <a:xfrm>
            <a:off x="548640" y="1514145"/>
            <a:ext cx="11094415" cy="638658"/>
          </a:xfrm>
          <a:prstGeom prst="roundRect">
            <a:avLst>
              <a:gd name="adj" fmla="val 10022"/>
            </a:avLst>
          </a:prstGeom>
          <a:solidFill>
            <a:srgbClr val="F0F5E4"/>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Fanconi syndrome (Fankoni sendromu): </a:t>
            </a:r>
            <a:r>
              <a:rPr lang="en-US" sz="1400" dirty="0">
                <a:solidFill>
                  <a:srgbClr val="1F2937"/>
                </a:solidFill>
                <a:latin typeface="Calibri" pitchFamily="34" charset="0"/>
                <a:ea typeface="Calibri" pitchFamily="34" charset="-122"/>
                <a:cs typeface="Calibri" pitchFamily="34" charset="-120"/>
              </a:rPr>
              <a:t>Glikozüri, fosfatüri, aminoasitüri ve bikarbonat kaybı ile belirgin özellikle çocuklarda görülen bir hastalık. Böbrek tübüllerinde kistik genişlemeler görülür.</a:t>
            </a:r>
            <a:endParaRPr lang="en-US" sz="1400" dirty="0"/>
          </a:p>
        </p:txBody>
      </p:sp>
      <p:sp>
        <p:nvSpPr>
          <p:cNvPr id="8" name="Shape 6"/>
          <p:cNvSpPr/>
          <p:nvPr/>
        </p:nvSpPr>
        <p:spPr>
          <a:xfrm>
            <a:off x="548640" y="2295347"/>
            <a:ext cx="11094415" cy="421742"/>
          </a:xfrm>
          <a:prstGeom prst="roundRect">
            <a:avLst>
              <a:gd name="adj" fmla="val 15177"/>
            </a:avLst>
          </a:prstGeom>
          <a:solidFill>
            <a:srgbClr val="F0F5E4"/>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urethritis (G) (üretrit): </a:t>
            </a:r>
            <a:r>
              <a:rPr lang="en-US" sz="1400" dirty="0">
                <a:solidFill>
                  <a:srgbClr val="1F2937"/>
                </a:solidFill>
                <a:latin typeface="Calibri" pitchFamily="34" charset="0"/>
                <a:ea typeface="Calibri" pitchFamily="34" charset="-122"/>
                <a:cs typeface="Calibri" pitchFamily="34" charset="-120"/>
              </a:rPr>
              <a:t>Üretranın iltihabı</a:t>
            </a:r>
            <a:endParaRPr lang="en-US" sz="1400" dirty="0"/>
          </a:p>
        </p:txBody>
      </p:sp>
      <p:sp>
        <p:nvSpPr>
          <p:cNvPr id="10" name="Shape 8"/>
          <p:cNvSpPr/>
          <p:nvPr/>
        </p:nvSpPr>
        <p:spPr>
          <a:xfrm>
            <a:off x="548640" y="2808529"/>
            <a:ext cx="11094415" cy="421742"/>
          </a:xfrm>
          <a:prstGeom prst="roundRect">
            <a:avLst>
              <a:gd name="adj" fmla="val 15177"/>
            </a:avLst>
          </a:prstGeom>
          <a:solidFill>
            <a:srgbClr val="F0F5E4"/>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cystitis (G) (sistit): </a:t>
            </a:r>
            <a:r>
              <a:rPr lang="en-US" sz="1400" dirty="0">
                <a:solidFill>
                  <a:srgbClr val="1F2937"/>
                </a:solidFill>
                <a:latin typeface="Calibri" pitchFamily="34" charset="0"/>
                <a:ea typeface="Calibri" pitchFamily="34" charset="-122"/>
                <a:cs typeface="Calibri" pitchFamily="34" charset="-120"/>
              </a:rPr>
              <a:t>İdrar kesesi iltihabı</a:t>
            </a:r>
            <a:endParaRPr lang="en-US" sz="1400" dirty="0"/>
          </a:p>
        </p:txBody>
      </p:sp>
      <p:sp>
        <p:nvSpPr>
          <p:cNvPr id="12" name="Shape 10"/>
          <p:cNvSpPr/>
          <p:nvPr/>
        </p:nvSpPr>
        <p:spPr>
          <a:xfrm>
            <a:off x="548640" y="3321710"/>
            <a:ext cx="11094415" cy="421742"/>
          </a:xfrm>
          <a:prstGeom prst="roundRect">
            <a:avLst>
              <a:gd name="adj" fmla="val 15177"/>
            </a:avLst>
          </a:prstGeom>
          <a:solidFill>
            <a:srgbClr val="F0F5E4"/>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hydronephrosis (G) (hidronefroz): </a:t>
            </a:r>
            <a:r>
              <a:rPr lang="en-US" sz="1400" dirty="0">
                <a:solidFill>
                  <a:srgbClr val="1F2937"/>
                </a:solidFill>
                <a:latin typeface="Calibri" pitchFamily="34" charset="0"/>
                <a:ea typeface="Calibri" pitchFamily="34" charset="-122"/>
                <a:cs typeface="Calibri" pitchFamily="34" charset="-120"/>
              </a:rPr>
              <a:t>Böbrek pelvisinin idrar birikmsinden dolayı genişlemesi</a:t>
            </a:r>
            <a:endParaRPr lang="en-US" sz="1400" dirty="0"/>
          </a:p>
        </p:txBody>
      </p:sp>
      <p:sp>
        <p:nvSpPr>
          <p:cNvPr id="14" name="Shape 12"/>
          <p:cNvSpPr/>
          <p:nvPr/>
        </p:nvSpPr>
        <p:spPr>
          <a:xfrm>
            <a:off x="548640" y="3834892"/>
            <a:ext cx="11094415" cy="421742"/>
          </a:xfrm>
          <a:prstGeom prst="roundRect">
            <a:avLst>
              <a:gd name="adj" fmla="val 15177"/>
            </a:avLst>
          </a:prstGeom>
          <a:solidFill>
            <a:srgbClr val="F0F5E4"/>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renal (L) ectopia (G) (renal ektopya): </a:t>
            </a:r>
            <a:r>
              <a:rPr lang="en-US" sz="1400" dirty="0">
                <a:solidFill>
                  <a:srgbClr val="1F2937"/>
                </a:solidFill>
                <a:latin typeface="Calibri" pitchFamily="34" charset="0"/>
                <a:ea typeface="Calibri" pitchFamily="34" charset="-122"/>
                <a:cs typeface="Calibri" pitchFamily="34" charset="-120"/>
              </a:rPr>
              <a:t>Böbreğin normal yerinin dışında bir yerde olması</a:t>
            </a:r>
            <a:endParaRPr lang="en-US" sz="1400" dirty="0"/>
          </a:p>
        </p:txBody>
      </p:sp>
      <p:sp>
        <p:nvSpPr>
          <p:cNvPr id="16" name="Shape 14"/>
          <p:cNvSpPr/>
          <p:nvPr/>
        </p:nvSpPr>
        <p:spPr>
          <a:xfrm>
            <a:off x="548640" y="4348074"/>
            <a:ext cx="11094415" cy="421742"/>
          </a:xfrm>
          <a:prstGeom prst="roundRect">
            <a:avLst>
              <a:gd name="adj" fmla="val 15177"/>
            </a:avLst>
          </a:prstGeom>
          <a:solidFill>
            <a:srgbClr val="F0F5E4"/>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renal (L) agenesis (G) (renal agenezis): </a:t>
            </a:r>
            <a:r>
              <a:rPr lang="en-US" sz="1400" dirty="0">
                <a:solidFill>
                  <a:srgbClr val="1F2937"/>
                </a:solidFill>
                <a:latin typeface="Calibri" pitchFamily="34" charset="0"/>
                <a:ea typeface="Calibri" pitchFamily="34" charset="-122"/>
                <a:cs typeface="Calibri" pitchFamily="34" charset="-120"/>
              </a:rPr>
              <a:t>Böbreğin oluşamaması. Tek taraflı olursa semptom vermeyebilir.</a:t>
            </a:r>
            <a:endParaRPr lang="en-US" sz="1400" dirty="0"/>
          </a:p>
        </p:txBody>
      </p:sp>
      <p:sp>
        <p:nvSpPr>
          <p:cNvPr id="18" name="Shape 16"/>
          <p:cNvSpPr/>
          <p:nvPr/>
        </p:nvSpPr>
        <p:spPr>
          <a:xfrm>
            <a:off x="548640" y="4861255"/>
            <a:ext cx="11094415" cy="421742"/>
          </a:xfrm>
          <a:prstGeom prst="roundRect">
            <a:avLst>
              <a:gd name="adj" fmla="val 15177"/>
            </a:avLst>
          </a:prstGeom>
          <a:solidFill>
            <a:srgbClr val="F0F5E4"/>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hypernephroma (G) (hipernefroma): </a:t>
            </a:r>
            <a:r>
              <a:rPr lang="en-US" sz="1400" dirty="0">
                <a:solidFill>
                  <a:srgbClr val="1F2937"/>
                </a:solidFill>
                <a:latin typeface="Calibri" pitchFamily="34" charset="0"/>
                <a:ea typeface="Calibri" pitchFamily="34" charset="-122"/>
                <a:cs typeface="Calibri" pitchFamily="34" charset="-120"/>
              </a:rPr>
              <a:t>Böbreküstü korteksinde meydana gelen tümör</a:t>
            </a:r>
            <a:endParaRPr lang="en-US" sz="1400" dirty="0"/>
          </a:p>
        </p:txBody>
      </p:sp>
      <p:sp>
        <p:nvSpPr>
          <p:cNvPr id="20" name="Shape 18"/>
          <p:cNvSpPr/>
          <p:nvPr/>
        </p:nvSpPr>
        <p:spPr>
          <a:xfrm>
            <a:off x="548640" y="5374437"/>
            <a:ext cx="11094415" cy="421742"/>
          </a:xfrm>
          <a:prstGeom prst="roundRect">
            <a:avLst>
              <a:gd name="adj" fmla="val 15177"/>
            </a:avLst>
          </a:prstGeom>
          <a:solidFill>
            <a:srgbClr val="F0F5E4"/>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nephrolithiasis (G) (nefrolityaz): </a:t>
            </a:r>
            <a:r>
              <a:rPr lang="en-US" sz="1400" dirty="0">
                <a:solidFill>
                  <a:srgbClr val="1F2937"/>
                </a:solidFill>
                <a:latin typeface="Calibri" pitchFamily="34" charset="0"/>
                <a:ea typeface="Calibri" pitchFamily="34" charset="-122"/>
                <a:cs typeface="Calibri" pitchFamily="34" charset="-120"/>
              </a:rPr>
              <a:t>Böbreklerde taş oluşması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F0F5E4"/>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4D7C0F"/>
                </a:solidFill>
                <a:latin typeface="Calibri" pitchFamily="34" charset="0"/>
                <a:ea typeface="Calibri" pitchFamily="34" charset="-122"/>
                <a:cs typeface="Calibri" pitchFamily="34" charset="-120"/>
              </a:rPr>
              <a:t>cystolithiasis (G) (sistolityaz): </a:t>
            </a:r>
            <a:r>
              <a:rPr lang="en-US" sz="1400" dirty="0">
                <a:solidFill>
                  <a:srgbClr val="1F2937"/>
                </a:solidFill>
                <a:latin typeface="Calibri" pitchFamily="34" charset="0"/>
                <a:ea typeface="Calibri" pitchFamily="34" charset="-122"/>
                <a:cs typeface="Calibri" pitchFamily="34" charset="-120"/>
              </a:rPr>
              <a:t>İdrar kesesinde taş bulunması</a:t>
            </a:r>
            <a:endParaRPr lang="en-US" sz="14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246</a:t>
            </a:r>
            <a:endParaRPr lang="en-US" sz="1000" dirty="0"/>
          </a:p>
        </p:txBody>
      </p:sp>
      <p:sp>
        <p:nvSpPr>
          <p:cNvPr id="6" name="Shape 4"/>
          <p:cNvSpPr/>
          <p:nvPr/>
        </p:nvSpPr>
        <p:spPr>
          <a:xfrm>
            <a:off x="548640" y="3474720"/>
            <a:ext cx="11094415" cy="542239"/>
          </a:xfrm>
          <a:prstGeom prst="roundRect">
            <a:avLst>
              <a:gd name="adj" fmla="val 11804"/>
            </a:avLst>
          </a:prstGeom>
          <a:solidFill>
            <a:srgbClr val="F0F5E4"/>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vezicoureteral reflux (GL) (vezikoureteral reflü): </a:t>
            </a:r>
            <a:r>
              <a:rPr lang="en-US" sz="1800" dirty="0">
                <a:solidFill>
                  <a:srgbClr val="1F2937"/>
                </a:solidFill>
                <a:latin typeface="Calibri" pitchFamily="34" charset="0"/>
                <a:ea typeface="Calibri" pitchFamily="34" charset="-122"/>
                <a:cs typeface="Calibri" pitchFamily="34" charset="-120"/>
              </a:rPr>
              <a:t>İdrar kesesindeki idrarın üretere geri kaçması</a:t>
            </a:r>
            <a:endParaRPr lang="en-US" sz="1800" dirty="0"/>
          </a:p>
        </p:txBody>
      </p:sp>
      <p:sp>
        <p:nvSpPr>
          <p:cNvPr id="8" name="Shape 6"/>
          <p:cNvSpPr/>
          <p:nvPr/>
        </p:nvSpPr>
        <p:spPr>
          <a:xfrm>
            <a:off x="548640" y="4108399"/>
            <a:ext cx="11094415" cy="542239"/>
          </a:xfrm>
          <a:prstGeom prst="roundRect">
            <a:avLst>
              <a:gd name="adj" fmla="val 11804"/>
            </a:avLst>
          </a:prstGeom>
          <a:solidFill>
            <a:srgbClr val="F0F5E4"/>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nephroptosis (G) (nefroptozis): </a:t>
            </a:r>
            <a:r>
              <a:rPr lang="en-US" sz="1800" dirty="0">
                <a:solidFill>
                  <a:srgbClr val="1F2937"/>
                </a:solidFill>
                <a:latin typeface="Calibri" pitchFamily="34" charset="0"/>
                <a:ea typeface="Calibri" pitchFamily="34" charset="-122"/>
                <a:cs typeface="Calibri" pitchFamily="34" charset="-120"/>
              </a:rPr>
              <a:t>Böbreğin aşağı sarkması</a:t>
            </a:r>
            <a:endParaRPr lang="en-US" sz="1800" dirty="0"/>
          </a:p>
        </p:txBody>
      </p:sp>
      <p:sp>
        <p:nvSpPr>
          <p:cNvPr id="10" name="Shape 8"/>
          <p:cNvSpPr/>
          <p:nvPr/>
        </p:nvSpPr>
        <p:spPr>
          <a:xfrm>
            <a:off x="548640" y="4742078"/>
            <a:ext cx="11094415" cy="542239"/>
          </a:xfrm>
          <a:prstGeom prst="roundRect">
            <a:avLst>
              <a:gd name="adj" fmla="val 11804"/>
            </a:avLst>
          </a:prstGeom>
          <a:solidFill>
            <a:srgbClr val="F0F5E4"/>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hypospadias (G) (hipospadiyas): </a:t>
            </a:r>
            <a:r>
              <a:rPr lang="en-US" sz="1800" dirty="0">
                <a:solidFill>
                  <a:srgbClr val="1F2937"/>
                </a:solidFill>
                <a:latin typeface="Calibri" pitchFamily="34" charset="0"/>
                <a:ea typeface="Calibri" pitchFamily="34" charset="-122"/>
                <a:cs typeface="Calibri" pitchFamily="34" charset="-120"/>
              </a:rPr>
              <a:t>Üretranın penisin ventraline açılması</a:t>
            </a:r>
            <a:endParaRPr lang="en-US" sz="1800" dirty="0"/>
          </a:p>
        </p:txBody>
      </p:sp>
      <p:sp>
        <p:nvSpPr>
          <p:cNvPr id="12" name="Shape 10"/>
          <p:cNvSpPr/>
          <p:nvPr/>
        </p:nvSpPr>
        <p:spPr>
          <a:xfrm>
            <a:off x="548640" y="5375758"/>
            <a:ext cx="11094415" cy="542239"/>
          </a:xfrm>
          <a:prstGeom prst="roundRect">
            <a:avLst>
              <a:gd name="adj" fmla="val 11804"/>
            </a:avLst>
          </a:prstGeom>
          <a:solidFill>
            <a:srgbClr val="F0F5E4"/>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epispadias (G) (epispadiyas): </a:t>
            </a:r>
            <a:r>
              <a:rPr lang="en-US" sz="1800" dirty="0">
                <a:solidFill>
                  <a:srgbClr val="1F2937"/>
                </a:solidFill>
                <a:latin typeface="Calibri" pitchFamily="34" charset="0"/>
                <a:ea typeface="Calibri" pitchFamily="34" charset="-122"/>
                <a:cs typeface="Calibri" pitchFamily="34" charset="-120"/>
              </a:rPr>
              <a:t>Üretranın penisin dorsaline açılması</a:t>
            </a:r>
            <a:endParaRPr lang="en-US" sz="18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247</a:t>
            </a:r>
            <a:endParaRPr lang="en-US" sz="1000" dirty="0"/>
          </a:p>
        </p:txBody>
      </p:sp>
      <p:sp>
        <p:nvSpPr>
          <p:cNvPr id="6" name="Shape 4"/>
          <p:cNvSpPr/>
          <p:nvPr/>
        </p:nvSpPr>
        <p:spPr>
          <a:xfrm>
            <a:off x="548640" y="1556080"/>
            <a:ext cx="11094415" cy="775513"/>
          </a:xfrm>
          <a:prstGeom prst="roundRect">
            <a:avLst>
              <a:gd name="adj" fmla="val 8254"/>
            </a:avLst>
          </a:prstGeom>
          <a:solidFill>
            <a:srgbClr val="F0F5E4"/>
          </a:solidFill>
          <a:ln/>
        </p:spPr>
      </p:sp>
      <p:sp>
        <p:nvSpPr>
          <p:cNvPr id="7" name="Text 5"/>
          <p:cNvSpPr txBox="1"/>
          <p:nvPr/>
        </p:nvSpPr>
        <p:spPr>
          <a:xfrm>
            <a:off x="704088" y="1629232"/>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suprapubic catheterization (suprapubik kateterizasyon): </a:t>
            </a:r>
            <a:r>
              <a:rPr lang="en-US" sz="1700" dirty="0">
                <a:solidFill>
                  <a:srgbClr val="1F2937"/>
                </a:solidFill>
                <a:latin typeface="Calibri" pitchFamily="34" charset="0"/>
                <a:ea typeface="Calibri" pitchFamily="34" charset="-122"/>
                <a:cs typeface="Calibri" pitchFamily="34" charset="-120"/>
              </a:rPr>
              <a:t>Suprapubik bölgeden idrar kesesine bir kateter yerleştirilerek idrar kesesinin boşaltılmasının sağlanması</a:t>
            </a:r>
            <a:endParaRPr lang="en-US" sz="1700" dirty="0"/>
          </a:p>
        </p:txBody>
      </p:sp>
      <p:sp>
        <p:nvSpPr>
          <p:cNvPr id="8" name="Shape 6"/>
          <p:cNvSpPr/>
          <p:nvPr/>
        </p:nvSpPr>
        <p:spPr>
          <a:xfrm>
            <a:off x="548640" y="2516073"/>
            <a:ext cx="11094415" cy="775513"/>
          </a:xfrm>
          <a:prstGeom prst="roundRect">
            <a:avLst>
              <a:gd name="adj" fmla="val 8254"/>
            </a:avLst>
          </a:prstGeom>
          <a:solidFill>
            <a:srgbClr val="F0F5E4"/>
          </a:solidFill>
          <a:ln/>
        </p:spPr>
      </p:sp>
      <p:sp>
        <p:nvSpPr>
          <p:cNvPr id="9" name="Text 7"/>
          <p:cNvSpPr txBox="1"/>
          <p:nvPr/>
        </p:nvSpPr>
        <p:spPr>
          <a:xfrm>
            <a:off x="704088" y="2589225"/>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renal transplantation (L) (renal transplantasyon): </a:t>
            </a:r>
            <a:r>
              <a:rPr lang="en-US" sz="1700" dirty="0">
                <a:solidFill>
                  <a:srgbClr val="1F2937"/>
                </a:solidFill>
                <a:latin typeface="Calibri" pitchFamily="34" charset="0"/>
                <a:ea typeface="Calibri" pitchFamily="34" charset="-122"/>
                <a:cs typeface="Calibri" pitchFamily="34" charset="-120"/>
              </a:rPr>
              <a:t>Böbrek nakli. Hasta böbreğin çıkarılarak, yerine sağlıklı böbreğin nakledilmesi</a:t>
            </a:r>
            <a:endParaRPr lang="en-US" sz="1700" dirty="0"/>
          </a:p>
        </p:txBody>
      </p:sp>
      <p:sp>
        <p:nvSpPr>
          <p:cNvPr id="10" name="Shape 8"/>
          <p:cNvSpPr/>
          <p:nvPr/>
        </p:nvSpPr>
        <p:spPr>
          <a:xfrm>
            <a:off x="548640" y="3383026"/>
            <a:ext cx="11094415" cy="512115"/>
          </a:xfrm>
          <a:prstGeom prst="roundRect">
            <a:avLst>
              <a:gd name="adj" fmla="val 12499"/>
            </a:avLst>
          </a:prstGeom>
          <a:solidFill>
            <a:srgbClr val="F0F5E4"/>
          </a:solidFill>
          <a:ln/>
        </p:spPr>
      </p:sp>
      <p:sp>
        <p:nvSpPr>
          <p:cNvPr id="11" name="Text 9"/>
          <p:cNvSpPr txBox="1"/>
          <p:nvPr/>
        </p:nvSpPr>
        <p:spPr>
          <a:xfrm>
            <a:off x="704088" y="3456178"/>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nephrectomy (G) (nefrektomi): </a:t>
            </a:r>
            <a:r>
              <a:rPr lang="en-US" sz="1700" dirty="0">
                <a:solidFill>
                  <a:srgbClr val="1F2937"/>
                </a:solidFill>
                <a:latin typeface="Calibri" pitchFamily="34" charset="0"/>
                <a:ea typeface="Calibri" pitchFamily="34" charset="-122"/>
                <a:cs typeface="Calibri" pitchFamily="34" charset="-120"/>
              </a:rPr>
              <a:t>Böbreğin çıkarılması</a:t>
            </a:r>
            <a:endParaRPr lang="en-US" sz="1700" dirty="0"/>
          </a:p>
        </p:txBody>
      </p:sp>
      <p:sp>
        <p:nvSpPr>
          <p:cNvPr id="12" name="Shape 10"/>
          <p:cNvSpPr/>
          <p:nvPr/>
        </p:nvSpPr>
        <p:spPr>
          <a:xfrm>
            <a:off x="548640" y="3986581"/>
            <a:ext cx="11094415" cy="512115"/>
          </a:xfrm>
          <a:prstGeom prst="roundRect">
            <a:avLst>
              <a:gd name="adj" fmla="val 12499"/>
            </a:avLst>
          </a:prstGeom>
          <a:solidFill>
            <a:srgbClr val="F0F5E4"/>
          </a:solidFill>
          <a:ln/>
        </p:spPr>
      </p:sp>
      <p:sp>
        <p:nvSpPr>
          <p:cNvPr id="13" name="Text 11"/>
          <p:cNvSpPr txBox="1"/>
          <p:nvPr/>
        </p:nvSpPr>
        <p:spPr>
          <a:xfrm>
            <a:off x="704088" y="4059733"/>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nephrostomy (G) (nefrostomi): </a:t>
            </a:r>
            <a:r>
              <a:rPr lang="en-US" sz="1700" dirty="0">
                <a:solidFill>
                  <a:srgbClr val="1F2937"/>
                </a:solidFill>
                <a:latin typeface="Calibri" pitchFamily="34" charset="0"/>
                <a:ea typeface="Calibri" pitchFamily="34" charset="-122"/>
                <a:cs typeface="Calibri" pitchFamily="34" charset="-120"/>
              </a:rPr>
              <a:t>Böbreğin bir tüp aracılığıyla deriye ağızlaştırılması</a:t>
            </a:r>
            <a:endParaRPr lang="en-US" sz="1700" dirty="0"/>
          </a:p>
        </p:txBody>
      </p:sp>
      <p:sp>
        <p:nvSpPr>
          <p:cNvPr id="14" name="Shape 12"/>
          <p:cNvSpPr/>
          <p:nvPr/>
        </p:nvSpPr>
        <p:spPr>
          <a:xfrm>
            <a:off x="548640" y="4590136"/>
            <a:ext cx="11094415" cy="512115"/>
          </a:xfrm>
          <a:prstGeom prst="roundRect">
            <a:avLst>
              <a:gd name="adj" fmla="val 12499"/>
            </a:avLst>
          </a:prstGeom>
          <a:solidFill>
            <a:srgbClr val="F0F5E4"/>
          </a:solidFill>
          <a:ln/>
        </p:spPr>
      </p:sp>
      <p:sp>
        <p:nvSpPr>
          <p:cNvPr id="15" name="Text 13"/>
          <p:cNvSpPr txBox="1"/>
          <p:nvPr/>
        </p:nvSpPr>
        <p:spPr>
          <a:xfrm>
            <a:off x="704088" y="4663288"/>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nephrolithotomy (G) (nefrolitotomi): </a:t>
            </a:r>
            <a:r>
              <a:rPr lang="en-US" sz="1700" dirty="0">
                <a:solidFill>
                  <a:srgbClr val="1F2937"/>
                </a:solidFill>
                <a:latin typeface="Calibri" pitchFamily="34" charset="0"/>
                <a:ea typeface="Calibri" pitchFamily="34" charset="-122"/>
                <a:cs typeface="Calibri" pitchFamily="34" charset="-120"/>
              </a:rPr>
              <a:t>Böbrekte bulunan taşların ameliyatla alınamsı</a:t>
            </a:r>
            <a:endParaRPr lang="en-US" sz="1700" dirty="0"/>
          </a:p>
        </p:txBody>
      </p:sp>
      <p:sp>
        <p:nvSpPr>
          <p:cNvPr id="16" name="Shape 14"/>
          <p:cNvSpPr/>
          <p:nvPr/>
        </p:nvSpPr>
        <p:spPr>
          <a:xfrm>
            <a:off x="548640" y="5193690"/>
            <a:ext cx="11094415" cy="512115"/>
          </a:xfrm>
          <a:prstGeom prst="roundRect">
            <a:avLst>
              <a:gd name="adj" fmla="val 12499"/>
            </a:avLst>
          </a:prstGeom>
          <a:solidFill>
            <a:srgbClr val="F0F5E4"/>
          </a:solidFill>
          <a:ln/>
        </p:spPr>
      </p:sp>
      <p:sp>
        <p:nvSpPr>
          <p:cNvPr id="17" name="Text 15"/>
          <p:cNvSpPr txBox="1"/>
          <p:nvPr/>
        </p:nvSpPr>
        <p:spPr>
          <a:xfrm>
            <a:off x="704088" y="5266842"/>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nephrolithotripsy (G) (nefrolitotripsi): </a:t>
            </a:r>
            <a:r>
              <a:rPr lang="en-US" sz="1700" dirty="0">
                <a:solidFill>
                  <a:srgbClr val="1F2937"/>
                </a:solidFill>
                <a:latin typeface="Calibri" pitchFamily="34" charset="0"/>
                <a:ea typeface="Calibri" pitchFamily="34" charset="-122"/>
                <a:cs typeface="Calibri" pitchFamily="34" charset="-120"/>
              </a:rPr>
              <a:t>Böbrek taşlarının kırılması</a:t>
            </a:r>
            <a:endParaRPr lang="en-US" sz="1700" dirty="0"/>
          </a:p>
        </p:txBody>
      </p:sp>
      <p:sp>
        <p:nvSpPr>
          <p:cNvPr id="18" name="Shape 16"/>
          <p:cNvSpPr/>
          <p:nvPr/>
        </p:nvSpPr>
        <p:spPr>
          <a:xfrm>
            <a:off x="548640" y="5797245"/>
            <a:ext cx="11094415" cy="512115"/>
          </a:xfrm>
          <a:prstGeom prst="roundRect">
            <a:avLst>
              <a:gd name="adj" fmla="val 12499"/>
            </a:avLst>
          </a:prstGeom>
          <a:solidFill>
            <a:srgbClr val="F0F5E4"/>
          </a:solidFill>
          <a:ln/>
        </p:spPr>
      </p:sp>
      <p:sp>
        <p:nvSpPr>
          <p:cNvPr id="19" name="Text 17"/>
          <p:cNvSpPr txBox="1"/>
          <p:nvPr/>
        </p:nvSpPr>
        <p:spPr>
          <a:xfrm>
            <a:off x="704088" y="5870397"/>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4D7C0F"/>
                </a:solidFill>
                <a:latin typeface="Calibri" pitchFamily="34" charset="0"/>
                <a:ea typeface="Calibri" pitchFamily="34" charset="-122"/>
                <a:cs typeface="Calibri" pitchFamily="34" charset="-120"/>
              </a:rPr>
              <a:t>nephropexy (G) (nefropeksi): </a:t>
            </a:r>
            <a:r>
              <a:rPr lang="en-US" sz="1700" dirty="0">
                <a:solidFill>
                  <a:srgbClr val="1F2937"/>
                </a:solidFill>
                <a:latin typeface="Calibri" pitchFamily="34" charset="0"/>
                <a:ea typeface="Calibri" pitchFamily="34" charset="-122"/>
                <a:cs typeface="Calibri" pitchFamily="34" charset="-120"/>
              </a:rPr>
              <a:t>Böbreğin ameliyatla yerine tespit edilmesi</a:t>
            </a:r>
            <a:endParaRPr lang="en-US" sz="17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spTree>
      <p:nvGrpSpPr>
        <p:cNvPr id="1" name=""/>
        <p:cNvGrpSpPr/>
        <p:nvPr/>
      </p:nvGrpSpPr>
      <p:grpSpPr>
        <a:xfrm>
          <a:off x="0" y="0"/>
          <a:ext cx="0" cy="0"/>
          <a:chOff x="0" y="0"/>
          <a:chExt cx="0" cy="0"/>
        </a:xfrm>
      </p:grpSpPr>
      <p:sp>
        <p:nvSpPr>
          <p:cNvPr id="2" name="Shape 0"/>
          <p:cNvSpPr/>
          <p:nvPr/>
        </p:nvSpPr>
        <p:spPr>
          <a:xfrm>
            <a:off x="548640" y="384048"/>
            <a:ext cx="6217920" cy="310896"/>
          </a:xfrm>
          <a:prstGeom prst="roundRect">
            <a:avLst>
              <a:gd name="adj" fmla="val 50000"/>
            </a:avLst>
          </a:prstGeom>
          <a:solidFill>
            <a:srgbClr val="F0F5E4"/>
          </a:solidFill>
          <a:ln/>
        </p:spPr>
      </p:sp>
      <p:sp>
        <p:nvSpPr>
          <p:cNvPr id="3" name="Text 1"/>
          <p:cNvSpPr txBox="1"/>
          <p:nvPr/>
        </p:nvSpPr>
        <p:spPr>
          <a:xfrm>
            <a:off x="694944" y="384048"/>
            <a:ext cx="5943600" cy="310896"/>
          </a:xfrm>
          <a:prstGeom prst="rect">
            <a:avLst/>
          </a:prstGeom>
          <a:noFill/>
          <a:ln/>
        </p:spPr>
        <p:txBody>
          <a:bodyPr wrap="square" lIns="0" tIns="0" rIns="0" bIns="0" rtlCol="0" anchor="ctr"/>
          <a:lstStyle/>
          <a:p>
            <a:pPr marL="0" indent="0">
              <a:buNone/>
            </a:pPr>
            <a:r>
              <a:rPr lang="en-US" sz="1000" b="1" kern="0" spc="60" dirty="0">
                <a:solidFill>
                  <a:srgbClr val="4D7C0F"/>
                </a:solidFill>
                <a:latin typeface="Calibri" pitchFamily="34" charset="0"/>
                <a:ea typeface="Calibri" pitchFamily="34" charset="-122"/>
                <a:cs typeface="Calibri" pitchFamily="34" charset="-120"/>
              </a:rPr>
              <a:t>BÖLÜM 9  ·  ÜRİNER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248</a:t>
            </a:r>
            <a:endParaRPr lang="en-US" sz="1000" dirty="0"/>
          </a:p>
        </p:txBody>
      </p:sp>
      <p:sp>
        <p:nvSpPr>
          <p:cNvPr id="6" name="Shape 4"/>
          <p:cNvSpPr/>
          <p:nvPr/>
        </p:nvSpPr>
        <p:spPr>
          <a:xfrm>
            <a:off x="548640" y="1686154"/>
            <a:ext cx="11094415" cy="542239"/>
          </a:xfrm>
          <a:prstGeom prst="roundRect">
            <a:avLst>
              <a:gd name="adj" fmla="val 11804"/>
            </a:avLst>
          </a:prstGeom>
          <a:solidFill>
            <a:srgbClr val="F0F5E4"/>
          </a:solidFill>
          <a:ln/>
        </p:spPr>
      </p:sp>
      <p:sp>
        <p:nvSpPr>
          <p:cNvPr id="7" name="Text 5"/>
          <p:cNvSpPr txBox="1"/>
          <p:nvPr/>
        </p:nvSpPr>
        <p:spPr>
          <a:xfrm>
            <a:off x="704088" y="1759306"/>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cystolithotomy (G) (sistolitotomi): </a:t>
            </a:r>
            <a:r>
              <a:rPr lang="en-US" sz="1800" dirty="0">
                <a:solidFill>
                  <a:srgbClr val="1F2937"/>
                </a:solidFill>
                <a:latin typeface="Calibri" pitchFamily="34" charset="0"/>
                <a:ea typeface="Calibri" pitchFamily="34" charset="-122"/>
                <a:cs typeface="Calibri" pitchFamily="34" charset="-120"/>
              </a:rPr>
              <a:t>İdrar kesesindeki taşların ameliyatla alınamsı</a:t>
            </a:r>
            <a:endParaRPr lang="en-US" sz="1800" dirty="0"/>
          </a:p>
        </p:txBody>
      </p:sp>
      <p:sp>
        <p:nvSpPr>
          <p:cNvPr id="8" name="Shape 6"/>
          <p:cNvSpPr/>
          <p:nvPr/>
        </p:nvSpPr>
        <p:spPr>
          <a:xfrm>
            <a:off x="548640" y="2319833"/>
            <a:ext cx="11094415" cy="542239"/>
          </a:xfrm>
          <a:prstGeom prst="roundRect">
            <a:avLst>
              <a:gd name="adj" fmla="val 11804"/>
            </a:avLst>
          </a:prstGeom>
          <a:solidFill>
            <a:srgbClr val="F0F5E4"/>
          </a:solidFill>
          <a:ln/>
        </p:spPr>
      </p:sp>
      <p:sp>
        <p:nvSpPr>
          <p:cNvPr id="9" name="Text 7"/>
          <p:cNvSpPr txBox="1"/>
          <p:nvPr/>
        </p:nvSpPr>
        <p:spPr>
          <a:xfrm>
            <a:off x="704088" y="239298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cystolithotripsy (G) (sistolitotripsi): </a:t>
            </a:r>
            <a:r>
              <a:rPr lang="en-US" sz="1800" dirty="0">
                <a:solidFill>
                  <a:srgbClr val="1F2937"/>
                </a:solidFill>
                <a:latin typeface="Calibri" pitchFamily="34" charset="0"/>
                <a:ea typeface="Calibri" pitchFamily="34" charset="-122"/>
                <a:cs typeface="Calibri" pitchFamily="34" charset="-120"/>
              </a:rPr>
              <a:t>İdrar kesesindeki taşların kırılması</a:t>
            </a:r>
            <a:endParaRPr lang="en-US" sz="1800" dirty="0"/>
          </a:p>
        </p:txBody>
      </p:sp>
      <p:sp>
        <p:nvSpPr>
          <p:cNvPr id="10" name="Shape 8"/>
          <p:cNvSpPr/>
          <p:nvPr/>
        </p:nvSpPr>
        <p:spPr>
          <a:xfrm>
            <a:off x="548640" y="2953512"/>
            <a:ext cx="11094415" cy="542239"/>
          </a:xfrm>
          <a:prstGeom prst="roundRect">
            <a:avLst>
              <a:gd name="adj" fmla="val 11804"/>
            </a:avLst>
          </a:prstGeom>
          <a:solidFill>
            <a:srgbClr val="F0F5E4"/>
          </a:solidFill>
          <a:ln/>
        </p:spPr>
      </p:sp>
      <p:sp>
        <p:nvSpPr>
          <p:cNvPr id="11" name="Text 9"/>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cystectomy (G) (sistektomi): </a:t>
            </a:r>
            <a:r>
              <a:rPr lang="en-US" sz="1800" dirty="0">
                <a:solidFill>
                  <a:srgbClr val="1F2937"/>
                </a:solidFill>
                <a:latin typeface="Calibri" pitchFamily="34" charset="0"/>
                <a:ea typeface="Calibri" pitchFamily="34" charset="-122"/>
                <a:cs typeface="Calibri" pitchFamily="34" charset="-120"/>
              </a:rPr>
              <a:t>İdrar kesesinin çıkarılması</a:t>
            </a:r>
            <a:endParaRPr lang="en-US" sz="1800" dirty="0"/>
          </a:p>
        </p:txBody>
      </p:sp>
      <p:sp>
        <p:nvSpPr>
          <p:cNvPr id="12" name="Shape 10"/>
          <p:cNvSpPr/>
          <p:nvPr/>
        </p:nvSpPr>
        <p:spPr>
          <a:xfrm>
            <a:off x="548640" y="3587191"/>
            <a:ext cx="11094415" cy="542239"/>
          </a:xfrm>
          <a:prstGeom prst="roundRect">
            <a:avLst>
              <a:gd name="adj" fmla="val 11804"/>
            </a:avLst>
          </a:prstGeom>
          <a:solidFill>
            <a:srgbClr val="F0F5E4"/>
          </a:solidFill>
          <a:ln/>
        </p:spPr>
      </p:sp>
      <p:sp>
        <p:nvSpPr>
          <p:cNvPr id="13" name="Text 11"/>
          <p:cNvSpPr txBox="1"/>
          <p:nvPr/>
        </p:nvSpPr>
        <p:spPr>
          <a:xfrm>
            <a:off x="704088" y="366034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cystotomy (G) (sistotomi): </a:t>
            </a:r>
            <a:r>
              <a:rPr lang="en-US" sz="1800" dirty="0">
                <a:solidFill>
                  <a:srgbClr val="1F2937"/>
                </a:solidFill>
                <a:latin typeface="Calibri" pitchFamily="34" charset="0"/>
                <a:ea typeface="Calibri" pitchFamily="34" charset="-122"/>
                <a:cs typeface="Calibri" pitchFamily="34" charset="-120"/>
              </a:rPr>
              <a:t>İdrar kesesinin açılarak içinden patolojik materyelin çıkarılması</a:t>
            </a:r>
            <a:endParaRPr lang="en-US" sz="1800" dirty="0"/>
          </a:p>
        </p:txBody>
      </p:sp>
      <p:sp>
        <p:nvSpPr>
          <p:cNvPr id="14" name="Shape 12"/>
          <p:cNvSpPr/>
          <p:nvPr/>
        </p:nvSpPr>
        <p:spPr>
          <a:xfrm>
            <a:off x="548640" y="4220870"/>
            <a:ext cx="11094415" cy="542239"/>
          </a:xfrm>
          <a:prstGeom prst="roundRect">
            <a:avLst>
              <a:gd name="adj" fmla="val 11804"/>
            </a:avLst>
          </a:prstGeom>
          <a:solidFill>
            <a:srgbClr val="F0F5E4"/>
          </a:solidFill>
          <a:ln/>
        </p:spPr>
      </p:sp>
      <p:sp>
        <p:nvSpPr>
          <p:cNvPr id="15" name="Text 13"/>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cystoscopy (G) (sistoskopi): </a:t>
            </a:r>
            <a:r>
              <a:rPr lang="en-US" sz="1800" dirty="0">
                <a:solidFill>
                  <a:srgbClr val="1F2937"/>
                </a:solidFill>
                <a:latin typeface="Calibri" pitchFamily="34" charset="0"/>
                <a:ea typeface="Calibri" pitchFamily="34" charset="-122"/>
                <a:cs typeface="Calibri" pitchFamily="34" charset="-120"/>
              </a:rPr>
              <a:t>Fiberoptik bir aletleidrar kesesinin incelenmesi</a:t>
            </a:r>
            <a:endParaRPr lang="en-US" sz="1800" dirty="0"/>
          </a:p>
        </p:txBody>
      </p:sp>
      <p:sp>
        <p:nvSpPr>
          <p:cNvPr id="16" name="Shape 14"/>
          <p:cNvSpPr/>
          <p:nvPr/>
        </p:nvSpPr>
        <p:spPr>
          <a:xfrm>
            <a:off x="548640" y="4854550"/>
            <a:ext cx="11094415" cy="542239"/>
          </a:xfrm>
          <a:prstGeom prst="roundRect">
            <a:avLst>
              <a:gd name="adj" fmla="val 11804"/>
            </a:avLst>
          </a:prstGeom>
          <a:solidFill>
            <a:srgbClr val="F0F5E4"/>
          </a:solidFill>
          <a:ln/>
        </p:spPr>
      </p:sp>
      <p:sp>
        <p:nvSpPr>
          <p:cNvPr id="17" name="Text 15"/>
          <p:cNvSpPr txBox="1"/>
          <p:nvPr/>
        </p:nvSpPr>
        <p:spPr>
          <a:xfrm>
            <a:off x="704088" y="492770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cystography (G) (sistografi): </a:t>
            </a:r>
            <a:r>
              <a:rPr lang="en-US" sz="1800" dirty="0">
                <a:solidFill>
                  <a:srgbClr val="1F2937"/>
                </a:solidFill>
                <a:latin typeface="Calibri" pitchFamily="34" charset="0"/>
                <a:ea typeface="Calibri" pitchFamily="34" charset="-122"/>
                <a:cs typeface="Calibri" pitchFamily="34" charset="-120"/>
              </a:rPr>
              <a:t>Kontrast bir madde ile doldurulan idrar kesesinin radyografisi</a:t>
            </a:r>
            <a:endParaRPr lang="en-US" sz="1800" dirty="0"/>
          </a:p>
        </p:txBody>
      </p:sp>
      <p:sp>
        <p:nvSpPr>
          <p:cNvPr id="18" name="Shape 16"/>
          <p:cNvSpPr/>
          <p:nvPr/>
        </p:nvSpPr>
        <p:spPr>
          <a:xfrm>
            <a:off x="548640" y="5488229"/>
            <a:ext cx="11094415" cy="821131"/>
          </a:xfrm>
          <a:prstGeom prst="roundRect">
            <a:avLst>
              <a:gd name="adj" fmla="val 7795"/>
            </a:avLst>
          </a:prstGeom>
          <a:solidFill>
            <a:srgbClr val="F0F5E4"/>
          </a:solidFill>
          <a:ln/>
        </p:spPr>
      </p:sp>
      <p:sp>
        <p:nvSpPr>
          <p:cNvPr id="19" name="Text 17"/>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4D7C0F"/>
                </a:solidFill>
                <a:latin typeface="Calibri" pitchFamily="34" charset="0"/>
                <a:ea typeface="Calibri" pitchFamily="34" charset="-122"/>
                <a:cs typeface="Calibri" pitchFamily="34" charset="-120"/>
              </a:rPr>
              <a:t>intravenous pyelography (intravenöz piyelografi-IVP): </a:t>
            </a:r>
            <a:r>
              <a:rPr lang="en-US" sz="1800" dirty="0">
                <a:solidFill>
                  <a:srgbClr val="1F2937"/>
                </a:solidFill>
                <a:latin typeface="Calibri" pitchFamily="34" charset="0"/>
                <a:ea typeface="Calibri" pitchFamily="34" charset="-122"/>
                <a:cs typeface="Calibri" pitchFamily="34" charset="-120"/>
              </a:rPr>
              <a:t>Böbreklerin üreter ve mesanenin intravenöz radyoopak madde verilerek X ışını ie görüntülenmesi</a:t>
            </a:r>
            <a:endParaRPr lang="en-US" sz="18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EAFA"/>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F0D7F4"/>
                </a:solidFill>
                <a:latin typeface="Cambria" pitchFamily="34" charset="0"/>
                <a:ea typeface="Cambria" pitchFamily="34" charset="-122"/>
                <a:cs typeface="Cambria" pitchFamily="34" charset="-120"/>
              </a:rPr>
              <a:t>10</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A21CAF"/>
                </a:solidFill>
                <a:latin typeface="Calibri" pitchFamily="34" charset="0"/>
                <a:ea typeface="Calibri" pitchFamily="34" charset="-122"/>
                <a:cs typeface="Calibri" pitchFamily="34" charset="-120"/>
              </a:rPr>
              <a:t>BÖLÜM 10</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GENİTAL SİSTEM TERİMLERİ</a:t>
            </a:r>
            <a:endParaRPr lang="en-US" sz="3600" dirty="0"/>
          </a:p>
        </p:txBody>
      </p:sp>
      <p:sp>
        <p:nvSpPr>
          <p:cNvPr id="7" name="Shape 5"/>
          <p:cNvSpPr/>
          <p:nvPr/>
        </p:nvSpPr>
        <p:spPr>
          <a:xfrm>
            <a:off x="8503920" y="2331720"/>
            <a:ext cx="2194560" cy="2194560"/>
          </a:xfrm>
          <a:prstGeom prst="ellipse">
            <a:avLst/>
          </a:prstGeom>
          <a:solidFill>
            <a:srgbClr val="F8EAFA"/>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251</a:t>
            </a:r>
            <a:endParaRPr lang="en-US" sz="10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GENİTAL SİSTEM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252</a:t>
            </a:r>
            <a:endParaRPr lang="en-US" sz="1000" dirty="0"/>
          </a:p>
        </p:txBody>
      </p:sp>
      <p:sp>
        <p:nvSpPr>
          <p:cNvPr id="6" name="Shape 4"/>
          <p:cNvSpPr/>
          <p:nvPr/>
        </p:nvSpPr>
        <p:spPr>
          <a:xfrm>
            <a:off x="548640" y="2468880"/>
            <a:ext cx="11094415" cy="1100023"/>
          </a:xfrm>
          <a:prstGeom prst="roundRect">
            <a:avLst>
              <a:gd name="adj" fmla="val 5819"/>
            </a:avLst>
          </a:prstGeom>
          <a:solidFill>
            <a:srgbClr val="F8EAFA"/>
          </a:solidFill>
          <a:ln/>
        </p:spPr>
      </p:sp>
      <p:sp>
        <p:nvSpPr>
          <p:cNvPr id="7" name="Text 5"/>
          <p:cNvSpPr txBox="1"/>
          <p:nvPr/>
        </p:nvSpPr>
        <p:spPr>
          <a:xfrm>
            <a:off x="704088" y="2542032"/>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Genital sistem, insanda üremeyle ilgili organların oluşturduğu sistemdir. Bu sistemi yapan organlar cinsiyete göre ikiye ayrılır. 1. Kadın üreme organları. 2. Erkek üreme organları. İki sisteme de organlar farklıdır. Ancak görev yönüyle organlar arasında benzerlikler vardır.</a:t>
            </a:r>
            <a:endParaRPr lang="en-US" sz="1800" dirty="0"/>
          </a:p>
        </p:txBody>
      </p:sp>
      <p:sp>
        <p:nvSpPr>
          <p:cNvPr id="8" name="Shape 6"/>
          <p:cNvSpPr/>
          <p:nvPr/>
        </p:nvSpPr>
        <p:spPr>
          <a:xfrm>
            <a:off x="548640" y="3660343"/>
            <a:ext cx="11094415" cy="1100023"/>
          </a:xfrm>
          <a:prstGeom prst="roundRect">
            <a:avLst>
              <a:gd name="adj" fmla="val 5819"/>
            </a:avLst>
          </a:prstGeom>
          <a:solidFill>
            <a:srgbClr val="F8EAFA"/>
          </a:solidFill>
          <a:ln/>
        </p:spPr>
      </p:sp>
      <p:sp>
        <p:nvSpPr>
          <p:cNvPr id="9" name="Text 7"/>
          <p:cNvSpPr txBox="1"/>
          <p:nvPr/>
        </p:nvSpPr>
        <p:spPr>
          <a:xfrm>
            <a:off x="704088" y="3733495"/>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Üreme organlarından erkek üretrası aynı zamanda üriner sistemin organıdır. Bu organ organı dışarı çıkarırken, üriner sistem, spermayı dışarı çıkarırken genital sistem organı olarak görev yapmaktadır. Üreme organlarında bazıları üremenin dışında cinsellik görevi de yapar.</a:t>
            </a:r>
            <a:endParaRPr lang="en-US" sz="18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253</a:t>
            </a:r>
            <a:endParaRPr lang="en-US" sz="1000" dirty="0"/>
          </a:p>
        </p:txBody>
      </p:sp>
      <p:sp>
        <p:nvSpPr>
          <p:cNvPr id="6" name="Shape 4"/>
          <p:cNvSpPr/>
          <p:nvPr/>
        </p:nvSpPr>
        <p:spPr>
          <a:xfrm>
            <a:off x="548640" y="1837182"/>
            <a:ext cx="11094415" cy="916686"/>
          </a:xfrm>
          <a:prstGeom prst="roundRect">
            <a:avLst>
              <a:gd name="adj" fmla="val 6983"/>
            </a:avLst>
          </a:prstGeom>
          <a:solidFill>
            <a:srgbClr val="F8EAFA"/>
          </a:solidFill>
          <a:ln/>
        </p:spPr>
      </p:sp>
      <p:sp>
        <p:nvSpPr>
          <p:cNvPr id="7" name="Text 5"/>
          <p:cNvSpPr txBox="1"/>
          <p:nvPr/>
        </p:nvSpPr>
        <p:spPr>
          <a:xfrm>
            <a:off x="704088" y="1910334"/>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tunica vaginalis testis (L) (tunika vajinalis testis): </a:t>
            </a:r>
            <a:r>
              <a:rPr lang="en-US" sz="1500" dirty="0">
                <a:solidFill>
                  <a:srgbClr val="1F2937"/>
                </a:solidFill>
                <a:latin typeface="Calibri" pitchFamily="34" charset="0"/>
                <a:ea typeface="Calibri" pitchFamily="34" charset="-122"/>
                <a:cs typeface="Calibri" pitchFamily="34" charset="-120"/>
              </a:rPr>
              <a:t>Testis ve epididimisi saran, paryetal ve visseral olmak üzere iki yaprağın oluşturduğu seröz tabaka</a:t>
            </a:r>
            <a:endParaRPr lang="en-US" sz="1500" dirty="0"/>
          </a:p>
        </p:txBody>
      </p:sp>
      <p:sp>
        <p:nvSpPr>
          <p:cNvPr id="8" name="Shape 6"/>
          <p:cNvSpPr/>
          <p:nvPr/>
        </p:nvSpPr>
        <p:spPr>
          <a:xfrm>
            <a:off x="548640" y="3219450"/>
            <a:ext cx="5410048" cy="451866"/>
          </a:xfrm>
          <a:prstGeom prst="roundRect">
            <a:avLst>
              <a:gd name="adj" fmla="val 14165"/>
            </a:avLst>
          </a:prstGeom>
          <a:solidFill>
            <a:srgbClr val="F8EAFA"/>
          </a:solidFill>
          <a:ln/>
        </p:spPr>
      </p:sp>
      <p:sp>
        <p:nvSpPr>
          <p:cNvPr id="9" name="Text 7"/>
          <p:cNvSpPr txBox="1"/>
          <p:nvPr/>
        </p:nvSpPr>
        <p:spPr>
          <a:xfrm>
            <a:off x="704088" y="329260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Erkek Genital Organlarına İlişkin Terimler</a:t>
            </a:r>
            <a:endParaRPr lang="en-US" sz="1500" dirty="0"/>
          </a:p>
        </p:txBody>
      </p:sp>
      <p:sp>
        <p:nvSpPr>
          <p:cNvPr id="10" name="Shape 8"/>
          <p:cNvSpPr/>
          <p:nvPr/>
        </p:nvSpPr>
        <p:spPr>
          <a:xfrm>
            <a:off x="548640" y="3762756"/>
            <a:ext cx="5410048" cy="684276"/>
          </a:xfrm>
          <a:prstGeom prst="roundRect">
            <a:avLst>
              <a:gd name="adj" fmla="val 9354"/>
            </a:avLst>
          </a:prstGeom>
          <a:solidFill>
            <a:srgbClr val="F8EAFA"/>
          </a:solidFill>
          <a:ln/>
        </p:spPr>
      </p:sp>
      <p:sp>
        <p:nvSpPr>
          <p:cNvPr id="11" name="Text 9"/>
          <p:cNvSpPr txBox="1"/>
          <p:nvPr/>
        </p:nvSpPr>
        <p:spPr>
          <a:xfrm>
            <a:off x="704088" y="383590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organa (G) genitalia (L) masculina (L) (organa genitalya maskulina): </a:t>
            </a:r>
            <a:r>
              <a:rPr lang="en-US" sz="1500" dirty="0">
                <a:solidFill>
                  <a:srgbClr val="1F2937"/>
                </a:solidFill>
                <a:latin typeface="Calibri" pitchFamily="34" charset="0"/>
                <a:ea typeface="Calibri" pitchFamily="34" charset="-122"/>
                <a:cs typeface="Calibri" pitchFamily="34" charset="-120"/>
              </a:rPr>
              <a:t>Erkek genital organları</a:t>
            </a:r>
            <a:endParaRPr lang="en-US" sz="1500" dirty="0"/>
          </a:p>
        </p:txBody>
      </p:sp>
      <p:sp>
        <p:nvSpPr>
          <p:cNvPr id="12" name="Shape 10"/>
          <p:cNvSpPr/>
          <p:nvPr/>
        </p:nvSpPr>
        <p:spPr>
          <a:xfrm>
            <a:off x="548640" y="4538472"/>
            <a:ext cx="5410048" cy="451866"/>
          </a:xfrm>
          <a:prstGeom prst="roundRect">
            <a:avLst>
              <a:gd name="adj" fmla="val 14165"/>
            </a:avLst>
          </a:prstGeom>
          <a:solidFill>
            <a:srgbClr val="F8EAFA"/>
          </a:solidFill>
          <a:ln/>
        </p:spPr>
      </p:sp>
      <p:sp>
        <p:nvSpPr>
          <p:cNvPr id="13" name="Text 11"/>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masculis (L), andros (G) (maskulis, andros): </a:t>
            </a:r>
            <a:r>
              <a:rPr lang="en-US" sz="1500" dirty="0">
                <a:solidFill>
                  <a:srgbClr val="1F2937"/>
                </a:solidFill>
                <a:latin typeface="Calibri" pitchFamily="34" charset="0"/>
                <a:ea typeface="Calibri" pitchFamily="34" charset="-122"/>
                <a:cs typeface="Calibri" pitchFamily="34" charset="-120"/>
              </a:rPr>
              <a:t>Erkek</a:t>
            </a:r>
            <a:endParaRPr lang="en-US" sz="1500" dirty="0"/>
          </a:p>
        </p:txBody>
      </p:sp>
      <p:sp>
        <p:nvSpPr>
          <p:cNvPr id="14" name="Shape 12"/>
          <p:cNvSpPr/>
          <p:nvPr/>
        </p:nvSpPr>
        <p:spPr>
          <a:xfrm>
            <a:off x="548640" y="5081778"/>
            <a:ext cx="5410048" cy="684276"/>
          </a:xfrm>
          <a:prstGeom prst="roundRect">
            <a:avLst>
              <a:gd name="adj" fmla="val 9354"/>
            </a:avLst>
          </a:prstGeom>
          <a:solidFill>
            <a:srgbClr val="F8EAFA"/>
          </a:solidFill>
          <a:ln/>
        </p:spPr>
      </p:sp>
      <p:sp>
        <p:nvSpPr>
          <p:cNvPr id="15" name="Text 13"/>
          <p:cNvSpPr txBox="1"/>
          <p:nvPr/>
        </p:nvSpPr>
        <p:spPr>
          <a:xfrm>
            <a:off x="704088"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testis (L): </a:t>
            </a:r>
            <a:r>
              <a:rPr lang="en-US" sz="1500" dirty="0">
                <a:solidFill>
                  <a:srgbClr val="1F2937"/>
                </a:solidFill>
                <a:latin typeface="Calibri" pitchFamily="34" charset="0"/>
                <a:ea typeface="Calibri" pitchFamily="34" charset="-122"/>
                <a:cs typeface="Calibri" pitchFamily="34" charset="-120"/>
              </a:rPr>
              <a:t>Er bezi. Erkek döl hücrelerinin yapıldığı organ.</a:t>
            </a:r>
            <a:endParaRPr lang="en-US" sz="1500" dirty="0"/>
          </a:p>
        </p:txBody>
      </p:sp>
      <p:sp>
        <p:nvSpPr>
          <p:cNvPr id="16" name="Shape 14"/>
          <p:cNvSpPr/>
          <p:nvPr/>
        </p:nvSpPr>
        <p:spPr>
          <a:xfrm>
            <a:off x="548640" y="5857494"/>
            <a:ext cx="5410048" cy="451866"/>
          </a:xfrm>
          <a:prstGeom prst="roundRect">
            <a:avLst>
              <a:gd name="adj" fmla="val 14165"/>
            </a:avLst>
          </a:prstGeom>
          <a:solidFill>
            <a:srgbClr val="F8EAFA"/>
          </a:solidFill>
          <a:ln/>
        </p:spPr>
      </p:sp>
      <p:sp>
        <p:nvSpPr>
          <p:cNvPr id="17" name="Text 15"/>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orchis, didymus (G) (orşis, didimus): </a:t>
            </a:r>
            <a:r>
              <a:rPr lang="en-US" sz="1500" dirty="0">
                <a:solidFill>
                  <a:srgbClr val="1F2937"/>
                </a:solidFill>
                <a:latin typeface="Calibri" pitchFamily="34" charset="0"/>
                <a:ea typeface="Calibri" pitchFamily="34" charset="-122"/>
                <a:cs typeface="Calibri" pitchFamily="34" charset="-120"/>
              </a:rPr>
              <a:t>Er bezi</a:t>
            </a:r>
            <a:endParaRPr lang="en-US" sz="1500" dirty="0"/>
          </a:p>
        </p:txBody>
      </p:sp>
      <p:sp>
        <p:nvSpPr>
          <p:cNvPr id="18" name="Shape 16"/>
          <p:cNvSpPr/>
          <p:nvPr/>
        </p:nvSpPr>
        <p:spPr>
          <a:xfrm>
            <a:off x="6233008" y="3219450"/>
            <a:ext cx="5410048" cy="684276"/>
          </a:xfrm>
          <a:prstGeom prst="roundRect">
            <a:avLst>
              <a:gd name="adj" fmla="val 9354"/>
            </a:avLst>
          </a:prstGeom>
          <a:solidFill>
            <a:srgbClr val="F8EAFA"/>
          </a:solidFill>
          <a:ln/>
        </p:spPr>
      </p:sp>
      <p:sp>
        <p:nvSpPr>
          <p:cNvPr id="19" name="Text 17"/>
          <p:cNvSpPr txBox="1"/>
          <p:nvPr/>
        </p:nvSpPr>
        <p:spPr>
          <a:xfrm>
            <a:off x="6388456" y="329260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tunica albuginea (G) (tunika albujinea): </a:t>
            </a:r>
            <a:r>
              <a:rPr lang="en-US" sz="1500" dirty="0">
                <a:solidFill>
                  <a:srgbClr val="1F2937"/>
                </a:solidFill>
                <a:latin typeface="Calibri" pitchFamily="34" charset="0"/>
                <a:ea typeface="Calibri" pitchFamily="34" charset="-122"/>
                <a:cs typeface="Calibri" pitchFamily="34" charset="-120"/>
              </a:rPr>
              <a:t>Testisi kapsül şeklinde saran, beyazımsı bağ doku tabakası</a:t>
            </a:r>
            <a:endParaRPr lang="en-US" sz="1500" dirty="0"/>
          </a:p>
        </p:txBody>
      </p:sp>
      <p:sp>
        <p:nvSpPr>
          <p:cNvPr id="20" name="Shape 18"/>
          <p:cNvSpPr/>
          <p:nvPr/>
        </p:nvSpPr>
        <p:spPr>
          <a:xfrm>
            <a:off x="6233008" y="3995166"/>
            <a:ext cx="5410048" cy="451866"/>
          </a:xfrm>
          <a:prstGeom prst="roundRect">
            <a:avLst>
              <a:gd name="adj" fmla="val 14165"/>
            </a:avLst>
          </a:prstGeom>
          <a:solidFill>
            <a:srgbClr val="F8EAFA"/>
          </a:solidFill>
          <a:ln/>
        </p:spPr>
      </p:sp>
      <p:sp>
        <p:nvSpPr>
          <p:cNvPr id="21" name="Text 19"/>
          <p:cNvSpPr txBox="1"/>
          <p:nvPr/>
        </p:nvSpPr>
        <p:spPr>
          <a:xfrm>
            <a:off x="6388456"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scrotum (L) (skrotum): </a:t>
            </a:r>
            <a:r>
              <a:rPr lang="en-US" sz="1500" dirty="0">
                <a:solidFill>
                  <a:srgbClr val="1F2937"/>
                </a:solidFill>
                <a:latin typeface="Calibri" pitchFamily="34" charset="0"/>
                <a:ea typeface="Calibri" pitchFamily="34" charset="-122"/>
                <a:cs typeface="Calibri" pitchFamily="34" charset="-120"/>
              </a:rPr>
              <a:t>Testisi içine alan deri, torba</a:t>
            </a:r>
            <a:endParaRPr lang="en-US" sz="1500" dirty="0"/>
          </a:p>
        </p:txBody>
      </p:sp>
      <p:sp>
        <p:nvSpPr>
          <p:cNvPr id="22" name="Shape 20"/>
          <p:cNvSpPr/>
          <p:nvPr/>
        </p:nvSpPr>
        <p:spPr>
          <a:xfrm>
            <a:off x="6233008" y="4538472"/>
            <a:ext cx="5410048" cy="451866"/>
          </a:xfrm>
          <a:prstGeom prst="roundRect">
            <a:avLst>
              <a:gd name="adj" fmla="val 14165"/>
            </a:avLst>
          </a:prstGeom>
          <a:solidFill>
            <a:srgbClr val="F8EAFA"/>
          </a:solidFill>
          <a:ln/>
        </p:spPr>
      </p:sp>
      <p:sp>
        <p:nvSpPr>
          <p:cNvPr id="23" name="Text 21"/>
          <p:cNvSpPr txBox="1"/>
          <p:nvPr/>
        </p:nvSpPr>
        <p:spPr>
          <a:xfrm>
            <a:off x="6388456"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spermium (L): </a:t>
            </a:r>
            <a:r>
              <a:rPr lang="en-US" sz="1500" dirty="0">
                <a:solidFill>
                  <a:srgbClr val="1F2937"/>
                </a:solidFill>
                <a:latin typeface="Calibri" pitchFamily="34" charset="0"/>
                <a:ea typeface="Calibri" pitchFamily="34" charset="-122"/>
                <a:cs typeface="Calibri" pitchFamily="34" charset="-120"/>
              </a:rPr>
              <a:t>Sperm, erkek döl hücresi</a:t>
            </a:r>
            <a:endParaRPr lang="en-US" sz="1500" dirty="0"/>
          </a:p>
        </p:txBody>
      </p:sp>
      <p:sp>
        <p:nvSpPr>
          <p:cNvPr id="24" name="Shape 22"/>
          <p:cNvSpPr/>
          <p:nvPr/>
        </p:nvSpPr>
        <p:spPr>
          <a:xfrm>
            <a:off x="6233008" y="5081778"/>
            <a:ext cx="5410048" cy="684276"/>
          </a:xfrm>
          <a:prstGeom prst="roundRect">
            <a:avLst>
              <a:gd name="adj" fmla="val 9354"/>
            </a:avLst>
          </a:prstGeom>
          <a:solidFill>
            <a:srgbClr val="F8EAFA"/>
          </a:solidFill>
          <a:ln/>
        </p:spPr>
      </p:sp>
      <p:sp>
        <p:nvSpPr>
          <p:cNvPr id="25" name="Text 23"/>
          <p:cNvSpPr txBox="1"/>
          <p:nvPr/>
        </p:nvSpPr>
        <p:spPr>
          <a:xfrm>
            <a:off x="6388456"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sperma (G): </a:t>
            </a:r>
            <a:r>
              <a:rPr lang="en-US" sz="1500" dirty="0">
                <a:solidFill>
                  <a:srgbClr val="1F2937"/>
                </a:solidFill>
                <a:latin typeface="Calibri" pitchFamily="34" charset="0"/>
                <a:ea typeface="Calibri" pitchFamily="34" charset="-122"/>
                <a:cs typeface="Calibri" pitchFamily="34" charset="-120"/>
              </a:rPr>
              <a:t>Erkek döl hücreleri ile genital bezlerin salgılarının karışımından oluşan sıvı</a:t>
            </a:r>
            <a:endParaRPr lang="en-US" sz="15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8EAFA"/>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254</a:t>
            </a:r>
            <a:endParaRPr lang="en-US" sz="1000" dirty="0"/>
          </a:p>
        </p:txBody>
      </p:sp>
      <p:sp>
        <p:nvSpPr>
          <p:cNvPr id="6" name="Shape 4"/>
          <p:cNvSpPr/>
          <p:nvPr/>
        </p:nvSpPr>
        <p:spPr>
          <a:xfrm>
            <a:off x="548640" y="1473098"/>
            <a:ext cx="11094415" cy="821131"/>
          </a:xfrm>
          <a:prstGeom prst="roundRect">
            <a:avLst>
              <a:gd name="adj" fmla="val 7795"/>
            </a:avLst>
          </a:prstGeom>
          <a:solidFill>
            <a:srgbClr val="F8EAFA"/>
          </a:solidFill>
          <a:ln/>
        </p:spPr>
      </p:sp>
      <p:sp>
        <p:nvSpPr>
          <p:cNvPr id="7" name="Text 5"/>
          <p:cNvSpPr txBox="1"/>
          <p:nvPr/>
        </p:nvSpPr>
        <p:spPr>
          <a:xfrm>
            <a:off x="704088" y="154625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vesicula seminalis (L) (vesikula seminalis): </a:t>
            </a:r>
            <a:r>
              <a:rPr lang="en-US" sz="1800" dirty="0">
                <a:solidFill>
                  <a:srgbClr val="1F2937"/>
                </a:solidFill>
                <a:latin typeface="Calibri" pitchFamily="34" charset="0"/>
                <a:ea typeface="Calibri" pitchFamily="34" charset="-122"/>
                <a:cs typeface="Calibri" pitchFamily="34" charset="-120"/>
              </a:rPr>
              <a:t>Pelvis boşluğunda bulunan genital bezlerden ilki. Sidik kesesinin altında iki taraflı ve yaprak şeklindeki bezler. Seminal bezler</a:t>
            </a:r>
            <a:endParaRPr lang="en-US" sz="1800" dirty="0"/>
          </a:p>
        </p:txBody>
      </p:sp>
      <p:sp>
        <p:nvSpPr>
          <p:cNvPr id="8" name="Shape 6"/>
          <p:cNvSpPr/>
          <p:nvPr/>
        </p:nvSpPr>
        <p:spPr>
          <a:xfrm>
            <a:off x="548640" y="2395728"/>
            <a:ext cx="11094415" cy="821131"/>
          </a:xfrm>
          <a:prstGeom prst="roundRect">
            <a:avLst>
              <a:gd name="adj" fmla="val 7795"/>
            </a:avLst>
          </a:prstGeom>
          <a:solidFill>
            <a:srgbClr val="F8EAFA"/>
          </a:solidFill>
          <a:ln/>
        </p:spPr>
      </p:sp>
      <p:sp>
        <p:nvSpPr>
          <p:cNvPr id="9" name="Text 7"/>
          <p:cNvSpPr txBox="1"/>
          <p:nvPr/>
        </p:nvSpPr>
        <p:spPr>
          <a:xfrm>
            <a:off x="704088" y="246888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epididymis (G) (epididim): </a:t>
            </a:r>
            <a:r>
              <a:rPr lang="en-US" sz="1800" dirty="0">
                <a:solidFill>
                  <a:srgbClr val="1F2937"/>
                </a:solidFill>
                <a:latin typeface="Calibri" pitchFamily="34" charset="0"/>
                <a:ea typeface="Calibri" pitchFamily="34" charset="-122"/>
                <a:cs typeface="Calibri" pitchFamily="34" charset="-120"/>
              </a:rPr>
              <a:t>Testisten spermleri taşıyan borunun kendi üstüne kıvrılmasıyla oluşan organ. Er bezi üstü. Sperm depo eder</a:t>
            </a:r>
            <a:endParaRPr lang="en-US" sz="1800" dirty="0"/>
          </a:p>
        </p:txBody>
      </p:sp>
      <p:sp>
        <p:nvSpPr>
          <p:cNvPr id="10" name="Shape 8"/>
          <p:cNvSpPr/>
          <p:nvPr/>
        </p:nvSpPr>
        <p:spPr>
          <a:xfrm>
            <a:off x="548640" y="3308299"/>
            <a:ext cx="11094415" cy="821131"/>
          </a:xfrm>
          <a:prstGeom prst="roundRect">
            <a:avLst>
              <a:gd name="adj" fmla="val 7795"/>
            </a:avLst>
          </a:prstGeom>
          <a:solidFill>
            <a:srgbClr val="F8EAFA"/>
          </a:solidFill>
          <a:ln/>
        </p:spPr>
      </p:sp>
      <p:sp>
        <p:nvSpPr>
          <p:cNvPr id="11" name="Text 9"/>
          <p:cNvSpPr txBox="1"/>
          <p:nvPr/>
        </p:nvSpPr>
        <p:spPr>
          <a:xfrm>
            <a:off x="704088" y="338145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ductus deferens (L) (duktus deferens): </a:t>
            </a:r>
            <a:r>
              <a:rPr lang="en-US" sz="1800" dirty="0">
                <a:solidFill>
                  <a:srgbClr val="1F2937"/>
                </a:solidFill>
                <a:latin typeface="Calibri" pitchFamily="34" charset="0"/>
                <a:ea typeface="Calibri" pitchFamily="34" charset="-122"/>
                <a:cs typeface="Calibri" pitchFamily="34" charset="-120"/>
              </a:rPr>
              <a:t>Epididimis ile uretra arasında uzanan boru. Spermiumları taşır.</a:t>
            </a:r>
            <a:endParaRPr lang="en-US" sz="1800" dirty="0"/>
          </a:p>
        </p:txBody>
      </p:sp>
      <p:sp>
        <p:nvSpPr>
          <p:cNvPr id="12" name="Shape 10"/>
          <p:cNvSpPr/>
          <p:nvPr/>
        </p:nvSpPr>
        <p:spPr>
          <a:xfrm>
            <a:off x="548640" y="4220870"/>
            <a:ext cx="11094415" cy="542239"/>
          </a:xfrm>
          <a:prstGeom prst="roundRect">
            <a:avLst>
              <a:gd name="adj" fmla="val 11804"/>
            </a:avLst>
          </a:prstGeom>
          <a:solidFill>
            <a:srgbClr val="F8EAFA"/>
          </a:solidFill>
          <a:ln/>
        </p:spPr>
      </p:sp>
      <p:sp>
        <p:nvSpPr>
          <p:cNvPr id="13" name="Text 11"/>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prostata (L) (prostat): </a:t>
            </a:r>
            <a:r>
              <a:rPr lang="en-US" sz="1800" dirty="0">
                <a:solidFill>
                  <a:srgbClr val="1F2937"/>
                </a:solidFill>
                <a:latin typeface="Calibri" pitchFamily="34" charset="0"/>
                <a:ea typeface="Calibri" pitchFamily="34" charset="-122"/>
                <a:cs typeface="Calibri" pitchFamily="34" charset="-120"/>
              </a:rPr>
              <a:t>Sidik kesesinin altıda, kestane büyüklüğünde olan bez</a:t>
            </a:r>
            <a:endParaRPr lang="en-US" sz="1800" dirty="0"/>
          </a:p>
        </p:txBody>
      </p:sp>
      <p:sp>
        <p:nvSpPr>
          <p:cNvPr id="14" name="Shape 12"/>
          <p:cNvSpPr/>
          <p:nvPr/>
        </p:nvSpPr>
        <p:spPr>
          <a:xfrm>
            <a:off x="548640" y="4854550"/>
            <a:ext cx="11094415" cy="821131"/>
          </a:xfrm>
          <a:prstGeom prst="roundRect">
            <a:avLst>
              <a:gd name="adj" fmla="val 7795"/>
            </a:avLst>
          </a:prstGeom>
          <a:solidFill>
            <a:srgbClr val="F8EAFA"/>
          </a:solidFill>
          <a:ln/>
        </p:spPr>
      </p:sp>
      <p:sp>
        <p:nvSpPr>
          <p:cNvPr id="15" name="Text 13"/>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glandula (L) bulbourethralis (LGL) (glandula bulbouretralis): </a:t>
            </a:r>
            <a:r>
              <a:rPr lang="en-US" sz="1800" dirty="0">
                <a:solidFill>
                  <a:srgbClr val="1F2937"/>
                </a:solidFill>
                <a:latin typeface="Calibri" pitchFamily="34" charset="0"/>
                <a:ea typeface="Calibri" pitchFamily="34" charset="-122"/>
                <a:cs typeface="Calibri" pitchFamily="34" charset="-120"/>
              </a:rPr>
              <a:t>Bulbouretral bez. Üretra yolu üzerinde prostattan sonra gelen bez</a:t>
            </a:r>
            <a:endParaRPr lang="en-US" sz="1800" dirty="0"/>
          </a:p>
        </p:txBody>
      </p:sp>
      <p:sp>
        <p:nvSpPr>
          <p:cNvPr id="16" name="Shape 14"/>
          <p:cNvSpPr/>
          <p:nvPr/>
        </p:nvSpPr>
        <p:spPr>
          <a:xfrm>
            <a:off x="548640" y="5767121"/>
            <a:ext cx="11094415" cy="542239"/>
          </a:xfrm>
          <a:prstGeom prst="roundRect">
            <a:avLst>
              <a:gd name="adj" fmla="val 11804"/>
            </a:avLst>
          </a:prstGeom>
          <a:solidFill>
            <a:srgbClr val="F8EAFA"/>
          </a:solidFill>
          <a:ln/>
        </p:spPr>
      </p:sp>
      <p:sp>
        <p:nvSpPr>
          <p:cNvPr id="17" name="Text 15"/>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penis (L): </a:t>
            </a:r>
            <a:r>
              <a:rPr lang="en-US" sz="1800" dirty="0">
                <a:solidFill>
                  <a:srgbClr val="1F2937"/>
                </a:solidFill>
                <a:latin typeface="Calibri" pitchFamily="34" charset="0"/>
                <a:ea typeface="Calibri" pitchFamily="34" charset="-122"/>
                <a:cs typeface="Calibri" pitchFamily="34" charset="-120"/>
              </a:rPr>
              <a:t>Erkeklerde idrar çıkarma ve çiftleşme organı</a:t>
            </a:r>
            <a:endParaRPr lang="en-US" sz="18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Kadın Genital Organlarına İlişkin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255</a:t>
            </a:r>
            <a:endParaRPr lang="en-US" sz="1000" dirty="0"/>
          </a:p>
        </p:txBody>
      </p:sp>
      <p:sp>
        <p:nvSpPr>
          <p:cNvPr id="6" name="Shape 4"/>
          <p:cNvSpPr/>
          <p:nvPr/>
        </p:nvSpPr>
        <p:spPr>
          <a:xfrm>
            <a:off x="548640" y="1514145"/>
            <a:ext cx="11094415" cy="638658"/>
          </a:xfrm>
          <a:prstGeom prst="roundRect">
            <a:avLst>
              <a:gd name="adj" fmla="val 10022"/>
            </a:avLst>
          </a:prstGeom>
          <a:solidFill>
            <a:srgbClr val="F8EAFA"/>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tuba uterina, oviduct (L) (tuba uterina, ovidukt): </a:t>
            </a:r>
            <a:r>
              <a:rPr lang="en-US" sz="1400" dirty="0">
                <a:solidFill>
                  <a:srgbClr val="1F2937"/>
                </a:solidFill>
                <a:latin typeface="Calibri" pitchFamily="34" charset="0"/>
                <a:ea typeface="Calibri" pitchFamily="34" charset="-122"/>
                <a:cs typeface="Calibri" pitchFamily="34" charset="-120"/>
              </a:rPr>
              <a:t>Döl yatağı boruları. Uterus ile ovaryum arasında uzanan boru. Başlangıç ucu ovaryuma bakar ve serbesttir. Döllenme burada lur</a:t>
            </a:r>
            <a:endParaRPr lang="en-US" sz="1400" dirty="0"/>
          </a:p>
        </p:txBody>
      </p:sp>
      <p:sp>
        <p:nvSpPr>
          <p:cNvPr id="8" name="Shape 6"/>
          <p:cNvSpPr/>
          <p:nvPr/>
        </p:nvSpPr>
        <p:spPr>
          <a:xfrm>
            <a:off x="548640" y="2295347"/>
            <a:ext cx="11094415" cy="421742"/>
          </a:xfrm>
          <a:prstGeom prst="roundRect">
            <a:avLst>
              <a:gd name="adj" fmla="val 15177"/>
            </a:avLst>
          </a:prstGeom>
          <a:solidFill>
            <a:srgbClr val="F8EAFA"/>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organa (G) genitalia (L) feminina (L) (organa genitalya feminina): </a:t>
            </a:r>
            <a:r>
              <a:rPr lang="en-US" sz="1400" dirty="0">
                <a:solidFill>
                  <a:srgbClr val="1F2937"/>
                </a:solidFill>
                <a:latin typeface="Calibri" pitchFamily="34" charset="0"/>
                <a:ea typeface="Calibri" pitchFamily="34" charset="-122"/>
                <a:cs typeface="Calibri" pitchFamily="34" charset="-120"/>
              </a:rPr>
              <a:t>Kadın genital organalrı</a:t>
            </a:r>
            <a:endParaRPr lang="en-US" sz="1400" dirty="0"/>
          </a:p>
        </p:txBody>
      </p:sp>
      <p:sp>
        <p:nvSpPr>
          <p:cNvPr id="10" name="Shape 8"/>
          <p:cNvSpPr/>
          <p:nvPr/>
        </p:nvSpPr>
        <p:spPr>
          <a:xfrm>
            <a:off x="548640" y="2808529"/>
            <a:ext cx="11094415" cy="421742"/>
          </a:xfrm>
          <a:prstGeom prst="roundRect">
            <a:avLst>
              <a:gd name="adj" fmla="val 15177"/>
            </a:avLst>
          </a:prstGeom>
          <a:solidFill>
            <a:srgbClr val="F8EAFA"/>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femininus (L) gyne, gynec (G) (jine, jinek): </a:t>
            </a:r>
            <a:r>
              <a:rPr lang="en-US" sz="1400" dirty="0">
                <a:solidFill>
                  <a:srgbClr val="1F2937"/>
                </a:solidFill>
                <a:latin typeface="Calibri" pitchFamily="34" charset="0"/>
                <a:ea typeface="Calibri" pitchFamily="34" charset="-122"/>
                <a:cs typeface="Calibri" pitchFamily="34" charset="-120"/>
              </a:rPr>
              <a:t>Kadın</a:t>
            </a:r>
            <a:endParaRPr lang="en-US" sz="1400" dirty="0"/>
          </a:p>
        </p:txBody>
      </p:sp>
      <p:sp>
        <p:nvSpPr>
          <p:cNvPr id="12" name="Shape 10"/>
          <p:cNvSpPr/>
          <p:nvPr/>
        </p:nvSpPr>
        <p:spPr>
          <a:xfrm>
            <a:off x="548640" y="3321710"/>
            <a:ext cx="11094415" cy="421742"/>
          </a:xfrm>
          <a:prstGeom prst="roundRect">
            <a:avLst>
              <a:gd name="adj" fmla="val 15177"/>
            </a:avLst>
          </a:prstGeom>
          <a:solidFill>
            <a:srgbClr val="F8EAFA"/>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ovarium, over (L) (ovaryum, over): </a:t>
            </a:r>
            <a:r>
              <a:rPr lang="en-US" sz="1400" dirty="0">
                <a:solidFill>
                  <a:srgbClr val="1F2937"/>
                </a:solidFill>
                <a:latin typeface="Calibri" pitchFamily="34" charset="0"/>
                <a:ea typeface="Calibri" pitchFamily="34" charset="-122"/>
                <a:cs typeface="Calibri" pitchFamily="34" charset="-120"/>
              </a:rPr>
              <a:t>Yumurtalık. Kadın döl hücrelerinin üretildiği organlar</a:t>
            </a:r>
            <a:endParaRPr lang="en-US" sz="1400" dirty="0"/>
          </a:p>
        </p:txBody>
      </p:sp>
      <p:sp>
        <p:nvSpPr>
          <p:cNvPr id="14" name="Shape 12"/>
          <p:cNvSpPr/>
          <p:nvPr/>
        </p:nvSpPr>
        <p:spPr>
          <a:xfrm>
            <a:off x="548640" y="3834892"/>
            <a:ext cx="11094415" cy="421742"/>
          </a:xfrm>
          <a:prstGeom prst="roundRect">
            <a:avLst>
              <a:gd name="adj" fmla="val 15177"/>
            </a:avLst>
          </a:prstGeom>
          <a:solidFill>
            <a:srgbClr val="F8EAFA"/>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oophoron (G) (oforon): </a:t>
            </a:r>
            <a:r>
              <a:rPr lang="en-US" sz="1400" dirty="0">
                <a:solidFill>
                  <a:srgbClr val="1F2937"/>
                </a:solidFill>
                <a:latin typeface="Calibri" pitchFamily="34" charset="0"/>
                <a:ea typeface="Calibri" pitchFamily="34" charset="-122"/>
                <a:cs typeface="Calibri" pitchFamily="34" charset="-120"/>
              </a:rPr>
              <a:t>Yuurtalık</a:t>
            </a:r>
            <a:endParaRPr lang="en-US" sz="1400" dirty="0"/>
          </a:p>
        </p:txBody>
      </p:sp>
      <p:sp>
        <p:nvSpPr>
          <p:cNvPr id="16" name="Shape 14"/>
          <p:cNvSpPr/>
          <p:nvPr/>
        </p:nvSpPr>
        <p:spPr>
          <a:xfrm>
            <a:off x="548640" y="4348074"/>
            <a:ext cx="11094415" cy="421742"/>
          </a:xfrm>
          <a:prstGeom prst="roundRect">
            <a:avLst>
              <a:gd name="adj" fmla="val 15177"/>
            </a:avLst>
          </a:prstGeom>
          <a:solidFill>
            <a:srgbClr val="F8EAFA"/>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ovum (L): </a:t>
            </a:r>
            <a:r>
              <a:rPr lang="en-US" sz="1400" dirty="0">
                <a:solidFill>
                  <a:srgbClr val="1F2937"/>
                </a:solidFill>
                <a:latin typeface="Calibri" pitchFamily="34" charset="0"/>
                <a:ea typeface="Calibri" pitchFamily="34" charset="-122"/>
                <a:cs typeface="Calibri" pitchFamily="34" charset="-120"/>
              </a:rPr>
              <a:t>Kadın döl hücresi</a:t>
            </a:r>
            <a:endParaRPr lang="en-US" sz="1400" dirty="0"/>
          </a:p>
        </p:txBody>
      </p:sp>
      <p:sp>
        <p:nvSpPr>
          <p:cNvPr id="18" name="Shape 16"/>
          <p:cNvSpPr/>
          <p:nvPr/>
        </p:nvSpPr>
        <p:spPr>
          <a:xfrm>
            <a:off x="548640" y="4861255"/>
            <a:ext cx="11094415" cy="421742"/>
          </a:xfrm>
          <a:prstGeom prst="roundRect">
            <a:avLst>
              <a:gd name="adj" fmla="val 15177"/>
            </a:avLst>
          </a:prstGeom>
          <a:solidFill>
            <a:srgbClr val="F8EAFA"/>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oocyte, ovocyte (G) (oosit, ovosit): </a:t>
            </a:r>
            <a:r>
              <a:rPr lang="en-US" sz="1400" dirty="0">
                <a:solidFill>
                  <a:srgbClr val="1F2937"/>
                </a:solidFill>
                <a:latin typeface="Calibri" pitchFamily="34" charset="0"/>
                <a:ea typeface="Calibri" pitchFamily="34" charset="-122"/>
                <a:cs typeface="Calibri" pitchFamily="34" charset="-120"/>
              </a:rPr>
              <a:t>Kadın döl hücresi</a:t>
            </a:r>
            <a:endParaRPr lang="en-US" sz="1400" dirty="0"/>
          </a:p>
        </p:txBody>
      </p:sp>
      <p:sp>
        <p:nvSpPr>
          <p:cNvPr id="20" name="Shape 18"/>
          <p:cNvSpPr/>
          <p:nvPr/>
        </p:nvSpPr>
        <p:spPr>
          <a:xfrm>
            <a:off x="548640" y="5374437"/>
            <a:ext cx="11094415" cy="421742"/>
          </a:xfrm>
          <a:prstGeom prst="roundRect">
            <a:avLst>
              <a:gd name="adj" fmla="val 15177"/>
            </a:avLst>
          </a:prstGeom>
          <a:solidFill>
            <a:srgbClr val="F8EAFA"/>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salpinx (G) (salpinks): </a:t>
            </a:r>
            <a:r>
              <a:rPr lang="en-US" sz="1400" dirty="0">
                <a:solidFill>
                  <a:srgbClr val="1F2937"/>
                </a:solidFill>
                <a:latin typeface="Calibri" pitchFamily="34" charset="0"/>
                <a:ea typeface="Calibri" pitchFamily="34" charset="-122"/>
                <a:cs typeface="Calibri" pitchFamily="34" charset="-120"/>
              </a:rPr>
              <a:t>Tuba uterina, Döl yatağı borulraı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F8EAFA"/>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uterus (L): </a:t>
            </a:r>
            <a:r>
              <a:rPr lang="en-US" sz="1400" dirty="0">
                <a:solidFill>
                  <a:srgbClr val="1F2937"/>
                </a:solidFill>
                <a:latin typeface="Calibri" pitchFamily="34" charset="0"/>
                <a:ea typeface="Calibri" pitchFamily="34" charset="-122"/>
                <a:cs typeface="Calibri" pitchFamily="34" charset="-120"/>
              </a:rPr>
              <a:t>Döl yatağı, rahim. Döllenmeden sonra embriyonun gelip yerleştiği ve büyüdüğü organ</a:t>
            </a:r>
            <a:endParaRPr lang="en-US" sz="14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8EAFA"/>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Kadın Genital Organlarına İlişkin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256</a:t>
            </a:r>
            <a:endParaRPr lang="en-US" sz="1000" dirty="0"/>
          </a:p>
        </p:txBody>
      </p:sp>
      <p:sp>
        <p:nvSpPr>
          <p:cNvPr id="6" name="Shape 4"/>
          <p:cNvSpPr/>
          <p:nvPr/>
        </p:nvSpPr>
        <p:spPr>
          <a:xfrm>
            <a:off x="548640" y="1511046"/>
            <a:ext cx="11094415" cy="451866"/>
          </a:xfrm>
          <a:prstGeom prst="roundRect">
            <a:avLst>
              <a:gd name="adj" fmla="val 14165"/>
            </a:avLst>
          </a:prstGeom>
          <a:solidFill>
            <a:srgbClr val="F8EAFA"/>
          </a:solidFill>
          <a:ln/>
        </p:spPr>
      </p:sp>
      <p:sp>
        <p:nvSpPr>
          <p:cNvPr id="7" name="Text 5"/>
          <p:cNvSpPr txBox="1"/>
          <p:nvPr/>
        </p:nvSpPr>
        <p:spPr>
          <a:xfrm>
            <a:off x="704088" y="158419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hystera, metra (G) (histera, metra): </a:t>
            </a:r>
            <a:r>
              <a:rPr lang="en-US" sz="1500" dirty="0">
                <a:solidFill>
                  <a:srgbClr val="1F2937"/>
                </a:solidFill>
                <a:latin typeface="Calibri" pitchFamily="34" charset="0"/>
                <a:ea typeface="Calibri" pitchFamily="34" charset="-122"/>
                <a:cs typeface="Calibri" pitchFamily="34" charset="-120"/>
              </a:rPr>
              <a:t>Döl yatağı</a:t>
            </a:r>
            <a:endParaRPr lang="en-US" sz="1500" dirty="0"/>
          </a:p>
        </p:txBody>
      </p:sp>
      <p:sp>
        <p:nvSpPr>
          <p:cNvPr id="8" name="Shape 6"/>
          <p:cNvSpPr/>
          <p:nvPr/>
        </p:nvSpPr>
        <p:spPr>
          <a:xfrm>
            <a:off x="548640" y="2054352"/>
            <a:ext cx="11094415" cy="451866"/>
          </a:xfrm>
          <a:prstGeom prst="roundRect">
            <a:avLst>
              <a:gd name="adj" fmla="val 14165"/>
            </a:avLst>
          </a:prstGeom>
          <a:solidFill>
            <a:srgbClr val="F8EAFA"/>
          </a:solidFill>
          <a:ln/>
        </p:spPr>
      </p:sp>
      <p:sp>
        <p:nvSpPr>
          <p:cNvPr id="9" name="Text 7"/>
          <p:cNvSpPr txBox="1"/>
          <p:nvPr/>
        </p:nvSpPr>
        <p:spPr>
          <a:xfrm>
            <a:off x="704088" y="212750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endometrium (G) (endometriyum): </a:t>
            </a:r>
            <a:r>
              <a:rPr lang="en-US" sz="1500" dirty="0">
                <a:solidFill>
                  <a:srgbClr val="1F2937"/>
                </a:solidFill>
                <a:latin typeface="Calibri" pitchFamily="34" charset="0"/>
                <a:ea typeface="Calibri" pitchFamily="34" charset="-122"/>
                <a:cs typeface="Calibri" pitchFamily="34" charset="-120"/>
              </a:rPr>
              <a:t>Döl yatağının mukoza tabakası, iç tabaka</a:t>
            </a:r>
            <a:endParaRPr lang="en-US" sz="1500" dirty="0"/>
          </a:p>
        </p:txBody>
      </p:sp>
      <p:sp>
        <p:nvSpPr>
          <p:cNvPr id="10" name="Shape 8"/>
          <p:cNvSpPr/>
          <p:nvPr/>
        </p:nvSpPr>
        <p:spPr>
          <a:xfrm>
            <a:off x="548640" y="2597658"/>
            <a:ext cx="11094415" cy="451866"/>
          </a:xfrm>
          <a:prstGeom prst="roundRect">
            <a:avLst>
              <a:gd name="adj" fmla="val 14165"/>
            </a:avLst>
          </a:prstGeom>
          <a:solidFill>
            <a:srgbClr val="F8EAFA"/>
          </a:solidFill>
          <a:ln/>
        </p:spPr>
      </p:sp>
      <p:sp>
        <p:nvSpPr>
          <p:cNvPr id="11" name="Text 9"/>
          <p:cNvSpPr txBox="1"/>
          <p:nvPr/>
        </p:nvSpPr>
        <p:spPr>
          <a:xfrm>
            <a:off x="704088" y="267081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myometrium (G) (miyometriyum): </a:t>
            </a:r>
            <a:r>
              <a:rPr lang="en-US" sz="1500" dirty="0">
                <a:solidFill>
                  <a:srgbClr val="1F2937"/>
                </a:solidFill>
                <a:latin typeface="Calibri" pitchFamily="34" charset="0"/>
                <a:ea typeface="Calibri" pitchFamily="34" charset="-122"/>
                <a:cs typeface="Calibri" pitchFamily="34" charset="-120"/>
              </a:rPr>
              <a:t>Döl yatağı duvarının düz kas hücrelerinden yapılmış orta katmanı, kas tabakası</a:t>
            </a:r>
            <a:endParaRPr lang="en-US" sz="1500" dirty="0"/>
          </a:p>
        </p:txBody>
      </p:sp>
      <p:sp>
        <p:nvSpPr>
          <p:cNvPr id="12" name="Shape 10"/>
          <p:cNvSpPr/>
          <p:nvPr/>
        </p:nvSpPr>
        <p:spPr>
          <a:xfrm>
            <a:off x="548640" y="3140964"/>
            <a:ext cx="11094415" cy="451866"/>
          </a:xfrm>
          <a:prstGeom prst="roundRect">
            <a:avLst>
              <a:gd name="adj" fmla="val 14165"/>
            </a:avLst>
          </a:prstGeom>
          <a:solidFill>
            <a:srgbClr val="F8EAFA"/>
          </a:solidFill>
          <a:ln/>
        </p:spPr>
      </p:sp>
      <p:sp>
        <p:nvSpPr>
          <p:cNvPr id="13" name="Text 11"/>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perimetrium (G) (perimetriyum): </a:t>
            </a:r>
            <a:r>
              <a:rPr lang="en-US" sz="1500" dirty="0">
                <a:solidFill>
                  <a:srgbClr val="1F2937"/>
                </a:solidFill>
                <a:latin typeface="Calibri" pitchFamily="34" charset="0"/>
                <a:ea typeface="Calibri" pitchFamily="34" charset="-122"/>
                <a:cs typeface="Calibri" pitchFamily="34" charset="-120"/>
              </a:rPr>
              <a:t>Döl yatağı duvarını saran seröz zar, dış tabaka</a:t>
            </a:r>
            <a:endParaRPr lang="en-US" sz="1500" dirty="0"/>
          </a:p>
        </p:txBody>
      </p:sp>
      <p:sp>
        <p:nvSpPr>
          <p:cNvPr id="14" name="Shape 12"/>
          <p:cNvSpPr/>
          <p:nvPr/>
        </p:nvSpPr>
        <p:spPr>
          <a:xfrm>
            <a:off x="548640" y="3684270"/>
            <a:ext cx="11094415" cy="451866"/>
          </a:xfrm>
          <a:prstGeom prst="roundRect">
            <a:avLst>
              <a:gd name="adj" fmla="val 14165"/>
            </a:avLst>
          </a:prstGeom>
          <a:solidFill>
            <a:srgbClr val="F8EAFA"/>
          </a:solidFill>
          <a:ln/>
        </p:spPr>
      </p:sp>
      <p:sp>
        <p:nvSpPr>
          <p:cNvPr id="15" name="Text 13"/>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cervix uteri (L) (serviks uteri): </a:t>
            </a:r>
            <a:r>
              <a:rPr lang="en-US" sz="1500" dirty="0">
                <a:solidFill>
                  <a:srgbClr val="1F2937"/>
                </a:solidFill>
                <a:latin typeface="Calibri" pitchFamily="34" charset="0"/>
                <a:ea typeface="Calibri" pitchFamily="34" charset="-122"/>
                <a:cs typeface="Calibri" pitchFamily="34" charset="-120"/>
              </a:rPr>
              <a:t>Uterusun vajina içerisine doğrusokulmuş bölümü</a:t>
            </a:r>
            <a:endParaRPr lang="en-US" sz="1500" dirty="0"/>
          </a:p>
        </p:txBody>
      </p:sp>
      <p:sp>
        <p:nvSpPr>
          <p:cNvPr id="16" name="Shape 14"/>
          <p:cNvSpPr/>
          <p:nvPr/>
        </p:nvSpPr>
        <p:spPr>
          <a:xfrm>
            <a:off x="548640" y="4227576"/>
            <a:ext cx="11094415" cy="451866"/>
          </a:xfrm>
          <a:prstGeom prst="roundRect">
            <a:avLst>
              <a:gd name="adj" fmla="val 14165"/>
            </a:avLst>
          </a:prstGeom>
          <a:solidFill>
            <a:srgbClr val="F8EAFA"/>
          </a:solidFill>
          <a:ln/>
        </p:spPr>
      </p:sp>
      <p:sp>
        <p:nvSpPr>
          <p:cNvPr id="17" name="Text 15"/>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vagina (L) (vajina): </a:t>
            </a:r>
            <a:r>
              <a:rPr lang="en-US" sz="1500" dirty="0">
                <a:solidFill>
                  <a:srgbClr val="1F2937"/>
                </a:solidFill>
                <a:latin typeface="Calibri" pitchFamily="34" charset="0"/>
                <a:ea typeface="Calibri" pitchFamily="34" charset="-122"/>
                <a:cs typeface="Calibri" pitchFamily="34" charset="-120"/>
              </a:rPr>
              <a:t>Döl yolu, kadın çiftleşme organı. Boru şeklindedir.</a:t>
            </a:r>
            <a:endParaRPr lang="en-US" sz="1500" dirty="0"/>
          </a:p>
        </p:txBody>
      </p:sp>
      <p:sp>
        <p:nvSpPr>
          <p:cNvPr id="18" name="Shape 16"/>
          <p:cNvSpPr/>
          <p:nvPr/>
        </p:nvSpPr>
        <p:spPr>
          <a:xfrm>
            <a:off x="548640" y="4770882"/>
            <a:ext cx="11094415" cy="451866"/>
          </a:xfrm>
          <a:prstGeom prst="roundRect">
            <a:avLst>
              <a:gd name="adj" fmla="val 14165"/>
            </a:avLst>
          </a:prstGeom>
          <a:solidFill>
            <a:srgbClr val="F8EAFA"/>
          </a:solidFill>
          <a:ln/>
        </p:spPr>
      </p:sp>
      <p:sp>
        <p:nvSpPr>
          <p:cNvPr id="19" name="Text 17"/>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colpos (L) (kolpos): </a:t>
            </a:r>
            <a:r>
              <a:rPr lang="en-US" sz="1500" dirty="0">
                <a:solidFill>
                  <a:srgbClr val="1F2937"/>
                </a:solidFill>
                <a:latin typeface="Calibri" pitchFamily="34" charset="0"/>
                <a:ea typeface="Calibri" pitchFamily="34" charset="-122"/>
                <a:cs typeface="Calibri" pitchFamily="34" charset="-120"/>
              </a:rPr>
              <a:t>Döl yolu</a:t>
            </a:r>
            <a:endParaRPr lang="en-US" sz="1500" dirty="0"/>
          </a:p>
        </p:txBody>
      </p:sp>
      <p:sp>
        <p:nvSpPr>
          <p:cNvPr id="20" name="Shape 18"/>
          <p:cNvSpPr/>
          <p:nvPr/>
        </p:nvSpPr>
        <p:spPr>
          <a:xfrm>
            <a:off x="548640" y="5314188"/>
            <a:ext cx="11094415" cy="451866"/>
          </a:xfrm>
          <a:prstGeom prst="roundRect">
            <a:avLst>
              <a:gd name="adj" fmla="val 14165"/>
            </a:avLst>
          </a:prstGeom>
          <a:solidFill>
            <a:srgbClr val="F8EAFA"/>
          </a:solidFill>
          <a:ln/>
        </p:spPr>
      </p:sp>
      <p:sp>
        <p:nvSpPr>
          <p:cNvPr id="21" name="Text 19"/>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vulva (L): </a:t>
            </a:r>
            <a:r>
              <a:rPr lang="en-US" sz="1500" dirty="0">
                <a:solidFill>
                  <a:srgbClr val="1F2937"/>
                </a:solidFill>
                <a:latin typeface="Calibri" pitchFamily="34" charset="0"/>
                <a:ea typeface="Calibri" pitchFamily="34" charset="-122"/>
                <a:cs typeface="Calibri" pitchFamily="34" charset="-120"/>
              </a:rPr>
              <a:t>Kadında dıştan görülen genital organların hepsine verilen isim</a:t>
            </a:r>
            <a:endParaRPr lang="en-US" sz="1500" dirty="0"/>
          </a:p>
        </p:txBody>
      </p:sp>
      <p:sp>
        <p:nvSpPr>
          <p:cNvPr id="22" name="Shape 20"/>
          <p:cNvSpPr/>
          <p:nvPr/>
        </p:nvSpPr>
        <p:spPr>
          <a:xfrm>
            <a:off x="548640" y="5857494"/>
            <a:ext cx="11094415" cy="451866"/>
          </a:xfrm>
          <a:prstGeom prst="roundRect">
            <a:avLst>
              <a:gd name="adj" fmla="val 14165"/>
            </a:avLst>
          </a:prstGeom>
          <a:solidFill>
            <a:srgbClr val="F8EAFA"/>
          </a:solidFill>
          <a:ln/>
        </p:spPr>
      </p:sp>
      <p:sp>
        <p:nvSpPr>
          <p:cNvPr id="23" name="Text 21"/>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hymen (G) (himen): </a:t>
            </a:r>
            <a:r>
              <a:rPr lang="en-US" sz="1500" dirty="0">
                <a:solidFill>
                  <a:srgbClr val="1F2937"/>
                </a:solidFill>
                <a:latin typeface="Calibri" pitchFamily="34" charset="0"/>
                <a:ea typeface="Calibri" pitchFamily="34" charset="-122"/>
                <a:cs typeface="Calibri" pitchFamily="34" charset="-120"/>
              </a:rPr>
              <a:t>Kızlık zarı. Vajinanın açıldığı deliği kapayan zar. İlk çiftleşmede yırtılır</a:t>
            </a:r>
            <a:endParaRPr lang="en-US" sz="150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257</a:t>
            </a:r>
            <a:endParaRPr lang="en-US" sz="1000" dirty="0"/>
          </a:p>
        </p:txBody>
      </p:sp>
      <p:sp>
        <p:nvSpPr>
          <p:cNvPr id="6" name="Shape 4"/>
          <p:cNvSpPr/>
          <p:nvPr/>
        </p:nvSpPr>
        <p:spPr>
          <a:xfrm>
            <a:off x="548640" y="1782166"/>
            <a:ext cx="11094415" cy="421742"/>
          </a:xfrm>
          <a:prstGeom prst="roundRect">
            <a:avLst>
              <a:gd name="adj" fmla="val 15177"/>
            </a:avLst>
          </a:prstGeom>
          <a:solidFill>
            <a:srgbClr val="F8EAFA"/>
          </a:solidFill>
          <a:ln/>
        </p:spPr>
      </p:sp>
      <p:sp>
        <p:nvSpPr>
          <p:cNvPr id="7" name="Text 5"/>
          <p:cNvSpPr txBox="1"/>
          <p:nvPr/>
        </p:nvSpPr>
        <p:spPr>
          <a:xfrm>
            <a:off x="704088" y="185531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Erkek Genital Sistemi</a:t>
            </a:r>
            <a:endParaRPr lang="en-US" sz="1400" dirty="0"/>
          </a:p>
        </p:txBody>
      </p:sp>
      <p:sp>
        <p:nvSpPr>
          <p:cNvPr id="8" name="Shape 6"/>
          <p:cNvSpPr/>
          <p:nvPr/>
        </p:nvSpPr>
        <p:spPr>
          <a:xfrm>
            <a:off x="548640" y="2295347"/>
            <a:ext cx="11094415" cy="421742"/>
          </a:xfrm>
          <a:prstGeom prst="roundRect">
            <a:avLst>
              <a:gd name="adj" fmla="val 15177"/>
            </a:avLst>
          </a:prstGeom>
          <a:solidFill>
            <a:srgbClr val="F8EAFA"/>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hematospermia (G) (hematospermi): </a:t>
            </a:r>
            <a:r>
              <a:rPr lang="en-US" sz="1400" dirty="0">
                <a:solidFill>
                  <a:srgbClr val="1F2937"/>
                </a:solidFill>
                <a:latin typeface="Calibri" pitchFamily="34" charset="0"/>
                <a:ea typeface="Calibri" pitchFamily="34" charset="-122"/>
                <a:cs typeface="Calibri" pitchFamily="34" charset="-120"/>
              </a:rPr>
              <a:t>Spermanın kanlı olması</a:t>
            </a:r>
            <a:endParaRPr lang="en-US" sz="1400" dirty="0"/>
          </a:p>
        </p:txBody>
      </p:sp>
      <p:sp>
        <p:nvSpPr>
          <p:cNvPr id="10" name="Shape 8"/>
          <p:cNvSpPr/>
          <p:nvPr/>
        </p:nvSpPr>
        <p:spPr>
          <a:xfrm>
            <a:off x="548640" y="2808529"/>
            <a:ext cx="11094415" cy="421742"/>
          </a:xfrm>
          <a:prstGeom prst="roundRect">
            <a:avLst>
              <a:gd name="adj" fmla="val 15177"/>
            </a:avLst>
          </a:prstGeom>
          <a:solidFill>
            <a:srgbClr val="F8EAFA"/>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aspermia (G) (aspermi): </a:t>
            </a:r>
            <a:r>
              <a:rPr lang="en-US" sz="1400" dirty="0">
                <a:solidFill>
                  <a:srgbClr val="1F2937"/>
                </a:solidFill>
                <a:latin typeface="Calibri" pitchFamily="34" charset="0"/>
                <a:ea typeface="Calibri" pitchFamily="34" charset="-122"/>
                <a:cs typeface="Calibri" pitchFamily="34" charset="-120"/>
              </a:rPr>
              <a:t>Sperm sıvısının olmaması</a:t>
            </a:r>
            <a:endParaRPr lang="en-US" sz="1400" dirty="0"/>
          </a:p>
        </p:txBody>
      </p:sp>
      <p:sp>
        <p:nvSpPr>
          <p:cNvPr id="12" name="Shape 10"/>
          <p:cNvSpPr/>
          <p:nvPr/>
        </p:nvSpPr>
        <p:spPr>
          <a:xfrm>
            <a:off x="548640" y="3321710"/>
            <a:ext cx="11094415" cy="421742"/>
          </a:xfrm>
          <a:prstGeom prst="roundRect">
            <a:avLst>
              <a:gd name="adj" fmla="val 15177"/>
            </a:avLst>
          </a:prstGeom>
          <a:solidFill>
            <a:srgbClr val="F8EAFA"/>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azoospermia (G) (azospermi): </a:t>
            </a:r>
            <a:r>
              <a:rPr lang="en-US" sz="1400" dirty="0">
                <a:solidFill>
                  <a:srgbClr val="1F2937"/>
                </a:solidFill>
                <a:latin typeface="Calibri" pitchFamily="34" charset="0"/>
                <a:ea typeface="Calibri" pitchFamily="34" charset="-122"/>
                <a:cs typeface="Calibri" pitchFamily="34" charset="-120"/>
              </a:rPr>
              <a:t>Sperumada spermiumun olmaması</a:t>
            </a:r>
            <a:endParaRPr lang="en-US" sz="1400" dirty="0"/>
          </a:p>
        </p:txBody>
      </p:sp>
      <p:sp>
        <p:nvSpPr>
          <p:cNvPr id="14" name="Shape 12"/>
          <p:cNvSpPr/>
          <p:nvPr/>
        </p:nvSpPr>
        <p:spPr>
          <a:xfrm>
            <a:off x="548640" y="3834892"/>
            <a:ext cx="11094415" cy="421742"/>
          </a:xfrm>
          <a:prstGeom prst="roundRect">
            <a:avLst>
              <a:gd name="adj" fmla="val 15177"/>
            </a:avLst>
          </a:prstGeom>
          <a:solidFill>
            <a:srgbClr val="F8EAFA"/>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oligospermia (G) (oligospermi): </a:t>
            </a:r>
            <a:r>
              <a:rPr lang="en-US" sz="1400" dirty="0">
                <a:solidFill>
                  <a:srgbClr val="1F2937"/>
                </a:solidFill>
                <a:latin typeface="Calibri" pitchFamily="34" charset="0"/>
                <a:ea typeface="Calibri" pitchFamily="34" charset="-122"/>
                <a:cs typeface="Calibri" pitchFamily="34" charset="-120"/>
              </a:rPr>
              <a:t>Spermada normalden az spermium bulunması</a:t>
            </a:r>
            <a:endParaRPr lang="en-US" sz="1400" dirty="0"/>
          </a:p>
        </p:txBody>
      </p:sp>
      <p:sp>
        <p:nvSpPr>
          <p:cNvPr id="16" name="Shape 14"/>
          <p:cNvSpPr/>
          <p:nvPr/>
        </p:nvSpPr>
        <p:spPr>
          <a:xfrm>
            <a:off x="548640" y="4348074"/>
            <a:ext cx="11094415" cy="421742"/>
          </a:xfrm>
          <a:prstGeom prst="roundRect">
            <a:avLst>
              <a:gd name="adj" fmla="val 15177"/>
            </a:avLst>
          </a:prstGeom>
          <a:solidFill>
            <a:srgbClr val="F8EAFA"/>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necrospermia (G) (nekrospermi): </a:t>
            </a:r>
            <a:r>
              <a:rPr lang="en-US" sz="1400" dirty="0">
                <a:solidFill>
                  <a:srgbClr val="1F2937"/>
                </a:solidFill>
                <a:latin typeface="Calibri" pitchFamily="34" charset="0"/>
                <a:ea typeface="Calibri" pitchFamily="34" charset="-122"/>
                <a:cs typeface="Calibri" pitchFamily="34" charset="-120"/>
              </a:rPr>
              <a:t>Spermada bulunan spermiyumların hepsinin ölü olması</a:t>
            </a:r>
            <a:endParaRPr lang="en-US" sz="1400" dirty="0"/>
          </a:p>
        </p:txBody>
      </p:sp>
      <p:sp>
        <p:nvSpPr>
          <p:cNvPr id="18" name="Shape 16"/>
          <p:cNvSpPr/>
          <p:nvPr/>
        </p:nvSpPr>
        <p:spPr>
          <a:xfrm>
            <a:off x="548640" y="4861255"/>
            <a:ext cx="11094415" cy="421742"/>
          </a:xfrm>
          <a:prstGeom prst="roundRect">
            <a:avLst>
              <a:gd name="adj" fmla="val 15177"/>
            </a:avLst>
          </a:prstGeom>
          <a:solidFill>
            <a:srgbClr val="F8EAFA"/>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F2937"/>
                </a:solidFill>
                <a:latin typeface="Calibri" pitchFamily="34" charset="0"/>
                <a:ea typeface="Calibri" pitchFamily="34" charset="-122"/>
                <a:cs typeface="Calibri" pitchFamily="34" charset="-120"/>
              </a:rPr>
              <a:t>Kadın Genital Sistemi</a:t>
            </a:r>
            <a:endParaRPr lang="en-US" sz="1400" dirty="0"/>
          </a:p>
        </p:txBody>
      </p:sp>
      <p:sp>
        <p:nvSpPr>
          <p:cNvPr id="20" name="Shape 18"/>
          <p:cNvSpPr/>
          <p:nvPr/>
        </p:nvSpPr>
        <p:spPr>
          <a:xfrm>
            <a:off x="548640" y="5374437"/>
            <a:ext cx="11094415" cy="421742"/>
          </a:xfrm>
          <a:prstGeom prst="roundRect">
            <a:avLst>
              <a:gd name="adj" fmla="val 15177"/>
            </a:avLst>
          </a:prstGeom>
          <a:solidFill>
            <a:srgbClr val="F8EAFA"/>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menstruation (L) (menstruasyon): </a:t>
            </a:r>
            <a:r>
              <a:rPr lang="en-US" sz="1400" dirty="0">
                <a:solidFill>
                  <a:srgbClr val="1F2937"/>
                </a:solidFill>
                <a:latin typeface="Calibri" pitchFamily="34" charset="0"/>
                <a:ea typeface="Calibri" pitchFamily="34" charset="-122"/>
                <a:cs typeface="Calibri" pitchFamily="34" charset="-120"/>
              </a:rPr>
              <a:t>Dört haftada bir ergenlik çağına girmiş kız ve kadınlarda genital kanama, adet görme</a:t>
            </a:r>
            <a:endParaRPr lang="en-US" sz="1400" dirty="0"/>
          </a:p>
        </p:txBody>
      </p:sp>
      <p:sp>
        <p:nvSpPr>
          <p:cNvPr id="22" name="Shape 20"/>
          <p:cNvSpPr/>
          <p:nvPr/>
        </p:nvSpPr>
        <p:spPr>
          <a:xfrm>
            <a:off x="548640" y="5887618"/>
            <a:ext cx="11094415" cy="421742"/>
          </a:xfrm>
          <a:prstGeom prst="roundRect">
            <a:avLst>
              <a:gd name="adj" fmla="val 15177"/>
            </a:avLst>
          </a:prstGeom>
          <a:solidFill>
            <a:srgbClr val="F8EAFA"/>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menorrhea (G) (menore): </a:t>
            </a:r>
            <a:r>
              <a:rPr lang="en-US" sz="1400" dirty="0">
                <a:solidFill>
                  <a:srgbClr val="1F2937"/>
                </a:solidFill>
                <a:latin typeface="Calibri" pitchFamily="34" charset="0"/>
                <a:ea typeface="Calibri" pitchFamily="34" charset="-122"/>
                <a:cs typeface="Calibri" pitchFamily="34" charset="-120"/>
              </a:rPr>
              <a:t>Adet kanamasının süre ve miktar bakımından normal oluşu, normal adet</a:t>
            </a:r>
            <a:endParaRPr lang="en-US" sz="14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8EAFA"/>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258</a:t>
            </a:r>
            <a:endParaRPr lang="en-US" sz="1000" dirty="0"/>
          </a:p>
        </p:txBody>
      </p:sp>
      <p:sp>
        <p:nvSpPr>
          <p:cNvPr id="6" name="Shape 4"/>
          <p:cNvSpPr/>
          <p:nvPr/>
        </p:nvSpPr>
        <p:spPr>
          <a:xfrm>
            <a:off x="548640" y="1511046"/>
            <a:ext cx="11094415" cy="451866"/>
          </a:xfrm>
          <a:prstGeom prst="roundRect">
            <a:avLst>
              <a:gd name="adj" fmla="val 14165"/>
            </a:avLst>
          </a:prstGeom>
          <a:solidFill>
            <a:srgbClr val="F8EAFA"/>
          </a:solidFill>
          <a:ln/>
        </p:spPr>
      </p:sp>
      <p:sp>
        <p:nvSpPr>
          <p:cNvPr id="7" name="Text 5"/>
          <p:cNvSpPr txBox="1"/>
          <p:nvPr/>
        </p:nvSpPr>
        <p:spPr>
          <a:xfrm>
            <a:off x="704088" y="158419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amenorrhea (G) (amenore): </a:t>
            </a:r>
            <a:r>
              <a:rPr lang="en-US" sz="1500" dirty="0">
                <a:solidFill>
                  <a:srgbClr val="1F2937"/>
                </a:solidFill>
                <a:latin typeface="Calibri" pitchFamily="34" charset="0"/>
                <a:ea typeface="Calibri" pitchFamily="34" charset="-122"/>
                <a:cs typeface="Calibri" pitchFamily="34" charset="-120"/>
              </a:rPr>
              <a:t>Adet kanamasının olmaması</a:t>
            </a:r>
            <a:endParaRPr lang="en-US" sz="1500" dirty="0"/>
          </a:p>
        </p:txBody>
      </p:sp>
      <p:sp>
        <p:nvSpPr>
          <p:cNvPr id="8" name="Shape 6"/>
          <p:cNvSpPr/>
          <p:nvPr/>
        </p:nvSpPr>
        <p:spPr>
          <a:xfrm>
            <a:off x="548640" y="2054352"/>
            <a:ext cx="11094415" cy="451866"/>
          </a:xfrm>
          <a:prstGeom prst="roundRect">
            <a:avLst>
              <a:gd name="adj" fmla="val 14165"/>
            </a:avLst>
          </a:prstGeom>
          <a:solidFill>
            <a:srgbClr val="F8EAFA"/>
          </a:solidFill>
          <a:ln/>
        </p:spPr>
      </p:sp>
      <p:sp>
        <p:nvSpPr>
          <p:cNvPr id="9" name="Text 7"/>
          <p:cNvSpPr txBox="1"/>
          <p:nvPr/>
        </p:nvSpPr>
        <p:spPr>
          <a:xfrm>
            <a:off x="704088" y="212750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dysmenorrhea (G) (dismenore): </a:t>
            </a:r>
            <a:r>
              <a:rPr lang="en-US" sz="1500" dirty="0">
                <a:solidFill>
                  <a:srgbClr val="1F2937"/>
                </a:solidFill>
                <a:latin typeface="Calibri" pitchFamily="34" charset="0"/>
                <a:ea typeface="Calibri" pitchFamily="34" charset="-122"/>
                <a:cs typeface="Calibri" pitchFamily="34" charset="-120"/>
              </a:rPr>
              <a:t>Adet kanamasının ağrılı olması</a:t>
            </a:r>
            <a:endParaRPr lang="en-US" sz="1500" dirty="0"/>
          </a:p>
        </p:txBody>
      </p:sp>
      <p:sp>
        <p:nvSpPr>
          <p:cNvPr id="10" name="Shape 8"/>
          <p:cNvSpPr/>
          <p:nvPr/>
        </p:nvSpPr>
        <p:spPr>
          <a:xfrm>
            <a:off x="548640" y="2597658"/>
            <a:ext cx="11094415" cy="451866"/>
          </a:xfrm>
          <a:prstGeom prst="roundRect">
            <a:avLst>
              <a:gd name="adj" fmla="val 14165"/>
            </a:avLst>
          </a:prstGeom>
          <a:solidFill>
            <a:srgbClr val="F8EAFA"/>
          </a:solidFill>
          <a:ln/>
        </p:spPr>
      </p:sp>
      <p:sp>
        <p:nvSpPr>
          <p:cNvPr id="11" name="Text 9"/>
          <p:cNvSpPr txBox="1"/>
          <p:nvPr/>
        </p:nvSpPr>
        <p:spPr>
          <a:xfrm>
            <a:off x="704088" y="267081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hypermenorrhea, menorrhagia (G) (hipermenore, menoraji): </a:t>
            </a:r>
            <a:r>
              <a:rPr lang="en-US" sz="1500" dirty="0">
                <a:solidFill>
                  <a:srgbClr val="1F2937"/>
                </a:solidFill>
                <a:latin typeface="Calibri" pitchFamily="34" charset="0"/>
                <a:ea typeface="Calibri" pitchFamily="34" charset="-122"/>
                <a:cs typeface="Calibri" pitchFamily="34" charset="-120"/>
              </a:rPr>
              <a:t>Adet kanamasının aşırı olması ve uzun sürmesi</a:t>
            </a:r>
            <a:endParaRPr lang="en-US" sz="1500" dirty="0"/>
          </a:p>
        </p:txBody>
      </p:sp>
      <p:sp>
        <p:nvSpPr>
          <p:cNvPr id="12" name="Shape 10"/>
          <p:cNvSpPr/>
          <p:nvPr/>
        </p:nvSpPr>
        <p:spPr>
          <a:xfrm>
            <a:off x="548640" y="3140964"/>
            <a:ext cx="11094415" cy="451866"/>
          </a:xfrm>
          <a:prstGeom prst="roundRect">
            <a:avLst>
              <a:gd name="adj" fmla="val 14165"/>
            </a:avLst>
          </a:prstGeom>
          <a:solidFill>
            <a:srgbClr val="F8EAFA"/>
          </a:solidFill>
          <a:ln/>
        </p:spPr>
      </p:sp>
      <p:sp>
        <p:nvSpPr>
          <p:cNvPr id="13" name="Text 11"/>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hypomenorrhea (G) (hipomenore): </a:t>
            </a:r>
            <a:r>
              <a:rPr lang="en-US" sz="1500" dirty="0">
                <a:solidFill>
                  <a:srgbClr val="1F2937"/>
                </a:solidFill>
                <a:latin typeface="Calibri" pitchFamily="34" charset="0"/>
                <a:ea typeface="Calibri" pitchFamily="34" charset="-122"/>
                <a:cs typeface="Calibri" pitchFamily="34" charset="-120"/>
              </a:rPr>
              <a:t>Adet kanamasının süre ve miktar olarak az olması</a:t>
            </a:r>
            <a:endParaRPr lang="en-US" sz="1500" dirty="0"/>
          </a:p>
        </p:txBody>
      </p:sp>
      <p:sp>
        <p:nvSpPr>
          <p:cNvPr id="14" name="Shape 12"/>
          <p:cNvSpPr/>
          <p:nvPr/>
        </p:nvSpPr>
        <p:spPr>
          <a:xfrm>
            <a:off x="548640" y="3684270"/>
            <a:ext cx="11094415" cy="451866"/>
          </a:xfrm>
          <a:prstGeom prst="roundRect">
            <a:avLst>
              <a:gd name="adj" fmla="val 14165"/>
            </a:avLst>
          </a:prstGeom>
          <a:solidFill>
            <a:srgbClr val="F8EAFA"/>
          </a:solidFill>
          <a:ln/>
        </p:spPr>
      </p:sp>
      <p:sp>
        <p:nvSpPr>
          <p:cNvPr id="15" name="Text 13"/>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oligomenorrhea (G) (oligomenore): </a:t>
            </a:r>
            <a:r>
              <a:rPr lang="en-US" sz="1500" dirty="0">
                <a:solidFill>
                  <a:srgbClr val="1F2937"/>
                </a:solidFill>
                <a:latin typeface="Calibri" pitchFamily="34" charset="0"/>
                <a:ea typeface="Calibri" pitchFamily="34" charset="-122"/>
                <a:cs typeface="Calibri" pitchFamily="34" charset="-120"/>
              </a:rPr>
              <a:t>Seyrek adet görme</a:t>
            </a:r>
            <a:endParaRPr lang="en-US" sz="1500" dirty="0"/>
          </a:p>
        </p:txBody>
      </p:sp>
      <p:sp>
        <p:nvSpPr>
          <p:cNvPr id="16" name="Shape 14"/>
          <p:cNvSpPr/>
          <p:nvPr/>
        </p:nvSpPr>
        <p:spPr>
          <a:xfrm>
            <a:off x="548640" y="4227576"/>
            <a:ext cx="11094415" cy="451866"/>
          </a:xfrm>
          <a:prstGeom prst="roundRect">
            <a:avLst>
              <a:gd name="adj" fmla="val 14165"/>
            </a:avLst>
          </a:prstGeom>
          <a:solidFill>
            <a:srgbClr val="F8EAFA"/>
          </a:solidFill>
          <a:ln/>
        </p:spPr>
      </p:sp>
      <p:sp>
        <p:nvSpPr>
          <p:cNvPr id="17" name="Text 15"/>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polymenorrhea (G) (polimenore): </a:t>
            </a:r>
            <a:r>
              <a:rPr lang="en-US" sz="1500" dirty="0">
                <a:solidFill>
                  <a:srgbClr val="1F2937"/>
                </a:solidFill>
                <a:latin typeface="Calibri" pitchFamily="34" charset="0"/>
                <a:ea typeface="Calibri" pitchFamily="34" charset="-122"/>
                <a:cs typeface="Calibri" pitchFamily="34" charset="-120"/>
              </a:rPr>
              <a:t>Sık adet görme</a:t>
            </a:r>
            <a:endParaRPr lang="en-US" sz="1500" dirty="0"/>
          </a:p>
        </p:txBody>
      </p:sp>
      <p:sp>
        <p:nvSpPr>
          <p:cNvPr id="18" name="Shape 16"/>
          <p:cNvSpPr/>
          <p:nvPr/>
        </p:nvSpPr>
        <p:spPr>
          <a:xfrm>
            <a:off x="548640" y="4770882"/>
            <a:ext cx="11094415" cy="451866"/>
          </a:xfrm>
          <a:prstGeom prst="roundRect">
            <a:avLst>
              <a:gd name="adj" fmla="val 14165"/>
            </a:avLst>
          </a:prstGeom>
          <a:solidFill>
            <a:srgbClr val="F8EAFA"/>
          </a:solidFill>
          <a:ln/>
        </p:spPr>
      </p:sp>
      <p:sp>
        <p:nvSpPr>
          <p:cNvPr id="19" name="Text 17"/>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metrorrhagia (G) (metroraji): </a:t>
            </a:r>
            <a:r>
              <a:rPr lang="en-US" sz="1500" dirty="0">
                <a:solidFill>
                  <a:srgbClr val="1F2937"/>
                </a:solidFill>
                <a:latin typeface="Calibri" pitchFamily="34" charset="0"/>
                <a:ea typeface="Calibri" pitchFamily="34" charset="-122"/>
                <a:cs typeface="Calibri" pitchFamily="34" charset="-120"/>
              </a:rPr>
              <a:t>Adet kanaması dışında kanama olması</a:t>
            </a:r>
            <a:endParaRPr lang="en-US" sz="1500" dirty="0"/>
          </a:p>
        </p:txBody>
      </p:sp>
      <p:sp>
        <p:nvSpPr>
          <p:cNvPr id="20" name="Shape 18"/>
          <p:cNvSpPr/>
          <p:nvPr/>
        </p:nvSpPr>
        <p:spPr>
          <a:xfrm>
            <a:off x="548640" y="5314188"/>
            <a:ext cx="11094415" cy="451866"/>
          </a:xfrm>
          <a:prstGeom prst="roundRect">
            <a:avLst>
              <a:gd name="adj" fmla="val 14165"/>
            </a:avLst>
          </a:prstGeom>
          <a:solidFill>
            <a:srgbClr val="F8EAFA"/>
          </a:solidFill>
          <a:ln/>
        </p:spPr>
      </p:sp>
      <p:sp>
        <p:nvSpPr>
          <p:cNvPr id="21" name="Text 19"/>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colporrhea (L) (kolpore): </a:t>
            </a:r>
            <a:r>
              <a:rPr lang="en-US" sz="1500" dirty="0">
                <a:solidFill>
                  <a:srgbClr val="1F2937"/>
                </a:solidFill>
                <a:latin typeface="Calibri" pitchFamily="34" charset="0"/>
                <a:ea typeface="Calibri" pitchFamily="34" charset="-122"/>
                <a:cs typeface="Calibri" pitchFamily="34" charset="-120"/>
              </a:rPr>
              <a:t>Vajinal akıntı</a:t>
            </a:r>
            <a:endParaRPr lang="en-US" sz="1500" dirty="0"/>
          </a:p>
        </p:txBody>
      </p:sp>
      <p:sp>
        <p:nvSpPr>
          <p:cNvPr id="22" name="Shape 20"/>
          <p:cNvSpPr/>
          <p:nvPr/>
        </p:nvSpPr>
        <p:spPr>
          <a:xfrm>
            <a:off x="548640" y="5857494"/>
            <a:ext cx="11094415" cy="451866"/>
          </a:xfrm>
          <a:prstGeom prst="roundRect">
            <a:avLst>
              <a:gd name="adj" fmla="val 14165"/>
            </a:avLst>
          </a:prstGeom>
          <a:solidFill>
            <a:srgbClr val="F8EAFA"/>
          </a:solidFill>
          <a:ln/>
        </p:spPr>
      </p:sp>
      <p:sp>
        <p:nvSpPr>
          <p:cNvPr id="23" name="Text 21"/>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pruritis vulva (L): </a:t>
            </a:r>
            <a:r>
              <a:rPr lang="en-US" sz="1500" dirty="0">
                <a:solidFill>
                  <a:srgbClr val="1F2937"/>
                </a:solidFill>
                <a:latin typeface="Calibri" pitchFamily="34" charset="0"/>
                <a:ea typeface="Calibri" pitchFamily="34" charset="-122"/>
                <a:cs typeface="Calibri" pitchFamily="34" charset="-120"/>
              </a:rPr>
              <a:t>Vulvada şiddetli kaşıntı olması</a:t>
            </a:r>
            <a:endParaRPr lang="en-US" sz="15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259</a:t>
            </a:r>
            <a:endParaRPr lang="en-US" sz="1000" dirty="0"/>
          </a:p>
        </p:txBody>
      </p:sp>
      <p:sp>
        <p:nvSpPr>
          <p:cNvPr id="6" name="Shape 4"/>
          <p:cNvSpPr/>
          <p:nvPr/>
        </p:nvSpPr>
        <p:spPr>
          <a:xfrm>
            <a:off x="548640" y="1488567"/>
            <a:ext cx="11094415" cy="916686"/>
          </a:xfrm>
          <a:prstGeom prst="roundRect">
            <a:avLst>
              <a:gd name="adj" fmla="val 6983"/>
            </a:avLst>
          </a:prstGeom>
          <a:solidFill>
            <a:srgbClr val="F8EAFA"/>
          </a:solidFill>
          <a:ln/>
        </p:spPr>
      </p:sp>
      <p:sp>
        <p:nvSpPr>
          <p:cNvPr id="7" name="Text 5"/>
          <p:cNvSpPr txBox="1"/>
          <p:nvPr/>
        </p:nvSpPr>
        <p:spPr>
          <a:xfrm>
            <a:off x="704088" y="1561719"/>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benign prostat hipertrofisi: </a:t>
            </a:r>
            <a:r>
              <a:rPr lang="en-US" sz="1500" dirty="0">
                <a:solidFill>
                  <a:srgbClr val="1F2937"/>
                </a:solidFill>
                <a:latin typeface="Calibri" pitchFamily="34" charset="0"/>
                <a:ea typeface="Calibri" pitchFamily="34" charset="-122"/>
                <a:cs typeface="Calibri" pitchFamily="34" charset="-120"/>
              </a:rPr>
              <a:t>Prostat bezi üretra, mesane ve rektuma doğru büyüyerek idrar kanalında daralmaya yol açar. 50 yaşın üstündeki erkeklerde sık görülür</a:t>
            </a:r>
            <a:endParaRPr lang="en-US" sz="1500" dirty="0"/>
          </a:p>
        </p:txBody>
      </p:sp>
      <p:sp>
        <p:nvSpPr>
          <p:cNvPr id="8" name="Shape 6"/>
          <p:cNvSpPr/>
          <p:nvPr/>
        </p:nvSpPr>
        <p:spPr>
          <a:xfrm>
            <a:off x="548640" y="2522220"/>
            <a:ext cx="5410048" cy="451866"/>
          </a:xfrm>
          <a:prstGeom prst="roundRect">
            <a:avLst>
              <a:gd name="adj" fmla="val 14165"/>
            </a:avLst>
          </a:prstGeom>
          <a:solidFill>
            <a:srgbClr val="F8EAFA"/>
          </a:solidFill>
          <a:ln/>
        </p:spPr>
      </p:sp>
      <p:sp>
        <p:nvSpPr>
          <p:cNvPr id="9" name="Text 7"/>
          <p:cNvSpPr txBox="1"/>
          <p:nvPr/>
        </p:nvSpPr>
        <p:spPr>
          <a:xfrm>
            <a:off x="704088" y="259537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Erkek Genital Sistemi</a:t>
            </a:r>
            <a:endParaRPr lang="en-US" sz="1500" dirty="0"/>
          </a:p>
        </p:txBody>
      </p:sp>
      <p:sp>
        <p:nvSpPr>
          <p:cNvPr id="10" name="Shape 8"/>
          <p:cNvSpPr/>
          <p:nvPr/>
        </p:nvSpPr>
        <p:spPr>
          <a:xfrm>
            <a:off x="548640" y="3065526"/>
            <a:ext cx="5410048" cy="684276"/>
          </a:xfrm>
          <a:prstGeom prst="roundRect">
            <a:avLst>
              <a:gd name="adj" fmla="val 9354"/>
            </a:avLst>
          </a:prstGeom>
          <a:solidFill>
            <a:srgbClr val="F8EAFA"/>
          </a:solidFill>
          <a:ln/>
        </p:spPr>
      </p:sp>
      <p:sp>
        <p:nvSpPr>
          <p:cNvPr id="11" name="Text 9"/>
          <p:cNvSpPr txBox="1"/>
          <p:nvPr/>
        </p:nvSpPr>
        <p:spPr>
          <a:xfrm>
            <a:off x="704088"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cryptorchism (G) (kriptoşizm): </a:t>
            </a:r>
            <a:r>
              <a:rPr lang="en-US" sz="1500" dirty="0">
                <a:solidFill>
                  <a:srgbClr val="1F2937"/>
                </a:solidFill>
                <a:latin typeface="Calibri" pitchFamily="34" charset="0"/>
                <a:ea typeface="Calibri" pitchFamily="34" charset="-122"/>
                <a:cs typeface="Calibri" pitchFamily="34" charset="-120"/>
              </a:rPr>
              <a:t>Testislerin skrotuma inmemesi, inmemiş testis</a:t>
            </a:r>
            <a:endParaRPr lang="en-US" sz="1500" dirty="0"/>
          </a:p>
        </p:txBody>
      </p:sp>
      <p:sp>
        <p:nvSpPr>
          <p:cNvPr id="12" name="Shape 10"/>
          <p:cNvSpPr/>
          <p:nvPr/>
        </p:nvSpPr>
        <p:spPr>
          <a:xfrm>
            <a:off x="548640" y="3841242"/>
            <a:ext cx="5410048" cy="916686"/>
          </a:xfrm>
          <a:prstGeom prst="roundRect">
            <a:avLst>
              <a:gd name="adj" fmla="val 6983"/>
            </a:avLst>
          </a:prstGeom>
          <a:solidFill>
            <a:srgbClr val="F8EAFA"/>
          </a:solidFill>
          <a:ln/>
        </p:spPr>
      </p:sp>
      <p:sp>
        <p:nvSpPr>
          <p:cNvPr id="13" name="Text 11"/>
          <p:cNvSpPr txBox="1"/>
          <p:nvPr/>
        </p:nvSpPr>
        <p:spPr>
          <a:xfrm>
            <a:off x="704088" y="3914394"/>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retractile testis (L) (retraktil testis): </a:t>
            </a:r>
            <a:r>
              <a:rPr lang="en-US" sz="1500" dirty="0">
                <a:solidFill>
                  <a:srgbClr val="1F2937"/>
                </a:solidFill>
                <a:latin typeface="Calibri" pitchFamily="34" charset="0"/>
                <a:ea typeface="Calibri" pitchFamily="34" charset="-122"/>
                <a:cs typeface="Calibri" pitchFamily="34" charset="-120"/>
              </a:rPr>
              <a:t>Testisin bazen skrotuma inerken, bazen inguinal kanala geri döndüğü durum</a:t>
            </a:r>
            <a:endParaRPr lang="en-US" sz="1500" dirty="0"/>
          </a:p>
        </p:txBody>
      </p:sp>
      <p:sp>
        <p:nvSpPr>
          <p:cNvPr id="14" name="Shape 12"/>
          <p:cNvSpPr/>
          <p:nvPr/>
        </p:nvSpPr>
        <p:spPr>
          <a:xfrm>
            <a:off x="548640" y="4849368"/>
            <a:ext cx="5410048" cy="684276"/>
          </a:xfrm>
          <a:prstGeom prst="roundRect">
            <a:avLst>
              <a:gd name="adj" fmla="val 9354"/>
            </a:avLst>
          </a:prstGeom>
          <a:solidFill>
            <a:srgbClr val="F8EAFA"/>
          </a:solidFill>
          <a:ln/>
        </p:spPr>
      </p:sp>
      <p:sp>
        <p:nvSpPr>
          <p:cNvPr id="15" name="Text 13"/>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hydrocele (G) (hidrosel): </a:t>
            </a:r>
            <a:r>
              <a:rPr lang="en-US" sz="1500" dirty="0">
                <a:solidFill>
                  <a:srgbClr val="1F2937"/>
                </a:solidFill>
                <a:latin typeface="Calibri" pitchFamily="34" charset="0"/>
                <a:ea typeface="Calibri" pitchFamily="34" charset="-122"/>
                <a:cs typeface="Calibri" pitchFamily="34" charset="-120"/>
              </a:rPr>
              <a:t>Tunika vajinalis içinde sıvı birikmesi</a:t>
            </a:r>
            <a:endParaRPr lang="en-US" sz="1500" dirty="0"/>
          </a:p>
        </p:txBody>
      </p:sp>
      <p:sp>
        <p:nvSpPr>
          <p:cNvPr id="16" name="Shape 14"/>
          <p:cNvSpPr/>
          <p:nvPr/>
        </p:nvSpPr>
        <p:spPr>
          <a:xfrm>
            <a:off x="548640" y="5625084"/>
            <a:ext cx="5410048" cy="684276"/>
          </a:xfrm>
          <a:prstGeom prst="roundRect">
            <a:avLst>
              <a:gd name="adj" fmla="val 9354"/>
            </a:avLst>
          </a:prstGeom>
          <a:solidFill>
            <a:srgbClr val="F8EAFA"/>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hematocele (G) (hematosel): </a:t>
            </a:r>
            <a:r>
              <a:rPr lang="en-US" sz="1500" dirty="0">
                <a:solidFill>
                  <a:srgbClr val="1F2937"/>
                </a:solidFill>
                <a:latin typeface="Calibri" pitchFamily="34" charset="0"/>
                <a:ea typeface="Calibri" pitchFamily="34" charset="-122"/>
                <a:cs typeface="Calibri" pitchFamily="34" charset="-120"/>
              </a:rPr>
              <a:t>Tunika vajinalis içinde kan birikmesi</a:t>
            </a:r>
            <a:endParaRPr lang="en-US" sz="1500" dirty="0"/>
          </a:p>
        </p:txBody>
      </p:sp>
      <p:sp>
        <p:nvSpPr>
          <p:cNvPr id="18" name="Shape 16"/>
          <p:cNvSpPr/>
          <p:nvPr/>
        </p:nvSpPr>
        <p:spPr>
          <a:xfrm>
            <a:off x="6233008" y="2522220"/>
            <a:ext cx="5410048" cy="684276"/>
          </a:xfrm>
          <a:prstGeom prst="roundRect">
            <a:avLst>
              <a:gd name="adj" fmla="val 9354"/>
            </a:avLst>
          </a:prstGeom>
          <a:solidFill>
            <a:srgbClr val="F8EAFA"/>
          </a:solidFill>
          <a:ln/>
        </p:spPr>
      </p:sp>
      <p:sp>
        <p:nvSpPr>
          <p:cNvPr id="19" name="Text 17"/>
          <p:cNvSpPr txBox="1"/>
          <p:nvPr/>
        </p:nvSpPr>
        <p:spPr>
          <a:xfrm>
            <a:off x="6388456" y="259537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varicocele (G) (varikosel): </a:t>
            </a:r>
            <a:r>
              <a:rPr lang="en-US" sz="1500" dirty="0">
                <a:solidFill>
                  <a:srgbClr val="1F2937"/>
                </a:solidFill>
                <a:latin typeface="Calibri" pitchFamily="34" charset="0"/>
                <a:ea typeface="Calibri" pitchFamily="34" charset="-122"/>
                <a:cs typeface="Calibri" pitchFamily="34" charset="-120"/>
              </a:rPr>
              <a:t>Skrotum venlerinde oluşan varis</a:t>
            </a:r>
            <a:endParaRPr lang="en-US" sz="1500" dirty="0"/>
          </a:p>
        </p:txBody>
      </p:sp>
      <p:sp>
        <p:nvSpPr>
          <p:cNvPr id="20" name="Shape 18"/>
          <p:cNvSpPr/>
          <p:nvPr/>
        </p:nvSpPr>
        <p:spPr>
          <a:xfrm>
            <a:off x="6233008" y="3297936"/>
            <a:ext cx="5410048" cy="451866"/>
          </a:xfrm>
          <a:prstGeom prst="roundRect">
            <a:avLst>
              <a:gd name="adj" fmla="val 14165"/>
            </a:avLst>
          </a:prstGeom>
          <a:solidFill>
            <a:srgbClr val="F8EAFA"/>
          </a:solidFill>
          <a:ln/>
        </p:spPr>
      </p:sp>
      <p:sp>
        <p:nvSpPr>
          <p:cNvPr id="21" name="Text 19"/>
          <p:cNvSpPr txBox="1"/>
          <p:nvPr/>
        </p:nvSpPr>
        <p:spPr>
          <a:xfrm>
            <a:off x="6388456" y="337108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seminoma (G): </a:t>
            </a:r>
            <a:r>
              <a:rPr lang="en-US" sz="1500" dirty="0">
                <a:solidFill>
                  <a:srgbClr val="1F2937"/>
                </a:solidFill>
                <a:latin typeface="Calibri" pitchFamily="34" charset="0"/>
                <a:ea typeface="Calibri" pitchFamily="34" charset="-122"/>
                <a:cs typeface="Calibri" pitchFamily="34" charset="-120"/>
              </a:rPr>
              <a:t>Bir testis tümörü</a:t>
            </a:r>
            <a:endParaRPr lang="en-US" sz="1500" dirty="0"/>
          </a:p>
        </p:txBody>
      </p:sp>
      <p:sp>
        <p:nvSpPr>
          <p:cNvPr id="22" name="Shape 20"/>
          <p:cNvSpPr/>
          <p:nvPr/>
        </p:nvSpPr>
        <p:spPr>
          <a:xfrm>
            <a:off x="6233008" y="3841242"/>
            <a:ext cx="5410048" cy="451866"/>
          </a:xfrm>
          <a:prstGeom prst="roundRect">
            <a:avLst>
              <a:gd name="adj" fmla="val 14165"/>
            </a:avLst>
          </a:prstGeom>
          <a:solidFill>
            <a:srgbClr val="F8EAFA"/>
          </a:solidFill>
          <a:ln/>
        </p:spPr>
      </p:sp>
      <p:sp>
        <p:nvSpPr>
          <p:cNvPr id="23" name="Text 21"/>
          <p:cNvSpPr txBox="1"/>
          <p:nvPr/>
        </p:nvSpPr>
        <p:spPr>
          <a:xfrm>
            <a:off x="6388456" y="391439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prostatitis (G) (prostatit): </a:t>
            </a:r>
            <a:r>
              <a:rPr lang="en-US" sz="1500" dirty="0">
                <a:solidFill>
                  <a:srgbClr val="1F2937"/>
                </a:solidFill>
                <a:latin typeface="Calibri" pitchFamily="34" charset="0"/>
                <a:ea typeface="Calibri" pitchFamily="34" charset="-122"/>
                <a:cs typeface="Calibri" pitchFamily="34" charset="-120"/>
              </a:rPr>
              <a:t>Prostat yangısı</a:t>
            </a:r>
            <a:endParaRPr lang="en-US" sz="1500" dirty="0"/>
          </a:p>
        </p:txBody>
      </p:sp>
      <p:sp>
        <p:nvSpPr>
          <p:cNvPr id="24" name="Shape 22"/>
          <p:cNvSpPr/>
          <p:nvPr/>
        </p:nvSpPr>
        <p:spPr>
          <a:xfrm>
            <a:off x="6233008" y="4384548"/>
            <a:ext cx="5410048" cy="451866"/>
          </a:xfrm>
          <a:prstGeom prst="roundRect">
            <a:avLst>
              <a:gd name="adj" fmla="val 14165"/>
            </a:avLst>
          </a:prstGeom>
          <a:solidFill>
            <a:srgbClr val="F8EAFA"/>
          </a:solidFill>
          <a:ln/>
        </p:spPr>
      </p:sp>
      <p:sp>
        <p:nvSpPr>
          <p:cNvPr id="25" name="Text 23"/>
          <p:cNvSpPr txBox="1"/>
          <p:nvPr/>
        </p:nvSpPr>
        <p:spPr>
          <a:xfrm>
            <a:off x="6388456" y="445770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orchiditis (G) (orşidit): </a:t>
            </a:r>
            <a:r>
              <a:rPr lang="en-US" sz="1500" dirty="0">
                <a:solidFill>
                  <a:srgbClr val="1F2937"/>
                </a:solidFill>
                <a:latin typeface="Calibri" pitchFamily="34" charset="0"/>
                <a:ea typeface="Calibri" pitchFamily="34" charset="-122"/>
                <a:cs typeface="Calibri" pitchFamily="34" charset="-120"/>
              </a:rPr>
              <a:t>Testis iltihabı</a:t>
            </a:r>
            <a:endParaRPr lang="en-US" sz="1500" dirty="0"/>
          </a:p>
        </p:txBody>
      </p:sp>
      <p:sp>
        <p:nvSpPr>
          <p:cNvPr id="26" name="Shape 24"/>
          <p:cNvSpPr/>
          <p:nvPr/>
        </p:nvSpPr>
        <p:spPr>
          <a:xfrm>
            <a:off x="6233008" y="4927854"/>
            <a:ext cx="5410048" cy="451866"/>
          </a:xfrm>
          <a:prstGeom prst="roundRect">
            <a:avLst>
              <a:gd name="adj" fmla="val 14165"/>
            </a:avLst>
          </a:prstGeom>
          <a:solidFill>
            <a:srgbClr val="F8EAFA"/>
          </a:solidFill>
          <a:ln/>
        </p:spPr>
      </p:sp>
      <p:sp>
        <p:nvSpPr>
          <p:cNvPr id="27" name="Text 25"/>
          <p:cNvSpPr txBox="1"/>
          <p:nvPr/>
        </p:nvSpPr>
        <p:spPr>
          <a:xfrm>
            <a:off x="6388456" y="50010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epididymitis (G) (epididimit): </a:t>
            </a:r>
            <a:r>
              <a:rPr lang="en-US" sz="1500" dirty="0">
                <a:solidFill>
                  <a:srgbClr val="1F2937"/>
                </a:solidFill>
                <a:latin typeface="Calibri" pitchFamily="34" charset="0"/>
                <a:ea typeface="Calibri" pitchFamily="34" charset="-122"/>
                <a:cs typeface="Calibri" pitchFamily="34" charset="-120"/>
              </a:rPr>
              <a:t>Epididim iltihabı</a:t>
            </a:r>
            <a:endParaRPr lang="en-US" sz="15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Kadın Genital Sistemi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260</a:t>
            </a:r>
            <a:endParaRPr lang="en-US" sz="1000" dirty="0"/>
          </a:p>
        </p:txBody>
      </p:sp>
      <p:sp>
        <p:nvSpPr>
          <p:cNvPr id="6" name="Shape 4"/>
          <p:cNvSpPr/>
          <p:nvPr/>
        </p:nvSpPr>
        <p:spPr>
          <a:xfrm>
            <a:off x="548640" y="1565529"/>
            <a:ext cx="11094415" cy="916686"/>
          </a:xfrm>
          <a:prstGeom prst="roundRect">
            <a:avLst>
              <a:gd name="adj" fmla="val 6983"/>
            </a:avLst>
          </a:prstGeom>
          <a:solidFill>
            <a:srgbClr val="F8EAFA"/>
          </a:solidFill>
          <a:ln/>
        </p:spPr>
      </p:sp>
      <p:sp>
        <p:nvSpPr>
          <p:cNvPr id="7" name="Text 5"/>
          <p:cNvSpPr txBox="1"/>
          <p:nvPr/>
        </p:nvSpPr>
        <p:spPr>
          <a:xfrm>
            <a:off x="704088" y="1638681"/>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mole hydatiform (L) (mol hidatiform): </a:t>
            </a:r>
            <a:r>
              <a:rPr lang="en-US" sz="1500" dirty="0">
                <a:solidFill>
                  <a:srgbClr val="1F2937"/>
                </a:solidFill>
                <a:latin typeface="Calibri" pitchFamily="34" charset="0"/>
                <a:ea typeface="Calibri" pitchFamily="34" charset="-122"/>
                <a:cs typeface="Calibri" pitchFamily="34" charset="-120"/>
              </a:rPr>
              <a:t>Dejenerasyona uğrayan bir gebeliği izler. Villuslar hidropiktir ve trofoblastik proliferasyon vardı. Üzüm gebeliği de denir</a:t>
            </a:r>
            <a:endParaRPr lang="en-US" sz="1500" dirty="0"/>
          </a:p>
        </p:txBody>
      </p:sp>
      <p:sp>
        <p:nvSpPr>
          <p:cNvPr id="8" name="Shape 6"/>
          <p:cNvSpPr/>
          <p:nvPr/>
        </p:nvSpPr>
        <p:spPr>
          <a:xfrm>
            <a:off x="548640" y="2676144"/>
            <a:ext cx="5410048" cy="684276"/>
          </a:xfrm>
          <a:prstGeom prst="roundRect">
            <a:avLst>
              <a:gd name="adj" fmla="val 9354"/>
            </a:avLst>
          </a:prstGeom>
          <a:solidFill>
            <a:srgbClr val="F8EAFA"/>
          </a:solidFill>
          <a:ln/>
        </p:spPr>
      </p:sp>
      <p:sp>
        <p:nvSpPr>
          <p:cNvPr id="9" name="Text 7"/>
          <p:cNvSpPr txBox="1"/>
          <p:nvPr/>
        </p:nvSpPr>
        <p:spPr>
          <a:xfrm>
            <a:off x="704088"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myoma uteri (L) (miyoma uteri): </a:t>
            </a:r>
            <a:r>
              <a:rPr lang="en-US" sz="1500" dirty="0">
                <a:solidFill>
                  <a:srgbClr val="1F2937"/>
                </a:solidFill>
                <a:latin typeface="Calibri" pitchFamily="34" charset="0"/>
                <a:ea typeface="Calibri" pitchFamily="34" charset="-122"/>
                <a:cs typeface="Calibri" pitchFamily="34" charset="-120"/>
              </a:rPr>
              <a:t>Uterus kaslarından gelişen iyi huylu tümör</a:t>
            </a:r>
            <a:endParaRPr lang="en-US" sz="1500" dirty="0"/>
          </a:p>
        </p:txBody>
      </p:sp>
      <p:sp>
        <p:nvSpPr>
          <p:cNvPr id="10" name="Shape 8"/>
          <p:cNvSpPr/>
          <p:nvPr/>
        </p:nvSpPr>
        <p:spPr>
          <a:xfrm>
            <a:off x="548640" y="3451860"/>
            <a:ext cx="5410048" cy="451866"/>
          </a:xfrm>
          <a:prstGeom prst="roundRect">
            <a:avLst>
              <a:gd name="adj" fmla="val 14165"/>
            </a:avLst>
          </a:prstGeom>
          <a:solidFill>
            <a:srgbClr val="F8EAFA"/>
          </a:solidFill>
          <a:ln/>
        </p:spPr>
      </p:sp>
      <p:sp>
        <p:nvSpPr>
          <p:cNvPr id="11" name="Text 9"/>
          <p:cNvSpPr txBox="1"/>
          <p:nvPr/>
        </p:nvSpPr>
        <p:spPr>
          <a:xfrm>
            <a:off x="704088"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vulvitis (G) (vulvit): </a:t>
            </a:r>
            <a:r>
              <a:rPr lang="en-US" sz="1500" dirty="0">
                <a:solidFill>
                  <a:srgbClr val="1F2937"/>
                </a:solidFill>
                <a:latin typeface="Calibri" pitchFamily="34" charset="0"/>
                <a:ea typeface="Calibri" pitchFamily="34" charset="-122"/>
                <a:cs typeface="Calibri" pitchFamily="34" charset="-120"/>
              </a:rPr>
              <a:t>Vulva iltihabı</a:t>
            </a:r>
            <a:endParaRPr lang="en-US" sz="1500" dirty="0"/>
          </a:p>
        </p:txBody>
      </p:sp>
      <p:sp>
        <p:nvSpPr>
          <p:cNvPr id="12" name="Shape 10"/>
          <p:cNvSpPr/>
          <p:nvPr/>
        </p:nvSpPr>
        <p:spPr>
          <a:xfrm>
            <a:off x="548640" y="3995166"/>
            <a:ext cx="5410048" cy="451866"/>
          </a:xfrm>
          <a:prstGeom prst="roundRect">
            <a:avLst>
              <a:gd name="adj" fmla="val 14165"/>
            </a:avLst>
          </a:prstGeom>
          <a:solidFill>
            <a:srgbClr val="F8EAFA"/>
          </a:solidFill>
          <a:ln/>
        </p:spPr>
      </p:sp>
      <p:sp>
        <p:nvSpPr>
          <p:cNvPr id="13" name="Text 11"/>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vaginitis (LG) (vajinit): </a:t>
            </a:r>
            <a:r>
              <a:rPr lang="en-US" sz="1500" dirty="0">
                <a:solidFill>
                  <a:srgbClr val="1F2937"/>
                </a:solidFill>
                <a:latin typeface="Calibri" pitchFamily="34" charset="0"/>
                <a:ea typeface="Calibri" pitchFamily="34" charset="-122"/>
                <a:cs typeface="Calibri" pitchFamily="34" charset="-120"/>
              </a:rPr>
              <a:t>Vajina iltihabı</a:t>
            </a:r>
            <a:endParaRPr lang="en-US" sz="1500" dirty="0"/>
          </a:p>
        </p:txBody>
      </p:sp>
      <p:sp>
        <p:nvSpPr>
          <p:cNvPr id="14" name="Shape 12"/>
          <p:cNvSpPr/>
          <p:nvPr/>
        </p:nvSpPr>
        <p:spPr>
          <a:xfrm>
            <a:off x="548640" y="4538472"/>
            <a:ext cx="5410048" cy="684276"/>
          </a:xfrm>
          <a:prstGeom prst="roundRect">
            <a:avLst>
              <a:gd name="adj" fmla="val 9354"/>
            </a:avLst>
          </a:prstGeom>
          <a:solidFill>
            <a:srgbClr val="F8EAFA"/>
          </a:solidFill>
          <a:ln/>
        </p:spPr>
      </p:sp>
      <p:sp>
        <p:nvSpPr>
          <p:cNvPr id="15" name="Text 13"/>
          <p:cNvSpPr txBox="1"/>
          <p:nvPr/>
        </p:nvSpPr>
        <p:spPr>
          <a:xfrm>
            <a:off x="704088" y="461162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endocervicitis (GLG) (endoservisit): </a:t>
            </a:r>
            <a:r>
              <a:rPr lang="en-US" sz="1500" dirty="0">
                <a:solidFill>
                  <a:srgbClr val="1F2937"/>
                </a:solidFill>
                <a:latin typeface="Calibri" pitchFamily="34" charset="0"/>
                <a:ea typeface="Calibri" pitchFamily="34" charset="-122"/>
                <a:cs typeface="Calibri" pitchFamily="34" charset="-120"/>
              </a:rPr>
              <a:t>Servikal kanalı döşeyen mukozanın iltihabı</a:t>
            </a:r>
            <a:endParaRPr lang="en-US" sz="1500" dirty="0"/>
          </a:p>
        </p:txBody>
      </p:sp>
      <p:sp>
        <p:nvSpPr>
          <p:cNvPr id="16" name="Shape 14"/>
          <p:cNvSpPr/>
          <p:nvPr/>
        </p:nvSpPr>
        <p:spPr>
          <a:xfrm>
            <a:off x="548640" y="5314188"/>
            <a:ext cx="5410048" cy="451866"/>
          </a:xfrm>
          <a:prstGeom prst="roundRect">
            <a:avLst>
              <a:gd name="adj" fmla="val 14165"/>
            </a:avLst>
          </a:prstGeom>
          <a:solidFill>
            <a:srgbClr val="F8EAFA"/>
          </a:solidFill>
          <a:ln/>
        </p:spPr>
      </p:sp>
      <p:sp>
        <p:nvSpPr>
          <p:cNvPr id="17" name="Text 15"/>
          <p:cNvSpPr txBox="1"/>
          <p:nvPr/>
        </p:nvSpPr>
        <p:spPr>
          <a:xfrm>
            <a:off x="704088" y="538734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endometritis (G) (endometrit): </a:t>
            </a:r>
            <a:r>
              <a:rPr lang="en-US" sz="1500" dirty="0">
                <a:solidFill>
                  <a:srgbClr val="1F2937"/>
                </a:solidFill>
                <a:latin typeface="Calibri" pitchFamily="34" charset="0"/>
                <a:ea typeface="Calibri" pitchFamily="34" charset="-122"/>
                <a:cs typeface="Calibri" pitchFamily="34" charset="-120"/>
              </a:rPr>
              <a:t>Endometrium iltihabı</a:t>
            </a:r>
            <a:endParaRPr lang="en-US" sz="1500" dirty="0"/>
          </a:p>
        </p:txBody>
      </p:sp>
      <p:sp>
        <p:nvSpPr>
          <p:cNvPr id="18" name="Shape 16"/>
          <p:cNvSpPr/>
          <p:nvPr/>
        </p:nvSpPr>
        <p:spPr>
          <a:xfrm>
            <a:off x="548640" y="5857494"/>
            <a:ext cx="5410048" cy="451866"/>
          </a:xfrm>
          <a:prstGeom prst="roundRect">
            <a:avLst>
              <a:gd name="adj" fmla="val 14165"/>
            </a:avLst>
          </a:prstGeom>
          <a:solidFill>
            <a:srgbClr val="F8EAFA"/>
          </a:solidFill>
          <a:ln/>
        </p:spPr>
      </p:sp>
      <p:sp>
        <p:nvSpPr>
          <p:cNvPr id="19" name="Text 17"/>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salpingitis (G) (salpinjit): </a:t>
            </a:r>
            <a:r>
              <a:rPr lang="en-US" sz="1500" dirty="0">
                <a:solidFill>
                  <a:srgbClr val="1F2937"/>
                </a:solidFill>
                <a:latin typeface="Calibri" pitchFamily="34" charset="0"/>
                <a:ea typeface="Calibri" pitchFamily="34" charset="-122"/>
                <a:cs typeface="Calibri" pitchFamily="34" charset="-120"/>
              </a:rPr>
              <a:t>Tuba uterinaların iltihabı</a:t>
            </a:r>
            <a:endParaRPr lang="en-US" sz="1500" dirty="0"/>
          </a:p>
        </p:txBody>
      </p:sp>
      <p:sp>
        <p:nvSpPr>
          <p:cNvPr id="20" name="Shape 18"/>
          <p:cNvSpPr/>
          <p:nvPr/>
        </p:nvSpPr>
        <p:spPr>
          <a:xfrm>
            <a:off x="6233008" y="2676144"/>
            <a:ext cx="5410048" cy="684276"/>
          </a:xfrm>
          <a:prstGeom prst="roundRect">
            <a:avLst>
              <a:gd name="adj" fmla="val 9354"/>
            </a:avLst>
          </a:prstGeom>
          <a:solidFill>
            <a:srgbClr val="F8EAFA"/>
          </a:solidFill>
          <a:ln/>
        </p:spPr>
      </p:sp>
      <p:sp>
        <p:nvSpPr>
          <p:cNvPr id="21" name="Text 19"/>
          <p:cNvSpPr txBox="1"/>
          <p:nvPr/>
        </p:nvSpPr>
        <p:spPr>
          <a:xfrm>
            <a:off x="6388456" y="274929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pyosalpinx (G) (piyosalpinks): </a:t>
            </a:r>
            <a:r>
              <a:rPr lang="en-US" sz="1500" dirty="0">
                <a:solidFill>
                  <a:srgbClr val="1F2937"/>
                </a:solidFill>
                <a:latin typeface="Calibri" pitchFamily="34" charset="0"/>
                <a:ea typeface="Calibri" pitchFamily="34" charset="-122"/>
                <a:cs typeface="Calibri" pitchFamily="34" charset="-120"/>
              </a:rPr>
              <a:t>Bir veya iki tuba uterinanın irinle dolması</a:t>
            </a:r>
            <a:endParaRPr lang="en-US" sz="1500" dirty="0"/>
          </a:p>
        </p:txBody>
      </p:sp>
      <p:sp>
        <p:nvSpPr>
          <p:cNvPr id="22" name="Shape 20"/>
          <p:cNvSpPr/>
          <p:nvPr/>
        </p:nvSpPr>
        <p:spPr>
          <a:xfrm>
            <a:off x="6233008" y="3451860"/>
            <a:ext cx="5410048" cy="684276"/>
          </a:xfrm>
          <a:prstGeom prst="roundRect">
            <a:avLst>
              <a:gd name="adj" fmla="val 9354"/>
            </a:avLst>
          </a:prstGeom>
          <a:solidFill>
            <a:srgbClr val="F8EAFA"/>
          </a:solidFill>
          <a:ln/>
        </p:spPr>
      </p:sp>
      <p:sp>
        <p:nvSpPr>
          <p:cNvPr id="23" name="Text 21"/>
          <p:cNvSpPr txBox="1"/>
          <p:nvPr/>
        </p:nvSpPr>
        <p:spPr>
          <a:xfrm>
            <a:off x="6388456" y="352501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hydrosalpinx (G) (hidro salpinks): </a:t>
            </a:r>
            <a:r>
              <a:rPr lang="en-US" sz="1500" dirty="0">
                <a:solidFill>
                  <a:srgbClr val="1F2937"/>
                </a:solidFill>
                <a:latin typeface="Calibri" pitchFamily="34" charset="0"/>
                <a:ea typeface="Calibri" pitchFamily="34" charset="-122"/>
                <a:cs typeface="Calibri" pitchFamily="34" charset="-120"/>
              </a:rPr>
              <a:t>Tuba uterinaların sıvı ile dolması</a:t>
            </a:r>
            <a:endParaRPr lang="en-US" sz="1500" dirty="0"/>
          </a:p>
        </p:txBody>
      </p:sp>
      <p:sp>
        <p:nvSpPr>
          <p:cNvPr id="24" name="Shape 22"/>
          <p:cNvSpPr/>
          <p:nvPr/>
        </p:nvSpPr>
        <p:spPr>
          <a:xfrm>
            <a:off x="6233008" y="4227576"/>
            <a:ext cx="5410048" cy="684276"/>
          </a:xfrm>
          <a:prstGeom prst="roundRect">
            <a:avLst>
              <a:gd name="adj" fmla="val 9354"/>
            </a:avLst>
          </a:prstGeom>
          <a:solidFill>
            <a:srgbClr val="F8EAFA"/>
          </a:solidFill>
          <a:ln/>
        </p:spPr>
      </p:sp>
      <p:sp>
        <p:nvSpPr>
          <p:cNvPr id="25" name="Text 23"/>
          <p:cNvSpPr txBox="1"/>
          <p:nvPr/>
        </p:nvSpPr>
        <p:spPr>
          <a:xfrm>
            <a:off x="6388456" y="430072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endometriosis (G) (endometriyoz): </a:t>
            </a:r>
            <a:r>
              <a:rPr lang="en-US" sz="1500" dirty="0">
                <a:solidFill>
                  <a:srgbClr val="1F2937"/>
                </a:solidFill>
                <a:latin typeface="Calibri" pitchFamily="34" charset="0"/>
                <a:ea typeface="Calibri" pitchFamily="34" charset="-122"/>
                <a:cs typeface="Calibri" pitchFamily="34" charset="-120"/>
              </a:rPr>
              <a:t>Endometriumun uterus dışında başka bir lokalizasyonda bulunması</a:t>
            </a:r>
            <a:endParaRPr lang="en-US" sz="15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8EAFA"/>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Kadın Genital Sistemi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261</a:t>
            </a:r>
            <a:endParaRPr lang="en-US" sz="1000" dirty="0"/>
          </a:p>
        </p:txBody>
      </p:sp>
      <p:sp>
        <p:nvSpPr>
          <p:cNvPr id="6" name="Shape 4"/>
          <p:cNvSpPr/>
          <p:nvPr/>
        </p:nvSpPr>
        <p:spPr>
          <a:xfrm>
            <a:off x="548640" y="3474720"/>
            <a:ext cx="11094415" cy="542239"/>
          </a:xfrm>
          <a:prstGeom prst="roundRect">
            <a:avLst>
              <a:gd name="adj" fmla="val 11804"/>
            </a:avLst>
          </a:prstGeom>
          <a:solidFill>
            <a:srgbClr val="F8EAFA"/>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polycystic (LG) ovarium (L) (polikistik ovaryum): </a:t>
            </a:r>
            <a:r>
              <a:rPr lang="en-US" sz="1800" dirty="0">
                <a:solidFill>
                  <a:srgbClr val="1F2937"/>
                </a:solidFill>
                <a:latin typeface="Calibri" pitchFamily="34" charset="0"/>
                <a:ea typeface="Calibri" pitchFamily="34" charset="-122"/>
                <a:cs typeface="Calibri" pitchFamily="34" charset="-120"/>
              </a:rPr>
              <a:t>Yumurtalıklarda çok sayıda kistin bulunması</a:t>
            </a:r>
            <a:endParaRPr lang="en-US" sz="1800" dirty="0"/>
          </a:p>
        </p:txBody>
      </p:sp>
      <p:sp>
        <p:nvSpPr>
          <p:cNvPr id="8" name="Shape 6"/>
          <p:cNvSpPr/>
          <p:nvPr/>
        </p:nvSpPr>
        <p:spPr>
          <a:xfrm>
            <a:off x="548640" y="4108399"/>
            <a:ext cx="11094415" cy="542239"/>
          </a:xfrm>
          <a:prstGeom prst="roundRect">
            <a:avLst>
              <a:gd name="adj" fmla="val 11804"/>
            </a:avLst>
          </a:prstGeom>
          <a:solidFill>
            <a:srgbClr val="F8EAFA"/>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menopause (G) (menopoz): </a:t>
            </a:r>
            <a:r>
              <a:rPr lang="en-US" sz="1800" dirty="0">
                <a:solidFill>
                  <a:srgbClr val="1F2937"/>
                </a:solidFill>
                <a:latin typeface="Calibri" pitchFamily="34" charset="0"/>
                <a:ea typeface="Calibri" pitchFamily="34" charset="-122"/>
                <a:cs typeface="Calibri" pitchFamily="34" charset="-120"/>
              </a:rPr>
              <a:t>Kadında menstruasyon fonksiyonlarının durduğu dönem</a:t>
            </a:r>
            <a:endParaRPr lang="en-US" sz="1800" dirty="0"/>
          </a:p>
        </p:txBody>
      </p:sp>
      <p:sp>
        <p:nvSpPr>
          <p:cNvPr id="10" name="Shape 8"/>
          <p:cNvSpPr/>
          <p:nvPr/>
        </p:nvSpPr>
        <p:spPr>
          <a:xfrm>
            <a:off x="548640" y="4742078"/>
            <a:ext cx="11094415" cy="542239"/>
          </a:xfrm>
          <a:prstGeom prst="roundRect">
            <a:avLst>
              <a:gd name="adj" fmla="val 11804"/>
            </a:avLst>
          </a:prstGeom>
          <a:solidFill>
            <a:srgbClr val="F8EAFA"/>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premature (L) manopause (G) (prematüre menopoz): </a:t>
            </a:r>
            <a:r>
              <a:rPr lang="en-US" sz="1800" dirty="0">
                <a:solidFill>
                  <a:srgbClr val="1F2937"/>
                </a:solidFill>
                <a:latin typeface="Calibri" pitchFamily="34" charset="0"/>
                <a:ea typeface="Calibri" pitchFamily="34" charset="-122"/>
                <a:cs typeface="Calibri" pitchFamily="34" charset="-120"/>
              </a:rPr>
              <a:t>Zamanından önce gelişen menopoz</a:t>
            </a:r>
            <a:endParaRPr lang="en-US" sz="1800" dirty="0"/>
          </a:p>
        </p:txBody>
      </p:sp>
      <p:sp>
        <p:nvSpPr>
          <p:cNvPr id="12" name="Shape 10"/>
          <p:cNvSpPr/>
          <p:nvPr/>
        </p:nvSpPr>
        <p:spPr>
          <a:xfrm>
            <a:off x="548640" y="5375758"/>
            <a:ext cx="11094415" cy="542239"/>
          </a:xfrm>
          <a:prstGeom prst="roundRect">
            <a:avLst>
              <a:gd name="adj" fmla="val 11804"/>
            </a:avLst>
          </a:prstGeom>
          <a:solidFill>
            <a:srgbClr val="F8EAFA"/>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iatrogenic menopause (G) (iyatrojenik menopoz): </a:t>
            </a:r>
            <a:r>
              <a:rPr lang="en-US" sz="1800" dirty="0">
                <a:solidFill>
                  <a:srgbClr val="1F2937"/>
                </a:solidFill>
                <a:latin typeface="Calibri" pitchFamily="34" charset="0"/>
                <a:ea typeface="Calibri" pitchFamily="34" charset="-122"/>
                <a:cs typeface="Calibri" pitchFamily="34" charset="-120"/>
              </a:rPr>
              <a:t>Overektomi sonrası gelişen menopozdur</a:t>
            </a:r>
            <a:endParaRPr lang="en-US" sz="18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262</a:t>
            </a:r>
            <a:endParaRPr lang="en-US" sz="1000" dirty="0"/>
          </a:p>
        </p:txBody>
      </p:sp>
      <p:sp>
        <p:nvSpPr>
          <p:cNvPr id="6" name="Shape 4"/>
          <p:cNvSpPr/>
          <p:nvPr/>
        </p:nvSpPr>
        <p:spPr>
          <a:xfrm>
            <a:off x="548640" y="1751990"/>
            <a:ext cx="11094415" cy="821131"/>
          </a:xfrm>
          <a:prstGeom prst="roundRect">
            <a:avLst>
              <a:gd name="adj" fmla="val 7795"/>
            </a:avLst>
          </a:prstGeom>
          <a:solidFill>
            <a:srgbClr val="F8EAFA"/>
          </a:solidFill>
          <a:ln/>
        </p:spPr>
      </p:sp>
      <p:sp>
        <p:nvSpPr>
          <p:cNvPr id="7" name="Text 5"/>
          <p:cNvSpPr txBox="1"/>
          <p:nvPr/>
        </p:nvSpPr>
        <p:spPr>
          <a:xfrm>
            <a:off x="704088" y="182514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vasectomy (LG) (vazektomi), vasoligation (L) (vazoligasyon): </a:t>
            </a:r>
            <a:r>
              <a:rPr lang="en-US" sz="1800" dirty="0">
                <a:solidFill>
                  <a:srgbClr val="1F2937"/>
                </a:solidFill>
                <a:latin typeface="Calibri" pitchFamily="34" charset="0"/>
                <a:ea typeface="Calibri" pitchFamily="34" charset="-122"/>
                <a:cs typeface="Calibri" pitchFamily="34" charset="-120"/>
              </a:rPr>
              <a:t>Her iki ductus deferensin 3-4 cm’lik bölümünün kesilip çıkarılması. Erkeklerde sterilite oluşturma amacıyla yapılır.</a:t>
            </a:r>
            <a:endParaRPr lang="en-US" sz="1800" dirty="0"/>
          </a:p>
        </p:txBody>
      </p:sp>
      <p:sp>
        <p:nvSpPr>
          <p:cNvPr id="8" name="Shape 6"/>
          <p:cNvSpPr/>
          <p:nvPr/>
        </p:nvSpPr>
        <p:spPr>
          <a:xfrm>
            <a:off x="548640" y="2664562"/>
            <a:ext cx="11094415" cy="821131"/>
          </a:xfrm>
          <a:prstGeom prst="roundRect">
            <a:avLst>
              <a:gd name="adj" fmla="val 7795"/>
            </a:avLst>
          </a:prstGeom>
          <a:solidFill>
            <a:srgbClr val="F8EAFA"/>
          </a:solidFill>
          <a:ln/>
        </p:spPr>
      </p:sp>
      <p:sp>
        <p:nvSpPr>
          <p:cNvPr id="9" name="Text 7"/>
          <p:cNvSpPr txBox="1"/>
          <p:nvPr/>
        </p:nvSpPr>
        <p:spPr>
          <a:xfrm>
            <a:off x="704088" y="2737714"/>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vasovasostomy (LLG) (vozovazostomi): </a:t>
            </a:r>
            <a:r>
              <a:rPr lang="en-US" sz="1800" dirty="0">
                <a:solidFill>
                  <a:srgbClr val="1F2937"/>
                </a:solidFill>
                <a:latin typeface="Calibri" pitchFamily="34" charset="0"/>
                <a:ea typeface="Calibri" pitchFamily="34" charset="-122"/>
                <a:cs typeface="Calibri" pitchFamily="34" charset="-120"/>
              </a:rPr>
              <a:t>Daha önceden vazoligasyon yapılmış kişide iki taraflı ductus deferensin kesik uçlarının ağız ağıza dikilerek birleştirilmesi</a:t>
            </a:r>
            <a:endParaRPr lang="en-US" sz="1800" dirty="0"/>
          </a:p>
        </p:txBody>
      </p:sp>
      <p:sp>
        <p:nvSpPr>
          <p:cNvPr id="10" name="Shape 8"/>
          <p:cNvSpPr/>
          <p:nvPr/>
        </p:nvSpPr>
        <p:spPr>
          <a:xfrm>
            <a:off x="548640" y="3866083"/>
            <a:ext cx="11094415" cy="542239"/>
          </a:xfrm>
          <a:prstGeom prst="roundRect">
            <a:avLst>
              <a:gd name="adj" fmla="val 11804"/>
            </a:avLst>
          </a:prstGeom>
          <a:solidFill>
            <a:srgbClr val="F8EAFA"/>
          </a:solidFill>
          <a:ln/>
        </p:spPr>
      </p:sp>
      <p:sp>
        <p:nvSpPr>
          <p:cNvPr id="11" name="Text 9"/>
          <p:cNvSpPr txBox="1"/>
          <p:nvPr/>
        </p:nvSpPr>
        <p:spPr>
          <a:xfrm>
            <a:off x="704088" y="393923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Erkek Genital Sistemi</a:t>
            </a:r>
            <a:endParaRPr lang="en-US" sz="1800" dirty="0"/>
          </a:p>
        </p:txBody>
      </p:sp>
      <p:sp>
        <p:nvSpPr>
          <p:cNvPr id="12" name="Shape 10"/>
          <p:cNvSpPr/>
          <p:nvPr/>
        </p:nvSpPr>
        <p:spPr>
          <a:xfrm>
            <a:off x="548640" y="4499762"/>
            <a:ext cx="11094415" cy="542239"/>
          </a:xfrm>
          <a:prstGeom prst="roundRect">
            <a:avLst>
              <a:gd name="adj" fmla="val 11804"/>
            </a:avLst>
          </a:prstGeom>
          <a:solidFill>
            <a:srgbClr val="F8EAFA"/>
          </a:solidFill>
          <a:ln/>
        </p:spPr>
      </p:sp>
      <p:sp>
        <p:nvSpPr>
          <p:cNvPr id="13" name="Text 11"/>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prostatectomy (G) (prostatektomi): </a:t>
            </a:r>
            <a:r>
              <a:rPr lang="en-US" sz="1800" dirty="0">
                <a:solidFill>
                  <a:srgbClr val="1F2937"/>
                </a:solidFill>
                <a:latin typeface="Calibri" pitchFamily="34" charset="0"/>
                <a:ea typeface="Calibri" pitchFamily="34" charset="-122"/>
                <a:cs typeface="Calibri" pitchFamily="34" charset="-120"/>
              </a:rPr>
              <a:t>Prostatın çıkarılması</a:t>
            </a:r>
            <a:endParaRPr lang="en-US" sz="1800" dirty="0"/>
          </a:p>
        </p:txBody>
      </p:sp>
      <p:sp>
        <p:nvSpPr>
          <p:cNvPr id="14" name="Shape 12"/>
          <p:cNvSpPr/>
          <p:nvPr/>
        </p:nvSpPr>
        <p:spPr>
          <a:xfrm>
            <a:off x="548640" y="5133442"/>
            <a:ext cx="11094415" cy="542239"/>
          </a:xfrm>
          <a:prstGeom prst="roundRect">
            <a:avLst>
              <a:gd name="adj" fmla="val 11804"/>
            </a:avLst>
          </a:prstGeom>
          <a:solidFill>
            <a:srgbClr val="F8EAFA"/>
          </a:solidFill>
          <a:ln/>
        </p:spPr>
      </p:sp>
      <p:sp>
        <p:nvSpPr>
          <p:cNvPr id="15" name="Text 13"/>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orchiectomy (G) (orşiektomi): </a:t>
            </a:r>
            <a:r>
              <a:rPr lang="en-US" sz="1800" dirty="0">
                <a:solidFill>
                  <a:srgbClr val="1F2937"/>
                </a:solidFill>
                <a:latin typeface="Calibri" pitchFamily="34" charset="0"/>
                <a:ea typeface="Calibri" pitchFamily="34" charset="-122"/>
                <a:cs typeface="Calibri" pitchFamily="34" charset="-120"/>
              </a:rPr>
              <a:t>Testislerin çıkarılması</a:t>
            </a:r>
            <a:endParaRPr lang="en-US" sz="1800" dirty="0"/>
          </a:p>
        </p:txBody>
      </p:sp>
      <p:sp>
        <p:nvSpPr>
          <p:cNvPr id="16" name="Shape 14"/>
          <p:cNvSpPr/>
          <p:nvPr/>
        </p:nvSpPr>
        <p:spPr>
          <a:xfrm>
            <a:off x="548640" y="5767121"/>
            <a:ext cx="11094415" cy="542239"/>
          </a:xfrm>
          <a:prstGeom prst="roundRect">
            <a:avLst>
              <a:gd name="adj" fmla="val 11804"/>
            </a:avLst>
          </a:prstGeom>
          <a:solidFill>
            <a:srgbClr val="F8EAFA"/>
          </a:solidFill>
          <a:ln/>
        </p:spPr>
      </p:sp>
      <p:sp>
        <p:nvSpPr>
          <p:cNvPr id="17" name="Text 15"/>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A21CAF"/>
                </a:solidFill>
                <a:latin typeface="Calibri" pitchFamily="34" charset="0"/>
                <a:ea typeface="Calibri" pitchFamily="34" charset="-122"/>
                <a:cs typeface="Calibri" pitchFamily="34" charset="-120"/>
              </a:rPr>
              <a:t>orchipexy (G) (orşipeksi): </a:t>
            </a:r>
            <a:r>
              <a:rPr lang="en-US" sz="1800" dirty="0">
                <a:solidFill>
                  <a:srgbClr val="1F2937"/>
                </a:solidFill>
                <a:latin typeface="Calibri" pitchFamily="34" charset="0"/>
                <a:ea typeface="Calibri" pitchFamily="34" charset="-122"/>
                <a:cs typeface="Calibri" pitchFamily="34" charset="-120"/>
              </a:rPr>
              <a:t>İnmemiş testisin, skrotuma indirilerek dikişle tespit edilmesi</a:t>
            </a:r>
            <a:endParaRPr lang="en-US" sz="18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Kadın Genital Sistemi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263</a:t>
            </a:r>
            <a:endParaRPr lang="en-US" sz="1000" dirty="0"/>
          </a:p>
        </p:txBody>
      </p:sp>
      <p:sp>
        <p:nvSpPr>
          <p:cNvPr id="6" name="Shape 4"/>
          <p:cNvSpPr/>
          <p:nvPr/>
        </p:nvSpPr>
        <p:spPr>
          <a:xfrm>
            <a:off x="548640" y="1514246"/>
            <a:ext cx="11094415" cy="729894"/>
          </a:xfrm>
          <a:prstGeom prst="roundRect">
            <a:avLst>
              <a:gd name="adj" fmla="val 8769"/>
            </a:avLst>
          </a:prstGeom>
          <a:solidFill>
            <a:srgbClr val="F8EAFA"/>
          </a:solidFill>
          <a:ln/>
        </p:spPr>
      </p:sp>
      <p:sp>
        <p:nvSpPr>
          <p:cNvPr id="7" name="Text 5"/>
          <p:cNvSpPr txBox="1"/>
          <p:nvPr/>
        </p:nvSpPr>
        <p:spPr>
          <a:xfrm>
            <a:off x="704088" y="158739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total abdominal hysterectomy + bilateral salpingo-oophorectomy (TAH-BSO) </a:t>
            </a:r>
            <a:r>
              <a:rPr lang="en-US" sz="1600" dirty="0">
                <a:solidFill>
                  <a:srgbClr val="1F2937"/>
                </a:solidFill>
                <a:latin typeface="Calibri" pitchFamily="34" charset="0"/>
                <a:ea typeface="Calibri" pitchFamily="34" charset="-122"/>
                <a:cs typeface="Calibri" pitchFamily="34" charset="-120"/>
              </a:rPr>
              <a:t>(total abdominal histerectomy+bilateral salpingo oforektomi): Uterus, tüpler ve ovellerin çıkarılması</a:t>
            </a:r>
            <a:endParaRPr lang="en-US" sz="1600" dirty="0"/>
          </a:p>
        </p:txBody>
      </p:sp>
      <p:sp>
        <p:nvSpPr>
          <p:cNvPr id="8" name="Shape 6"/>
          <p:cNvSpPr/>
          <p:nvPr/>
        </p:nvSpPr>
        <p:spPr>
          <a:xfrm>
            <a:off x="548640" y="2386787"/>
            <a:ext cx="11094415" cy="481990"/>
          </a:xfrm>
          <a:prstGeom prst="roundRect">
            <a:avLst>
              <a:gd name="adj" fmla="val 13280"/>
            </a:avLst>
          </a:prstGeom>
          <a:solidFill>
            <a:srgbClr val="F8EAFA"/>
          </a:solidFill>
          <a:ln/>
        </p:spPr>
      </p:sp>
      <p:sp>
        <p:nvSpPr>
          <p:cNvPr id="9" name="Text 7"/>
          <p:cNvSpPr txBox="1"/>
          <p:nvPr/>
        </p:nvSpPr>
        <p:spPr>
          <a:xfrm>
            <a:off x="704088" y="2459939"/>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mastectomy (G) (mastektomi): </a:t>
            </a:r>
            <a:r>
              <a:rPr lang="en-US" sz="1600" dirty="0">
                <a:solidFill>
                  <a:srgbClr val="1F2937"/>
                </a:solidFill>
                <a:latin typeface="Calibri" pitchFamily="34" charset="0"/>
                <a:ea typeface="Calibri" pitchFamily="34" charset="-122"/>
                <a:cs typeface="Calibri" pitchFamily="34" charset="-120"/>
              </a:rPr>
              <a:t>Memenin çıkarılması</a:t>
            </a:r>
            <a:endParaRPr lang="en-US" sz="1600" dirty="0"/>
          </a:p>
        </p:txBody>
      </p:sp>
      <p:sp>
        <p:nvSpPr>
          <p:cNvPr id="10" name="Shape 8"/>
          <p:cNvSpPr/>
          <p:nvPr/>
        </p:nvSpPr>
        <p:spPr>
          <a:xfrm>
            <a:off x="548640" y="2960218"/>
            <a:ext cx="11094415" cy="481990"/>
          </a:xfrm>
          <a:prstGeom prst="roundRect">
            <a:avLst>
              <a:gd name="adj" fmla="val 13280"/>
            </a:avLst>
          </a:prstGeom>
          <a:solidFill>
            <a:srgbClr val="F8EAFA"/>
          </a:solidFill>
          <a:ln/>
        </p:spPr>
      </p:sp>
      <p:sp>
        <p:nvSpPr>
          <p:cNvPr id="11" name="Text 9"/>
          <p:cNvSpPr txBox="1"/>
          <p:nvPr/>
        </p:nvSpPr>
        <p:spPr>
          <a:xfrm>
            <a:off x="704088" y="303337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mamoplasty (LG) (mamoplasti): </a:t>
            </a:r>
            <a:r>
              <a:rPr lang="en-US" sz="1600" dirty="0">
                <a:solidFill>
                  <a:srgbClr val="1F2937"/>
                </a:solidFill>
                <a:latin typeface="Calibri" pitchFamily="34" charset="0"/>
                <a:ea typeface="Calibri" pitchFamily="34" charset="-122"/>
                <a:cs typeface="Calibri" pitchFamily="34" charset="-120"/>
              </a:rPr>
              <a:t>Memenin cerrahi olrak yeniden yapılması</a:t>
            </a:r>
            <a:endParaRPr lang="en-US" sz="1600" dirty="0"/>
          </a:p>
        </p:txBody>
      </p:sp>
      <p:sp>
        <p:nvSpPr>
          <p:cNvPr id="12" name="Shape 10"/>
          <p:cNvSpPr/>
          <p:nvPr/>
        </p:nvSpPr>
        <p:spPr>
          <a:xfrm>
            <a:off x="548640" y="3533648"/>
            <a:ext cx="11094415" cy="481990"/>
          </a:xfrm>
          <a:prstGeom prst="roundRect">
            <a:avLst>
              <a:gd name="adj" fmla="val 13280"/>
            </a:avLst>
          </a:prstGeom>
          <a:solidFill>
            <a:srgbClr val="F8EAFA"/>
          </a:solidFill>
          <a:ln/>
        </p:spPr>
      </p:sp>
      <p:sp>
        <p:nvSpPr>
          <p:cNvPr id="13" name="Text 11"/>
          <p:cNvSpPr txBox="1"/>
          <p:nvPr/>
        </p:nvSpPr>
        <p:spPr>
          <a:xfrm>
            <a:off x="704088" y="360680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myomectomy (G) (miyomektomi): </a:t>
            </a:r>
            <a:r>
              <a:rPr lang="en-US" sz="1600" dirty="0">
                <a:solidFill>
                  <a:srgbClr val="1F2937"/>
                </a:solidFill>
                <a:latin typeface="Calibri" pitchFamily="34" charset="0"/>
                <a:ea typeface="Calibri" pitchFamily="34" charset="-122"/>
                <a:cs typeface="Calibri" pitchFamily="34" charset="-120"/>
              </a:rPr>
              <a:t>Uterustaki miyomların çıkarılması</a:t>
            </a:r>
            <a:endParaRPr lang="en-US" sz="1600" dirty="0"/>
          </a:p>
        </p:txBody>
      </p:sp>
      <p:sp>
        <p:nvSpPr>
          <p:cNvPr id="14" name="Shape 12"/>
          <p:cNvSpPr/>
          <p:nvPr/>
        </p:nvSpPr>
        <p:spPr>
          <a:xfrm>
            <a:off x="548640" y="4107078"/>
            <a:ext cx="11094415" cy="481990"/>
          </a:xfrm>
          <a:prstGeom prst="roundRect">
            <a:avLst>
              <a:gd name="adj" fmla="val 13280"/>
            </a:avLst>
          </a:prstGeom>
          <a:solidFill>
            <a:srgbClr val="F8EAFA"/>
          </a:solidFill>
          <a:ln/>
        </p:spPr>
      </p:sp>
      <p:sp>
        <p:nvSpPr>
          <p:cNvPr id="15" name="Text 13"/>
          <p:cNvSpPr txBox="1"/>
          <p:nvPr/>
        </p:nvSpPr>
        <p:spPr>
          <a:xfrm>
            <a:off x="704088" y="418023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hysteroscopy (G) (histeroskopi): </a:t>
            </a:r>
            <a:r>
              <a:rPr lang="en-US" sz="1600" dirty="0">
                <a:solidFill>
                  <a:srgbClr val="1F2937"/>
                </a:solidFill>
                <a:latin typeface="Calibri" pitchFamily="34" charset="0"/>
                <a:ea typeface="Calibri" pitchFamily="34" charset="-122"/>
                <a:cs typeface="Calibri" pitchFamily="34" charset="-120"/>
              </a:rPr>
              <a:t>Döl yatağının endoskopik muayenesi</a:t>
            </a:r>
            <a:endParaRPr lang="en-US" sz="1600" dirty="0"/>
          </a:p>
        </p:txBody>
      </p:sp>
      <p:sp>
        <p:nvSpPr>
          <p:cNvPr id="16" name="Shape 14"/>
          <p:cNvSpPr/>
          <p:nvPr/>
        </p:nvSpPr>
        <p:spPr>
          <a:xfrm>
            <a:off x="548640" y="4680509"/>
            <a:ext cx="11094415" cy="481990"/>
          </a:xfrm>
          <a:prstGeom prst="roundRect">
            <a:avLst>
              <a:gd name="adj" fmla="val 13280"/>
            </a:avLst>
          </a:prstGeom>
          <a:solidFill>
            <a:srgbClr val="F8EAFA"/>
          </a:solidFill>
          <a:ln/>
        </p:spPr>
      </p:sp>
      <p:sp>
        <p:nvSpPr>
          <p:cNvPr id="17" name="Text 15"/>
          <p:cNvSpPr txBox="1"/>
          <p:nvPr/>
        </p:nvSpPr>
        <p:spPr>
          <a:xfrm>
            <a:off x="704088" y="475366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hysterectomy (G) (histerektomi): </a:t>
            </a:r>
            <a:r>
              <a:rPr lang="en-US" sz="1600" dirty="0">
                <a:solidFill>
                  <a:srgbClr val="1F2937"/>
                </a:solidFill>
                <a:latin typeface="Calibri" pitchFamily="34" charset="0"/>
                <a:ea typeface="Calibri" pitchFamily="34" charset="-122"/>
                <a:cs typeface="Calibri" pitchFamily="34" charset="-120"/>
              </a:rPr>
              <a:t>Uterusun ameliyetla çıkarılması</a:t>
            </a:r>
            <a:endParaRPr lang="en-US" sz="1600" dirty="0"/>
          </a:p>
        </p:txBody>
      </p:sp>
      <p:sp>
        <p:nvSpPr>
          <p:cNvPr id="18" name="Shape 16"/>
          <p:cNvSpPr/>
          <p:nvPr/>
        </p:nvSpPr>
        <p:spPr>
          <a:xfrm>
            <a:off x="548640" y="5253939"/>
            <a:ext cx="11094415" cy="481990"/>
          </a:xfrm>
          <a:prstGeom prst="roundRect">
            <a:avLst>
              <a:gd name="adj" fmla="val 13280"/>
            </a:avLst>
          </a:prstGeom>
          <a:solidFill>
            <a:srgbClr val="F8EAFA"/>
          </a:solidFill>
          <a:ln/>
        </p:spPr>
      </p:sp>
      <p:sp>
        <p:nvSpPr>
          <p:cNvPr id="19" name="Text 17"/>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oophoropexy (G) (oforopeksi): </a:t>
            </a:r>
            <a:r>
              <a:rPr lang="en-US" sz="1600" dirty="0">
                <a:solidFill>
                  <a:srgbClr val="1F2937"/>
                </a:solidFill>
                <a:latin typeface="Calibri" pitchFamily="34" charset="0"/>
                <a:ea typeface="Calibri" pitchFamily="34" charset="-122"/>
                <a:cs typeface="Calibri" pitchFamily="34" charset="-120"/>
              </a:rPr>
              <a:t>Yumurtalıkların tespiti</a:t>
            </a:r>
            <a:endParaRPr lang="en-US" sz="1600" dirty="0"/>
          </a:p>
        </p:txBody>
      </p:sp>
      <p:sp>
        <p:nvSpPr>
          <p:cNvPr id="20" name="Shape 18"/>
          <p:cNvSpPr/>
          <p:nvPr/>
        </p:nvSpPr>
        <p:spPr>
          <a:xfrm>
            <a:off x="548640" y="5827370"/>
            <a:ext cx="11094415" cy="481990"/>
          </a:xfrm>
          <a:prstGeom prst="roundRect">
            <a:avLst>
              <a:gd name="adj" fmla="val 13280"/>
            </a:avLst>
          </a:prstGeom>
          <a:solidFill>
            <a:srgbClr val="F8EAFA"/>
          </a:solidFill>
          <a:ln/>
        </p:spPr>
      </p:sp>
      <p:sp>
        <p:nvSpPr>
          <p:cNvPr id="21" name="Text 19"/>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A21CAF"/>
                </a:solidFill>
                <a:latin typeface="Calibri" pitchFamily="34" charset="0"/>
                <a:ea typeface="Calibri" pitchFamily="34" charset="-122"/>
                <a:cs typeface="Calibri" pitchFamily="34" charset="-120"/>
              </a:rPr>
              <a:t>salpingolysis (G) (salpingoliz): </a:t>
            </a:r>
            <a:r>
              <a:rPr lang="en-US" sz="1600" dirty="0">
                <a:solidFill>
                  <a:srgbClr val="1F2937"/>
                </a:solidFill>
                <a:latin typeface="Calibri" pitchFamily="34" charset="0"/>
                <a:ea typeface="Calibri" pitchFamily="34" charset="-122"/>
                <a:cs typeface="Calibri" pitchFamily="34" charset="-120"/>
              </a:rPr>
              <a:t>Tüplerdeki yapışıklıkların ameliyatla çıkarılması</a:t>
            </a:r>
            <a:endParaRPr lang="en-US" sz="16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F8EAFA"/>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Doğum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264</a:t>
            </a:r>
            <a:endParaRPr lang="en-US" sz="1000" dirty="0"/>
          </a:p>
        </p:txBody>
      </p:sp>
      <p:sp>
        <p:nvSpPr>
          <p:cNvPr id="6" name="Shape 4"/>
          <p:cNvSpPr/>
          <p:nvPr/>
        </p:nvSpPr>
        <p:spPr>
          <a:xfrm>
            <a:off x="548640" y="1589532"/>
            <a:ext cx="5410048" cy="684276"/>
          </a:xfrm>
          <a:prstGeom prst="roundRect">
            <a:avLst>
              <a:gd name="adj" fmla="val 9354"/>
            </a:avLst>
          </a:prstGeom>
          <a:solidFill>
            <a:srgbClr val="F8EAFA"/>
          </a:solidFill>
          <a:ln/>
        </p:spPr>
      </p:sp>
      <p:sp>
        <p:nvSpPr>
          <p:cNvPr id="7" name="Text 5"/>
          <p:cNvSpPr txBox="1"/>
          <p:nvPr/>
        </p:nvSpPr>
        <p:spPr>
          <a:xfrm>
            <a:off x="704088" y="166268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coitus (L) (koitus), copulation (L) (kopulasyon): </a:t>
            </a:r>
            <a:r>
              <a:rPr lang="en-US" sz="1500" dirty="0">
                <a:solidFill>
                  <a:srgbClr val="1F2937"/>
                </a:solidFill>
                <a:latin typeface="Calibri" pitchFamily="34" charset="0"/>
                <a:ea typeface="Calibri" pitchFamily="34" charset="-122"/>
                <a:cs typeface="Calibri" pitchFamily="34" charset="-120"/>
              </a:rPr>
              <a:t>Cinsel birleşme</a:t>
            </a:r>
            <a:endParaRPr lang="en-US" sz="1500" dirty="0"/>
          </a:p>
        </p:txBody>
      </p:sp>
      <p:sp>
        <p:nvSpPr>
          <p:cNvPr id="8" name="Shape 6"/>
          <p:cNvSpPr/>
          <p:nvPr/>
        </p:nvSpPr>
        <p:spPr>
          <a:xfrm>
            <a:off x="548640" y="2365248"/>
            <a:ext cx="5410048" cy="451866"/>
          </a:xfrm>
          <a:prstGeom prst="roundRect">
            <a:avLst>
              <a:gd name="adj" fmla="val 14165"/>
            </a:avLst>
          </a:prstGeom>
          <a:solidFill>
            <a:srgbClr val="F8EAFA"/>
          </a:solidFill>
          <a:ln/>
        </p:spPr>
      </p:sp>
      <p:sp>
        <p:nvSpPr>
          <p:cNvPr id="9" name="Text 7"/>
          <p:cNvSpPr txBox="1"/>
          <p:nvPr/>
        </p:nvSpPr>
        <p:spPr>
          <a:xfrm>
            <a:off x="704088" y="243840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gravida (L): </a:t>
            </a:r>
            <a:r>
              <a:rPr lang="en-US" sz="1500" dirty="0">
                <a:solidFill>
                  <a:srgbClr val="1F2937"/>
                </a:solidFill>
                <a:latin typeface="Calibri" pitchFamily="34" charset="0"/>
                <a:ea typeface="Calibri" pitchFamily="34" charset="-122"/>
                <a:cs typeface="Calibri" pitchFamily="34" charset="-120"/>
              </a:rPr>
              <a:t>Gebe, yüklü, hamile kadın</a:t>
            </a:r>
            <a:endParaRPr lang="en-US" sz="1500" dirty="0"/>
          </a:p>
        </p:txBody>
      </p:sp>
      <p:sp>
        <p:nvSpPr>
          <p:cNvPr id="10" name="Shape 8"/>
          <p:cNvSpPr/>
          <p:nvPr/>
        </p:nvSpPr>
        <p:spPr>
          <a:xfrm>
            <a:off x="548640" y="2908554"/>
            <a:ext cx="5410048" cy="451866"/>
          </a:xfrm>
          <a:prstGeom prst="roundRect">
            <a:avLst>
              <a:gd name="adj" fmla="val 14165"/>
            </a:avLst>
          </a:prstGeom>
          <a:solidFill>
            <a:srgbClr val="F8EAFA"/>
          </a:solidFill>
          <a:ln/>
        </p:spPr>
      </p:sp>
      <p:sp>
        <p:nvSpPr>
          <p:cNvPr id="11" name="Text 9"/>
          <p:cNvSpPr txBox="1"/>
          <p:nvPr/>
        </p:nvSpPr>
        <p:spPr>
          <a:xfrm>
            <a:off x="704088" y="298170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pregnancy (L) (pregnansi): </a:t>
            </a:r>
            <a:r>
              <a:rPr lang="en-US" sz="1500" dirty="0">
                <a:solidFill>
                  <a:srgbClr val="1F2937"/>
                </a:solidFill>
                <a:latin typeface="Calibri" pitchFamily="34" charset="0"/>
                <a:ea typeface="Calibri" pitchFamily="34" charset="-122"/>
                <a:cs typeface="Calibri" pitchFamily="34" charset="-120"/>
              </a:rPr>
              <a:t>Gebelik, hamilelik</a:t>
            </a:r>
            <a:endParaRPr lang="en-US" sz="1500" dirty="0"/>
          </a:p>
        </p:txBody>
      </p:sp>
      <p:sp>
        <p:nvSpPr>
          <p:cNvPr id="12" name="Shape 10"/>
          <p:cNvSpPr/>
          <p:nvPr/>
        </p:nvSpPr>
        <p:spPr>
          <a:xfrm>
            <a:off x="548640" y="3451860"/>
            <a:ext cx="5410048" cy="451866"/>
          </a:xfrm>
          <a:prstGeom prst="roundRect">
            <a:avLst>
              <a:gd name="adj" fmla="val 14165"/>
            </a:avLst>
          </a:prstGeom>
          <a:solidFill>
            <a:srgbClr val="F8EAFA"/>
          </a:solidFill>
          <a:ln/>
        </p:spPr>
      </p:sp>
      <p:sp>
        <p:nvSpPr>
          <p:cNvPr id="13" name="Text 11"/>
          <p:cNvSpPr txBox="1"/>
          <p:nvPr/>
        </p:nvSpPr>
        <p:spPr>
          <a:xfrm>
            <a:off x="704088"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gestation (G)  (gestasyon), cyesis (G) (siyez): </a:t>
            </a:r>
            <a:r>
              <a:rPr lang="en-US" sz="1500" dirty="0">
                <a:solidFill>
                  <a:srgbClr val="1F2937"/>
                </a:solidFill>
                <a:latin typeface="Calibri" pitchFamily="34" charset="0"/>
                <a:ea typeface="Calibri" pitchFamily="34" charset="-122"/>
                <a:cs typeface="Calibri" pitchFamily="34" charset="-120"/>
              </a:rPr>
              <a:t>Gebelik</a:t>
            </a:r>
            <a:endParaRPr lang="en-US" sz="1500" dirty="0"/>
          </a:p>
        </p:txBody>
      </p:sp>
      <p:sp>
        <p:nvSpPr>
          <p:cNvPr id="14" name="Shape 12"/>
          <p:cNvSpPr/>
          <p:nvPr/>
        </p:nvSpPr>
        <p:spPr>
          <a:xfrm>
            <a:off x="548640" y="3995166"/>
            <a:ext cx="5410048" cy="451866"/>
          </a:xfrm>
          <a:prstGeom prst="roundRect">
            <a:avLst>
              <a:gd name="adj" fmla="val 14165"/>
            </a:avLst>
          </a:prstGeom>
          <a:solidFill>
            <a:srgbClr val="F8EAFA"/>
          </a:solidFill>
          <a:ln/>
        </p:spPr>
      </p:sp>
      <p:sp>
        <p:nvSpPr>
          <p:cNvPr id="15" name="Text 13"/>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natus (L): </a:t>
            </a:r>
            <a:r>
              <a:rPr lang="en-US" sz="1500" dirty="0">
                <a:solidFill>
                  <a:srgbClr val="1F2937"/>
                </a:solidFill>
                <a:latin typeface="Calibri" pitchFamily="34" charset="0"/>
                <a:ea typeface="Calibri" pitchFamily="34" charset="-122"/>
                <a:cs typeface="Calibri" pitchFamily="34" charset="-120"/>
              </a:rPr>
              <a:t>Doğum</a:t>
            </a:r>
            <a:endParaRPr lang="en-US" sz="1500" dirty="0"/>
          </a:p>
        </p:txBody>
      </p:sp>
      <p:sp>
        <p:nvSpPr>
          <p:cNvPr id="16" name="Shape 14"/>
          <p:cNvSpPr/>
          <p:nvPr/>
        </p:nvSpPr>
        <p:spPr>
          <a:xfrm>
            <a:off x="548640" y="4538472"/>
            <a:ext cx="5410048" cy="451866"/>
          </a:xfrm>
          <a:prstGeom prst="roundRect">
            <a:avLst>
              <a:gd name="adj" fmla="val 14165"/>
            </a:avLst>
          </a:prstGeom>
          <a:solidFill>
            <a:srgbClr val="F8EAFA"/>
          </a:solidFill>
          <a:ln/>
        </p:spPr>
      </p:sp>
      <p:sp>
        <p:nvSpPr>
          <p:cNvPr id="17" name="Text 15"/>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travay: </a:t>
            </a:r>
            <a:r>
              <a:rPr lang="en-US" sz="1500" dirty="0">
                <a:solidFill>
                  <a:srgbClr val="1F2937"/>
                </a:solidFill>
                <a:latin typeface="Calibri" pitchFamily="34" charset="0"/>
                <a:ea typeface="Calibri" pitchFamily="34" charset="-122"/>
                <a:cs typeface="Calibri" pitchFamily="34" charset="-120"/>
              </a:rPr>
              <a:t>Doğum</a:t>
            </a:r>
            <a:endParaRPr lang="en-US" sz="1500" dirty="0"/>
          </a:p>
        </p:txBody>
      </p:sp>
      <p:sp>
        <p:nvSpPr>
          <p:cNvPr id="18" name="Shape 16"/>
          <p:cNvSpPr/>
          <p:nvPr/>
        </p:nvSpPr>
        <p:spPr>
          <a:xfrm>
            <a:off x="548640" y="5081778"/>
            <a:ext cx="5410048" cy="451866"/>
          </a:xfrm>
          <a:prstGeom prst="roundRect">
            <a:avLst>
              <a:gd name="adj" fmla="val 14165"/>
            </a:avLst>
          </a:prstGeom>
          <a:solidFill>
            <a:srgbClr val="F8EAFA"/>
          </a:solidFill>
          <a:ln/>
        </p:spPr>
      </p:sp>
      <p:sp>
        <p:nvSpPr>
          <p:cNvPr id="19" name="Text 17"/>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primipara (L) (primipar): </a:t>
            </a:r>
            <a:r>
              <a:rPr lang="en-US" sz="1500" dirty="0">
                <a:solidFill>
                  <a:srgbClr val="1F2937"/>
                </a:solidFill>
                <a:latin typeface="Calibri" pitchFamily="34" charset="0"/>
                <a:ea typeface="Calibri" pitchFamily="34" charset="-122"/>
                <a:cs typeface="Calibri" pitchFamily="34" charset="-120"/>
              </a:rPr>
              <a:t>İlk doğum</a:t>
            </a:r>
            <a:endParaRPr lang="en-US" sz="1500" dirty="0"/>
          </a:p>
        </p:txBody>
      </p:sp>
      <p:sp>
        <p:nvSpPr>
          <p:cNvPr id="20" name="Shape 18"/>
          <p:cNvSpPr/>
          <p:nvPr/>
        </p:nvSpPr>
        <p:spPr>
          <a:xfrm>
            <a:off x="548640" y="5625084"/>
            <a:ext cx="5410048" cy="684276"/>
          </a:xfrm>
          <a:prstGeom prst="roundRect">
            <a:avLst>
              <a:gd name="adj" fmla="val 9354"/>
            </a:avLst>
          </a:prstGeom>
          <a:solidFill>
            <a:srgbClr val="F8EAFA"/>
          </a:solidFill>
          <a:ln/>
        </p:spPr>
      </p:sp>
      <p:sp>
        <p:nvSpPr>
          <p:cNvPr id="21" name="Text 19"/>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multipara (L) (multipar): </a:t>
            </a:r>
            <a:r>
              <a:rPr lang="en-US" sz="1500" dirty="0">
                <a:solidFill>
                  <a:srgbClr val="1F2937"/>
                </a:solidFill>
                <a:latin typeface="Calibri" pitchFamily="34" charset="0"/>
                <a:ea typeface="Calibri" pitchFamily="34" charset="-122"/>
                <a:cs typeface="Calibri" pitchFamily="34" charset="-120"/>
              </a:rPr>
              <a:t>İki ya da daha fazla doğum yapmış kadın</a:t>
            </a:r>
            <a:endParaRPr lang="en-US" sz="1500" dirty="0"/>
          </a:p>
        </p:txBody>
      </p:sp>
      <p:sp>
        <p:nvSpPr>
          <p:cNvPr id="22" name="Shape 20"/>
          <p:cNvSpPr/>
          <p:nvPr/>
        </p:nvSpPr>
        <p:spPr>
          <a:xfrm>
            <a:off x="6233008" y="1589532"/>
            <a:ext cx="5410048" cy="451866"/>
          </a:xfrm>
          <a:prstGeom prst="roundRect">
            <a:avLst>
              <a:gd name="adj" fmla="val 14165"/>
            </a:avLst>
          </a:prstGeom>
          <a:solidFill>
            <a:srgbClr val="F8EAFA"/>
          </a:solidFill>
          <a:ln/>
        </p:spPr>
      </p:sp>
      <p:sp>
        <p:nvSpPr>
          <p:cNvPr id="23" name="Text 21"/>
          <p:cNvSpPr txBox="1"/>
          <p:nvPr/>
        </p:nvSpPr>
        <p:spPr>
          <a:xfrm>
            <a:off x="6388456" y="16626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abortion, abortus (L): </a:t>
            </a:r>
            <a:r>
              <a:rPr lang="en-US" sz="1500" dirty="0">
                <a:solidFill>
                  <a:srgbClr val="1F2937"/>
                </a:solidFill>
                <a:latin typeface="Calibri" pitchFamily="34" charset="0"/>
                <a:ea typeface="Calibri" pitchFamily="34" charset="-122"/>
                <a:cs typeface="Calibri" pitchFamily="34" charset="-120"/>
              </a:rPr>
              <a:t>çocuk düşürme, düşük yapma</a:t>
            </a:r>
            <a:endParaRPr lang="en-US" sz="1500" dirty="0"/>
          </a:p>
        </p:txBody>
      </p:sp>
      <p:sp>
        <p:nvSpPr>
          <p:cNvPr id="24" name="Shape 22"/>
          <p:cNvSpPr/>
          <p:nvPr/>
        </p:nvSpPr>
        <p:spPr>
          <a:xfrm>
            <a:off x="6233008" y="2132838"/>
            <a:ext cx="5410048" cy="684276"/>
          </a:xfrm>
          <a:prstGeom prst="roundRect">
            <a:avLst>
              <a:gd name="adj" fmla="val 9354"/>
            </a:avLst>
          </a:prstGeom>
          <a:solidFill>
            <a:srgbClr val="F8EAFA"/>
          </a:solidFill>
          <a:ln/>
        </p:spPr>
      </p:sp>
      <p:sp>
        <p:nvSpPr>
          <p:cNvPr id="25" name="Text 23"/>
          <p:cNvSpPr txBox="1"/>
          <p:nvPr/>
        </p:nvSpPr>
        <p:spPr>
          <a:xfrm>
            <a:off x="6388456" y="220599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spontaneous abortus (L) (spontan abortus): </a:t>
            </a:r>
            <a:r>
              <a:rPr lang="en-US" sz="1500" dirty="0">
                <a:solidFill>
                  <a:srgbClr val="1F2937"/>
                </a:solidFill>
                <a:latin typeface="Calibri" pitchFamily="34" charset="0"/>
                <a:ea typeface="Calibri" pitchFamily="34" charset="-122"/>
                <a:cs typeface="Calibri" pitchFamily="34" charset="-120"/>
              </a:rPr>
              <a:t>Kendiliğinden oluşan düşük</a:t>
            </a:r>
            <a:endParaRPr lang="en-US" sz="1500" dirty="0"/>
          </a:p>
        </p:txBody>
      </p:sp>
      <p:sp>
        <p:nvSpPr>
          <p:cNvPr id="26" name="Shape 24"/>
          <p:cNvSpPr/>
          <p:nvPr/>
        </p:nvSpPr>
        <p:spPr>
          <a:xfrm>
            <a:off x="6233008" y="2908554"/>
            <a:ext cx="5410048" cy="916686"/>
          </a:xfrm>
          <a:prstGeom prst="roundRect">
            <a:avLst>
              <a:gd name="adj" fmla="val 6983"/>
            </a:avLst>
          </a:prstGeom>
          <a:solidFill>
            <a:srgbClr val="F8EAFA"/>
          </a:solidFill>
          <a:ln/>
        </p:spPr>
      </p:sp>
      <p:sp>
        <p:nvSpPr>
          <p:cNvPr id="27" name="Text 25"/>
          <p:cNvSpPr txBox="1"/>
          <p:nvPr/>
        </p:nvSpPr>
        <p:spPr>
          <a:xfrm>
            <a:off x="6388456" y="298170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A21CAF"/>
                </a:solidFill>
                <a:latin typeface="Calibri" pitchFamily="34" charset="0"/>
                <a:ea typeface="Calibri" pitchFamily="34" charset="-122"/>
                <a:cs typeface="Calibri" pitchFamily="34" charset="-120"/>
              </a:rPr>
              <a:t>habitual abortion (habitüel abortus): </a:t>
            </a:r>
            <a:r>
              <a:rPr lang="en-US" sz="1500" dirty="0">
                <a:solidFill>
                  <a:srgbClr val="1F2937"/>
                </a:solidFill>
                <a:latin typeface="Calibri" pitchFamily="34" charset="0"/>
                <a:ea typeface="Calibri" pitchFamily="34" charset="-122"/>
                <a:cs typeface="Calibri" pitchFamily="34" charset="-120"/>
              </a:rPr>
              <a:t>Tekrarlayıcı düşük. Birbirini takip eden  3 ya da daha fazla gebeliğin düşükle sonuçlanması</a:t>
            </a:r>
            <a:endParaRPr lang="en-US" sz="15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8EAFA"/>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Doğum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265</a:t>
            </a:r>
            <a:endParaRPr lang="en-US" sz="1000" dirty="0"/>
          </a:p>
        </p:txBody>
      </p:sp>
      <p:sp>
        <p:nvSpPr>
          <p:cNvPr id="6" name="Shape 4"/>
          <p:cNvSpPr/>
          <p:nvPr/>
        </p:nvSpPr>
        <p:spPr>
          <a:xfrm>
            <a:off x="548640" y="1644599"/>
            <a:ext cx="11094415" cy="421742"/>
          </a:xfrm>
          <a:prstGeom prst="roundRect">
            <a:avLst>
              <a:gd name="adj" fmla="val 15177"/>
            </a:avLst>
          </a:prstGeom>
          <a:solidFill>
            <a:srgbClr val="F8EAFA"/>
          </a:solidFill>
          <a:ln/>
        </p:spPr>
      </p:sp>
      <p:sp>
        <p:nvSpPr>
          <p:cNvPr id="7" name="Text 5"/>
          <p:cNvSpPr txBox="1"/>
          <p:nvPr/>
        </p:nvSpPr>
        <p:spPr>
          <a:xfrm>
            <a:off x="704088" y="171775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premature (L): </a:t>
            </a:r>
            <a:r>
              <a:rPr lang="en-US" sz="1400" dirty="0">
                <a:solidFill>
                  <a:srgbClr val="1F2937"/>
                </a:solidFill>
                <a:latin typeface="Calibri" pitchFamily="34" charset="0"/>
                <a:ea typeface="Calibri" pitchFamily="34" charset="-122"/>
                <a:cs typeface="Calibri" pitchFamily="34" charset="-120"/>
              </a:rPr>
              <a:t>Eerken doğan bebek</a:t>
            </a:r>
            <a:endParaRPr lang="en-US" sz="1400" dirty="0"/>
          </a:p>
        </p:txBody>
      </p:sp>
      <p:sp>
        <p:nvSpPr>
          <p:cNvPr id="8" name="Shape 6"/>
          <p:cNvSpPr/>
          <p:nvPr/>
        </p:nvSpPr>
        <p:spPr>
          <a:xfrm>
            <a:off x="548640" y="2157781"/>
            <a:ext cx="11094415" cy="638658"/>
          </a:xfrm>
          <a:prstGeom prst="roundRect">
            <a:avLst>
              <a:gd name="adj" fmla="val 10022"/>
            </a:avLst>
          </a:prstGeom>
          <a:solidFill>
            <a:srgbClr val="F8EAFA"/>
          </a:solidFill>
          <a:ln/>
        </p:spPr>
      </p:sp>
      <p:sp>
        <p:nvSpPr>
          <p:cNvPr id="9" name="Text 7"/>
          <p:cNvSpPr txBox="1"/>
          <p:nvPr/>
        </p:nvSpPr>
        <p:spPr>
          <a:xfrm>
            <a:off x="704088" y="2230933"/>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hyperemesis gravidarum (GL) (hiperemez gravidarum): </a:t>
            </a:r>
            <a:r>
              <a:rPr lang="en-US" sz="1400" dirty="0">
                <a:solidFill>
                  <a:srgbClr val="1F2937"/>
                </a:solidFill>
                <a:latin typeface="Calibri" pitchFamily="34" charset="0"/>
                <a:ea typeface="Calibri" pitchFamily="34" charset="-122"/>
                <a:cs typeface="Calibri" pitchFamily="34" charset="-120"/>
              </a:rPr>
              <a:t>Gebe kadında görülen, dehidrasyon ve asidoz gelişmesine yol açacak derecede bulantı ve kusma</a:t>
            </a:r>
            <a:endParaRPr lang="en-US" sz="1400" dirty="0"/>
          </a:p>
        </p:txBody>
      </p:sp>
      <p:sp>
        <p:nvSpPr>
          <p:cNvPr id="10" name="Shape 8"/>
          <p:cNvSpPr/>
          <p:nvPr/>
        </p:nvSpPr>
        <p:spPr>
          <a:xfrm>
            <a:off x="548640" y="2887878"/>
            <a:ext cx="11094415" cy="638658"/>
          </a:xfrm>
          <a:prstGeom prst="roundRect">
            <a:avLst>
              <a:gd name="adj" fmla="val 10022"/>
            </a:avLst>
          </a:prstGeom>
          <a:solidFill>
            <a:srgbClr val="F8EAFA"/>
          </a:solidFill>
          <a:ln/>
        </p:spPr>
      </p:sp>
      <p:sp>
        <p:nvSpPr>
          <p:cNvPr id="11" name="Text 9"/>
          <p:cNvSpPr txBox="1"/>
          <p:nvPr/>
        </p:nvSpPr>
        <p:spPr>
          <a:xfrm>
            <a:off x="704088" y="2961030"/>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preeclampsia (LG) (preeklampsi): </a:t>
            </a:r>
            <a:r>
              <a:rPr lang="en-US" sz="1400" dirty="0">
                <a:solidFill>
                  <a:srgbClr val="1F2937"/>
                </a:solidFill>
                <a:latin typeface="Calibri" pitchFamily="34" charset="0"/>
                <a:ea typeface="Calibri" pitchFamily="34" charset="-122"/>
                <a:cs typeface="Calibri" pitchFamily="34" charset="-120"/>
              </a:rPr>
              <a:t>Gebeliğin 20. haftası ile oğumdan sonraki ilk hafta arasında hipertansiyon, albüminüri ve ödem gelişmesi</a:t>
            </a:r>
            <a:endParaRPr lang="en-US" sz="1400" dirty="0"/>
          </a:p>
        </p:txBody>
      </p:sp>
      <p:sp>
        <p:nvSpPr>
          <p:cNvPr id="12" name="Shape 10"/>
          <p:cNvSpPr/>
          <p:nvPr/>
        </p:nvSpPr>
        <p:spPr>
          <a:xfrm>
            <a:off x="548640" y="3617976"/>
            <a:ext cx="11094415" cy="421742"/>
          </a:xfrm>
          <a:prstGeom prst="roundRect">
            <a:avLst>
              <a:gd name="adj" fmla="val 15177"/>
            </a:avLst>
          </a:prstGeom>
          <a:solidFill>
            <a:srgbClr val="F8EAFA"/>
          </a:solidFill>
          <a:ln/>
        </p:spPr>
      </p:sp>
      <p:sp>
        <p:nvSpPr>
          <p:cNvPr id="13" name="Text 11"/>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eclampsia (G) (eklampsi): </a:t>
            </a:r>
            <a:r>
              <a:rPr lang="en-US" sz="1400" dirty="0">
                <a:solidFill>
                  <a:srgbClr val="1F2937"/>
                </a:solidFill>
                <a:latin typeface="Calibri" pitchFamily="34" charset="0"/>
                <a:ea typeface="Calibri" pitchFamily="34" charset="-122"/>
                <a:cs typeface="Calibri" pitchFamily="34" charset="-120"/>
              </a:rPr>
              <a:t>Preeklampsiye ek olarak konvülsiyon veya koma gelişmesidir</a:t>
            </a:r>
            <a:endParaRPr lang="en-US" sz="1400" dirty="0"/>
          </a:p>
        </p:txBody>
      </p:sp>
      <p:sp>
        <p:nvSpPr>
          <p:cNvPr id="14" name="Shape 12"/>
          <p:cNvSpPr/>
          <p:nvPr/>
        </p:nvSpPr>
        <p:spPr>
          <a:xfrm>
            <a:off x="548640" y="4131158"/>
            <a:ext cx="11094415" cy="421742"/>
          </a:xfrm>
          <a:prstGeom prst="roundRect">
            <a:avLst>
              <a:gd name="adj" fmla="val 15177"/>
            </a:avLst>
          </a:prstGeom>
          <a:solidFill>
            <a:srgbClr val="F8EAFA"/>
          </a:solidFill>
          <a:ln/>
        </p:spPr>
      </p:sp>
      <p:sp>
        <p:nvSpPr>
          <p:cNvPr id="15" name="Text 13"/>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amniocentesis (G) (amniyosentez): </a:t>
            </a:r>
            <a:r>
              <a:rPr lang="en-US" sz="1400" dirty="0">
                <a:solidFill>
                  <a:srgbClr val="1F2937"/>
                </a:solidFill>
                <a:latin typeface="Calibri" pitchFamily="34" charset="0"/>
                <a:ea typeface="Calibri" pitchFamily="34" charset="-122"/>
                <a:cs typeface="Calibri" pitchFamily="34" charset="-120"/>
              </a:rPr>
              <a:t>Fetal anormalliklerin analizi için bir miktar amniyotik sıvı alınması</a:t>
            </a:r>
            <a:endParaRPr lang="en-US" sz="1400" dirty="0"/>
          </a:p>
        </p:txBody>
      </p:sp>
      <p:sp>
        <p:nvSpPr>
          <p:cNvPr id="16" name="Shape 14"/>
          <p:cNvSpPr/>
          <p:nvPr/>
        </p:nvSpPr>
        <p:spPr>
          <a:xfrm>
            <a:off x="548640" y="4644339"/>
            <a:ext cx="11094415" cy="638658"/>
          </a:xfrm>
          <a:prstGeom prst="roundRect">
            <a:avLst>
              <a:gd name="adj" fmla="val 10022"/>
            </a:avLst>
          </a:prstGeom>
          <a:solidFill>
            <a:srgbClr val="F8EAFA"/>
          </a:solidFill>
          <a:ln/>
        </p:spPr>
      </p:sp>
      <p:sp>
        <p:nvSpPr>
          <p:cNvPr id="17" name="Text 15"/>
          <p:cNvSpPr txBox="1"/>
          <p:nvPr/>
        </p:nvSpPr>
        <p:spPr>
          <a:xfrm>
            <a:off x="704088" y="471749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abruptio placenta (L) (abrupsiyo plasenta): </a:t>
            </a:r>
            <a:r>
              <a:rPr lang="en-US" sz="1400" dirty="0">
                <a:solidFill>
                  <a:srgbClr val="1F2937"/>
                </a:solidFill>
                <a:latin typeface="Calibri" pitchFamily="34" charset="0"/>
                <a:ea typeface="Calibri" pitchFamily="34" charset="-122"/>
                <a:cs typeface="Calibri" pitchFamily="34" charset="-120"/>
              </a:rPr>
              <a:t>Plasenta dekolmanı. Normal şekilde implante olmuş plasentanın uterustan erken ayrılması</a:t>
            </a:r>
            <a:endParaRPr lang="en-US" sz="1400" dirty="0"/>
          </a:p>
        </p:txBody>
      </p:sp>
      <p:sp>
        <p:nvSpPr>
          <p:cNvPr id="18" name="Shape 16"/>
          <p:cNvSpPr/>
          <p:nvPr/>
        </p:nvSpPr>
        <p:spPr>
          <a:xfrm>
            <a:off x="548640" y="5374437"/>
            <a:ext cx="11094415" cy="421742"/>
          </a:xfrm>
          <a:prstGeom prst="roundRect">
            <a:avLst>
              <a:gd name="adj" fmla="val 15177"/>
            </a:avLst>
          </a:prstGeom>
          <a:solidFill>
            <a:srgbClr val="F8EAFA"/>
          </a:solidFill>
          <a:ln/>
        </p:spPr>
      </p:sp>
      <p:sp>
        <p:nvSpPr>
          <p:cNvPr id="19" name="Text 17"/>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placenta praevia (L) (plasenta previa): </a:t>
            </a:r>
            <a:r>
              <a:rPr lang="en-US" sz="1400" dirty="0">
                <a:solidFill>
                  <a:srgbClr val="1F2937"/>
                </a:solidFill>
                <a:latin typeface="Calibri" pitchFamily="34" charset="0"/>
                <a:ea typeface="Calibri" pitchFamily="34" charset="-122"/>
                <a:cs typeface="Calibri" pitchFamily="34" charset="-120"/>
              </a:rPr>
              <a:t>Plasentanın serviks iç ağzı üzerine veya yakınına implante olması</a:t>
            </a:r>
            <a:endParaRPr lang="en-US" sz="1400" dirty="0"/>
          </a:p>
        </p:txBody>
      </p:sp>
      <p:sp>
        <p:nvSpPr>
          <p:cNvPr id="20" name="Shape 18"/>
          <p:cNvSpPr/>
          <p:nvPr/>
        </p:nvSpPr>
        <p:spPr>
          <a:xfrm>
            <a:off x="548640" y="5887618"/>
            <a:ext cx="11094415" cy="421742"/>
          </a:xfrm>
          <a:prstGeom prst="roundRect">
            <a:avLst>
              <a:gd name="adj" fmla="val 15177"/>
            </a:avLst>
          </a:prstGeom>
          <a:solidFill>
            <a:srgbClr val="F8EAFA"/>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retention of placenta (İ) (plasenta retansiyonu): </a:t>
            </a:r>
            <a:r>
              <a:rPr lang="en-US" sz="1400" dirty="0">
                <a:solidFill>
                  <a:srgbClr val="1F2937"/>
                </a:solidFill>
                <a:latin typeface="Calibri" pitchFamily="34" charset="0"/>
                <a:ea typeface="Calibri" pitchFamily="34" charset="-122"/>
                <a:cs typeface="Calibri" pitchFamily="34" charset="-120"/>
              </a:rPr>
              <a:t>Doğumdan sonra plasentanın bir kısmının uterusta kalması</a:t>
            </a:r>
            <a:endParaRPr lang="en-US" sz="14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F8EAFA"/>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A21CAF"/>
                </a:solidFill>
                <a:latin typeface="Calibri" pitchFamily="34" charset="0"/>
                <a:ea typeface="Calibri" pitchFamily="34" charset="-122"/>
                <a:cs typeface="Calibri" pitchFamily="34" charset="-120"/>
              </a:rPr>
              <a:t>BÖLÜM 10  ·  GENİTAL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Doğum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266</a:t>
            </a:r>
            <a:endParaRPr lang="en-US" sz="1000" dirty="0"/>
          </a:p>
        </p:txBody>
      </p:sp>
      <p:sp>
        <p:nvSpPr>
          <p:cNvPr id="6" name="Shape 4"/>
          <p:cNvSpPr/>
          <p:nvPr/>
        </p:nvSpPr>
        <p:spPr>
          <a:xfrm>
            <a:off x="548640" y="1553820"/>
            <a:ext cx="11094415" cy="638658"/>
          </a:xfrm>
          <a:prstGeom prst="roundRect">
            <a:avLst>
              <a:gd name="adj" fmla="val 10022"/>
            </a:avLst>
          </a:prstGeom>
          <a:solidFill>
            <a:srgbClr val="F8EAFA"/>
          </a:solidFill>
          <a:ln/>
        </p:spPr>
      </p:sp>
      <p:sp>
        <p:nvSpPr>
          <p:cNvPr id="7" name="Text 5"/>
          <p:cNvSpPr txBox="1"/>
          <p:nvPr/>
        </p:nvSpPr>
        <p:spPr>
          <a:xfrm>
            <a:off x="704088" y="162697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erythroblastosis fetalis (G) (eritroblastozis fetalis): </a:t>
            </a:r>
            <a:r>
              <a:rPr lang="en-US" sz="1400" dirty="0">
                <a:solidFill>
                  <a:srgbClr val="1F2937"/>
                </a:solidFill>
                <a:latin typeface="Calibri" pitchFamily="34" charset="0"/>
                <a:ea typeface="Calibri" pitchFamily="34" charset="-122"/>
                <a:cs typeface="Calibri" pitchFamily="34" charset="-120"/>
              </a:rPr>
              <a:t>Genellikle anneyle fetusun kan gruplarındaki uyuşmazlık nedeniyle anne kanında oluşan antikorların plasenta yoluyla fetusa geçmesi sonucu fetusta veya yenidoğanda ortaya çıkan hemolitik anemi</a:t>
            </a:r>
            <a:endParaRPr lang="en-US" sz="1400" dirty="0"/>
          </a:p>
        </p:txBody>
      </p:sp>
      <p:sp>
        <p:nvSpPr>
          <p:cNvPr id="8" name="Shape 6"/>
          <p:cNvSpPr/>
          <p:nvPr/>
        </p:nvSpPr>
        <p:spPr>
          <a:xfrm>
            <a:off x="548640" y="2283917"/>
            <a:ext cx="11094415" cy="638658"/>
          </a:xfrm>
          <a:prstGeom prst="roundRect">
            <a:avLst>
              <a:gd name="adj" fmla="val 10022"/>
            </a:avLst>
          </a:prstGeom>
          <a:solidFill>
            <a:srgbClr val="F8EAFA"/>
          </a:solidFill>
          <a:ln/>
        </p:spPr>
      </p:sp>
      <p:sp>
        <p:nvSpPr>
          <p:cNvPr id="9" name="Text 7"/>
          <p:cNvSpPr txBox="1"/>
          <p:nvPr/>
        </p:nvSpPr>
        <p:spPr>
          <a:xfrm>
            <a:off x="704088" y="2357069"/>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ectopic pregnancy (GL) (ektopik pregnansi): </a:t>
            </a:r>
            <a:r>
              <a:rPr lang="en-US" sz="1400" dirty="0">
                <a:solidFill>
                  <a:srgbClr val="1F2937"/>
                </a:solidFill>
                <a:latin typeface="Calibri" pitchFamily="34" charset="0"/>
                <a:ea typeface="Calibri" pitchFamily="34" charset="-122"/>
                <a:cs typeface="Calibri" pitchFamily="34" charset="-120"/>
              </a:rPr>
              <a:t>Ektopik gebelik, dış gebelik. İmplantasyonun uterus lümeni yerine serviks, tuba uterina veya karın boşluğunda olmasıdır.</a:t>
            </a:r>
            <a:endParaRPr lang="en-US" sz="1400" dirty="0"/>
          </a:p>
        </p:txBody>
      </p:sp>
      <p:sp>
        <p:nvSpPr>
          <p:cNvPr id="10" name="Shape 8"/>
          <p:cNvSpPr/>
          <p:nvPr/>
        </p:nvSpPr>
        <p:spPr>
          <a:xfrm>
            <a:off x="548640" y="3104794"/>
            <a:ext cx="11094415" cy="421742"/>
          </a:xfrm>
          <a:prstGeom prst="roundRect">
            <a:avLst>
              <a:gd name="adj" fmla="val 15177"/>
            </a:avLst>
          </a:prstGeom>
          <a:solidFill>
            <a:srgbClr val="F8EAFA"/>
          </a:solidFill>
          <a:ln/>
        </p:spPr>
      </p:sp>
      <p:sp>
        <p:nvSpPr>
          <p:cNvPr id="11" name="Text 9"/>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RİA: </a:t>
            </a:r>
            <a:r>
              <a:rPr lang="en-US" sz="1400" dirty="0">
                <a:solidFill>
                  <a:srgbClr val="1F2937"/>
                </a:solidFill>
                <a:latin typeface="Calibri" pitchFamily="34" charset="0"/>
                <a:ea typeface="Calibri" pitchFamily="34" charset="-122"/>
                <a:cs typeface="Calibri" pitchFamily="34" charset="-120"/>
              </a:rPr>
              <a:t>Rahim içi araç. Doğum kontrol amaçlıdır</a:t>
            </a:r>
            <a:endParaRPr lang="en-US" sz="1400" dirty="0"/>
          </a:p>
        </p:txBody>
      </p:sp>
      <p:sp>
        <p:nvSpPr>
          <p:cNvPr id="12" name="Shape 10"/>
          <p:cNvSpPr/>
          <p:nvPr/>
        </p:nvSpPr>
        <p:spPr>
          <a:xfrm>
            <a:off x="548640" y="3617976"/>
            <a:ext cx="11094415" cy="421742"/>
          </a:xfrm>
          <a:prstGeom prst="roundRect">
            <a:avLst>
              <a:gd name="adj" fmla="val 15177"/>
            </a:avLst>
          </a:prstGeom>
          <a:solidFill>
            <a:srgbClr val="F8EAFA"/>
          </a:solidFill>
          <a:ln/>
        </p:spPr>
      </p:sp>
      <p:sp>
        <p:nvSpPr>
          <p:cNvPr id="13" name="Text 11"/>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sterilization (L) (sterilizasyon): </a:t>
            </a:r>
            <a:r>
              <a:rPr lang="en-US" sz="1400" dirty="0">
                <a:solidFill>
                  <a:srgbClr val="1F2937"/>
                </a:solidFill>
                <a:latin typeface="Calibri" pitchFamily="34" charset="0"/>
                <a:ea typeface="Calibri" pitchFamily="34" charset="-122"/>
                <a:cs typeface="Calibri" pitchFamily="34" charset="-120"/>
              </a:rPr>
              <a:t>Kısırlaştırma</a:t>
            </a:r>
            <a:endParaRPr lang="en-US" sz="1400" dirty="0"/>
          </a:p>
        </p:txBody>
      </p:sp>
      <p:sp>
        <p:nvSpPr>
          <p:cNvPr id="14" name="Shape 12"/>
          <p:cNvSpPr/>
          <p:nvPr/>
        </p:nvSpPr>
        <p:spPr>
          <a:xfrm>
            <a:off x="548640" y="4131158"/>
            <a:ext cx="11094415" cy="421742"/>
          </a:xfrm>
          <a:prstGeom prst="roundRect">
            <a:avLst>
              <a:gd name="adj" fmla="val 15177"/>
            </a:avLst>
          </a:prstGeom>
          <a:solidFill>
            <a:srgbClr val="F8EAFA"/>
          </a:solidFill>
          <a:ln/>
        </p:spPr>
      </p:sp>
      <p:sp>
        <p:nvSpPr>
          <p:cNvPr id="15" name="Text 13"/>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tubal ligation (L) (tubal ligasyon): </a:t>
            </a:r>
            <a:r>
              <a:rPr lang="en-US" sz="1400" dirty="0">
                <a:solidFill>
                  <a:srgbClr val="1F2937"/>
                </a:solidFill>
                <a:latin typeface="Calibri" pitchFamily="34" charset="0"/>
                <a:ea typeface="Calibri" pitchFamily="34" charset="-122"/>
                <a:cs typeface="Calibri" pitchFamily="34" charset="-120"/>
              </a:rPr>
              <a:t>Tuba uterinaların bağlanması</a:t>
            </a:r>
            <a:endParaRPr lang="en-US" sz="1400" dirty="0"/>
          </a:p>
        </p:txBody>
      </p:sp>
      <p:sp>
        <p:nvSpPr>
          <p:cNvPr id="16" name="Shape 14"/>
          <p:cNvSpPr/>
          <p:nvPr/>
        </p:nvSpPr>
        <p:spPr>
          <a:xfrm>
            <a:off x="548640" y="4644339"/>
            <a:ext cx="11094415" cy="638658"/>
          </a:xfrm>
          <a:prstGeom prst="roundRect">
            <a:avLst>
              <a:gd name="adj" fmla="val 10022"/>
            </a:avLst>
          </a:prstGeom>
          <a:solidFill>
            <a:srgbClr val="F8EAFA"/>
          </a:solidFill>
          <a:ln/>
        </p:spPr>
      </p:sp>
      <p:sp>
        <p:nvSpPr>
          <p:cNvPr id="17" name="Text 15"/>
          <p:cNvSpPr txBox="1"/>
          <p:nvPr/>
        </p:nvSpPr>
        <p:spPr>
          <a:xfrm>
            <a:off x="704088" y="471749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episiotomy (G) (epixyotomi): </a:t>
            </a:r>
            <a:r>
              <a:rPr lang="en-US" sz="1400" dirty="0">
                <a:solidFill>
                  <a:srgbClr val="1F2937"/>
                </a:solidFill>
                <a:latin typeface="Calibri" pitchFamily="34" charset="0"/>
                <a:ea typeface="Calibri" pitchFamily="34" charset="-122"/>
                <a:cs typeface="Calibri" pitchFamily="34" charset="-120"/>
              </a:rPr>
              <a:t>Doğum sırasında oluşabilecek yırtıkları önlemek amacıyla vulvanın alt yan tarafına kesi yapılması</a:t>
            </a:r>
            <a:endParaRPr lang="en-US" sz="1400" dirty="0"/>
          </a:p>
        </p:txBody>
      </p:sp>
      <p:sp>
        <p:nvSpPr>
          <p:cNvPr id="18" name="Shape 16"/>
          <p:cNvSpPr/>
          <p:nvPr/>
        </p:nvSpPr>
        <p:spPr>
          <a:xfrm>
            <a:off x="548640" y="5374437"/>
            <a:ext cx="11094415" cy="421742"/>
          </a:xfrm>
          <a:prstGeom prst="roundRect">
            <a:avLst>
              <a:gd name="adj" fmla="val 15177"/>
            </a:avLst>
          </a:prstGeom>
          <a:solidFill>
            <a:srgbClr val="F8EAFA"/>
          </a:solidFill>
          <a:ln/>
        </p:spPr>
      </p:sp>
      <p:sp>
        <p:nvSpPr>
          <p:cNvPr id="19" name="Text 17"/>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episiorrhaphia (G) (epizyorafi): </a:t>
            </a:r>
            <a:r>
              <a:rPr lang="en-US" sz="1400" dirty="0">
                <a:solidFill>
                  <a:srgbClr val="1F2937"/>
                </a:solidFill>
                <a:latin typeface="Calibri" pitchFamily="34" charset="0"/>
                <a:ea typeface="Calibri" pitchFamily="34" charset="-122"/>
                <a:cs typeface="Calibri" pitchFamily="34" charset="-120"/>
              </a:rPr>
              <a:t>Yırtık ve benzeri sebeplerle vulva bölgesine dikiş atılması</a:t>
            </a:r>
            <a:endParaRPr lang="en-US" sz="1400" dirty="0"/>
          </a:p>
        </p:txBody>
      </p:sp>
      <p:sp>
        <p:nvSpPr>
          <p:cNvPr id="20" name="Shape 18"/>
          <p:cNvSpPr/>
          <p:nvPr/>
        </p:nvSpPr>
        <p:spPr>
          <a:xfrm>
            <a:off x="548640" y="5887618"/>
            <a:ext cx="11094415" cy="421742"/>
          </a:xfrm>
          <a:prstGeom prst="roundRect">
            <a:avLst>
              <a:gd name="adj" fmla="val 15177"/>
            </a:avLst>
          </a:prstGeom>
          <a:solidFill>
            <a:srgbClr val="F8EAFA"/>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A21CAF"/>
                </a:solidFill>
                <a:latin typeface="Calibri" pitchFamily="34" charset="0"/>
                <a:ea typeface="Calibri" pitchFamily="34" charset="-122"/>
                <a:cs typeface="Calibri" pitchFamily="34" charset="-120"/>
              </a:rPr>
              <a:t>caesarian (L) (sezaryan): </a:t>
            </a:r>
            <a:r>
              <a:rPr lang="en-US" sz="1400" dirty="0">
                <a:solidFill>
                  <a:srgbClr val="1F2937"/>
                </a:solidFill>
                <a:latin typeface="Calibri" pitchFamily="34" charset="0"/>
                <a:ea typeface="Calibri" pitchFamily="34" charset="-122"/>
                <a:cs typeface="Calibri" pitchFamily="34" charset="-120"/>
              </a:rPr>
              <a:t>Karından girilip corpus uteriye cerrahi insizyon yapılarak gerçekleştirilen doğum</a:t>
            </a:r>
            <a:endParaRPr lang="en-US" sz="14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ECFD"/>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E3D9FA"/>
                </a:solidFill>
                <a:latin typeface="Cambria" pitchFamily="34" charset="0"/>
                <a:ea typeface="Cambria" pitchFamily="34" charset="-122"/>
                <a:cs typeface="Cambria" pitchFamily="34" charset="-120"/>
              </a:rPr>
              <a:t>11</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6D28D9"/>
                </a:solidFill>
                <a:latin typeface="Calibri" pitchFamily="34" charset="0"/>
                <a:ea typeface="Calibri" pitchFamily="34" charset="-122"/>
                <a:cs typeface="Calibri" pitchFamily="34" charset="-120"/>
              </a:rPr>
              <a:t>BÖLÜM 11</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ENDOKRİN SİSTEM TERİMLERİ</a:t>
            </a:r>
            <a:endParaRPr lang="en-US" sz="3600" dirty="0"/>
          </a:p>
        </p:txBody>
      </p:sp>
      <p:sp>
        <p:nvSpPr>
          <p:cNvPr id="7" name="Shape 5"/>
          <p:cNvSpPr/>
          <p:nvPr/>
        </p:nvSpPr>
        <p:spPr>
          <a:xfrm>
            <a:off x="8503920" y="2331720"/>
            <a:ext cx="2194560" cy="2194560"/>
          </a:xfrm>
          <a:prstGeom prst="ellipse">
            <a:avLst/>
          </a:prstGeom>
          <a:solidFill>
            <a:srgbClr val="F1ECFD"/>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269</a:t>
            </a:r>
            <a:endParaRPr lang="en-US" sz="10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F1ECFD"/>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ENDOKRİN SİSTEM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270</a:t>
            </a:r>
            <a:endParaRPr lang="en-US" sz="1000" dirty="0"/>
          </a:p>
        </p:txBody>
      </p:sp>
      <p:sp>
        <p:nvSpPr>
          <p:cNvPr id="6" name="Shape 4"/>
          <p:cNvSpPr/>
          <p:nvPr/>
        </p:nvSpPr>
        <p:spPr>
          <a:xfrm>
            <a:off x="548640" y="1841297"/>
            <a:ext cx="11094415" cy="1302309"/>
          </a:xfrm>
          <a:prstGeom prst="roundRect">
            <a:avLst>
              <a:gd name="adj" fmla="val 4915"/>
            </a:avLst>
          </a:prstGeom>
          <a:solidFill>
            <a:srgbClr val="F1ECFD"/>
          </a:solidFill>
          <a:ln/>
        </p:spPr>
      </p:sp>
      <p:sp>
        <p:nvSpPr>
          <p:cNvPr id="7" name="Text 5"/>
          <p:cNvSpPr txBox="1"/>
          <p:nvPr/>
        </p:nvSpPr>
        <p:spPr>
          <a:xfrm>
            <a:off x="704088" y="1914449"/>
            <a:ext cx="10783519" cy="1156005"/>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Endokrin istem, içsalgı yapan organlar topluluğudur. Bu organların bir kısmı birbirini etkileyerek çalışırlar, diğerleri de bağımsız işlev yaparlar. Bağımsız çalışanlara örnek olarak pankreas içindeki Langerhans adacıkları gösterilebilir. Etkileşim içinde olanlar, hipofizden etkilenenlerdir. Bunlar tiroit, böbreküstü bezleri vb. dir.</a:t>
            </a:r>
            <a:endParaRPr lang="en-US" sz="1700" dirty="0"/>
          </a:p>
        </p:txBody>
      </p:sp>
      <p:sp>
        <p:nvSpPr>
          <p:cNvPr id="8" name="Shape 6"/>
          <p:cNvSpPr/>
          <p:nvPr/>
        </p:nvSpPr>
        <p:spPr>
          <a:xfrm>
            <a:off x="548640" y="3235046"/>
            <a:ext cx="11094415" cy="1829105"/>
          </a:xfrm>
          <a:prstGeom prst="roundRect">
            <a:avLst>
              <a:gd name="adj" fmla="val 3499"/>
            </a:avLst>
          </a:prstGeom>
          <a:solidFill>
            <a:srgbClr val="F1ECFD"/>
          </a:solidFill>
          <a:ln/>
        </p:spPr>
      </p:sp>
      <p:sp>
        <p:nvSpPr>
          <p:cNvPr id="9" name="Text 7"/>
          <p:cNvSpPr txBox="1"/>
          <p:nvPr/>
        </p:nvSpPr>
        <p:spPr>
          <a:xfrm>
            <a:off x="704088" y="3308198"/>
            <a:ext cx="10783519" cy="1682801"/>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Endokrin sistem organlarının salgılarına hormon denir. Hormonlar doğrudan kana verilirler. Hormon, çevresindeki kapiller içinde kana geçirilir. Dış salgı bezlerinden farkları kanallarının olmayışıdır. Vücutta bazı iç salgı yapan hücreler toplanıp organ yapmamışlardır. Bu hücreler vücutta yaygın şekilde bulunurlar. Bunlara DNES (diffuz nöroendokrin sistem) hücreleri denir. Bu hücreler mide, bağırsaklar ve solunum yollarında çok görülürler. Salgıladıkları hormona ‘‘doku hormonu’’ denir. Doku hormonu çevredeki doku sıvısı içine verilir ve çevre hücreleri etkiler. Bu etkilenmeye parakrin etki denir.</a:t>
            </a:r>
            <a:endParaRPr lang="en-US" sz="1700" dirty="0"/>
          </a:p>
        </p:txBody>
      </p:sp>
      <p:sp>
        <p:nvSpPr>
          <p:cNvPr id="10" name="Shape 8"/>
          <p:cNvSpPr/>
          <p:nvPr/>
        </p:nvSpPr>
        <p:spPr>
          <a:xfrm>
            <a:off x="548640" y="5533847"/>
            <a:ext cx="11094415" cy="775513"/>
          </a:xfrm>
          <a:prstGeom prst="roundRect">
            <a:avLst>
              <a:gd name="adj" fmla="val 8254"/>
            </a:avLst>
          </a:prstGeom>
          <a:solidFill>
            <a:srgbClr val="F1ECFD"/>
          </a:solidFill>
          <a:ln/>
        </p:spPr>
      </p:sp>
      <p:sp>
        <p:nvSpPr>
          <p:cNvPr id="11" name="Text 9"/>
          <p:cNvSpPr txBox="1"/>
          <p:nvPr/>
        </p:nvSpPr>
        <p:spPr>
          <a:xfrm>
            <a:off x="704088" y="5606999"/>
            <a:ext cx="10783519" cy="629209"/>
          </a:xfrm>
          <a:prstGeom prst="rect">
            <a:avLst/>
          </a:prstGeom>
          <a:noFill/>
          <a:ln/>
        </p:spPr>
        <p:txBody>
          <a:bodyPr wrap="square" lIns="0" tIns="0" rIns="0" bIns="0" rtlCol="0" anchor="t"/>
          <a:lstStyle/>
          <a:p>
            <a:pPr marL="0" indent="0">
              <a:lnSpc>
                <a:spcPct val="105000"/>
              </a:lnSpc>
              <a:buNone/>
            </a:pPr>
            <a:r>
              <a:rPr lang="en-US" sz="1700" dirty="0">
                <a:solidFill>
                  <a:srgbClr val="1F2937"/>
                </a:solidFill>
                <a:latin typeface="Calibri" pitchFamily="34" charset="0"/>
                <a:ea typeface="Calibri" pitchFamily="34" charset="-122"/>
                <a:cs typeface="Calibri" pitchFamily="34" charset="-120"/>
              </a:rPr>
              <a:t>Kana verilen hormon uzak bir yerdeki organ ya da hücreyi etkiler. Buna endokrin etki, etkilediği organa da hedef (target) organ denir.</a:t>
            </a:r>
            <a:endParaRPr lang="en-US" sz="17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F1ECFD"/>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271</a:t>
            </a:r>
            <a:endParaRPr lang="en-US" sz="1000" dirty="0"/>
          </a:p>
        </p:txBody>
      </p:sp>
      <p:sp>
        <p:nvSpPr>
          <p:cNvPr id="6" name="Shape 4"/>
          <p:cNvSpPr/>
          <p:nvPr/>
        </p:nvSpPr>
        <p:spPr>
          <a:xfrm>
            <a:off x="548640" y="1813357"/>
            <a:ext cx="11094415" cy="481990"/>
          </a:xfrm>
          <a:prstGeom prst="roundRect">
            <a:avLst>
              <a:gd name="adj" fmla="val 13280"/>
            </a:avLst>
          </a:prstGeom>
          <a:solidFill>
            <a:srgbClr val="F1ECFD"/>
          </a:solidFill>
          <a:ln/>
        </p:spPr>
      </p:sp>
      <p:sp>
        <p:nvSpPr>
          <p:cNvPr id="7" name="Text 5"/>
          <p:cNvSpPr txBox="1"/>
          <p:nvPr/>
        </p:nvSpPr>
        <p:spPr>
          <a:xfrm>
            <a:off x="704088" y="1886509"/>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glandula (L): </a:t>
            </a:r>
            <a:r>
              <a:rPr lang="en-US" sz="1600" dirty="0">
                <a:solidFill>
                  <a:srgbClr val="1F2937"/>
                </a:solidFill>
                <a:latin typeface="Calibri" pitchFamily="34" charset="0"/>
                <a:ea typeface="Calibri" pitchFamily="34" charset="-122"/>
                <a:cs typeface="Calibri" pitchFamily="34" charset="-120"/>
              </a:rPr>
              <a:t>Salgı bezi. Gl., gl. olarak kısaltılır. Çoğulu glandulae’dir. Kısaltması ise Gll., gll. dir.</a:t>
            </a:r>
            <a:endParaRPr lang="en-US" sz="1600" dirty="0"/>
          </a:p>
        </p:txBody>
      </p:sp>
      <p:sp>
        <p:nvSpPr>
          <p:cNvPr id="8" name="Shape 6"/>
          <p:cNvSpPr/>
          <p:nvPr/>
        </p:nvSpPr>
        <p:spPr>
          <a:xfrm>
            <a:off x="548640" y="2386787"/>
            <a:ext cx="11094415" cy="481990"/>
          </a:xfrm>
          <a:prstGeom prst="roundRect">
            <a:avLst>
              <a:gd name="adj" fmla="val 13280"/>
            </a:avLst>
          </a:prstGeom>
          <a:solidFill>
            <a:srgbClr val="F1ECFD"/>
          </a:solidFill>
          <a:ln/>
        </p:spPr>
      </p:sp>
      <p:sp>
        <p:nvSpPr>
          <p:cNvPr id="9" name="Text 7"/>
          <p:cNvSpPr txBox="1"/>
          <p:nvPr/>
        </p:nvSpPr>
        <p:spPr>
          <a:xfrm>
            <a:off x="704088" y="2459939"/>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aden (G): </a:t>
            </a:r>
            <a:r>
              <a:rPr lang="en-US" sz="1600" dirty="0">
                <a:solidFill>
                  <a:srgbClr val="1F2937"/>
                </a:solidFill>
                <a:latin typeface="Calibri" pitchFamily="34" charset="0"/>
                <a:ea typeface="Calibri" pitchFamily="34" charset="-122"/>
                <a:cs typeface="Calibri" pitchFamily="34" charset="-120"/>
              </a:rPr>
              <a:t>Salgı bezi</a:t>
            </a:r>
            <a:endParaRPr lang="en-US" sz="1600" dirty="0"/>
          </a:p>
        </p:txBody>
      </p:sp>
      <p:sp>
        <p:nvSpPr>
          <p:cNvPr id="10" name="Shape 8"/>
          <p:cNvSpPr/>
          <p:nvPr/>
        </p:nvSpPr>
        <p:spPr>
          <a:xfrm>
            <a:off x="548640" y="2960218"/>
            <a:ext cx="11094415" cy="481990"/>
          </a:xfrm>
          <a:prstGeom prst="roundRect">
            <a:avLst>
              <a:gd name="adj" fmla="val 13280"/>
            </a:avLst>
          </a:prstGeom>
          <a:solidFill>
            <a:srgbClr val="F1ECFD"/>
          </a:solidFill>
          <a:ln/>
        </p:spPr>
      </p:sp>
      <p:sp>
        <p:nvSpPr>
          <p:cNvPr id="11" name="Text 9"/>
          <p:cNvSpPr txBox="1"/>
          <p:nvPr/>
        </p:nvSpPr>
        <p:spPr>
          <a:xfrm>
            <a:off x="704088" y="303337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parenchyma (G) (parenkima): </a:t>
            </a:r>
            <a:r>
              <a:rPr lang="en-US" sz="1600" dirty="0">
                <a:solidFill>
                  <a:srgbClr val="1F2937"/>
                </a:solidFill>
                <a:latin typeface="Calibri" pitchFamily="34" charset="0"/>
                <a:ea typeface="Calibri" pitchFamily="34" charset="-122"/>
                <a:cs typeface="Calibri" pitchFamily="34" charset="-120"/>
              </a:rPr>
              <a:t>Salgı bezinde salgı yapan hücrelerin oluşturduğu bölüm. Bezin işlevsel kısmı</a:t>
            </a:r>
            <a:endParaRPr lang="en-US" sz="1600" dirty="0"/>
          </a:p>
        </p:txBody>
      </p:sp>
      <p:sp>
        <p:nvSpPr>
          <p:cNvPr id="12" name="Shape 10"/>
          <p:cNvSpPr/>
          <p:nvPr/>
        </p:nvSpPr>
        <p:spPr>
          <a:xfrm>
            <a:off x="548640" y="3533648"/>
            <a:ext cx="11094415" cy="481990"/>
          </a:xfrm>
          <a:prstGeom prst="roundRect">
            <a:avLst>
              <a:gd name="adj" fmla="val 13280"/>
            </a:avLst>
          </a:prstGeom>
          <a:solidFill>
            <a:srgbClr val="F1ECFD"/>
          </a:solidFill>
          <a:ln/>
        </p:spPr>
      </p:sp>
      <p:sp>
        <p:nvSpPr>
          <p:cNvPr id="13" name="Text 11"/>
          <p:cNvSpPr txBox="1"/>
          <p:nvPr/>
        </p:nvSpPr>
        <p:spPr>
          <a:xfrm>
            <a:off x="704088" y="360680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stroma (G): </a:t>
            </a:r>
            <a:r>
              <a:rPr lang="en-US" sz="1600" dirty="0">
                <a:solidFill>
                  <a:srgbClr val="1F2937"/>
                </a:solidFill>
                <a:latin typeface="Calibri" pitchFamily="34" charset="0"/>
                <a:ea typeface="Calibri" pitchFamily="34" charset="-122"/>
                <a:cs typeface="Calibri" pitchFamily="34" charset="-120"/>
              </a:rPr>
              <a:t>Salgı bezinde hücrelerin arasındaki bağ doku kısmı</a:t>
            </a:r>
            <a:endParaRPr lang="en-US" sz="1600" dirty="0"/>
          </a:p>
        </p:txBody>
      </p:sp>
      <p:sp>
        <p:nvSpPr>
          <p:cNvPr id="14" name="Shape 12"/>
          <p:cNvSpPr/>
          <p:nvPr/>
        </p:nvSpPr>
        <p:spPr>
          <a:xfrm>
            <a:off x="548640" y="4107078"/>
            <a:ext cx="11094415" cy="481990"/>
          </a:xfrm>
          <a:prstGeom prst="roundRect">
            <a:avLst>
              <a:gd name="adj" fmla="val 13280"/>
            </a:avLst>
          </a:prstGeom>
          <a:solidFill>
            <a:srgbClr val="F1ECFD"/>
          </a:solidFill>
          <a:ln/>
        </p:spPr>
      </p:sp>
      <p:sp>
        <p:nvSpPr>
          <p:cNvPr id="15" name="Text 13"/>
          <p:cNvSpPr txBox="1"/>
          <p:nvPr/>
        </p:nvSpPr>
        <p:spPr>
          <a:xfrm>
            <a:off x="704088" y="418023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hypophysis (G) (hipofiz): </a:t>
            </a:r>
            <a:r>
              <a:rPr lang="en-US" sz="1600" dirty="0">
                <a:solidFill>
                  <a:srgbClr val="1F2937"/>
                </a:solidFill>
                <a:latin typeface="Calibri" pitchFamily="34" charset="0"/>
                <a:ea typeface="Calibri" pitchFamily="34" charset="-122"/>
                <a:cs typeface="Calibri" pitchFamily="34" charset="-120"/>
              </a:rPr>
              <a:t>Kafatası içinde beynin alt yüzeyinde, hipotalamusa bağlı bez</a:t>
            </a:r>
            <a:endParaRPr lang="en-US" sz="1600" dirty="0"/>
          </a:p>
        </p:txBody>
      </p:sp>
      <p:sp>
        <p:nvSpPr>
          <p:cNvPr id="16" name="Shape 14"/>
          <p:cNvSpPr/>
          <p:nvPr/>
        </p:nvSpPr>
        <p:spPr>
          <a:xfrm>
            <a:off x="548640" y="4680509"/>
            <a:ext cx="11094415" cy="481990"/>
          </a:xfrm>
          <a:prstGeom prst="roundRect">
            <a:avLst>
              <a:gd name="adj" fmla="val 13280"/>
            </a:avLst>
          </a:prstGeom>
          <a:solidFill>
            <a:srgbClr val="F1ECFD"/>
          </a:solidFill>
          <a:ln/>
        </p:spPr>
      </p:sp>
      <p:sp>
        <p:nvSpPr>
          <p:cNvPr id="17" name="Text 15"/>
          <p:cNvSpPr txBox="1"/>
          <p:nvPr/>
        </p:nvSpPr>
        <p:spPr>
          <a:xfrm>
            <a:off x="704088" y="475366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adenohypophysis (G) (adenohipofiz): </a:t>
            </a:r>
            <a:r>
              <a:rPr lang="en-US" sz="1600" dirty="0">
                <a:solidFill>
                  <a:srgbClr val="1F2937"/>
                </a:solidFill>
                <a:latin typeface="Calibri" pitchFamily="34" charset="0"/>
                <a:ea typeface="Calibri" pitchFamily="34" charset="-122"/>
                <a:cs typeface="Calibri" pitchFamily="34" charset="-120"/>
              </a:rPr>
              <a:t>Hipofiz bezinin ön lobu</a:t>
            </a:r>
            <a:endParaRPr lang="en-US" sz="1600" dirty="0"/>
          </a:p>
        </p:txBody>
      </p:sp>
      <p:sp>
        <p:nvSpPr>
          <p:cNvPr id="18" name="Shape 16"/>
          <p:cNvSpPr/>
          <p:nvPr/>
        </p:nvSpPr>
        <p:spPr>
          <a:xfrm>
            <a:off x="548640" y="5253939"/>
            <a:ext cx="11094415" cy="481990"/>
          </a:xfrm>
          <a:prstGeom prst="roundRect">
            <a:avLst>
              <a:gd name="adj" fmla="val 13280"/>
            </a:avLst>
          </a:prstGeom>
          <a:solidFill>
            <a:srgbClr val="F1ECFD"/>
          </a:solidFill>
          <a:ln/>
        </p:spPr>
      </p:sp>
      <p:sp>
        <p:nvSpPr>
          <p:cNvPr id="19" name="Text 17"/>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neurohypophysis (G) (nörohipofiz): </a:t>
            </a:r>
            <a:r>
              <a:rPr lang="en-US" sz="1600" dirty="0">
                <a:solidFill>
                  <a:srgbClr val="1F2937"/>
                </a:solidFill>
                <a:latin typeface="Calibri" pitchFamily="34" charset="0"/>
                <a:ea typeface="Calibri" pitchFamily="34" charset="-122"/>
                <a:cs typeface="Calibri" pitchFamily="34" charset="-120"/>
              </a:rPr>
              <a:t>Hipofiz bezinin arka lobu</a:t>
            </a:r>
            <a:endParaRPr lang="en-US" sz="1600" dirty="0"/>
          </a:p>
        </p:txBody>
      </p:sp>
      <p:sp>
        <p:nvSpPr>
          <p:cNvPr id="20" name="Shape 18"/>
          <p:cNvSpPr/>
          <p:nvPr/>
        </p:nvSpPr>
        <p:spPr>
          <a:xfrm>
            <a:off x="548640" y="5827370"/>
            <a:ext cx="11094415" cy="481990"/>
          </a:xfrm>
          <a:prstGeom prst="roundRect">
            <a:avLst>
              <a:gd name="adj" fmla="val 13280"/>
            </a:avLst>
          </a:prstGeom>
          <a:solidFill>
            <a:srgbClr val="F1ECFD"/>
          </a:solidFill>
          <a:ln/>
        </p:spPr>
      </p:sp>
      <p:sp>
        <p:nvSpPr>
          <p:cNvPr id="21" name="Text 19"/>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Tiroidi stimüle eden homon (TSH): </a:t>
            </a:r>
            <a:r>
              <a:rPr lang="en-US" sz="1600" dirty="0">
                <a:solidFill>
                  <a:srgbClr val="1F2937"/>
                </a:solidFill>
                <a:latin typeface="Calibri" pitchFamily="34" charset="0"/>
                <a:ea typeface="Calibri" pitchFamily="34" charset="-122"/>
                <a:cs typeface="Calibri" pitchFamily="34" charset="-120"/>
              </a:rPr>
              <a:t>Tiroid bezini uyararak bu bezden hormon salgılanmasını sağlar.</a:t>
            </a:r>
            <a:endParaRPr lang="en-US" sz="16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F1ECFD"/>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272</a:t>
            </a:r>
            <a:endParaRPr lang="en-US" sz="1000" dirty="0"/>
          </a:p>
        </p:txBody>
      </p:sp>
      <p:sp>
        <p:nvSpPr>
          <p:cNvPr id="6" name="Shape 4"/>
          <p:cNvSpPr/>
          <p:nvPr/>
        </p:nvSpPr>
        <p:spPr>
          <a:xfrm>
            <a:off x="548640" y="1715821"/>
            <a:ext cx="11094415" cy="729894"/>
          </a:xfrm>
          <a:prstGeom prst="roundRect">
            <a:avLst>
              <a:gd name="adj" fmla="val 8769"/>
            </a:avLst>
          </a:prstGeom>
          <a:solidFill>
            <a:srgbClr val="F1ECFD"/>
          </a:solidFill>
          <a:ln/>
        </p:spPr>
      </p:sp>
      <p:sp>
        <p:nvSpPr>
          <p:cNvPr id="7" name="Text 5"/>
          <p:cNvSpPr txBox="1"/>
          <p:nvPr/>
        </p:nvSpPr>
        <p:spPr>
          <a:xfrm>
            <a:off x="704088" y="178897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folikülleri stimüle eden homon (FSH): </a:t>
            </a:r>
            <a:r>
              <a:rPr lang="en-US" sz="1600" dirty="0">
                <a:solidFill>
                  <a:srgbClr val="1F2937"/>
                </a:solidFill>
                <a:latin typeface="Calibri" pitchFamily="34" charset="0"/>
                <a:ea typeface="Calibri" pitchFamily="34" charset="-122"/>
                <a:cs typeface="Calibri" pitchFamily="34" charset="-120"/>
              </a:rPr>
              <a:t>Hipofiz bezinin ön lobundan (adenohipofizden) salgılanır. Ovaryumda folikül hücrelerini etkileyen hormon. Erkekte testisteki spermiyum ana hücrelerini etkiler.</a:t>
            </a:r>
            <a:endParaRPr lang="en-US" sz="1600" dirty="0"/>
          </a:p>
        </p:txBody>
      </p:sp>
      <p:sp>
        <p:nvSpPr>
          <p:cNvPr id="8" name="Shape 6"/>
          <p:cNvSpPr/>
          <p:nvPr/>
        </p:nvSpPr>
        <p:spPr>
          <a:xfrm>
            <a:off x="548640" y="2537155"/>
            <a:ext cx="11094415" cy="977798"/>
          </a:xfrm>
          <a:prstGeom prst="roundRect">
            <a:avLst>
              <a:gd name="adj" fmla="val 6546"/>
            </a:avLst>
          </a:prstGeom>
          <a:solidFill>
            <a:srgbClr val="F1ECFD"/>
          </a:solidFill>
          <a:ln/>
        </p:spPr>
      </p:sp>
      <p:sp>
        <p:nvSpPr>
          <p:cNvPr id="9" name="Text 7"/>
          <p:cNvSpPr txBox="1"/>
          <p:nvPr/>
        </p:nvSpPr>
        <p:spPr>
          <a:xfrm>
            <a:off x="704088" y="2610307"/>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lüteinleştirici hormon (LH): </a:t>
            </a:r>
            <a:r>
              <a:rPr lang="en-US" sz="1600" dirty="0">
                <a:solidFill>
                  <a:srgbClr val="1F2937"/>
                </a:solidFill>
                <a:latin typeface="Calibri" pitchFamily="34" charset="0"/>
                <a:ea typeface="Calibri" pitchFamily="34" charset="-122"/>
                <a:cs typeface="Calibri" pitchFamily="34" charset="-120"/>
              </a:rPr>
              <a:t>Hipofiz bezinin ön lobundan salgılanır. Kadında ovaryumdaki korpus luteum hücrelerini etkiler ve progesteron hormonu salgılamalarını sağlar. Erkekte testis bağ dokusu içindeki Leyding hücrelerini etkiler ve testosteron hormonu salgılanmasını sağlar.</a:t>
            </a:r>
            <a:endParaRPr lang="en-US" sz="1600" dirty="0"/>
          </a:p>
        </p:txBody>
      </p:sp>
      <p:sp>
        <p:nvSpPr>
          <p:cNvPr id="10" name="Shape 8"/>
          <p:cNvSpPr/>
          <p:nvPr/>
        </p:nvSpPr>
        <p:spPr>
          <a:xfrm>
            <a:off x="548640" y="3859174"/>
            <a:ext cx="11094415" cy="729894"/>
          </a:xfrm>
          <a:prstGeom prst="roundRect">
            <a:avLst>
              <a:gd name="adj" fmla="val 8769"/>
            </a:avLst>
          </a:prstGeom>
          <a:solidFill>
            <a:srgbClr val="F1ECFD"/>
          </a:solidFill>
          <a:ln/>
        </p:spPr>
      </p:sp>
      <p:sp>
        <p:nvSpPr>
          <p:cNvPr id="11" name="Text 9"/>
          <p:cNvSpPr txBox="1"/>
          <p:nvPr/>
        </p:nvSpPr>
        <p:spPr>
          <a:xfrm>
            <a:off x="704088" y="3932326"/>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adrenokortikotrop hormon (ACTH): </a:t>
            </a:r>
            <a:r>
              <a:rPr lang="en-US" sz="1600" dirty="0">
                <a:solidFill>
                  <a:srgbClr val="1F2937"/>
                </a:solidFill>
                <a:latin typeface="Calibri" pitchFamily="34" charset="0"/>
                <a:ea typeface="Calibri" pitchFamily="34" charset="-122"/>
                <a:cs typeface="Calibri" pitchFamily="34" charset="-120"/>
              </a:rPr>
              <a:t>Hipofiz bezinin ön lobundan salgılanır. Böbreküstü bezinin korteks katmanı hücrelerini etkiler.</a:t>
            </a:r>
            <a:endParaRPr lang="en-US" sz="1600" dirty="0"/>
          </a:p>
        </p:txBody>
      </p:sp>
      <p:sp>
        <p:nvSpPr>
          <p:cNvPr id="12" name="Shape 10"/>
          <p:cNvSpPr/>
          <p:nvPr/>
        </p:nvSpPr>
        <p:spPr>
          <a:xfrm>
            <a:off x="548640" y="4680509"/>
            <a:ext cx="11094415" cy="481990"/>
          </a:xfrm>
          <a:prstGeom prst="roundRect">
            <a:avLst>
              <a:gd name="adj" fmla="val 13280"/>
            </a:avLst>
          </a:prstGeom>
          <a:solidFill>
            <a:srgbClr val="F1ECFD"/>
          </a:solidFill>
          <a:ln/>
        </p:spPr>
      </p:sp>
      <p:sp>
        <p:nvSpPr>
          <p:cNvPr id="13" name="Text 11"/>
          <p:cNvSpPr txBox="1"/>
          <p:nvPr/>
        </p:nvSpPr>
        <p:spPr>
          <a:xfrm>
            <a:off x="704088" y="475366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laktojenik (prolaktin) hormon (LTH): </a:t>
            </a:r>
            <a:r>
              <a:rPr lang="en-US" sz="1600" dirty="0">
                <a:solidFill>
                  <a:srgbClr val="1F2937"/>
                </a:solidFill>
                <a:latin typeface="Calibri" pitchFamily="34" charset="0"/>
                <a:ea typeface="Calibri" pitchFamily="34" charset="-122"/>
                <a:cs typeface="Calibri" pitchFamily="34" charset="-120"/>
              </a:rPr>
              <a:t>Hipofiz bezinin ön lobunda salgılanır. Süt salgılanmasını hızlandırır.</a:t>
            </a:r>
            <a:endParaRPr lang="en-US" sz="1600" dirty="0"/>
          </a:p>
        </p:txBody>
      </p:sp>
      <p:sp>
        <p:nvSpPr>
          <p:cNvPr id="14" name="Shape 12"/>
          <p:cNvSpPr/>
          <p:nvPr/>
        </p:nvSpPr>
        <p:spPr>
          <a:xfrm>
            <a:off x="548640" y="5253939"/>
            <a:ext cx="11094415" cy="481990"/>
          </a:xfrm>
          <a:prstGeom prst="roundRect">
            <a:avLst>
              <a:gd name="adj" fmla="val 13280"/>
            </a:avLst>
          </a:prstGeom>
          <a:solidFill>
            <a:srgbClr val="F1ECFD"/>
          </a:solidFill>
          <a:ln/>
        </p:spPr>
      </p:sp>
      <p:sp>
        <p:nvSpPr>
          <p:cNvPr id="15" name="Text 13"/>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Somatotrop hormon (STH): </a:t>
            </a:r>
            <a:r>
              <a:rPr lang="en-US" sz="1600" dirty="0">
                <a:solidFill>
                  <a:srgbClr val="1F2937"/>
                </a:solidFill>
                <a:latin typeface="Calibri" pitchFamily="34" charset="0"/>
                <a:ea typeface="Calibri" pitchFamily="34" charset="-122"/>
                <a:cs typeface="Calibri" pitchFamily="34" charset="-120"/>
              </a:rPr>
              <a:t>İskelet ve organlara etki ederek büyümeyi sağlar</a:t>
            </a:r>
            <a:endParaRPr lang="en-US" sz="1600" dirty="0"/>
          </a:p>
        </p:txBody>
      </p:sp>
      <p:sp>
        <p:nvSpPr>
          <p:cNvPr id="16" name="Shape 14"/>
          <p:cNvSpPr/>
          <p:nvPr/>
        </p:nvSpPr>
        <p:spPr>
          <a:xfrm>
            <a:off x="548640" y="5827370"/>
            <a:ext cx="11094415" cy="481990"/>
          </a:xfrm>
          <a:prstGeom prst="roundRect">
            <a:avLst>
              <a:gd name="adj" fmla="val 13280"/>
            </a:avLst>
          </a:prstGeom>
          <a:solidFill>
            <a:srgbClr val="F1ECFD"/>
          </a:solidFill>
          <a:ln/>
        </p:spPr>
      </p:sp>
      <p:sp>
        <p:nvSpPr>
          <p:cNvPr id="17" name="Text 15"/>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Oksitosin: </a:t>
            </a:r>
            <a:r>
              <a:rPr lang="en-US" sz="1600" dirty="0">
                <a:solidFill>
                  <a:srgbClr val="1F2937"/>
                </a:solidFill>
                <a:latin typeface="Calibri" pitchFamily="34" charset="0"/>
                <a:ea typeface="Calibri" pitchFamily="34" charset="-122"/>
                <a:cs typeface="Calibri" pitchFamily="34" charset="-120"/>
              </a:rPr>
              <a:t>Hipofiz bezinin arka lobundan (nörohipofizden) salgılanır.</a:t>
            </a:r>
            <a:endParaRPr lang="en-US" sz="16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F1ECFD"/>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273</a:t>
            </a:r>
            <a:endParaRPr lang="en-US" sz="1000" dirty="0"/>
          </a:p>
        </p:txBody>
      </p:sp>
      <p:sp>
        <p:nvSpPr>
          <p:cNvPr id="6" name="Shape 4"/>
          <p:cNvSpPr/>
          <p:nvPr/>
        </p:nvSpPr>
        <p:spPr>
          <a:xfrm>
            <a:off x="548640" y="1511046"/>
            <a:ext cx="11094415" cy="1378915"/>
          </a:xfrm>
          <a:prstGeom prst="roundRect">
            <a:avLst>
              <a:gd name="adj" fmla="val 4642"/>
            </a:avLst>
          </a:prstGeom>
          <a:solidFill>
            <a:srgbClr val="F1ECFD"/>
          </a:solidFill>
          <a:ln/>
        </p:spPr>
      </p:sp>
      <p:sp>
        <p:nvSpPr>
          <p:cNvPr id="7" name="Text 5"/>
          <p:cNvSpPr txBox="1"/>
          <p:nvPr/>
        </p:nvSpPr>
        <p:spPr>
          <a:xfrm>
            <a:off x="704088" y="1584198"/>
            <a:ext cx="10783519" cy="1232611"/>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gl. thyroidea (G) (gl. Tiroid): </a:t>
            </a:r>
            <a:r>
              <a:rPr lang="en-US" sz="1800" dirty="0">
                <a:solidFill>
                  <a:srgbClr val="1F2937"/>
                </a:solidFill>
                <a:latin typeface="Calibri" pitchFamily="34" charset="0"/>
                <a:ea typeface="Calibri" pitchFamily="34" charset="-122"/>
                <a:cs typeface="Calibri" pitchFamily="34" charset="-120"/>
              </a:rPr>
              <a:t>Tiroid bezi. Boyunda soluk borusuna yapışık olarak bulunan bez. Kalkana benzediği için kalkan bezi de denir. Tiroid hormonları; tiroksin (T4), triidotironin (T3) metabolik aktiviteyi düzenler ve gelişme üzerine etkilidir. Kalsitonin hormonu ise kalsiyum ve fosfor metabolizmasını düzenler.</a:t>
            </a:r>
            <a:endParaRPr lang="en-US" sz="1800" dirty="0"/>
          </a:p>
        </p:txBody>
      </p:sp>
      <p:sp>
        <p:nvSpPr>
          <p:cNvPr id="8" name="Shape 6"/>
          <p:cNvSpPr/>
          <p:nvPr/>
        </p:nvSpPr>
        <p:spPr>
          <a:xfrm>
            <a:off x="548640" y="2981401"/>
            <a:ext cx="11094415" cy="821131"/>
          </a:xfrm>
          <a:prstGeom prst="roundRect">
            <a:avLst>
              <a:gd name="adj" fmla="val 7795"/>
            </a:avLst>
          </a:prstGeom>
          <a:solidFill>
            <a:srgbClr val="F1ECFD"/>
          </a:solidFill>
          <a:ln/>
        </p:spPr>
      </p:sp>
      <p:sp>
        <p:nvSpPr>
          <p:cNvPr id="9" name="Text 7"/>
          <p:cNvSpPr txBox="1"/>
          <p:nvPr/>
        </p:nvSpPr>
        <p:spPr>
          <a:xfrm>
            <a:off x="704088" y="3054553"/>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gll. parathyroidea (G) (gl. paratiroit): </a:t>
            </a:r>
            <a:r>
              <a:rPr lang="en-US" sz="1800" dirty="0">
                <a:solidFill>
                  <a:srgbClr val="1F2937"/>
                </a:solidFill>
                <a:latin typeface="Calibri" pitchFamily="34" charset="0"/>
                <a:ea typeface="Calibri" pitchFamily="34" charset="-122"/>
                <a:cs typeface="Calibri" pitchFamily="34" charset="-120"/>
              </a:rPr>
              <a:t>Paratiroit bezleri. Tiroid bezinin arkasında bulunan dört küçük bez. Parathormon salgılar. Kalsiyum ve fosfor metabolizmasını düzenler.</a:t>
            </a:r>
            <a:endParaRPr lang="en-US" sz="1800" dirty="0"/>
          </a:p>
        </p:txBody>
      </p:sp>
      <p:sp>
        <p:nvSpPr>
          <p:cNvPr id="10" name="Shape 8"/>
          <p:cNvSpPr/>
          <p:nvPr/>
        </p:nvSpPr>
        <p:spPr>
          <a:xfrm>
            <a:off x="548640" y="3893972"/>
            <a:ext cx="11094415" cy="821131"/>
          </a:xfrm>
          <a:prstGeom prst="roundRect">
            <a:avLst>
              <a:gd name="adj" fmla="val 7795"/>
            </a:avLst>
          </a:prstGeom>
          <a:solidFill>
            <a:srgbClr val="F1ECFD"/>
          </a:solidFill>
          <a:ln/>
        </p:spPr>
      </p:sp>
      <p:sp>
        <p:nvSpPr>
          <p:cNvPr id="11" name="Text 9"/>
          <p:cNvSpPr txBox="1"/>
          <p:nvPr/>
        </p:nvSpPr>
        <p:spPr>
          <a:xfrm>
            <a:off x="704088" y="3967124"/>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insula (L) pancreaticae (G) (insula pankreatise): </a:t>
            </a:r>
            <a:r>
              <a:rPr lang="en-US" sz="1800" dirty="0">
                <a:solidFill>
                  <a:srgbClr val="1F2937"/>
                </a:solidFill>
                <a:latin typeface="Calibri" pitchFamily="34" charset="0"/>
                <a:ea typeface="Calibri" pitchFamily="34" charset="-122"/>
                <a:cs typeface="Calibri" pitchFamily="34" charset="-120"/>
              </a:rPr>
              <a:t>Langerhans adacığı. Pankreas bezi içinde iç salgı yapan hücre topluluğudur. İnsülin ve glucagon hormonları salgılanır.</a:t>
            </a:r>
            <a:endParaRPr lang="en-US" sz="1800" dirty="0"/>
          </a:p>
        </p:txBody>
      </p:sp>
      <p:sp>
        <p:nvSpPr>
          <p:cNvPr id="12" name="Shape 10"/>
          <p:cNvSpPr/>
          <p:nvPr/>
        </p:nvSpPr>
        <p:spPr>
          <a:xfrm>
            <a:off x="548640" y="4854550"/>
            <a:ext cx="11094415" cy="821131"/>
          </a:xfrm>
          <a:prstGeom prst="roundRect">
            <a:avLst>
              <a:gd name="adj" fmla="val 7795"/>
            </a:avLst>
          </a:prstGeom>
          <a:solidFill>
            <a:srgbClr val="F1ECFD"/>
          </a:solidFill>
          <a:ln/>
        </p:spPr>
      </p:sp>
      <p:sp>
        <p:nvSpPr>
          <p:cNvPr id="13" name="Text 11"/>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Antidiüretik hormon (ADH): </a:t>
            </a:r>
            <a:r>
              <a:rPr lang="en-US" sz="1800" dirty="0">
                <a:solidFill>
                  <a:srgbClr val="1F2937"/>
                </a:solidFill>
                <a:latin typeface="Calibri" pitchFamily="34" charset="0"/>
                <a:ea typeface="Calibri" pitchFamily="34" charset="-122"/>
                <a:cs typeface="Calibri" pitchFamily="34" charset="-120"/>
              </a:rPr>
              <a:t>Vasopressin. Hipofiz bezinin arka lobundan salgılanır. Böbrek tübüllerinden suyun geri emilimini sağlar.</a:t>
            </a:r>
            <a:endParaRPr lang="en-US" sz="1800" dirty="0"/>
          </a:p>
        </p:txBody>
      </p:sp>
      <p:sp>
        <p:nvSpPr>
          <p:cNvPr id="14" name="Shape 12"/>
          <p:cNvSpPr/>
          <p:nvPr/>
        </p:nvSpPr>
        <p:spPr>
          <a:xfrm>
            <a:off x="548640" y="5767121"/>
            <a:ext cx="11094415" cy="542239"/>
          </a:xfrm>
          <a:prstGeom prst="roundRect">
            <a:avLst>
              <a:gd name="adj" fmla="val 11804"/>
            </a:avLst>
          </a:prstGeom>
          <a:solidFill>
            <a:srgbClr val="F1ECFD"/>
          </a:solidFill>
          <a:ln/>
        </p:spPr>
      </p:sp>
      <p:sp>
        <p:nvSpPr>
          <p:cNvPr id="15" name="Text 13"/>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gl. suprarenalis (L) (gl. suprarenalis): </a:t>
            </a:r>
            <a:r>
              <a:rPr lang="en-US" sz="1800" dirty="0">
                <a:solidFill>
                  <a:srgbClr val="1F2937"/>
                </a:solidFill>
                <a:latin typeface="Calibri" pitchFamily="34" charset="0"/>
                <a:ea typeface="Calibri" pitchFamily="34" charset="-122"/>
                <a:cs typeface="Calibri" pitchFamily="34" charset="-120"/>
              </a:rPr>
              <a:t>Böbreküstü bezi. Adrenal bez. Suprarenal bez.</a:t>
            </a:r>
            <a:endParaRPr lang="en-US" sz="18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F1ECFD"/>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274</a:t>
            </a:r>
            <a:endParaRPr lang="en-US" sz="1000" dirty="0"/>
          </a:p>
        </p:txBody>
      </p:sp>
      <p:sp>
        <p:nvSpPr>
          <p:cNvPr id="6" name="Shape 4"/>
          <p:cNvSpPr/>
          <p:nvPr/>
        </p:nvSpPr>
        <p:spPr>
          <a:xfrm>
            <a:off x="548640" y="3474720"/>
            <a:ext cx="11094415" cy="542239"/>
          </a:xfrm>
          <a:prstGeom prst="roundRect">
            <a:avLst>
              <a:gd name="adj" fmla="val 11804"/>
            </a:avLst>
          </a:prstGeom>
          <a:solidFill>
            <a:srgbClr val="F1ECFD"/>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ovarium (L): </a:t>
            </a:r>
            <a:r>
              <a:rPr lang="en-US" sz="1800" dirty="0">
                <a:solidFill>
                  <a:srgbClr val="1F2937"/>
                </a:solidFill>
                <a:latin typeface="Calibri" pitchFamily="34" charset="0"/>
                <a:ea typeface="Calibri" pitchFamily="34" charset="-122"/>
                <a:cs typeface="Calibri" pitchFamily="34" charset="-120"/>
              </a:rPr>
              <a:t>Yumurtalıklar. Bu bezden östrojen ve progesteron hormonları salgılanır.</a:t>
            </a:r>
            <a:endParaRPr lang="en-US" sz="1800" dirty="0"/>
          </a:p>
        </p:txBody>
      </p:sp>
      <p:sp>
        <p:nvSpPr>
          <p:cNvPr id="8" name="Shape 6"/>
          <p:cNvSpPr/>
          <p:nvPr/>
        </p:nvSpPr>
        <p:spPr>
          <a:xfrm>
            <a:off x="548640" y="4108399"/>
            <a:ext cx="11094415" cy="542239"/>
          </a:xfrm>
          <a:prstGeom prst="roundRect">
            <a:avLst>
              <a:gd name="adj" fmla="val 11804"/>
            </a:avLst>
          </a:prstGeom>
          <a:solidFill>
            <a:srgbClr val="F1ECFD"/>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testis (L): </a:t>
            </a:r>
            <a:r>
              <a:rPr lang="en-US" sz="1800" dirty="0">
                <a:solidFill>
                  <a:srgbClr val="1F2937"/>
                </a:solidFill>
                <a:latin typeface="Calibri" pitchFamily="34" charset="0"/>
                <a:ea typeface="Calibri" pitchFamily="34" charset="-122"/>
                <a:cs typeface="Calibri" pitchFamily="34" charset="-120"/>
              </a:rPr>
              <a:t>Erkek üreme bezi. Bu bezden testosteron salgılanır.</a:t>
            </a:r>
            <a:endParaRPr lang="en-US" sz="18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F1ECFD"/>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275</a:t>
            </a:r>
            <a:endParaRPr lang="en-US" sz="1000" dirty="0"/>
          </a:p>
        </p:txBody>
      </p:sp>
      <p:sp>
        <p:nvSpPr>
          <p:cNvPr id="6" name="Shape 4"/>
          <p:cNvSpPr/>
          <p:nvPr/>
        </p:nvSpPr>
        <p:spPr>
          <a:xfrm>
            <a:off x="548640" y="1644015"/>
            <a:ext cx="11094415" cy="1149096"/>
          </a:xfrm>
          <a:prstGeom prst="roundRect">
            <a:avLst>
              <a:gd name="adj" fmla="val 5570"/>
            </a:avLst>
          </a:prstGeom>
          <a:solidFill>
            <a:srgbClr val="F1ECFD"/>
          </a:solidFill>
          <a:ln/>
        </p:spPr>
      </p:sp>
      <p:sp>
        <p:nvSpPr>
          <p:cNvPr id="7" name="Text 5"/>
          <p:cNvSpPr txBox="1"/>
          <p:nvPr/>
        </p:nvSpPr>
        <p:spPr>
          <a:xfrm>
            <a:off x="704088" y="1717167"/>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verislism (L) (verilizm): </a:t>
            </a:r>
            <a:r>
              <a:rPr lang="en-US" sz="1500" dirty="0">
                <a:solidFill>
                  <a:srgbClr val="1F2937"/>
                </a:solidFill>
                <a:latin typeface="Calibri" pitchFamily="34" charset="0"/>
                <a:ea typeface="Calibri" pitchFamily="34" charset="-122"/>
                <a:cs typeface="Calibri" pitchFamily="34" charset="-120"/>
              </a:rPr>
              <a:t>Androjen yükselmesine bağlı erkek tipi kıllanma, klitoris büyümesi, kas kütlesinin artması ile belirlenen bozukluk. Kadınlarda erkeklik özelliklerinin oluşması</a:t>
            </a:r>
            <a:endParaRPr lang="en-US" sz="1500" dirty="0"/>
          </a:p>
        </p:txBody>
      </p:sp>
      <p:sp>
        <p:nvSpPr>
          <p:cNvPr id="8" name="Shape 6"/>
          <p:cNvSpPr/>
          <p:nvPr/>
        </p:nvSpPr>
        <p:spPr>
          <a:xfrm>
            <a:off x="548640" y="3065526"/>
            <a:ext cx="5410048" cy="684276"/>
          </a:xfrm>
          <a:prstGeom prst="roundRect">
            <a:avLst>
              <a:gd name="adj" fmla="val 9354"/>
            </a:avLst>
          </a:prstGeom>
          <a:solidFill>
            <a:srgbClr val="F1ECFD"/>
          </a:solidFill>
          <a:ln/>
        </p:spPr>
      </p:sp>
      <p:sp>
        <p:nvSpPr>
          <p:cNvPr id="9" name="Text 7"/>
          <p:cNvSpPr txBox="1"/>
          <p:nvPr/>
        </p:nvSpPr>
        <p:spPr>
          <a:xfrm>
            <a:off x="704088"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galactorrhea (G) (galaktore): </a:t>
            </a:r>
            <a:r>
              <a:rPr lang="en-US" sz="1500" dirty="0">
                <a:solidFill>
                  <a:srgbClr val="1F2937"/>
                </a:solidFill>
                <a:latin typeface="Calibri" pitchFamily="34" charset="0"/>
                <a:ea typeface="Calibri" pitchFamily="34" charset="-122"/>
                <a:cs typeface="Calibri" pitchFamily="34" charset="-120"/>
              </a:rPr>
              <a:t>Gebelik ve emzirme durumu olmaksızın süt salgısının olmasıdır.</a:t>
            </a:r>
            <a:endParaRPr lang="en-US" sz="1500" dirty="0"/>
          </a:p>
        </p:txBody>
      </p:sp>
      <p:sp>
        <p:nvSpPr>
          <p:cNvPr id="10" name="Shape 8"/>
          <p:cNvSpPr/>
          <p:nvPr/>
        </p:nvSpPr>
        <p:spPr>
          <a:xfrm>
            <a:off x="548640" y="3841242"/>
            <a:ext cx="5410048" cy="916686"/>
          </a:xfrm>
          <a:prstGeom prst="roundRect">
            <a:avLst>
              <a:gd name="adj" fmla="val 6983"/>
            </a:avLst>
          </a:prstGeom>
          <a:solidFill>
            <a:srgbClr val="F1ECFD"/>
          </a:solidFill>
          <a:ln/>
        </p:spPr>
      </p:sp>
      <p:sp>
        <p:nvSpPr>
          <p:cNvPr id="11" name="Text 9"/>
          <p:cNvSpPr txBox="1"/>
          <p:nvPr/>
        </p:nvSpPr>
        <p:spPr>
          <a:xfrm>
            <a:off x="704088" y="3914394"/>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exophthalmia, exophthalmus (G) (eksogtalimi, eksoftalmus): </a:t>
            </a:r>
            <a:r>
              <a:rPr lang="en-US" sz="1500" dirty="0">
                <a:solidFill>
                  <a:srgbClr val="1F2937"/>
                </a:solidFill>
                <a:latin typeface="Calibri" pitchFamily="34" charset="0"/>
                <a:ea typeface="Calibri" pitchFamily="34" charset="-122"/>
                <a:cs typeface="Calibri" pitchFamily="34" charset="-120"/>
              </a:rPr>
              <a:t>Gözün öne itilmesi, göz küresinin dışarı doğru çıkması.</a:t>
            </a:r>
            <a:endParaRPr lang="en-US" sz="1500" dirty="0"/>
          </a:p>
        </p:txBody>
      </p:sp>
      <p:sp>
        <p:nvSpPr>
          <p:cNvPr id="12" name="Shape 10"/>
          <p:cNvSpPr/>
          <p:nvPr/>
        </p:nvSpPr>
        <p:spPr>
          <a:xfrm>
            <a:off x="548640" y="4849368"/>
            <a:ext cx="5410048" cy="451866"/>
          </a:xfrm>
          <a:prstGeom prst="roundRect">
            <a:avLst>
              <a:gd name="adj" fmla="val 14165"/>
            </a:avLst>
          </a:prstGeom>
          <a:solidFill>
            <a:srgbClr val="F1ECFD"/>
          </a:solidFill>
          <a:ln/>
        </p:spPr>
      </p:sp>
      <p:sp>
        <p:nvSpPr>
          <p:cNvPr id="13" name="Text 11"/>
          <p:cNvSpPr txBox="1"/>
          <p:nvPr/>
        </p:nvSpPr>
        <p:spPr>
          <a:xfrm>
            <a:off x="704088" y="492252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hyperkinesia (G) (hiperkinezi): </a:t>
            </a:r>
            <a:r>
              <a:rPr lang="en-US" sz="1500" dirty="0">
                <a:solidFill>
                  <a:srgbClr val="1F2937"/>
                </a:solidFill>
                <a:latin typeface="Calibri" pitchFamily="34" charset="0"/>
                <a:ea typeface="Calibri" pitchFamily="34" charset="-122"/>
                <a:cs typeface="Calibri" pitchFamily="34" charset="-120"/>
              </a:rPr>
              <a:t>Aşırı hareketlilik</a:t>
            </a:r>
            <a:endParaRPr lang="en-US" sz="1500" dirty="0"/>
          </a:p>
        </p:txBody>
      </p:sp>
      <p:sp>
        <p:nvSpPr>
          <p:cNvPr id="14" name="Shape 12"/>
          <p:cNvSpPr/>
          <p:nvPr/>
        </p:nvSpPr>
        <p:spPr>
          <a:xfrm>
            <a:off x="548640" y="5392674"/>
            <a:ext cx="5410048" cy="684276"/>
          </a:xfrm>
          <a:prstGeom prst="roundRect">
            <a:avLst>
              <a:gd name="adj" fmla="val 9354"/>
            </a:avLst>
          </a:prstGeom>
          <a:solidFill>
            <a:srgbClr val="F1ECFD"/>
          </a:solidFill>
          <a:ln/>
        </p:spPr>
      </p:sp>
      <p:sp>
        <p:nvSpPr>
          <p:cNvPr id="15" name="Text 13"/>
          <p:cNvSpPr txBox="1"/>
          <p:nvPr/>
        </p:nvSpPr>
        <p:spPr>
          <a:xfrm>
            <a:off x="704088" y="546582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hypernatrremia (LG) (hipernatremi): </a:t>
            </a:r>
            <a:r>
              <a:rPr lang="en-US" sz="1500" dirty="0">
                <a:solidFill>
                  <a:srgbClr val="1F2937"/>
                </a:solidFill>
                <a:latin typeface="Calibri" pitchFamily="34" charset="0"/>
                <a:ea typeface="Calibri" pitchFamily="34" charset="-122"/>
                <a:cs typeface="Calibri" pitchFamily="34" charset="-120"/>
              </a:rPr>
              <a:t>Kanda sodyum oranının artması</a:t>
            </a:r>
            <a:endParaRPr lang="en-US" sz="1500" dirty="0"/>
          </a:p>
        </p:txBody>
      </p:sp>
      <p:sp>
        <p:nvSpPr>
          <p:cNvPr id="16" name="Shape 14"/>
          <p:cNvSpPr/>
          <p:nvPr/>
        </p:nvSpPr>
        <p:spPr>
          <a:xfrm>
            <a:off x="6233008" y="3065526"/>
            <a:ext cx="5410048" cy="684276"/>
          </a:xfrm>
          <a:prstGeom prst="roundRect">
            <a:avLst>
              <a:gd name="adj" fmla="val 9354"/>
            </a:avLst>
          </a:prstGeom>
          <a:solidFill>
            <a:srgbClr val="F1ECFD"/>
          </a:solidFill>
          <a:ln/>
        </p:spPr>
      </p:sp>
      <p:sp>
        <p:nvSpPr>
          <p:cNvPr id="17" name="Text 15"/>
          <p:cNvSpPr txBox="1"/>
          <p:nvPr/>
        </p:nvSpPr>
        <p:spPr>
          <a:xfrm>
            <a:off x="6388456"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hyperglycosuria (G) (hiperglikozüri): </a:t>
            </a:r>
            <a:r>
              <a:rPr lang="en-US" sz="1500" dirty="0">
                <a:solidFill>
                  <a:srgbClr val="1F2937"/>
                </a:solidFill>
                <a:latin typeface="Calibri" pitchFamily="34" charset="0"/>
                <a:ea typeface="Calibri" pitchFamily="34" charset="-122"/>
                <a:cs typeface="Calibri" pitchFamily="34" charset="-120"/>
              </a:rPr>
              <a:t>İdrarda glikoz oranının artması</a:t>
            </a:r>
            <a:endParaRPr lang="en-US" sz="1500" dirty="0"/>
          </a:p>
        </p:txBody>
      </p:sp>
      <p:sp>
        <p:nvSpPr>
          <p:cNvPr id="18" name="Shape 16"/>
          <p:cNvSpPr/>
          <p:nvPr/>
        </p:nvSpPr>
        <p:spPr>
          <a:xfrm>
            <a:off x="6233008" y="3841242"/>
            <a:ext cx="5410048" cy="684276"/>
          </a:xfrm>
          <a:prstGeom prst="roundRect">
            <a:avLst>
              <a:gd name="adj" fmla="val 9354"/>
            </a:avLst>
          </a:prstGeom>
          <a:solidFill>
            <a:srgbClr val="F1ECFD"/>
          </a:solidFill>
          <a:ln/>
        </p:spPr>
      </p:sp>
      <p:sp>
        <p:nvSpPr>
          <p:cNvPr id="19" name="Text 17"/>
          <p:cNvSpPr txBox="1"/>
          <p:nvPr/>
        </p:nvSpPr>
        <p:spPr>
          <a:xfrm>
            <a:off x="6388456" y="391439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hyperglycemia (G) (hiperglisemi): </a:t>
            </a:r>
            <a:r>
              <a:rPr lang="en-US" sz="1500" dirty="0">
                <a:solidFill>
                  <a:srgbClr val="1F2937"/>
                </a:solidFill>
                <a:latin typeface="Calibri" pitchFamily="34" charset="0"/>
                <a:ea typeface="Calibri" pitchFamily="34" charset="-122"/>
                <a:cs typeface="Calibri" pitchFamily="34" charset="-120"/>
              </a:rPr>
              <a:t>Kandaki şeker oranının yükselmesi</a:t>
            </a:r>
            <a:endParaRPr lang="en-US" sz="1500" dirty="0"/>
          </a:p>
        </p:txBody>
      </p:sp>
      <p:sp>
        <p:nvSpPr>
          <p:cNvPr id="20" name="Shape 18"/>
          <p:cNvSpPr/>
          <p:nvPr/>
        </p:nvSpPr>
        <p:spPr>
          <a:xfrm>
            <a:off x="6233008" y="4616958"/>
            <a:ext cx="5410048" cy="684276"/>
          </a:xfrm>
          <a:prstGeom prst="roundRect">
            <a:avLst>
              <a:gd name="adj" fmla="val 9354"/>
            </a:avLst>
          </a:prstGeom>
          <a:solidFill>
            <a:srgbClr val="F1ECFD"/>
          </a:solidFill>
          <a:ln/>
        </p:spPr>
      </p:sp>
      <p:sp>
        <p:nvSpPr>
          <p:cNvPr id="21" name="Text 19"/>
          <p:cNvSpPr txBox="1"/>
          <p:nvPr/>
        </p:nvSpPr>
        <p:spPr>
          <a:xfrm>
            <a:off x="6388456" y="469011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hypoglycemia (G) (hipoglisemi): </a:t>
            </a:r>
            <a:r>
              <a:rPr lang="en-US" sz="1500" dirty="0">
                <a:solidFill>
                  <a:srgbClr val="1F2937"/>
                </a:solidFill>
                <a:latin typeface="Calibri" pitchFamily="34" charset="0"/>
                <a:ea typeface="Calibri" pitchFamily="34" charset="-122"/>
                <a:cs typeface="Calibri" pitchFamily="34" charset="-120"/>
              </a:rPr>
              <a:t>Kandaki şeker oranının düşmesi</a:t>
            </a:r>
            <a:endParaRPr lang="en-US" sz="1500" dirty="0"/>
          </a:p>
        </p:txBody>
      </p:sp>
      <p:sp>
        <p:nvSpPr>
          <p:cNvPr id="22" name="Shape 20"/>
          <p:cNvSpPr/>
          <p:nvPr/>
        </p:nvSpPr>
        <p:spPr>
          <a:xfrm>
            <a:off x="6233008" y="5392674"/>
            <a:ext cx="5410048" cy="916686"/>
          </a:xfrm>
          <a:prstGeom prst="roundRect">
            <a:avLst>
              <a:gd name="adj" fmla="val 6983"/>
            </a:avLst>
          </a:prstGeom>
          <a:solidFill>
            <a:srgbClr val="F1ECFD"/>
          </a:solidFill>
          <a:ln/>
        </p:spPr>
      </p:sp>
      <p:sp>
        <p:nvSpPr>
          <p:cNvPr id="23" name="Text 21"/>
          <p:cNvSpPr txBox="1"/>
          <p:nvPr/>
        </p:nvSpPr>
        <p:spPr>
          <a:xfrm>
            <a:off x="6388456" y="546582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tetania (L) (tetani): </a:t>
            </a:r>
            <a:r>
              <a:rPr lang="en-US" sz="1500" dirty="0">
                <a:solidFill>
                  <a:srgbClr val="1F2937"/>
                </a:solidFill>
                <a:latin typeface="Calibri" pitchFamily="34" charset="0"/>
                <a:ea typeface="Calibri" pitchFamily="34" charset="-122"/>
                <a:cs typeface="Calibri" pitchFamily="34" charset="-120"/>
              </a:rPr>
              <a:t>Paratroit bezlerinin az çalışamsı ve kalsiyum yetersizliğine bağlı olarak kaslarda gelişen spazm (kasılma)</a:t>
            </a:r>
            <a:endParaRPr lang="en-US" sz="15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F1ECFD"/>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276</a:t>
            </a:r>
            <a:endParaRPr lang="en-US" sz="1000" dirty="0"/>
          </a:p>
        </p:txBody>
      </p:sp>
      <p:sp>
        <p:nvSpPr>
          <p:cNvPr id="6" name="Shape 4"/>
          <p:cNvSpPr/>
          <p:nvPr/>
        </p:nvSpPr>
        <p:spPr>
          <a:xfrm>
            <a:off x="548640" y="3474720"/>
            <a:ext cx="11094415" cy="821131"/>
          </a:xfrm>
          <a:prstGeom prst="roundRect">
            <a:avLst>
              <a:gd name="adj" fmla="val 7795"/>
            </a:avLst>
          </a:prstGeom>
          <a:solidFill>
            <a:srgbClr val="F1ECFD"/>
          </a:solidFill>
          <a:ln/>
        </p:spPr>
      </p:sp>
      <p:sp>
        <p:nvSpPr>
          <p:cNvPr id="7" name="Text 5"/>
          <p:cNvSpPr txBox="1"/>
          <p:nvPr/>
        </p:nvSpPr>
        <p:spPr>
          <a:xfrm>
            <a:off x="704088" y="354787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hirsutism (L) (hirsutizm): </a:t>
            </a:r>
            <a:r>
              <a:rPr lang="en-US" sz="1800" dirty="0">
                <a:solidFill>
                  <a:srgbClr val="1F2937"/>
                </a:solidFill>
                <a:latin typeface="Calibri" pitchFamily="34" charset="0"/>
                <a:ea typeface="Calibri" pitchFamily="34" charset="-122"/>
                <a:cs typeface="Calibri" pitchFamily="34" charset="-120"/>
              </a:rPr>
              <a:t>Özelliklerde kadınlarda derideki kılların normalin üstünde çoğalması, aşırı kıllılık</a:t>
            </a:r>
            <a:endParaRPr lang="en-US" sz="1800" dirty="0"/>
          </a:p>
        </p:txBody>
      </p:sp>
      <p:sp>
        <p:nvSpPr>
          <p:cNvPr id="8" name="Shape 6"/>
          <p:cNvSpPr/>
          <p:nvPr/>
        </p:nvSpPr>
        <p:spPr>
          <a:xfrm>
            <a:off x="548640" y="4387291"/>
            <a:ext cx="11094415" cy="542239"/>
          </a:xfrm>
          <a:prstGeom prst="roundRect">
            <a:avLst>
              <a:gd name="adj" fmla="val 11804"/>
            </a:avLst>
          </a:prstGeom>
          <a:solidFill>
            <a:srgbClr val="F1ECFD"/>
          </a:solidFill>
          <a:ln/>
        </p:spPr>
      </p:sp>
      <p:sp>
        <p:nvSpPr>
          <p:cNvPr id="9" name="Text 7"/>
          <p:cNvSpPr txBox="1"/>
          <p:nvPr/>
        </p:nvSpPr>
        <p:spPr>
          <a:xfrm>
            <a:off x="704088" y="446044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gynecomastia (G) (jinekomasti): </a:t>
            </a:r>
            <a:r>
              <a:rPr lang="en-US" sz="1800" dirty="0">
                <a:solidFill>
                  <a:srgbClr val="1F2937"/>
                </a:solidFill>
                <a:latin typeface="Calibri" pitchFamily="34" charset="0"/>
                <a:ea typeface="Calibri" pitchFamily="34" charset="-122"/>
                <a:cs typeface="Calibri" pitchFamily="34" charset="-120"/>
              </a:rPr>
              <a:t>Erkeklerde göğüslerin büyümesi ile karakterize bir semptom</a:t>
            </a:r>
            <a:endParaRPr lang="en-US" sz="18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F1ECFD"/>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277</a:t>
            </a:r>
            <a:endParaRPr lang="en-US" sz="1000" dirty="0"/>
          </a:p>
        </p:txBody>
      </p:sp>
      <p:sp>
        <p:nvSpPr>
          <p:cNvPr id="6" name="Shape 4"/>
          <p:cNvSpPr/>
          <p:nvPr/>
        </p:nvSpPr>
        <p:spPr>
          <a:xfrm>
            <a:off x="548640" y="1591869"/>
            <a:ext cx="11094415" cy="729894"/>
          </a:xfrm>
          <a:prstGeom prst="roundRect">
            <a:avLst>
              <a:gd name="adj" fmla="val 8769"/>
            </a:avLst>
          </a:prstGeom>
          <a:solidFill>
            <a:srgbClr val="F1ECFD"/>
          </a:solidFill>
          <a:ln/>
        </p:spPr>
      </p:sp>
      <p:sp>
        <p:nvSpPr>
          <p:cNvPr id="7" name="Text 5"/>
          <p:cNvSpPr txBox="1"/>
          <p:nvPr/>
        </p:nvSpPr>
        <p:spPr>
          <a:xfrm>
            <a:off x="704088" y="1665021"/>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Addison hastalığı: </a:t>
            </a:r>
            <a:r>
              <a:rPr lang="en-US" sz="1600" dirty="0">
                <a:solidFill>
                  <a:srgbClr val="1F2937"/>
                </a:solidFill>
                <a:latin typeface="Calibri" pitchFamily="34" charset="0"/>
                <a:ea typeface="Calibri" pitchFamily="34" charset="-122"/>
                <a:cs typeface="Calibri" pitchFamily="34" charset="-120"/>
              </a:rPr>
              <a:t>Adrenal bezin az çalışmasına bağlı yetersiz kotikosteroid salgılanmasına bağlı gelişen  hastalık. Halsizlik, çabuk yorulma, sinirlilik, sekonder seks karakterlerinde gerileme ile karakterizedir.</a:t>
            </a:r>
            <a:endParaRPr lang="en-US" sz="1600" dirty="0"/>
          </a:p>
        </p:txBody>
      </p:sp>
      <p:sp>
        <p:nvSpPr>
          <p:cNvPr id="8" name="Shape 6"/>
          <p:cNvSpPr/>
          <p:nvPr/>
        </p:nvSpPr>
        <p:spPr>
          <a:xfrm>
            <a:off x="548640" y="2413203"/>
            <a:ext cx="11094415" cy="729894"/>
          </a:xfrm>
          <a:prstGeom prst="roundRect">
            <a:avLst>
              <a:gd name="adj" fmla="val 8769"/>
            </a:avLst>
          </a:prstGeom>
          <a:solidFill>
            <a:srgbClr val="F1ECFD"/>
          </a:solidFill>
          <a:ln/>
        </p:spPr>
      </p:sp>
      <p:sp>
        <p:nvSpPr>
          <p:cNvPr id="9" name="Text 7"/>
          <p:cNvSpPr txBox="1"/>
          <p:nvPr/>
        </p:nvSpPr>
        <p:spPr>
          <a:xfrm>
            <a:off x="704088" y="2486355"/>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hipofizer cücelik (dwarfizm): </a:t>
            </a:r>
            <a:r>
              <a:rPr lang="en-US" sz="1600" dirty="0">
                <a:solidFill>
                  <a:srgbClr val="1F2937"/>
                </a:solidFill>
                <a:latin typeface="Calibri" pitchFamily="34" charset="0"/>
                <a:ea typeface="Calibri" pitchFamily="34" charset="-122"/>
                <a:cs typeface="Calibri" pitchFamily="34" charset="-120"/>
              </a:rPr>
              <a:t>Hipofizin yeterli büyüme hormonu salgılanmasına bağlı gelişen cücelik. Orantılı bir kısalık söz konusudur. Genellikle büyüme hormonuyla çocuklukta tedavi edilir.</a:t>
            </a:r>
            <a:endParaRPr lang="en-US" sz="1600" dirty="0"/>
          </a:p>
        </p:txBody>
      </p:sp>
      <p:sp>
        <p:nvSpPr>
          <p:cNvPr id="10" name="Shape 8"/>
          <p:cNvSpPr/>
          <p:nvPr/>
        </p:nvSpPr>
        <p:spPr>
          <a:xfrm>
            <a:off x="548640" y="3234538"/>
            <a:ext cx="11094415" cy="729894"/>
          </a:xfrm>
          <a:prstGeom prst="roundRect">
            <a:avLst>
              <a:gd name="adj" fmla="val 8769"/>
            </a:avLst>
          </a:prstGeom>
          <a:solidFill>
            <a:srgbClr val="F1ECFD"/>
          </a:solidFill>
          <a:ln/>
        </p:spPr>
      </p:sp>
      <p:sp>
        <p:nvSpPr>
          <p:cNvPr id="11" name="Text 9"/>
          <p:cNvSpPr txBox="1"/>
          <p:nvPr/>
        </p:nvSpPr>
        <p:spPr>
          <a:xfrm>
            <a:off x="704088" y="3307690"/>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acromegalia (G) (akromegali): </a:t>
            </a:r>
            <a:r>
              <a:rPr lang="en-US" sz="1600" dirty="0">
                <a:solidFill>
                  <a:srgbClr val="1F2937"/>
                </a:solidFill>
                <a:latin typeface="Calibri" pitchFamily="34" charset="0"/>
                <a:ea typeface="Calibri" pitchFamily="34" charset="-122"/>
                <a:cs typeface="Calibri" pitchFamily="34" charset="-120"/>
              </a:rPr>
              <a:t>Yetişkinlerde büyüme hormonu fazlalığına bağlı olarak gelişen bir hastalık. Özellikle yüz, çene, eller ve ayaklarda aşırı büyüme olur.</a:t>
            </a:r>
            <a:endParaRPr lang="en-US" sz="1600" dirty="0"/>
          </a:p>
        </p:txBody>
      </p:sp>
      <p:sp>
        <p:nvSpPr>
          <p:cNvPr id="12" name="Shape 10"/>
          <p:cNvSpPr/>
          <p:nvPr/>
        </p:nvSpPr>
        <p:spPr>
          <a:xfrm>
            <a:off x="548640" y="4055872"/>
            <a:ext cx="11094415" cy="729894"/>
          </a:xfrm>
          <a:prstGeom prst="roundRect">
            <a:avLst>
              <a:gd name="adj" fmla="val 8769"/>
            </a:avLst>
          </a:prstGeom>
          <a:solidFill>
            <a:srgbClr val="F1ECFD"/>
          </a:solidFill>
          <a:ln/>
        </p:spPr>
      </p:sp>
      <p:sp>
        <p:nvSpPr>
          <p:cNvPr id="13" name="Text 11"/>
          <p:cNvSpPr txBox="1"/>
          <p:nvPr/>
        </p:nvSpPr>
        <p:spPr>
          <a:xfrm>
            <a:off x="704088" y="4129024"/>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adrenogenital syndrome (G) (adrenojenital sendrom): </a:t>
            </a:r>
            <a:r>
              <a:rPr lang="en-US" sz="1600" dirty="0">
                <a:solidFill>
                  <a:srgbClr val="1F2937"/>
                </a:solidFill>
                <a:latin typeface="Calibri" pitchFamily="34" charset="0"/>
                <a:ea typeface="Calibri" pitchFamily="34" charset="-122"/>
                <a:cs typeface="Calibri" pitchFamily="34" charset="-120"/>
              </a:rPr>
              <a:t>Aşırı miktarda adrenal androjenlerin salgılaması nedeniyle virilizasyona yol açan doğuştan ya da sonradan oluşan bir sendrom</a:t>
            </a:r>
            <a:endParaRPr lang="en-US" sz="1600" dirty="0"/>
          </a:p>
        </p:txBody>
      </p:sp>
      <p:sp>
        <p:nvSpPr>
          <p:cNvPr id="14" name="Shape 12"/>
          <p:cNvSpPr/>
          <p:nvPr/>
        </p:nvSpPr>
        <p:spPr>
          <a:xfrm>
            <a:off x="548640" y="5006035"/>
            <a:ext cx="11094415" cy="481990"/>
          </a:xfrm>
          <a:prstGeom prst="roundRect">
            <a:avLst>
              <a:gd name="adj" fmla="val 13280"/>
            </a:avLst>
          </a:prstGeom>
          <a:solidFill>
            <a:srgbClr val="F1ECFD"/>
          </a:solidFill>
          <a:ln/>
        </p:spPr>
      </p:sp>
      <p:sp>
        <p:nvSpPr>
          <p:cNvPr id="15" name="Text 13"/>
          <p:cNvSpPr txBox="1"/>
          <p:nvPr/>
        </p:nvSpPr>
        <p:spPr>
          <a:xfrm>
            <a:off x="704088" y="5079187"/>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hypopituitarism (G) (hipopituitarizm): </a:t>
            </a:r>
            <a:r>
              <a:rPr lang="en-US" sz="1600" dirty="0">
                <a:solidFill>
                  <a:srgbClr val="1F2937"/>
                </a:solidFill>
                <a:latin typeface="Calibri" pitchFamily="34" charset="0"/>
                <a:ea typeface="Calibri" pitchFamily="34" charset="-122"/>
                <a:cs typeface="Calibri" pitchFamily="34" charset="-120"/>
              </a:rPr>
              <a:t>Hipofiz yetersiz hormon salgılaması durumu</a:t>
            </a:r>
            <a:endParaRPr lang="en-US" sz="1600" dirty="0"/>
          </a:p>
        </p:txBody>
      </p:sp>
      <p:sp>
        <p:nvSpPr>
          <p:cNvPr id="16" name="Shape 14"/>
          <p:cNvSpPr/>
          <p:nvPr/>
        </p:nvSpPr>
        <p:spPr>
          <a:xfrm>
            <a:off x="548640" y="5579466"/>
            <a:ext cx="11094415" cy="729894"/>
          </a:xfrm>
          <a:prstGeom prst="roundRect">
            <a:avLst>
              <a:gd name="adj" fmla="val 8769"/>
            </a:avLst>
          </a:prstGeom>
          <a:solidFill>
            <a:srgbClr val="F1ECFD"/>
          </a:solidFill>
          <a:ln/>
        </p:spPr>
      </p:sp>
      <p:sp>
        <p:nvSpPr>
          <p:cNvPr id="17" name="Text 15"/>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6D28D9"/>
                </a:solidFill>
                <a:latin typeface="Calibri" pitchFamily="34" charset="0"/>
                <a:ea typeface="Calibri" pitchFamily="34" charset="-122"/>
                <a:cs typeface="Calibri" pitchFamily="34" charset="-120"/>
              </a:rPr>
              <a:t>gigantism (G) (jigantizm): </a:t>
            </a:r>
            <a:r>
              <a:rPr lang="en-US" sz="1600" dirty="0">
                <a:solidFill>
                  <a:srgbClr val="1F2937"/>
                </a:solidFill>
                <a:latin typeface="Calibri" pitchFamily="34" charset="0"/>
                <a:ea typeface="Calibri" pitchFamily="34" charset="-122"/>
                <a:cs typeface="Calibri" pitchFamily="34" charset="-120"/>
              </a:rPr>
              <a:t>Çocuklarda büyüme hormonu fazlalığına bağlı olarak gelişen bir hastalık. Özellikle uzun kemiklerde fazla büyüme olur. Devlik.</a:t>
            </a:r>
            <a:endParaRPr lang="en-US" sz="16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F1ECFD"/>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278</a:t>
            </a:r>
            <a:endParaRPr lang="en-US" sz="1000" dirty="0"/>
          </a:p>
        </p:txBody>
      </p:sp>
      <p:sp>
        <p:nvSpPr>
          <p:cNvPr id="6" name="Shape 4"/>
          <p:cNvSpPr/>
          <p:nvPr/>
        </p:nvSpPr>
        <p:spPr>
          <a:xfrm>
            <a:off x="548640" y="1565529"/>
            <a:ext cx="11094415" cy="684276"/>
          </a:xfrm>
          <a:prstGeom prst="roundRect">
            <a:avLst>
              <a:gd name="adj" fmla="val 9354"/>
            </a:avLst>
          </a:prstGeom>
          <a:solidFill>
            <a:srgbClr val="F1ECFD"/>
          </a:solidFill>
          <a:ln/>
        </p:spPr>
      </p:sp>
      <p:sp>
        <p:nvSpPr>
          <p:cNvPr id="7" name="Text 5"/>
          <p:cNvSpPr txBox="1"/>
          <p:nvPr/>
        </p:nvSpPr>
        <p:spPr>
          <a:xfrm>
            <a:off x="704088" y="1638681"/>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Cushing’s syndrome (Kuşing sendromu): </a:t>
            </a:r>
            <a:r>
              <a:rPr lang="en-US" sz="1500" dirty="0">
                <a:solidFill>
                  <a:srgbClr val="1F2937"/>
                </a:solidFill>
                <a:latin typeface="Calibri" pitchFamily="34" charset="0"/>
                <a:ea typeface="Calibri" pitchFamily="34" charset="-122"/>
                <a:cs typeface="Calibri" pitchFamily="34" charset="-120"/>
              </a:rPr>
              <a:t>Adrenal korteksin aşırı çalışması sonucu gelişen sendrom. Aşırı kilo artışı, hiperglisemi ve güçsüzlükle karakterizedir.</a:t>
            </a:r>
            <a:endParaRPr lang="en-US" sz="1500" dirty="0"/>
          </a:p>
        </p:txBody>
      </p:sp>
      <p:sp>
        <p:nvSpPr>
          <p:cNvPr id="8" name="Shape 6"/>
          <p:cNvSpPr/>
          <p:nvPr/>
        </p:nvSpPr>
        <p:spPr>
          <a:xfrm>
            <a:off x="548640" y="2341245"/>
            <a:ext cx="11094415" cy="684276"/>
          </a:xfrm>
          <a:prstGeom prst="roundRect">
            <a:avLst>
              <a:gd name="adj" fmla="val 9354"/>
            </a:avLst>
          </a:prstGeom>
          <a:solidFill>
            <a:srgbClr val="F1ECFD"/>
          </a:solidFill>
          <a:ln/>
        </p:spPr>
      </p:sp>
      <p:sp>
        <p:nvSpPr>
          <p:cNvPr id="9" name="Text 7"/>
          <p:cNvSpPr txBox="1"/>
          <p:nvPr/>
        </p:nvSpPr>
        <p:spPr>
          <a:xfrm>
            <a:off x="704088" y="241439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pheochromocytoma (feokromositoma): </a:t>
            </a:r>
            <a:r>
              <a:rPr lang="en-US" sz="1500" dirty="0">
                <a:solidFill>
                  <a:srgbClr val="1F2937"/>
                </a:solidFill>
                <a:latin typeface="Calibri" pitchFamily="34" charset="0"/>
                <a:ea typeface="Calibri" pitchFamily="34" charset="-122"/>
                <a:cs typeface="Calibri" pitchFamily="34" charset="-120"/>
              </a:rPr>
              <a:t>Genellikle adrenal medulladan kaynaklanan adrenalin veya noradrenalin salgılayarak hipertansiyona neden olan bir tümördür.</a:t>
            </a:r>
            <a:endParaRPr lang="en-US" sz="1500" dirty="0"/>
          </a:p>
        </p:txBody>
      </p:sp>
      <p:sp>
        <p:nvSpPr>
          <p:cNvPr id="10" name="Shape 8"/>
          <p:cNvSpPr/>
          <p:nvPr/>
        </p:nvSpPr>
        <p:spPr>
          <a:xfrm>
            <a:off x="548640" y="3219450"/>
            <a:ext cx="11094415" cy="684276"/>
          </a:xfrm>
          <a:prstGeom prst="roundRect">
            <a:avLst>
              <a:gd name="adj" fmla="val 9354"/>
            </a:avLst>
          </a:prstGeom>
          <a:solidFill>
            <a:srgbClr val="F1ECFD"/>
          </a:solidFill>
          <a:ln/>
        </p:spPr>
      </p:sp>
      <p:sp>
        <p:nvSpPr>
          <p:cNvPr id="11" name="Text 9"/>
          <p:cNvSpPr txBox="1"/>
          <p:nvPr/>
        </p:nvSpPr>
        <p:spPr>
          <a:xfrm>
            <a:off x="704088" y="3292602"/>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diabetes insipidus (Dİ) (G): </a:t>
            </a:r>
            <a:r>
              <a:rPr lang="en-US" sz="1500" dirty="0">
                <a:solidFill>
                  <a:srgbClr val="1F2937"/>
                </a:solidFill>
                <a:latin typeface="Calibri" pitchFamily="34" charset="0"/>
                <a:ea typeface="Calibri" pitchFamily="34" charset="-122"/>
                <a:cs typeface="Calibri" pitchFamily="34" charset="-120"/>
              </a:rPr>
              <a:t>Hipofiz arka lobu hormonu olan antidiüretik yetersizliğine bağlı gelişen bir hatalık, şekersiz şeker hastalığı da denir.</a:t>
            </a:r>
            <a:endParaRPr lang="en-US" sz="1500" dirty="0"/>
          </a:p>
        </p:txBody>
      </p:sp>
      <p:sp>
        <p:nvSpPr>
          <p:cNvPr id="12" name="Shape 10"/>
          <p:cNvSpPr/>
          <p:nvPr/>
        </p:nvSpPr>
        <p:spPr>
          <a:xfrm>
            <a:off x="548640" y="3995166"/>
            <a:ext cx="11094415" cy="451866"/>
          </a:xfrm>
          <a:prstGeom prst="roundRect">
            <a:avLst>
              <a:gd name="adj" fmla="val 14165"/>
            </a:avLst>
          </a:prstGeom>
          <a:solidFill>
            <a:srgbClr val="F1ECFD"/>
          </a:solidFill>
          <a:ln/>
        </p:spPr>
      </p:sp>
      <p:sp>
        <p:nvSpPr>
          <p:cNvPr id="13" name="Text 11"/>
          <p:cNvSpPr txBox="1"/>
          <p:nvPr/>
        </p:nvSpPr>
        <p:spPr>
          <a:xfrm>
            <a:off x="704088" y="406831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diabetes mellitus (DM) (G): </a:t>
            </a:r>
            <a:r>
              <a:rPr lang="en-US" sz="1500" dirty="0">
                <a:solidFill>
                  <a:srgbClr val="1F2937"/>
                </a:solidFill>
                <a:latin typeface="Calibri" pitchFamily="34" charset="0"/>
                <a:ea typeface="Calibri" pitchFamily="34" charset="-122"/>
                <a:cs typeface="Calibri" pitchFamily="34" charset="-120"/>
              </a:rPr>
              <a:t>Şeker hastalığı</a:t>
            </a:r>
            <a:endParaRPr lang="en-US" sz="1500" dirty="0"/>
          </a:p>
        </p:txBody>
      </p:sp>
      <p:sp>
        <p:nvSpPr>
          <p:cNvPr id="14" name="Shape 12"/>
          <p:cNvSpPr/>
          <p:nvPr/>
        </p:nvSpPr>
        <p:spPr>
          <a:xfrm>
            <a:off x="548640" y="4538472"/>
            <a:ext cx="11094415" cy="451866"/>
          </a:xfrm>
          <a:prstGeom prst="roundRect">
            <a:avLst>
              <a:gd name="adj" fmla="val 14165"/>
            </a:avLst>
          </a:prstGeom>
          <a:solidFill>
            <a:srgbClr val="F1ECFD"/>
          </a:solidFill>
          <a:ln/>
        </p:spPr>
      </p:sp>
      <p:sp>
        <p:nvSpPr>
          <p:cNvPr id="15" name="Text 13"/>
          <p:cNvSpPr txBox="1"/>
          <p:nvPr/>
        </p:nvSpPr>
        <p:spPr>
          <a:xfrm>
            <a:off x="704088" y="461162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Hashimoto’s thyroiditis (Haşimoto tiroidit): </a:t>
            </a:r>
            <a:r>
              <a:rPr lang="en-US" sz="1500" dirty="0">
                <a:solidFill>
                  <a:srgbClr val="1F2937"/>
                </a:solidFill>
                <a:latin typeface="Calibri" pitchFamily="34" charset="0"/>
                <a:ea typeface="Calibri" pitchFamily="34" charset="-122"/>
                <a:cs typeface="Calibri" pitchFamily="34" charset="-120"/>
              </a:rPr>
              <a:t>Kronik lenfositer tiroidittir. Otoimmün bir hastalıktır.</a:t>
            </a:r>
            <a:endParaRPr lang="en-US" sz="1500" dirty="0"/>
          </a:p>
        </p:txBody>
      </p:sp>
      <p:sp>
        <p:nvSpPr>
          <p:cNvPr id="16" name="Shape 14"/>
          <p:cNvSpPr/>
          <p:nvPr/>
        </p:nvSpPr>
        <p:spPr>
          <a:xfrm>
            <a:off x="548640" y="5081778"/>
            <a:ext cx="11094415" cy="451866"/>
          </a:xfrm>
          <a:prstGeom prst="roundRect">
            <a:avLst>
              <a:gd name="adj" fmla="val 14165"/>
            </a:avLst>
          </a:prstGeom>
          <a:solidFill>
            <a:srgbClr val="F1ECFD"/>
          </a:solidFill>
          <a:ln/>
        </p:spPr>
      </p:sp>
      <p:sp>
        <p:nvSpPr>
          <p:cNvPr id="17" name="Text 15"/>
          <p:cNvSpPr txBox="1"/>
          <p:nvPr/>
        </p:nvSpPr>
        <p:spPr>
          <a:xfrm>
            <a:off x="704088" y="515493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papiller karsinom: </a:t>
            </a:r>
            <a:r>
              <a:rPr lang="en-US" sz="1500" dirty="0">
                <a:solidFill>
                  <a:srgbClr val="1F2937"/>
                </a:solidFill>
                <a:latin typeface="Calibri" pitchFamily="34" charset="0"/>
                <a:ea typeface="Calibri" pitchFamily="34" charset="-122"/>
                <a:cs typeface="Calibri" pitchFamily="34" charset="-120"/>
              </a:rPr>
              <a:t>Tiroidin en sık görülen kötü huylu tümörüdür.</a:t>
            </a:r>
            <a:endParaRPr lang="en-US" sz="1500" dirty="0"/>
          </a:p>
        </p:txBody>
      </p:sp>
      <p:sp>
        <p:nvSpPr>
          <p:cNvPr id="18" name="Shape 16"/>
          <p:cNvSpPr/>
          <p:nvPr/>
        </p:nvSpPr>
        <p:spPr>
          <a:xfrm>
            <a:off x="548640" y="5625084"/>
            <a:ext cx="11094415" cy="684276"/>
          </a:xfrm>
          <a:prstGeom prst="roundRect">
            <a:avLst>
              <a:gd name="adj" fmla="val 9354"/>
            </a:avLst>
          </a:prstGeom>
          <a:solidFill>
            <a:srgbClr val="F1ECFD"/>
          </a:solidFill>
          <a:ln/>
        </p:spPr>
      </p:sp>
      <p:sp>
        <p:nvSpPr>
          <p:cNvPr id="19" name="Text 17"/>
          <p:cNvSpPr txBox="1"/>
          <p:nvPr/>
        </p:nvSpPr>
        <p:spPr>
          <a:xfrm>
            <a:off x="704088" y="5698236"/>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6D28D9"/>
                </a:solidFill>
                <a:latin typeface="Calibri" pitchFamily="34" charset="0"/>
                <a:ea typeface="Calibri" pitchFamily="34" charset="-122"/>
                <a:cs typeface="Calibri" pitchFamily="34" charset="-120"/>
              </a:rPr>
              <a:t>anaplastic carcinoma (G) (anaplastik karsinom): </a:t>
            </a:r>
            <a:r>
              <a:rPr lang="en-US" sz="1500" dirty="0">
                <a:solidFill>
                  <a:srgbClr val="1F2937"/>
                </a:solidFill>
                <a:latin typeface="Calibri" pitchFamily="34" charset="0"/>
                <a:ea typeface="Calibri" pitchFamily="34" charset="-122"/>
                <a:cs typeface="Calibri" pitchFamily="34" charset="-120"/>
              </a:rPr>
              <a:t>En kötü huylu tiroid tümörüdür. Tanıdan sonraki bir yıl içerisnde bütün hastalar ölür.</a:t>
            </a:r>
            <a:endParaRPr lang="en-US" sz="15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spTree>
      <p:nvGrpSpPr>
        <p:cNvPr id="1" name=""/>
        <p:cNvGrpSpPr/>
        <p:nvPr/>
      </p:nvGrpSpPr>
      <p:grpSpPr>
        <a:xfrm>
          <a:off x="0" y="0"/>
          <a:ext cx="0" cy="0"/>
          <a:chOff x="0" y="0"/>
          <a:chExt cx="0" cy="0"/>
        </a:xfrm>
      </p:grpSpPr>
      <p:sp>
        <p:nvSpPr>
          <p:cNvPr id="2" name="Shape 0"/>
          <p:cNvSpPr/>
          <p:nvPr/>
        </p:nvSpPr>
        <p:spPr>
          <a:xfrm>
            <a:off x="548640" y="384048"/>
            <a:ext cx="6601968" cy="310896"/>
          </a:xfrm>
          <a:prstGeom prst="roundRect">
            <a:avLst>
              <a:gd name="adj" fmla="val 50000"/>
            </a:avLst>
          </a:prstGeom>
          <a:solidFill>
            <a:srgbClr val="F1ECFD"/>
          </a:solidFill>
          <a:ln/>
        </p:spPr>
      </p:sp>
      <p:sp>
        <p:nvSpPr>
          <p:cNvPr id="3" name="Text 1"/>
          <p:cNvSpPr txBox="1"/>
          <p:nvPr/>
        </p:nvSpPr>
        <p:spPr>
          <a:xfrm>
            <a:off x="694944" y="384048"/>
            <a:ext cx="632764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279</a:t>
            </a:r>
            <a:endParaRPr lang="en-US" sz="1000" dirty="0"/>
          </a:p>
        </p:txBody>
      </p:sp>
      <p:sp>
        <p:nvSpPr>
          <p:cNvPr id="6" name="Shape 4"/>
          <p:cNvSpPr/>
          <p:nvPr/>
        </p:nvSpPr>
        <p:spPr>
          <a:xfrm>
            <a:off x="548640" y="2385670"/>
            <a:ext cx="11094415" cy="821131"/>
          </a:xfrm>
          <a:prstGeom prst="roundRect">
            <a:avLst>
              <a:gd name="adj" fmla="val 7795"/>
            </a:avLst>
          </a:prstGeom>
          <a:solidFill>
            <a:srgbClr val="F1ECFD"/>
          </a:solidFill>
          <a:ln/>
        </p:spPr>
      </p:sp>
      <p:sp>
        <p:nvSpPr>
          <p:cNvPr id="7" name="Text 5"/>
          <p:cNvSpPr txBox="1"/>
          <p:nvPr/>
        </p:nvSpPr>
        <p:spPr>
          <a:xfrm>
            <a:off x="704088" y="245882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hypothyroidism (G) (hipotiroidz): </a:t>
            </a:r>
            <a:r>
              <a:rPr lang="en-US" sz="1800" dirty="0">
                <a:solidFill>
                  <a:srgbClr val="1F2937"/>
                </a:solidFill>
                <a:latin typeface="Calibri" pitchFamily="34" charset="0"/>
                <a:ea typeface="Calibri" pitchFamily="34" charset="-122"/>
                <a:cs typeface="Calibri" pitchFamily="34" charset="-120"/>
              </a:rPr>
              <a:t>Tiroid bezinin az çalışması durumudur. Kanda tiroid hormonu seviyesi düşer. Uyuşukluk,  nabız atım sayısında düşüklük e obezite görülür.</a:t>
            </a:r>
            <a:endParaRPr lang="en-US" sz="1800" dirty="0"/>
          </a:p>
        </p:txBody>
      </p:sp>
      <p:sp>
        <p:nvSpPr>
          <p:cNvPr id="8" name="Shape 6"/>
          <p:cNvSpPr/>
          <p:nvPr/>
        </p:nvSpPr>
        <p:spPr>
          <a:xfrm>
            <a:off x="548640" y="4220870"/>
            <a:ext cx="11094415" cy="542239"/>
          </a:xfrm>
          <a:prstGeom prst="roundRect">
            <a:avLst>
              <a:gd name="adj" fmla="val 11804"/>
            </a:avLst>
          </a:prstGeom>
          <a:solidFill>
            <a:srgbClr val="F1ECFD"/>
          </a:solidFill>
          <a:ln/>
        </p:spPr>
      </p:sp>
      <p:sp>
        <p:nvSpPr>
          <p:cNvPr id="9" name="Text 7"/>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goiter (İ) (guatr): </a:t>
            </a:r>
            <a:r>
              <a:rPr lang="en-US" sz="1800" dirty="0">
                <a:solidFill>
                  <a:srgbClr val="1F2937"/>
                </a:solidFill>
                <a:latin typeface="Calibri" pitchFamily="34" charset="0"/>
                <a:ea typeface="Calibri" pitchFamily="34" charset="-122"/>
                <a:cs typeface="Calibri" pitchFamily="34" charset="-120"/>
              </a:rPr>
              <a:t>Tiroid bezinin büyümesi</a:t>
            </a:r>
            <a:endParaRPr lang="en-US" sz="1800" dirty="0"/>
          </a:p>
        </p:txBody>
      </p:sp>
      <p:sp>
        <p:nvSpPr>
          <p:cNvPr id="10" name="Shape 8"/>
          <p:cNvSpPr/>
          <p:nvPr/>
        </p:nvSpPr>
        <p:spPr>
          <a:xfrm>
            <a:off x="548640" y="4854550"/>
            <a:ext cx="11094415" cy="821131"/>
          </a:xfrm>
          <a:prstGeom prst="roundRect">
            <a:avLst>
              <a:gd name="adj" fmla="val 7795"/>
            </a:avLst>
          </a:prstGeom>
          <a:solidFill>
            <a:srgbClr val="F1ECFD"/>
          </a:solidFill>
          <a:ln/>
        </p:spPr>
      </p:sp>
      <p:sp>
        <p:nvSpPr>
          <p:cNvPr id="11" name="Text 9"/>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cretinism (kretinizm): </a:t>
            </a:r>
            <a:r>
              <a:rPr lang="en-US" sz="1800" dirty="0">
                <a:solidFill>
                  <a:srgbClr val="1F2937"/>
                </a:solidFill>
                <a:latin typeface="Calibri" pitchFamily="34" charset="0"/>
                <a:ea typeface="Calibri" pitchFamily="34" charset="-122"/>
                <a:cs typeface="Calibri" pitchFamily="34" charset="-120"/>
              </a:rPr>
              <a:t>Çocuklarda konjenital hipotiroidizm durumudur. Zeka geriliği ve cücelik ile karakterizedir.</a:t>
            </a:r>
            <a:endParaRPr lang="en-US" sz="1800" dirty="0"/>
          </a:p>
        </p:txBody>
      </p:sp>
      <p:sp>
        <p:nvSpPr>
          <p:cNvPr id="12" name="Shape 10"/>
          <p:cNvSpPr/>
          <p:nvPr/>
        </p:nvSpPr>
        <p:spPr>
          <a:xfrm>
            <a:off x="548640" y="5767121"/>
            <a:ext cx="11094415" cy="542239"/>
          </a:xfrm>
          <a:prstGeom prst="roundRect">
            <a:avLst>
              <a:gd name="adj" fmla="val 11804"/>
            </a:avLst>
          </a:prstGeom>
          <a:solidFill>
            <a:srgbClr val="F1ECFD"/>
          </a:solidFill>
          <a:ln/>
        </p:spPr>
      </p:sp>
      <p:sp>
        <p:nvSpPr>
          <p:cNvPr id="13" name="Text 11"/>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parathyroid adenoma (G) (paratiroid adenom): </a:t>
            </a:r>
            <a:r>
              <a:rPr lang="en-US" sz="1800" dirty="0">
                <a:solidFill>
                  <a:srgbClr val="1F2937"/>
                </a:solidFill>
                <a:latin typeface="Calibri" pitchFamily="34" charset="0"/>
                <a:ea typeface="Calibri" pitchFamily="34" charset="-122"/>
                <a:cs typeface="Calibri" pitchFamily="34" charset="-120"/>
              </a:rPr>
              <a:t>Paratiroid bezinin benign tümörüdür.</a:t>
            </a:r>
            <a:endParaRPr lang="en-US" sz="18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spTree>
      <p:nvGrpSpPr>
        <p:cNvPr id="1" name=""/>
        <p:cNvGrpSpPr/>
        <p:nvPr/>
      </p:nvGrpSpPr>
      <p:grpSpPr>
        <a:xfrm>
          <a:off x="0" y="0"/>
          <a:ext cx="0" cy="0"/>
          <a:chOff x="0" y="0"/>
          <a:chExt cx="0" cy="0"/>
        </a:xfrm>
      </p:grpSpPr>
      <p:sp>
        <p:nvSpPr>
          <p:cNvPr id="2" name="Shape 0"/>
          <p:cNvSpPr/>
          <p:nvPr/>
        </p:nvSpPr>
        <p:spPr>
          <a:xfrm>
            <a:off x="548640" y="384048"/>
            <a:ext cx="5321808" cy="310896"/>
          </a:xfrm>
          <a:prstGeom prst="roundRect">
            <a:avLst>
              <a:gd name="adj" fmla="val 50000"/>
            </a:avLst>
          </a:prstGeom>
          <a:solidFill>
            <a:srgbClr val="F1ECFD"/>
          </a:solidFill>
          <a:ln/>
        </p:spPr>
      </p:sp>
      <p:sp>
        <p:nvSpPr>
          <p:cNvPr id="3" name="Text 1"/>
          <p:cNvSpPr txBox="1"/>
          <p:nvPr/>
        </p:nvSpPr>
        <p:spPr>
          <a:xfrm>
            <a:off x="694944" y="384048"/>
            <a:ext cx="5047488" cy="310896"/>
          </a:xfrm>
          <a:prstGeom prst="rect">
            <a:avLst/>
          </a:prstGeom>
          <a:noFill/>
          <a:ln/>
        </p:spPr>
        <p:txBody>
          <a:bodyPr wrap="square" lIns="0" tIns="0" rIns="0" bIns="0" rtlCol="0" anchor="ctr"/>
          <a:lstStyle/>
          <a:p>
            <a:pPr marL="0" indent="0">
              <a:buNone/>
            </a:pPr>
            <a:r>
              <a:rPr lang="en-US" sz="1000" b="1" kern="0" spc="60" dirty="0">
                <a:solidFill>
                  <a:srgbClr val="6D28D9"/>
                </a:solidFill>
                <a:latin typeface="Calibri" pitchFamily="34" charset="0"/>
                <a:ea typeface="Calibri" pitchFamily="34" charset="-122"/>
                <a:cs typeface="Calibri" pitchFamily="34" charset="-120"/>
              </a:rPr>
              <a:t>BÖLÜM 11  ·  ENDOKRİN SİSTEM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280</a:t>
            </a:r>
            <a:endParaRPr lang="en-US" sz="1000" dirty="0"/>
          </a:p>
        </p:txBody>
      </p:sp>
      <p:sp>
        <p:nvSpPr>
          <p:cNvPr id="6" name="Shape 4"/>
          <p:cNvSpPr/>
          <p:nvPr/>
        </p:nvSpPr>
        <p:spPr>
          <a:xfrm>
            <a:off x="548640" y="2319833"/>
            <a:ext cx="11094415" cy="542239"/>
          </a:xfrm>
          <a:prstGeom prst="roundRect">
            <a:avLst>
              <a:gd name="adj" fmla="val 11804"/>
            </a:avLst>
          </a:prstGeom>
          <a:solidFill>
            <a:srgbClr val="F1ECFD"/>
          </a:solidFill>
          <a:ln/>
        </p:spPr>
      </p:sp>
      <p:sp>
        <p:nvSpPr>
          <p:cNvPr id="7" name="Text 5"/>
          <p:cNvSpPr txBox="1"/>
          <p:nvPr/>
        </p:nvSpPr>
        <p:spPr>
          <a:xfrm>
            <a:off x="704088" y="2392985"/>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hypophysectomy (G) (hipofizektomi): </a:t>
            </a:r>
            <a:r>
              <a:rPr lang="en-US" sz="1800" dirty="0">
                <a:solidFill>
                  <a:srgbClr val="1F2937"/>
                </a:solidFill>
                <a:latin typeface="Calibri" pitchFamily="34" charset="0"/>
                <a:ea typeface="Calibri" pitchFamily="34" charset="-122"/>
                <a:cs typeface="Calibri" pitchFamily="34" charset="-120"/>
              </a:rPr>
              <a:t>Hipofiz bezinin ameliyatla alınması</a:t>
            </a:r>
            <a:endParaRPr lang="en-US" sz="1800" dirty="0"/>
          </a:p>
        </p:txBody>
      </p:sp>
      <p:sp>
        <p:nvSpPr>
          <p:cNvPr id="8" name="Shape 6"/>
          <p:cNvSpPr/>
          <p:nvPr/>
        </p:nvSpPr>
        <p:spPr>
          <a:xfrm>
            <a:off x="548640" y="2953512"/>
            <a:ext cx="11094415" cy="542239"/>
          </a:xfrm>
          <a:prstGeom prst="roundRect">
            <a:avLst>
              <a:gd name="adj" fmla="val 11804"/>
            </a:avLst>
          </a:prstGeom>
          <a:solidFill>
            <a:srgbClr val="F1ECFD"/>
          </a:solidFill>
          <a:ln/>
        </p:spPr>
      </p:sp>
      <p:sp>
        <p:nvSpPr>
          <p:cNvPr id="9" name="Text 7"/>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thyroidectomy (G) (tiroidektomi): </a:t>
            </a:r>
            <a:r>
              <a:rPr lang="en-US" sz="1800" dirty="0">
                <a:solidFill>
                  <a:srgbClr val="1F2937"/>
                </a:solidFill>
                <a:latin typeface="Calibri" pitchFamily="34" charset="0"/>
                <a:ea typeface="Calibri" pitchFamily="34" charset="-122"/>
                <a:cs typeface="Calibri" pitchFamily="34" charset="-120"/>
              </a:rPr>
              <a:t>Tiroit bezinin ameliyatla alınması,</a:t>
            </a:r>
            <a:endParaRPr lang="en-US" sz="1800" dirty="0"/>
          </a:p>
        </p:txBody>
      </p:sp>
      <p:sp>
        <p:nvSpPr>
          <p:cNvPr id="10" name="Shape 8"/>
          <p:cNvSpPr/>
          <p:nvPr/>
        </p:nvSpPr>
        <p:spPr>
          <a:xfrm>
            <a:off x="548640" y="3587191"/>
            <a:ext cx="11094415" cy="821131"/>
          </a:xfrm>
          <a:prstGeom prst="roundRect">
            <a:avLst>
              <a:gd name="adj" fmla="val 7795"/>
            </a:avLst>
          </a:prstGeom>
          <a:solidFill>
            <a:srgbClr val="F1ECFD"/>
          </a:solidFill>
          <a:ln/>
        </p:spPr>
      </p:sp>
      <p:sp>
        <p:nvSpPr>
          <p:cNvPr id="11" name="Text 9"/>
          <p:cNvSpPr txBox="1"/>
          <p:nvPr/>
        </p:nvSpPr>
        <p:spPr>
          <a:xfrm>
            <a:off x="704088" y="3660343"/>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subtotale (L) thyroidectomy (G) (subtotal tiroidektomi): </a:t>
            </a:r>
            <a:r>
              <a:rPr lang="en-US" sz="1800" dirty="0">
                <a:solidFill>
                  <a:srgbClr val="1F2937"/>
                </a:solidFill>
                <a:latin typeface="Calibri" pitchFamily="34" charset="0"/>
                <a:ea typeface="Calibri" pitchFamily="34" charset="-122"/>
                <a:cs typeface="Calibri" pitchFamily="34" charset="-120"/>
              </a:rPr>
              <a:t>Tiroid bezinin çok az bir kısmının bırakıldığı tiroidektomidir.</a:t>
            </a:r>
            <a:endParaRPr lang="en-US" sz="1800" dirty="0"/>
          </a:p>
        </p:txBody>
      </p:sp>
      <p:sp>
        <p:nvSpPr>
          <p:cNvPr id="12" name="Shape 10"/>
          <p:cNvSpPr/>
          <p:nvPr/>
        </p:nvSpPr>
        <p:spPr>
          <a:xfrm>
            <a:off x="548640" y="4499762"/>
            <a:ext cx="11094415" cy="542239"/>
          </a:xfrm>
          <a:prstGeom prst="roundRect">
            <a:avLst>
              <a:gd name="adj" fmla="val 11804"/>
            </a:avLst>
          </a:prstGeom>
          <a:solidFill>
            <a:srgbClr val="F1ECFD"/>
          </a:solidFill>
          <a:ln/>
        </p:spPr>
      </p:sp>
      <p:sp>
        <p:nvSpPr>
          <p:cNvPr id="13" name="Text 11"/>
          <p:cNvSpPr txBox="1"/>
          <p:nvPr/>
        </p:nvSpPr>
        <p:spPr>
          <a:xfrm>
            <a:off x="704088" y="457291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parathyroidectomy (G) (paratiroidectomi): </a:t>
            </a:r>
            <a:r>
              <a:rPr lang="en-US" sz="1800" dirty="0">
                <a:solidFill>
                  <a:srgbClr val="1F2937"/>
                </a:solidFill>
                <a:latin typeface="Calibri" pitchFamily="34" charset="0"/>
                <a:ea typeface="Calibri" pitchFamily="34" charset="-122"/>
                <a:cs typeface="Calibri" pitchFamily="34" charset="-120"/>
              </a:rPr>
              <a:t>Paratiroid bezinin ameliyatla alınması</a:t>
            </a:r>
            <a:endParaRPr lang="en-US" sz="1800" dirty="0"/>
          </a:p>
        </p:txBody>
      </p:sp>
      <p:sp>
        <p:nvSpPr>
          <p:cNvPr id="14" name="Shape 12"/>
          <p:cNvSpPr/>
          <p:nvPr/>
        </p:nvSpPr>
        <p:spPr>
          <a:xfrm>
            <a:off x="548640" y="5133442"/>
            <a:ext cx="11094415" cy="542239"/>
          </a:xfrm>
          <a:prstGeom prst="roundRect">
            <a:avLst>
              <a:gd name="adj" fmla="val 11804"/>
            </a:avLst>
          </a:prstGeom>
          <a:solidFill>
            <a:srgbClr val="F1ECFD"/>
          </a:solidFill>
          <a:ln/>
        </p:spPr>
      </p:sp>
      <p:sp>
        <p:nvSpPr>
          <p:cNvPr id="15" name="Text 13"/>
          <p:cNvSpPr txBox="1"/>
          <p:nvPr/>
        </p:nvSpPr>
        <p:spPr>
          <a:xfrm>
            <a:off x="704088" y="520659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adrenalectomy (LG) (adrenalektomi): </a:t>
            </a:r>
            <a:r>
              <a:rPr lang="en-US" sz="1800" dirty="0">
                <a:solidFill>
                  <a:srgbClr val="1F2937"/>
                </a:solidFill>
                <a:latin typeface="Calibri" pitchFamily="34" charset="0"/>
                <a:ea typeface="Calibri" pitchFamily="34" charset="-122"/>
                <a:cs typeface="Calibri" pitchFamily="34" charset="-120"/>
              </a:rPr>
              <a:t>Böbrelüstü bezlerinin ameliyatla alınması</a:t>
            </a:r>
            <a:endParaRPr lang="en-US" sz="1800" dirty="0"/>
          </a:p>
        </p:txBody>
      </p:sp>
      <p:sp>
        <p:nvSpPr>
          <p:cNvPr id="16" name="Shape 14"/>
          <p:cNvSpPr/>
          <p:nvPr/>
        </p:nvSpPr>
        <p:spPr>
          <a:xfrm>
            <a:off x="548640" y="5767121"/>
            <a:ext cx="11094415" cy="542239"/>
          </a:xfrm>
          <a:prstGeom prst="roundRect">
            <a:avLst>
              <a:gd name="adj" fmla="val 11804"/>
            </a:avLst>
          </a:prstGeom>
          <a:solidFill>
            <a:srgbClr val="F1ECFD"/>
          </a:solidFill>
          <a:ln/>
        </p:spPr>
      </p:sp>
      <p:sp>
        <p:nvSpPr>
          <p:cNvPr id="17" name="Text 15"/>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6D28D9"/>
                </a:solidFill>
                <a:latin typeface="Calibri" pitchFamily="34" charset="0"/>
                <a:ea typeface="Calibri" pitchFamily="34" charset="-122"/>
                <a:cs typeface="Calibri" pitchFamily="34" charset="-120"/>
              </a:rPr>
              <a:t>pancreatectomy (G) (pankreatektomi): </a:t>
            </a:r>
            <a:r>
              <a:rPr lang="en-US" sz="1800" dirty="0">
                <a:solidFill>
                  <a:srgbClr val="1F2937"/>
                </a:solidFill>
                <a:latin typeface="Calibri" pitchFamily="34" charset="0"/>
                <a:ea typeface="Calibri" pitchFamily="34" charset="-122"/>
                <a:cs typeface="Calibri" pitchFamily="34" charset="-120"/>
              </a:rPr>
              <a:t>Pankreasın çıkarılması</a:t>
            </a:r>
            <a:endParaRPr lang="en-US" sz="18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0FD"/>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D6E2FA"/>
                </a:solidFill>
                <a:latin typeface="Cambria" pitchFamily="34" charset="0"/>
                <a:ea typeface="Cambria" pitchFamily="34" charset="-122"/>
                <a:cs typeface="Cambria" pitchFamily="34" charset="-120"/>
              </a:rPr>
              <a:t>12</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1D4ED8"/>
                </a:solidFill>
                <a:latin typeface="Calibri" pitchFamily="34" charset="0"/>
                <a:ea typeface="Calibri" pitchFamily="34" charset="-122"/>
                <a:cs typeface="Calibri" pitchFamily="34" charset="-120"/>
              </a:rPr>
              <a:t>BÖLÜM 12</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000" b="1" dirty="0">
                <a:solidFill>
                  <a:srgbClr val="1F2937"/>
                </a:solidFill>
                <a:latin typeface="Cambria" pitchFamily="34" charset="0"/>
                <a:ea typeface="Cambria" pitchFamily="34" charset="-122"/>
                <a:cs typeface="Cambria" pitchFamily="34" charset="-120"/>
              </a:rPr>
              <a:t>SİNİR SİSTEMİ VE PSİKİYATRİ TERİMLERİ</a:t>
            </a:r>
            <a:endParaRPr lang="en-US" sz="3000" dirty="0"/>
          </a:p>
        </p:txBody>
      </p:sp>
      <p:sp>
        <p:nvSpPr>
          <p:cNvPr id="7" name="Shape 5"/>
          <p:cNvSpPr/>
          <p:nvPr/>
        </p:nvSpPr>
        <p:spPr>
          <a:xfrm>
            <a:off x="8503920" y="2331720"/>
            <a:ext cx="2194560" cy="2194560"/>
          </a:xfrm>
          <a:prstGeom prst="ellipse">
            <a:avLst/>
          </a:prstGeom>
          <a:solidFill>
            <a:srgbClr val="EAF0FD"/>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283</a:t>
            </a:r>
            <a:endParaRPr lang="en-US" sz="10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SİNİR SİSTEMİ VE PSİKİYATRİ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284</a:t>
            </a:r>
            <a:endParaRPr lang="en-US" sz="1000" dirty="0"/>
          </a:p>
        </p:txBody>
      </p:sp>
      <p:sp>
        <p:nvSpPr>
          <p:cNvPr id="6" name="Shape 4"/>
          <p:cNvSpPr/>
          <p:nvPr/>
        </p:nvSpPr>
        <p:spPr>
          <a:xfrm>
            <a:off x="548640" y="2099005"/>
            <a:ext cx="11094415" cy="1100023"/>
          </a:xfrm>
          <a:prstGeom prst="roundRect">
            <a:avLst>
              <a:gd name="adj" fmla="val 5819"/>
            </a:avLst>
          </a:prstGeom>
          <a:solidFill>
            <a:srgbClr val="EAF0FD"/>
          </a:solidFill>
          <a:ln/>
        </p:spPr>
      </p:sp>
      <p:sp>
        <p:nvSpPr>
          <p:cNvPr id="7" name="Text 5"/>
          <p:cNvSpPr txBox="1"/>
          <p:nvPr/>
        </p:nvSpPr>
        <p:spPr>
          <a:xfrm>
            <a:off x="704088" y="2172157"/>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Sinir sistemi işlevsel ve yapısal yönden karmaşık bir yapıya sahiptir. Vücudun bütün sistemleriyle ilgilidir. Onları işlevsel yönden denetler; çalışmalarını normal düzeyde tutar. İçeriden ve çevreden aldıkları uyartıları cevaplandırır.</a:t>
            </a:r>
            <a:endParaRPr lang="en-US" sz="1800" dirty="0"/>
          </a:p>
        </p:txBody>
      </p:sp>
      <p:sp>
        <p:nvSpPr>
          <p:cNvPr id="8" name="Shape 6"/>
          <p:cNvSpPr/>
          <p:nvPr/>
        </p:nvSpPr>
        <p:spPr>
          <a:xfrm>
            <a:off x="548640" y="3290468"/>
            <a:ext cx="11094415" cy="1100023"/>
          </a:xfrm>
          <a:prstGeom prst="roundRect">
            <a:avLst>
              <a:gd name="adj" fmla="val 5819"/>
            </a:avLst>
          </a:prstGeom>
          <a:solidFill>
            <a:srgbClr val="EAF0FD"/>
          </a:solidFill>
          <a:ln/>
        </p:spPr>
      </p:sp>
      <p:sp>
        <p:nvSpPr>
          <p:cNvPr id="9" name="Text 7"/>
          <p:cNvSpPr txBox="1"/>
          <p:nvPr/>
        </p:nvSpPr>
        <p:spPr>
          <a:xfrm>
            <a:off x="704088" y="3363620"/>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Sinir sistemi iki bölümdür. 1. Merkezi sinir sistemi. 2. Periferik sinir sistemi. Merkezi sinir sistemi beyin, beyincik, ve omurilik; periferik sistemini çevresel sinirler ve gangliyonlar (sinir düğümleri) oluşturular.</a:t>
            </a:r>
            <a:endParaRPr lang="en-US" sz="1800" dirty="0"/>
          </a:p>
        </p:txBody>
      </p:sp>
      <p:sp>
        <p:nvSpPr>
          <p:cNvPr id="10" name="Shape 8"/>
          <p:cNvSpPr/>
          <p:nvPr/>
        </p:nvSpPr>
        <p:spPr>
          <a:xfrm>
            <a:off x="548640" y="4481932"/>
            <a:ext cx="11094415" cy="1100023"/>
          </a:xfrm>
          <a:prstGeom prst="roundRect">
            <a:avLst>
              <a:gd name="adj" fmla="val 5819"/>
            </a:avLst>
          </a:prstGeom>
          <a:solidFill>
            <a:srgbClr val="EAF0FD"/>
          </a:solidFill>
          <a:ln/>
        </p:spPr>
      </p:sp>
      <p:sp>
        <p:nvSpPr>
          <p:cNvPr id="11" name="Text 9"/>
          <p:cNvSpPr txBox="1"/>
          <p:nvPr/>
        </p:nvSpPr>
        <p:spPr>
          <a:xfrm>
            <a:off x="704088" y="4555084"/>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Sinir sisteminin dokuları kendine özgüdür. Burada hücreler arasındaki doku, bağ doku değildir. Bağ doku yerine nöroglia denilen özel doku vardır. Bağ doku çevresel sinir sistemi organlarında bulunur.</a:t>
            </a:r>
            <a:endParaRPr lang="en-US" sz="18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285</a:t>
            </a:r>
            <a:endParaRPr lang="en-US" sz="1000" dirty="0"/>
          </a:p>
        </p:txBody>
      </p:sp>
      <p:sp>
        <p:nvSpPr>
          <p:cNvPr id="6" name="Shape 4"/>
          <p:cNvSpPr/>
          <p:nvPr/>
        </p:nvSpPr>
        <p:spPr>
          <a:xfrm>
            <a:off x="548640" y="1565529"/>
            <a:ext cx="11094415" cy="684276"/>
          </a:xfrm>
          <a:prstGeom prst="roundRect">
            <a:avLst>
              <a:gd name="adj" fmla="val 9354"/>
            </a:avLst>
          </a:prstGeom>
          <a:solidFill>
            <a:srgbClr val="EAF0FD"/>
          </a:solidFill>
          <a:ln/>
        </p:spPr>
      </p:sp>
      <p:sp>
        <p:nvSpPr>
          <p:cNvPr id="7" name="Text 5"/>
          <p:cNvSpPr txBox="1"/>
          <p:nvPr/>
        </p:nvSpPr>
        <p:spPr>
          <a:xfrm>
            <a:off x="704088" y="1638681"/>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synapsis (G) (sinaps): </a:t>
            </a:r>
            <a:r>
              <a:rPr lang="en-US" sz="1500" dirty="0">
                <a:solidFill>
                  <a:srgbClr val="1F2937"/>
                </a:solidFill>
                <a:latin typeface="Calibri" pitchFamily="34" charset="0"/>
                <a:ea typeface="Calibri" pitchFamily="34" charset="-122"/>
                <a:cs typeface="Calibri" pitchFamily="34" charset="-120"/>
              </a:rPr>
              <a:t>Uyartıların; bir sinir hücresinden bir sinir hücresine ya da sinir hücrelerinden bir vücut hücresine  (kas, epitel  vb.) geçirilmesini sağlayan bağlantılar.</a:t>
            </a:r>
            <a:endParaRPr lang="en-US" sz="1500" dirty="0"/>
          </a:p>
        </p:txBody>
      </p:sp>
      <p:sp>
        <p:nvSpPr>
          <p:cNvPr id="8" name="Shape 6"/>
          <p:cNvSpPr/>
          <p:nvPr/>
        </p:nvSpPr>
        <p:spPr>
          <a:xfrm>
            <a:off x="548640" y="2341245"/>
            <a:ext cx="11094415" cy="684276"/>
          </a:xfrm>
          <a:prstGeom prst="roundRect">
            <a:avLst>
              <a:gd name="adj" fmla="val 9354"/>
            </a:avLst>
          </a:prstGeom>
          <a:solidFill>
            <a:srgbClr val="EAF0FD"/>
          </a:solidFill>
          <a:ln/>
        </p:spPr>
      </p:sp>
      <p:sp>
        <p:nvSpPr>
          <p:cNvPr id="9" name="Text 7"/>
          <p:cNvSpPr txBox="1"/>
          <p:nvPr/>
        </p:nvSpPr>
        <p:spPr>
          <a:xfrm>
            <a:off x="704088" y="241439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substantia grisea (L) (substansya grisea): </a:t>
            </a:r>
            <a:r>
              <a:rPr lang="en-US" sz="1500" dirty="0">
                <a:solidFill>
                  <a:srgbClr val="1F2937"/>
                </a:solidFill>
                <a:latin typeface="Calibri" pitchFamily="34" charset="0"/>
                <a:ea typeface="Calibri" pitchFamily="34" charset="-122"/>
                <a:cs typeface="Calibri" pitchFamily="34" charset="-120"/>
              </a:rPr>
              <a:t>Gri (boz) katman. Boz katman omurilikte içte, beyin ve beyincikte dışta bulunur. Sinir hücreleri bu katmanda olurlar</a:t>
            </a:r>
            <a:endParaRPr lang="en-US" sz="1500" dirty="0"/>
          </a:p>
        </p:txBody>
      </p:sp>
      <p:sp>
        <p:nvSpPr>
          <p:cNvPr id="10" name="Shape 8"/>
          <p:cNvSpPr/>
          <p:nvPr/>
        </p:nvSpPr>
        <p:spPr>
          <a:xfrm>
            <a:off x="548640" y="3116961"/>
            <a:ext cx="11094415" cy="684276"/>
          </a:xfrm>
          <a:prstGeom prst="roundRect">
            <a:avLst>
              <a:gd name="adj" fmla="val 9354"/>
            </a:avLst>
          </a:prstGeom>
          <a:solidFill>
            <a:srgbClr val="EAF0FD"/>
          </a:solidFill>
          <a:ln/>
        </p:spPr>
      </p:sp>
      <p:sp>
        <p:nvSpPr>
          <p:cNvPr id="11" name="Text 9"/>
          <p:cNvSpPr txBox="1"/>
          <p:nvPr/>
        </p:nvSpPr>
        <p:spPr>
          <a:xfrm>
            <a:off x="704088" y="3190113"/>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substantia alba (L) (substansya alba): </a:t>
            </a:r>
            <a:r>
              <a:rPr lang="en-US" sz="1500" dirty="0">
                <a:solidFill>
                  <a:srgbClr val="1F2937"/>
                </a:solidFill>
                <a:latin typeface="Calibri" pitchFamily="34" charset="0"/>
                <a:ea typeface="Calibri" pitchFamily="34" charset="-122"/>
                <a:cs typeface="Calibri" pitchFamily="34" charset="-120"/>
              </a:rPr>
              <a:t>Ak katman. Omurilikte dşta, beyin ve beyincikte içte bulunur. Burda glia hücreleri ve sinir hücrelerinin uzantıları görülür.</a:t>
            </a:r>
            <a:endParaRPr lang="en-US" sz="1500" dirty="0"/>
          </a:p>
        </p:txBody>
      </p:sp>
      <p:sp>
        <p:nvSpPr>
          <p:cNvPr id="12" name="Shape 10"/>
          <p:cNvSpPr/>
          <p:nvPr/>
        </p:nvSpPr>
        <p:spPr>
          <a:xfrm>
            <a:off x="548640" y="3995166"/>
            <a:ext cx="11094415" cy="451866"/>
          </a:xfrm>
          <a:prstGeom prst="roundRect">
            <a:avLst>
              <a:gd name="adj" fmla="val 14165"/>
            </a:avLst>
          </a:prstGeom>
          <a:solidFill>
            <a:srgbClr val="EAF0FD"/>
          </a:solidFill>
          <a:ln/>
        </p:spPr>
      </p:sp>
      <p:sp>
        <p:nvSpPr>
          <p:cNvPr id="13" name="Text 11"/>
          <p:cNvSpPr txBox="1"/>
          <p:nvPr/>
        </p:nvSpPr>
        <p:spPr>
          <a:xfrm>
            <a:off x="704088" y="406831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F2937"/>
                </a:solidFill>
                <a:latin typeface="Calibri" pitchFamily="34" charset="0"/>
                <a:ea typeface="Calibri" pitchFamily="34" charset="-122"/>
                <a:cs typeface="Calibri" pitchFamily="34" charset="-120"/>
              </a:rPr>
              <a:t>Genel Terimler</a:t>
            </a:r>
            <a:endParaRPr lang="en-US" sz="1500" dirty="0"/>
          </a:p>
        </p:txBody>
      </p:sp>
      <p:sp>
        <p:nvSpPr>
          <p:cNvPr id="14" name="Shape 12"/>
          <p:cNvSpPr/>
          <p:nvPr/>
        </p:nvSpPr>
        <p:spPr>
          <a:xfrm>
            <a:off x="548640" y="4538472"/>
            <a:ext cx="11094415" cy="451866"/>
          </a:xfrm>
          <a:prstGeom prst="roundRect">
            <a:avLst>
              <a:gd name="adj" fmla="val 14165"/>
            </a:avLst>
          </a:prstGeom>
          <a:solidFill>
            <a:srgbClr val="EAF0FD"/>
          </a:solidFill>
          <a:ln/>
        </p:spPr>
      </p:sp>
      <p:sp>
        <p:nvSpPr>
          <p:cNvPr id="15" name="Text 13"/>
          <p:cNvSpPr txBox="1"/>
          <p:nvPr/>
        </p:nvSpPr>
        <p:spPr>
          <a:xfrm>
            <a:off x="704088" y="461162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neuron (G) (nöron): </a:t>
            </a:r>
            <a:r>
              <a:rPr lang="en-US" sz="1500" dirty="0">
                <a:solidFill>
                  <a:srgbClr val="1F2937"/>
                </a:solidFill>
                <a:latin typeface="Calibri" pitchFamily="34" charset="0"/>
                <a:ea typeface="Calibri" pitchFamily="34" charset="-122"/>
                <a:cs typeface="Calibri" pitchFamily="34" charset="-120"/>
              </a:rPr>
              <a:t>Sinir hücresi</a:t>
            </a:r>
            <a:endParaRPr lang="en-US" sz="1500" dirty="0"/>
          </a:p>
        </p:txBody>
      </p:sp>
      <p:sp>
        <p:nvSpPr>
          <p:cNvPr id="16" name="Shape 14"/>
          <p:cNvSpPr/>
          <p:nvPr/>
        </p:nvSpPr>
        <p:spPr>
          <a:xfrm>
            <a:off x="548640" y="5081778"/>
            <a:ext cx="11094415" cy="684276"/>
          </a:xfrm>
          <a:prstGeom prst="roundRect">
            <a:avLst>
              <a:gd name="adj" fmla="val 9354"/>
            </a:avLst>
          </a:prstGeom>
          <a:solidFill>
            <a:srgbClr val="EAF0FD"/>
          </a:solidFill>
          <a:ln/>
        </p:spPr>
      </p:sp>
      <p:sp>
        <p:nvSpPr>
          <p:cNvPr id="17" name="Text 15"/>
          <p:cNvSpPr txBox="1"/>
          <p:nvPr/>
        </p:nvSpPr>
        <p:spPr>
          <a:xfrm>
            <a:off x="704088" y="5154930"/>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dendritum (G) (dendrit): </a:t>
            </a:r>
            <a:r>
              <a:rPr lang="en-US" sz="1500" dirty="0">
                <a:solidFill>
                  <a:srgbClr val="1F2937"/>
                </a:solidFill>
                <a:latin typeface="Calibri" pitchFamily="34" charset="0"/>
                <a:ea typeface="Calibri" pitchFamily="34" charset="-122"/>
                <a:cs typeface="Calibri" pitchFamily="34" charset="-120"/>
              </a:rPr>
              <a:t>Sinir hücresinde hücreye ağaç görünümü veren kısa kalın uzantılar. Bunların sayıları birden çok olur ve dallanır.</a:t>
            </a:r>
            <a:endParaRPr lang="en-US" sz="1500" dirty="0"/>
          </a:p>
        </p:txBody>
      </p:sp>
      <p:sp>
        <p:nvSpPr>
          <p:cNvPr id="18" name="Shape 16"/>
          <p:cNvSpPr/>
          <p:nvPr/>
        </p:nvSpPr>
        <p:spPr>
          <a:xfrm>
            <a:off x="548640" y="5857494"/>
            <a:ext cx="11094415" cy="451866"/>
          </a:xfrm>
          <a:prstGeom prst="roundRect">
            <a:avLst>
              <a:gd name="adj" fmla="val 14165"/>
            </a:avLst>
          </a:prstGeom>
          <a:solidFill>
            <a:srgbClr val="EAF0FD"/>
          </a:solidFill>
          <a:ln/>
        </p:spPr>
      </p:sp>
      <p:sp>
        <p:nvSpPr>
          <p:cNvPr id="19" name="Text 17"/>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neuroglia (G) (nöroglia): </a:t>
            </a:r>
            <a:r>
              <a:rPr lang="en-US" sz="1500" dirty="0">
                <a:solidFill>
                  <a:srgbClr val="1F2937"/>
                </a:solidFill>
                <a:latin typeface="Calibri" pitchFamily="34" charset="0"/>
                <a:ea typeface="Calibri" pitchFamily="34" charset="-122"/>
                <a:cs typeface="Calibri" pitchFamily="34" charset="-120"/>
              </a:rPr>
              <a:t>Merkezi sinir sistemi organlarında nöronlar arasını dolduran sinir dokuya özgü bağ doku.</a:t>
            </a:r>
            <a:endParaRPr lang="en-US" sz="15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Merkezi Sinir Sistemi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286</a:t>
            </a:r>
            <a:endParaRPr lang="en-US" sz="1000" dirty="0"/>
          </a:p>
        </p:txBody>
      </p:sp>
      <p:sp>
        <p:nvSpPr>
          <p:cNvPr id="6" name="Shape 4"/>
          <p:cNvSpPr/>
          <p:nvPr/>
        </p:nvSpPr>
        <p:spPr>
          <a:xfrm>
            <a:off x="548640" y="1662278"/>
            <a:ext cx="11094415" cy="638658"/>
          </a:xfrm>
          <a:prstGeom prst="roundRect">
            <a:avLst>
              <a:gd name="adj" fmla="val 10022"/>
            </a:avLst>
          </a:prstGeom>
          <a:solidFill>
            <a:srgbClr val="EAF0FD"/>
          </a:solidFill>
          <a:ln/>
        </p:spPr>
      </p:sp>
      <p:sp>
        <p:nvSpPr>
          <p:cNvPr id="7" name="Text 5"/>
          <p:cNvSpPr txBox="1"/>
          <p:nvPr/>
        </p:nvSpPr>
        <p:spPr>
          <a:xfrm>
            <a:off x="704088" y="1735430"/>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dura mater (L): </a:t>
            </a:r>
            <a:r>
              <a:rPr lang="en-US" sz="1400" dirty="0">
                <a:solidFill>
                  <a:srgbClr val="1F2937"/>
                </a:solidFill>
                <a:latin typeface="Calibri" pitchFamily="34" charset="0"/>
                <a:ea typeface="Calibri" pitchFamily="34" charset="-122"/>
                <a:cs typeface="Calibri" pitchFamily="34" charset="-120"/>
              </a:rPr>
              <a:t>Beyin, beyincik ve omuriliği saran zarlardan en dışta olanıdır. Serttir. Beyin ve beyincikte kafatası kemiklerine yapışık, omurilikte omurlara yapışık değildir.</a:t>
            </a:r>
            <a:endParaRPr lang="en-US" sz="1400" dirty="0"/>
          </a:p>
        </p:txBody>
      </p:sp>
      <p:sp>
        <p:nvSpPr>
          <p:cNvPr id="8" name="Shape 6"/>
          <p:cNvSpPr/>
          <p:nvPr/>
        </p:nvSpPr>
        <p:spPr>
          <a:xfrm>
            <a:off x="548640" y="2591613"/>
            <a:ext cx="11094415" cy="421742"/>
          </a:xfrm>
          <a:prstGeom prst="roundRect">
            <a:avLst>
              <a:gd name="adj" fmla="val 15177"/>
            </a:avLst>
          </a:prstGeom>
          <a:solidFill>
            <a:srgbClr val="EAF0FD"/>
          </a:solidFill>
          <a:ln/>
        </p:spPr>
      </p:sp>
      <p:sp>
        <p:nvSpPr>
          <p:cNvPr id="9" name="Text 7"/>
          <p:cNvSpPr txBox="1"/>
          <p:nvPr/>
        </p:nvSpPr>
        <p:spPr>
          <a:xfrm>
            <a:off x="704088" y="2664765"/>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cerebrum (L) (serebrum): </a:t>
            </a:r>
            <a:r>
              <a:rPr lang="en-US" sz="1400" dirty="0">
                <a:solidFill>
                  <a:srgbClr val="1F2937"/>
                </a:solidFill>
                <a:latin typeface="Calibri" pitchFamily="34" charset="0"/>
                <a:ea typeface="Calibri" pitchFamily="34" charset="-122"/>
                <a:cs typeface="Calibri" pitchFamily="34" charset="-120"/>
              </a:rPr>
              <a:t>Beyin</a:t>
            </a:r>
            <a:endParaRPr lang="en-US" sz="1400" dirty="0"/>
          </a:p>
        </p:txBody>
      </p:sp>
      <p:sp>
        <p:nvSpPr>
          <p:cNvPr id="10" name="Shape 8"/>
          <p:cNvSpPr/>
          <p:nvPr/>
        </p:nvSpPr>
        <p:spPr>
          <a:xfrm>
            <a:off x="548640" y="3104794"/>
            <a:ext cx="11094415" cy="421742"/>
          </a:xfrm>
          <a:prstGeom prst="roundRect">
            <a:avLst>
              <a:gd name="adj" fmla="val 15177"/>
            </a:avLst>
          </a:prstGeom>
          <a:solidFill>
            <a:srgbClr val="EAF0FD"/>
          </a:solidFill>
          <a:ln/>
        </p:spPr>
      </p:sp>
      <p:sp>
        <p:nvSpPr>
          <p:cNvPr id="11" name="Text 9"/>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cerebellum (L) (serebellum): </a:t>
            </a:r>
            <a:r>
              <a:rPr lang="en-US" sz="1400" dirty="0">
                <a:solidFill>
                  <a:srgbClr val="1F2937"/>
                </a:solidFill>
                <a:latin typeface="Calibri" pitchFamily="34" charset="0"/>
                <a:ea typeface="Calibri" pitchFamily="34" charset="-122"/>
                <a:cs typeface="Calibri" pitchFamily="34" charset="-120"/>
              </a:rPr>
              <a:t>Beyincik</a:t>
            </a:r>
            <a:endParaRPr lang="en-US" sz="1400" dirty="0"/>
          </a:p>
        </p:txBody>
      </p:sp>
      <p:sp>
        <p:nvSpPr>
          <p:cNvPr id="12" name="Shape 10"/>
          <p:cNvSpPr/>
          <p:nvPr/>
        </p:nvSpPr>
        <p:spPr>
          <a:xfrm>
            <a:off x="548640" y="3617976"/>
            <a:ext cx="11094415" cy="421742"/>
          </a:xfrm>
          <a:prstGeom prst="roundRect">
            <a:avLst>
              <a:gd name="adj" fmla="val 15177"/>
            </a:avLst>
          </a:prstGeom>
          <a:solidFill>
            <a:srgbClr val="EAF0FD"/>
          </a:solidFill>
          <a:ln/>
        </p:spPr>
      </p:sp>
      <p:sp>
        <p:nvSpPr>
          <p:cNvPr id="13" name="Text 11"/>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encephalon (G) (ensefalon): </a:t>
            </a:r>
            <a:r>
              <a:rPr lang="en-US" sz="1400" dirty="0">
                <a:solidFill>
                  <a:srgbClr val="1F2937"/>
                </a:solidFill>
                <a:latin typeface="Calibri" pitchFamily="34" charset="0"/>
                <a:ea typeface="Calibri" pitchFamily="34" charset="-122"/>
                <a:cs typeface="Calibri" pitchFamily="34" charset="-120"/>
              </a:rPr>
              <a:t>Beyin ve beyincik. İkisine birden verilen isim. Tam beyin</a:t>
            </a:r>
            <a:endParaRPr lang="en-US" sz="1400" dirty="0"/>
          </a:p>
        </p:txBody>
      </p:sp>
      <p:sp>
        <p:nvSpPr>
          <p:cNvPr id="14" name="Shape 12"/>
          <p:cNvSpPr/>
          <p:nvPr/>
        </p:nvSpPr>
        <p:spPr>
          <a:xfrm>
            <a:off x="548640" y="4131158"/>
            <a:ext cx="11094415" cy="421742"/>
          </a:xfrm>
          <a:prstGeom prst="roundRect">
            <a:avLst>
              <a:gd name="adj" fmla="val 15177"/>
            </a:avLst>
          </a:prstGeom>
          <a:solidFill>
            <a:srgbClr val="EAF0FD"/>
          </a:solidFill>
          <a:ln/>
        </p:spPr>
      </p:sp>
      <p:sp>
        <p:nvSpPr>
          <p:cNvPr id="15" name="Text 13"/>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cortex cerebri (L) (korteks serebri): </a:t>
            </a:r>
            <a:r>
              <a:rPr lang="en-US" sz="1400" dirty="0">
                <a:solidFill>
                  <a:srgbClr val="1F2937"/>
                </a:solidFill>
                <a:latin typeface="Calibri" pitchFamily="34" charset="0"/>
                <a:ea typeface="Calibri" pitchFamily="34" charset="-122"/>
                <a:cs typeface="Calibri" pitchFamily="34" charset="-120"/>
              </a:rPr>
              <a:t>Beyin ve beyincikte dış katman. Sinir hücreleri bu katmanda bulunur.</a:t>
            </a:r>
            <a:endParaRPr lang="en-US" sz="1400" dirty="0"/>
          </a:p>
        </p:txBody>
      </p:sp>
      <p:sp>
        <p:nvSpPr>
          <p:cNvPr id="16" name="Shape 14"/>
          <p:cNvSpPr/>
          <p:nvPr/>
        </p:nvSpPr>
        <p:spPr>
          <a:xfrm>
            <a:off x="548640" y="4644339"/>
            <a:ext cx="11094415" cy="421742"/>
          </a:xfrm>
          <a:prstGeom prst="roundRect">
            <a:avLst>
              <a:gd name="adj" fmla="val 15177"/>
            </a:avLst>
          </a:prstGeom>
          <a:solidFill>
            <a:srgbClr val="EAF0FD"/>
          </a:solidFill>
          <a:ln/>
        </p:spPr>
      </p:sp>
      <p:sp>
        <p:nvSpPr>
          <p:cNvPr id="17" name="Text 15"/>
          <p:cNvSpPr txBox="1"/>
          <p:nvPr/>
        </p:nvSpPr>
        <p:spPr>
          <a:xfrm>
            <a:off x="704088" y="471749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medulla cerebri (L) (medulla cerebri): </a:t>
            </a:r>
            <a:r>
              <a:rPr lang="en-US" sz="1400" dirty="0">
                <a:solidFill>
                  <a:srgbClr val="1F2937"/>
                </a:solidFill>
                <a:latin typeface="Calibri" pitchFamily="34" charset="0"/>
                <a:ea typeface="Calibri" pitchFamily="34" charset="-122"/>
                <a:cs typeface="Calibri" pitchFamily="34" charset="-120"/>
              </a:rPr>
              <a:t>Beyin ve beyinciğin iç katmanı</a:t>
            </a:r>
            <a:endParaRPr lang="en-US" sz="1400" dirty="0"/>
          </a:p>
        </p:txBody>
      </p:sp>
      <p:sp>
        <p:nvSpPr>
          <p:cNvPr id="18" name="Shape 16"/>
          <p:cNvSpPr/>
          <p:nvPr/>
        </p:nvSpPr>
        <p:spPr>
          <a:xfrm>
            <a:off x="548640" y="5157521"/>
            <a:ext cx="11094415" cy="638658"/>
          </a:xfrm>
          <a:prstGeom prst="roundRect">
            <a:avLst>
              <a:gd name="adj" fmla="val 10022"/>
            </a:avLst>
          </a:prstGeom>
          <a:solidFill>
            <a:srgbClr val="EAF0FD"/>
          </a:solidFill>
          <a:ln/>
        </p:spPr>
      </p:sp>
      <p:sp>
        <p:nvSpPr>
          <p:cNvPr id="19" name="Text 17"/>
          <p:cNvSpPr txBox="1"/>
          <p:nvPr/>
        </p:nvSpPr>
        <p:spPr>
          <a:xfrm>
            <a:off x="704088" y="5230673"/>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meninx (-ingis) (G) (meninks), meter (L): </a:t>
            </a:r>
            <a:r>
              <a:rPr lang="en-US" sz="1400" dirty="0">
                <a:solidFill>
                  <a:srgbClr val="1F2937"/>
                </a:solidFill>
                <a:latin typeface="Calibri" pitchFamily="34" charset="0"/>
                <a:ea typeface="Calibri" pitchFamily="34" charset="-122"/>
                <a:cs typeface="Calibri" pitchFamily="34" charset="-120"/>
              </a:rPr>
              <a:t>Beyin omurilik zarları. Beyin, beyincik ve omuriliğin çevresini saran, koruma amaçlı üç zara verilen isim.</a:t>
            </a:r>
            <a:endParaRPr lang="en-US" sz="1400" dirty="0"/>
          </a:p>
        </p:txBody>
      </p:sp>
      <p:sp>
        <p:nvSpPr>
          <p:cNvPr id="20" name="Shape 18"/>
          <p:cNvSpPr/>
          <p:nvPr/>
        </p:nvSpPr>
        <p:spPr>
          <a:xfrm>
            <a:off x="548640" y="5887618"/>
            <a:ext cx="11094415" cy="421742"/>
          </a:xfrm>
          <a:prstGeom prst="roundRect">
            <a:avLst>
              <a:gd name="adj" fmla="val 15177"/>
            </a:avLst>
          </a:prstGeom>
          <a:solidFill>
            <a:srgbClr val="EAF0FD"/>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arachnoidea mater (G) (araknoid mater): </a:t>
            </a:r>
            <a:r>
              <a:rPr lang="en-US" sz="1400" dirty="0">
                <a:solidFill>
                  <a:srgbClr val="1F2937"/>
                </a:solidFill>
                <a:latin typeface="Calibri" pitchFamily="34" charset="0"/>
                <a:ea typeface="Calibri" pitchFamily="34" charset="-122"/>
                <a:cs typeface="Calibri" pitchFamily="34" charset="-120"/>
              </a:rPr>
              <a:t>Örümcek zar. Beyin, beyincik ve omuriliği saran zarlardan ortada bulunanıdır.</a:t>
            </a:r>
            <a:endParaRPr lang="en-US" sz="14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Merkezi Sinir Sistemi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287</a:t>
            </a:r>
            <a:endParaRPr lang="en-US" sz="1000" dirty="0"/>
          </a:p>
        </p:txBody>
      </p:sp>
      <p:sp>
        <p:nvSpPr>
          <p:cNvPr id="6" name="Shape 4"/>
          <p:cNvSpPr/>
          <p:nvPr/>
        </p:nvSpPr>
        <p:spPr>
          <a:xfrm>
            <a:off x="548640" y="1760220"/>
            <a:ext cx="11094415" cy="1149096"/>
          </a:xfrm>
          <a:prstGeom prst="roundRect">
            <a:avLst>
              <a:gd name="adj" fmla="val 5570"/>
            </a:avLst>
          </a:prstGeom>
          <a:solidFill>
            <a:srgbClr val="EAF0FD"/>
          </a:solidFill>
          <a:ln/>
        </p:spPr>
      </p:sp>
      <p:sp>
        <p:nvSpPr>
          <p:cNvPr id="7" name="Text 5"/>
          <p:cNvSpPr txBox="1"/>
          <p:nvPr/>
        </p:nvSpPr>
        <p:spPr>
          <a:xfrm>
            <a:off x="704088" y="1833372"/>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ventriculus cerebri (L) (ventrikulus serebri): </a:t>
            </a:r>
            <a:r>
              <a:rPr lang="en-US" sz="1500" dirty="0">
                <a:solidFill>
                  <a:srgbClr val="1F2937"/>
                </a:solidFill>
                <a:latin typeface="Calibri" pitchFamily="34" charset="0"/>
                <a:ea typeface="Calibri" pitchFamily="34" charset="-122"/>
                <a:cs typeface="Calibri" pitchFamily="34" charset="-120"/>
              </a:rPr>
              <a:t>Beyin karıncığı. Beyinde bulunan boşluklar. Dört tanedir. İçinde BOS (beyin omurilik sıvısı, Likör serebro-spinalis) bulunur</a:t>
            </a:r>
            <a:endParaRPr lang="en-US" sz="1500" dirty="0"/>
          </a:p>
        </p:txBody>
      </p:sp>
      <p:sp>
        <p:nvSpPr>
          <p:cNvPr id="8" name="Shape 6"/>
          <p:cNvSpPr/>
          <p:nvPr/>
        </p:nvSpPr>
        <p:spPr>
          <a:xfrm>
            <a:off x="548640" y="3297936"/>
            <a:ext cx="5410048" cy="684276"/>
          </a:xfrm>
          <a:prstGeom prst="roundRect">
            <a:avLst>
              <a:gd name="adj" fmla="val 9354"/>
            </a:avLst>
          </a:prstGeom>
          <a:solidFill>
            <a:srgbClr val="EAF0FD"/>
          </a:solidFill>
          <a:ln/>
        </p:spPr>
      </p:sp>
      <p:sp>
        <p:nvSpPr>
          <p:cNvPr id="9" name="Text 7"/>
          <p:cNvSpPr txBox="1"/>
          <p:nvPr/>
        </p:nvSpPr>
        <p:spPr>
          <a:xfrm>
            <a:off x="704088" y="337108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piamater (L) (piyamater): </a:t>
            </a:r>
            <a:r>
              <a:rPr lang="en-US" sz="1500" dirty="0">
                <a:solidFill>
                  <a:srgbClr val="1F2937"/>
                </a:solidFill>
                <a:latin typeface="Calibri" pitchFamily="34" charset="0"/>
                <a:ea typeface="Calibri" pitchFamily="34" charset="-122"/>
                <a:cs typeface="Calibri" pitchFamily="34" charset="-120"/>
              </a:rPr>
              <a:t>Beyin, beyincik ve omurilik dokularını saran en içteki zardır. Oldukça yumuşaktır.</a:t>
            </a:r>
            <a:endParaRPr lang="en-US" sz="1500" dirty="0"/>
          </a:p>
        </p:txBody>
      </p:sp>
      <p:sp>
        <p:nvSpPr>
          <p:cNvPr id="10" name="Shape 8"/>
          <p:cNvSpPr/>
          <p:nvPr/>
        </p:nvSpPr>
        <p:spPr>
          <a:xfrm>
            <a:off x="548640" y="4073652"/>
            <a:ext cx="5410048" cy="684276"/>
          </a:xfrm>
          <a:prstGeom prst="roundRect">
            <a:avLst>
              <a:gd name="adj" fmla="val 9354"/>
            </a:avLst>
          </a:prstGeom>
          <a:solidFill>
            <a:srgbClr val="EAF0FD"/>
          </a:solidFill>
          <a:ln/>
        </p:spPr>
      </p:sp>
      <p:sp>
        <p:nvSpPr>
          <p:cNvPr id="11" name="Text 9"/>
          <p:cNvSpPr txBox="1"/>
          <p:nvPr/>
        </p:nvSpPr>
        <p:spPr>
          <a:xfrm>
            <a:off x="704088"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spatium subdurale (L) (spasyum sudural): </a:t>
            </a:r>
            <a:r>
              <a:rPr lang="en-US" sz="1500" dirty="0">
                <a:solidFill>
                  <a:srgbClr val="1F2937"/>
                </a:solidFill>
                <a:latin typeface="Calibri" pitchFamily="34" charset="0"/>
                <a:ea typeface="Calibri" pitchFamily="34" charset="-122"/>
                <a:cs typeface="Calibri" pitchFamily="34" charset="-120"/>
              </a:rPr>
              <a:t>Duramaterle araknoid mater arasındaki aralık.</a:t>
            </a:r>
            <a:endParaRPr lang="en-US" sz="1500" dirty="0"/>
          </a:p>
        </p:txBody>
      </p:sp>
      <p:sp>
        <p:nvSpPr>
          <p:cNvPr id="12" name="Shape 10"/>
          <p:cNvSpPr/>
          <p:nvPr/>
        </p:nvSpPr>
        <p:spPr>
          <a:xfrm>
            <a:off x="548640" y="4849368"/>
            <a:ext cx="5410048" cy="684276"/>
          </a:xfrm>
          <a:prstGeom prst="roundRect">
            <a:avLst>
              <a:gd name="adj" fmla="val 9354"/>
            </a:avLst>
          </a:prstGeom>
          <a:solidFill>
            <a:srgbClr val="EAF0FD"/>
          </a:solidFill>
          <a:ln/>
        </p:spPr>
      </p:sp>
      <p:sp>
        <p:nvSpPr>
          <p:cNvPr id="13" name="Text 11"/>
          <p:cNvSpPr txBox="1"/>
          <p:nvPr/>
        </p:nvSpPr>
        <p:spPr>
          <a:xfrm>
            <a:off x="704088" y="492252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medulla spinalis (L): </a:t>
            </a:r>
            <a:r>
              <a:rPr lang="en-US" sz="1500" dirty="0">
                <a:solidFill>
                  <a:srgbClr val="1F2937"/>
                </a:solidFill>
                <a:latin typeface="Calibri" pitchFamily="34" charset="0"/>
                <a:ea typeface="Calibri" pitchFamily="34" charset="-122"/>
                <a:cs typeface="Calibri" pitchFamily="34" charset="-120"/>
              </a:rPr>
              <a:t>Omurilik. Merkezi sinir sisteminin omurga kanalı içindeki bölümü</a:t>
            </a:r>
            <a:endParaRPr lang="en-US" sz="1500" dirty="0"/>
          </a:p>
        </p:txBody>
      </p:sp>
      <p:sp>
        <p:nvSpPr>
          <p:cNvPr id="14" name="Shape 12"/>
          <p:cNvSpPr/>
          <p:nvPr/>
        </p:nvSpPr>
        <p:spPr>
          <a:xfrm>
            <a:off x="548640" y="5625084"/>
            <a:ext cx="5410048" cy="451866"/>
          </a:xfrm>
          <a:prstGeom prst="roundRect">
            <a:avLst>
              <a:gd name="adj" fmla="val 14165"/>
            </a:avLst>
          </a:prstGeom>
          <a:solidFill>
            <a:srgbClr val="EAF0FD"/>
          </a:solidFill>
          <a:ln/>
        </p:spPr>
      </p:sp>
      <p:sp>
        <p:nvSpPr>
          <p:cNvPr id="15" name="Text 13"/>
          <p:cNvSpPr txBox="1"/>
          <p:nvPr/>
        </p:nvSpPr>
        <p:spPr>
          <a:xfrm>
            <a:off x="704088" y="569823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myelon (G) (miyelon): </a:t>
            </a:r>
            <a:r>
              <a:rPr lang="en-US" sz="1500" dirty="0">
                <a:solidFill>
                  <a:srgbClr val="1F2937"/>
                </a:solidFill>
                <a:latin typeface="Calibri" pitchFamily="34" charset="0"/>
                <a:ea typeface="Calibri" pitchFamily="34" charset="-122"/>
                <a:cs typeface="Calibri" pitchFamily="34" charset="-120"/>
              </a:rPr>
              <a:t>Omurilik</a:t>
            </a:r>
            <a:endParaRPr lang="en-US" sz="1500" dirty="0"/>
          </a:p>
        </p:txBody>
      </p:sp>
      <p:sp>
        <p:nvSpPr>
          <p:cNvPr id="16" name="Shape 14"/>
          <p:cNvSpPr/>
          <p:nvPr/>
        </p:nvSpPr>
        <p:spPr>
          <a:xfrm>
            <a:off x="6233008" y="3297936"/>
            <a:ext cx="5410048" cy="916686"/>
          </a:xfrm>
          <a:prstGeom prst="roundRect">
            <a:avLst>
              <a:gd name="adj" fmla="val 6983"/>
            </a:avLst>
          </a:prstGeom>
          <a:solidFill>
            <a:srgbClr val="EAF0FD"/>
          </a:solidFill>
          <a:ln/>
        </p:spPr>
      </p:sp>
      <p:sp>
        <p:nvSpPr>
          <p:cNvPr id="17" name="Text 15"/>
          <p:cNvSpPr txBox="1"/>
          <p:nvPr/>
        </p:nvSpPr>
        <p:spPr>
          <a:xfrm>
            <a:off x="6388456" y="3371088"/>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canalis centralis (L) (kanalis sentralis): </a:t>
            </a:r>
            <a:r>
              <a:rPr lang="en-US" sz="1500" dirty="0">
                <a:solidFill>
                  <a:srgbClr val="1F2937"/>
                </a:solidFill>
                <a:latin typeface="Calibri" pitchFamily="34" charset="0"/>
                <a:ea typeface="Calibri" pitchFamily="34" charset="-122"/>
                <a:cs typeface="Calibri" pitchFamily="34" charset="-120"/>
              </a:rPr>
              <a:t>Omuriliğin ortasındaki boyuna uzanan kanal. İçinde beyin omurilik sıvısı (BOS) bulunur.</a:t>
            </a:r>
            <a:endParaRPr lang="en-US" sz="1500" dirty="0"/>
          </a:p>
        </p:txBody>
      </p:sp>
      <p:sp>
        <p:nvSpPr>
          <p:cNvPr id="18" name="Shape 16"/>
          <p:cNvSpPr/>
          <p:nvPr/>
        </p:nvSpPr>
        <p:spPr>
          <a:xfrm>
            <a:off x="6233008" y="4306062"/>
            <a:ext cx="5410048" cy="684276"/>
          </a:xfrm>
          <a:prstGeom prst="roundRect">
            <a:avLst>
              <a:gd name="adj" fmla="val 9354"/>
            </a:avLst>
          </a:prstGeom>
          <a:solidFill>
            <a:srgbClr val="EAF0FD"/>
          </a:solidFill>
          <a:ln/>
        </p:spPr>
      </p:sp>
      <p:sp>
        <p:nvSpPr>
          <p:cNvPr id="19" name="Text 17"/>
          <p:cNvSpPr txBox="1"/>
          <p:nvPr/>
        </p:nvSpPr>
        <p:spPr>
          <a:xfrm>
            <a:off x="6388456" y="437921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medulla oblangata, bulbus (L): </a:t>
            </a:r>
            <a:r>
              <a:rPr lang="en-US" sz="1500" dirty="0">
                <a:solidFill>
                  <a:srgbClr val="1F2937"/>
                </a:solidFill>
                <a:latin typeface="Calibri" pitchFamily="34" charset="0"/>
                <a:ea typeface="Calibri" pitchFamily="34" charset="-122"/>
                <a:cs typeface="Calibri" pitchFamily="34" charset="-120"/>
              </a:rPr>
              <a:t>Omurilik soğanı. Beyinin omurilikten önceki soğan şeklinde bölümü</a:t>
            </a:r>
            <a:endParaRPr lang="en-US" sz="1500" dirty="0"/>
          </a:p>
        </p:txBody>
      </p:sp>
      <p:sp>
        <p:nvSpPr>
          <p:cNvPr id="20" name="Shape 18"/>
          <p:cNvSpPr/>
          <p:nvPr/>
        </p:nvSpPr>
        <p:spPr>
          <a:xfrm>
            <a:off x="6233008" y="5081778"/>
            <a:ext cx="5410048" cy="684276"/>
          </a:xfrm>
          <a:prstGeom prst="roundRect">
            <a:avLst>
              <a:gd name="adj" fmla="val 9354"/>
            </a:avLst>
          </a:prstGeom>
          <a:solidFill>
            <a:srgbClr val="EAF0FD"/>
          </a:solidFill>
          <a:ln/>
        </p:spPr>
      </p:sp>
      <p:sp>
        <p:nvSpPr>
          <p:cNvPr id="21" name="Text 19"/>
          <p:cNvSpPr txBox="1"/>
          <p:nvPr/>
        </p:nvSpPr>
        <p:spPr>
          <a:xfrm>
            <a:off x="6388456" y="515493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pons (L): </a:t>
            </a:r>
            <a:r>
              <a:rPr lang="en-US" sz="1500" dirty="0">
                <a:solidFill>
                  <a:srgbClr val="1F2937"/>
                </a:solidFill>
                <a:latin typeface="Calibri" pitchFamily="34" charset="0"/>
                <a:ea typeface="Calibri" pitchFamily="34" charset="-122"/>
                <a:cs typeface="Calibri" pitchFamily="34" charset="-120"/>
              </a:rPr>
              <a:t>Köprü. Omurilik soğanı ile beyin gövdesi arasında kalan bölüm</a:t>
            </a:r>
            <a:endParaRPr lang="en-US" sz="1500" dirty="0"/>
          </a:p>
        </p:txBody>
      </p:sp>
      <p:sp>
        <p:nvSpPr>
          <p:cNvPr id="22" name="Shape 20"/>
          <p:cNvSpPr/>
          <p:nvPr/>
        </p:nvSpPr>
        <p:spPr>
          <a:xfrm>
            <a:off x="6233008" y="5857494"/>
            <a:ext cx="5410048" cy="451866"/>
          </a:xfrm>
          <a:prstGeom prst="roundRect">
            <a:avLst>
              <a:gd name="adj" fmla="val 14165"/>
            </a:avLst>
          </a:prstGeom>
          <a:solidFill>
            <a:srgbClr val="EAF0FD"/>
          </a:solidFill>
          <a:ln/>
        </p:spPr>
      </p:sp>
      <p:sp>
        <p:nvSpPr>
          <p:cNvPr id="23" name="Text 21"/>
          <p:cNvSpPr txBox="1"/>
          <p:nvPr/>
        </p:nvSpPr>
        <p:spPr>
          <a:xfrm>
            <a:off x="6388456"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hemispherium (G) (hemisferyum): </a:t>
            </a:r>
            <a:r>
              <a:rPr lang="en-US" sz="1500" dirty="0">
                <a:solidFill>
                  <a:srgbClr val="1F2937"/>
                </a:solidFill>
                <a:latin typeface="Calibri" pitchFamily="34" charset="0"/>
                <a:ea typeface="Calibri" pitchFamily="34" charset="-122"/>
                <a:cs typeface="Calibri" pitchFamily="34" charset="-120"/>
              </a:rPr>
              <a:t>Beyin yarım küresi</a:t>
            </a:r>
            <a:endParaRPr lang="en-US" sz="15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Periferik Sinir Sistemi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288</a:t>
            </a:r>
            <a:endParaRPr lang="en-US" sz="1000" dirty="0"/>
          </a:p>
        </p:txBody>
      </p:sp>
      <p:sp>
        <p:nvSpPr>
          <p:cNvPr id="6" name="Shape 4"/>
          <p:cNvSpPr/>
          <p:nvPr/>
        </p:nvSpPr>
        <p:spPr>
          <a:xfrm>
            <a:off x="548640" y="2468880"/>
            <a:ext cx="11094415" cy="821131"/>
          </a:xfrm>
          <a:prstGeom prst="roundRect">
            <a:avLst>
              <a:gd name="adj" fmla="val 7795"/>
            </a:avLst>
          </a:prstGeom>
          <a:solidFill>
            <a:srgbClr val="EAF0FD"/>
          </a:solidFill>
          <a:ln/>
        </p:spPr>
      </p:sp>
      <p:sp>
        <p:nvSpPr>
          <p:cNvPr id="7" name="Text 5"/>
          <p:cNvSpPr txBox="1"/>
          <p:nvPr/>
        </p:nvSpPr>
        <p:spPr>
          <a:xfrm>
            <a:off x="704088" y="254203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1D4ED8"/>
                </a:solidFill>
                <a:latin typeface="Calibri" pitchFamily="34" charset="0"/>
                <a:ea typeface="Calibri" pitchFamily="34" charset="-122"/>
                <a:cs typeface="Calibri" pitchFamily="34" charset="-120"/>
              </a:rPr>
              <a:t>neurofibra (G) (nörofibra): </a:t>
            </a:r>
            <a:r>
              <a:rPr lang="en-US" sz="1800" dirty="0">
                <a:solidFill>
                  <a:srgbClr val="1F2937"/>
                </a:solidFill>
                <a:latin typeface="Calibri" pitchFamily="34" charset="0"/>
                <a:ea typeface="Calibri" pitchFamily="34" charset="-122"/>
                <a:cs typeface="Calibri" pitchFamily="34" charset="-120"/>
              </a:rPr>
              <a:t>Sinir teli. Sinir hücrelerine ait akson ve bunu saran kılıflardan oluşur. Sinir telleri bir araya gelerek sinirleri yaparlar.</a:t>
            </a:r>
            <a:endParaRPr lang="en-US" sz="1800" dirty="0"/>
          </a:p>
        </p:txBody>
      </p:sp>
      <p:sp>
        <p:nvSpPr>
          <p:cNvPr id="8" name="Shape 6"/>
          <p:cNvSpPr/>
          <p:nvPr/>
        </p:nvSpPr>
        <p:spPr>
          <a:xfrm>
            <a:off x="548640" y="3381451"/>
            <a:ext cx="11094415" cy="1100023"/>
          </a:xfrm>
          <a:prstGeom prst="roundRect">
            <a:avLst>
              <a:gd name="adj" fmla="val 5819"/>
            </a:avLst>
          </a:prstGeom>
          <a:solidFill>
            <a:srgbClr val="EAF0FD"/>
          </a:solidFill>
          <a:ln/>
        </p:spPr>
      </p:sp>
      <p:sp>
        <p:nvSpPr>
          <p:cNvPr id="9" name="Text 7"/>
          <p:cNvSpPr txBox="1"/>
          <p:nvPr/>
        </p:nvSpPr>
        <p:spPr>
          <a:xfrm>
            <a:off x="704088" y="3454603"/>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1D4ED8"/>
                </a:solidFill>
                <a:latin typeface="Calibri" pitchFamily="34" charset="0"/>
                <a:ea typeface="Calibri" pitchFamily="34" charset="-122"/>
                <a:cs typeface="Calibri" pitchFamily="34" charset="-120"/>
              </a:rPr>
              <a:t>ganglion (G) (gangliyon): </a:t>
            </a:r>
            <a:r>
              <a:rPr lang="en-US" sz="1800" dirty="0">
                <a:solidFill>
                  <a:srgbClr val="1F2937"/>
                </a:solidFill>
                <a:latin typeface="Calibri" pitchFamily="34" charset="0"/>
                <a:ea typeface="Calibri" pitchFamily="34" charset="-122"/>
                <a:cs typeface="Calibri" pitchFamily="34" charset="-120"/>
              </a:rPr>
              <a:t>Merkezi sinir sistemi organları dışında sinir hücresi içeren düğüm şeklindeki oluşumlar. Vücudun belli bölgelerinde bulunurlar. Sinir hücresi içerirler. Sinir hücreleri arasında nöroglia  değil bağ doku bulunur.</a:t>
            </a:r>
            <a:endParaRPr lang="en-US" sz="1800" dirty="0"/>
          </a:p>
        </p:txBody>
      </p:sp>
      <p:sp>
        <p:nvSpPr>
          <p:cNvPr id="10" name="Shape 8"/>
          <p:cNvSpPr/>
          <p:nvPr/>
        </p:nvSpPr>
        <p:spPr>
          <a:xfrm>
            <a:off x="548640" y="5578754"/>
            <a:ext cx="11094415" cy="542239"/>
          </a:xfrm>
          <a:prstGeom prst="roundRect">
            <a:avLst>
              <a:gd name="adj" fmla="val 11804"/>
            </a:avLst>
          </a:prstGeom>
          <a:solidFill>
            <a:srgbClr val="EAF0FD"/>
          </a:solidFill>
          <a:ln/>
        </p:spPr>
      </p:sp>
      <p:sp>
        <p:nvSpPr>
          <p:cNvPr id="11" name="Text 9"/>
          <p:cNvSpPr txBox="1"/>
          <p:nvPr/>
        </p:nvSpPr>
        <p:spPr>
          <a:xfrm>
            <a:off x="704088" y="5651906"/>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1D4ED8"/>
                </a:solidFill>
                <a:latin typeface="Calibri" pitchFamily="34" charset="0"/>
                <a:ea typeface="Calibri" pitchFamily="34" charset="-122"/>
                <a:cs typeface="Calibri" pitchFamily="34" charset="-120"/>
              </a:rPr>
              <a:t>nervus (L) (nervus): </a:t>
            </a:r>
            <a:r>
              <a:rPr lang="en-US" sz="1800" dirty="0">
                <a:solidFill>
                  <a:srgbClr val="1F2937"/>
                </a:solidFill>
                <a:latin typeface="Calibri" pitchFamily="34" charset="0"/>
                <a:ea typeface="Calibri" pitchFamily="34" charset="-122"/>
                <a:cs typeface="Calibri" pitchFamily="34" charset="-120"/>
              </a:rPr>
              <a:t>Sinir</a:t>
            </a:r>
            <a:endParaRPr lang="en-US" sz="18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289</a:t>
            </a:r>
            <a:endParaRPr lang="en-US" sz="1000" dirty="0"/>
          </a:p>
        </p:txBody>
      </p:sp>
      <p:sp>
        <p:nvSpPr>
          <p:cNvPr id="6" name="Shape 4"/>
          <p:cNvSpPr/>
          <p:nvPr/>
        </p:nvSpPr>
        <p:spPr>
          <a:xfrm>
            <a:off x="548640" y="1668018"/>
            <a:ext cx="5410048" cy="451866"/>
          </a:xfrm>
          <a:prstGeom prst="roundRect">
            <a:avLst>
              <a:gd name="adj" fmla="val 14165"/>
            </a:avLst>
          </a:prstGeom>
          <a:solidFill>
            <a:srgbClr val="EAF0FD"/>
          </a:solidFill>
          <a:ln/>
        </p:spPr>
      </p:sp>
      <p:sp>
        <p:nvSpPr>
          <p:cNvPr id="7" name="Text 5"/>
          <p:cNvSpPr txBox="1"/>
          <p:nvPr/>
        </p:nvSpPr>
        <p:spPr>
          <a:xfrm>
            <a:off x="704088" y="174117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algesia (G) (aljezi): </a:t>
            </a:r>
            <a:r>
              <a:rPr lang="en-US" sz="1500" dirty="0">
                <a:solidFill>
                  <a:srgbClr val="1F2937"/>
                </a:solidFill>
                <a:latin typeface="Calibri" pitchFamily="34" charset="0"/>
                <a:ea typeface="Calibri" pitchFamily="34" charset="-122"/>
                <a:cs typeface="Calibri" pitchFamily="34" charset="-120"/>
              </a:rPr>
              <a:t>Ağrı ve acı hissetme</a:t>
            </a:r>
            <a:endParaRPr lang="en-US" sz="1500" dirty="0"/>
          </a:p>
        </p:txBody>
      </p:sp>
      <p:sp>
        <p:nvSpPr>
          <p:cNvPr id="8" name="Shape 6"/>
          <p:cNvSpPr/>
          <p:nvPr/>
        </p:nvSpPr>
        <p:spPr>
          <a:xfrm>
            <a:off x="548640" y="2211324"/>
            <a:ext cx="5410048" cy="684276"/>
          </a:xfrm>
          <a:prstGeom prst="roundRect">
            <a:avLst>
              <a:gd name="adj" fmla="val 9354"/>
            </a:avLst>
          </a:prstGeom>
          <a:solidFill>
            <a:srgbClr val="EAF0FD"/>
          </a:solidFill>
          <a:ln/>
        </p:spPr>
      </p:sp>
      <p:sp>
        <p:nvSpPr>
          <p:cNvPr id="9" name="Text 7"/>
          <p:cNvSpPr txBox="1"/>
          <p:nvPr/>
        </p:nvSpPr>
        <p:spPr>
          <a:xfrm>
            <a:off x="704088" y="228447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analgesia (G) (analjezi): </a:t>
            </a:r>
            <a:r>
              <a:rPr lang="en-US" sz="1500" dirty="0">
                <a:solidFill>
                  <a:srgbClr val="1F2937"/>
                </a:solidFill>
                <a:latin typeface="Calibri" pitchFamily="34" charset="0"/>
                <a:ea typeface="Calibri" pitchFamily="34" charset="-122"/>
                <a:cs typeface="Calibri" pitchFamily="34" charset="-120"/>
              </a:rPr>
              <a:t>Ağrı duyusunun algılanmaması hali</a:t>
            </a:r>
            <a:endParaRPr lang="en-US" sz="1500" dirty="0"/>
          </a:p>
        </p:txBody>
      </p:sp>
      <p:sp>
        <p:nvSpPr>
          <p:cNvPr id="10" name="Shape 8"/>
          <p:cNvSpPr/>
          <p:nvPr/>
        </p:nvSpPr>
        <p:spPr>
          <a:xfrm>
            <a:off x="548640" y="2987040"/>
            <a:ext cx="5410048" cy="684276"/>
          </a:xfrm>
          <a:prstGeom prst="roundRect">
            <a:avLst>
              <a:gd name="adj" fmla="val 9354"/>
            </a:avLst>
          </a:prstGeom>
          <a:solidFill>
            <a:srgbClr val="EAF0FD"/>
          </a:solidFill>
          <a:ln/>
        </p:spPr>
      </p:sp>
      <p:sp>
        <p:nvSpPr>
          <p:cNvPr id="11" name="Text 9"/>
          <p:cNvSpPr txBox="1"/>
          <p:nvPr/>
        </p:nvSpPr>
        <p:spPr>
          <a:xfrm>
            <a:off x="704088" y="306019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neurolgia (G) (nöralji): </a:t>
            </a:r>
            <a:r>
              <a:rPr lang="en-US" sz="1500" dirty="0">
                <a:solidFill>
                  <a:srgbClr val="1F2937"/>
                </a:solidFill>
                <a:latin typeface="Calibri" pitchFamily="34" charset="0"/>
                <a:ea typeface="Calibri" pitchFamily="34" charset="-122"/>
                <a:cs typeface="Calibri" pitchFamily="34" charset="-120"/>
              </a:rPr>
              <a:t>Sinirin seyri boyunca hissedilen ağrı</a:t>
            </a:r>
            <a:endParaRPr lang="en-US" sz="1500" dirty="0"/>
          </a:p>
        </p:txBody>
      </p:sp>
      <p:sp>
        <p:nvSpPr>
          <p:cNvPr id="12" name="Shape 10"/>
          <p:cNvSpPr/>
          <p:nvPr/>
        </p:nvSpPr>
        <p:spPr>
          <a:xfrm>
            <a:off x="548640" y="3762756"/>
            <a:ext cx="5410048" cy="451866"/>
          </a:xfrm>
          <a:prstGeom prst="roundRect">
            <a:avLst>
              <a:gd name="adj" fmla="val 14165"/>
            </a:avLst>
          </a:prstGeom>
          <a:solidFill>
            <a:srgbClr val="EAF0FD"/>
          </a:solidFill>
          <a:ln/>
        </p:spPr>
      </p:sp>
      <p:sp>
        <p:nvSpPr>
          <p:cNvPr id="13" name="Text 11"/>
          <p:cNvSpPr txBox="1"/>
          <p:nvPr/>
        </p:nvSpPr>
        <p:spPr>
          <a:xfrm>
            <a:off x="704088" y="383590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cephalalgia (G) (sefalalji): </a:t>
            </a:r>
            <a:r>
              <a:rPr lang="en-US" sz="1500" dirty="0">
                <a:solidFill>
                  <a:srgbClr val="1F2937"/>
                </a:solidFill>
                <a:latin typeface="Calibri" pitchFamily="34" charset="0"/>
                <a:ea typeface="Calibri" pitchFamily="34" charset="-122"/>
                <a:cs typeface="Calibri" pitchFamily="34" charset="-120"/>
              </a:rPr>
              <a:t>Baş ağrısı</a:t>
            </a:r>
            <a:endParaRPr lang="en-US" sz="1500" dirty="0"/>
          </a:p>
        </p:txBody>
      </p:sp>
      <p:sp>
        <p:nvSpPr>
          <p:cNvPr id="14" name="Shape 12"/>
          <p:cNvSpPr/>
          <p:nvPr/>
        </p:nvSpPr>
        <p:spPr>
          <a:xfrm>
            <a:off x="548640" y="4306062"/>
            <a:ext cx="5410048" cy="451866"/>
          </a:xfrm>
          <a:prstGeom prst="roundRect">
            <a:avLst>
              <a:gd name="adj" fmla="val 14165"/>
            </a:avLst>
          </a:prstGeom>
          <a:solidFill>
            <a:srgbClr val="EAF0FD"/>
          </a:solidFill>
          <a:ln/>
        </p:spPr>
      </p:sp>
      <p:sp>
        <p:nvSpPr>
          <p:cNvPr id="15" name="Text 13"/>
          <p:cNvSpPr txBox="1"/>
          <p:nvPr/>
        </p:nvSpPr>
        <p:spPr>
          <a:xfrm>
            <a:off x="704088" y="437921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vertigo (L): </a:t>
            </a:r>
            <a:r>
              <a:rPr lang="en-US" sz="1500" dirty="0">
                <a:solidFill>
                  <a:srgbClr val="1F2937"/>
                </a:solidFill>
                <a:latin typeface="Calibri" pitchFamily="34" charset="0"/>
                <a:ea typeface="Calibri" pitchFamily="34" charset="-122"/>
                <a:cs typeface="Calibri" pitchFamily="34" charset="-120"/>
              </a:rPr>
              <a:t>Baş dönmesi</a:t>
            </a:r>
            <a:endParaRPr lang="en-US" sz="1500" dirty="0"/>
          </a:p>
        </p:txBody>
      </p:sp>
      <p:sp>
        <p:nvSpPr>
          <p:cNvPr id="16" name="Shape 14"/>
          <p:cNvSpPr/>
          <p:nvPr/>
        </p:nvSpPr>
        <p:spPr>
          <a:xfrm>
            <a:off x="548640" y="4849368"/>
            <a:ext cx="5410048" cy="916686"/>
          </a:xfrm>
          <a:prstGeom prst="roundRect">
            <a:avLst>
              <a:gd name="adj" fmla="val 6983"/>
            </a:avLst>
          </a:prstGeom>
          <a:solidFill>
            <a:srgbClr val="EAF0FD"/>
          </a:solidFill>
          <a:ln/>
        </p:spPr>
      </p:sp>
      <p:sp>
        <p:nvSpPr>
          <p:cNvPr id="17" name="Text 15"/>
          <p:cNvSpPr txBox="1"/>
          <p:nvPr/>
        </p:nvSpPr>
        <p:spPr>
          <a:xfrm>
            <a:off x="704088" y="492252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aphasia (G) (afazi): </a:t>
            </a:r>
            <a:r>
              <a:rPr lang="en-US" sz="1500" dirty="0">
                <a:solidFill>
                  <a:srgbClr val="1F2937"/>
                </a:solidFill>
                <a:latin typeface="Calibri" pitchFamily="34" charset="0"/>
                <a:ea typeface="Calibri" pitchFamily="34" charset="-122"/>
                <a:cs typeface="Calibri" pitchFamily="34" charset="-120"/>
              </a:rPr>
              <a:t>Merkezi konuşamama hali. Fiziksel yeteneğin olmasına  ve kişinin istemesine rağmen, öğrenilmiş amaçlı motor eylemleri yapamama</a:t>
            </a:r>
            <a:endParaRPr lang="en-US" sz="1500" dirty="0"/>
          </a:p>
        </p:txBody>
      </p:sp>
      <p:sp>
        <p:nvSpPr>
          <p:cNvPr id="18" name="Shape 16"/>
          <p:cNvSpPr/>
          <p:nvPr/>
        </p:nvSpPr>
        <p:spPr>
          <a:xfrm>
            <a:off x="548640" y="5857494"/>
            <a:ext cx="5410048" cy="451866"/>
          </a:xfrm>
          <a:prstGeom prst="roundRect">
            <a:avLst>
              <a:gd name="adj" fmla="val 14165"/>
            </a:avLst>
          </a:prstGeom>
          <a:solidFill>
            <a:srgbClr val="EAF0FD"/>
          </a:solidFill>
          <a:ln/>
        </p:spPr>
      </p:sp>
      <p:sp>
        <p:nvSpPr>
          <p:cNvPr id="19" name="Text 17"/>
          <p:cNvSpPr txBox="1"/>
          <p:nvPr/>
        </p:nvSpPr>
        <p:spPr>
          <a:xfrm>
            <a:off x="704088" y="5930646"/>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syncope (G) (senkop): </a:t>
            </a:r>
            <a:r>
              <a:rPr lang="en-US" sz="1500" dirty="0">
                <a:solidFill>
                  <a:srgbClr val="1F2937"/>
                </a:solidFill>
                <a:latin typeface="Calibri" pitchFamily="34" charset="0"/>
                <a:ea typeface="Calibri" pitchFamily="34" charset="-122"/>
                <a:cs typeface="Calibri" pitchFamily="34" charset="-120"/>
              </a:rPr>
              <a:t>Kısa süreli bilinç kaybı, bayılma</a:t>
            </a:r>
            <a:endParaRPr lang="en-US" sz="1500" dirty="0"/>
          </a:p>
        </p:txBody>
      </p:sp>
      <p:sp>
        <p:nvSpPr>
          <p:cNvPr id="20" name="Shape 18"/>
          <p:cNvSpPr/>
          <p:nvPr/>
        </p:nvSpPr>
        <p:spPr>
          <a:xfrm>
            <a:off x="6233008" y="1668018"/>
            <a:ext cx="5410048" cy="684276"/>
          </a:xfrm>
          <a:prstGeom prst="roundRect">
            <a:avLst>
              <a:gd name="adj" fmla="val 9354"/>
            </a:avLst>
          </a:prstGeom>
          <a:solidFill>
            <a:srgbClr val="EAF0FD"/>
          </a:solidFill>
          <a:ln/>
        </p:spPr>
      </p:sp>
      <p:sp>
        <p:nvSpPr>
          <p:cNvPr id="21" name="Text 19"/>
          <p:cNvSpPr txBox="1"/>
          <p:nvPr/>
        </p:nvSpPr>
        <p:spPr>
          <a:xfrm>
            <a:off x="6388456" y="174117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coma (LG) (koma): </a:t>
            </a:r>
            <a:r>
              <a:rPr lang="en-US" sz="1500" dirty="0">
                <a:solidFill>
                  <a:srgbClr val="1F2937"/>
                </a:solidFill>
                <a:latin typeface="Calibri" pitchFamily="34" charset="0"/>
                <a:ea typeface="Calibri" pitchFamily="34" charset="-122"/>
                <a:cs typeface="Calibri" pitchFamily="34" charset="-120"/>
              </a:rPr>
              <a:t>Uyandırılmanın mümkün olmadığı tepkisizlik durumu</a:t>
            </a:r>
            <a:endParaRPr lang="en-US" sz="1500" dirty="0"/>
          </a:p>
        </p:txBody>
      </p:sp>
      <p:sp>
        <p:nvSpPr>
          <p:cNvPr id="22" name="Shape 20"/>
          <p:cNvSpPr/>
          <p:nvPr/>
        </p:nvSpPr>
        <p:spPr>
          <a:xfrm>
            <a:off x="6233008" y="2443734"/>
            <a:ext cx="5410048" cy="916686"/>
          </a:xfrm>
          <a:prstGeom prst="roundRect">
            <a:avLst>
              <a:gd name="adj" fmla="val 6983"/>
            </a:avLst>
          </a:prstGeom>
          <a:solidFill>
            <a:srgbClr val="EAF0FD"/>
          </a:solidFill>
          <a:ln/>
        </p:spPr>
      </p:sp>
      <p:sp>
        <p:nvSpPr>
          <p:cNvPr id="23" name="Text 21"/>
          <p:cNvSpPr txBox="1"/>
          <p:nvPr/>
        </p:nvSpPr>
        <p:spPr>
          <a:xfrm>
            <a:off x="6388456" y="251688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stupor (L): </a:t>
            </a:r>
            <a:r>
              <a:rPr lang="en-US" sz="1500" dirty="0">
                <a:solidFill>
                  <a:srgbClr val="1F2937"/>
                </a:solidFill>
                <a:latin typeface="Calibri" pitchFamily="34" charset="0"/>
                <a:ea typeface="Calibri" pitchFamily="34" charset="-122"/>
                <a:cs typeface="Calibri" pitchFamily="34" charset="-120"/>
              </a:rPr>
              <a:t>Hastanın, ancak şiddetli uyaranlarla kısa bir süre için uyanık duruma getirilebildiği tepkisizlik durumu</a:t>
            </a:r>
            <a:endParaRPr lang="en-US" sz="1500" dirty="0"/>
          </a:p>
        </p:txBody>
      </p:sp>
      <p:sp>
        <p:nvSpPr>
          <p:cNvPr id="24" name="Shape 22"/>
          <p:cNvSpPr/>
          <p:nvPr/>
        </p:nvSpPr>
        <p:spPr>
          <a:xfrm>
            <a:off x="6233008" y="3451860"/>
            <a:ext cx="5410048" cy="451866"/>
          </a:xfrm>
          <a:prstGeom prst="roundRect">
            <a:avLst>
              <a:gd name="adj" fmla="val 14165"/>
            </a:avLst>
          </a:prstGeom>
          <a:solidFill>
            <a:srgbClr val="EAF0FD"/>
          </a:solidFill>
          <a:ln/>
        </p:spPr>
      </p:sp>
      <p:sp>
        <p:nvSpPr>
          <p:cNvPr id="25" name="Text 23"/>
          <p:cNvSpPr txBox="1"/>
          <p:nvPr/>
        </p:nvSpPr>
        <p:spPr>
          <a:xfrm>
            <a:off x="6388456" y="352501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confusion (konfüzyon): </a:t>
            </a:r>
            <a:r>
              <a:rPr lang="en-US" sz="1500" dirty="0">
                <a:solidFill>
                  <a:srgbClr val="1F2937"/>
                </a:solidFill>
                <a:latin typeface="Calibri" pitchFamily="34" charset="0"/>
                <a:ea typeface="Calibri" pitchFamily="34" charset="-122"/>
                <a:cs typeface="Calibri" pitchFamily="34" charset="-120"/>
              </a:rPr>
              <a:t>Bilinç kaybı ile seyreden nöbet</a:t>
            </a:r>
            <a:endParaRPr lang="en-US" sz="15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290</a:t>
            </a:r>
            <a:endParaRPr lang="en-US" sz="1000" dirty="0"/>
          </a:p>
        </p:txBody>
      </p:sp>
      <p:sp>
        <p:nvSpPr>
          <p:cNvPr id="6" name="Shape 4"/>
          <p:cNvSpPr/>
          <p:nvPr/>
        </p:nvSpPr>
        <p:spPr>
          <a:xfrm>
            <a:off x="548640" y="1591869"/>
            <a:ext cx="11094415" cy="729894"/>
          </a:xfrm>
          <a:prstGeom prst="roundRect">
            <a:avLst>
              <a:gd name="adj" fmla="val 8769"/>
            </a:avLst>
          </a:prstGeom>
          <a:solidFill>
            <a:srgbClr val="EAF0FD"/>
          </a:solidFill>
          <a:ln/>
        </p:spPr>
      </p:sp>
      <p:sp>
        <p:nvSpPr>
          <p:cNvPr id="7" name="Text 5"/>
          <p:cNvSpPr txBox="1"/>
          <p:nvPr/>
        </p:nvSpPr>
        <p:spPr>
          <a:xfrm>
            <a:off x="704088" y="1665021"/>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hallucination (L) (hallusinasyon): </a:t>
            </a:r>
            <a:r>
              <a:rPr lang="en-US" sz="1600" dirty="0">
                <a:solidFill>
                  <a:srgbClr val="1F2937"/>
                </a:solidFill>
                <a:latin typeface="Calibri" pitchFamily="34" charset="0"/>
                <a:ea typeface="Calibri" pitchFamily="34" charset="-122"/>
                <a:cs typeface="Calibri" pitchFamily="34" charset="-120"/>
              </a:rPr>
              <a:t>Olmayan bir çevre uyarımının sanki varmış gibi yaşanması, örneğin kulağa gerçekte olmayan sesler gelmesi gibi, psikotik bir belirti (varsanı).</a:t>
            </a:r>
            <a:endParaRPr lang="en-US" sz="1600" dirty="0"/>
          </a:p>
        </p:txBody>
      </p:sp>
      <p:sp>
        <p:nvSpPr>
          <p:cNvPr id="8" name="Shape 6"/>
          <p:cNvSpPr/>
          <p:nvPr/>
        </p:nvSpPr>
        <p:spPr>
          <a:xfrm>
            <a:off x="548640" y="2413203"/>
            <a:ext cx="11094415" cy="729894"/>
          </a:xfrm>
          <a:prstGeom prst="roundRect">
            <a:avLst>
              <a:gd name="adj" fmla="val 8769"/>
            </a:avLst>
          </a:prstGeom>
          <a:solidFill>
            <a:srgbClr val="EAF0FD"/>
          </a:solidFill>
          <a:ln/>
        </p:spPr>
      </p:sp>
      <p:sp>
        <p:nvSpPr>
          <p:cNvPr id="9" name="Text 7"/>
          <p:cNvSpPr txBox="1"/>
          <p:nvPr/>
        </p:nvSpPr>
        <p:spPr>
          <a:xfrm>
            <a:off x="704088" y="2486355"/>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delirium (L) (deliryum): </a:t>
            </a:r>
            <a:r>
              <a:rPr lang="en-US" sz="1600" dirty="0">
                <a:solidFill>
                  <a:srgbClr val="1F2937"/>
                </a:solidFill>
                <a:latin typeface="Calibri" pitchFamily="34" charset="0"/>
                <a:ea typeface="Calibri" pitchFamily="34" charset="-122"/>
                <a:cs typeface="Calibri" pitchFamily="34" charset="-120"/>
              </a:rPr>
              <a:t>Huzursuzluk, korku, görsel hallusinasyonlar ve bazende çevreyle ilişkilerin tam anlamıyla kopması gibi özellikler gösteren bir hastalık</a:t>
            </a:r>
            <a:endParaRPr lang="en-US" sz="1600" dirty="0"/>
          </a:p>
        </p:txBody>
      </p:sp>
      <p:sp>
        <p:nvSpPr>
          <p:cNvPr id="10" name="Shape 8"/>
          <p:cNvSpPr/>
          <p:nvPr/>
        </p:nvSpPr>
        <p:spPr>
          <a:xfrm>
            <a:off x="548640" y="3234538"/>
            <a:ext cx="11094415" cy="729894"/>
          </a:xfrm>
          <a:prstGeom prst="roundRect">
            <a:avLst>
              <a:gd name="adj" fmla="val 8769"/>
            </a:avLst>
          </a:prstGeom>
          <a:solidFill>
            <a:srgbClr val="EAF0FD"/>
          </a:solidFill>
          <a:ln/>
        </p:spPr>
      </p:sp>
      <p:sp>
        <p:nvSpPr>
          <p:cNvPr id="11" name="Text 9"/>
          <p:cNvSpPr txBox="1"/>
          <p:nvPr/>
        </p:nvSpPr>
        <p:spPr>
          <a:xfrm>
            <a:off x="704088" y="3307690"/>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fobik nevroz (G) (Korku nevrozu): </a:t>
            </a:r>
            <a:r>
              <a:rPr lang="en-US" sz="1600" dirty="0">
                <a:solidFill>
                  <a:srgbClr val="1F2937"/>
                </a:solidFill>
                <a:latin typeface="Calibri" pitchFamily="34" charset="0"/>
                <a:ea typeface="Calibri" pitchFamily="34" charset="-122"/>
                <a:cs typeface="Calibri" pitchFamily="34" charset="-120"/>
              </a:rPr>
              <a:t>Anlamsızlığı, gereksizliği, mantıksızlığı, yersizliği hasta tarafından kabul edilen  ancak denetlenemeyen, engellenemeyen bir korku durumudur.</a:t>
            </a:r>
            <a:endParaRPr lang="en-US" sz="1600" dirty="0"/>
          </a:p>
        </p:txBody>
      </p:sp>
      <p:sp>
        <p:nvSpPr>
          <p:cNvPr id="12" name="Shape 10"/>
          <p:cNvSpPr/>
          <p:nvPr/>
        </p:nvSpPr>
        <p:spPr>
          <a:xfrm>
            <a:off x="548640" y="4184701"/>
            <a:ext cx="11094415" cy="481990"/>
          </a:xfrm>
          <a:prstGeom prst="roundRect">
            <a:avLst>
              <a:gd name="adj" fmla="val 13280"/>
            </a:avLst>
          </a:prstGeom>
          <a:solidFill>
            <a:srgbClr val="EAF0FD"/>
          </a:solidFill>
          <a:ln/>
        </p:spPr>
      </p:sp>
      <p:sp>
        <p:nvSpPr>
          <p:cNvPr id="13" name="Text 11"/>
          <p:cNvSpPr txBox="1"/>
          <p:nvPr/>
        </p:nvSpPr>
        <p:spPr>
          <a:xfrm>
            <a:off x="704088" y="4257853"/>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convulsion (L) (konvülsiyon): </a:t>
            </a:r>
            <a:r>
              <a:rPr lang="en-US" sz="1600" dirty="0">
                <a:solidFill>
                  <a:srgbClr val="1F2937"/>
                </a:solidFill>
                <a:latin typeface="Calibri" pitchFamily="34" charset="0"/>
                <a:ea typeface="Calibri" pitchFamily="34" charset="-122"/>
                <a:cs typeface="Calibri" pitchFamily="34" charset="-120"/>
              </a:rPr>
              <a:t>Anormal beyin uyartıları sebebiyle kasların istem dışı kasılmaları</a:t>
            </a:r>
            <a:endParaRPr lang="en-US" sz="1600" dirty="0"/>
          </a:p>
        </p:txBody>
      </p:sp>
      <p:sp>
        <p:nvSpPr>
          <p:cNvPr id="14" name="Shape 12"/>
          <p:cNvSpPr/>
          <p:nvPr/>
        </p:nvSpPr>
        <p:spPr>
          <a:xfrm>
            <a:off x="548640" y="4758131"/>
            <a:ext cx="11094415" cy="729894"/>
          </a:xfrm>
          <a:prstGeom prst="roundRect">
            <a:avLst>
              <a:gd name="adj" fmla="val 8769"/>
            </a:avLst>
          </a:prstGeom>
          <a:solidFill>
            <a:srgbClr val="EAF0FD"/>
          </a:solidFill>
          <a:ln/>
        </p:spPr>
      </p:sp>
      <p:sp>
        <p:nvSpPr>
          <p:cNvPr id="15" name="Text 13"/>
          <p:cNvSpPr txBox="1"/>
          <p:nvPr/>
        </p:nvSpPr>
        <p:spPr>
          <a:xfrm>
            <a:off x="704088" y="483128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illusion (L) (illüzyon): </a:t>
            </a:r>
            <a:r>
              <a:rPr lang="en-US" sz="1600" dirty="0">
                <a:solidFill>
                  <a:srgbClr val="1F2937"/>
                </a:solidFill>
                <a:latin typeface="Calibri" pitchFamily="34" charset="0"/>
                <a:ea typeface="Calibri" pitchFamily="34" charset="-122"/>
                <a:cs typeface="Calibri" pitchFamily="34" charset="-120"/>
              </a:rPr>
              <a:t>Yanılsama. Çevreden gelen uyarımların yanlış algılanması sonucu oluşan psikotik ve organik ruhsal rahatsızlarda görülen belirti</a:t>
            </a:r>
            <a:endParaRPr lang="en-US" sz="1600" dirty="0"/>
          </a:p>
        </p:txBody>
      </p:sp>
      <p:sp>
        <p:nvSpPr>
          <p:cNvPr id="16" name="Shape 14"/>
          <p:cNvSpPr/>
          <p:nvPr/>
        </p:nvSpPr>
        <p:spPr>
          <a:xfrm>
            <a:off x="548640" y="5579466"/>
            <a:ext cx="11094415" cy="729894"/>
          </a:xfrm>
          <a:prstGeom prst="roundRect">
            <a:avLst>
              <a:gd name="adj" fmla="val 8769"/>
            </a:avLst>
          </a:prstGeom>
          <a:solidFill>
            <a:srgbClr val="EAF0FD"/>
          </a:solidFill>
          <a:ln/>
        </p:spPr>
      </p:sp>
      <p:sp>
        <p:nvSpPr>
          <p:cNvPr id="17" name="Text 15"/>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anksiyete nevrozu: </a:t>
            </a:r>
            <a:r>
              <a:rPr lang="en-US" sz="1600" dirty="0">
                <a:solidFill>
                  <a:srgbClr val="1F2937"/>
                </a:solidFill>
                <a:latin typeface="Calibri" pitchFamily="34" charset="0"/>
                <a:ea typeface="Calibri" pitchFamily="34" charset="-122"/>
                <a:cs typeface="Calibri" pitchFamily="34" charset="-120"/>
              </a:rPr>
              <a:t>Birdenbire ortaya çıkan, zaman zaman yineleyen, çoğunlukla bedensel fizyolojik belirtilerle birlikte olan aşırı kaygı durumudur.</a:t>
            </a:r>
            <a:endParaRPr lang="en-US" sz="16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291</a:t>
            </a:r>
            <a:endParaRPr lang="en-US" sz="1000" dirty="0"/>
          </a:p>
        </p:txBody>
      </p:sp>
      <p:sp>
        <p:nvSpPr>
          <p:cNvPr id="6" name="Shape 4"/>
          <p:cNvSpPr/>
          <p:nvPr/>
        </p:nvSpPr>
        <p:spPr>
          <a:xfrm>
            <a:off x="548640" y="1591869"/>
            <a:ext cx="11094415" cy="729894"/>
          </a:xfrm>
          <a:prstGeom prst="roundRect">
            <a:avLst>
              <a:gd name="adj" fmla="val 8769"/>
            </a:avLst>
          </a:prstGeom>
          <a:solidFill>
            <a:srgbClr val="EAF0FD"/>
          </a:solidFill>
          <a:ln/>
        </p:spPr>
      </p:sp>
      <p:sp>
        <p:nvSpPr>
          <p:cNvPr id="7" name="Text 5"/>
          <p:cNvSpPr txBox="1"/>
          <p:nvPr/>
        </p:nvSpPr>
        <p:spPr>
          <a:xfrm>
            <a:off x="704088" y="1665021"/>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demantia (L) (demans): </a:t>
            </a:r>
            <a:r>
              <a:rPr lang="en-US" sz="1600" dirty="0">
                <a:solidFill>
                  <a:srgbClr val="1F2937"/>
                </a:solidFill>
                <a:latin typeface="Calibri" pitchFamily="34" charset="0"/>
                <a:ea typeface="Calibri" pitchFamily="34" charset="-122"/>
                <a:cs typeface="Calibri" pitchFamily="34" charset="-120"/>
              </a:rPr>
              <a:t>Bunama. Yapısal nöropatolojik değişiklikler nedeniyle oluşan ve kendisini yetenek kaybıyla belli eden, ilerleyici, düzelmesi olanaksız beyin fonksiyon bozukluğu sendromudur.</a:t>
            </a:r>
            <a:endParaRPr lang="en-US" sz="1600" dirty="0"/>
          </a:p>
        </p:txBody>
      </p:sp>
      <p:sp>
        <p:nvSpPr>
          <p:cNvPr id="8" name="Shape 6"/>
          <p:cNvSpPr/>
          <p:nvPr/>
        </p:nvSpPr>
        <p:spPr>
          <a:xfrm>
            <a:off x="548640" y="2413203"/>
            <a:ext cx="11094415" cy="977798"/>
          </a:xfrm>
          <a:prstGeom prst="roundRect">
            <a:avLst>
              <a:gd name="adj" fmla="val 6546"/>
            </a:avLst>
          </a:prstGeom>
          <a:solidFill>
            <a:srgbClr val="EAF0FD"/>
          </a:solidFill>
          <a:ln/>
        </p:spPr>
      </p:sp>
      <p:sp>
        <p:nvSpPr>
          <p:cNvPr id="9" name="Text 7"/>
          <p:cNvSpPr txBox="1"/>
          <p:nvPr/>
        </p:nvSpPr>
        <p:spPr>
          <a:xfrm>
            <a:off x="704088" y="2486355"/>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paralysis agitans (G) (paralizi ajitan): </a:t>
            </a:r>
            <a:r>
              <a:rPr lang="en-US" sz="1600" dirty="0">
                <a:solidFill>
                  <a:srgbClr val="1F2937"/>
                </a:solidFill>
                <a:latin typeface="Calibri" pitchFamily="34" charset="0"/>
                <a:ea typeface="Calibri" pitchFamily="34" charset="-122"/>
                <a:cs typeface="Calibri" pitchFamily="34" charset="-120"/>
              </a:rPr>
              <a:t>Parkinson hastalığı. Orta yaşta gelişen ilerleyici bir sinir sistemi hastalığı. Bu hastalığın klinik bulguları arasında monoton ses, ellerin titremesi, yüzün anlamını yitirmesi gibi bulgular yer alır.</a:t>
            </a:r>
            <a:endParaRPr lang="en-US" sz="1600" dirty="0"/>
          </a:p>
        </p:txBody>
      </p:sp>
      <p:sp>
        <p:nvSpPr>
          <p:cNvPr id="10" name="Shape 8"/>
          <p:cNvSpPr/>
          <p:nvPr/>
        </p:nvSpPr>
        <p:spPr>
          <a:xfrm>
            <a:off x="548640" y="3482442"/>
            <a:ext cx="11094415" cy="977798"/>
          </a:xfrm>
          <a:prstGeom prst="roundRect">
            <a:avLst>
              <a:gd name="adj" fmla="val 6546"/>
            </a:avLst>
          </a:prstGeom>
          <a:solidFill>
            <a:srgbClr val="EAF0FD"/>
          </a:solidFill>
          <a:ln/>
        </p:spPr>
      </p:sp>
      <p:sp>
        <p:nvSpPr>
          <p:cNvPr id="11" name="Text 9"/>
          <p:cNvSpPr txBox="1"/>
          <p:nvPr/>
        </p:nvSpPr>
        <p:spPr>
          <a:xfrm>
            <a:off x="704088" y="3555594"/>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epilepsia (G) (epilepsi): </a:t>
            </a:r>
            <a:r>
              <a:rPr lang="en-US" sz="1600" dirty="0">
                <a:solidFill>
                  <a:srgbClr val="1F2937"/>
                </a:solidFill>
                <a:latin typeface="Calibri" pitchFamily="34" charset="0"/>
                <a:ea typeface="Calibri" pitchFamily="34" charset="-122"/>
                <a:cs typeface="Calibri" pitchFamily="34" charset="-120"/>
              </a:rPr>
              <a:t>Sara. Beyin fonksiyonunun kısa süren krizler şeklindeki, tekrarlayan hastalığı. Birdenbire ortaya çıkan ve kısa süren kriz sırasında bilinç değişiklikleri, aşırı hareketlilik, duyusal olaylar veya uygunsuz davranışlar görülür.</a:t>
            </a:r>
            <a:endParaRPr lang="en-US" sz="1600" dirty="0"/>
          </a:p>
        </p:txBody>
      </p:sp>
      <p:sp>
        <p:nvSpPr>
          <p:cNvPr id="12" name="Shape 10"/>
          <p:cNvSpPr/>
          <p:nvPr/>
        </p:nvSpPr>
        <p:spPr>
          <a:xfrm>
            <a:off x="548640" y="4680509"/>
            <a:ext cx="11094415" cy="481990"/>
          </a:xfrm>
          <a:prstGeom prst="roundRect">
            <a:avLst>
              <a:gd name="adj" fmla="val 13280"/>
            </a:avLst>
          </a:prstGeom>
          <a:solidFill>
            <a:srgbClr val="EAF0FD"/>
          </a:solidFill>
          <a:ln/>
        </p:spPr>
      </p:sp>
      <p:sp>
        <p:nvSpPr>
          <p:cNvPr id="13" name="Text 11"/>
          <p:cNvSpPr txBox="1"/>
          <p:nvPr/>
        </p:nvSpPr>
        <p:spPr>
          <a:xfrm>
            <a:off x="704088" y="475366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Alzheimer hastalığı (Alzaymır): </a:t>
            </a:r>
            <a:r>
              <a:rPr lang="en-US" sz="1600" dirty="0">
                <a:solidFill>
                  <a:srgbClr val="1F2937"/>
                </a:solidFill>
                <a:latin typeface="Calibri" pitchFamily="34" charset="0"/>
                <a:ea typeface="Calibri" pitchFamily="34" charset="-122"/>
                <a:cs typeface="Calibri" pitchFamily="34" charset="-120"/>
              </a:rPr>
              <a:t>Demansa yol açan dejeneratif bir hastalık</a:t>
            </a:r>
            <a:endParaRPr lang="en-US" sz="1600" dirty="0"/>
          </a:p>
        </p:txBody>
      </p:sp>
      <p:sp>
        <p:nvSpPr>
          <p:cNvPr id="14" name="Shape 12"/>
          <p:cNvSpPr/>
          <p:nvPr/>
        </p:nvSpPr>
        <p:spPr>
          <a:xfrm>
            <a:off x="548640" y="5253939"/>
            <a:ext cx="11094415" cy="481990"/>
          </a:xfrm>
          <a:prstGeom prst="roundRect">
            <a:avLst>
              <a:gd name="adj" fmla="val 13280"/>
            </a:avLst>
          </a:prstGeom>
          <a:solidFill>
            <a:srgbClr val="EAF0FD"/>
          </a:solidFill>
          <a:ln/>
        </p:spPr>
      </p:sp>
      <p:sp>
        <p:nvSpPr>
          <p:cNvPr id="15" name="Text 13"/>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hydrocephalus (G) (hidrosefali): </a:t>
            </a:r>
            <a:r>
              <a:rPr lang="en-US" sz="1600" dirty="0">
                <a:solidFill>
                  <a:srgbClr val="1F2937"/>
                </a:solidFill>
                <a:latin typeface="Calibri" pitchFamily="34" charset="0"/>
                <a:ea typeface="Calibri" pitchFamily="34" charset="-122"/>
                <a:cs typeface="Calibri" pitchFamily="34" charset="-120"/>
              </a:rPr>
              <a:t>Beyin ventriküllerinde normalin üzerinde sıvı toplanması</a:t>
            </a:r>
            <a:endParaRPr lang="en-US" sz="1600" dirty="0"/>
          </a:p>
        </p:txBody>
      </p:sp>
      <p:sp>
        <p:nvSpPr>
          <p:cNvPr id="16" name="Shape 14"/>
          <p:cNvSpPr/>
          <p:nvPr/>
        </p:nvSpPr>
        <p:spPr>
          <a:xfrm>
            <a:off x="548640" y="5827370"/>
            <a:ext cx="11094415" cy="481990"/>
          </a:xfrm>
          <a:prstGeom prst="roundRect">
            <a:avLst>
              <a:gd name="adj" fmla="val 13280"/>
            </a:avLst>
          </a:prstGeom>
          <a:solidFill>
            <a:srgbClr val="EAF0FD"/>
          </a:solidFill>
          <a:ln/>
        </p:spPr>
      </p:sp>
      <p:sp>
        <p:nvSpPr>
          <p:cNvPr id="17" name="Text 15"/>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amnesia (G) (amnezi): </a:t>
            </a:r>
            <a:r>
              <a:rPr lang="en-US" sz="1600" dirty="0">
                <a:solidFill>
                  <a:srgbClr val="1F2937"/>
                </a:solidFill>
                <a:latin typeface="Calibri" pitchFamily="34" charset="0"/>
                <a:ea typeface="Calibri" pitchFamily="34" charset="-122"/>
                <a:cs typeface="Calibri" pitchFamily="34" charset="-120"/>
              </a:rPr>
              <a:t>Hafıza kaybı unutkanlık</a:t>
            </a:r>
            <a:endParaRPr lang="en-US" sz="16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292</a:t>
            </a:r>
            <a:endParaRPr lang="en-US" sz="1000" dirty="0"/>
          </a:p>
        </p:txBody>
      </p:sp>
      <p:sp>
        <p:nvSpPr>
          <p:cNvPr id="6" name="Shape 4"/>
          <p:cNvSpPr/>
          <p:nvPr/>
        </p:nvSpPr>
        <p:spPr>
          <a:xfrm>
            <a:off x="548640" y="1514145"/>
            <a:ext cx="11094415" cy="638658"/>
          </a:xfrm>
          <a:prstGeom prst="roundRect">
            <a:avLst>
              <a:gd name="adj" fmla="val 10022"/>
            </a:avLst>
          </a:prstGeom>
          <a:solidFill>
            <a:srgbClr val="EAF0FD"/>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herpes zoster: </a:t>
            </a:r>
            <a:r>
              <a:rPr lang="en-US" sz="1400" dirty="0">
                <a:solidFill>
                  <a:srgbClr val="1F2937"/>
                </a:solidFill>
                <a:latin typeface="Calibri" pitchFamily="34" charset="0"/>
                <a:ea typeface="Calibri" pitchFamily="34" charset="-122"/>
                <a:cs typeface="Calibri" pitchFamily="34" charset="-120"/>
              </a:rPr>
              <a:t>Varicella zoster adlı virüsün neden olduğu duyu sinirlerinin seyri boyunca görülen ağrılı veziküllerin oluşması ve ateşle kendini gösteren hastalık. Zona hastalığı olarak bilinir.</a:t>
            </a:r>
            <a:endParaRPr lang="en-US" sz="1400" dirty="0"/>
          </a:p>
        </p:txBody>
      </p:sp>
      <p:sp>
        <p:nvSpPr>
          <p:cNvPr id="8" name="Shape 6"/>
          <p:cNvSpPr/>
          <p:nvPr/>
        </p:nvSpPr>
        <p:spPr>
          <a:xfrm>
            <a:off x="548640" y="2295347"/>
            <a:ext cx="11094415" cy="421742"/>
          </a:xfrm>
          <a:prstGeom prst="roundRect">
            <a:avLst>
              <a:gd name="adj" fmla="val 15177"/>
            </a:avLst>
          </a:prstGeom>
          <a:solidFill>
            <a:srgbClr val="EAF0FD"/>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insomnia (L) (insomniya): </a:t>
            </a:r>
            <a:r>
              <a:rPr lang="en-US" sz="1400" dirty="0">
                <a:solidFill>
                  <a:srgbClr val="1F2937"/>
                </a:solidFill>
                <a:latin typeface="Calibri" pitchFamily="34" charset="0"/>
                <a:ea typeface="Calibri" pitchFamily="34" charset="-122"/>
                <a:cs typeface="Calibri" pitchFamily="34" charset="-120"/>
              </a:rPr>
              <a:t>Uykusuzluk</a:t>
            </a:r>
            <a:endParaRPr lang="en-US" sz="1400" dirty="0"/>
          </a:p>
        </p:txBody>
      </p:sp>
      <p:sp>
        <p:nvSpPr>
          <p:cNvPr id="10" name="Shape 8"/>
          <p:cNvSpPr/>
          <p:nvPr/>
        </p:nvSpPr>
        <p:spPr>
          <a:xfrm>
            <a:off x="548640" y="2808529"/>
            <a:ext cx="11094415" cy="421742"/>
          </a:xfrm>
          <a:prstGeom prst="roundRect">
            <a:avLst>
              <a:gd name="adj" fmla="val 15177"/>
            </a:avLst>
          </a:prstGeom>
          <a:solidFill>
            <a:srgbClr val="EAF0FD"/>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narcolepsy (G) (narkolepsi): </a:t>
            </a:r>
            <a:r>
              <a:rPr lang="en-US" sz="1400" dirty="0">
                <a:solidFill>
                  <a:srgbClr val="1F2937"/>
                </a:solidFill>
                <a:latin typeface="Calibri" pitchFamily="34" charset="0"/>
                <a:ea typeface="Calibri" pitchFamily="34" charset="-122"/>
                <a:cs typeface="Calibri" pitchFamily="34" charset="-120"/>
              </a:rPr>
              <a:t>Zaman zaman aniden beliren uyku eğilimi ile belirgin patolojik durum.</a:t>
            </a:r>
            <a:endParaRPr lang="en-US" sz="1400" dirty="0"/>
          </a:p>
        </p:txBody>
      </p:sp>
      <p:sp>
        <p:nvSpPr>
          <p:cNvPr id="12" name="Shape 10"/>
          <p:cNvSpPr/>
          <p:nvPr/>
        </p:nvSpPr>
        <p:spPr>
          <a:xfrm>
            <a:off x="548640" y="3321710"/>
            <a:ext cx="11094415" cy="421742"/>
          </a:xfrm>
          <a:prstGeom prst="roundRect">
            <a:avLst>
              <a:gd name="adj" fmla="val 15177"/>
            </a:avLst>
          </a:prstGeom>
          <a:solidFill>
            <a:srgbClr val="EAF0FD"/>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sleep apnea (İG) (slip apne): </a:t>
            </a:r>
            <a:r>
              <a:rPr lang="en-US" sz="1400" dirty="0">
                <a:solidFill>
                  <a:srgbClr val="1F2937"/>
                </a:solidFill>
                <a:latin typeface="Calibri" pitchFamily="34" charset="0"/>
                <a:ea typeface="Calibri" pitchFamily="34" charset="-122"/>
                <a:cs typeface="Calibri" pitchFamily="34" charset="-120"/>
              </a:rPr>
              <a:t>Uyku sırasında oluşan soluk alıp vermenin durduğu periyottur.</a:t>
            </a:r>
            <a:endParaRPr lang="en-US" sz="1400" dirty="0"/>
          </a:p>
        </p:txBody>
      </p:sp>
      <p:sp>
        <p:nvSpPr>
          <p:cNvPr id="14" name="Shape 12"/>
          <p:cNvSpPr/>
          <p:nvPr/>
        </p:nvSpPr>
        <p:spPr>
          <a:xfrm>
            <a:off x="548640" y="3834892"/>
            <a:ext cx="11094415" cy="421742"/>
          </a:xfrm>
          <a:prstGeom prst="roundRect">
            <a:avLst>
              <a:gd name="adj" fmla="val 15177"/>
            </a:avLst>
          </a:prstGeom>
          <a:solidFill>
            <a:srgbClr val="EAF0FD"/>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intracerebral haemorrhagia (L) (intraserebral hemoraji): </a:t>
            </a:r>
            <a:r>
              <a:rPr lang="en-US" sz="1400" dirty="0">
                <a:solidFill>
                  <a:srgbClr val="1F2937"/>
                </a:solidFill>
                <a:latin typeface="Calibri" pitchFamily="34" charset="0"/>
                <a:ea typeface="Calibri" pitchFamily="34" charset="-122"/>
                <a:cs typeface="Calibri" pitchFamily="34" charset="-120"/>
              </a:rPr>
              <a:t>Beyin dokusu içinde kanama.</a:t>
            </a:r>
            <a:endParaRPr lang="en-US" sz="1400" dirty="0"/>
          </a:p>
        </p:txBody>
      </p:sp>
      <p:sp>
        <p:nvSpPr>
          <p:cNvPr id="16" name="Shape 14"/>
          <p:cNvSpPr/>
          <p:nvPr/>
        </p:nvSpPr>
        <p:spPr>
          <a:xfrm>
            <a:off x="548640" y="4348074"/>
            <a:ext cx="11094415" cy="421742"/>
          </a:xfrm>
          <a:prstGeom prst="roundRect">
            <a:avLst>
              <a:gd name="adj" fmla="val 15177"/>
            </a:avLst>
          </a:prstGeom>
          <a:solidFill>
            <a:srgbClr val="EAF0FD"/>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meningitis (G) (meninjit): </a:t>
            </a:r>
            <a:r>
              <a:rPr lang="en-US" sz="1400" dirty="0">
                <a:solidFill>
                  <a:srgbClr val="1F2937"/>
                </a:solidFill>
                <a:latin typeface="Calibri" pitchFamily="34" charset="0"/>
                <a:ea typeface="Calibri" pitchFamily="34" charset="-122"/>
                <a:cs typeface="Calibri" pitchFamily="34" charset="-120"/>
              </a:rPr>
              <a:t>Beyin omurilik zarlarının iltihabı</a:t>
            </a:r>
            <a:endParaRPr lang="en-US" sz="1400" dirty="0"/>
          </a:p>
        </p:txBody>
      </p:sp>
      <p:sp>
        <p:nvSpPr>
          <p:cNvPr id="18" name="Shape 16"/>
          <p:cNvSpPr/>
          <p:nvPr/>
        </p:nvSpPr>
        <p:spPr>
          <a:xfrm>
            <a:off x="548640" y="4861255"/>
            <a:ext cx="11094415" cy="421742"/>
          </a:xfrm>
          <a:prstGeom prst="roundRect">
            <a:avLst>
              <a:gd name="adj" fmla="val 15177"/>
            </a:avLst>
          </a:prstGeom>
          <a:solidFill>
            <a:srgbClr val="EAF0FD"/>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encephalitis (G) (ensefalit): </a:t>
            </a:r>
            <a:r>
              <a:rPr lang="en-US" sz="1400" dirty="0">
                <a:solidFill>
                  <a:srgbClr val="1F2937"/>
                </a:solidFill>
                <a:latin typeface="Calibri" pitchFamily="34" charset="0"/>
                <a:ea typeface="Calibri" pitchFamily="34" charset="-122"/>
                <a:cs typeface="Calibri" pitchFamily="34" charset="-120"/>
              </a:rPr>
              <a:t>Beyin iltihabı</a:t>
            </a:r>
            <a:endParaRPr lang="en-US" sz="1400" dirty="0"/>
          </a:p>
        </p:txBody>
      </p:sp>
      <p:sp>
        <p:nvSpPr>
          <p:cNvPr id="20" name="Shape 18"/>
          <p:cNvSpPr/>
          <p:nvPr/>
        </p:nvSpPr>
        <p:spPr>
          <a:xfrm>
            <a:off x="548640" y="5374437"/>
            <a:ext cx="11094415" cy="421742"/>
          </a:xfrm>
          <a:prstGeom prst="roundRect">
            <a:avLst>
              <a:gd name="adj" fmla="val 15177"/>
            </a:avLst>
          </a:prstGeom>
          <a:solidFill>
            <a:srgbClr val="EAF0FD"/>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myelitis (G) (miyelit): </a:t>
            </a:r>
            <a:r>
              <a:rPr lang="en-US" sz="1400" dirty="0">
                <a:solidFill>
                  <a:srgbClr val="1F2937"/>
                </a:solidFill>
                <a:latin typeface="Calibri" pitchFamily="34" charset="0"/>
                <a:ea typeface="Calibri" pitchFamily="34" charset="-122"/>
                <a:cs typeface="Calibri" pitchFamily="34" charset="-120"/>
              </a:rPr>
              <a:t>Omurilik iltihabı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EAF0FD"/>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encephalomyelitis (G) (ensefalomiylelit): </a:t>
            </a:r>
            <a:r>
              <a:rPr lang="en-US" sz="1400" dirty="0">
                <a:solidFill>
                  <a:srgbClr val="1F2937"/>
                </a:solidFill>
                <a:latin typeface="Calibri" pitchFamily="34" charset="0"/>
                <a:ea typeface="Calibri" pitchFamily="34" charset="-122"/>
                <a:cs typeface="Calibri" pitchFamily="34" charset="-120"/>
              </a:rPr>
              <a:t>Beyin omurilik iltihabı</a:t>
            </a:r>
            <a:endParaRPr lang="en-US" sz="14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293</a:t>
            </a:r>
            <a:endParaRPr lang="en-US" sz="1000" dirty="0"/>
          </a:p>
        </p:txBody>
      </p:sp>
      <p:sp>
        <p:nvSpPr>
          <p:cNvPr id="6" name="Shape 4"/>
          <p:cNvSpPr/>
          <p:nvPr/>
        </p:nvSpPr>
        <p:spPr>
          <a:xfrm>
            <a:off x="548640" y="1701952"/>
            <a:ext cx="11094415" cy="638658"/>
          </a:xfrm>
          <a:prstGeom prst="roundRect">
            <a:avLst>
              <a:gd name="adj" fmla="val 10022"/>
            </a:avLst>
          </a:prstGeom>
          <a:solidFill>
            <a:srgbClr val="EAF0FD"/>
          </a:solidFill>
          <a:ln/>
        </p:spPr>
      </p:sp>
      <p:sp>
        <p:nvSpPr>
          <p:cNvPr id="7" name="Text 5"/>
          <p:cNvSpPr txBox="1"/>
          <p:nvPr/>
        </p:nvSpPr>
        <p:spPr>
          <a:xfrm>
            <a:off x="704088" y="1775104"/>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poliomyelitis (G) (poliomiyelit): </a:t>
            </a:r>
            <a:r>
              <a:rPr lang="en-US" sz="1400" dirty="0">
                <a:solidFill>
                  <a:srgbClr val="1F2937"/>
                </a:solidFill>
                <a:latin typeface="Calibri" pitchFamily="34" charset="0"/>
                <a:ea typeface="Calibri" pitchFamily="34" charset="-122"/>
                <a:cs typeface="Calibri" pitchFamily="34" charset="-120"/>
              </a:rPr>
              <a:t>Çocuk felci, omurilik gri maddesinin iltihabı. Daha çok çocuklarda görülen ateş, baş ağrısı, kas ağrıları, bulantı, kusma ile aniden başlayıp ağır şekillerde kaslarda atrofi ve felce uzanan virütik hastalık</a:t>
            </a:r>
            <a:endParaRPr lang="en-US" sz="1400" dirty="0"/>
          </a:p>
        </p:txBody>
      </p:sp>
      <p:sp>
        <p:nvSpPr>
          <p:cNvPr id="8" name="Shape 6"/>
          <p:cNvSpPr/>
          <p:nvPr/>
        </p:nvSpPr>
        <p:spPr>
          <a:xfrm>
            <a:off x="548640" y="2432050"/>
            <a:ext cx="11094415" cy="855574"/>
          </a:xfrm>
          <a:prstGeom prst="roundRect">
            <a:avLst>
              <a:gd name="adj" fmla="val 7481"/>
            </a:avLst>
          </a:prstGeom>
          <a:solidFill>
            <a:srgbClr val="EAF0FD"/>
          </a:solidFill>
          <a:ln/>
        </p:spPr>
      </p:sp>
      <p:sp>
        <p:nvSpPr>
          <p:cNvPr id="9" name="Text 7"/>
          <p:cNvSpPr txBox="1"/>
          <p:nvPr/>
        </p:nvSpPr>
        <p:spPr>
          <a:xfrm>
            <a:off x="704088" y="2505202"/>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multiple (L) sclerosis (G) (multipl skleroz-MS): </a:t>
            </a:r>
            <a:r>
              <a:rPr lang="en-US" sz="1400" dirty="0">
                <a:solidFill>
                  <a:srgbClr val="1F2937"/>
                </a:solidFill>
                <a:latin typeface="Calibri" pitchFamily="34" charset="0"/>
                <a:ea typeface="Calibri" pitchFamily="34" charset="-122"/>
                <a:cs typeface="Calibri" pitchFamily="34" charset="-120"/>
              </a:rPr>
              <a:t>Beyinde ve omurilikte yaygın demiyelizasyon plaklarının (sinir hücrelerindeki miyelin ortadan kalkarak sertliklerin oluşması) bulunmasıyla özellik kazanan ve yavaş yavaş ilerleyen bir merkezi sinir sistemi hastalığı</a:t>
            </a:r>
            <a:endParaRPr lang="en-US" sz="1400" dirty="0"/>
          </a:p>
        </p:txBody>
      </p:sp>
      <p:sp>
        <p:nvSpPr>
          <p:cNvPr id="10" name="Shape 8"/>
          <p:cNvSpPr/>
          <p:nvPr/>
        </p:nvSpPr>
        <p:spPr>
          <a:xfrm>
            <a:off x="548640" y="3617976"/>
            <a:ext cx="11094415" cy="421742"/>
          </a:xfrm>
          <a:prstGeom prst="roundRect">
            <a:avLst>
              <a:gd name="adj" fmla="val 15177"/>
            </a:avLst>
          </a:prstGeom>
          <a:solidFill>
            <a:srgbClr val="EAF0FD"/>
          </a:solidFill>
          <a:ln/>
        </p:spPr>
      </p:sp>
      <p:sp>
        <p:nvSpPr>
          <p:cNvPr id="11" name="Text 9"/>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polioencephalitis (G) (polioensefalit): </a:t>
            </a:r>
            <a:r>
              <a:rPr lang="en-US" sz="1400" dirty="0">
                <a:solidFill>
                  <a:srgbClr val="1F2937"/>
                </a:solidFill>
                <a:latin typeface="Calibri" pitchFamily="34" charset="0"/>
                <a:ea typeface="Calibri" pitchFamily="34" charset="-122"/>
                <a:cs typeface="Calibri" pitchFamily="34" charset="-120"/>
              </a:rPr>
              <a:t>Beyin gri maddesinin iltihabı</a:t>
            </a:r>
            <a:endParaRPr lang="en-US" sz="1400" dirty="0"/>
          </a:p>
        </p:txBody>
      </p:sp>
      <p:sp>
        <p:nvSpPr>
          <p:cNvPr id="12" name="Shape 10"/>
          <p:cNvSpPr/>
          <p:nvPr/>
        </p:nvSpPr>
        <p:spPr>
          <a:xfrm>
            <a:off x="548640" y="4131158"/>
            <a:ext cx="11094415" cy="638658"/>
          </a:xfrm>
          <a:prstGeom prst="roundRect">
            <a:avLst>
              <a:gd name="adj" fmla="val 10022"/>
            </a:avLst>
          </a:prstGeom>
          <a:solidFill>
            <a:srgbClr val="EAF0FD"/>
          </a:solidFill>
          <a:ln/>
        </p:spPr>
      </p:sp>
      <p:sp>
        <p:nvSpPr>
          <p:cNvPr id="13" name="Text 11"/>
          <p:cNvSpPr txBox="1"/>
          <p:nvPr/>
        </p:nvSpPr>
        <p:spPr>
          <a:xfrm>
            <a:off x="704088" y="4204310"/>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poliomyelencephalitis (G) (poliomiyelensefalit): </a:t>
            </a:r>
            <a:r>
              <a:rPr lang="en-US" sz="1400" dirty="0">
                <a:solidFill>
                  <a:srgbClr val="1F2937"/>
                </a:solidFill>
                <a:latin typeface="Calibri" pitchFamily="34" charset="0"/>
                <a:ea typeface="Calibri" pitchFamily="34" charset="-122"/>
                <a:cs typeface="Calibri" pitchFamily="34" charset="-120"/>
              </a:rPr>
              <a:t>Beyin ve omurilik gri maddelerinin iltihabı. Poliomyelit ve polioensefalitin birlikte oluşu.</a:t>
            </a:r>
            <a:endParaRPr lang="en-US" sz="1400" dirty="0"/>
          </a:p>
        </p:txBody>
      </p:sp>
      <p:sp>
        <p:nvSpPr>
          <p:cNvPr id="14" name="Shape 12"/>
          <p:cNvSpPr/>
          <p:nvPr/>
        </p:nvSpPr>
        <p:spPr>
          <a:xfrm>
            <a:off x="548640" y="4861255"/>
            <a:ext cx="11094415" cy="421742"/>
          </a:xfrm>
          <a:prstGeom prst="roundRect">
            <a:avLst>
              <a:gd name="adj" fmla="val 15177"/>
            </a:avLst>
          </a:prstGeom>
          <a:solidFill>
            <a:srgbClr val="EAF0FD"/>
          </a:solidFill>
          <a:ln/>
        </p:spPr>
      </p:sp>
      <p:sp>
        <p:nvSpPr>
          <p:cNvPr id="15" name="Text 13"/>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cerebral abscess (L) (serebral abse): </a:t>
            </a:r>
            <a:r>
              <a:rPr lang="en-US" sz="1400" dirty="0">
                <a:solidFill>
                  <a:srgbClr val="1F2937"/>
                </a:solidFill>
                <a:latin typeface="Calibri" pitchFamily="34" charset="0"/>
                <a:ea typeface="Calibri" pitchFamily="34" charset="-122"/>
                <a:cs typeface="Calibri" pitchFamily="34" charset="-120"/>
              </a:rPr>
              <a:t>Beyin absesi, beyin dokusu içerisinde kapsülü bir irin birikimi</a:t>
            </a:r>
            <a:endParaRPr lang="en-US" sz="1400" dirty="0"/>
          </a:p>
        </p:txBody>
      </p:sp>
      <p:sp>
        <p:nvSpPr>
          <p:cNvPr id="16" name="Shape 14"/>
          <p:cNvSpPr/>
          <p:nvPr/>
        </p:nvSpPr>
        <p:spPr>
          <a:xfrm>
            <a:off x="548640" y="5374437"/>
            <a:ext cx="11094415" cy="421742"/>
          </a:xfrm>
          <a:prstGeom prst="roundRect">
            <a:avLst>
              <a:gd name="adj" fmla="val 15177"/>
            </a:avLst>
          </a:prstGeom>
          <a:solidFill>
            <a:srgbClr val="EAF0FD"/>
          </a:solidFill>
          <a:ln/>
        </p:spPr>
      </p:sp>
      <p:sp>
        <p:nvSpPr>
          <p:cNvPr id="17" name="Text 15"/>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neuritis (G) (nörit): </a:t>
            </a:r>
            <a:r>
              <a:rPr lang="en-US" sz="1400" dirty="0">
                <a:solidFill>
                  <a:srgbClr val="1F2937"/>
                </a:solidFill>
                <a:latin typeface="Calibri" pitchFamily="34" charset="0"/>
                <a:ea typeface="Calibri" pitchFamily="34" charset="-122"/>
                <a:cs typeface="Calibri" pitchFamily="34" charset="-120"/>
              </a:rPr>
              <a:t>Sinir iltihabı</a:t>
            </a:r>
            <a:endParaRPr lang="en-US" sz="1400" dirty="0"/>
          </a:p>
        </p:txBody>
      </p:sp>
      <p:sp>
        <p:nvSpPr>
          <p:cNvPr id="18" name="Shape 16"/>
          <p:cNvSpPr/>
          <p:nvPr/>
        </p:nvSpPr>
        <p:spPr>
          <a:xfrm>
            <a:off x="548640" y="5887618"/>
            <a:ext cx="11094415" cy="421742"/>
          </a:xfrm>
          <a:prstGeom prst="roundRect">
            <a:avLst>
              <a:gd name="adj" fmla="val 15177"/>
            </a:avLst>
          </a:prstGeom>
          <a:solidFill>
            <a:srgbClr val="EAF0FD"/>
          </a:solidFill>
          <a:ln/>
        </p:spPr>
      </p:sp>
      <p:sp>
        <p:nvSpPr>
          <p:cNvPr id="19" name="Text 17"/>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1D4ED8"/>
                </a:solidFill>
                <a:latin typeface="Calibri" pitchFamily="34" charset="0"/>
                <a:ea typeface="Calibri" pitchFamily="34" charset="-122"/>
                <a:cs typeface="Calibri" pitchFamily="34" charset="-120"/>
              </a:rPr>
              <a:t>encephalopathy (G) (ensefalopati): </a:t>
            </a:r>
            <a:r>
              <a:rPr lang="en-US" sz="1400" dirty="0">
                <a:solidFill>
                  <a:srgbClr val="1F2937"/>
                </a:solidFill>
                <a:latin typeface="Calibri" pitchFamily="34" charset="0"/>
                <a:ea typeface="Calibri" pitchFamily="34" charset="-122"/>
                <a:cs typeface="Calibri" pitchFamily="34" charset="-120"/>
              </a:rPr>
              <a:t>Beyin dokusundaki dejeneratif değişiklerle belirgin herhangi ir hastalık</a:t>
            </a:r>
            <a:endParaRPr lang="en-US" sz="14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294</a:t>
            </a:r>
            <a:endParaRPr lang="en-US" sz="1000" dirty="0"/>
          </a:p>
        </p:txBody>
      </p:sp>
      <p:sp>
        <p:nvSpPr>
          <p:cNvPr id="6" name="Shape 4"/>
          <p:cNvSpPr/>
          <p:nvPr/>
        </p:nvSpPr>
        <p:spPr>
          <a:xfrm>
            <a:off x="548640" y="1488567"/>
            <a:ext cx="11094415" cy="1149096"/>
          </a:xfrm>
          <a:prstGeom prst="roundRect">
            <a:avLst>
              <a:gd name="adj" fmla="val 5570"/>
            </a:avLst>
          </a:prstGeom>
          <a:solidFill>
            <a:srgbClr val="EAF0FD"/>
          </a:solidFill>
          <a:ln/>
        </p:spPr>
      </p:sp>
      <p:sp>
        <p:nvSpPr>
          <p:cNvPr id="7" name="Text 5"/>
          <p:cNvSpPr txBox="1"/>
          <p:nvPr/>
        </p:nvSpPr>
        <p:spPr>
          <a:xfrm>
            <a:off x="704088" y="1561719"/>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tremor (L): </a:t>
            </a:r>
            <a:r>
              <a:rPr lang="en-US" sz="1500" dirty="0">
                <a:solidFill>
                  <a:srgbClr val="1F2937"/>
                </a:solidFill>
                <a:latin typeface="Calibri" pitchFamily="34" charset="0"/>
                <a:ea typeface="Calibri" pitchFamily="34" charset="-122"/>
                <a:cs typeface="Calibri" pitchFamily="34" charset="-120"/>
              </a:rPr>
              <a:t>İstem dışı titreme. Vücudun bir veya birkaç bölümünde görülen ve fonksiyonları birbirinin karşıtı olan kasların sırasıyla ve ardı ardına kasılmaları nedeniyle meydana gelen istem dışı hareketler</a:t>
            </a:r>
            <a:endParaRPr lang="en-US" sz="1500" dirty="0"/>
          </a:p>
        </p:txBody>
      </p:sp>
      <p:sp>
        <p:nvSpPr>
          <p:cNvPr id="8" name="Shape 6"/>
          <p:cNvSpPr/>
          <p:nvPr/>
        </p:nvSpPr>
        <p:spPr>
          <a:xfrm>
            <a:off x="548640" y="2729103"/>
            <a:ext cx="11094415" cy="1149096"/>
          </a:xfrm>
          <a:prstGeom prst="roundRect">
            <a:avLst>
              <a:gd name="adj" fmla="val 5570"/>
            </a:avLst>
          </a:prstGeom>
          <a:solidFill>
            <a:srgbClr val="EAF0FD"/>
          </a:solidFill>
          <a:ln/>
        </p:spPr>
      </p:sp>
      <p:sp>
        <p:nvSpPr>
          <p:cNvPr id="9" name="Text 7"/>
          <p:cNvSpPr txBox="1"/>
          <p:nvPr/>
        </p:nvSpPr>
        <p:spPr>
          <a:xfrm>
            <a:off x="704088" y="2802255"/>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facial palsy (L) (fasyal palsi): </a:t>
            </a:r>
            <a:r>
              <a:rPr lang="en-US" sz="1500" dirty="0">
                <a:solidFill>
                  <a:srgbClr val="1F2937"/>
                </a:solidFill>
                <a:latin typeface="Calibri" pitchFamily="34" charset="0"/>
                <a:ea typeface="Calibri" pitchFamily="34" charset="-122"/>
                <a:cs typeface="Calibri" pitchFamily="34" charset="-120"/>
              </a:rPr>
              <a:t>Yüz felci. Yüzün bir tarafının kaslarında görülen felç. Felçli tarafta göz kapağı tam olarak kapanmaz, kaş aşağı düşer, ağız eğrilir ve tam kapanmaz.</a:t>
            </a:r>
            <a:endParaRPr lang="en-US" sz="1500" dirty="0"/>
          </a:p>
        </p:txBody>
      </p:sp>
      <p:sp>
        <p:nvSpPr>
          <p:cNvPr id="10" name="Shape 8"/>
          <p:cNvSpPr/>
          <p:nvPr/>
        </p:nvSpPr>
        <p:spPr>
          <a:xfrm>
            <a:off x="548640" y="3995166"/>
            <a:ext cx="5410048" cy="451866"/>
          </a:xfrm>
          <a:prstGeom prst="roundRect">
            <a:avLst>
              <a:gd name="adj" fmla="val 14165"/>
            </a:avLst>
          </a:prstGeom>
          <a:solidFill>
            <a:srgbClr val="EAF0FD"/>
          </a:solidFill>
          <a:ln/>
        </p:spPr>
      </p:sp>
      <p:sp>
        <p:nvSpPr>
          <p:cNvPr id="11" name="Text 9"/>
          <p:cNvSpPr txBox="1"/>
          <p:nvPr/>
        </p:nvSpPr>
        <p:spPr>
          <a:xfrm>
            <a:off x="704088" y="406831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disc hernia (L) (disk herni): </a:t>
            </a:r>
            <a:r>
              <a:rPr lang="en-US" sz="1500" dirty="0">
                <a:solidFill>
                  <a:srgbClr val="1F2937"/>
                </a:solidFill>
                <a:latin typeface="Calibri" pitchFamily="34" charset="0"/>
                <a:ea typeface="Calibri" pitchFamily="34" charset="-122"/>
                <a:cs typeface="Calibri" pitchFamily="34" charset="-120"/>
              </a:rPr>
              <a:t>Bel fıtığı</a:t>
            </a:r>
            <a:endParaRPr lang="en-US" sz="1500" dirty="0"/>
          </a:p>
        </p:txBody>
      </p:sp>
      <p:sp>
        <p:nvSpPr>
          <p:cNvPr id="12" name="Shape 10"/>
          <p:cNvSpPr/>
          <p:nvPr/>
        </p:nvSpPr>
        <p:spPr>
          <a:xfrm>
            <a:off x="548640" y="4538472"/>
            <a:ext cx="5410048" cy="451866"/>
          </a:xfrm>
          <a:prstGeom prst="roundRect">
            <a:avLst>
              <a:gd name="adj" fmla="val 14165"/>
            </a:avLst>
          </a:prstGeom>
          <a:solidFill>
            <a:srgbClr val="EAF0FD"/>
          </a:solidFill>
          <a:ln/>
        </p:spPr>
      </p:sp>
      <p:sp>
        <p:nvSpPr>
          <p:cNvPr id="13" name="Text 11"/>
          <p:cNvSpPr txBox="1"/>
          <p:nvPr/>
        </p:nvSpPr>
        <p:spPr>
          <a:xfrm>
            <a:off x="704088" y="461162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cerebral palsy (L) (serebral palsi): </a:t>
            </a:r>
            <a:r>
              <a:rPr lang="en-US" sz="1500" dirty="0">
                <a:solidFill>
                  <a:srgbClr val="1F2937"/>
                </a:solidFill>
                <a:latin typeface="Calibri" pitchFamily="34" charset="0"/>
                <a:ea typeface="Calibri" pitchFamily="34" charset="-122"/>
                <a:cs typeface="Calibri" pitchFamily="34" charset="-120"/>
              </a:rPr>
              <a:t>Beyin felci</a:t>
            </a:r>
            <a:endParaRPr lang="en-US" sz="1500" dirty="0"/>
          </a:p>
        </p:txBody>
      </p:sp>
      <p:sp>
        <p:nvSpPr>
          <p:cNvPr id="14" name="Shape 12"/>
          <p:cNvSpPr/>
          <p:nvPr/>
        </p:nvSpPr>
        <p:spPr>
          <a:xfrm>
            <a:off x="548640" y="5081778"/>
            <a:ext cx="5410048" cy="451866"/>
          </a:xfrm>
          <a:prstGeom prst="roundRect">
            <a:avLst>
              <a:gd name="adj" fmla="val 14165"/>
            </a:avLst>
          </a:prstGeom>
          <a:solidFill>
            <a:srgbClr val="EAF0FD"/>
          </a:solidFill>
          <a:ln/>
        </p:spPr>
      </p:sp>
      <p:sp>
        <p:nvSpPr>
          <p:cNvPr id="15" name="Text 13"/>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plegia (G) (pleji): </a:t>
            </a:r>
            <a:r>
              <a:rPr lang="en-US" sz="1500" dirty="0">
                <a:solidFill>
                  <a:srgbClr val="1F2937"/>
                </a:solidFill>
                <a:latin typeface="Calibri" pitchFamily="34" charset="0"/>
                <a:ea typeface="Calibri" pitchFamily="34" charset="-122"/>
                <a:cs typeface="Calibri" pitchFamily="34" charset="-120"/>
              </a:rPr>
              <a:t>Felç</a:t>
            </a:r>
            <a:endParaRPr lang="en-US" sz="1500" dirty="0"/>
          </a:p>
        </p:txBody>
      </p:sp>
      <p:sp>
        <p:nvSpPr>
          <p:cNvPr id="16" name="Shape 14"/>
          <p:cNvSpPr/>
          <p:nvPr/>
        </p:nvSpPr>
        <p:spPr>
          <a:xfrm>
            <a:off x="548640" y="5625084"/>
            <a:ext cx="5410048" cy="684276"/>
          </a:xfrm>
          <a:prstGeom prst="roundRect">
            <a:avLst>
              <a:gd name="adj" fmla="val 9354"/>
            </a:avLst>
          </a:prstGeom>
          <a:solidFill>
            <a:srgbClr val="EAF0FD"/>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monoplegia (G) (monopleji): </a:t>
            </a:r>
            <a:r>
              <a:rPr lang="en-US" sz="1500" dirty="0">
                <a:solidFill>
                  <a:srgbClr val="1F2937"/>
                </a:solidFill>
                <a:latin typeface="Calibri" pitchFamily="34" charset="0"/>
                <a:ea typeface="Calibri" pitchFamily="34" charset="-122"/>
                <a:cs typeface="Calibri" pitchFamily="34" charset="-120"/>
              </a:rPr>
              <a:t>Bir ekstremitenin felç olması</a:t>
            </a:r>
            <a:endParaRPr lang="en-US" sz="1500" dirty="0"/>
          </a:p>
        </p:txBody>
      </p:sp>
      <p:sp>
        <p:nvSpPr>
          <p:cNvPr id="18" name="Shape 16"/>
          <p:cNvSpPr/>
          <p:nvPr/>
        </p:nvSpPr>
        <p:spPr>
          <a:xfrm>
            <a:off x="6233008" y="3995166"/>
            <a:ext cx="5410048" cy="684276"/>
          </a:xfrm>
          <a:prstGeom prst="roundRect">
            <a:avLst>
              <a:gd name="adj" fmla="val 9354"/>
            </a:avLst>
          </a:prstGeom>
          <a:solidFill>
            <a:srgbClr val="EAF0FD"/>
          </a:solidFill>
          <a:ln/>
        </p:spPr>
      </p:sp>
      <p:sp>
        <p:nvSpPr>
          <p:cNvPr id="19" name="Text 17"/>
          <p:cNvSpPr txBox="1"/>
          <p:nvPr/>
        </p:nvSpPr>
        <p:spPr>
          <a:xfrm>
            <a:off x="6388456" y="406831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hemiplegia  (G) (hemipleji): </a:t>
            </a:r>
            <a:r>
              <a:rPr lang="en-US" sz="1500" dirty="0">
                <a:solidFill>
                  <a:srgbClr val="1F2937"/>
                </a:solidFill>
                <a:latin typeface="Calibri" pitchFamily="34" charset="0"/>
                <a:ea typeface="Calibri" pitchFamily="34" charset="-122"/>
                <a:cs typeface="Calibri" pitchFamily="34" charset="-120"/>
              </a:rPr>
              <a:t>Vücudun bir yarısını etkileyen felç</a:t>
            </a:r>
            <a:endParaRPr lang="en-US" sz="1500" dirty="0"/>
          </a:p>
        </p:txBody>
      </p:sp>
      <p:sp>
        <p:nvSpPr>
          <p:cNvPr id="20" name="Shape 18"/>
          <p:cNvSpPr/>
          <p:nvPr/>
        </p:nvSpPr>
        <p:spPr>
          <a:xfrm>
            <a:off x="6233008" y="4770882"/>
            <a:ext cx="5410048" cy="451866"/>
          </a:xfrm>
          <a:prstGeom prst="roundRect">
            <a:avLst>
              <a:gd name="adj" fmla="val 14165"/>
            </a:avLst>
          </a:prstGeom>
          <a:solidFill>
            <a:srgbClr val="EAF0FD"/>
          </a:solidFill>
          <a:ln/>
        </p:spPr>
      </p:sp>
      <p:sp>
        <p:nvSpPr>
          <p:cNvPr id="21" name="Text 19"/>
          <p:cNvSpPr txBox="1"/>
          <p:nvPr/>
        </p:nvSpPr>
        <p:spPr>
          <a:xfrm>
            <a:off x="6388456" y="484403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praplegia (G) (parapleji): </a:t>
            </a:r>
            <a:r>
              <a:rPr lang="en-US" sz="1500" dirty="0">
                <a:solidFill>
                  <a:srgbClr val="1F2937"/>
                </a:solidFill>
                <a:latin typeface="Calibri" pitchFamily="34" charset="0"/>
                <a:ea typeface="Calibri" pitchFamily="34" charset="-122"/>
                <a:cs typeface="Calibri" pitchFamily="34" charset="-120"/>
              </a:rPr>
              <a:t>İki bacağı tutan felç</a:t>
            </a:r>
            <a:endParaRPr lang="en-US" sz="1500" dirty="0"/>
          </a:p>
        </p:txBody>
      </p:sp>
      <p:sp>
        <p:nvSpPr>
          <p:cNvPr id="22" name="Shape 20"/>
          <p:cNvSpPr/>
          <p:nvPr/>
        </p:nvSpPr>
        <p:spPr>
          <a:xfrm>
            <a:off x="6233008" y="5314188"/>
            <a:ext cx="5410048" cy="684276"/>
          </a:xfrm>
          <a:prstGeom prst="roundRect">
            <a:avLst>
              <a:gd name="adj" fmla="val 9354"/>
            </a:avLst>
          </a:prstGeom>
          <a:solidFill>
            <a:srgbClr val="EAF0FD"/>
          </a:solidFill>
          <a:ln/>
        </p:spPr>
      </p:sp>
      <p:sp>
        <p:nvSpPr>
          <p:cNvPr id="23" name="Text 21"/>
          <p:cNvSpPr txBox="1"/>
          <p:nvPr/>
        </p:nvSpPr>
        <p:spPr>
          <a:xfrm>
            <a:off x="6388456" y="538734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quadriplegia (G) (kuadripleji): </a:t>
            </a:r>
            <a:r>
              <a:rPr lang="en-US" sz="1500" dirty="0">
                <a:solidFill>
                  <a:srgbClr val="1F2937"/>
                </a:solidFill>
                <a:latin typeface="Calibri" pitchFamily="34" charset="0"/>
                <a:ea typeface="Calibri" pitchFamily="34" charset="-122"/>
                <a:cs typeface="Calibri" pitchFamily="34" charset="-120"/>
              </a:rPr>
              <a:t>Dört ekstremitede görülen felç</a:t>
            </a:r>
            <a:endParaRPr lang="en-US" sz="15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295</a:t>
            </a:r>
            <a:endParaRPr lang="en-US" sz="1000" dirty="0"/>
          </a:p>
        </p:txBody>
      </p:sp>
      <p:sp>
        <p:nvSpPr>
          <p:cNvPr id="6" name="Shape 4"/>
          <p:cNvSpPr/>
          <p:nvPr/>
        </p:nvSpPr>
        <p:spPr>
          <a:xfrm>
            <a:off x="548640" y="2074291"/>
            <a:ext cx="11094415" cy="593039"/>
          </a:xfrm>
          <a:prstGeom prst="roundRect">
            <a:avLst>
              <a:gd name="adj" fmla="val 10793"/>
            </a:avLst>
          </a:prstGeom>
          <a:solidFill>
            <a:srgbClr val="EAF0FD"/>
          </a:solidFill>
          <a:ln/>
        </p:spPr>
      </p:sp>
      <p:sp>
        <p:nvSpPr>
          <p:cNvPr id="7" name="Text 5"/>
          <p:cNvSpPr txBox="1"/>
          <p:nvPr/>
        </p:nvSpPr>
        <p:spPr>
          <a:xfrm>
            <a:off x="704088" y="2147443"/>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1D4ED8"/>
                </a:solidFill>
                <a:latin typeface="Calibri" pitchFamily="34" charset="0"/>
                <a:ea typeface="Calibri" pitchFamily="34" charset="-122"/>
                <a:cs typeface="Calibri" pitchFamily="34" charset="-120"/>
              </a:rPr>
              <a:t>obsesif kompülsif nevroz: </a:t>
            </a:r>
            <a:r>
              <a:rPr lang="en-US" sz="1300" dirty="0">
                <a:solidFill>
                  <a:srgbClr val="1F2937"/>
                </a:solidFill>
                <a:latin typeface="Calibri" pitchFamily="34" charset="0"/>
                <a:ea typeface="Calibri" pitchFamily="34" charset="-122"/>
                <a:cs typeface="Calibri" pitchFamily="34" charset="-120"/>
              </a:rPr>
              <a:t>Düşünce ve mantık düzeyinde ortaya çıkan, anlamsızlığı, gereksizliği, yersizliği, hasta tarafından kabul edilen, hastanın irade ve isteği dışında inatçı biçimde sürekli olarak yineleyen takıntılı düşünce ve davranışlar.</a:t>
            </a:r>
            <a:endParaRPr lang="en-US" sz="1300" dirty="0"/>
          </a:p>
        </p:txBody>
      </p:sp>
      <p:sp>
        <p:nvSpPr>
          <p:cNvPr id="8" name="Shape 6"/>
          <p:cNvSpPr/>
          <p:nvPr/>
        </p:nvSpPr>
        <p:spPr>
          <a:xfrm>
            <a:off x="548640" y="2758770"/>
            <a:ext cx="11094415" cy="593039"/>
          </a:xfrm>
          <a:prstGeom prst="roundRect">
            <a:avLst>
              <a:gd name="adj" fmla="val 10793"/>
            </a:avLst>
          </a:prstGeom>
          <a:solidFill>
            <a:srgbClr val="EAF0FD"/>
          </a:solidFill>
          <a:ln/>
        </p:spPr>
      </p:sp>
      <p:sp>
        <p:nvSpPr>
          <p:cNvPr id="9" name="Text 7"/>
          <p:cNvSpPr txBox="1"/>
          <p:nvPr/>
        </p:nvSpPr>
        <p:spPr>
          <a:xfrm>
            <a:off x="704088" y="2831922"/>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1D4ED8"/>
                </a:solidFill>
                <a:latin typeface="Calibri" pitchFamily="34" charset="0"/>
                <a:ea typeface="Calibri" pitchFamily="34" charset="-122"/>
                <a:cs typeface="Calibri" pitchFamily="34" charset="-120"/>
              </a:rPr>
              <a:t>hysteria (G) (histeri): </a:t>
            </a:r>
            <a:r>
              <a:rPr lang="en-US" sz="1300" dirty="0">
                <a:solidFill>
                  <a:srgbClr val="1F2937"/>
                </a:solidFill>
                <a:latin typeface="Calibri" pitchFamily="34" charset="0"/>
                <a:ea typeface="Calibri" pitchFamily="34" charset="-122"/>
                <a:cs typeface="Calibri" pitchFamily="34" charset="-120"/>
              </a:rPr>
              <a:t>Genellikle benliği olgunlaşmamış olanlarda, çatışmalardan kaynaklanan, bastırılmış, denetlenmiş, engellenmiş, ertelenmiş duygu ve düşüncelerin bedensel ya da ruhsal belirtilerle açığa çıkan bir nevrozdur.</a:t>
            </a:r>
            <a:endParaRPr lang="en-US" sz="1300" dirty="0"/>
          </a:p>
        </p:txBody>
      </p:sp>
      <p:sp>
        <p:nvSpPr>
          <p:cNvPr id="10" name="Shape 8"/>
          <p:cNvSpPr/>
          <p:nvPr/>
        </p:nvSpPr>
        <p:spPr>
          <a:xfrm>
            <a:off x="548640" y="3443249"/>
            <a:ext cx="11094415" cy="593039"/>
          </a:xfrm>
          <a:prstGeom prst="roundRect">
            <a:avLst>
              <a:gd name="adj" fmla="val 10793"/>
            </a:avLst>
          </a:prstGeom>
          <a:solidFill>
            <a:srgbClr val="EAF0FD"/>
          </a:solidFill>
          <a:ln/>
        </p:spPr>
      </p:sp>
      <p:sp>
        <p:nvSpPr>
          <p:cNvPr id="11" name="Text 9"/>
          <p:cNvSpPr txBox="1"/>
          <p:nvPr/>
        </p:nvSpPr>
        <p:spPr>
          <a:xfrm>
            <a:off x="704088" y="3516401"/>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1D4ED8"/>
                </a:solidFill>
                <a:latin typeface="Calibri" pitchFamily="34" charset="0"/>
                <a:ea typeface="Calibri" pitchFamily="34" charset="-122"/>
                <a:cs typeface="Calibri" pitchFamily="34" charset="-120"/>
              </a:rPr>
              <a:t>hypochondriasis (G) (hipokondriyazis): </a:t>
            </a:r>
            <a:r>
              <a:rPr lang="en-US" sz="1300" dirty="0">
                <a:solidFill>
                  <a:srgbClr val="1F2937"/>
                </a:solidFill>
                <a:latin typeface="Calibri" pitchFamily="34" charset="0"/>
                <a:ea typeface="Calibri" pitchFamily="34" charset="-122"/>
                <a:cs typeface="Calibri" pitchFamily="34" charset="-120"/>
              </a:rPr>
              <a:t>Hastalık hastalığı. Kişinin sürekli bir biçimde sağlığı hakkında aşırı kaygılanması, kendinde gerçekte olmayan hastalıklar görmesi ile belirgin ağır bir psikonevroz türüdür.</a:t>
            </a:r>
            <a:endParaRPr lang="en-US" sz="1300" dirty="0"/>
          </a:p>
        </p:txBody>
      </p:sp>
      <p:sp>
        <p:nvSpPr>
          <p:cNvPr id="12" name="Shape 10"/>
          <p:cNvSpPr/>
          <p:nvPr/>
        </p:nvSpPr>
        <p:spPr>
          <a:xfrm>
            <a:off x="548640" y="4127729"/>
            <a:ext cx="11094415" cy="593039"/>
          </a:xfrm>
          <a:prstGeom prst="roundRect">
            <a:avLst>
              <a:gd name="adj" fmla="val 10793"/>
            </a:avLst>
          </a:prstGeom>
          <a:solidFill>
            <a:srgbClr val="EAF0FD"/>
          </a:solidFill>
          <a:ln/>
        </p:spPr>
      </p:sp>
      <p:sp>
        <p:nvSpPr>
          <p:cNvPr id="13" name="Text 11"/>
          <p:cNvSpPr txBox="1"/>
          <p:nvPr/>
        </p:nvSpPr>
        <p:spPr>
          <a:xfrm>
            <a:off x="704088" y="4200881"/>
            <a:ext cx="10783519" cy="446735"/>
          </a:xfrm>
          <a:prstGeom prst="rect">
            <a:avLst/>
          </a:prstGeom>
          <a:noFill/>
          <a:ln/>
        </p:spPr>
        <p:txBody>
          <a:bodyPr wrap="square" lIns="0" tIns="0" rIns="0" bIns="0" rtlCol="0" anchor="t"/>
          <a:lstStyle/>
          <a:p>
            <a:pPr marL="0" indent="0">
              <a:lnSpc>
                <a:spcPct val="105000"/>
              </a:lnSpc>
              <a:buNone/>
            </a:pPr>
            <a:r>
              <a:rPr lang="en-US" sz="1300" b="1" dirty="0">
                <a:solidFill>
                  <a:srgbClr val="1D4ED8"/>
                </a:solidFill>
                <a:latin typeface="Calibri" pitchFamily="34" charset="0"/>
                <a:ea typeface="Calibri" pitchFamily="34" charset="-122"/>
                <a:cs typeface="Calibri" pitchFamily="34" charset="-120"/>
              </a:rPr>
              <a:t>conversion (L) (konversiyon): </a:t>
            </a:r>
            <a:r>
              <a:rPr lang="en-US" sz="1300" dirty="0">
                <a:solidFill>
                  <a:srgbClr val="1F2937"/>
                </a:solidFill>
                <a:latin typeface="Calibri" pitchFamily="34" charset="0"/>
                <a:ea typeface="Calibri" pitchFamily="34" charset="-122"/>
                <a:cs typeface="Calibri" pitchFamily="34" charset="-120"/>
              </a:rPr>
              <a:t>Kişinin iç dünyasındaki bir çatışmayı simgesel biçimde dışa vurmasına yol açan, bedeninde ortaya çıkan duygusal veya hareketsel işlevlerinde bozulmadır (dönüşme, değişme, çevrilme).</a:t>
            </a:r>
            <a:endParaRPr lang="en-US" sz="1300" dirty="0"/>
          </a:p>
        </p:txBody>
      </p:sp>
      <p:sp>
        <p:nvSpPr>
          <p:cNvPr id="14" name="Shape 12"/>
          <p:cNvSpPr/>
          <p:nvPr/>
        </p:nvSpPr>
        <p:spPr>
          <a:xfrm>
            <a:off x="548640" y="4812208"/>
            <a:ext cx="11094415" cy="794461"/>
          </a:xfrm>
          <a:prstGeom prst="roundRect">
            <a:avLst>
              <a:gd name="adj" fmla="val 8057"/>
            </a:avLst>
          </a:prstGeom>
          <a:solidFill>
            <a:srgbClr val="EAF0FD"/>
          </a:solidFill>
          <a:ln/>
        </p:spPr>
      </p:sp>
      <p:sp>
        <p:nvSpPr>
          <p:cNvPr id="15" name="Text 13"/>
          <p:cNvSpPr txBox="1"/>
          <p:nvPr/>
        </p:nvSpPr>
        <p:spPr>
          <a:xfrm>
            <a:off x="704088" y="4885360"/>
            <a:ext cx="10783519" cy="648157"/>
          </a:xfrm>
          <a:prstGeom prst="rect">
            <a:avLst/>
          </a:prstGeom>
          <a:noFill/>
          <a:ln/>
        </p:spPr>
        <p:txBody>
          <a:bodyPr wrap="square" lIns="0" tIns="0" rIns="0" bIns="0" rtlCol="0" anchor="t"/>
          <a:lstStyle/>
          <a:p>
            <a:pPr marL="0" indent="0">
              <a:lnSpc>
                <a:spcPct val="105000"/>
              </a:lnSpc>
              <a:buNone/>
            </a:pPr>
            <a:r>
              <a:rPr lang="en-US" sz="1300" b="1" dirty="0">
                <a:solidFill>
                  <a:srgbClr val="1D4ED8"/>
                </a:solidFill>
                <a:latin typeface="Calibri" pitchFamily="34" charset="0"/>
                <a:ea typeface="Calibri" pitchFamily="34" charset="-122"/>
                <a:cs typeface="Calibri" pitchFamily="34" charset="-120"/>
              </a:rPr>
              <a:t>depression (L) (depresyon): </a:t>
            </a:r>
            <a:r>
              <a:rPr lang="en-US" sz="1300" dirty="0">
                <a:solidFill>
                  <a:srgbClr val="1F2937"/>
                </a:solidFill>
                <a:latin typeface="Calibri" pitchFamily="34" charset="0"/>
                <a:ea typeface="Calibri" pitchFamily="34" charset="-122"/>
                <a:cs typeface="Calibri" pitchFamily="34" charset="-120"/>
              </a:rPr>
              <a:t>Ruhsal çöküntü. Üzüntü ve enerji azalması, yorgunluk ve umutsuzluk belirtilerinin yanı sıra kişinin benlik saygısının azalması  ve suçluluk duygularının görüldüğü, ileri şekillerinde psikotik (ruhsal) düşünce bozukluklarının ve intiharların tabloya eklendiği bir duygu durum bozukluğudur.</a:t>
            </a:r>
            <a:endParaRPr lang="en-US" sz="13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296</a:t>
            </a:r>
            <a:endParaRPr lang="en-US" sz="1000" dirty="0"/>
          </a:p>
        </p:txBody>
      </p:sp>
      <p:sp>
        <p:nvSpPr>
          <p:cNvPr id="6" name="Shape 4"/>
          <p:cNvSpPr/>
          <p:nvPr/>
        </p:nvSpPr>
        <p:spPr>
          <a:xfrm>
            <a:off x="548640" y="2020595"/>
            <a:ext cx="11094415" cy="775513"/>
          </a:xfrm>
          <a:prstGeom prst="roundRect">
            <a:avLst>
              <a:gd name="adj" fmla="val 8254"/>
            </a:avLst>
          </a:prstGeom>
          <a:solidFill>
            <a:srgbClr val="EAF0FD"/>
          </a:solidFill>
          <a:ln/>
        </p:spPr>
      </p:sp>
      <p:sp>
        <p:nvSpPr>
          <p:cNvPr id="7" name="Text 5"/>
          <p:cNvSpPr txBox="1"/>
          <p:nvPr/>
        </p:nvSpPr>
        <p:spPr>
          <a:xfrm>
            <a:off x="704088" y="2093747"/>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mania (L) (mani): </a:t>
            </a:r>
            <a:r>
              <a:rPr lang="en-US" sz="1700" dirty="0">
                <a:solidFill>
                  <a:srgbClr val="1F2937"/>
                </a:solidFill>
                <a:latin typeface="Calibri" pitchFamily="34" charset="0"/>
                <a:ea typeface="Calibri" pitchFamily="34" charset="-122"/>
                <a:cs typeface="Calibri" pitchFamily="34" charset="-120"/>
              </a:rPr>
              <a:t>Aşırı neşelenme, hareketlerde ve enerjide artış, gerçeği değerlendirme yetisinde bozulma gibi, belirtilerle seyreden depresyonun karşırı ir duygu durum bozukluğudur.</a:t>
            </a:r>
            <a:endParaRPr lang="en-US" sz="1700" dirty="0"/>
          </a:p>
        </p:txBody>
      </p:sp>
      <p:sp>
        <p:nvSpPr>
          <p:cNvPr id="8" name="Shape 6"/>
          <p:cNvSpPr/>
          <p:nvPr/>
        </p:nvSpPr>
        <p:spPr>
          <a:xfrm>
            <a:off x="548640" y="2887548"/>
            <a:ext cx="11094415" cy="775513"/>
          </a:xfrm>
          <a:prstGeom prst="roundRect">
            <a:avLst>
              <a:gd name="adj" fmla="val 8254"/>
            </a:avLst>
          </a:prstGeom>
          <a:solidFill>
            <a:srgbClr val="EAF0FD"/>
          </a:solidFill>
          <a:ln/>
        </p:spPr>
      </p:sp>
      <p:sp>
        <p:nvSpPr>
          <p:cNvPr id="9" name="Text 7"/>
          <p:cNvSpPr txBox="1"/>
          <p:nvPr/>
        </p:nvSpPr>
        <p:spPr>
          <a:xfrm>
            <a:off x="704088" y="2960700"/>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schizophrenia (G) (şizofreni): </a:t>
            </a:r>
            <a:r>
              <a:rPr lang="en-US" sz="1700" dirty="0">
                <a:solidFill>
                  <a:srgbClr val="1F2937"/>
                </a:solidFill>
                <a:latin typeface="Calibri" pitchFamily="34" charset="0"/>
                <a:ea typeface="Calibri" pitchFamily="34" charset="-122"/>
                <a:cs typeface="Calibri" pitchFamily="34" charset="-120"/>
              </a:rPr>
              <a:t>Ruhsal işlevlerin hemen tamamının büyük ölçüde hasara uğradığı, daha kesin nedeni ve tedavisi bulunamamış olan ağır bir psikotik hastalık</a:t>
            </a:r>
            <a:endParaRPr lang="en-US" sz="1700" dirty="0"/>
          </a:p>
        </p:txBody>
      </p:sp>
      <p:sp>
        <p:nvSpPr>
          <p:cNvPr id="10" name="Shape 8"/>
          <p:cNvSpPr/>
          <p:nvPr/>
        </p:nvSpPr>
        <p:spPr>
          <a:xfrm>
            <a:off x="548640" y="3754501"/>
            <a:ext cx="11094415" cy="775513"/>
          </a:xfrm>
          <a:prstGeom prst="roundRect">
            <a:avLst>
              <a:gd name="adj" fmla="val 8254"/>
            </a:avLst>
          </a:prstGeom>
          <a:solidFill>
            <a:srgbClr val="EAF0FD"/>
          </a:solidFill>
          <a:ln/>
        </p:spPr>
      </p:sp>
      <p:sp>
        <p:nvSpPr>
          <p:cNvPr id="11" name="Text 9"/>
          <p:cNvSpPr txBox="1"/>
          <p:nvPr/>
        </p:nvSpPr>
        <p:spPr>
          <a:xfrm>
            <a:off x="704088" y="3827653"/>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psychosis (G) (psikoz): </a:t>
            </a:r>
            <a:r>
              <a:rPr lang="en-US" sz="1700" dirty="0">
                <a:solidFill>
                  <a:srgbClr val="1F2937"/>
                </a:solidFill>
                <a:latin typeface="Calibri" pitchFamily="34" charset="0"/>
                <a:ea typeface="Calibri" pitchFamily="34" charset="-122"/>
                <a:cs typeface="Calibri" pitchFamily="34" charset="-120"/>
              </a:rPr>
              <a:t>Hastanın gerçeği değerlendirmesinde, düşünce içeriğinde, duygulanım, algılama ve davranışlarda ileri derecede bozulmalar yapan ağır ruhsal hastalıklara verilen genel addır.</a:t>
            </a:r>
            <a:endParaRPr lang="en-US" sz="1700" dirty="0"/>
          </a:p>
        </p:txBody>
      </p:sp>
      <p:sp>
        <p:nvSpPr>
          <p:cNvPr id="12" name="Shape 10"/>
          <p:cNvSpPr/>
          <p:nvPr/>
        </p:nvSpPr>
        <p:spPr>
          <a:xfrm>
            <a:off x="548640" y="4621454"/>
            <a:ext cx="11094415" cy="1038911"/>
          </a:xfrm>
          <a:prstGeom prst="roundRect">
            <a:avLst>
              <a:gd name="adj" fmla="val 6161"/>
            </a:avLst>
          </a:prstGeom>
          <a:solidFill>
            <a:srgbClr val="EAF0FD"/>
          </a:solidFill>
          <a:ln/>
        </p:spPr>
      </p:sp>
      <p:sp>
        <p:nvSpPr>
          <p:cNvPr id="13" name="Text 11"/>
          <p:cNvSpPr txBox="1"/>
          <p:nvPr/>
        </p:nvSpPr>
        <p:spPr>
          <a:xfrm>
            <a:off x="704088" y="4694606"/>
            <a:ext cx="10783519" cy="892607"/>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psychoneurosis (G) (psikonevroz): </a:t>
            </a:r>
            <a:r>
              <a:rPr lang="en-US" sz="1700" dirty="0">
                <a:solidFill>
                  <a:srgbClr val="1F2937"/>
                </a:solidFill>
                <a:latin typeface="Calibri" pitchFamily="34" charset="0"/>
                <a:ea typeface="Calibri" pitchFamily="34" charset="-122"/>
                <a:cs typeface="Calibri" pitchFamily="34" charset="-120"/>
              </a:rPr>
              <a:t>Hastaların gerçeği değerlendirmesinin ileri derecede bozulmadığı, yaşama sınırı da olsa uyum gösterebildiği anksiyete, obesif-kompülsif bozukluk ve  fobik (yersiz korku) bozukluk gibi psikiyatrik rahatsızlıklara verilen genel addır.</a:t>
            </a:r>
            <a:endParaRPr lang="en-US" sz="17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Yöntemleri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297</a:t>
            </a:r>
            <a:endParaRPr lang="en-US" sz="1000" dirty="0"/>
          </a:p>
        </p:txBody>
      </p:sp>
      <p:sp>
        <p:nvSpPr>
          <p:cNvPr id="6" name="Shape 4"/>
          <p:cNvSpPr/>
          <p:nvPr/>
        </p:nvSpPr>
        <p:spPr>
          <a:xfrm>
            <a:off x="548640" y="1467917"/>
            <a:ext cx="11094415" cy="729894"/>
          </a:xfrm>
          <a:prstGeom prst="roundRect">
            <a:avLst>
              <a:gd name="adj" fmla="val 8769"/>
            </a:avLst>
          </a:prstGeom>
          <a:solidFill>
            <a:srgbClr val="EAF0FD"/>
          </a:solidFill>
          <a:ln/>
        </p:spPr>
      </p:sp>
      <p:sp>
        <p:nvSpPr>
          <p:cNvPr id="7" name="Text 5"/>
          <p:cNvSpPr txBox="1"/>
          <p:nvPr/>
        </p:nvSpPr>
        <p:spPr>
          <a:xfrm>
            <a:off x="704088" y="1541069"/>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Lumbal Puncture (LP) (lumbal ponksiyon): </a:t>
            </a:r>
            <a:r>
              <a:rPr lang="en-US" sz="1600" dirty="0">
                <a:solidFill>
                  <a:srgbClr val="1F2937"/>
                </a:solidFill>
                <a:latin typeface="Calibri" pitchFamily="34" charset="0"/>
                <a:ea typeface="Calibri" pitchFamily="34" charset="-122"/>
                <a:cs typeface="Calibri" pitchFamily="34" charset="-120"/>
              </a:rPr>
              <a:t>3-4 veya 4-5 lumbal vertebralar arasından subaraknoid aralığa girilerek sıvı alınması veya radyoopak madde verilmesidir.</a:t>
            </a:r>
            <a:endParaRPr lang="en-US" sz="1600" dirty="0"/>
          </a:p>
        </p:txBody>
      </p:sp>
      <p:sp>
        <p:nvSpPr>
          <p:cNvPr id="8" name="Shape 6"/>
          <p:cNvSpPr/>
          <p:nvPr/>
        </p:nvSpPr>
        <p:spPr>
          <a:xfrm>
            <a:off x="548640" y="2294128"/>
            <a:ext cx="11094415" cy="729894"/>
          </a:xfrm>
          <a:prstGeom prst="roundRect">
            <a:avLst>
              <a:gd name="adj" fmla="val 8769"/>
            </a:avLst>
          </a:prstGeom>
          <a:solidFill>
            <a:srgbClr val="EAF0FD"/>
          </a:solidFill>
          <a:ln/>
        </p:spPr>
      </p:sp>
      <p:sp>
        <p:nvSpPr>
          <p:cNvPr id="9" name="Text 7"/>
          <p:cNvSpPr txBox="1"/>
          <p:nvPr/>
        </p:nvSpPr>
        <p:spPr>
          <a:xfrm>
            <a:off x="704088" y="2367280"/>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Electroencephalography (EEG): </a:t>
            </a:r>
            <a:r>
              <a:rPr lang="en-US" sz="1600" dirty="0">
                <a:solidFill>
                  <a:srgbClr val="1F2937"/>
                </a:solidFill>
                <a:latin typeface="Calibri" pitchFamily="34" charset="0"/>
                <a:ea typeface="Calibri" pitchFamily="34" charset="-122"/>
                <a:cs typeface="Calibri" pitchFamily="34" charset="-120"/>
              </a:rPr>
              <a:t>Elektroensefalografi. Beyin elektriksel faaliyetlerini özel cihazla ölçme yöntemidir.</a:t>
            </a:r>
            <a:endParaRPr lang="en-US" sz="1600" dirty="0"/>
          </a:p>
        </p:txBody>
      </p:sp>
      <p:sp>
        <p:nvSpPr>
          <p:cNvPr id="10" name="Shape 8"/>
          <p:cNvSpPr/>
          <p:nvPr/>
        </p:nvSpPr>
        <p:spPr>
          <a:xfrm>
            <a:off x="548640" y="3115462"/>
            <a:ext cx="11094415" cy="729894"/>
          </a:xfrm>
          <a:prstGeom prst="roundRect">
            <a:avLst>
              <a:gd name="adj" fmla="val 8769"/>
            </a:avLst>
          </a:prstGeom>
          <a:solidFill>
            <a:srgbClr val="EAF0FD"/>
          </a:solidFill>
          <a:ln/>
        </p:spPr>
      </p:sp>
      <p:sp>
        <p:nvSpPr>
          <p:cNvPr id="11" name="Text 9"/>
          <p:cNvSpPr txBox="1"/>
          <p:nvPr/>
        </p:nvSpPr>
        <p:spPr>
          <a:xfrm>
            <a:off x="704088" y="3188614"/>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myelography (G) (miyelografi): </a:t>
            </a:r>
            <a:r>
              <a:rPr lang="en-US" sz="1600" dirty="0">
                <a:solidFill>
                  <a:srgbClr val="1F2937"/>
                </a:solidFill>
                <a:latin typeface="Calibri" pitchFamily="34" charset="0"/>
                <a:ea typeface="Calibri" pitchFamily="34" charset="-122"/>
                <a:cs typeface="Calibri" pitchFamily="34" charset="-120"/>
              </a:rPr>
              <a:t>Bel bölgesinden subaraknoid aralığa kontrast madde verilerek omurilik filminin çekilmesidir.</a:t>
            </a:r>
            <a:endParaRPr lang="en-US" sz="1600" dirty="0"/>
          </a:p>
        </p:txBody>
      </p:sp>
      <p:sp>
        <p:nvSpPr>
          <p:cNvPr id="12" name="Shape 10"/>
          <p:cNvSpPr/>
          <p:nvPr/>
        </p:nvSpPr>
        <p:spPr>
          <a:xfrm>
            <a:off x="548640" y="3936797"/>
            <a:ext cx="11094415" cy="729894"/>
          </a:xfrm>
          <a:prstGeom prst="roundRect">
            <a:avLst>
              <a:gd name="adj" fmla="val 8769"/>
            </a:avLst>
          </a:prstGeom>
          <a:solidFill>
            <a:srgbClr val="EAF0FD"/>
          </a:solidFill>
          <a:ln/>
        </p:spPr>
      </p:sp>
      <p:sp>
        <p:nvSpPr>
          <p:cNvPr id="13" name="Text 11"/>
          <p:cNvSpPr txBox="1"/>
          <p:nvPr/>
        </p:nvSpPr>
        <p:spPr>
          <a:xfrm>
            <a:off x="704088" y="4009949"/>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elektromyography (G) (elektromiyografi-EMG): </a:t>
            </a:r>
            <a:r>
              <a:rPr lang="en-US" sz="1600" dirty="0">
                <a:solidFill>
                  <a:srgbClr val="1F2937"/>
                </a:solidFill>
                <a:latin typeface="Calibri" pitchFamily="34" charset="0"/>
                <a:ea typeface="Calibri" pitchFamily="34" charset="-122"/>
                <a:cs typeface="Calibri" pitchFamily="34" charset="-120"/>
              </a:rPr>
              <a:t>Elektrotlardan yararlanılarak kasların elektriksel potansiyelinin ölçülmesidir.</a:t>
            </a:r>
            <a:endParaRPr lang="en-US" sz="1600" dirty="0"/>
          </a:p>
        </p:txBody>
      </p:sp>
      <p:sp>
        <p:nvSpPr>
          <p:cNvPr id="14" name="Shape 12"/>
          <p:cNvSpPr/>
          <p:nvPr/>
        </p:nvSpPr>
        <p:spPr>
          <a:xfrm>
            <a:off x="548640" y="4758131"/>
            <a:ext cx="11094415" cy="729894"/>
          </a:xfrm>
          <a:prstGeom prst="roundRect">
            <a:avLst>
              <a:gd name="adj" fmla="val 8769"/>
            </a:avLst>
          </a:prstGeom>
          <a:solidFill>
            <a:srgbClr val="EAF0FD"/>
          </a:solidFill>
          <a:ln/>
        </p:spPr>
      </p:sp>
      <p:sp>
        <p:nvSpPr>
          <p:cNvPr id="15" name="Text 13"/>
          <p:cNvSpPr txBox="1"/>
          <p:nvPr/>
        </p:nvSpPr>
        <p:spPr>
          <a:xfrm>
            <a:off x="704088" y="483128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Bilgisayarlı Tomografi (BT): </a:t>
            </a:r>
            <a:r>
              <a:rPr lang="en-US" sz="1600" dirty="0">
                <a:solidFill>
                  <a:srgbClr val="1F2937"/>
                </a:solidFill>
                <a:latin typeface="Calibri" pitchFamily="34" charset="0"/>
                <a:ea typeface="Calibri" pitchFamily="34" charset="-122"/>
                <a:cs typeface="Calibri" pitchFamily="34" charset="-120"/>
              </a:rPr>
              <a:t>Seri kesitlerle röntgen (X) ışınları kullanılarak yapılan radyolojik görüntüleme yöntem</a:t>
            </a:r>
            <a:endParaRPr lang="en-US" sz="1600" dirty="0"/>
          </a:p>
        </p:txBody>
      </p:sp>
      <p:sp>
        <p:nvSpPr>
          <p:cNvPr id="16" name="Shape 14"/>
          <p:cNvSpPr/>
          <p:nvPr/>
        </p:nvSpPr>
        <p:spPr>
          <a:xfrm>
            <a:off x="548640" y="5579466"/>
            <a:ext cx="11094415" cy="729894"/>
          </a:xfrm>
          <a:prstGeom prst="roundRect">
            <a:avLst>
              <a:gd name="adj" fmla="val 8769"/>
            </a:avLst>
          </a:prstGeom>
          <a:solidFill>
            <a:srgbClr val="EAF0FD"/>
          </a:solidFill>
          <a:ln/>
        </p:spPr>
      </p:sp>
      <p:sp>
        <p:nvSpPr>
          <p:cNvPr id="17" name="Text 15"/>
          <p:cNvSpPr txBox="1"/>
          <p:nvPr/>
        </p:nvSpPr>
        <p:spPr>
          <a:xfrm>
            <a:off x="704088" y="56526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1D4ED8"/>
                </a:solidFill>
                <a:latin typeface="Calibri" pitchFamily="34" charset="0"/>
                <a:ea typeface="Calibri" pitchFamily="34" charset="-122"/>
                <a:cs typeface="Calibri" pitchFamily="34" charset="-120"/>
              </a:rPr>
              <a:t>Magnetik Rezonans (MR): </a:t>
            </a:r>
            <a:r>
              <a:rPr lang="en-US" sz="1600" dirty="0">
                <a:solidFill>
                  <a:srgbClr val="1F2937"/>
                </a:solidFill>
                <a:latin typeface="Calibri" pitchFamily="34" charset="0"/>
                <a:ea typeface="Calibri" pitchFamily="34" charset="-122"/>
                <a:cs typeface="Calibri" pitchFamily="34" charset="-120"/>
              </a:rPr>
              <a:t>Magnetik dalgaları kullanarak seri kesitler halinde yapılan radyolojik görüntüleme yöntemi</a:t>
            </a:r>
            <a:endParaRPr lang="en-US" sz="16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spTree>
      <p:nvGrpSpPr>
        <p:cNvPr id="1" name=""/>
        <p:cNvGrpSpPr/>
        <p:nvPr/>
      </p:nvGrpSpPr>
      <p:grpSpPr>
        <a:xfrm>
          <a:off x="0" y="0"/>
          <a:ext cx="0" cy="0"/>
          <a:chOff x="0" y="0"/>
          <a:chExt cx="0" cy="0"/>
        </a:xfrm>
      </p:grpSpPr>
      <p:sp>
        <p:nvSpPr>
          <p:cNvPr id="2" name="Shape 0"/>
          <p:cNvSpPr/>
          <p:nvPr/>
        </p:nvSpPr>
        <p:spPr>
          <a:xfrm>
            <a:off x="548640" y="384048"/>
            <a:ext cx="8138160" cy="310896"/>
          </a:xfrm>
          <a:prstGeom prst="roundRect">
            <a:avLst>
              <a:gd name="adj" fmla="val 50000"/>
            </a:avLst>
          </a:prstGeom>
          <a:solidFill>
            <a:srgbClr val="EAF0FD"/>
          </a:solidFill>
          <a:ln/>
        </p:spPr>
      </p:sp>
      <p:sp>
        <p:nvSpPr>
          <p:cNvPr id="3" name="Text 1"/>
          <p:cNvSpPr txBox="1"/>
          <p:nvPr/>
        </p:nvSpPr>
        <p:spPr>
          <a:xfrm>
            <a:off x="694944" y="384048"/>
            <a:ext cx="786384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Yöntemleri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298</a:t>
            </a:r>
            <a:endParaRPr lang="en-US" sz="1000" dirty="0"/>
          </a:p>
        </p:txBody>
      </p:sp>
      <p:sp>
        <p:nvSpPr>
          <p:cNvPr id="6" name="Shape 4"/>
          <p:cNvSpPr/>
          <p:nvPr/>
        </p:nvSpPr>
        <p:spPr>
          <a:xfrm>
            <a:off x="548640" y="2257806"/>
            <a:ext cx="11094415" cy="684276"/>
          </a:xfrm>
          <a:prstGeom prst="roundRect">
            <a:avLst>
              <a:gd name="adj" fmla="val 9354"/>
            </a:avLst>
          </a:prstGeom>
          <a:solidFill>
            <a:srgbClr val="EAF0FD"/>
          </a:solidFill>
          <a:ln/>
        </p:spPr>
      </p:sp>
      <p:sp>
        <p:nvSpPr>
          <p:cNvPr id="7" name="Text 5"/>
          <p:cNvSpPr txBox="1"/>
          <p:nvPr/>
        </p:nvSpPr>
        <p:spPr>
          <a:xfrm>
            <a:off x="704088" y="233095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Elektro Konvulsif Terapi (EKT): </a:t>
            </a:r>
            <a:r>
              <a:rPr lang="en-US" sz="1500" dirty="0">
                <a:solidFill>
                  <a:srgbClr val="1F2937"/>
                </a:solidFill>
                <a:latin typeface="Calibri" pitchFamily="34" charset="0"/>
                <a:ea typeface="Calibri" pitchFamily="34" charset="-122"/>
                <a:cs typeface="Calibri" pitchFamily="34" charset="-120"/>
              </a:rPr>
              <a:t>Özellikle ağır depresyonlar olmak üzere kimi psikiyatrik rahatsızlıklarda hastaların beyinlerinde suni elektrik deşarjları oluşturularak ortaya çıkan konvülsiyon nöbeti yoluyla yapılan tedavi</a:t>
            </a:r>
            <a:endParaRPr lang="en-US" sz="1500" dirty="0"/>
          </a:p>
        </p:txBody>
      </p:sp>
      <p:sp>
        <p:nvSpPr>
          <p:cNvPr id="8" name="Shape 6"/>
          <p:cNvSpPr/>
          <p:nvPr/>
        </p:nvSpPr>
        <p:spPr>
          <a:xfrm>
            <a:off x="548640" y="3033522"/>
            <a:ext cx="11094415" cy="1381506"/>
          </a:xfrm>
          <a:prstGeom prst="roundRect">
            <a:avLst>
              <a:gd name="adj" fmla="val 4633"/>
            </a:avLst>
          </a:prstGeom>
          <a:solidFill>
            <a:srgbClr val="EAF0FD"/>
          </a:solidFill>
          <a:ln/>
        </p:spPr>
      </p:sp>
      <p:sp>
        <p:nvSpPr>
          <p:cNvPr id="9" name="Text 7"/>
          <p:cNvSpPr txBox="1"/>
          <p:nvPr/>
        </p:nvSpPr>
        <p:spPr>
          <a:xfrm>
            <a:off x="704088" y="3106674"/>
            <a:ext cx="10783519" cy="123520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İntraoperatif Monitorizasyon (IOM): </a:t>
            </a:r>
            <a:r>
              <a:rPr lang="en-US" sz="1500" dirty="0">
                <a:solidFill>
                  <a:srgbClr val="1F2937"/>
                </a:solidFill>
                <a:latin typeface="Calibri" pitchFamily="34" charset="0"/>
                <a:ea typeface="Calibri" pitchFamily="34" charset="-122"/>
                <a:cs typeface="Calibri" pitchFamily="34" charset="-120"/>
              </a:rPr>
              <a:t>Ameliyat sırasında beyin omurilik, sinir kökleri ve refleks yollarının sürekli izlenmesi işlemidir. Bunun için ameliyat başlamadan saçlı deri, kaslar, sinirler üzerine elektrotlar yerleştirilir. Cerrahi işlem sırasında dokularda hasar oluşursa  ya da hastanın aşırı kan kaybetmesi veya kan basıncının düşmesi gibi durumlarda, sinir dokularından elde edilen yanıtlar bozulur. İntraoperatif monitorizasyon yapan nöroloji uzmanı hızla cerrahi ve anestezi uzmanını uyararak geri dönüşümsüz bir hasar oluşmadan anında tedbir alınmasını sağlar.</a:t>
            </a:r>
            <a:endParaRPr lang="en-US" sz="1500" dirty="0"/>
          </a:p>
        </p:txBody>
      </p:sp>
      <p:sp>
        <p:nvSpPr>
          <p:cNvPr id="10" name="Shape 8"/>
          <p:cNvSpPr/>
          <p:nvPr/>
        </p:nvSpPr>
        <p:spPr>
          <a:xfrm>
            <a:off x="548640" y="4506468"/>
            <a:ext cx="11094415" cy="916686"/>
          </a:xfrm>
          <a:prstGeom prst="roundRect">
            <a:avLst>
              <a:gd name="adj" fmla="val 6983"/>
            </a:avLst>
          </a:prstGeom>
          <a:solidFill>
            <a:srgbClr val="EAF0FD"/>
          </a:solidFill>
          <a:ln/>
        </p:spPr>
      </p:sp>
      <p:sp>
        <p:nvSpPr>
          <p:cNvPr id="11" name="Text 9"/>
          <p:cNvSpPr txBox="1"/>
          <p:nvPr/>
        </p:nvSpPr>
        <p:spPr>
          <a:xfrm>
            <a:off x="704088" y="4579620"/>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1D4ED8"/>
                </a:solidFill>
                <a:latin typeface="Calibri" pitchFamily="34" charset="0"/>
                <a:ea typeface="Calibri" pitchFamily="34" charset="-122"/>
                <a:cs typeface="Calibri" pitchFamily="34" charset="-120"/>
              </a:rPr>
              <a:t>Polysomnography (GLG) (polisomnografi): </a:t>
            </a:r>
            <a:r>
              <a:rPr lang="en-US" sz="1500" dirty="0">
                <a:solidFill>
                  <a:srgbClr val="1F2937"/>
                </a:solidFill>
                <a:latin typeface="Calibri" pitchFamily="34" charset="0"/>
                <a:ea typeface="Calibri" pitchFamily="34" charset="-122"/>
                <a:cs typeface="Calibri" pitchFamily="34" charset="-120"/>
              </a:rPr>
              <a:t>Gece normal uyku esnasında kafa, yüz ve vücut bölgelerine konulan sensörler yardımıyla beyin ve vücuttaki sistemlerin faaliyetlerinin kaydedilmesini içerir. Uyku merkezlerinde yapılır. Hastalar gece gelir ve tetkik gece uykusu sırasında yapılır.</a:t>
            </a:r>
            <a:endParaRPr lang="en-US" sz="15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spTree>
      <p:nvGrpSpPr>
        <p:cNvPr id="1" name=""/>
        <p:cNvGrpSpPr/>
        <p:nvPr/>
      </p:nvGrpSpPr>
      <p:grpSpPr>
        <a:xfrm>
          <a:off x="0" y="0"/>
          <a:ext cx="0" cy="0"/>
          <a:chOff x="0" y="0"/>
          <a:chExt cx="0" cy="0"/>
        </a:xfrm>
      </p:grpSpPr>
      <p:sp>
        <p:nvSpPr>
          <p:cNvPr id="2" name="Shape 0"/>
          <p:cNvSpPr/>
          <p:nvPr/>
        </p:nvSpPr>
        <p:spPr>
          <a:xfrm>
            <a:off x="548640" y="384048"/>
            <a:ext cx="6858000" cy="310896"/>
          </a:xfrm>
          <a:prstGeom prst="roundRect">
            <a:avLst>
              <a:gd name="adj" fmla="val 50000"/>
            </a:avLst>
          </a:prstGeom>
          <a:solidFill>
            <a:srgbClr val="EAF0FD"/>
          </a:solidFill>
          <a:ln/>
        </p:spPr>
      </p:sp>
      <p:sp>
        <p:nvSpPr>
          <p:cNvPr id="3" name="Text 1"/>
          <p:cNvSpPr txBox="1"/>
          <p:nvPr/>
        </p:nvSpPr>
        <p:spPr>
          <a:xfrm>
            <a:off x="694944" y="384048"/>
            <a:ext cx="6583680" cy="310896"/>
          </a:xfrm>
          <a:prstGeom prst="rect">
            <a:avLst/>
          </a:prstGeom>
          <a:noFill/>
          <a:ln/>
        </p:spPr>
        <p:txBody>
          <a:bodyPr wrap="square" lIns="0" tIns="0" rIns="0" bIns="0" rtlCol="0" anchor="ctr"/>
          <a:lstStyle/>
          <a:p>
            <a:pPr marL="0" indent="0">
              <a:buNone/>
            </a:pPr>
            <a:r>
              <a:rPr lang="en-US" sz="1000" b="1" kern="0" spc="60" dirty="0">
                <a:solidFill>
                  <a:srgbClr val="1D4ED8"/>
                </a:solidFill>
                <a:latin typeface="Calibri" pitchFamily="34" charset="0"/>
                <a:ea typeface="Calibri" pitchFamily="34" charset="-122"/>
                <a:cs typeface="Calibri" pitchFamily="34" charset="-120"/>
              </a:rPr>
              <a:t>BÖLÜM 12  ·  SİNİR SİSTEMİ VE PSİKİYATRİ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299</a:t>
            </a:r>
            <a:endParaRPr lang="en-US" sz="1000" dirty="0"/>
          </a:p>
        </p:txBody>
      </p:sp>
      <p:sp>
        <p:nvSpPr>
          <p:cNvPr id="6" name="Shape 4"/>
          <p:cNvSpPr/>
          <p:nvPr/>
        </p:nvSpPr>
        <p:spPr>
          <a:xfrm>
            <a:off x="548640" y="1657299"/>
            <a:ext cx="11094415" cy="512115"/>
          </a:xfrm>
          <a:prstGeom prst="roundRect">
            <a:avLst>
              <a:gd name="adj" fmla="val 12499"/>
            </a:avLst>
          </a:prstGeom>
          <a:solidFill>
            <a:srgbClr val="EAF0FD"/>
          </a:solidFill>
          <a:ln/>
        </p:spPr>
      </p:sp>
      <p:sp>
        <p:nvSpPr>
          <p:cNvPr id="7" name="Text 5"/>
          <p:cNvSpPr txBox="1"/>
          <p:nvPr/>
        </p:nvSpPr>
        <p:spPr>
          <a:xfrm>
            <a:off x="704088" y="1730451"/>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craniotomy (LG) (kraniyotomi): </a:t>
            </a:r>
            <a:r>
              <a:rPr lang="en-US" sz="1700" dirty="0">
                <a:solidFill>
                  <a:srgbClr val="1F2937"/>
                </a:solidFill>
                <a:latin typeface="Calibri" pitchFamily="34" charset="0"/>
                <a:ea typeface="Calibri" pitchFamily="34" charset="-122"/>
                <a:cs typeface="Calibri" pitchFamily="34" charset="-120"/>
              </a:rPr>
              <a:t>Kafatasının açılması</a:t>
            </a:r>
            <a:endParaRPr lang="en-US" sz="1700" dirty="0"/>
          </a:p>
        </p:txBody>
      </p:sp>
      <p:sp>
        <p:nvSpPr>
          <p:cNvPr id="8" name="Shape 6"/>
          <p:cNvSpPr/>
          <p:nvPr/>
        </p:nvSpPr>
        <p:spPr>
          <a:xfrm>
            <a:off x="548640" y="2260854"/>
            <a:ext cx="11094415" cy="512115"/>
          </a:xfrm>
          <a:prstGeom prst="roundRect">
            <a:avLst>
              <a:gd name="adj" fmla="val 12499"/>
            </a:avLst>
          </a:prstGeom>
          <a:solidFill>
            <a:srgbClr val="EAF0FD"/>
          </a:solidFill>
          <a:ln/>
        </p:spPr>
      </p:sp>
      <p:sp>
        <p:nvSpPr>
          <p:cNvPr id="9" name="Text 7"/>
          <p:cNvSpPr txBox="1"/>
          <p:nvPr/>
        </p:nvSpPr>
        <p:spPr>
          <a:xfrm>
            <a:off x="704088" y="2334006"/>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ganglionectomy (G) (gangliyonektomi): </a:t>
            </a:r>
            <a:r>
              <a:rPr lang="en-US" sz="1700" dirty="0">
                <a:solidFill>
                  <a:srgbClr val="1F2937"/>
                </a:solidFill>
                <a:latin typeface="Calibri" pitchFamily="34" charset="0"/>
                <a:ea typeface="Calibri" pitchFamily="34" charset="-122"/>
                <a:cs typeface="Calibri" pitchFamily="34" charset="-120"/>
              </a:rPr>
              <a:t>Gangliyonun ameliyatla alınması</a:t>
            </a:r>
            <a:endParaRPr lang="en-US" sz="1700" dirty="0"/>
          </a:p>
        </p:txBody>
      </p:sp>
      <p:sp>
        <p:nvSpPr>
          <p:cNvPr id="10" name="Shape 8"/>
          <p:cNvSpPr/>
          <p:nvPr/>
        </p:nvSpPr>
        <p:spPr>
          <a:xfrm>
            <a:off x="548640" y="2864409"/>
            <a:ext cx="11094415" cy="512115"/>
          </a:xfrm>
          <a:prstGeom prst="roundRect">
            <a:avLst>
              <a:gd name="adj" fmla="val 12499"/>
            </a:avLst>
          </a:prstGeom>
          <a:solidFill>
            <a:srgbClr val="EAF0FD"/>
          </a:solidFill>
          <a:ln/>
        </p:spPr>
      </p:sp>
      <p:sp>
        <p:nvSpPr>
          <p:cNvPr id="11" name="Text 9"/>
          <p:cNvSpPr txBox="1"/>
          <p:nvPr/>
        </p:nvSpPr>
        <p:spPr>
          <a:xfrm>
            <a:off x="704088" y="2937561"/>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neurotomy (G) (nörotomi): </a:t>
            </a:r>
            <a:r>
              <a:rPr lang="en-US" sz="1700" dirty="0">
                <a:solidFill>
                  <a:srgbClr val="1F2937"/>
                </a:solidFill>
                <a:latin typeface="Calibri" pitchFamily="34" charset="0"/>
                <a:ea typeface="Calibri" pitchFamily="34" charset="-122"/>
                <a:cs typeface="Calibri" pitchFamily="34" charset="-120"/>
              </a:rPr>
              <a:t>Sinirin kesilmesi</a:t>
            </a:r>
            <a:endParaRPr lang="en-US" sz="1700" dirty="0"/>
          </a:p>
        </p:txBody>
      </p:sp>
      <p:sp>
        <p:nvSpPr>
          <p:cNvPr id="12" name="Shape 10"/>
          <p:cNvSpPr/>
          <p:nvPr/>
        </p:nvSpPr>
        <p:spPr>
          <a:xfrm>
            <a:off x="548640" y="3467964"/>
            <a:ext cx="11094415" cy="512115"/>
          </a:xfrm>
          <a:prstGeom prst="roundRect">
            <a:avLst>
              <a:gd name="adj" fmla="val 12499"/>
            </a:avLst>
          </a:prstGeom>
          <a:solidFill>
            <a:srgbClr val="EAF0FD"/>
          </a:solidFill>
          <a:ln/>
        </p:spPr>
      </p:sp>
      <p:sp>
        <p:nvSpPr>
          <p:cNvPr id="13" name="Text 11"/>
          <p:cNvSpPr txBox="1"/>
          <p:nvPr/>
        </p:nvSpPr>
        <p:spPr>
          <a:xfrm>
            <a:off x="704088" y="3541116"/>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neurorrhaphia (G) (nörorafi): </a:t>
            </a:r>
            <a:r>
              <a:rPr lang="en-US" sz="1700" dirty="0">
                <a:solidFill>
                  <a:srgbClr val="1F2937"/>
                </a:solidFill>
                <a:latin typeface="Calibri" pitchFamily="34" charset="0"/>
                <a:ea typeface="Calibri" pitchFamily="34" charset="-122"/>
                <a:cs typeface="Calibri" pitchFamily="34" charset="-120"/>
              </a:rPr>
              <a:t>Kesik sinirin dikilmesi</a:t>
            </a:r>
            <a:endParaRPr lang="en-US" sz="1700" dirty="0"/>
          </a:p>
        </p:txBody>
      </p:sp>
      <p:sp>
        <p:nvSpPr>
          <p:cNvPr id="14" name="Shape 12"/>
          <p:cNvSpPr/>
          <p:nvPr/>
        </p:nvSpPr>
        <p:spPr>
          <a:xfrm>
            <a:off x="548640" y="4071518"/>
            <a:ext cx="11094415" cy="775513"/>
          </a:xfrm>
          <a:prstGeom prst="roundRect">
            <a:avLst>
              <a:gd name="adj" fmla="val 8254"/>
            </a:avLst>
          </a:prstGeom>
          <a:solidFill>
            <a:srgbClr val="EAF0FD"/>
          </a:solidFill>
          <a:ln/>
        </p:spPr>
      </p:sp>
      <p:sp>
        <p:nvSpPr>
          <p:cNvPr id="15" name="Text 13"/>
          <p:cNvSpPr txBox="1"/>
          <p:nvPr/>
        </p:nvSpPr>
        <p:spPr>
          <a:xfrm>
            <a:off x="704088" y="4144670"/>
            <a:ext cx="10783519" cy="629209"/>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neurolysis (G) (nöroliz): </a:t>
            </a:r>
            <a:r>
              <a:rPr lang="en-US" sz="1700" dirty="0">
                <a:solidFill>
                  <a:srgbClr val="1F2937"/>
                </a:solidFill>
                <a:latin typeface="Calibri" pitchFamily="34" charset="0"/>
                <a:ea typeface="Calibri" pitchFamily="34" charset="-122"/>
                <a:cs typeface="Calibri" pitchFamily="34" charset="-120"/>
              </a:rPr>
              <a:t>Travma ya da iltihabi nedenle çevre dokulara yapışan bir sinirin cerrahi girişimle serbest duruma getirilmesi</a:t>
            </a:r>
            <a:endParaRPr lang="en-US" sz="1700" dirty="0"/>
          </a:p>
        </p:txBody>
      </p:sp>
      <p:sp>
        <p:nvSpPr>
          <p:cNvPr id="16" name="Shape 14"/>
          <p:cNvSpPr/>
          <p:nvPr/>
        </p:nvSpPr>
        <p:spPr>
          <a:xfrm>
            <a:off x="548640" y="4938471"/>
            <a:ext cx="11094415" cy="512115"/>
          </a:xfrm>
          <a:prstGeom prst="roundRect">
            <a:avLst>
              <a:gd name="adj" fmla="val 12499"/>
            </a:avLst>
          </a:prstGeom>
          <a:solidFill>
            <a:srgbClr val="EAF0FD"/>
          </a:solidFill>
          <a:ln/>
        </p:spPr>
      </p:sp>
      <p:sp>
        <p:nvSpPr>
          <p:cNvPr id="17" name="Text 15"/>
          <p:cNvSpPr txBox="1"/>
          <p:nvPr/>
        </p:nvSpPr>
        <p:spPr>
          <a:xfrm>
            <a:off x="704088" y="5011623"/>
            <a:ext cx="10783519" cy="365811"/>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neuroanastomosis (G) (nöroanastomoz): </a:t>
            </a:r>
            <a:r>
              <a:rPr lang="en-US" sz="1700" dirty="0">
                <a:solidFill>
                  <a:srgbClr val="1F2937"/>
                </a:solidFill>
                <a:latin typeface="Calibri" pitchFamily="34" charset="0"/>
                <a:ea typeface="Calibri" pitchFamily="34" charset="-122"/>
                <a:cs typeface="Calibri" pitchFamily="34" charset="-120"/>
              </a:rPr>
              <a:t>Sinir lifleri arasında cerrahi olarak birleşme sağlama</a:t>
            </a:r>
            <a:endParaRPr lang="en-US" sz="1700" dirty="0"/>
          </a:p>
        </p:txBody>
      </p:sp>
      <p:sp>
        <p:nvSpPr>
          <p:cNvPr id="18" name="Shape 16"/>
          <p:cNvSpPr/>
          <p:nvPr/>
        </p:nvSpPr>
        <p:spPr>
          <a:xfrm>
            <a:off x="548640" y="5542026"/>
            <a:ext cx="11094415" cy="767334"/>
          </a:xfrm>
          <a:prstGeom prst="roundRect">
            <a:avLst>
              <a:gd name="adj" fmla="val 8342"/>
            </a:avLst>
          </a:prstGeom>
          <a:solidFill>
            <a:srgbClr val="EAF0FD"/>
          </a:solidFill>
          <a:ln/>
        </p:spPr>
      </p:sp>
      <p:sp>
        <p:nvSpPr>
          <p:cNvPr id="19" name="Text 17"/>
          <p:cNvSpPr txBox="1"/>
          <p:nvPr/>
        </p:nvSpPr>
        <p:spPr>
          <a:xfrm>
            <a:off x="731520" y="5606034"/>
            <a:ext cx="10728655" cy="318262"/>
          </a:xfrm>
          <a:prstGeom prst="rect">
            <a:avLst/>
          </a:prstGeom>
          <a:noFill/>
          <a:ln/>
        </p:spPr>
        <p:txBody>
          <a:bodyPr wrap="square" lIns="0" tIns="0" rIns="0" bIns="0" rtlCol="0" anchor="t"/>
          <a:lstStyle/>
          <a:p>
            <a:pPr marL="0" indent="0">
              <a:lnSpc>
                <a:spcPct val="105000"/>
              </a:lnSpc>
              <a:buNone/>
            </a:pPr>
            <a:r>
              <a:rPr lang="en-US" sz="1700" b="1" dirty="0">
                <a:solidFill>
                  <a:srgbClr val="1D4ED8"/>
                </a:solidFill>
                <a:latin typeface="Calibri" pitchFamily="34" charset="0"/>
                <a:ea typeface="Calibri" pitchFamily="34" charset="-122"/>
                <a:cs typeface="Calibri" pitchFamily="34" charset="-120"/>
              </a:rPr>
              <a:t>Cerrahi dekompresyon: </a:t>
            </a:r>
            <a:r>
              <a:rPr lang="en-US" sz="1700" dirty="0">
                <a:solidFill>
                  <a:srgbClr val="1F2937"/>
                </a:solidFill>
                <a:latin typeface="Calibri" pitchFamily="34" charset="0"/>
                <a:ea typeface="Calibri" pitchFamily="34" charset="-122"/>
                <a:cs typeface="Calibri" pitchFamily="34" charset="-120"/>
              </a:rPr>
              <a:t>Sinire bası yapan oluşumun</a:t>
            </a:r>
            <a:endParaRPr lang="en-US" sz="1700" dirty="0"/>
          </a:p>
        </p:txBody>
      </p:sp>
      <p:sp>
        <p:nvSpPr>
          <p:cNvPr id="20" name="Shape 18"/>
          <p:cNvSpPr/>
          <p:nvPr/>
        </p:nvSpPr>
        <p:spPr>
          <a:xfrm>
            <a:off x="850392" y="5972007"/>
            <a:ext cx="64008" cy="64008"/>
          </a:xfrm>
          <a:prstGeom prst="ellipse">
            <a:avLst/>
          </a:prstGeom>
          <a:solidFill>
            <a:srgbClr val="1D4ED8"/>
          </a:solidFill>
          <a:ln/>
        </p:spPr>
      </p:sp>
      <p:sp>
        <p:nvSpPr>
          <p:cNvPr id="21" name="Text 19"/>
          <p:cNvSpPr txBox="1"/>
          <p:nvPr/>
        </p:nvSpPr>
        <p:spPr>
          <a:xfrm>
            <a:off x="1005840" y="5887720"/>
            <a:ext cx="10454335" cy="284480"/>
          </a:xfrm>
          <a:prstGeom prst="rect">
            <a:avLst/>
          </a:prstGeom>
          <a:noFill/>
          <a:ln/>
        </p:spPr>
        <p:txBody>
          <a:bodyPr wrap="square" lIns="0" tIns="0" rIns="0" bIns="0" rtlCol="0" anchor="t"/>
          <a:lstStyle/>
          <a:p>
            <a:pPr marL="0" indent="0">
              <a:lnSpc>
                <a:spcPct val="105000"/>
              </a:lnSpc>
              <a:buNone/>
            </a:pPr>
            <a:r>
              <a:rPr lang="en-US" sz="1600" b="1" dirty="0">
                <a:solidFill>
                  <a:srgbClr val="1F2937"/>
                </a:solidFill>
                <a:latin typeface="Calibri" pitchFamily="34" charset="0"/>
                <a:ea typeface="Calibri" pitchFamily="34" charset="-122"/>
                <a:cs typeface="Calibri" pitchFamily="34" charset="-120"/>
              </a:rPr>
              <a:t>çıkarılması veya uzaklaştırılması. Örnek</a:t>
            </a:r>
            <a:r>
              <a:rPr lang="en-US" sz="1600" dirty="0">
                <a:solidFill>
                  <a:srgbClr val="4B5563"/>
                </a:solidFill>
                <a:latin typeface="Calibri" pitchFamily="34" charset="0"/>
                <a:ea typeface="Calibri" pitchFamily="34" charset="-122"/>
                <a:cs typeface="Calibri" pitchFamily="34" charset="-120"/>
              </a:rPr>
              <a:t>: Disk hernisi ameliyatı</a:t>
            </a:r>
            <a:endParaRPr lang="en-US" sz="16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F5EF"/>
          </a:solidFill>
          <a:ln/>
        </p:spPr>
      </p:sp>
      <p:sp>
        <p:nvSpPr>
          <p:cNvPr id="3" name="Shape 1"/>
          <p:cNvSpPr/>
          <p:nvPr/>
        </p:nvSpPr>
        <p:spPr>
          <a:xfrm>
            <a:off x="868680" y="1325880"/>
            <a:ext cx="10469880" cy="4206240"/>
          </a:xfrm>
          <a:prstGeom prst="roundRect">
            <a:avLst>
              <a:gd name="adj" fmla="val 3478"/>
            </a:avLst>
          </a:prstGeom>
          <a:solidFill>
            <a:srgbClr val="FFFFFF"/>
          </a:solidFill>
          <a:ln/>
          <a:effectLst>
            <a:outerShdw blurRad="177800" dist="38100" dir="5400000" algn="bl" rotWithShape="0">
              <a:srgbClr val="000000">
                <a:alpha val="8000"/>
              </a:srgbClr>
            </a:outerShdw>
          </a:effectLst>
        </p:spPr>
      </p:sp>
      <p:sp>
        <p:nvSpPr>
          <p:cNvPr id="4" name="Text 2"/>
          <p:cNvSpPr txBox="1"/>
          <p:nvPr/>
        </p:nvSpPr>
        <p:spPr>
          <a:xfrm>
            <a:off x="1325880" y="1737360"/>
            <a:ext cx="2743200" cy="1371600"/>
          </a:xfrm>
          <a:prstGeom prst="rect">
            <a:avLst/>
          </a:prstGeom>
          <a:noFill/>
          <a:ln/>
        </p:spPr>
        <p:txBody>
          <a:bodyPr wrap="square" lIns="0" tIns="0" rIns="0" bIns="0" rtlCol="0" anchor="ctr"/>
          <a:lstStyle/>
          <a:p>
            <a:pPr marL="0" indent="0">
              <a:buNone/>
            </a:pPr>
            <a:r>
              <a:rPr lang="en-US" sz="8800" b="1" dirty="0">
                <a:solidFill>
                  <a:srgbClr val="CFEBE0"/>
                </a:solidFill>
                <a:latin typeface="Cambria" pitchFamily="34" charset="0"/>
                <a:ea typeface="Cambria" pitchFamily="34" charset="-122"/>
                <a:cs typeface="Cambria" pitchFamily="34" charset="-120"/>
              </a:rPr>
              <a:t>13</a:t>
            </a:r>
            <a:endParaRPr lang="en-US" sz="8800" dirty="0"/>
          </a:p>
        </p:txBody>
      </p:sp>
      <p:sp>
        <p:nvSpPr>
          <p:cNvPr id="5" name="Text 3"/>
          <p:cNvSpPr txBox="1"/>
          <p:nvPr/>
        </p:nvSpPr>
        <p:spPr>
          <a:xfrm>
            <a:off x="1371600" y="3063240"/>
            <a:ext cx="4572000" cy="320040"/>
          </a:xfrm>
          <a:prstGeom prst="rect">
            <a:avLst/>
          </a:prstGeom>
          <a:noFill/>
          <a:ln/>
        </p:spPr>
        <p:txBody>
          <a:bodyPr wrap="square" lIns="0" tIns="0" rIns="0" bIns="0" rtlCol="0" anchor="ctr"/>
          <a:lstStyle/>
          <a:p>
            <a:pPr marL="0" indent="0">
              <a:buNone/>
            </a:pPr>
            <a:r>
              <a:rPr lang="en-US" sz="1200" b="1" kern="0" spc="120" dirty="0">
                <a:solidFill>
                  <a:srgbClr val="047857"/>
                </a:solidFill>
                <a:latin typeface="Calibri" pitchFamily="34" charset="0"/>
                <a:ea typeface="Calibri" pitchFamily="34" charset="-122"/>
                <a:cs typeface="Calibri" pitchFamily="34" charset="-120"/>
              </a:rPr>
              <a:t>BÖLÜM 13</a:t>
            </a:r>
            <a:endParaRPr lang="en-US" sz="1200" dirty="0"/>
          </a:p>
        </p:txBody>
      </p:sp>
      <p:sp>
        <p:nvSpPr>
          <p:cNvPr id="6" name="Text 4"/>
          <p:cNvSpPr txBox="1"/>
          <p:nvPr/>
        </p:nvSpPr>
        <p:spPr>
          <a:xfrm>
            <a:off x="1371600" y="3429000"/>
            <a:ext cx="6583680" cy="1371600"/>
          </a:xfrm>
          <a:prstGeom prst="rect">
            <a:avLst/>
          </a:prstGeom>
          <a:noFill/>
          <a:ln/>
        </p:spPr>
        <p:txBody>
          <a:bodyPr wrap="square" lIns="0" tIns="0" rIns="0" bIns="0" rtlCol="0" anchor="t"/>
          <a:lstStyle/>
          <a:p>
            <a:pPr marL="0" indent="0">
              <a:buNone/>
            </a:pPr>
            <a:r>
              <a:rPr lang="en-US" sz="3600" b="1" dirty="0">
                <a:solidFill>
                  <a:srgbClr val="1F2937"/>
                </a:solidFill>
                <a:latin typeface="Cambria" pitchFamily="34" charset="0"/>
                <a:ea typeface="Cambria" pitchFamily="34" charset="-122"/>
                <a:cs typeface="Cambria" pitchFamily="34" charset="-120"/>
              </a:rPr>
              <a:t>DUYU ORGANLARI TERİMLERİ</a:t>
            </a:r>
            <a:endParaRPr lang="en-US" sz="3600" dirty="0"/>
          </a:p>
        </p:txBody>
      </p:sp>
      <p:sp>
        <p:nvSpPr>
          <p:cNvPr id="7" name="Shape 5"/>
          <p:cNvSpPr/>
          <p:nvPr/>
        </p:nvSpPr>
        <p:spPr>
          <a:xfrm>
            <a:off x="8503920" y="2331720"/>
            <a:ext cx="2194560" cy="2194560"/>
          </a:xfrm>
          <a:prstGeom prst="ellipse">
            <a:avLst/>
          </a:prstGeom>
          <a:solidFill>
            <a:srgbClr val="E6F5EF"/>
          </a:solidFill>
          <a:ln/>
        </p:spPr>
      </p:sp>
      <p:pic>
        <p:nvPicPr>
          <p:cNvPr id="8" name="Image 0" descr="preencoded.png"/>
          <p:cNvPicPr>
            <a:picLocks noChangeAspect="1"/>
          </p:cNvPicPr>
          <p:nvPr/>
        </p:nvPicPr>
        <p:blipFill>
          <a:blip r:embed="rId3"/>
          <a:stretch>
            <a:fillRect/>
          </a:stretch>
        </p:blipFill>
        <p:spPr>
          <a:xfrm>
            <a:off x="9006840" y="2834640"/>
            <a:ext cx="1188720" cy="1188720"/>
          </a:xfrm>
          <a:prstGeom prst="rect">
            <a:avLst/>
          </a:prstGeom>
        </p:spPr>
      </p:pic>
      <p:sp>
        <p:nvSpPr>
          <p:cNvPr id="9" name="Text 6"/>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302</a:t>
            </a:r>
            <a:endParaRPr lang="en-US" sz="10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Göze İlişkin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303</a:t>
            </a:r>
            <a:endParaRPr lang="en-US" sz="1000" dirty="0"/>
          </a:p>
        </p:txBody>
      </p:sp>
      <p:sp>
        <p:nvSpPr>
          <p:cNvPr id="6" name="Shape 4"/>
          <p:cNvSpPr/>
          <p:nvPr/>
        </p:nvSpPr>
        <p:spPr>
          <a:xfrm>
            <a:off x="548640" y="2468880"/>
            <a:ext cx="11094415" cy="1100023"/>
          </a:xfrm>
          <a:prstGeom prst="roundRect">
            <a:avLst>
              <a:gd name="adj" fmla="val 5819"/>
            </a:avLst>
          </a:prstGeom>
          <a:solidFill>
            <a:srgbClr val="E6F5EF"/>
          </a:solidFill>
          <a:ln/>
        </p:spPr>
      </p:sp>
      <p:sp>
        <p:nvSpPr>
          <p:cNvPr id="7" name="Text 5"/>
          <p:cNvSpPr txBox="1"/>
          <p:nvPr/>
        </p:nvSpPr>
        <p:spPr>
          <a:xfrm>
            <a:off x="704088" y="2542032"/>
            <a:ext cx="10783519" cy="953719"/>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Göz görme organıdır. Kafatasında orbita denilen iki boşluk içine yerleşmişlerdir. Kendine özgü karmaşık yapıya sahiplerdir. Duyu organlarından biridir. Göz iki kısımda incelenir. 1- Göz küresi, 2- Gözün yardımcı oluşumları</a:t>
            </a:r>
            <a:endParaRPr lang="en-US" sz="1800" dirty="0"/>
          </a:p>
        </p:txBody>
      </p:sp>
      <p:sp>
        <p:nvSpPr>
          <p:cNvPr id="8" name="Shape 6"/>
          <p:cNvSpPr/>
          <p:nvPr/>
        </p:nvSpPr>
        <p:spPr>
          <a:xfrm>
            <a:off x="548640" y="4666183"/>
            <a:ext cx="11094415" cy="542239"/>
          </a:xfrm>
          <a:prstGeom prst="roundRect">
            <a:avLst>
              <a:gd name="adj" fmla="val 11804"/>
            </a:avLst>
          </a:prstGeom>
          <a:solidFill>
            <a:srgbClr val="E6F5EF"/>
          </a:solidFill>
          <a:ln/>
        </p:spPr>
      </p:sp>
      <p:sp>
        <p:nvSpPr>
          <p:cNvPr id="9" name="Text 7"/>
          <p:cNvSpPr txBox="1"/>
          <p:nvPr/>
        </p:nvSpPr>
        <p:spPr>
          <a:xfrm>
            <a:off x="704088" y="4739335"/>
            <a:ext cx="10783519" cy="395935"/>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Göz kasları, göz kapakları, kirpikler ve göz yaşı bezi gözün yardımcı organlarını oluşturur.</a:t>
            </a:r>
            <a:endParaRPr lang="en-US" sz="18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304</a:t>
            </a:r>
            <a:endParaRPr lang="en-US" sz="1000" dirty="0"/>
          </a:p>
        </p:txBody>
      </p:sp>
      <p:sp>
        <p:nvSpPr>
          <p:cNvPr id="6" name="Shape 4"/>
          <p:cNvSpPr/>
          <p:nvPr/>
        </p:nvSpPr>
        <p:spPr>
          <a:xfrm>
            <a:off x="548640" y="1526286"/>
            <a:ext cx="11094415" cy="684276"/>
          </a:xfrm>
          <a:prstGeom prst="roundRect">
            <a:avLst>
              <a:gd name="adj" fmla="val 9354"/>
            </a:avLst>
          </a:prstGeom>
          <a:solidFill>
            <a:srgbClr val="E6F5EF"/>
          </a:solidFill>
          <a:ln/>
        </p:spPr>
      </p:sp>
      <p:sp>
        <p:nvSpPr>
          <p:cNvPr id="7" name="Text 5"/>
          <p:cNvSpPr txBox="1"/>
          <p:nvPr/>
        </p:nvSpPr>
        <p:spPr>
          <a:xfrm>
            <a:off x="704088" y="159943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bulbus oculi (L) (bulbus okuli): </a:t>
            </a:r>
            <a:r>
              <a:rPr lang="en-US" sz="1500" dirty="0">
                <a:solidFill>
                  <a:srgbClr val="1F2937"/>
                </a:solidFill>
                <a:latin typeface="Calibri" pitchFamily="34" charset="0"/>
                <a:ea typeface="Calibri" pitchFamily="34" charset="-122"/>
                <a:cs typeface="Calibri" pitchFamily="34" charset="-120"/>
              </a:rPr>
              <a:t>Göz yuvarı, göz küresi. Oval şekilli bir bütünsel yapıdır. Orbitaya yerleşmiştir. Kemi yapı ile arasında bağ doku ve yağ doku bulunur.</a:t>
            </a:r>
            <a:endParaRPr lang="en-US" sz="1500" dirty="0"/>
          </a:p>
        </p:txBody>
      </p:sp>
      <p:sp>
        <p:nvSpPr>
          <p:cNvPr id="8" name="Shape 6"/>
          <p:cNvSpPr/>
          <p:nvPr/>
        </p:nvSpPr>
        <p:spPr>
          <a:xfrm>
            <a:off x="548640" y="2365248"/>
            <a:ext cx="11094415" cy="451866"/>
          </a:xfrm>
          <a:prstGeom prst="roundRect">
            <a:avLst>
              <a:gd name="adj" fmla="val 14165"/>
            </a:avLst>
          </a:prstGeom>
          <a:solidFill>
            <a:srgbClr val="E6F5EF"/>
          </a:solidFill>
          <a:ln/>
        </p:spPr>
      </p:sp>
      <p:sp>
        <p:nvSpPr>
          <p:cNvPr id="9" name="Text 7"/>
          <p:cNvSpPr txBox="1"/>
          <p:nvPr/>
        </p:nvSpPr>
        <p:spPr>
          <a:xfrm>
            <a:off x="704088" y="243840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orbita (L) (orbita): </a:t>
            </a:r>
            <a:r>
              <a:rPr lang="en-US" sz="1500" dirty="0">
                <a:solidFill>
                  <a:srgbClr val="1F2937"/>
                </a:solidFill>
                <a:latin typeface="Calibri" pitchFamily="34" charset="0"/>
                <a:ea typeface="Calibri" pitchFamily="34" charset="-122"/>
                <a:cs typeface="Calibri" pitchFamily="34" charset="-120"/>
              </a:rPr>
              <a:t>Frontal kemikte bulunan sağlı sollu, göz yuvarlarının yerleştikleri kemik boşluklarıdır.</a:t>
            </a:r>
            <a:endParaRPr lang="en-US" sz="1500" dirty="0"/>
          </a:p>
        </p:txBody>
      </p:sp>
      <p:sp>
        <p:nvSpPr>
          <p:cNvPr id="10" name="Shape 8"/>
          <p:cNvSpPr/>
          <p:nvPr/>
        </p:nvSpPr>
        <p:spPr>
          <a:xfrm>
            <a:off x="548640" y="2908554"/>
            <a:ext cx="11094415" cy="451866"/>
          </a:xfrm>
          <a:prstGeom prst="roundRect">
            <a:avLst>
              <a:gd name="adj" fmla="val 14165"/>
            </a:avLst>
          </a:prstGeom>
          <a:solidFill>
            <a:srgbClr val="E6F5EF"/>
          </a:solidFill>
          <a:ln/>
        </p:spPr>
      </p:sp>
      <p:sp>
        <p:nvSpPr>
          <p:cNvPr id="11" name="Text 9"/>
          <p:cNvSpPr txBox="1"/>
          <p:nvPr/>
        </p:nvSpPr>
        <p:spPr>
          <a:xfrm>
            <a:off x="704088" y="298170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oculus (L) (okulus): </a:t>
            </a:r>
            <a:r>
              <a:rPr lang="en-US" sz="1500" dirty="0">
                <a:solidFill>
                  <a:srgbClr val="1F2937"/>
                </a:solidFill>
                <a:latin typeface="Calibri" pitchFamily="34" charset="0"/>
                <a:ea typeface="Calibri" pitchFamily="34" charset="-122"/>
                <a:cs typeface="Calibri" pitchFamily="34" charset="-120"/>
              </a:rPr>
              <a:t>Göz</a:t>
            </a:r>
            <a:endParaRPr lang="en-US" sz="1500" dirty="0"/>
          </a:p>
        </p:txBody>
      </p:sp>
      <p:sp>
        <p:nvSpPr>
          <p:cNvPr id="12" name="Shape 10"/>
          <p:cNvSpPr/>
          <p:nvPr/>
        </p:nvSpPr>
        <p:spPr>
          <a:xfrm>
            <a:off x="548640" y="3451860"/>
            <a:ext cx="11094415" cy="451866"/>
          </a:xfrm>
          <a:prstGeom prst="roundRect">
            <a:avLst>
              <a:gd name="adj" fmla="val 14165"/>
            </a:avLst>
          </a:prstGeom>
          <a:solidFill>
            <a:srgbClr val="E6F5EF"/>
          </a:solidFill>
          <a:ln/>
        </p:spPr>
      </p:sp>
      <p:sp>
        <p:nvSpPr>
          <p:cNvPr id="13" name="Text 11"/>
          <p:cNvSpPr txBox="1"/>
          <p:nvPr/>
        </p:nvSpPr>
        <p:spPr>
          <a:xfrm>
            <a:off x="704088" y="352501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ophtalmus (G) (oftalmus): </a:t>
            </a:r>
            <a:r>
              <a:rPr lang="en-US" sz="1500" dirty="0">
                <a:solidFill>
                  <a:srgbClr val="1F2937"/>
                </a:solidFill>
                <a:latin typeface="Calibri" pitchFamily="34" charset="0"/>
                <a:ea typeface="Calibri" pitchFamily="34" charset="-122"/>
                <a:cs typeface="Calibri" pitchFamily="34" charset="-120"/>
              </a:rPr>
              <a:t>Göz</a:t>
            </a:r>
            <a:endParaRPr lang="en-US" sz="1500" dirty="0"/>
          </a:p>
        </p:txBody>
      </p:sp>
      <p:sp>
        <p:nvSpPr>
          <p:cNvPr id="14" name="Shape 12"/>
          <p:cNvSpPr/>
          <p:nvPr/>
        </p:nvSpPr>
        <p:spPr>
          <a:xfrm>
            <a:off x="548640" y="3995166"/>
            <a:ext cx="11094415" cy="451866"/>
          </a:xfrm>
          <a:prstGeom prst="roundRect">
            <a:avLst>
              <a:gd name="adj" fmla="val 14165"/>
            </a:avLst>
          </a:prstGeom>
          <a:solidFill>
            <a:srgbClr val="E6F5EF"/>
          </a:solidFill>
          <a:ln/>
        </p:spPr>
      </p:sp>
      <p:sp>
        <p:nvSpPr>
          <p:cNvPr id="15" name="Text 13"/>
          <p:cNvSpPr txBox="1"/>
          <p:nvPr/>
        </p:nvSpPr>
        <p:spPr>
          <a:xfrm>
            <a:off x="704088" y="406831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cilium (L) (silyum): </a:t>
            </a:r>
            <a:r>
              <a:rPr lang="en-US" sz="1500" dirty="0">
                <a:solidFill>
                  <a:srgbClr val="1F2937"/>
                </a:solidFill>
                <a:latin typeface="Calibri" pitchFamily="34" charset="0"/>
                <a:ea typeface="Calibri" pitchFamily="34" charset="-122"/>
                <a:cs typeface="Calibri" pitchFamily="34" charset="-120"/>
              </a:rPr>
              <a:t>Kirpik, titrek tüy. Çoğulu cilia</a:t>
            </a:r>
            <a:endParaRPr lang="en-US" sz="1500" dirty="0"/>
          </a:p>
        </p:txBody>
      </p:sp>
      <p:sp>
        <p:nvSpPr>
          <p:cNvPr id="16" name="Shape 14"/>
          <p:cNvSpPr/>
          <p:nvPr/>
        </p:nvSpPr>
        <p:spPr>
          <a:xfrm>
            <a:off x="548640" y="4538472"/>
            <a:ext cx="11094415" cy="451866"/>
          </a:xfrm>
          <a:prstGeom prst="roundRect">
            <a:avLst>
              <a:gd name="adj" fmla="val 14165"/>
            </a:avLst>
          </a:prstGeom>
          <a:solidFill>
            <a:srgbClr val="E6F5EF"/>
          </a:solidFill>
          <a:ln/>
        </p:spPr>
      </p:sp>
      <p:sp>
        <p:nvSpPr>
          <p:cNvPr id="17" name="Text 15"/>
          <p:cNvSpPr txBox="1"/>
          <p:nvPr/>
        </p:nvSpPr>
        <p:spPr>
          <a:xfrm>
            <a:off x="704088" y="461162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supercilium (L) (supersilyum): </a:t>
            </a:r>
            <a:r>
              <a:rPr lang="en-US" sz="1500" dirty="0">
                <a:solidFill>
                  <a:srgbClr val="1F2937"/>
                </a:solidFill>
                <a:latin typeface="Calibri" pitchFamily="34" charset="0"/>
                <a:ea typeface="Calibri" pitchFamily="34" charset="-122"/>
                <a:cs typeface="Calibri" pitchFamily="34" charset="-120"/>
              </a:rPr>
              <a:t>Kaş. Çoğulu supercilia</a:t>
            </a:r>
            <a:endParaRPr lang="en-US" sz="1500" dirty="0"/>
          </a:p>
        </p:txBody>
      </p:sp>
      <p:sp>
        <p:nvSpPr>
          <p:cNvPr id="18" name="Shape 16"/>
          <p:cNvSpPr/>
          <p:nvPr/>
        </p:nvSpPr>
        <p:spPr>
          <a:xfrm>
            <a:off x="548640" y="5081778"/>
            <a:ext cx="11094415" cy="451866"/>
          </a:xfrm>
          <a:prstGeom prst="roundRect">
            <a:avLst>
              <a:gd name="adj" fmla="val 14165"/>
            </a:avLst>
          </a:prstGeom>
          <a:solidFill>
            <a:srgbClr val="E6F5EF"/>
          </a:solidFill>
          <a:ln/>
        </p:spPr>
      </p:sp>
      <p:sp>
        <p:nvSpPr>
          <p:cNvPr id="19" name="Text 17"/>
          <p:cNvSpPr txBox="1"/>
          <p:nvPr/>
        </p:nvSpPr>
        <p:spPr>
          <a:xfrm>
            <a:off x="704088" y="515493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nervus opticus (L) (nervus optikus): </a:t>
            </a:r>
            <a:r>
              <a:rPr lang="en-US" sz="1500" dirty="0">
                <a:solidFill>
                  <a:srgbClr val="1F2937"/>
                </a:solidFill>
                <a:latin typeface="Calibri" pitchFamily="34" charset="0"/>
                <a:ea typeface="Calibri" pitchFamily="34" charset="-122"/>
                <a:cs typeface="Calibri" pitchFamily="34" charset="-120"/>
              </a:rPr>
              <a:t>Optik sinir, görme siniri. 12. kafa çiftinden çıkan ikincisi</a:t>
            </a:r>
            <a:endParaRPr lang="en-US" sz="1500" dirty="0"/>
          </a:p>
        </p:txBody>
      </p:sp>
      <p:sp>
        <p:nvSpPr>
          <p:cNvPr id="20" name="Shape 18"/>
          <p:cNvSpPr/>
          <p:nvPr/>
        </p:nvSpPr>
        <p:spPr>
          <a:xfrm>
            <a:off x="548640" y="5625084"/>
            <a:ext cx="11094415" cy="684276"/>
          </a:xfrm>
          <a:prstGeom prst="roundRect">
            <a:avLst>
              <a:gd name="adj" fmla="val 9354"/>
            </a:avLst>
          </a:prstGeom>
          <a:solidFill>
            <a:srgbClr val="E6F5EF"/>
          </a:solidFill>
          <a:ln/>
        </p:spPr>
      </p:sp>
      <p:sp>
        <p:nvSpPr>
          <p:cNvPr id="21" name="Text 19"/>
          <p:cNvSpPr txBox="1"/>
          <p:nvPr/>
        </p:nvSpPr>
        <p:spPr>
          <a:xfrm>
            <a:off x="704088" y="5698236"/>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sclera (G) (sklera): </a:t>
            </a:r>
            <a:r>
              <a:rPr lang="en-US" sz="1500" dirty="0">
                <a:solidFill>
                  <a:srgbClr val="1F2937"/>
                </a:solidFill>
                <a:latin typeface="Calibri" pitchFamily="34" charset="0"/>
                <a:ea typeface="Calibri" pitchFamily="34" charset="-122"/>
                <a:cs typeface="Calibri" pitchFamily="34" charset="-120"/>
              </a:rPr>
              <a:t>Göz akı. Göz yuvarının en dış katmanının arka 5/6’lık kısmı. Sıkı bağ dokudan yapılmıştır. Koruma işlevi yapar.</a:t>
            </a:r>
            <a:endParaRPr lang="en-US" sz="15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305</a:t>
            </a:r>
            <a:endParaRPr lang="en-US" sz="1000" dirty="0"/>
          </a:p>
        </p:txBody>
      </p:sp>
      <p:sp>
        <p:nvSpPr>
          <p:cNvPr id="6" name="Shape 4"/>
          <p:cNvSpPr/>
          <p:nvPr/>
        </p:nvSpPr>
        <p:spPr>
          <a:xfrm>
            <a:off x="548640" y="1473098"/>
            <a:ext cx="11094415" cy="821131"/>
          </a:xfrm>
          <a:prstGeom prst="roundRect">
            <a:avLst>
              <a:gd name="adj" fmla="val 7795"/>
            </a:avLst>
          </a:prstGeom>
          <a:solidFill>
            <a:srgbClr val="E6F5EF"/>
          </a:solidFill>
          <a:ln/>
        </p:spPr>
      </p:sp>
      <p:sp>
        <p:nvSpPr>
          <p:cNvPr id="7" name="Text 5"/>
          <p:cNvSpPr txBox="1"/>
          <p:nvPr/>
        </p:nvSpPr>
        <p:spPr>
          <a:xfrm>
            <a:off x="704088" y="154625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iris (G) (iris): </a:t>
            </a:r>
            <a:r>
              <a:rPr lang="en-US" sz="1800" dirty="0">
                <a:solidFill>
                  <a:srgbClr val="1F2937"/>
                </a:solidFill>
                <a:latin typeface="Calibri" pitchFamily="34" charset="0"/>
                <a:ea typeface="Calibri" pitchFamily="34" charset="-122"/>
                <a:cs typeface="Calibri" pitchFamily="34" charset="-120"/>
              </a:rPr>
              <a:t>Korpus siliareden ortaya doğru uzanan yaprak şeklindeki uzantıdır. Ortasından pupilla denilen delik oluşur. Gözün rengini veren hücreler burada bulunur.</a:t>
            </a:r>
            <a:endParaRPr lang="en-US" sz="1800" dirty="0"/>
          </a:p>
        </p:txBody>
      </p:sp>
      <p:sp>
        <p:nvSpPr>
          <p:cNvPr id="8" name="Shape 6"/>
          <p:cNvSpPr/>
          <p:nvPr/>
        </p:nvSpPr>
        <p:spPr>
          <a:xfrm>
            <a:off x="548640" y="2395728"/>
            <a:ext cx="11094415" cy="542239"/>
          </a:xfrm>
          <a:prstGeom prst="roundRect">
            <a:avLst>
              <a:gd name="adj" fmla="val 11804"/>
            </a:avLst>
          </a:prstGeom>
          <a:solidFill>
            <a:srgbClr val="E6F5EF"/>
          </a:solidFill>
          <a:ln/>
        </p:spPr>
      </p:sp>
      <p:sp>
        <p:nvSpPr>
          <p:cNvPr id="9" name="Text 7"/>
          <p:cNvSpPr txBox="1"/>
          <p:nvPr/>
        </p:nvSpPr>
        <p:spPr>
          <a:xfrm>
            <a:off x="704088" y="246888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cornea (L) (kornea): </a:t>
            </a:r>
            <a:r>
              <a:rPr lang="en-US" sz="1800" dirty="0">
                <a:solidFill>
                  <a:srgbClr val="1F2937"/>
                </a:solidFill>
                <a:latin typeface="Calibri" pitchFamily="34" charset="0"/>
                <a:ea typeface="Calibri" pitchFamily="34" charset="-122"/>
                <a:cs typeface="Calibri" pitchFamily="34" charset="-120"/>
              </a:rPr>
              <a:t>Dış katmanın 1/6’lık ön kısmıdır. Saydamdır ve önden bakıldığında görülür.</a:t>
            </a:r>
            <a:endParaRPr lang="en-US" sz="1800" dirty="0"/>
          </a:p>
        </p:txBody>
      </p:sp>
      <p:sp>
        <p:nvSpPr>
          <p:cNvPr id="10" name="Shape 8"/>
          <p:cNvSpPr/>
          <p:nvPr/>
        </p:nvSpPr>
        <p:spPr>
          <a:xfrm>
            <a:off x="548640" y="3029407"/>
            <a:ext cx="11094415" cy="821131"/>
          </a:xfrm>
          <a:prstGeom prst="roundRect">
            <a:avLst>
              <a:gd name="adj" fmla="val 7795"/>
            </a:avLst>
          </a:prstGeom>
          <a:solidFill>
            <a:srgbClr val="E6F5EF"/>
          </a:solidFill>
          <a:ln/>
        </p:spPr>
      </p:sp>
      <p:sp>
        <p:nvSpPr>
          <p:cNvPr id="11" name="Text 9"/>
          <p:cNvSpPr txBox="1"/>
          <p:nvPr/>
        </p:nvSpPr>
        <p:spPr>
          <a:xfrm>
            <a:off x="704088" y="3102559"/>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pupilla (L) (pupilla): </a:t>
            </a:r>
            <a:r>
              <a:rPr lang="en-US" sz="1800" dirty="0">
                <a:solidFill>
                  <a:srgbClr val="1F2937"/>
                </a:solidFill>
                <a:latin typeface="Calibri" pitchFamily="34" charset="0"/>
                <a:ea typeface="Calibri" pitchFamily="34" charset="-122"/>
                <a:cs typeface="Calibri" pitchFamily="34" charset="-120"/>
              </a:rPr>
              <a:t>İrisin ortasında bulunan delik. Bu delik göze gelen ışık miktarına göre büyür ya da küçülür.</a:t>
            </a:r>
            <a:endParaRPr lang="en-US" sz="1800" dirty="0"/>
          </a:p>
        </p:txBody>
      </p:sp>
      <p:sp>
        <p:nvSpPr>
          <p:cNvPr id="12" name="Shape 10"/>
          <p:cNvSpPr/>
          <p:nvPr/>
        </p:nvSpPr>
        <p:spPr>
          <a:xfrm>
            <a:off x="548640" y="3941978"/>
            <a:ext cx="11094415" cy="542239"/>
          </a:xfrm>
          <a:prstGeom prst="roundRect">
            <a:avLst>
              <a:gd name="adj" fmla="val 11804"/>
            </a:avLst>
          </a:prstGeom>
          <a:solidFill>
            <a:srgbClr val="E6F5EF"/>
          </a:solidFill>
          <a:ln/>
        </p:spPr>
      </p:sp>
      <p:sp>
        <p:nvSpPr>
          <p:cNvPr id="13" name="Text 11"/>
          <p:cNvSpPr txBox="1"/>
          <p:nvPr/>
        </p:nvSpPr>
        <p:spPr>
          <a:xfrm>
            <a:off x="704088" y="401513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retina (L) (retina): </a:t>
            </a:r>
            <a:r>
              <a:rPr lang="en-US" sz="1800" dirty="0">
                <a:solidFill>
                  <a:srgbClr val="1F2937"/>
                </a:solidFill>
                <a:latin typeface="Calibri" pitchFamily="34" charset="0"/>
                <a:ea typeface="Calibri" pitchFamily="34" charset="-122"/>
                <a:cs typeface="Calibri" pitchFamily="34" charset="-120"/>
              </a:rPr>
              <a:t>Gözün en iç tabakasıdır. Görme hücreleri bu katmanda bulunur.</a:t>
            </a:r>
            <a:endParaRPr lang="en-US" sz="1800" dirty="0"/>
          </a:p>
        </p:txBody>
      </p:sp>
      <p:sp>
        <p:nvSpPr>
          <p:cNvPr id="14" name="Shape 12"/>
          <p:cNvSpPr/>
          <p:nvPr/>
        </p:nvSpPr>
        <p:spPr>
          <a:xfrm>
            <a:off x="548640" y="4575658"/>
            <a:ext cx="11094415" cy="821131"/>
          </a:xfrm>
          <a:prstGeom prst="roundRect">
            <a:avLst>
              <a:gd name="adj" fmla="val 7795"/>
            </a:avLst>
          </a:prstGeom>
          <a:solidFill>
            <a:srgbClr val="E6F5EF"/>
          </a:solidFill>
          <a:ln/>
        </p:spPr>
      </p:sp>
      <p:sp>
        <p:nvSpPr>
          <p:cNvPr id="15" name="Text 13"/>
          <p:cNvSpPr txBox="1"/>
          <p:nvPr/>
        </p:nvSpPr>
        <p:spPr>
          <a:xfrm>
            <a:off x="704088" y="464881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lens (L) (lens): </a:t>
            </a:r>
            <a:r>
              <a:rPr lang="en-US" sz="1800" dirty="0">
                <a:solidFill>
                  <a:srgbClr val="1F2937"/>
                </a:solidFill>
                <a:latin typeface="Calibri" pitchFamily="34" charset="0"/>
                <a:ea typeface="Calibri" pitchFamily="34" charset="-122"/>
                <a:cs typeface="Calibri" pitchFamily="34" charset="-120"/>
              </a:rPr>
              <a:t>Mercek. Söbe şekli olan elastik yapılı bir oluşumdur. Göze gelen ışıkları kırarak bir noktada toplamaya yarar.</a:t>
            </a:r>
            <a:endParaRPr lang="en-US" sz="1800" dirty="0"/>
          </a:p>
        </p:txBody>
      </p:sp>
      <p:sp>
        <p:nvSpPr>
          <p:cNvPr id="16" name="Shape 14"/>
          <p:cNvSpPr/>
          <p:nvPr/>
        </p:nvSpPr>
        <p:spPr>
          <a:xfrm>
            <a:off x="548640" y="5488229"/>
            <a:ext cx="11094415" cy="821131"/>
          </a:xfrm>
          <a:prstGeom prst="roundRect">
            <a:avLst>
              <a:gd name="adj" fmla="val 7795"/>
            </a:avLst>
          </a:prstGeom>
          <a:solidFill>
            <a:srgbClr val="E6F5EF"/>
          </a:solidFill>
          <a:ln/>
        </p:spPr>
      </p:sp>
      <p:sp>
        <p:nvSpPr>
          <p:cNvPr id="17" name="Text 15"/>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camera (L) (kamera): </a:t>
            </a:r>
            <a:r>
              <a:rPr lang="en-US" sz="1800" dirty="0">
                <a:solidFill>
                  <a:srgbClr val="1F2937"/>
                </a:solidFill>
                <a:latin typeface="Calibri" pitchFamily="34" charset="0"/>
                <a:ea typeface="Calibri" pitchFamily="34" charset="-122"/>
                <a:cs typeface="Calibri" pitchFamily="34" charset="-120"/>
              </a:rPr>
              <a:t>Göz yuvarının içindeki odalara verilen isim. Üç kamera vardır. Bunlar ön oda, arka oda ve camsı odadır.</a:t>
            </a:r>
            <a:endParaRPr lang="en-US" sz="18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306</a:t>
            </a:r>
            <a:endParaRPr lang="en-US" sz="1000" dirty="0"/>
          </a:p>
        </p:txBody>
      </p:sp>
      <p:sp>
        <p:nvSpPr>
          <p:cNvPr id="6" name="Shape 4"/>
          <p:cNvSpPr/>
          <p:nvPr/>
        </p:nvSpPr>
        <p:spPr>
          <a:xfrm>
            <a:off x="548640" y="1612544"/>
            <a:ext cx="11094415" cy="1100023"/>
          </a:xfrm>
          <a:prstGeom prst="roundRect">
            <a:avLst>
              <a:gd name="adj" fmla="val 5819"/>
            </a:avLst>
          </a:prstGeom>
          <a:solidFill>
            <a:srgbClr val="E6F5EF"/>
          </a:solidFill>
          <a:ln/>
        </p:spPr>
      </p:sp>
      <p:sp>
        <p:nvSpPr>
          <p:cNvPr id="7" name="Text 5"/>
          <p:cNvSpPr txBox="1"/>
          <p:nvPr/>
        </p:nvSpPr>
        <p:spPr>
          <a:xfrm>
            <a:off x="704088" y="1685696"/>
            <a:ext cx="10783519" cy="953719"/>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conjunctiva (L) (konjunktiva): </a:t>
            </a:r>
            <a:r>
              <a:rPr lang="en-US" sz="1800" dirty="0">
                <a:solidFill>
                  <a:srgbClr val="1F2937"/>
                </a:solidFill>
                <a:latin typeface="Calibri" pitchFamily="34" charset="0"/>
                <a:ea typeface="Calibri" pitchFamily="34" charset="-122"/>
                <a:cs typeface="Calibri" pitchFamily="34" charset="-120"/>
              </a:rPr>
              <a:t>Göz kapaklarının korneaya bakan yüzeylerini kaplayan müköz katman. Çok katlı prizmatik epitel hücreleri ile döşelidir. Bunun altında ince gevşek bağ doku katmanı vardır.</a:t>
            </a:r>
            <a:endParaRPr lang="en-US" sz="1800" dirty="0"/>
          </a:p>
        </p:txBody>
      </p:sp>
      <p:sp>
        <p:nvSpPr>
          <p:cNvPr id="8" name="Shape 6"/>
          <p:cNvSpPr/>
          <p:nvPr/>
        </p:nvSpPr>
        <p:spPr>
          <a:xfrm>
            <a:off x="548640" y="2953512"/>
            <a:ext cx="11094415" cy="542239"/>
          </a:xfrm>
          <a:prstGeom prst="roundRect">
            <a:avLst>
              <a:gd name="adj" fmla="val 11804"/>
            </a:avLst>
          </a:prstGeom>
          <a:solidFill>
            <a:srgbClr val="E6F5EF"/>
          </a:solidFill>
          <a:ln/>
        </p:spPr>
      </p:sp>
      <p:sp>
        <p:nvSpPr>
          <p:cNvPr id="9" name="Text 7"/>
          <p:cNvSpPr txBox="1"/>
          <p:nvPr/>
        </p:nvSpPr>
        <p:spPr>
          <a:xfrm>
            <a:off x="704088" y="3026664"/>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palpebra (L) (palpebra): </a:t>
            </a:r>
            <a:r>
              <a:rPr lang="en-US" sz="1800" dirty="0">
                <a:solidFill>
                  <a:srgbClr val="1F2937"/>
                </a:solidFill>
                <a:latin typeface="Calibri" pitchFamily="34" charset="0"/>
                <a:ea typeface="Calibri" pitchFamily="34" charset="-122"/>
                <a:cs typeface="Calibri" pitchFamily="34" charset="-120"/>
              </a:rPr>
              <a:t>Göz kapağı</a:t>
            </a:r>
            <a:endParaRPr lang="en-US" sz="1800" dirty="0"/>
          </a:p>
        </p:txBody>
      </p:sp>
      <p:sp>
        <p:nvSpPr>
          <p:cNvPr id="10" name="Shape 8"/>
          <p:cNvSpPr/>
          <p:nvPr/>
        </p:nvSpPr>
        <p:spPr>
          <a:xfrm>
            <a:off x="548640" y="3587191"/>
            <a:ext cx="11094415" cy="542239"/>
          </a:xfrm>
          <a:prstGeom prst="roundRect">
            <a:avLst>
              <a:gd name="adj" fmla="val 11804"/>
            </a:avLst>
          </a:prstGeom>
          <a:solidFill>
            <a:srgbClr val="E6F5EF"/>
          </a:solidFill>
          <a:ln/>
        </p:spPr>
      </p:sp>
      <p:sp>
        <p:nvSpPr>
          <p:cNvPr id="11" name="Text 9"/>
          <p:cNvSpPr txBox="1"/>
          <p:nvPr/>
        </p:nvSpPr>
        <p:spPr>
          <a:xfrm>
            <a:off x="704088" y="366034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blepharon (G) (blefaron): </a:t>
            </a:r>
            <a:r>
              <a:rPr lang="en-US" sz="1800" dirty="0">
                <a:solidFill>
                  <a:srgbClr val="1F2937"/>
                </a:solidFill>
                <a:latin typeface="Calibri" pitchFamily="34" charset="0"/>
                <a:ea typeface="Calibri" pitchFamily="34" charset="-122"/>
                <a:cs typeface="Calibri" pitchFamily="34" charset="-120"/>
              </a:rPr>
              <a:t>Göz kapağı</a:t>
            </a:r>
            <a:endParaRPr lang="en-US" sz="1800" dirty="0"/>
          </a:p>
        </p:txBody>
      </p:sp>
      <p:sp>
        <p:nvSpPr>
          <p:cNvPr id="12" name="Shape 10"/>
          <p:cNvSpPr/>
          <p:nvPr/>
        </p:nvSpPr>
        <p:spPr>
          <a:xfrm>
            <a:off x="548640" y="4220870"/>
            <a:ext cx="11094415" cy="542239"/>
          </a:xfrm>
          <a:prstGeom prst="roundRect">
            <a:avLst>
              <a:gd name="adj" fmla="val 11804"/>
            </a:avLst>
          </a:prstGeom>
          <a:solidFill>
            <a:srgbClr val="E6F5EF"/>
          </a:solidFill>
          <a:ln/>
        </p:spPr>
      </p:sp>
      <p:sp>
        <p:nvSpPr>
          <p:cNvPr id="13" name="Text 11"/>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gl. tarsalis (L) (gl tarsalis): </a:t>
            </a:r>
            <a:r>
              <a:rPr lang="en-US" sz="1800" dirty="0">
                <a:solidFill>
                  <a:srgbClr val="1F2937"/>
                </a:solidFill>
                <a:latin typeface="Calibri" pitchFamily="34" charset="0"/>
                <a:ea typeface="Calibri" pitchFamily="34" charset="-122"/>
                <a:cs typeface="Calibri" pitchFamily="34" charset="-120"/>
              </a:rPr>
              <a:t>Tarsal bezler. Göz kapağında bulunan yağ bezleri</a:t>
            </a:r>
            <a:endParaRPr lang="en-US" sz="1800" dirty="0"/>
          </a:p>
        </p:txBody>
      </p:sp>
      <p:sp>
        <p:nvSpPr>
          <p:cNvPr id="14" name="Shape 12"/>
          <p:cNvSpPr/>
          <p:nvPr/>
        </p:nvSpPr>
        <p:spPr>
          <a:xfrm>
            <a:off x="548640" y="4854550"/>
            <a:ext cx="11094415" cy="821131"/>
          </a:xfrm>
          <a:prstGeom prst="roundRect">
            <a:avLst>
              <a:gd name="adj" fmla="val 7795"/>
            </a:avLst>
          </a:prstGeom>
          <a:solidFill>
            <a:srgbClr val="E6F5EF"/>
          </a:solidFill>
          <a:ln/>
        </p:spPr>
      </p:sp>
      <p:sp>
        <p:nvSpPr>
          <p:cNvPr id="15" name="Text 13"/>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gl. lacrimalis (L) (gl lakrimalis): </a:t>
            </a:r>
            <a:r>
              <a:rPr lang="en-US" sz="1800" dirty="0">
                <a:solidFill>
                  <a:srgbClr val="1F2937"/>
                </a:solidFill>
                <a:latin typeface="Calibri" pitchFamily="34" charset="0"/>
                <a:ea typeface="Calibri" pitchFamily="34" charset="-122"/>
                <a:cs typeface="Calibri" pitchFamily="34" charset="-120"/>
              </a:rPr>
              <a:t>Lakrimal bez. Göz yaşı bezi. Orbitanın ön-üst bölgesinde yerleşik bezlerdir.</a:t>
            </a:r>
            <a:endParaRPr lang="en-US" sz="1800" dirty="0"/>
          </a:p>
        </p:txBody>
      </p:sp>
      <p:sp>
        <p:nvSpPr>
          <p:cNvPr id="16" name="Shape 14"/>
          <p:cNvSpPr/>
          <p:nvPr/>
        </p:nvSpPr>
        <p:spPr>
          <a:xfrm>
            <a:off x="548640" y="5767121"/>
            <a:ext cx="11094415" cy="542239"/>
          </a:xfrm>
          <a:prstGeom prst="roundRect">
            <a:avLst>
              <a:gd name="adj" fmla="val 11804"/>
            </a:avLst>
          </a:prstGeom>
          <a:solidFill>
            <a:srgbClr val="E6F5EF"/>
          </a:solidFill>
          <a:ln/>
        </p:spPr>
      </p:sp>
      <p:sp>
        <p:nvSpPr>
          <p:cNvPr id="17" name="Text 15"/>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photo (G) (foto): </a:t>
            </a:r>
            <a:r>
              <a:rPr lang="en-US" sz="1800" dirty="0">
                <a:solidFill>
                  <a:srgbClr val="1F2937"/>
                </a:solidFill>
                <a:latin typeface="Calibri" pitchFamily="34" charset="0"/>
                <a:ea typeface="Calibri" pitchFamily="34" charset="-122"/>
                <a:cs typeface="Calibri" pitchFamily="34" charset="-120"/>
              </a:rPr>
              <a:t>Işık</a:t>
            </a:r>
            <a:endParaRPr lang="en-US" sz="18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307</a:t>
            </a:r>
            <a:endParaRPr lang="en-US" sz="1000" dirty="0"/>
          </a:p>
        </p:txBody>
      </p:sp>
      <p:sp>
        <p:nvSpPr>
          <p:cNvPr id="6" name="Shape 4"/>
          <p:cNvSpPr/>
          <p:nvPr/>
        </p:nvSpPr>
        <p:spPr>
          <a:xfrm>
            <a:off x="548640" y="1553058"/>
            <a:ext cx="11094415" cy="1225702"/>
          </a:xfrm>
          <a:prstGeom prst="roundRect">
            <a:avLst>
              <a:gd name="adj" fmla="val 5222"/>
            </a:avLst>
          </a:prstGeom>
          <a:solidFill>
            <a:srgbClr val="E6F5EF"/>
          </a:solidFill>
          <a:ln/>
        </p:spPr>
      </p:sp>
      <p:sp>
        <p:nvSpPr>
          <p:cNvPr id="7" name="Text 5"/>
          <p:cNvSpPr txBox="1"/>
          <p:nvPr/>
        </p:nvSpPr>
        <p:spPr>
          <a:xfrm>
            <a:off x="704088" y="1626210"/>
            <a:ext cx="10783519" cy="1079398"/>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scotoma (G) (skotom): </a:t>
            </a:r>
            <a:r>
              <a:rPr lang="en-US" sz="1600" dirty="0">
                <a:solidFill>
                  <a:srgbClr val="1F2937"/>
                </a:solidFill>
                <a:latin typeface="Calibri" pitchFamily="34" charset="0"/>
                <a:ea typeface="Calibri" pitchFamily="34" charset="-122"/>
                <a:cs typeface="Calibri" pitchFamily="34" charset="-120"/>
              </a:rPr>
              <a:t>Görme alanındaki kör nokta. Görme alanının herhangi bir  yerindeki boşluklar. Bu boşluklara rastlayan kısım hasta tarafından görülemez. Eğer skotom makulada ise hasta görüş azlığından çok rahatsız olur. Eğer görme alanının başka bir yerinde ve özellikle ufak ise fazla rahatsız olmaz. Bazen farkına bile varmayabilir.</a:t>
            </a:r>
            <a:endParaRPr lang="en-US" sz="1600" dirty="0"/>
          </a:p>
        </p:txBody>
      </p:sp>
      <p:sp>
        <p:nvSpPr>
          <p:cNvPr id="8" name="Shape 6"/>
          <p:cNvSpPr/>
          <p:nvPr/>
        </p:nvSpPr>
        <p:spPr>
          <a:xfrm>
            <a:off x="548640" y="2960218"/>
            <a:ext cx="11094415" cy="481990"/>
          </a:xfrm>
          <a:prstGeom prst="roundRect">
            <a:avLst>
              <a:gd name="adj" fmla="val 13280"/>
            </a:avLst>
          </a:prstGeom>
          <a:solidFill>
            <a:srgbClr val="E6F5EF"/>
          </a:solidFill>
          <a:ln/>
        </p:spPr>
      </p:sp>
      <p:sp>
        <p:nvSpPr>
          <p:cNvPr id="9" name="Text 7"/>
          <p:cNvSpPr txBox="1"/>
          <p:nvPr/>
        </p:nvSpPr>
        <p:spPr>
          <a:xfrm>
            <a:off x="704088" y="303337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epiphora (G) (epifora): </a:t>
            </a:r>
            <a:r>
              <a:rPr lang="en-US" sz="1600" dirty="0">
                <a:solidFill>
                  <a:srgbClr val="1F2937"/>
                </a:solidFill>
                <a:latin typeface="Calibri" pitchFamily="34" charset="0"/>
                <a:ea typeface="Calibri" pitchFamily="34" charset="-122"/>
                <a:cs typeface="Calibri" pitchFamily="34" charset="-120"/>
              </a:rPr>
              <a:t>Aşırı gözyaşı gelişi</a:t>
            </a:r>
            <a:endParaRPr lang="en-US" sz="1600" dirty="0"/>
          </a:p>
        </p:txBody>
      </p:sp>
      <p:sp>
        <p:nvSpPr>
          <p:cNvPr id="10" name="Shape 8"/>
          <p:cNvSpPr/>
          <p:nvPr/>
        </p:nvSpPr>
        <p:spPr>
          <a:xfrm>
            <a:off x="548640" y="3533648"/>
            <a:ext cx="11094415" cy="481990"/>
          </a:xfrm>
          <a:prstGeom prst="roundRect">
            <a:avLst>
              <a:gd name="adj" fmla="val 13280"/>
            </a:avLst>
          </a:prstGeom>
          <a:solidFill>
            <a:srgbClr val="E6F5EF"/>
          </a:solidFill>
          <a:ln/>
        </p:spPr>
      </p:sp>
      <p:sp>
        <p:nvSpPr>
          <p:cNvPr id="11" name="Text 9"/>
          <p:cNvSpPr txBox="1"/>
          <p:nvPr/>
        </p:nvSpPr>
        <p:spPr>
          <a:xfrm>
            <a:off x="704088" y="360680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photophobia (G) (fotofobi): </a:t>
            </a:r>
            <a:r>
              <a:rPr lang="en-US" sz="1600" dirty="0">
                <a:solidFill>
                  <a:srgbClr val="1F2937"/>
                </a:solidFill>
                <a:latin typeface="Calibri" pitchFamily="34" charset="0"/>
                <a:ea typeface="Calibri" pitchFamily="34" charset="-122"/>
                <a:cs typeface="Calibri" pitchFamily="34" charset="-120"/>
              </a:rPr>
              <a:t>Işıktan rahatsız olma</a:t>
            </a:r>
            <a:endParaRPr lang="en-US" sz="1600" dirty="0"/>
          </a:p>
        </p:txBody>
      </p:sp>
      <p:sp>
        <p:nvSpPr>
          <p:cNvPr id="12" name="Shape 10"/>
          <p:cNvSpPr/>
          <p:nvPr/>
        </p:nvSpPr>
        <p:spPr>
          <a:xfrm>
            <a:off x="548640" y="4107078"/>
            <a:ext cx="11094415" cy="481990"/>
          </a:xfrm>
          <a:prstGeom prst="roundRect">
            <a:avLst>
              <a:gd name="adj" fmla="val 13280"/>
            </a:avLst>
          </a:prstGeom>
          <a:solidFill>
            <a:srgbClr val="E6F5EF"/>
          </a:solidFill>
          <a:ln/>
        </p:spPr>
      </p:sp>
      <p:sp>
        <p:nvSpPr>
          <p:cNvPr id="13" name="Text 11"/>
          <p:cNvSpPr txBox="1"/>
          <p:nvPr/>
        </p:nvSpPr>
        <p:spPr>
          <a:xfrm>
            <a:off x="704088" y="4180230"/>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strabismus (G): </a:t>
            </a:r>
            <a:r>
              <a:rPr lang="en-US" sz="1600" dirty="0">
                <a:solidFill>
                  <a:srgbClr val="1F2937"/>
                </a:solidFill>
                <a:latin typeface="Calibri" pitchFamily="34" charset="0"/>
                <a:ea typeface="Calibri" pitchFamily="34" charset="-122"/>
                <a:cs typeface="Calibri" pitchFamily="34" charset="-120"/>
              </a:rPr>
              <a:t>Şaşılık. Gözlerden birinin diğerine paralel olmaktan sapması</a:t>
            </a:r>
            <a:endParaRPr lang="en-US" sz="1600" dirty="0"/>
          </a:p>
        </p:txBody>
      </p:sp>
      <p:sp>
        <p:nvSpPr>
          <p:cNvPr id="14" name="Shape 12"/>
          <p:cNvSpPr/>
          <p:nvPr/>
        </p:nvSpPr>
        <p:spPr>
          <a:xfrm>
            <a:off x="548640" y="4680509"/>
            <a:ext cx="11094415" cy="481990"/>
          </a:xfrm>
          <a:prstGeom prst="roundRect">
            <a:avLst>
              <a:gd name="adj" fmla="val 13280"/>
            </a:avLst>
          </a:prstGeom>
          <a:solidFill>
            <a:srgbClr val="E6F5EF"/>
          </a:solidFill>
          <a:ln/>
        </p:spPr>
      </p:sp>
      <p:sp>
        <p:nvSpPr>
          <p:cNvPr id="15" name="Text 13"/>
          <p:cNvSpPr txBox="1"/>
          <p:nvPr/>
        </p:nvSpPr>
        <p:spPr>
          <a:xfrm>
            <a:off x="704088" y="475366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nystagmus (G) (nistagmus): </a:t>
            </a:r>
            <a:r>
              <a:rPr lang="en-US" sz="1600" dirty="0">
                <a:solidFill>
                  <a:srgbClr val="1F2937"/>
                </a:solidFill>
                <a:latin typeface="Calibri" pitchFamily="34" charset="0"/>
                <a:ea typeface="Calibri" pitchFamily="34" charset="-122"/>
                <a:cs typeface="Calibri" pitchFamily="34" charset="-120"/>
              </a:rPr>
              <a:t>Gözlerin yatay, dikey ya da daire çizecek biçimde ritmik olarak titreşmesi</a:t>
            </a:r>
            <a:endParaRPr lang="en-US" sz="1600" dirty="0"/>
          </a:p>
        </p:txBody>
      </p:sp>
      <p:sp>
        <p:nvSpPr>
          <p:cNvPr id="16" name="Shape 14"/>
          <p:cNvSpPr/>
          <p:nvPr/>
        </p:nvSpPr>
        <p:spPr>
          <a:xfrm>
            <a:off x="548640" y="5253939"/>
            <a:ext cx="11094415" cy="481990"/>
          </a:xfrm>
          <a:prstGeom prst="roundRect">
            <a:avLst>
              <a:gd name="adj" fmla="val 13280"/>
            </a:avLst>
          </a:prstGeom>
          <a:solidFill>
            <a:srgbClr val="E6F5EF"/>
          </a:solidFill>
          <a:ln/>
        </p:spPr>
      </p:sp>
      <p:sp>
        <p:nvSpPr>
          <p:cNvPr id="17" name="Text 15"/>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diplopia (G) (diplopi): </a:t>
            </a:r>
            <a:r>
              <a:rPr lang="en-US" sz="1600" dirty="0">
                <a:solidFill>
                  <a:srgbClr val="1F2937"/>
                </a:solidFill>
                <a:latin typeface="Calibri" pitchFamily="34" charset="0"/>
                <a:ea typeface="Calibri" pitchFamily="34" charset="-122"/>
                <a:cs typeface="Calibri" pitchFamily="34" charset="-120"/>
              </a:rPr>
              <a:t>Çift görme</a:t>
            </a:r>
            <a:endParaRPr lang="en-US" sz="1600" dirty="0"/>
          </a:p>
        </p:txBody>
      </p:sp>
      <p:sp>
        <p:nvSpPr>
          <p:cNvPr id="18" name="Shape 16"/>
          <p:cNvSpPr/>
          <p:nvPr/>
        </p:nvSpPr>
        <p:spPr>
          <a:xfrm>
            <a:off x="548640" y="5827370"/>
            <a:ext cx="11094415" cy="481990"/>
          </a:xfrm>
          <a:prstGeom prst="roundRect">
            <a:avLst>
              <a:gd name="adj" fmla="val 13280"/>
            </a:avLst>
          </a:prstGeom>
          <a:solidFill>
            <a:srgbClr val="E6F5EF"/>
          </a:solidFill>
          <a:ln/>
        </p:spPr>
      </p:sp>
      <p:sp>
        <p:nvSpPr>
          <p:cNvPr id="19" name="Text 17"/>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amblyopia (G) (ambliyopi): </a:t>
            </a:r>
            <a:r>
              <a:rPr lang="en-US" sz="1600" dirty="0">
                <a:solidFill>
                  <a:srgbClr val="1F2937"/>
                </a:solidFill>
                <a:latin typeface="Calibri" pitchFamily="34" charset="0"/>
                <a:ea typeface="Calibri" pitchFamily="34" charset="-122"/>
                <a:cs typeface="Calibri" pitchFamily="34" charset="-120"/>
              </a:rPr>
              <a:t>Görme keskinliğinin azalması. Bulanık görme</a:t>
            </a:r>
            <a:endParaRPr lang="en-US" sz="16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308</a:t>
            </a:r>
            <a:endParaRPr lang="en-US" sz="1000" dirty="0"/>
          </a:p>
        </p:txBody>
      </p:sp>
      <p:sp>
        <p:nvSpPr>
          <p:cNvPr id="6" name="Shape 4"/>
          <p:cNvSpPr/>
          <p:nvPr/>
        </p:nvSpPr>
        <p:spPr>
          <a:xfrm>
            <a:off x="548640" y="1715821"/>
            <a:ext cx="11094415" cy="729894"/>
          </a:xfrm>
          <a:prstGeom prst="roundRect">
            <a:avLst>
              <a:gd name="adj" fmla="val 8769"/>
            </a:avLst>
          </a:prstGeom>
          <a:solidFill>
            <a:srgbClr val="E6F5EF"/>
          </a:solidFill>
          <a:ln/>
        </p:spPr>
      </p:sp>
      <p:sp>
        <p:nvSpPr>
          <p:cNvPr id="7" name="Text 5"/>
          <p:cNvSpPr txBox="1"/>
          <p:nvPr/>
        </p:nvSpPr>
        <p:spPr>
          <a:xfrm>
            <a:off x="704088" y="178897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pterygium (G) (pterijiyum): </a:t>
            </a:r>
            <a:r>
              <a:rPr lang="en-US" sz="1600" dirty="0">
                <a:solidFill>
                  <a:srgbClr val="1F2937"/>
                </a:solidFill>
                <a:latin typeface="Calibri" pitchFamily="34" charset="0"/>
                <a:ea typeface="Calibri" pitchFamily="34" charset="-122"/>
                <a:cs typeface="Calibri" pitchFamily="34" charset="-120"/>
              </a:rPr>
              <a:t>Göz kapaklarının birleştiği köşe ile kornea arasında, konjunktivanın bir bölümünün kalınlaşmasıyla oluşan üçgen şeklinde zarımsı oluşum</a:t>
            </a:r>
            <a:endParaRPr lang="en-US" sz="1600" dirty="0"/>
          </a:p>
        </p:txBody>
      </p:sp>
      <p:sp>
        <p:nvSpPr>
          <p:cNvPr id="8" name="Shape 6"/>
          <p:cNvSpPr/>
          <p:nvPr/>
        </p:nvSpPr>
        <p:spPr>
          <a:xfrm>
            <a:off x="548640" y="2789936"/>
            <a:ext cx="11094415" cy="481990"/>
          </a:xfrm>
          <a:prstGeom prst="roundRect">
            <a:avLst>
              <a:gd name="adj" fmla="val 13280"/>
            </a:avLst>
          </a:prstGeom>
          <a:solidFill>
            <a:srgbClr val="E6F5EF"/>
          </a:solidFill>
          <a:ln/>
        </p:spPr>
      </p:sp>
      <p:sp>
        <p:nvSpPr>
          <p:cNvPr id="9" name="Text 7"/>
          <p:cNvSpPr txBox="1"/>
          <p:nvPr/>
        </p:nvSpPr>
        <p:spPr>
          <a:xfrm>
            <a:off x="704088" y="2863088"/>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ophtalmoplegia (G) (oftalmopleji): </a:t>
            </a:r>
            <a:r>
              <a:rPr lang="en-US" sz="1600" dirty="0">
                <a:solidFill>
                  <a:srgbClr val="1F2937"/>
                </a:solidFill>
                <a:latin typeface="Calibri" pitchFamily="34" charset="0"/>
                <a:ea typeface="Calibri" pitchFamily="34" charset="-122"/>
                <a:cs typeface="Calibri" pitchFamily="34" charset="-120"/>
              </a:rPr>
              <a:t>Gözün en dış katmanında görülen felçler</a:t>
            </a:r>
            <a:endParaRPr lang="en-US" sz="1600" dirty="0"/>
          </a:p>
        </p:txBody>
      </p:sp>
      <p:sp>
        <p:nvSpPr>
          <p:cNvPr id="10" name="Shape 8"/>
          <p:cNvSpPr/>
          <p:nvPr/>
        </p:nvSpPr>
        <p:spPr>
          <a:xfrm>
            <a:off x="548640" y="3363366"/>
            <a:ext cx="11094415" cy="729894"/>
          </a:xfrm>
          <a:prstGeom prst="roundRect">
            <a:avLst>
              <a:gd name="adj" fmla="val 8769"/>
            </a:avLst>
          </a:prstGeom>
          <a:solidFill>
            <a:srgbClr val="E6F5EF"/>
          </a:solidFill>
          <a:ln/>
        </p:spPr>
      </p:sp>
      <p:sp>
        <p:nvSpPr>
          <p:cNvPr id="11" name="Text 9"/>
          <p:cNvSpPr txBox="1"/>
          <p:nvPr/>
        </p:nvSpPr>
        <p:spPr>
          <a:xfrm>
            <a:off x="704088" y="343651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hypermetropia (G) (hipermetropi): </a:t>
            </a:r>
            <a:r>
              <a:rPr lang="en-US" sz="1600" dirty="0">
                <a:solidFill>
                  <a:srgbClr val="1F2937"/>
                </a:solidFill>
                <a:latin typeface="Calibri" pitchFamily="34" charset="0"/>
                <a:ea typeface="Calibri" pitchFamily="34" charset="-122"/>
                <a:cs typeface="Calibri" pitchFamily="34" charset="-120"/>
              </a:rPr>
              <a:t>Göze paralel gelen ışınların retinanın arkasında odaklandığı kırma kusurudur. Bu tür hastalar yakını net göremez</a:t>
            </a:r>
            <a:endParaRPr lang="en-US" sz="1600" dirty="0"/>
          </a:p>
        </p:txBody>
      </p:sp>
      <p:sp>
        <p:nvSpPr>
          <p:cNvPr id="12" name="Shape 10"/>
          <p:cNvSpPr/>
          <p:nvPr/>
        </p:nvSpPr>
        <p:spPr>
          <a:xfrm>
            <a:off x="548640" y="4184701"/>
            <a:ext cx="11094415" cy="729894"/>
          </a:xfrm>
          <a:prstGeom prst="roundRect">
            <a:avLst>
              <a:gd name="adj" fmla="val 8769"/>
            </a:avLst>
          </a:prstGeom>
          <a:solidFill>
            <a:srgbClr val="E6F5EF"/>
          </a:solidFill>
          <a:ln/>
        </p:spPr>
      </p:sp>
      <p:sp>
        <p:nvSpPr>
          <p:cNvPr id="13" name="Text 11"/>
          <p:cNvSpPr txBox="1"/>
          <p:nvPr/>
        </p:nvSpPr>
        <p:spPr>
          <a:xfrm>
            <a:off x="704088" y="425785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myopia (G) (miyopi): </a:t>
            </a:r>
            <a:r>
              <a:rPr lang="en-US" sz="1600" dirty="0">
                <a:solidFill>
                  <a:srgbClr val="1F2937"/>
                </a:solidFill>
                <a:latin typeface="Calibri" pitchFamily="34" charset="0"/>
                <a:ea typeface="Calibri" pitchFamily="34" charset="-122"/>
                <a:cs typeface="Calibri" pitchFamily="34" charset="-120"/>
              </a:rPr>
              <a:t>Göze gelen paralel ışınların retinanın önünde odaklandığı kırma kusurudur. Bu tür hastalar uzağı net göremezler.</a:t>
            </a:r>
            <a:endParaRPr lang="en-US" sz="1600" dirty="0"/>
          </a:p>
        </p:txBody>
      </p:sp>
      <p:sp>
        <p:nvSpPr>
          <p:cNvPr id="14" name="Shape 12"/>
          <p:cNvSpPr/>
          <p:nvPr/>
        </p:nvSpPr>
        <p:spPr>
          <a:xfrm>
            <a:off x="548640" y="5006035"/>
            <a:ext cx="11094415" cy="729894"/>
          </a:xfrm>
          <a:prstGeom prst="roundRect">
            <a:avLst>
              <a:gd name="adj" fmla="val 8769"/>
            </a:avLst>
          </a:prstGeom>
          <a:solidFill>
            <a:srgbClr val="E6F5EF"/>
          </a:solidFill>
          <a:ln/>
        </p:spPr>
      </p:sp>
      <p:sp>
        <p:nvSpPr>
          <p:cNvPr id="15" name="Text 13"/>
          <p:cNvSpPr txBox="1"/>
          <p:nvPr/>
        </p:nvSpPr>
        <p:spPr>
          <a:xfrm>
            <a:off x="704088" y="5079187"/>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astigmatism (G) (astigmatizm): </a:t>
            </a:r>
            <a:r>
              <a:rPr lang="en-US" sz="1600" dirty="0">
                <a:solidFill>
                  <a:srgbClr val="1F2937"/>
                </a:solidFill>
                <a:latin typeface="Calibri" pitchFamily="34" charset="0"/>
                <a:ea typeface="Calibri" pitchFamily="34" charset="-122"/>
                <a:cs typeface="Calibri" pitchFamily="34" charset="-120"/>
              </a:rPr>
              <a:t>Gözün kırma gücü göz küresinin farklı meridyenlerinde başka başkadır. Bu nedenle görüntü bozuk olur.</a:t>
            </a:r>
            <a:endParaRPr lang="en-US" sz="1600" dirty="0"/>
          </a:p>
        </p:txBody>
      </p:sp>
      <p:sp>
        <p:nvSpPr>
          <p:cNvPr id="16" name="Shape 14"/>
          <p:cNvSpPr/>
          <p:nvPr/>
        </p:nvSpPr>
        <p:spPr>
          <a:xfrm>
            <a:off x="548640" y="5827370"/>
            <a:ext cx="11094415" cy="481990"/>
          </a:xfrm>
          <a:prstGeom prst="roundRect">
            <a:avLst>
              <a:gd name="adj" fmla="val 13280"/>
            </a:avLst>
          </a:prstGeom>
          <a:solidFill>
            <a:srgbClr val="E6F5EF"/>
          </a:solidFill>
          <a:ln/>
        </p:spPr>
      </p:sp>
      <p:sp>
        <p:nvSpPr>
          <p:cNvPr id="17" name="Text 15"/>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presbyopia (G) (presbiyopi): </a:t>
            </a:r>
            <a:r>
              <a:rPr lang="en-US" sz="1600" dirty="0">
                <a:solidFill>
                  <a:srgbClr val="1F2937"/>
                </a:solidFill>
                <a:latin typeface="Calibri" pitchFamily="34" charset="0"/>
                <a:ea typeface="Calibri" pitchFamily="34" charset="-122"/>
                <a:cs typeface="Calibri" pitchFamily="34" charset="-120"/>
              </a:rPr>
              <a:t>İlerleyen yaşla birlikte yakın görmede ortaya çıkan bir çeşit hipermetropidir.</a:t>
            </a:r>
            <a:endParaRPr lang="en-US" sz="16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309</a:t>
            </a:r>
            <a:endParaRPr lang="en-US" sz="1000" dirty="0"/>
          </a:p>
        </p:txBody>
      </p:sp>
      <p:sp>
        <p:nvSpPr>
          <p:cNvPr id="6" name="Shape 4"/>
          <p:cNvSpPr/>
          <p:nvPr/>
        </p:nvSpPr>
        <p:spPr>
          <a:xfrm>
            <a:off x="548640" y="1746504"/>
            <a:ext cx="5410048" cy="684276"/>
          </a:xfrm>
          <a:prstGeom prst="roundRect">
            <a:avLst>
              <a:gd name="adj" fmla="val 9354"/>
            </a:avLst>
          </a:prstGeom>
          <a:solidFill>
            <a:srgbClr val="E6F5EF"/>
          </a:solidFill>
          <a:ln/>
        </p:spPr>
      </p:sp>
      <p:sp>
        <p:nvSpPr>
          <p:cNvPr id="7" name="Text 5"/>
          <p:cNvSpPr txBox="1"/>
          <p:nvPr/>
        </p:nvSpPr>
        <p:spPr>
          <a:xfrm>
            <a:off x="704088"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dactriostenosis (G) (daktriyostenoz): </a:t>
            </a:r>
            <a:r>
              <a:rPr lang="en-US" sz="1500" dirty="0">
                <a:solidFill>
                  <a:srgbClr val="1F2937"/>
                </a:solidFill>
                <a:latin typeface="Calibri" pitchFamily="34" charset="0"/>
                <a:ea typeface="Calibri" pitchFamily="34" charset="-122"/>
                <a:cs typeface="Calibri" pitchFamily="34" charset="-120"/>
              </a:rPr>
              <a:t>Nazolakrimal kanalın ya doğuştan ya da enfeksiyon nedeniyle daralması</a:t>
            </a:r>
            <a:endParaRPr lang="en-US" sz="1500" dirty="0"/>
          </a:p>
        </p:txBody>
      </p:sp>
      <p:sp>
        <p:nvSpPr>
          <p:cNvPr id="8" name="Shape 6"/>
          <p:cNvSpPr/>
          <p:nvPr/>
        </p:nvSpPr>
        <p:spPr>
          <a:xfrm>
            <a:off x="548640" y="2522220"/>
            <a:ext cx="5410048" cy="684276"/>
          </a:xfrm>
          <a:prstGeom prst="roundRect">
            <a:avLst>
              <a:gd name="adj" fmla="val 9354"/>
            </a:avLst>
          </a:prstGeom>
          <a:solidFill>
            <a:srgbClr val="E6F5EF"/>
          </a:solidFill>
          <a:ln/>
        </p:spPr>
      </p:sp>
      <p:sp>
        <p:nvSpPr>
          <p:cNvPr id="9" name="Text 7"/>
          <p:cNvSpPr txBox="1"/>
          <p:nvPr/>
        </p:nvSpPr>
        <p:spPr>
          <a:xfrm>
            <a:off x="704088" y="2595372"/>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scleritis (G) (sklerit): </a:t>
            </a:r>
            <a:r>
              <a:rPr lang="en-US" sz="1500" dirty="0">
                <a:solidFill>
                  <a:srgbClr val="1F2937"/>
                </a:solidFill>
                <a:latin typeface="Calibri" pitchFamily="34" charset="0"/>
                <a:ea typeface="Calibri" pitchFamily="34" charset="-122"/>
                <a:cs typeface="Calibri" pitchFamily="34" charset="-120"/>
              </a:rPr>
              <a:t>Sklera dokularının derin, genellikle lokalize iltihaplaşmasıdır.</a:t>
            </a:r>
            <a:endParaRPr lang="en-US" sz="1500" dirty="0"/>
          </a:p>
        </p:txBody>
      </p:sp>
      <p:sp>
        <p:nvSpPr>
          <p:cNvPr id="10" name="Shape 8"/>
          <p:cNvSpPr/>
          <p:nvPr/>
        </p:nvSpPr>
        <p:spPr>
          <a:xfrm>
            <a:off x="548640" y="3297936"/>
            <a:ext cx="5410048" cy="684276"/>
          </a:xfrm>
          <a:prstGeom prst="roundRect">
            <a:avLst>
              <a:gd name="adj" fmla="val 9354"/>
            </a:avLst>
          </a:prstGeom>
          <a:solidFill>
            <a:srgbClr val="E6F5EF"/>
          </a:solidFill>
          <a:ln/>
        </p:spPr>
      </p:sp>
      <p:sp>
        <p:nvSpPr>
          <p:cNvPr id="11" name="Text 9"/>
          <p:cNvSpPr txBox="1"/>
          <p:nvPr/>
        </p:nvSpPr>
        <p:spPr>
          <a:xfrm>
            <a:off x="704088" y="337108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keratomalacia (G) (keratomalasi): </a:t>
            </a:r>
            <a:r>
              <a:rPr lang="en-US" sz="1500" dirty="0">
                <a:solidFill>
                  <a:srgbClr val="1F2937"/>
                </a:solidFill>
                <a:latin typeface="Calibri" pitchFamily="34" charset="0"/>
                <a:ea typeface="Calibri" pitchFamily="34" charset="-122"/>
                <a:cs typeface="Calibri" pitchFamily="34" charset="-120"/>
              </a:rPr>
              <a:t>Korneanın beslenme bozukluğu sonucu yumuşaması</a:t>
            </a:r>
            <a:endParaRPr lang="en-US" sz="1500" dirty="0"/>
          </a:p>
        </p:txBody>
      </p:sp>
      <p:sp>
        <p:nvSpPr>
          <p:cNvPr id="12" name="Shape 10"/>
          <p:cNvSpPr/>
          <p:nvPr/>
        </p:nvSpPr>
        <p:spPr>
          <a:xfrm>
            <a:off x="548640" y="4073652"/>
            <a:ext cx="5410048" cy="916686"/>
          </a:xfrm>
          <a:prstGeom prst="roundRect">
            <a:avLst>
              <a:gd name="adj" fmla="val 6983"/>
            </a:avLst>
          </a:prstGeom>
          <a:solidFill>
            <a:srgbClr val="E6F5EF"/>
          </a:solidFill>
          <a:ln/>
        </p:spPr>
      </p:sp>
      <p:sp>
        <p:nvSpPr>
          <p:cNvPr id="13" name="Text 11"/>
          <p:cNvSpPr txBox="1"/>
          <p:nvPr/>
        </p:nvSpPr>
        <p:spPr>
          <a:xfrm>
            <a:off x="704088" y="4146804"/>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keratoconus (G) (keratokonus): </a:t>
            </a:r>
            <a:r>
              <a:rPr lang="en-US" sz="1500" dirty="0">
                <a:solidFill>
                  <a:srgbClr val="1F2937"/>
                </a:solidFill>
                <a:latin typeface="Calibri" pitchFamily="34" charset="0"/>
                <a:ea typeface="Calibri" pitchFamily="34" charset="-122"/>
                <a:cs typeface="Calibri" pitchFamily="34" charset="-120"/>
              </a:rPr>
              <a:t>Daha çok 10-20 yaş arasında başlayan, genellikle iki yanlı olan ve yavaş yavaş ilerleyen bir kornea genişlemesidir.</a:t>
            </a:r>
            <a:endParaRPr lang="en-US" sz="1500" dirty="0"/>
          </a:p>
        </p:txBody>
      </p:sp>
      <p:sp>
        <p:nvSpPr>
          <p:cNvPr id="14" name="Shape 12"/>
          <p:cNvSpPr/>
          <p:nvPr/>
        </p:nvSpPr>
        <p:spPr>
          <a:xfrm>
            <a:off x="548640" y="5081778"/>
            <a:ext cx="5410048" cy="451866"/>
          </a:xfrm>
          <a:prstGeom prst="roundRect">
            <a:avLst>
              <a:gd name="adj" fmla="val 14165"/>
            </a:avLst>
          </a:prstGeom>
          <a:solidFill>
            <a:srgbClr val="E6F5EF"/>
          </a:solidFill>
          <a:ln/>
        </p:spPr>
      </p:sp>
      <p:sp>
        <p:nvSpPr>
          <p:cNvPr id="15" name="Text 13"/>
          <p:cNvSpPr txBox="1"/>
          <p:nvPr/>
        </p:nvSpPr>
        <p:spPr>
          <a:xfrm>
            <a:off x="704088" y="5154930"/>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iritis (G) (irit): </a:t>
            </a:r>
            <a:r>
              <a:rPr lang="en-US" sz="1500" dirty="0">
                <a:solidFill>
                  <a:srgbClr val="1F2937"/>
                </a:solidFill>
                <a:latin typeface="Calibri" pitchFamily="34" charset="0"/>
                <a:ea typeface="Calibri" pitchFamily="34" charset="-122"/>
                <a:cs typeface="Calibri" pitchFamily="34" charset="-120"/>
              </a:rPr>
              <a:t>İris iltihabı</a:t>
            </a:r>
            <a:endParaRPr lang="en-US" sz="1500" dirty="0"/>
          </a:p>
        </p:txBody>
      </p:sp>
      <p:sp>
        <p:nvSpPr>
          <p:cNvPr id="16" name="Shape 14"/>
          <p:cNvSpPr/>
          <p:nvPr/>
        </p:nvSpPr>
        <p:spPr>
          <a:xfrm>
            <a:off x="548640" y="5625084"/>
            <a:ext cx="5410048" cy="684276"/>
          </a:xfrm>
          <a:prstGeom prst="roundRect">
            <a:avLst>
              <a:gd name="adj" fmla="val 9354"/>
            </a:avLst>
          </a:prstGeom>
          <a:solidFill>
            <a:srgbClr val="E6F5EF"/>
          </a:solidFill>
          <a:ln/>
        </p:spPr>
      </p:sp>
      <p:sp>
        <p:nvSpPr>
          <p:cNvPr id="17" name="Text 15"/>
          <p:cNvSpPr txBox="1"/>
          <p:nvPr/>
        </p:nvSpPr>
        <p:spPr>
          <a:xfrm>
            <a:off x="704088" y="569823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dacryocystitis (G) (dakriyosistit): </a:t>
            </a:r>
            <a:r>
              <a:rPr lang="en-US" sz="1500" dirty="0">
                <a:solidFill>
                  <a:srgbClr val="1F2937"/>
                </a:solidFill>
                <a:latin typeface="Calibri" pitchFamily="34" charset="0"/>
                <a:ea typeface="Calibri" pitchFamily="34" charset="-122"/>
                <a:cs typeface="Calibri" pitchFamily="34" charset="-120"/>
              </a:rPr>
              <a:t>Gözyaşı kesesinin iltihaplaşması</a:t>
            </a:r>
            <a:endParaRPr lang="en-US" sz="1500" dirty="0"/>
          </a:p>
        </p:txBody>
      </p:sp>
      <p:sp>
        <p:nvSpPr>
          <p:cNvPr id="18" name="Shape 16"/>
          <p:cNvSpPr/>
          <p:nvPr/>
        </p:nvSpPr>
        <p:spPr>
          <a:xfrm>
            <a:off x="6233008" y="1746504"/>
            <a:ext cx="5410048" cy="684276"/>
          </a:xfrm>
          <a:prstGeom prst="roundRect">
            <a:avLst>
              <a:gd name="adj" fmla="val 9354"/>
            </a:avLst>
          </a:prstGeom>
          <a:solidFill>
            <a:srgbClr val="E6F5EF"/>
          </a:solidFill>
          <a:ln/>
        </p:spPr>
      </p:sp>
      <p:sp>
        <p:nvSpPr>
          <p:cNvPr id="19" name="Text 17"/>
          <p:cNvSpPr txBox="1"/>
          <p:nvPr/>
        </p:nvSpPr>
        <p:spPr>
          <a:xfrm>
            <a:off x="6388456" y="1819656"/>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blepharitis (G) (blefarit): </a:t>
            </a:r>
            <a:r>
              <a:rPr lang="en-US" sz="1500" dirty="0">
                <a:solidFill>
                  <a:srgbClr val="1F2937"/>
                </a:solidFill>
                <a:latin typeface="Calibri" pitchFamily="34" charset="0"/>
                <a:ea typeface="Calibri" pitchFamily="34" charset="-122"/>
                <a:cs typeface="Calibri" pitchFamily="34" charset="-120"/>
              </a:rPr>
              <a:t>Göz kapağı kenarlarının iltihaplanması</a:t>
            </a:r>
            <a:endParaRPr lang="en-US" sz="1500" dirty="0"/>
          </a:p>
        </p:txBody>
      </p:sp>
      <p:sp>
        <p:nvSpPr>
          <p:cNvPr id="20" name="Shape 18"/>
          <p:cNvSpPr/>
          <p:nvPr/>
        </p:nvSpPr>
        <p:spPr>
          <a:xfrm>
            <a:off x="6233008" y="2522220"/>
            <a:ext cx="5410048" cy="451866"/>
          </a:xfrm>
          <a:prstGeom prst="roundRect">
            <a:avLst>
              <a:gd name="adj" fmla="val 14165"/>
            </a:avLst>
          </a:prstGeom>
          <a:solidFill>
            <a:srgbClr val="E6F5EF"/>
          </a:solidFill>
          <a:ln/>
        </p:spPr>
      </p:sp>
      <p:sp>
        <p:nvSpPr>
          <p:cNvPr id="21" name="Text 19"/>
          <p:cNvSpPr txBox="1"/>
          <p:nvPr/>
        </p:nvSpPr>
        <p:spPr>
          <a:xfrm>
            <a:off x="6388456" y="2595372"/>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blepharoptosis (G) (blefaroptoz): </a:t>
            </a:r>
            <a:r>
              <a:rPr lang="en-US" sz="1500" dirty="0">
                <a:solidFill>
                  <a:srgbClr val="1F2937"/>
                </a:solidFill>
                <a:latin typeface="Calibri" pitchFamily="34" charset="0"/>
                <a:ea typeface="Calibri" pitchFamily="34" charset="-122"/>
                <a:cs typeface="Calibri" pitchFamily="34" charset="-120"/>
              </a:rPr>
              <a:t>Göz kapağı düşüklüğü</a:t>
            </a:r>
            <a:endParaRPr lang="en-US" sz="1500" dirty="0"/>
          </a:p>
        </p:txBody>
      </p:sp>
      <p:sp>
        <p:nvSpPr>
          <p:cNvPr id="22" name="Shape 20"/>
          <p:cNvSpPr/>
          <p:nvPr/>
        </p:nvSpPr>
        <p:spPr>
          <a:xfrm>
            <a:off x="6233008" y="3065526"/>
            <a:ext cx="5410048" cy="916686"/>
          </a:xfrm>
          <a:prstGeom prst="roundRect">
            <a:avLst>
              <a:gd name="adj" fmla="val 6983"/>
            </a:avLst>
          </a:prstGeom>
          <a:solidFill>
            <a:srgbClr val="E6F5EF"/>
          </a:solidFill>
          <a:ln/>
        </p:spPr>
      </p:sp>
      <p:sp>
        <p:nvSpPr>
          <p:cNvPr id="23" name="Text 21"/>
          <p:cNvSpPr txBox="1"/>
          <p:nvPr/>
        </p:nvSpPr>
        <p:spPr>
          <a:xfrm>
            <a:off x="6388456" y="3138678"/>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arpacık (hordedum, itdirseği): </a:t>
            </a:r>
            <a:r>
              <a:rPr lang="en-US" sz="1500" dirty="0">
                <a:solidFill>
                  <a:srgbClr val="1F2937"/>
                </a:solidFill>
                <a:latin typeface="Calibri" pitchFamily="34" charset="0"/>
                <a:ea typeface="Calibri" pitchFamily="34" charset="-122"/>
                <a:cs typeface="Calibri" pitchFamily="34" charset="-120"/>
              </a:rPr>
              <a:t>Bir veya birkaç Zeis ya da Moll bezinin veya meibomius bezinin akut, lokalize piyojen iltihabı</a:t>
            </a:r>
            <a:endParaRPr lang="en-US" sz="1500" dirty="0"/>
          </a:p>
        </p:txBody>
      </p:sp>
      <p:sp>
        <p:nvSpPr>
          <p:cNvPr id="24" name="Shape 22"/>
          <p:cNvSpPr/>
          <p:nvPr/>
        </p:nvSpPr>
        <p:spPr>
          <a:xfrm>
            <a:off x="6233008" y="4073652"/>
            <a:ext cx="5410048" cy="684276"/>
          </a:xfrm>
          <a:prstGeom prst="roundRect">
            <a:avLst>
              <a:gd name="adj" fmla="val 9354"/>
            </a:avLst>
          </a:prstGeom>
          <a:solidFill>
            <a:srgbClr val="E6F5EF"/>
          </a:solidFill>
          <a:ln/>
        </p:spPr>
      </p:sp>
      <p:sp>
        <p:nvSpPr>
          <p:cNvPr id="25" name="Text 23"/>
          <p:cNvSpPr txBox="1"/>
          <p:nvPr/>
        </p:nvSpPr>
        <p:spPr>
          <a:xfrm>
            <a:off x="6388456" y="4146804"/>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şalazyon: </a:t>
            </a:r>
            <a:r>
              <a:rPr lang="en-US" sz="1500" dirty="0">
                <a:solidFill>
                  <a:srgbClr val="1F2937"/>
                </a:solidFill>
                <a:latin typeface="Calibri" pitchFamily="34" charset="0"/>
                <a:ea typeface="Calibri" pitchFamily="34" charset="-122"/>
                <a:cs typeface="Calibri" pitchFamily="34" charset="-120"/>
              </a:rPr>
              <a:t>Bir meibomius bezinin kronik, granülomatöz genişlemesi</a:t>
            </a:r>
            <a:endParaRPr lang="en-US" sz="15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310</a:t>
            </a:r>
            <a:endParaRPr lang="en-US" sz="1000" dirty="0"/>
          </a:p>
        </p:txBody>
      </p:sp>
      <p:sp>
        <p:nvSpPr>
          <p:cNvPr id="6" name="Shape 4"/>
          <p:cNvSpPr/>
          <p:nvPr/>
        </p:nvSpPr>
        <p:spPr>
          <a:xfrm>
            <a:off x="548640" y="1514145"/>
            <a:ext cx="11094415" cy="638658"/>
          </a:xfrm>
          <a:prstGeom prst="roundRect">
            <a:avLst>
              <a:gd name="adj" fmla="val 10022"/>
            </a:avLst>
          </a:prstGeom>
          <a:solidFill>
            <a:srgbClr val="E6F5EF"/>
          </a:solidFill>
          <a:ln/>
        </p:spPr>
      </p:sp>
      <p:sp>
        <p:nvSpPr>
          <p:cNvPr id="7" name="Text 5"/>
          <p:cNvSpPr txBox="1"/>
          <p:nvPr/>
        </p:nvSpPr>
        <p:spPr>
          <a:xfrm>
            <a:off x="704088" y="1587297"/>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xerophtalmia (G) (kseroftalmi): </a:t>
            </a:r>
            <a:r>
              <a:rPr lang="en-US" sz="1400" dirty="0">
                <a:solidFill>
                  <a:srgbClr val="1F2937"/>
                </a:solidFill>
                <a:latin typeface="Calibri" pitchFamily="34" charset="0"/>
                <a:ea typeface="Calibri" pitchFamily="34" charset="-122"/>
                <a:cs typeface="Calibri" pitchFamily="34" charset="-120"/>
              </a:rPr>
              <a:t>A vitamini noksanlığı ve protein-enerji malnutrasyonuna eşlik eden ve kendisini kuru çıplak bir kornea ile gösteren bir durum</a:t>
            </a:r>
            <a:endParaRPr lang="en-US" sz="1400" dirty="0"/>
          </a:p>
        </p:txBody>
      </p:sp>
      <p:sp>
        <p:nvSpPr>
          <p:cNvPr id="8" name="Shape 6"/>
          <p:cNvSpPr/>
          <p:nvPr/>
        </p:nvSpPr>
        <p:spPr>
          <a:xfrm>
            <a:off x="548640" y="2295347"/>
            <a:ext cx="11094415" cy="421742"/>
          </a:xfrm>
          <a:prstGeom prst="roundRect">
            <a:avLst>
              <a:gd name="adj" fmla="val 15177"/>
            </a:avLst>
          </a:prstGeom>
          <a:solidFill>
            <a:srgbClr val="E6F5EF"/>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entropion (G) (entropiyon): </a:t>
            </a:r>
            <a:r>
              <a:rPr lang="en-US" sz="1400" dirty="0">
                <a:solidFill>
                  <a:srgbClr val="1F2937"/>
                </a:solidFill>
                <a:latin typeface="Calibri" pitchFamily="34" charset="0"/>
                <a:ea typeface="Calibri" pitchFamily="34" charset="-122"/>
                <a:cs typeface="Calibri" pitchFamily="34" charset="-120"/>
              </a:rPr>
              <a:t>Göz kapağının içe dönmesi</a:t>
            </a:r>
            <a:endParaRPr lang="en-US" sz="1400" dirty="0"/>
          </a:p>
        </p:txBody>
      </p:sp>
      <p:sp>
        <p:nvSpPr>
          <p:cNvPr id="10" name="Shape 8"/>
          <p:cNvSpPr/>
          <p:nvPr/>
        </p:nvSpPr>
        <p:spPr>
          <a:xfrm>
            <a:off x="548640" y="2808529"/>
            <a:ext cx="11094415" cy="421742"/>
          </a:xfrm>
          <a:prstGeom prst="roundRect">
            <a:avLst>
              <a:gd name="adj" fmla="val 15177"/>
            </a:avLst>
          </a:prstGeom>
          <a:solidFill>
            <a:srgbClr val="E6F5EF"/>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ectropion (G) (ekrtopiyon): </a:t>
            </a:r>
            <a:r>
              <a:rPr lang="en-US" sz="1400" dirty="0">
                <a:solidFill>
                  <a:srgbClr val="1F2937"/>
                </a:solidFill>
                <a:latin typeface="Calibri" pitchFamily="34" charset="0"/>
                <a:ea typeface="Calibri" pitchFamily="34" charset="-122"/>
                <a:cs typeface="Calibri" pitchFamily="34" charset="-120"/>
              </a:rPr>
              <a:t>Göz kapağının dışa dönmesi</a:t>
            </a:r>
            <a:endParaRPr lang="en-US" sz="1400" dirty="0"/>
          </a:p>
        </p:txBody>
      </p:sp>
      <p:sp>
        <p:nvSpPr>
          <p:cNvPr id="12" name="Shape 10"/>
          <p:cNvSpPr/>
          <p:nvPr/>
        </p:nvSpPr>
        <p:spPr>
          <a:xfrm>
            <a:off x="548640" y="3321710"/>
            <a:ext cx="11094415" cy="421742"/>
          </a:xfrm>
          <a:prstGeom prst="roundRect">
            <a:avLst>
              <a:gd name="adj" fmla="val 15177"/>
            </a:avLst>
          </a:prstGeom>
          <a:solidFill>
            <a:srgbClr val="E6F5EF"/>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conjunctivitis (G) (konjunktivit): </a:t>
            </a:r>
            <a:r>
              <a:rPr lang="en-US" sz="1400" dirty="0">
                <a:solidFill>
                  <a:srgbClr val="1F2937"/>
                </a:solidFill>
                <a:latin typeface="Calibri" pitchFamily="34" charset="0"/>
                <a:ea typeface="Calibri" pitchFamily="34" charset="-122"/>
                <a:cs typeface="Calibri" pitchFamily="34" charset="-120"/>
              </a:rPr>
              <a:t>Konjunktivanın iltihabı</a:t>
            </a:r>
            <a:endParaRPr lang="en-US" sz="1400" dirty="0"/>
          </a:p>
        </p:txBody>
      </p:sp>
      <p:sp>
        <p:nvSpPr>
          <p:cNvPr id="14" name="Shape 12"/>
          <p:cNvSpPr/>
          <p:nvPr/>
        </p:nvSpPr>
        <p:spPr>
          <a:xfrm>
            <a:off x="548640" y="3834892"/>
            <a:ext cx="11094415" cy="421742"/>
          </a:xfrm>
          <a:prstGeom prst="roundRect">
            <a:avLst>
              <a:gd name="adj" fmla="val 15177"/>
            </a:avLst>
          </a:prstGeom>
          <a:solidFill>
            <a:srgbClr val="E6F5EF"/>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keratoconjunctivitis sicca (G) (keratokonjunktivit sikka): </a:t>
            </a:r>
            <a:r>
              <a:rPr lang="en-US" sz="1400" dirty="0">
                <a:solidFill>
                  <a:srgbClr val="1F2937"/>
                </a:solidFill>
                <a:latin typeface="Calibri" pitchFamily="34" charset="0"/>
                <a:ea typeface="Calibri" pitchFamily="34" charset="-122"/>
                <a:cs typeface="Calibri" pitchFamily="34" charset="-120"/>
              </a:rPr>
              <a:t>Her iki gözde de konjunktiva ve korneanın kronik şekilde kuruması</a:t>
            </a:r>
            <a:endParaRPr lang="en-US" sz="1400" dirty="0"/>
          </a:p>
        </p:txBody>
      </p:sp>
      <p:sp>
        <p:nvSpPr>
          <p:cNvPr id="16" name="Shape 14"/>
          <p:cNvSpPr/>
          <p:nvPr/>
        </p:nvSpPr>
        <p:spPr>
          <a:xfrm>
            <a:off x="548640" y="4348074"/>
            <a:ext cx="11094415" cy="421742"/>
          </a:xfrm>
          <a:prstGeom prst="roundRect">
            <a:avLst>
              <a:gd name="adj" fmla="val 15177"/>
            </a:avLst>
          </a:prstGeom>
          <a:solidFill>
            <a:srgbClr val="E6F5EF"/>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cornea ulcere (L) (kornea ülseri): </a:t>
            </a:r>
            <a:r>
              <a:rPr lang="en-US" sz="1400" dirty="0">
                <a:solidFill>
                  <a:srgbClr val="1F2937"/>
                </a:solidFill>
                <a:latin typeface="Calibri" pitchFamily="34" charset="0"/>
                <a:ea typeface="Calibri" pitchFamily="34" charset="-122"/>
                <a:cs typeface="Calibri" pitchFamily="34" charset="-120"/>
              </a:rPr>
              <a:t>Enfeksiyon nedeniyle kornea dokusunda oluşan yerel nekroz</a:t>
            </a:r>
            <a:endParaRPr lang="en-US" sz="1400" dirty="0"/>
          </a:p>
        </p:txBody>
      </p:sp>
      <p:sp>
        <p:nvSpPr>
          <p:cNvPr id="18" name="Shape 16"/>
          <p:cNvSpPr/>
          <p:nvPr/>
        </p:nvSpPr>
        <p:spPr>
          <a:xfrm>
            <a:off x="548640" y="4861255"/>
            <a:ext cx="11094415" cy="421742"/>
          </a:xfrm>
          <a:prstGeom prst="roundRect">
            <a:avLst>
              <a:gd name="adj" fmla="val 15177"/>
            </a:avLst>
          </a:prstGeom>
          <a:solidFill>
            <a:srgbClr val="E6F5EF"/>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glaucoma (G) (glokom): </a:t>
            </a:r>
            <a:r>
              <a:rPr lang="en-US" sz="1400" dirty="0">
                <a:solidFill>
                  <a:srgbClr val="1F2937"/>
                </a:solidFill>
                <a:latin typeface="Calibri" pitchFamily="34" charset="0"/>
                <a:ea typeface="Calibri" pitchFamily="34" charset="-122"/>
                <a:cs typeface="Calibri" pitchFamily="34" charset="-120"/>
              </a:rPr>
              <a:t>Göz içi basıncının artmasıyla belirgin bir hastalıktır</a:t>
            </a:r>
            <a:endParaRPr lang="en-US" sz="1400" dirty="0"/>
          </a:p>
        </p:txBody>
      </p:sp>
      <p:sp>
        <p:nvSpPr>
          <p:cNvPr id="20" name="Shape 18"/>
          <p:cNvSpPr/>
          <p:nvPr/>
        </p:nvSpPr>
        <p:spPr>
          <a:xfrm>
            <a:off x="548640" y="5374437"/>
            <a:ext cx="11094415" cy="421742"/>
          </a:xfrm>
          <a:prstGeom prst="roundRect">
            <a:avLst>
              <a:gd name="adj" fmla="val 15177"/>
            </a:avLst>
          </a:prstGeom>
          <a:solidFill>
            <a:srgbClr val="E6F5EF"/>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catarac (L) (katarak): </a:t>
            </a:r>
            <a:r>
              <a:rPr lang="en-US" sz="1400" dirty="0">
                <a:solidFill>
                  <a:srgbClr val="1F2937"/>
                </a:solidFill>
                <a:latin typeface="Calibri" pitchFamily="34" charset="0"/>
                <a:ea typeface="Calibri" pitchFamily="34" charset="-122"/>
                <a:cs typeface="Calibri" pitchFamily="34" charset="-120"/>
              </a:rPr>
              <a:t>Göz merceğinin opaklaşmasıyla ortaya çıkan bir göz hastalığı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E6F5EF"/>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uveitis (uveit): </a:t>
            </a:r>
            <a:r>
              <a:rPr lang="en-US" sz="1400" dirty="0">
                <a:solidFill>
                  <a:srgbClr val="1F2937"/>
                </a:solidFill>
                <a:latin typeface="Calibri" pitchFamily="34" charset="0"/>
                <a:ea typeface="Calibri" pitchFamily="34" charset="-122"/>
                <a:cs typeface="Calibri" pitchFamily="34" charset="-120"/>
              </a:rPr>
              <a:t>İris, corpus ciliare ve koroid iltihabı</a:t>
            </a:r>
            <a:endParaRPr lang="en-US" sz="14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311</a:t>
            </a:r>
            <a:endParaRPr lang="en-US" sz="1000" dirty="0"/>
          </a:p>
        </p:txBody>
      </p:sp>
      <p:sp>
        <p:nvSpPr>
          <p:cNvPr id="6" name="Shape 4"/>
          <p:cNvSpPr/>
          <p:nvPr/>
        </p:nvSpPr>
        <p:spPr>
          <a:xfrm>
            <a:off x="548640" y="1565529"/>
            <a:ext cx="11094415" cy="684276"/>
          </a:xfrm>
          <a:prstGeom prst="roundRect">
            <a:avLst>
              <a:gd name="adj" fmla="val 9354"/>
            </a:avLst>
          </a:prstGeom>
          <a:solidFill>
            <a:srgbClr val="E6F5EF"/>
          </a:solidFill>
          <a:ln/>
        </p:spPr>
      </p:sp>
      <p:sp>
        <p:nvSpPr>
          <p:cNvPr id="7" name="Text 5"/>
          <p:cNvSpPr txBox="1"/>
          <p:nvPr/>
        </p:nvSpPr>
        <p:spPr>
          <a:xfrm>
            <a:off x="704088" y="1638681"/>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sympathetic ophtalmia (G) (sempatik oftalmi): </a:t>
            </a:r>
            <a:r>
              <a:rPr lang="en-US" sz="1500" dirty="0">
                <a:solidFill>
                  <a:srgbClr val="1F2937"/>
                </a:solidFill>
                <a:latin typeface="Calibri" pitchFamily="34" charset="0"/>
                <a:ea typeface="Calibri" pitchFamily="34" charset="-122"/>
                <a:cs typeface="Calibri" pitchFamily="34" charset="-120"/>
              </a:rPr>
              <a:t>Gözlerden birinin travmaya uğramasından sonra uvea pigmentine karşı bir aşırı duyarlılık reaksiyonu olarak meydana gelen iki yanlı ağır bir granülomatöz uveitis.</a:t>
            </a:r>
            <a:endParaRPr lang="en-US" sz="1500" dirty="0"/>
          </a:p>
        </p:txBody>
      </p:sp>
      <p:sp>
        <p:nvSpPr>
          <p:cNvPr id="8" name="Shape 6"/>
          <p:cNvSpPr/>
          <p:nvPr/>
        </p:nvSpPr>
        <p:spPr>
          <a:xfrm>
            <a:off x="548640" y="2341245"/>
            <a:ext cx="11094415" cy="684276"/>
          </a:xfrm>
          <a:prstGeom prst="roundRect">
            <a:avLst>
              <a:gd name="adj" fmla="val 9354"/>
            </a:avLst>
          </a:prstGeom>
          <a:solidFill>
            <a:srgbClr val="E6F5EF"/>
          </a:solidFill>
          <a:ln/>
        </p:spPr>
      </p:sp>
      <p:sp>
        <p:nvSpPr>
          <p:cNvPr id="9" name="Text 7"/>
          <p:cNvSpPr txBox="1"/>
          <p:nvPr/>
        </p:nvSpPr>
        <p:spPr>
          <a:xfrm>
            <a:off x="704088" y="241439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vascular retinopathy (LG) (vasküler retinopati): </a:t>
            </a:r>
            <a:r>
              <a:rPr lang="en-US" sz="1500" dirty="0">
                <a:solidFill>
                  <a:srgbClr val="1F2937"/>
                </a:solidFill>
                <a:latin typeface="Calibri" pitchFamily="34" charset="0"/>
                <a:ea typeface="Calibri" pitchFamily="34" charset="-122"/>
                <a:cs typeface="Calibri" pitchFamily="34" charset="-120"/>
              </a:rPr>
              <a:t>Gözdeki veya sistemik damar hastalıklarına bağlı olarak oluşan retina kanaması, eksudasyonu, ödemi, iskemi ve enfarktüsü.</a:t>
            </a:r>
            <a:endParaRPr lang="en-US" sz="1500" dirty="0"/>
          </a:p>
        </p:txBody>
      </p:sp>
      <p:sp>
        <p:nvSpPr>
          <p:cNvPr id="10" name="Shape 8"/>
          <p:cNvSpPr/>
          <p:nvPr/>
        </p:nvSpPr>
        <p:spPr>
          <a:xfrm>
            <a:off x="548640" y="3116961"/>
            <a:ext cx="11094415" cy="684276"/>
          </a:xfrm>
          <a:prstGeom prst="roundRect">
            <a:avLst>
              <a:gd name="adj" fmla="val 9354"/>
            </a:avLst>
          </a:prstGeom>
          <a:solidFill>
            <a:srgbClr val="E6F5EF"/>
          </a:solidFill>
          <a:ln/>
        </p:spPr>
      </p:sp>
      <p:sp>
        <p:nvSpPr>
          <p:cNvPr id="11" name="Text 9"/>
          <p:cNvSpPr txBox="1"/>
          <p:nvPr/>
        </p:nvSpPr>
        <p:spPr>
          <a:xfrm>
            <a:off x="704088" y="3190113"/>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retrolental fibrodysplasia (LG) (retrolental fibrodisplazi): </a:t>
            </a:r>
            <a:r>
              <a:rPr lang="en-US" sz="1500" dirty="0">
                <a:solidFill>
                  <a:srgbClr val="1F2937"/>
                </a:solidFill>
                <a:latin typeface="Calibri" pitchFamily="34" charset="0"/>
                <a:ea typeface="Calibri" pitchFamily="34" charset="-122"/>
                <a:cs typeface="Calibri" pitchFamily="34" charset="-120"/>
              </a:rPr>
              <a:t>Prematüre bebeklerde yüksek konsantrasyonda oksiyen verilmesine bağlı olarak gelişen retina damarlarında anormallikle beliren bir hastalık</a:t>
            </a:r>
            <a:endParaRPr lang="en-US" sz="1500" dirty="0"/>
          </a:p>
        </p:txBody>
      </p:sp>
      <p:sp>
        <p:nvSpPr>
          <p:cNvPr id="12" name="Shape 10"/>
          <p:cNvSpPr/>
          <p:nvPr/>
        </p:nvSpPr>
        <p:spPr>
          <a:xfrm>
            <a:off x="548640" y="3995166"/>
            <a:ext cx="11094415" cy="684276"/>
          </a:xfrm>
          <a:prstGeom prst="roundRect">
            <a:avLst>
              <a:gd name="adj" fmla="val 9354"/>
            </a:avLst>
          </a:prstGeom>
          <a:solidFill>
            <a:srgbClr val="E6F5EF"/>
          </a:solidFill>
          <a:ln/>
        </p:spPr>
      </p:sp>
      <p:sp>
        <p:nvSpPr>
          <p:cNvPr id="13" name="Text 11"/>
          <p:cNvSpPr txBox="1"/>
          <p:nvPr/>
        </p:nvSpPr>
        <p:spPr>
          <a:xfrm>
            <a:off x="704088" y="4068318"/>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panophtamitis (G) (panoftalmit): </a:t>
            </a:r>
            <a:r>
              <a:rPr lang="en-US" sz="1500" dirty="0">
                <a:solidFill>
                  <a:srgbClr val="1F2937"/>
                </a:solidFill>
                <a:latin typeface="Calibri" pitchFamily="34" charset="0"/>
                <a:ea typeface="Calibri" pitchFamily="34" charset="-122"/>
                <a:cs typeface="Calibri" pitchFamily="34" charset="-120"/>
              </a:rPr>
              <a:t>Gözün her üç tabakasını da tutan ve genellikle tam tahribatla sonuçlanan irinli bir iltihaplaşma</a:t>
            </a:r>
            <a:endParaRPr lang="en-US" sz="1500" dirty="0"/>
          </a:p>
        </p:txBody>
      </p:sp>
      <p:sp>
        <p:nvSpPr>
          <p:cNvPr id="14" name="Shape 12"/>
          <p:cNvSpPr/>
          <p:nvPr/>
        </p:nvSpPr>
        <p:spPr>
          <a:xfrm>
            <a:off x="548640" y="4770882"/>
            <a:ext cx="11094415" cy="451866"/>
          </a:xfrm>
          <a:prstGeom prst="roundRect">
            <a:avLst>
              <a:gd name="adj" fmla="val 14165"/>
            </a:avLst>
          </a:prstGeom>
          <a:solidFill>
            <a:srgbClr val="E6F5EF"/>
          </a:solidFill>
          <a:ln/>
        </p:spPr>
      </p:sp>
      <p:sp>
        <p:nvSpPr>
          <p:cNvPr id="15" name="Text 13"/>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endophtalmitis (G) (endoftalmit): </a:t>
            </a:r>
            <a:r>
              <a:rPr lang="en-US" sz="1500" dirty="0">
                <a:solidFill>
                  <a:srgbClr val="1F2937"/>
                </a:solidFill>
                <a:latin typeface="Calibri" pitchFamily="34" charset="0"/>
                <a:ea typeface="Calibri" pitchFamily="34" charset="-122"/>
                <a:cs typeface="Calibri" pitchFamily="34" charset="-120"/>
              </a:rPr>
              <a:t>Göz küresi içindeki doku ve oluşumların iltihabı</a:t>
            </a:r>
            <a:endParaRPr lang="en-US" sz="1500" dirty="0"/>
          </a:p>
        </p:txBody>
      </p:sp>
      <p:sp>
        <p:nvSpPr>
          <p:cNvPr id="16" name="Shape 14"/>
          <p:cNvSpPr/>
          <p:nvPr/>
        </p:nvSpPr>
        <p:spPr>
          <a:xfrm>
            <a:off x="548640" y="5314188"/>
            <a:ext cx="11094415" cy="451866"/>
          </a:xfrm>
          <a:prstGeom prst="roundRect">
            <a:avLst>
              <a:gd name="adj" fmla="val 14165"/>
            </a:avLst>
          </a:prstGeom>
          <a:solidFill>
            <a:srgbClr val="E6F5EF"/>
          </a:solidFill>
          <a:ln/>
        </p:spPr>
      </p:sp>
      <p:sp>
        <p:nvSpPr>
          <p:cNvPr id="17" name="Text 15"/>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diabetic retinopathy (G) (diabetik retinopati): </a:t>
            </a:r>
            <a:r>
              <a:rPr lang="en-US" sz="1500" dirty="0">
                <a:solidFill>
                  <a:srgbClr val="1F2937"/>
                </a:solidFill>
                <a:latin typeface="Calibri" pitchFamily="34" charset="0"/>
                <a:ea typeface="Calibri" pitchFamily="34" charset="-122"/>
                <a:cs typeface="Calibri" pitchFamily="34" charset="-120"/>
              </a:rPr>
              <a:t>Diyabet nedeniyle meydana gelenretina patolojisi</a:t>
            </a:r>
            <a:endParaRPr lang="en-US" sz="1500" dirty="0"/>
          </a:p>
        </p:txBody>
      </p:sp>
      <p:sp>
        <p:nvSpPr>
          <p:cNvPr id="18" name="Shape 16"/>
          <p:cNvSpPr/>
          <p:nvPr/>
        </p:nvSpPr>
        <p:spPr>
          <a:xfrm>
            <a:off x="548640" y="5857494"/>
            <a:ext cx="11094415" cy="451866"/>
          </a:xfrm>
          <a:prstGeom prst="roundRect">
            <a:avLst>
              <a:gd name="adj" fmla="val 14165"/>
            </a:avLst>
          </a:prstGeom>
          <a:solidFill>
            <a:srgbClr val="E6F5EF"/>
          </a:solidFill>
          <a:ln/>
        </p:spPr>
      </p:sp>
      <p:sp>
        <p:nvSpPr>
          <p:cNvPr id="19" name="Text 17"/>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retina dekolmanı: </a:t>
            </a:r>
            <a:r>
              <a:rPr lang="en-US" sz="1500" dirty="0">
                <a:solidFill>
                  <a:srgbClr val="1F2937"/>
                </a:solidFill>
                <a:latin typeface="Calibri" pitchFamily="34" charset="0"/>
                <a:ea typeface="Calibri" pitchFamily="34" charset="-122"/>
                <a:cs typeface="Calibri" pitchFamily="34" charset="-120"/>
              </a:rPr>
              <a:t>Nöral retinanın, alttaki retina pigment epitellerinden ayrılması</a:t>
            </a:r>
            <a:endParaRPr lang="en-US" sz="15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312</a:t>
            </a:r>
            <a:endParaRPr lang="en-US" sz="1000" dirty="0"/>
          </a:p>
        </p:txBody>
      </p:sp>
      <p:sp>
        <p:nvSpPr>
          <p:cNvPr id="6" name="Shape 4"/>
          <p:cNvSpPr/>
          <p:nvPr/>
        </p:nvSpPr>
        <p:spPr>
          <a:xfrm>
            <a:off x="548640" y="3474720"/>
            <a:ext cx="11094415" cy="542239"/>
          </a:xfrm>
          <a:prstGeom prst="roundRect">
            <a:avLst>
              <a:gd name="adj" fmla="val 11804"/>
            </a:avLst>
          </a:prstGeom>
          <a:solidFill>
            <a:srgbClr val="E6F5EF"/>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retinoblastoma (LGG): </a:t>
            </a:r>
            <a:r>
              <a:rPr lang="en-US" sz="1800" dirty="0">
                <a:solidFill>
                  <a:srgbClr val="1F2937"/>
                </a:solidFill>
                <a:latin typeface="Calibri" pitchFamily="34" charset="0"/>
                <a:ea typeface="Calibri" pitchFamily="34" charset="-122"/>
                <a:cs typeface="Calibri" pitchFamily="34" charset="-120"/>
              </a:rPr>
              <a:t>Retina nükleer tabakalarından gelişen doğuştan bir malign tümördür</a:t>
            </a:r>
            <a:endParaRPr lang="en-US" sz="1800" dirty="0"/>
          </a:p>
        </p:txBody>
      </p:sp>
      <p:sp>
        <p:nvSpPr>
          <p:cNvPr id="8" name="Shape 6"/>
          <p:cNvSpPr/>
          <p:nvPr/>
        </p:nvSpPr>
        <p:spPr>
          <a:xfrm>
            <a:off x="548640" y="4108399"/>
            <a:ext cx="11094415" cy="542239"/>
          </a:xfrm>
          <a:prstGeom prst="roundRect">
            <a:avLst>
              <a:gd name="adj" fmla="val 11804"/>
            </a:avLst>
          </a:prstGeom>
          <a:solidFill>
            <a:srgbClr val="E6F5EF"/>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retinitis pigmentoza: </a:t>
            </a:r>
            <a:r>
              <a:rPr lang="en-US" sz="1800" dirty="0">
                <a:solidFill>
                  <a:srgbClr val="1F2937"/>
                </a:solidFill>
                <a:latin typeface="Calibri" pitchFamily="34" charset="0"/>
                <a:ea typeface="Calibri" pitchFamily="34" charset="-122"/>
                <a:cs typeface="Calibri" pitchFamily="34" charset="-120"/>
              </a:rPr>
              <a:t>Kalıtsal, yavaş gelişen bir çeşit retina dejenerasyonudur.</a:t>
            </a:r>
            <a:endParaRPr lang="en-US" sz="18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313</a:t>
            </a:r>
            <a:endParaRPr lang="en-US" sz="1000" dirty="0"/>
          </a:p>
        </p:txBody>
      </p:sp>
      <p:sp>
        <p:nvSpPr>
          <p:cNvPr id="6" name="Shape 4"/>
          <p:cNvSpPr/>
          <p:nvPr/>
        </p:nvSpPr>
        <p:spPr>
          <a:xfrm>
            <a:off x="548640" y="1643075"/>
            <a:ext cx="11094415" cy="481990"/>
          </a:xfrm>
          <a:prstGeom prst="roundRect">
            <a:avLst>
              <a:gd name="adj" fmla="val 13280"/>
            </a:avLst>
          </a:prstGeom>
          <a:solidFill>
            <a:srgbClr val="E6F5EF"/>
          </a:solidFill>
          <a:ln/>
        </p:spPr>
      </p:sp>
      <p:sp>
        <p:nvSpPr>
          <p:cNvPr id="7" name="Text 5"/>
          <p:cNvSpPr txBox="1"/>
          <p:nvPr/>
        </p:nvSpPr>
        <p:spPr>
          <a:xfrm>
            <a:off x="704088" y="1716227"/>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lens extraction (L) (lens ekstraksiyonu): </a:t>
            </a:r>
            <a:r>
              <a:rPr lang="en-US" sz="1600" dirty="0">
                <a:solidFill>
                  <a:srgbClr val="1F2937"/>
                </a:solidFill>
                <a:latin typeface="Calibri" pitchFamily="34" charset="0"/>
                <a:ea typeface="Calibri" pitchFamily="34" charset="-122"/>
                <a:cs typeface="Calibri" pitchFamily="34" charset="-120"/>
              </a:rPr>
              <a:t>Lens çıkarılması</a:t>
            </a:r>
            <a:endParaRPr lang="en-US" sz="1600" dirty="0"/>
          </a:p>
        </p:txBody>
      </p:sp>
      <p:sp>
        <p:nvSpPr>
          <p:cNvPr id="8" name="Shape 6"/>
          <p:cNvSpPr/>
          <p:nvPr/>
        </p:nvSpPr>
        <p:spPr>
          <a:xfrm>
            <a:off x="548640" y="2216506"/>
            <a:ext cx="11094415" cy="729894"/>
          </a:xfrm>
          <a:prstGeom prst="roundRect">
            <a:avLst>
              <a:gd name="adj" fmla="val 8769"/>
            </a:avLst>
          </a:prstGeom>
          <a:solidFill>
            <a:srgbClr val="E6F5EF"/>
          </a:solidFill>
          <a:ln/>
        </p:spPr>
      </p:sp>
      <p:sp>
        <p:nvSpPr>
          <p:cNvPr id="9" name="Text 7"/>
          <p:cNvSpPr txBox="1"/>
          <p:nvPr/>
        </p:nvSpPr>
        <p:spPr>
          <a:xfrm>
            <a:off x="704088" y="2289658"/>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cornea transplantation (L) (kornea transplantasyonu): </a:t>
            </a:r>
            <a:r>
              <a:rPr lang="en-US" sz="1600" dirty="0">
                <a:solidFill>
                  <a:srgbClr val="1F2937"/>
                </a:solidFill>
                <a:latin typeface="Calibri" pitchFamily="34" charset="0"/>
                <a:ea typeface="Calibri" pitchFamily="34" charset="-122"/>
                <a:cs typeface="Calibri" pitchFamily="34" charset="-120"/>
              </a:rPr>
              <a:t>İşlevsiz olan korneanın çıkarılarak başka bir insandan alınan korneanın implante edilmesi</a:t>
            </a:r>
            <a:endParaRPr lang="en-US" sz="1600" dirty="0"/>
          </a:p>
        </p:txBody>
      </p:sp>
      <p:sp>
        <p:nvSpPr>
          <p:cNvPr id="10" name="Shape 8"/>
          <p:cNvSpPr/>
          <p:nvPr/>
        </p:nvSpPr>
        <p:spPr>
          <a:xfrm>
            <a:off x="548640" y="3037840"/>
            <a:ext cx="11094415" cy="481990"/>
          </a:xfrm>
          <a:prstGeom prst="roundRect">
            <a:avLst>
              <a:gd name="adj" fmla="val 13280"/>
            </a:avLst>
          </a:prstGeom>
          <a:solidFill>
            <a:srgbClr val="E6F5EF"/>
          </a:solidFill>
          <a:ln/>
        </p:spPr>
      </p:sp>
      <p:sp>
        <p:nvSpPr>
          <p:cNvPr id="11" name="Text 9"/>
          <p:cNvSpPr txBox="1"/>
          <p:nvPr/>
        </p:nvSpPr>
        <p:spPr>
          <a:xfrm>
            <a:off x="704088" y="311099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keratocentesis (G) (keratosentez): </a:t>
            </a:r>
            <a:r>
              <a:rPr lang="en-US" sz="1600" dirty="0">
                <a:solidFill>
                  <a:srgbClr val="1F2937"/>
                </a:solidFill>
                <a:latin typeface="Calibri" pitchFamily="34" charset="0"/>
                <a:ea typeface="Calibri" pitchFamily="34" charset="-122"/>
                <a:cs typeface="Calibri" pitchFamily="34" charset="-120"/>
              </a:rPr>
              <a:t>Göz ön odasından sıvı çekme amacıyla korneanın delinmesi</a:t>
            </a:r>
            <a:endParaRPr lang="en-US" sz="1600" dirty="0"/>
          </a:p>
        </p:txBody>
      </p:sp>
      <p:sp>
        <p:nvSpPr>
          <p:cNvPr id="12" name="Shape 10"/>
          <p:cNvSpPr/>
          <p:nvPr/>
        </p:nvSpPr>
        <p:spPr>
          <a:xfrm>
            <a:off x="548640" y="3611270"/>
            <a:ext cx="11094415" cy="481990"/>
          </a:xfrm>
          <a:prstGeom prst="roundRect">
            <a:avLst>
              <a:gd name="adj" fmla="val 13280"/>
            </a:avLst>
          </a:prstGeom>
          <a:solidFill>
            <a:srgbClr val="E6F5EF"/>
          </a:solidFill>
          <a:ln/>
        </p:spPr>
      </p:sp>
      <p:sp>
        <p:nvSpPr>
          <p:cNvPr id="13" name="Text 11"/>
          <p:cNvSpPr txBox="1"/>
          <p:nvPr/>
        </p:nvSpPr>
        <p:spPr>
          <a:xfrm>
            <a:off x="704088" y="36844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kerectomy (G) (kerektomi): </a:t>
            </a:r>
            <a:r>
              <a:rPr lang="en-US" sz="1600" dirty="0">
                <a:solidFill>
                  <a:srgbClr val="1F2937"/>
                </a:solidFill>
                <a:latin typeface="Calibri" pitchFamily="34" charset="0"/>
                <a:ea typeface="Calibri" pitchFamily="34" charset="-122"/>
                <a:cs typeface="Calibri" pitchFamily="34" charset="-120"/>
              </a:rPr>
              <a:t>Korneanın kısmen çıkarılması</a:t>
            </a:r>
            <a:endParaRPr lang="en-US" sz="1600" dirty="0"/>
          </a:p>
        </p:txBody>
      </p:sp>
      <p:sp>
        <p:nvSpPr>
          <p:cNvPr id="14" name="Shape 12"/>
          <p:cNvSpPr/>
          <p:nvPr/>
        </p:nvSpPr>
        <p:spPr>
          <a:xfrm>
            <a:off x="548640" y="4184701"/>
            <a:ext cx="11094415" cy="729894"/>
          </a:xfrm>
          <a:prstGeom prst="roundRect">
            <a:avLst>
              <a:gd name="adj" fmla="val 8769"/>
            </a:avLst>
          </a:prstGeom>
          <a:solidFill>
            <a:srgbClr val="E6F5EF"/>
          </a:solidFill>
          <a:ln/>
        </p:spPr>
      </p:sp>
      <p:sp>
        <p:nvSpPr>
          <p:cNvPr id="15" name="Text 13"/>
          <p:cNvSpPr txBox="1"/>
          <p:nvPr/>
        </p:nvSpPr>
        <p:spPr>
          <a:xfrm>
            <a:off x="704088" y="4257853"/>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tarsorrhaphy (G) (tarsorafi): </a:t>
            </a:r>
            <a:r>
              <a:rPr lang="en-US" sz="1600" dirty="0">
                <a:solidFill>
                  <a:srgbClr val="1F2937"/>
                </a:solidFill>
                <a:latin typeface="Calibri" pitchFamily="34" charset="0"/>
                <a:ea typeface="Calibri" pitchFamily="34" charset="-122"/>
                <a:cs typeface="Calibri" pitchFamily="34" charset="-120"/>
              </a:rPr>
              <a:t>Kapak kenarlarını karşılıklı dikerek göz kapağı aralığını daraltma veya tamamen kapatma</a:t>
            </a:r>
            <a:endParaRPr lang="en-US" sz="1600" dirty="0"/>
          </a:p>
        </p:txBody>
      </p:sp>
      <p:sp>
        <p:nvSpPr>
          <p:cNvPr id="16" name="Shape 14"/>
          <p:cNvSpPr/>
          <p:nvPr/>
        </p:nvSpPr>
        <p:spPr>
          <a:xfrm>
            <a:off x="548640" y="5006035"/>
            <a:ext cx="11094415" cy="729894"/>
          </a:xfrm>
          <a:prstGeom prst="roundRect">
            <a:avLst>
              <a:gd name="adj" fmla="val 8769"/>
            </a:avLst>
          </a:prstGeom>
          <a:solidFill>
            <a:srgbClr val="E6F5EF"/>
          </a:solidFill>
          <a:ln/>
        </p:spPr>
      </p:sp>
      <p:sp>
        <p:nvSpPr>
          <p:cNvPr id="17" name="Text 15"/>
          <p:cNvSpPr txBox="1"/>
          <p:nvPr/>
        </p:nvSpPr>
        <p:spPr>
          <a:xfrm>
            <a:off x="704088" y="5079187"/>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blepharoplasty (G) (blefaroplasti): </a:t>
            </a:r>
            <a:r>
              <a:rPr lang="en-US" sz="1600" dirty="0">
                <a:solidFill>
                  <a:srgbClr val="1F2937"/>
                </a:solidFill>
                <a:latin typeface="Calibri" pitchFamily="34" charset="0"/>
                <a:ea typeface="Calibri" pitchFamily="34" charset="-122"/>
                <a:cs typeface="Calibri" pitchFamily="34" charset="-120"/>
              </a:rPr>
              <a:t>Göz kapağı üzerinde herhangi bir şekil bozukluğunu düzeltmek amacıyla yapılan estetik ameliyat</a:t>
            </a:r>
            <a:endParaRPr lang="en-US" sz="1600" dirty="0"/>
          </a:p>
        </p:txBody>
      </p:sp>
      <p:sp>
        <p:nvSpPr>
          <p:cNvPr id="18" name="Shape 16"/>
          <p:cNvSpPr/>
          <p:nvPr/>
        </p:nvSpPr>
        <p:spPr>
          <a:xfrm>
            <a:off x="548640" y="5827370"/>
            <a:ext cx="11094415" cy="481990"/>
          </a:xfrm>
          <a:prstGeom prst="roundRect">
            <a:avLst>
              <a:gd name="adj" fmla="val 13280"/>
            </a:avLst>
          </a:prstGeom>
          <a:solidFill>
            <a:srgbClr val="E6F5EF"/>
          </a:solidFill>
          <a:ln/>
        </p:spPr>
      </p:sp>
      <p:sp>
        <p:nvSpPr>
          <p:cNvPr id="19" name="Text 17"/>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enucleation (L) (enükleasyon): </a:t>
            </a:r>
            <a:r>
              <a:rPr lang="en-US" sz="1600" dirty="0">
                <a:solidFill>
                  <a:srgbClr val="1F2937"/>
                </a:solidFill>
                <a:latin typeface="Calibri" pitchFamily="34" charset="0"/>
                <a:ea typeface="Calibri" pitchFamily="34" charset="-122"/>
                <a:cs typeface="Calibri" pitchFamily="34" charset="-120"/>
              </a:rPr>
              <a:t>Göz küresinin orbita içi yumuşak dokularla birlikte çıkarılması</a:t>
            </a:r>
            <a:endParaRPr lang="en-US" sz="16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Kulağa İlişkin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314</a:t>
            </a:r>
            <a:endParaRPr lang="en-US" sz="1000" dirty="0"/>
          </a:p>
        </p:txBody>
      </p:sp>
      <p:sp>
        <p:nvSpPr>
          <p:cNvPr id="6" name="Shape 4"/>
          <p:cNvSpPr/>
          <p:nvPr/>
        </p:nvSpPr>
        <p:spPr>
          <a:xfrm>
            <a:off x="548640" y="2468880"/>
            <a:ext cx="11094415" cy="1378915"/>
          </a:xfrm>
          <a:prstGeom prst="roundRect">
            <a:avLst>
              <a:gd name="adj" fmla="val 4642"/>
            </a:avLst>
          </a:prstGeom>
          <a:solidFill>
            <a:srgbClr val="E6F5EF"/>
          </a:solidFill>
          <a:ln/>
        </p:spPr>
      </p:sp>
      <p:sp>
        <p:nvSpPr>
          <p:cNvPr id="7" name="Text 5"/>
          <p:cNvSpPr txBox="1"/>
          <p:nvPr/>
        </p:nvSpPr>
        <p:spPr>
          <a:xfrm>
            <a:off x="704088" y="2542032"/>
            <a:ext cx="10783519" cy="1232611"/>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Kulak, işitme ve denge organıdır. Temporal kemik içine yerleşik iki organdan oluşmaktadır.  Dış kulak, orta kulak ve iç kulak olarak üç bölümden oluşmaktadır. Dış kulak kulak kepçesiyle topladığı ses dalgalarını kulak zarı titreşimleriyle orta kulağa geçirir. Orta kulakta kulak kemikçikleri ve ortakulak boşluğu bulunur. İşitme ve denge işlevleri iç kulak bölümünde gerçekleşir.</a:t>
            </a:r>
            <a:endParaRPr lang="en-US" sz="180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315</a:t>
            </a:r>
            <a:endParaRPr lang="en-US" sz="1000" dirty="0"/>
          </a:p>
        </p:txBody>
      </p:sp>
      <p:sp>
        <p:nvSpPr>
          <p:cNvPr id="6" name="Shape 4"/>
          <p:cNvSpPr/>
          <p:nvPr/>
        </p:nvSpPr>
        <p:spPr>
          <a:xfrm>
            <a:off x="548640" y="1565250"/>
            <a:ext cx="11094415" cy="421742"/>
          </a:xfrm>
          <a:prstGeom prst="roundRect">
            <a:avLst>
              <a:gd name="adj" fmla="val 15177"/>
            </a:avLst>
          </a:prstGeom>
          <a:solidFill>
            <a:srgbClr val="E6F5EF"/>
          </a:solidFill>
          <a:ln/>
        </p:spPr>
      </p:sp>
      <p:sp>
        <p:nvSpPr>
          <p:cNvPr id="7" name="Text 5"/>
          <p:cNvSpPr txBox="1"/>
          <p:nvPr/>
        </p:nvSpPr>
        <p:spPr>
          <a:xfrm>
            <a:off x="704088" y="163840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auris (L) (avris): </a:t>
            </a:r>
            <a:r>
              <a:rPr lang="en-US" sz="1400" dirty="0">
                <a:solidFill>
                  <a:srgbClr val="1F2937"/>
                </a:solidFill>
                <a:latin typeface="Calibri" pitchFamily="34" charset="0"/>
                <a:ea typeface="Calibri" pitchFamily="34" charset="-122"/>
                <a:cs typeface="Calibri" pitchFamily="34" charset="-120"/>
              </a:rPr>
              <a:t>Kulak</a:t>
            </a:r>
            <a:endParaRPr lang="en-US" sz="1400" dirty="0"/>
          </a:p>
        </p:txBody>
      </p:sp>
      <p:sp>
        <p:nvSpPr>
          <p:cNvPr id="8" name="Shape 6"/>
          <p:cNvSpPr/>
          <p:nvPr/>
        </p:nvSpPr>
        <p:spPr>
          <a:xfrm>
            <a:off x="548640" y="2078431"/>
            <a:ext cx="11094415" cy="421742"/>
          </a:xfrm>
          <a:prstGeom prst="roundRect">
            <a:avLst>
              <a:gd name="adj" fmla="val 15177"/>
            </a:avLst>
          </a:prstGeom>
          <a:solidFill>
            <a:srgbClr val="E6F5EF"/>
          </a:solidFill>
          <a:ln/>
        </p:spPr>
      </p:sp>
      <p:sp>
        <p:nvSpPr>
          <p:cNvPr id="9" name="Text 7"/>
          <p:cNvSpPr txBox="1"/>
          <p:nvPr/>
        </p:nvSpPr>
        <p:spPr>
          <a:xfrm>
            <a:off x="704088" y="2151583"/>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otos (G) (ot): </a:t>
            </a:r>
            <a:r>
              <a:rPr lang="en-US" sz="1400" dirty="0">
                <a:solidFill>
                  <a:srgbClr val="1F2937"/>
                </a:solidFill>
                <a:latin typeface="Calibri" pitchFamily="34" charset="0"/>
                <a:ea typeface="Calibri" pitchFamily="34" charset="-122"/>
                <a:cs typeface="Calibri" pitchFamily="34" charset="-120"/>
              </a:rPr>
              <a:t>Kulak</a:t>
            </a:r>
            <a:endParaRPr lang="en-US" sz="1400" dirty="0"/>
          </a:p>
        </p:txBody>
      </p:sp>
      <p:sp>
        <p:nvSpPr>
          <p:cNvPr id="10" name="Shape 8"/>
          <p:cNvSpPr/>
          <p:nvPr/>
        </p:nvSpPr>
        <p:spPr>
          <a:xfrm>
            <a:off x="548640" y="2591613"/>
            <a:ext cx="11094415" cy="421742"/>
          </a:xfrm>
          <a:prstGeom prst="roundRect">
            <a:avLst>
              <a:gd name="adj" fmla="val 15177"/>
            </a:avLst>
          </a:prstGeom>
          <a:solidFill>
            <a:srgbClr val="E6F5EF"/>
          </a:solidFill>
          <a:ln/>
        </p:spPr>
      </p:sp>
      <p:sp>
        <p:nvSpPr>
          <p:cNvPr id="11" name="Text 9"/>
          <p:cNvSpPr txBox="1"/>
          <p:nvPr/>
        </p:nvSpPr>
        <p:spPr>
          <a:xfrm>
            <a:off x="704088" y="2664765"/>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auris externa (L) (avris eksterna): </a:t>
            </a:r>
            <a:r>
              <a:rPr lang="en-US" sz="1400" dirty="0">
                <a:solidFill>
                  <a:srgbClr val="1F2937"/>
                </a:solidFill>
                <a:latin typeface="Calibri" pitchFamily="34" charset="0"/>
                <a:ea typeface="Calibri" pitchFamily="34" charset="-122"/>
                <a:cs typeface="Calibri" pitchFamily="34" charset="-120"/>
              </a:rPr>
              <a:t>Dış kulak</a:t>
            </a:r>
            <a:endParaRPr lang="en-US" sz="1400" dirty="0"/>
          </a:p>
        </p:txBody>
      </p:sp>
      <p:sp>
        <p:nvSpPr>
          <p:cNvPr id="12" name="Shape 10"/>
          <p:cNvSpPr/>
          <p:nvPr/>
        </p:nvSpPr>
        <p:spPr>
          <a:xfrm>
            <a:off x="548640" y="3104794"/>
            <a:ext cx="11094415" cy="421742"/>
          </a:xfrm>
          <a:prstGeom prst="roundRect">
            <a:avLst>
              <a:gd name="adj" fmla="val 15177"/>
            </a:avLst>
          </a:prstGeom>
          <a:solidFill>
            <a:srgbClr val="E6F5EF"/>
          </a:solidFill>
          <a:ln/>
        </p:spPr>
      </p:sp>
      <p:sp>
        <p:nvSpPr>
          <p:cNvPr id="13" name="Text 11"/>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auris media (L) (avris media): </a:t>
            </a:r>
            <a:r>
              <a:rPr lang="en-US" sz="1400" dirty="0">
                <a:solidFill>
                  <a:srgbClr val="1F2937"/>
                </a:solidFill>
                <a:latin typeface="Calibri" pitchFamily="34" charset="0"/>
                <a:ea typeface="Calibri" pitchFamily="34" charset="-122"/>
                <a:cs typeface="Calibri" pitchFamily="34" charset="-120"/>
              </a:rPr>
              <a:t>Orta kulak</a:t>
            </a:r>
            <a:endParaRPr lang="en-US" sz="1400" dirty="0"/>
          </a:p>
        </p:txBody>
      </p:sp>
      <p:sp>
        <p:nvSpPr>
          <p:cNvPr id="14" name="Shape 12"/>
          <p:cNvSpPr/>
          <p:nvPr/>
        </p:nvSpPr>
        <p:spPr>
          <a:xfrm>
            <a:off x="548640" y="3617976"/>
            <a:ext cx="11094415" cy="421742"/>
          </a:xfrm>
          <a:prstGeom prst="roundRect">
            <a:avLst>
              <a:gd name="adj" fmla="val 15177"/>
            </a:avLst>
          </a:prstGeom>
          <a:solidFill>
            <a:srgbClr val="E6F5EF"/>
          </a:solidFill>
          <a:ln/>
        </p:spPr>
      </p:sp>
      <p:sp>
        <p:nvSpPr>
          <p:cNvPr id="15" name="Text 13"/>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auris interna (L) (avris interna): </a:t>
            </a:r>
            <a:r>
              <a:rPr lang="en-US" sz="1400" dirty="0">
                <a:solidFill>
                  <a:srgbClr val="1F2937"/>
                </a:solidFill>
                <a:latin typeface="Calibri" pitchFamily="34" charset="0"/>
                <a:ea typeface="Calibri" pitchFamily="34" charset="-122"/>
                <a:cs typeface="Calibri" pitchFamily="34" charset="-120"/>
              </a:rPr>
              <a:t>İç kulak</a:t>
            </a:r>
            <a:endParaRPr lang="en-US" sz="1400" dirty="0"/>
          </a:p>
        </p:txBody>
      </p:sp>
      <p:sp>
        <p:nvSpPr>
          <p:cNvPr id="16" name="Shape 14"/>
          <p:cNvSpPr/>
          <p:nvPr/>
        </p:nvSpPr>
        <p:spPr>
          <a:xfrm>
            <a:off x="548640" y="4131158"/>
            <a:ext cx="11094415" cy="421742"/>
          </a:xfrm>
          <a:prstGeom prst="roundRect">
            <a:avLst>
              <a:gd name="adj" fmla="val 15177"/>
            </a:avLst>
          </a:prstGeom>
          <a:solidFill>
            <a:srgbClr val="E6F5EF"/>
          </a:solidFill>
          <a:ln/>
        </p:spPr>
      </p:sp>
      <p:sp>
        <p:nvSpPr>
          <p:cNvPr id="17" name="Text 15"/>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auricula (L) (avrikula): </a:t>
            </a:r>
            <a:r>
              <a:rPr lang="en-US" sz="1400" dirty="0">
                <a:solidFill>
                  <a:srgbClr val="1F2937"/>
                </a:solidFill>
                <a:latin typeface="Calibri" pitchFamily="34" charset="0"/>
                <a:ea typeface="Calibri" pitchFamily="34" charset="-122"/>
                <a:cs typeface="Calibri" pitchFamily="34" charset="-120"/>
              </a:rPr>
              <a:t>Kulak kepçesi</a:t>
            </a:r>
            <a:endParaRPr lang="en-US" sz="1400" dirty="0"/>
          </a:p>
        </p:txBody>
      </p:sp>
      <p:sp>
        <p:nvSpPr>
          <p:cNvPr id="18" name="Shape 16"/>
          <p:cNvSpPr/>
          <p:nvPr/>
        </p:nvSpPr>
        <p:spPr>
          <a:xfrm>
            <a:off x="548640" y="4644339"/>
            <a:ext cx="11094415" cy="638658"/>
          </a:xfrm>
          <a:prstGeom prst="roundRect">
            <a:avLst>
              <a:gd name="adj" fmla="val 10022"/>
            </a:avLst>
          </a:prstGeom>
          <a:solidFill>
            <a:srgbClr val="E6F5EF"/>
          </a:solidFill>
          <a:ln/>
        </p:spPr>
      </p:sp>
      <p:sp>
        <p:nvSpPr>
          <p:cNvPr id="19" name="Text 17"/>
          <p:cNvSpPr txBox="1"/>
          <p:nvPr/>
        </p:nvSpPr>
        <p:spPr>
          <a:xfrm>
            <a:off x="704088" y="471749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gl. seruminosa (gl. seruminoza): </a:t>
            </a:r>
            <a:r>
              <a:rPr lang="en-US" sz="1400" dirty="0">
                <a:solidFill>
                  <a:srgbClr val="1F2937"/>
                </a:solidFill>
                <a:latin typeface="Calibri" pitchFamily="34" charset="0"/>
                <a:ea typeface="Calibri" pitchFamily="34" charset="-122"/>
                <a:cs typeface="Calibri" pitchFamily="34" charset="-120"/>
              </a:rPr>
              <a:t>Seruminoz bez. Dış kulak yolu duvarında bulunan bezlerin genel adı. Kulak kirini (buşon) yapar.</a:t>
            </a:r>
            <a:endParaRPr lang="en-US" sz="1400" dirty="0"/>
          </a:p>
        </p:txBody>
      </p:sp>
      <p:sp>
        <p:nvSpPr>
          <p:cNvPr id="20" name="Shape 18"/>
          <p:cNvSpPr/>
          <p:nvPr/>
        </p:nvSpPr>
        <p:spPr>
          <a:xfrm>
            <a:off x="548640" y="5374437"/>
            <a:ext cx="11094415" cy="421742"/>
          </a:xfrm>
          <a:prstGeom prst="roundRect">
            <a:avLst>
              <a:gd name="adj" fmla="val 15177"/>
            </a:avLst>
          </a:prstGeom>
          <a:solidFill>
            <a:srgbClr val="E6F5EF"/>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membrana tympanica (L) (membrana timpanika): </a:t>
            </a:r>
            <a:r>
              <a:rPr lang="en-US" sz="1400" dirty="0">
                <a:solidFill>
                  <a:srgbClr val="1F2937"/>
                </a:solidFill>
                <a:latin typeface="Calibri" pitchFamily="34" charset="0"/>
                <a:ea typeface="Calibri" pitchFamily="34" charset="-122"/>
                <a:cs typeface="Calibri" pitchFamily="34" charset="-120"/>
              </a:rPr>
              <a:t>Kulak zarı. Timpanik zar. Dış kulak ile orta kulak arasında bulunan ince zar.</a:t>
            </a:r>
            <a:endParaRPr lang="en-US" sz="1400" dirty="0"/>
          </a:p>
        </p:txBody>
      </p:sp>
      <p:sp>
        <p:nvSpPr>
          <p:cNvPr id="22" name="Shape 20"/>
          <p:cNvSpPr/>
          <p:nvPr/>
        </p:nvSpPr>
        <p:spPr>
          <a:xfrm>
            <a:off x="548640" y="5887618"/>
            <a:ext cx="11094415" cy="421742"/>
          </a:xfrm>
          <a:prstGeom prst="roundRect">
            <a:avLst>
              <a:gd name="adj" fmla="val 15177"/>
            </a:avLst>
          </a:prstGeom>
          <a:solidFill>
            <a:srgbClr val="E6F5EF"/>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myringa (L) (miringa): </a:t>
            </a:r>
            <a:r>
              <a:rPr lang="en-US" sz="1400" dirty="0">
                <a:solidFill>
                  <a:srgbClr val="1F2937"/>
                </a:solidFill>
                <a:latin typeface="Calibri" pitchFamily="34" charset="0"/>
                <a:ea typeface="Calibri" pitchFamily="34" charset="-122"/>
                <a:cs typeface="Calibri" pitchFamily="34" charset="-120"/>
              </a:rPr>
              <a:t>Kulak zarı</a:t>
            </a:r>
            <a:endParaRPr lang="en-US" sz="14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316</a:t>
            </a:r>
            <a:endParaRPr lang="en-US" sz="1000" dirty="0"/>
          </a:p>
        </p:txBody>
      </p:sp>
      <p:sp>
        <p:nvSpPr>
          <p:cNvPr id="6" name="Shape 4"/>
          <p:cNvSpPr/>
          <p:nvPr/>
        </p:nvSpPr>
        <p:spPr>
          <a:xfrm>
            <a:off x="548640" y="1565250"/>
            <a:ext cx="11094415" cy="638658"/>
          </a:xfrm>
          <a:prstGeom prst="roundRect">
            <a:avLst>
              <a:gd name="adj" fmla="val 10022"/>
            </a:avLst>
          </a:prstGeom>
          <a:solidFill>
            <a:srgbClr val="E6F5EF"/>
          </a:solidFill>
          <a:ln/>
        </p:spPr>
      </p:sp>
      <p:sp>
        <p:nvSpPr>
          <p:cNvPr id="7" name="Text 5"/>
          <p:cNvSpPr txBox="1"/>
          <p:nvPr/>
        </p:nvSpPr>
        <p:spPr>
          <a:xfrm>
            <a:off x="704088" y="1638402"/>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ossicula auditoria (L) (ossikula avditorya): </a:t>
            </a:r>
            <a:r>
              <a:rPr lang="en-US" sz="1400" dirty="0">
                <a:solidFill>
                  <a:srgbClr val="1F2937"/>
                </a:solidFill>
                <a:latin typeface="Calibri" pitchFamily="34" charset="0"/>
                <a:ea typeface="Calibri" pitchFamily="34" charset="-122"/>
                <a:cs typeface="Calibri" pitchFamily="34" charset="-120"/>
              </a:rPr>
              <a:t>Kulak kemikçikleri. Orta kulakta üzengi, örs ve çekiç adı verilen üç tane kemikçik bulunur.</a:t>
            </a:r>
            <a:endParaRPr lang="en-US" sz="1400" dirty="0"/>
          </a:p>
        </p:txBody>
      </p:sp>
      <p:sp>
        <p:nvSpPr>
          <p:cNvPr id="8" name="Shape 6"/>
          <p:cNvSpPr/>
          <p:nvPr/>
        </p:nvSpPr>
        <p:spPr>
          <a:xfrm>
            <a:off x="548640" y="2295347"/>
            <a:ext cx="11094415" cy="421742"/>
          </a:xfrm>
          <a:prstGeom prst="roundRect">
            <a:avLst>
              <a:gd name="adj" fmla="val 15177"/>
            </a:avLst>
          </a:prstGeom>
          <a:solidFill>
            <a:srgbClr val="E6F5EF"/>
          </a:solidFill>
          <a:ln/>
        </p:spPr>
      </p:sp>
      <p:sp>
        <p:nvSpPr>
          <p:cNvPr id="9" name="Text 7"/>
          <p:cNvSpPr txBox="1"/>
          <p:nvPr/>
        </p:nvSpPr>
        <p:spPr>
          <a:xfrm>
            <a:off x="704088" y="236849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stapes (L) (stapes): </a:t>
            </a:r>
            <a:r>
              <a:rPr lang="en-US" sz="1400" dirty="0">
                <a:solidFill>
                  <a:srgbClr val="1F2937"/>
                </a:solidFill>
                <a:latin typeface="Calibri" pitchFamily="34" charset="0"/>
                <a:ea typeface="Calibri" pitchFamily="34" charset="-122"/>
                <a:cs typeface="Calibri" pitchFamily="34" charset="-120"/>
              </a:rPr>
              <a:t>Üzengi kemiği</a:t>
            </a:r>
            <a:endParaRPr lang="en-US" sz="1400" dirty="0"/>
          </a:p>
        </p:txBody>
      </p:sp>
      <p:sp>
        <p:nvSpPr>
          <p:cNvPr id="10" name="Shape 8"/>
          <p:cNvSpPr/>
          <p:nvPr/>
        </p:nvSpPr>
        <p:spPr>
          <a:xfrm>
            <a:off x="548640" y="2808529"/>
            <a:ext cx="11094415" cy="421742"/>
          </a:xfrm>
          <a:prstGeom prst="roundRect">
            <a:avLst>
              <a:gd name="adj" fmla="val 15177"/>
            </a:avLst>
          </a:prstGeom>
          <a:solidFill>
            <a:srgbClr val="E6F5EF"/>
          </a:solidFill>
          <a:ln/>
        </p:spPr>
      </p:sp>
      <p:sp>
        <p:nvSpPr>
          <p:cNvPr id="11" name="Text 9"/>
          <p:cNvSpPr txBox="1"/>
          <p:nvPr/>
        </p:nvSpPr>
        <p:spPr>
          <a:xfrm>
            <a:off x="704088" y="288168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incus (L) (inkus): </a:t>
            </a:r>
            <a:r>
              <a:rPr lang="en-US" sz="1400" dirty="0">
                <a:solidFill>
                  <a:srgbClr val="1F2937"/>
                </a:solidFill>
                <a:latin typeface="Calibri" pitchFamily="34" charset="0"/>
                <a:ea typeface="Calibri" pitchFamily="34" charset="-122"/>
                <a:cs typeface="Calibri" pitchFamily="34" charset="-120"/>
              </a:rPr>
              <a:t>Örs kemiği</a:t>
            </a:r>
            <a:endParaRPr lang="en-US" sz="1400" dirty="0"/>
          </a:p>
        </p:txBody>
      </p:sp>
      <p:sp>
        <p:nvSpPr>
          <p:cNvPr id="12" name="Shape 10"/>
          <p:cNvSpPr/>
          <p:nvPr/>
        </p:nvSpPr>
        <p:spPr>
          <a:xfrm>
            <a:off x="548640" y="3321710"/>
            <a:ext cx="11094415" cy="421742"/>
          </a:xfrm>
          <a:prstGeom prst="roundRect">
            <a:avLst>
              <a:gd name="adj" fmla="val 15177"/>
            </a:avLst>
          </a:prstGeom>
          <a:solidFill>
            <a:srgbClr val="E6F5EF"/>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malleus (L) (malleus): </a:t>
            </a:r>
            <a:r>
              <a:rPr lang="en-US" sz="1400" dirty="0">
                <a:solidFill>
                  <a:srgbClr val="1F2937"/>
                </a:solidFill>
                <a:latin typeface="Calibri" pitchFamily="34" charset="0"/>
                <a:ea typeface="Calibri" pitchFamily="34" charset="-122"/>
                <a:cs typeface="Calibri" pitchFamily="34" charset="-120"/>
              </a:rPr>
              <a:t>Çekiç kemiği</a:t>
            </a:r>
            <a:endParaRPr lang="en-US" sz="1400" dirty="0"/>
          </a:p>
        </p:txBody>
      </p:sp>
      <p:sp>
        <p:nvSpPr>
          <p:cNvPr id="14" name="Shape 12"/>
          <p:cNvSpPr/>
          <p:nvPr/>
        </p:nvSpPr>
        <p:spPr>
          <a:xfrm>
            <a:off x="548640" y="3834892"/>
            <a:ext cx="11094415" cy="421742"/>
          </a:xfrm>
          <a:prstGeom prst="roundRect">
            <a:avLst>
              <a:gd name="adj" fmla="val 15177"/>
            </a:avLst>
          </a:prstGeom>
          <a:solidFill>
            <a:srgbClr val="E6F5EF"/>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cavum tympani (L) (kavum timpani): </a:t>
            </a:r>
            <a:r>
              <a:rPr lang="en-US" sz="1400" dirty="0">
                <a:solidFill>
                  <a:srgbClr val="1F2937"/>
                </a:solidFill>
                <a:latin typeface="Calibri" pitchFamily="34" charset="0"/>
                <a:ea typeface="Calibri" pitchFamily="34" charset="-122"/>
                <a:cs typeface="Calibri" pitchFamily="34" charset="-120"/>
              </a:rPr>
              <a:t>Ortakulak boşluğu</a:t>
            </a:r>
            <a:endParaRPr lang="en-US" sz="1400" dirty="0"/>
          </a:p>
        </p:txBody>
      </p:sp>
      <p:sp>
        <p:nvSpPr>
          <p:cNvPr id="16" name="Shape 14"/>
          <p:cNvSpPr/>
          <p:nvPr/>
        </p:nvSpPr>
        <p:spPr>
          <a:xfrm>
            <a:off x="548640" y="4348074"/>
            <a:ext cx="11094415" cy="421742"/>
          </a:xfrm>
          <a:prstGeom prst="roundRect">
            <a:avLst>
              <a:gd name="adj" fmla="val 15177"/>
            </a:avLst>
          </a:prstGeom>
          <a:solidFill>
            <a:srgbClr val="E6F5EF"/>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tuba auditiva (L) (tuba avditiva): </a:t>
            </a:r>
            <a:r>
              <a:rPr lang="en-US" sz="1400" dirty="0">
                <a:solidFill>
                  <a:srgbClr val="1F2937"/>
                </a:solidFill>
                <a:latin typeface="Calibri" pitchFamily="34" charset="0"/>
                <a:ea typeface="Calibri" pitchFamily="34" charset="-122"/>
                <a:cs typeface="Calibri" pitchFamily="34" charset="-120"/>
              </a:rPr>
              <a:t>Ortakulak boşluğu ile yutak arasında uzanan boru. Östaki borusu</a:t>
            </a:r>
            <a:endParaRPr lang="en-US" sz="1400" dirty="0"/>
          </a:p>
        </p:txBody>
      </p:sp>
      <p:sp>
        <p:nvSpPr>
          <p:cNvPr id="18" name="Shape 16"/>
          <p:cNvSpPr/>
          <p:nvPr/>
        </p:nvSpPr>
        <p:spPr>
          <a:xfrm>
            <a:off x="548640" y="4861255"/>
            <a:ext cx="11094415" cy="421742"/>
          </a:xfrm>
          <a:prstGeom prst="roundRect">
            <a:avLst>
              <a:gd name="adj" fmla="val 15177"/>
            </a:avLst>
          </a:prstGeom>
          <a:solidFill>
            <a:srgbClr val="E6F5EF"/>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cartilago auricularis (L) (kartilago avrikularis): </a:t>
            </a:r>
            <a:r>
              <a:rPr lang="en-US" sz="1400" dirty="0">
                <a:solidFill>
                  <a:srgbClr val="1F2937"/>
                </a:solidFill>
                <a:latin typeface="Calibri" pitchFamily="34" charset="0"/>
                <a:ea typeface="Calibri" pitchFamily="34" charset="-122"/>
                <a:cs typeface="Calibri" pitchFamily="34" charset="-120"/>
              </a:rPr>
              <a:t>Kulak kepçesi kıkırdağı</a:t>
            </a:r>
            <a:endParaRPr lang="en-US" sz="1400" dirty="0"/>
          </a:p>
        </p:txBody>
      </p:sp>
      <p:sp>
        <p:nvSpPr>
          <p:cNvPr id="20" name="Shape 18"/>
          <p:cNvSpPr/>
          <p:nvPr/>
        </p:nvSpPr>
        <p:spPr>
          <a:xfrm>
            <a:off x="548640" y="5374437"/>
            <a:ext cx="11094415" cy="421742"/>
          </a:xfrm>
          <a:prstGeom prst="roundRect">
            <a:avLst>
              <a:gd name="adj" fmla="val 15177"/>
            </a:avLst>
          </a:prstGeom>
          <a:solidFill>
            <a:srgbClr val="E6F5EF"/>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cochlea (G) (koklea): </a:t>
            </a:r>
            <a:r>
              <a:rPr lang="en-US" sz="1400" dirty="0">
                <a:solidFill>
                  <a:srgbClr val="1F2937"/>
                </a:solidFill>
                <a:latin typeface="Calibri" pitchFamily="34" charset="0"/>
                <a:ea typeface="Calibri" pitchFamily="34" charset="-122"/>
                <a:cs typeface="Calibri" pitchFamily="34" charset="-120"/>
              </a:rPr>
              <a:t>İç kulakta işitme duyusunu alan kısım</a:t>
            </a:r>
            <a:endParaRPr lang="en-US" sz="1400" dirty="0"/>
          </a:p>
        </p:txBody>
      </p:sp>
      <p:sp>
        <p:nvSpPr>
          <p:cNvPr id="22" name="Shape 20"/>
          <p:cNvSpPr/>
          <p:nvPr/>
        </p:nvSpPr>
        <p:spPr>
          <a:xfrm>
            <a:off x="548640" y="5887618"/>
            <a:ext cx="11094415" cy="421742"/>
          </a:xfrm>
          <a:prstGeom prst="roundRect">
            <a:avLst>
              <a:gd name="adj" fmla="val 15177"/>
            </a:avLst>
          </a:prstGeom>
          <a:solidFill>
            <a:srgbClr val="E6F5EF"/>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vestibulum (L): </a:t>
            </a:r>
            <a:r>
              <a:rPr lang="en-US" sz="1400" dirty="0">
                <a:solidFill>
                  <a:srgbClr val="1F2937"/>
                </a:solidFill>
                <a:latin typeface="Calibri" pitchFamily="34" charset="0"/>
                <a:ea typeface="Calibri" pitchFamily="34" charset="-122"/>
                <a:cs typeface="Calibri" pitchFamily="34" charset="-120"/>
              </a:rPr>
              <a:t>İç kulakta dengeyle ilgili kısım</a:t>
            </a:r>
            <a:endParaRPr lang="en-US" sz="14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317</a:t>
            </a:r>
            <a:endParaRPr lang="en-US" sz="1000" dirty="0"/>
          </a:p>
        </p:txBody>
      </p:sp>
      <p:sp>
        <p:nvSpPr>
          <p:cNvPr id="6" name="Shape 4"/>
          <p:cNvSpPr/>
          <p:nvPr/>
        </p:nvSpPr>
        <p:spPr>
          <a:xfrm>
            <a:off x="548640" y="3474720"/>
            <a:ext cx="11094415" cy="542239"/>
          </a:xfrm>
          <a:prstGeom prst="roundRect">
            <a:avLst>
              <a:gd name="adj" fmla="val 11804"/>
            </a:avLst>
          </a:prstGeom>
          <a:solidFill>
            <a:srgbClr val="E6F5EF"/>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tinnitus (L): </a:t>
            </a:r>
            <a:r>
              <a:rPr lang="en-US" sz="1800" dirty="0">
                <a:solidFill>
                  <a:srgbClr val="1F2937"/>
                </a:solidFill>
                <a:latin typeface="Calibri" pitchFamily="34" charset="0"/>
                <a:ea typeface="Calibri" pitchFamily="34" charset="-122"/>
                <a:cs typeface="Calibri" pitchFamily="34" charset="-120"/>
              </a:rPr>
              <a:t>Kulak çınlaması. Akustik bir uyaran söz konusu olmasığı halde ses algılanması</a:t>
            </a:r>
            <a:endParaRPr lang="en-US" sz="1800" dirty="0"/>
          </a:p>
        </p:txBody>
      </p:sp>
      <p:sp>
        <p:nvSpPr>
          <p:cNvPr id="8" name="Shape 6"/>
          <p:cNvSpPr/>
          <p:nvPr/>
        </p:nvSpPr>
        <p:spPr>
          <a:xfrm>
            <a:off x="548640" y="4108399"/>
            <a:ext cx="11094415" cy="542239"/>
          </a:xfrm>
          <a:prstGeom prst="roundRect">
            <a:avLst>
              <a:gd name="adj" fmla="val 11804"/>
            </a:avLst>
          </a:prstGeom>
          <a:solidFill>
            <a:srgbClr val="E6F5EF"/>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otalgia (G) (otalji): </a:t>
            </a:r>
            <a:r>
              <a:rPr lang="en-US" sz="1800" dirty="0">
                <a:solidFill>
                  <a:srgbClr val="1F2937"/>
                </a:solidFill>
                <a:latin typeface="Calibri" pitchFamily="34" charset="0"/>
                <a:ea typeface="Calibri" pitchFamily="34" charset="-122"/>
                <a:cs typeface="Calibri" pitchFamily="34" charset="-120"/>
              </a:rPr>
              <a:t>Kulak ağrısı</a:t>
            </a:r>
            <a:endParaRPr lang="en-US" sz="1800" dirty="0"/>
          </a:p>
        </p:txBody>
      </p:sp>
      <p:sp>
        <p:nvSpPr>
          <p:cNvPr id="10" name="Shape 8"/>
          <p:cNvSpPr/>
          <p:nvPr/>
        </p:nvSpPr>
        <p:spPr>
          <a:xfrm>
            <a:off x="548640" y="4742078"/>
            <a:ext cx="11094415" cy="542239"/>
          </a:xfrm>
          <a:prstGeom prst="roundRect">
            <a:avLst>
              <a:gd name="adj" fmla="val 11804"/>
            </a:avLst>
          </a:prstGeom>
          <a:solidFill>
            <a:srgbClr val="E6F5EF"/>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otorrhea (G) (otore): </a:t>
            </a:r>
            <a:r>
              <a:rPr lang="en-US" sz="1800" dirty="0">
                <a:solidFill>
                  <a:srgbClr val="1F2937"/>
                </a:solidFill>
                <a:latin typeface="Calibri" pitchFamily="34" charset="0"/>
                <a:ea typeface="Calibri" pitchFamily="34" charset="-122"/>
                <a:cs typeface="Calibri" pitchFamily="34" charset="-120"/>
              </a:rPr>
              <a:t>Kulak akıntısı</a:t>
            </a:r>
            <a:endParaRPr lang="en-US" sz="1800" dirty="0"/>
          </a:p>
        </p:txBody>
      </p:sp>
      <p:sp>
        <p:nvSpPr>
          <p:cNvPr id="12" name="Shape 10"/>
          <p:cNvSpPr/>
          <p:nvPr/>
        </p:nvSpPr>
        <p:spPr>
          <a:xfrm>
            <a:off x="548640" y="5375758"/>
            <a:ext cx="11094415" cy="542239"/>
          </a:xfrm>
          <a:prstGeom prst="roundRect">
            <a:avLst>
              <a:gd name="adj" fmla="val 11804"/>
            </a:avLst>
          </a:prstGeom>
          <a:solidFill>
            <a:srgbClr val="E6F5EF"/>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otorrhagia (G) (otoraji): </a:t>
            </a:r>
            <a:r>
              <a:rPr lang="en-US" sz="1800" dirty="0">
                <a:solidFill>
                  <a:srgbClr val="1F2937"/>
                </a:solidFill>
                <a:latin typeface="Calibri" pitchFamily="34" charset="0"/>
                <a:ea typeface="Calibri" pitchFamily="34" charset="-122"/>
                <a:cs typeface="Calibri" pitchFamily="34" charset="-120"/>
              </a:rPr>
              <a:t>Kulak kanaması, kulaktan kan gelmesi</a:t>
            </a:r>
            <a:endParaRPr lang="en-US" sz="18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318</a:t>
            </a:r>
            <a:endParaRPr lang="en-US" sz="1000" dirty="0"/>
          </a:p>
        </p:txBody>
      </p:sp>
      <p:sp>
        <p:nvSpPr>
          <p:cNvPr id="6" name="Shape 4"/>
          <p:cNvSpPr/>
          <p:nvPr/>
        </p:nvSpPr>
        <p:spPr>
          <a:xfrm>
            <a:off x="548640" y="1553058"/>
            <a:ext cx="11094415" cy="977798"/>
          </a:xfrm>
          <a:prstGeom prst="roundRect">
            <a:avLst>
              <a:gd name="adj" fmla="val 6546"/>
            </a:avLst>
          </a:prstGeom>
          <a:solidFill>
            <a:srgbClr val="E6F5EF"/>
          </a:solidFill>
          <a:ln/>
        </p:spPr>
      </p:sp>
      <p:sp>
        <p:nvSpPr>
          <p:cNvPr id="7" name="Text 5"/>
          <p:cNvSpPr txBox="1"/>
          <p:nvPr/>
        </p:nvSpPr>
        <p:spPr>
          <a:xfrm>
            <a:off x="704088" y="1626210"/>
            <a:ext cx="10783519" cy="831494"/>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Meniere Hastalığı: </a:t>
            </a:r>
            <a:r>
              <a:rPr lang="en-US" sz="1600" dirty="0">
                <a:solidFill>
                  <a:srgbClr val="1F2937"/>
                </a:solidFill>
                <a:latin typeface="Calibri" pitchFamily="34" charset="0"/>
                <a:ea typeface="Calibri" pitchFamily="34" charset="-122"/>
                <a:cs typeface="Calibri" pitchFamily="34" charset="-120"/>
              </a:rPr>
              <a:t>İç kulakta bulunan ve dengeden sorumlu sıvılardaki basınç artışının neden olduğu bir hastalık. Meniere hastalığı ataklar halinde seyreder. Ataklar sırasında baş dönmesi, mide bulantısı, kulak uğultusu, işitme kaybı ve kulakta doygunluk hissigörülür.</a:t>
            </a:r>
            <a:endParaRPr lang="en-US" sz="1600" dirty="0"/>
          </a:p>
        </p:txBody>
      </p:sp>
      <p:sp>
        <p:nvSpPr>
          <p:cNvPr id="8" name="Shape 6"/>
          <p:cNvSpPr/>
          <p:nvPr/>
        </p:nvSpPr>
        <p:spPr>
          <a:xfrm>
            <a:off x="548640" y="2712314"/>
            <a:ext cx="11094415" cy="481990"/>
          </a:xfrm>
          <a:prstGeom prst="roundRect">
            <a:avLst>
              <a:gd name="adj" fmla="val 13280"/>
            </a:avLst>
          </a:prstGeom>
          <a:solidFill>
            <a:srgbClr val="E6F5EF"/>
          </a:solidFill>
          <a:ln/>
        </p:spPr>
      </p:sp>
      <p:sp>
        <p:nvSpPr>
          <p:cNvPr id="9" name="Text 7"/>
          <p:cNvSpPr txBox="1"/>
          <p:nvPr/>
        </p:nvSpPr>
        <p:spPr>
          <a:xfrm>
            <a:off x="704088" y="2785466"/>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perichondritis (G) (perikondrit): </a:t>
            </a:r>
            <a:r>
              <a:rPr lang="en-US" sz="1600" dirty="0">
                <a:solidFill>
                  <a:srgbClr val="1F2937"/>
                </a:solidFill>
                <a:latin typeface="Calibri" pitchFamily="34" charset="0"/>
                <a:ea typeface="Calibri" pitchFamily="34" charset="-122"/>
                <a:cs typeface="Calibri" pitchFamily="34" charset="-120"/>
              </a:rPr>
              <a:t>Kulak kepçesi kıkırdağının perikondrium iltihabı</a:t>
            </a:r>
            <a:endParaRPr lang="en-US" sz="1600" dirty="0"/>
          </a:p>
        </p:txBody>
      </p:sp>
      <p:sp>
        <p:nvSpPr>
          <p:cNvPr id="10" name="Shape 8"/>
          <p:cNvSpPr/>
          <p:nvPr/>
        </p:nvSpPr>
        <p:spPr>
          <a:xfrm>
            <a:off x="548640" y="3285744"/>
            <a:ext cx="11094415" cy="481990"/>
          </a:xfrm>
          <a:prstGeom prst="roundRect">
            <a:avLst>
              <a:gd name="adj" fmla="val 13280"/>
            </a:avLst>
          </a:prstGeom>
          <a:solidFill>
            <a:srgbClr val="E6F5EF"/>
          </a:solidFill>
          <a:ln/>
        </p:spPr>
      </p:sp>
      <p:sp>
        <p:nvSpPr>
          <p:cNvPr id="11" name="Text 9"/>
          <p:cNvSpPr txBox="1"/>
          <p:nvPr/>
        </p:nvSpPr>
        <p:spPr>
          <a:xfrm>
            <a:off x="704088" y="3358896"/>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otitis externa (G) (otitis eksterna): </a:t>
            </a:r>
            <a:r>
              <a:rPr lang="en-US" sz="1600" dirty="0">
                <a:solidFill>
                  <a:srgbClr val="1F2937"/>
                </a:solidFill>
                <a:latin typeface="Calibri" pitchFamily="34" charset="0"/>
                <a:ea typeface="Calibri" pitchFamily="34" charset="-122"/>
                <a:cs typeface="Calibri" pitchFamily="34" charset="-120"/>
              </a:rPr>
              <a:t>Dış kulak iltihabı</a:t>
            </a:r>
            <a:endParaRPr lang="en-US" sz="1600" dirty="0"/>
          </a:p>
        </p:txBody>
      </p:sp>
      <p:sp>
        <p:nvSpPr>
          <p:cNvPr id="12" name="Shape 10"/>
          <p:cNvSpPr/>
          <p:nvPr/>
        </p:nvSpPr>
        <p:spPr>
          <a:xfrm>
            <a:off x="548640" y="3859174"/>
            <a:ext cx="11094415" cy="481990"/>
          </a:xfrm>
          <a:prstGeom prst="roundRect">
            <a:avLst>
              <a:gd name="adj" fmla="val 13280"/>
            </a:avLst>
          </a:prstGeom>
          <a:solidFill>
            <a:srgbClr val="E6F5EF"/>
          </a:solidFill>
          <a:ln/>
        </p:spPr>
      </p:sp>
      <p:sp>
        <p:nvSpPr>
          <p:cNvPr id="13" name="Text 11"/>
          <p:cNvSpPr txBox="1"/>
          <p:nvPr/>
        </p:nvSpPr>
        <p:spPr>
          <a:xfrm>
            <a:off x="704088" y="3932326"/>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otitis media (G) (otitis media): </a:t>
            </a:r>
            <a:r>
              <a:rPr lang="en-US" sz="1600" dirty="0">
                <a:solidFill>
                  <a:srgbClr val="1F2937"/>
                </a:solidFill>
                <a:latin typeface="Calibri" pitchFamily="34" charset="0"/>
                <a:ea typeface="Calibri" pitchFamily="34" charset="-122"/>
                <a:cs typeface="Calibri" pitchFamily="34" charset="-120"/>
              </a:rPr>
              <a:t>Orta kulak iltihabı</a:t>
            </a:r>
            <a:endParaRPr lang="en-US" sz="1600" dirty="0"/>
          </a:p>
        </p:txBody>
      </p:sp>
      <p:sp>
        <p:nvSpPr>
          <p:cNvPr id="14" name="Shape 12"/>
          <p:cNvSpPr/>
          <p:nvPr/>
        </p:nvSpPr>
        <p:spPr>
          <a:xfrm>
            <a:off x="548640" y="4432605"/>
            <a:ext cx="11094415" cy="481990"/>
          </a:xfrm>
          <a:prstGeom prst="roundRect">
            <a:avLst>
              <a:gd name="adj" fmla="val 13280"/>
            </a:avLst>
          </a:prstGeom>
          <a:solidFill>
            <a:srgbClr val="E6F5EF"/>
          </a:solidFill>
          <a:ln/>
        </p:spPr>
      </p:sp>
      <p:sp>
        <p:nvSpPr>
          <p:cNvPr id="15" name="Text 13"/>
          <p:cNvSpPr txBox="1"/>
          <p:nvPr/>
        </p:nvSpPr>
        <p:spPr>
          <a:xfrm>
            <a:off x="704088" y="4505757"/>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myringitis, tympanitis (mirinjit, timpanit): </a:t>
            </a:r>
            <a:r>
              <a:rPr lang="en-US" sz="1600" dirty="0">
                <a:solidFill>
                  <a:srgbClr val="1F2937"/>
                </a:solidFill>
                <a:latin typeface="Calibri" pitchFamily="34" charset="0"/>
                <a:ea typeface="Calibri" pitchFamily="34" charset="-122"/>
                <a:cs typeface="Calibri" pitchFamily="34" charset="-120"/>
              </a:rPr>
              <a:t>Kulak zarı iltihabı</a:t>
            </a:r>
            <a:endParaRPr lang="en-US" sz="1600" dirty="0"/>
          </a:p>
        </p:txBody>
      </p:sp>
      <p:sp>
        <p:nvSpPr>
          <p:cNvPr id="16" name="Shape 14"/>
          <p:cNvSpPr/>
          <p:nvPr/>
        </p:nvSpPr>
        <p:spPr>
          <a:xfrm>
            <a:off x="548640" y="5006035"/>
            <a:ext cx="11094415" cy="729894"/>
          </a:xfrm>
          <a:prstGeom prst="roundRect">
            <a:avLst>
              <a:gd name="adj" fmla="val 8769"/>
            </a:avLst>
          </a:prstGeom>
          <a:solidFill>
            <a:srgbClr val="E6F5EF"/>
          </a:solidFill>
          <a:ln/>
        </p:spPr>
      </p:sp>
      <p:sp>
        <p:nvSpPr>
          <p:cNvPr id="17" name="Text 15"/>
          <p:cNvSpPr txBox="1"/>
          <p:nvPr/>
        </p:nvSpPr>
        <p:spPr>
          <a:xfrm>
            <a:off x="704088" y="5079187"/>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otosclerosis (G) (otoskleroz): </a:t>
            </a:r>
            <a:r>
              <a:rPr lang="en-US" sz="1600" dirty="0">
                <a:solidFill>
                  <a:srgbClr val="1F2937"/>
                </a:solidFill>
                <a:latin typeface="Calibri" pitchFamily="34" charset="0"/>
                <a:ea typeface="Calibri" pitchFamily="34" charset="-122"/>
                <a:cs typeface="Calibri" pitchFamily="34" charset="-120"/>
              </a:rPr>
              <a:t>Üzengi kemiği (stapes) tabanının ankilozonuna ve iletim tipi işitme kaybına neden olan bir hastalık</a:t>
            </a:r>
            <a:endParaRPr lang="en-US" sz="1600" dirty="0"/>
          </a:p>
        </p:txBody>
      </p:sp>
      <p:sp>
        <p:nvSpPr>
          <p:cNvPr id="18" name="Shape 16"/>
          <p:cNvSpPr/>
          <p:nvPr/>
        </p:nvSpPr>
        <p:spPr>
          <a:xfrm>
            <a:off x="548640" y="5827370"/>
            <a:ext cx="11094415" cy="481990"/>
          </a:xfrm>
          <a:prstGeom prst="roundRect">
            <a:avLst>
              <a:gd name="adj" fmla="val 13280"/>
            </a:avLst>
          </a:prstGeom>
          <a:solidFill>
            <a:srgbClr val="E6F5EF"/>
          </a:solidFill>
          <a:ln/>
        </p:spPr>
      </p:sp>
      <p:sp>
        <p:nvSpPr>
          <p:cNvPr id="19" name="Text 17"/>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sensorinöral işitme kaybı: </a:t>
            </a:r>
            <a:r>
              <a:rPr lang="en-US" sz="1600" dirty="0">
                <a:solidFill>
                  <a:srgbClr val="1F2937"/>
                </a:solidFill>
                <a:latin typeface="Calibri" pitchFamily="34" charset="0"/>
                <a:ea typeface="Calibri" pitchFamily="34" charset="-122"/>
                <a:cs typeface="Calibri" pitchFamily="34" charset="-120"/>
              </a:rPr>
              <a:t>İç kulak ve işitme sinirlerindeki bir nedene bağlı olark oluşan işitme kaybı</a:t>
            </a:r>
            <a:endParaRPr lang="en-US" sz="16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319</a:t>
            </a:r>
            <a:endParaRPr lang="en-US" sz="1000" dirty="0"/>
          </a:p>
        </p:txBody>
      </p:sp>
      <p:sp>
        <p:nvSpPr>
          <p:cNvPr id="6" name="Shape 4"/>
          <p:cNvSpPr/>
          <p:nvPr/>
        </p:nvSpPr>
        <p:spPr>
          <a:xfrm>
            <a:off x="548640" y="3029407"/>
            <a:ext cx="11094415" cy="821131"/>
          </a:xfrm>
          <a:prstGeom prst="roundRect">
            <a:avLst>
              <a:gd name="adj" fmla="val 7795"/>
            </a:avLst>
          </a:prstGeom>
          <a:solidFill>
            <a:srgbClr val="E6F5EF"/>
          </a:solidFill>
          <a:ln/>
        </p:spPr>
      </p:sp>
      <p:sp>
        <p:nvSpPr>
          <p:cNvPr id="7" name="Text 5"/>
          <p:cNvSpPr txBox="1"/>
          <p:nvPr/>
        </p:nvSpPr>
        <p:spPr>
          <a:xfrm>
            <a:off x="704088" y="3102559"/>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vestubular neuritis (LG) (vestibüler nörit): </a:t>
            </a:r>
            <a:r>
              <a:rPr lang="en-US" sz="1800" dirty="0">
                <a:solidFill>
                  <a:srgbClr val="1F2937"/>
                </a:solidFill>
                <a:latin typeface="Calibri" pitchFamily="34" charset="0"/>
                <a:ea typeface="Calibri" pitchFamily="34" charset="-122"/>
                <a:cs typeface="Calibri" pitchFamily="34" charset="-120"/>
              </a:rPr>
              <a:t>Önceleri devamlı, daha sonra nöbetler halinde gelen baş dönmeleriyle ortaya çıkan iyi huylu bir hastalık</a:t>
            </a:r>
            <a:endParaRPr lang="en-US" sz="1800" dirty="0"/>
          </a:p>
        </p:txBody>
      </p:sp>
      <p:sp>
        <p:nvSpPr>
          <p:cNvPr id="8" name="Shape 6"/>
          <p:cNvSpPr/>
          <p:nvPr/>
        </p:nvSpPr>
        <p:spPr>
          <a:xfrm>
            <a:off x="548640" y="3941978"/>
            <a:ext cx="11094415" cy="821131"/>
          </a:xfrm>
          <a:prstGeom prst="roundRect">
            <a:avLst>
              <a:gd name="adj" fmla="val 7795"/>
            </a:avLst>
          </a:prstGeom>
          <a:solidFill>
            <a:srgbClr val="E6F5EF"/>
          </a:solidFill>
          <a:ln/>
        </p:spPr>
      </p:sp>
      <p:sp>
        <p:nvSpPr>
          <p:cNvPr id="9" name="Text 7"/>
          <p:cNvSpPr txBox="1"/>
          <p:nvPr/>
        </p:nvSpPr>
        <p:spPr>
          <a:xfrm>
            <a:off x="704088" y="4015130"/>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acoustic neuroma (G) (akustik nöroma): </a:t>
            </a:r>
            <a:r>
              <a:rPr lang="en-US" sz="1800" dirty="0">
                <a:solidFill>
                  <a:srgbClr val="1F2937"/>
                </a:solidFill>
                <a:latin typeface="Calibri" pitchFamily="34" charset="0"/>
                <a:ea typeface="Calibri" pitchFamily="34" charset="-122"/>
                <a:cs typeface="Calibri" pitchFamily="34" charset="-120"/>
              </a:rPr>
              <a:t>8. kafa sinirinin tümörü (8. kafa çifti nervus statoacoustic- işitme siniri).</a:t>
            </a:r>
            <a:endParaRPr lang="en-US" sz="1800" dirty="0"/>
          </a:p>
        </p:txBody>
      </p:sp>
      <p:sp>
        <p:nvSpPr>
          <p:cNvPr id="10" name="Shape 8"/>
          <p:cNvSpPr/>
          <p:nvPr/>
        </p:nvSpPr>
        <p:spPr>
          <a:xfrm>
            <a:off x="548640" y="4854550"/>
            <a:ext cx="11094415" cy="542239"/>
          </a:xfrm>
          <a:prstGeom prst="roundRect">
            <a:avLst>
              <a:gd name="adj" fmla="val 11804"/>
            </a:avLst>
          </a:prstGeom>
          <a:solidFill>
            <a:srgbClr val="E6F5EF"/>
          </a:solidFill>
          <a:ln/>
        </p:spPr>
      </p:sp>
      <p:sp>
        <p:nvSpPr>
          <p:cNvPr id="11" name="Text 9"/>
          <p:cNvSpPr txBox="1"/>
          <p:nvPr/>
        </p:nvSpPr>
        <p:spPr>
          <a:xfrm>
            <a:off x="704088" y="492770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anacoustic (G) (anakustik): </a:t>
            </a:r>
            <a:r>
              <a:rPr lang="en-US" sz="1800" dirty="0">
                <a:solidFill>
                  <a:srgbClr val="1F2937"/>
                </a:solidFill>
                <a:latin typeface="Calibri" pitchFamily="34" charset="0"/>
                <a:ea typeface="Calibri" pitchFamily="34" charset="-122"/>
                <a:cs typeface="Calibri" pitchFamily="34" charset="-120"/>
              </a:rPr>
              <a:t>Sağırlık, işitme kaybı</a:t>
            </a:r>
            <a:endParaRPr lang="en-US" sz="1800" dirty="0"/>
          </a:p>
        </p:txBody>
      </p:sp>
      <p:sp>
        <p:nvSpPr>
          <p:cNvPr id="12" name="Shape 10"/>
          <p:cNvSpPr/>
          <p:nvPr/>
        </p:nvSpPr>
        <p:spPr>
          <a:xfrm>
            <a:off x="548640" y="5488229"/>
            <a:ext cx="11094415" cy="821131"/>
          </a:xfrm>
          <a:prstGeom prst="roundRect">
            <a:avLst>
              <a:gd name="adj" fmla="val 7795"/>
            </a:avLst>
          </a:prstGeom>
          <a:solidFill>
            <a:srgbClr val="E6F5EF"/>
          </a:solidFill>
          <a:ln/>
        </p:spPr>
      </p:sp>
      <p:sp>
        <p:nvSpPr>
          <p:cNvPr id="13" name="Text 11"/>
          <p:cNvSpPr txBox="1"/>
          <p:nvPr/>
        </p:nvSpPr>
        <p:spPr>
          <a:xfrm>
            <a:off x="704088" y="556138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presbyacusis (presbiakuzi): </a:t>
            </a:r>
            <a:r>
              <a:rPr lang="en-US" sz="1800" dirty="0">
                <a:solidFill>
                  <a:srgbClr val="1F2937"/>
                </a:solidFill>
                <a:latin typeface="Calibri" pitchFamily="34" charset="0"/>
                <a:ea typeface="Calibri" pitchFamily="34" charset="-122"/>
                <a:cs typeface="Calibri" pitchFamily="34" charset="-120"/>
              </a:rPr>
              <a:t>Normal yaşlanma olayının bir bölümü olarak oluşan sensörinöral işitme kaybı. Yaşlılık nedeniyle oluşan işitme kaybı</a:t>
            </a:r>
            <a:endParaRPr lang="en-US" sz="18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320</a:t>
            </a:r>
            <a:endParaRPr lang="en-US" sz="1000" dirty="0"/>
          </a:p>
        </p:txBody>
      </p:sp>
      <p:sp>
        <p:nvSpPr>
          <p:cNvPr id="6" name="Shape 4"/>
          <p:cNvSpPr/>
          <p:nvPr/>
        </p:nvSpPr>
        <p:spPr>
          <a:xfrm>
            <a:off x="548640" y="3474720"/>
            <a:ext cx="11094415" cy="542239"/>
          </a:xfrm>
          <a:prstGeom prst="roundRect">
            <a:avLst>
              <a:gd name="adj" fmla="val 11804"/>
            </a:avLst>
          </a:prstGeom>
          <a:solidFill>
            <a:srgbClr val="E6F5EF"/>
          </a:solidFill>
          <a:ln/>
        </p:spPr>
      </p:sp>
      <p:sp>
        <p:nvSpPr>
          <p:cNvPr id="7" name="Text 5"/>
          <p:cNvSpPr txBox="1"/>
          <p:nvPr/>
        </p:nvSpPr>
        <p:spPr>
          <a:xfrm>
            <a:off x="704088" y="354787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myringotomy (LG) (miringotomi): </a:t>
            </a:r>
            <a:r>
              <a:rPr lang="en-US" sz="1800" dirty="0">
                <a:solidFill>
                  <a:srgbClr val="1F2937"/>
                </a:solidFill>
                <a:latin typeface="Calibri" pitchFamily="34" charset="0"/>
                <a:ea typeface="Calibri" pitchFamily="34" charset="-122"/>
                <a:cs typeface="Calibri" pitchFamily="34" charset="-120"/>
              </a:rPr>
              <a:t>Kulak zarında cerrahi olarak delik açılması</a:t>
            </a:r>
            <a:endParaRPr lang="en-US" sz="1800" dirty="0"/>
          </a:p>
        </p:txBody>
      </p:sp>
      <p:sp>
        <p:nvSpPr>
          <p:cNvPr id="8" name="Shape 6"/>
          <p:cNvSpPr/>
          <p:nvPr/>
        </p:nvSpPr>
        <p:spPr>
          <a:xfrm>
            <a:off x="548640" y="4108399"/>
            <a:ext cx="11094415" cy="542239"/>
          </a:xfrm>
          <a:prstGeom prst="roundRect">
            <a:avLst>
              <a:gd name="adj" fmla="val 11804"/>
            </a:avLst>
          </a:prstGeom>
          <a:solidFill>
            <a:srgbClr val="E6F5EF"/>
          </a:solidFill>
          <a:ln/>
        </p:spPr>
      </p:sp>
      <p:sp>
        <p:nvSpPr>
          <p:cNvPr id="9" name="Text 7"/>
          <p:cNvSpPr txBox="1"/>
          <p:nvPr/>
        </p:nvSpPr>
        <p:spPr>
          <a:xfrm>
            <a:off x="704088" y="4181551"/>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tympanostomy (G) (timpanostomi): </a:t>
            </a:r>
            <a:r>
              <a:rPr lang="en-US" sz="1800" dirty="0">
                <a:solidFill>
                  <a:srgbClr val="1F2937"/>
                </a:solidFill>
                <a:latin typeface="Calibri" pitchFamily="34" charset="0"/>
                <a:ea typeface="Calibri" pitchFamily="34" charset="-122"/>
                <a:cs typeface="Calibri" pitchFamily="34" charset="-120"/>
              </a:rPr>
              <a:t>Timpanik boşluğun bir tüp aracılığıyla dış kulağa açılması</a:t>
            </a:r>
            <a:endParaRPr lang="en-US" sz="1800" dirty="0"/>
          </a:p>
        </p:txBody>
      </p:sp>
      <p:sp>
        <p:nvSpPr>
          <p:cNvPr id="10" name="Shape 8"/>
          <p:cNvSpPr/>
          <p:nvPr/>
        </p:nvSpPr>
        <p:spPr>
          <a:xfrm>
            <a:off x="548640" y="4742078"/>
            <a:ext cx="11094415" cy="542239"/>
          </a:xfrm>
          <a:prstGeom prst="roundRect">
            <a:avLst>
              <a:gd name="adj" fmla="val 11804"/>
            </a:avLst>
          </a:prstGeom>
          <a:solidFill>
            <a:srgbClr val="E6F5EF"/>
          </a:solidFill>
          <a:ln/>
        </p:spPr>
      </p:sp>
      <p:sp>
        <p:nvSpPr>
          <p:cNvPr id="11" name="Text 9"/>
          <p:cNvSpPr txBox="1"/>
          <p:nvPr/>
        </p:nvSpPr>
        <p:spPr>
          <a:xfrm>
            <a:off x="704088" y="481523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tympanotomy (G) (timpanotomi): </a:t>
            </a:r>
            <a:r>
              <a:rPr lang="en-US" sz="1800" dirty="0">
                <a:solidFill>
                  <a:srgbClr val="1F2937"/>
                </a:solidFill>
                <a:latin typeface="Calibri" pitchFamily="34" charset="0"/>
                <a:ea typeface="Calibri" pitchFamily="34" charset="-122"/>
                <a:cs typeface="Calibri" pitchFamily="34" charset="-120"/>
              </a:rPr>
              <a:t>Kulak zarı ameliyatı</a:t>
            </a:r>
            <a:endParaRPr lang="en-US" sz="1800" dirty="0"/>
          </a:p>
        </p:txBody>
      </p:sp>
      <p:sp>
        <p:nvSpPr>
          <p:cNvPr id="12" name="Shape 10"/>
          <p:cNvSpPr/>
          <p:nvPr/>
        </p:nvSpPr>
        <p:spPr>
          <a:xfrm>
            <a:off x="548640" y="5375758"/>
            <a:ext cx="11094415" cy="542239"/>
          </a:xfrm>
          <a:prstGeom prst="roundRect">
            <a:avLst>
              <a:gd name="adj" fmla="val 11804"/>
            </a:avLst>
          </a:prstGeom>
          <a:solidFill>
            <a:srgbClr val="E6F5EF"/>
          </a:solidFill>
          <a:ln/>
        </p:spPr>
      </p:sp>
      <p:sp>
        <p:nvSpPr>
          <p:cNvPr id="13" name="Text 11"/>
          <p:cNvSpPr txBox="1"/>
          <p:nvPr/>
        </p:nvSpPr>
        <p:spPr>
          <a:xfrm>
            <a:off x="704088" y="5448910"/>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otoplasty (G) (otoplasti): </a:t>
            </a:r>
            <a:r>
              <a:rPr lang="en-US" sz="1800" dirty="0">
                <a:solidFill>
                  <a:srgbClr val="1F2937"/>
                </a:solidFill>
                <a:latin typeface="Calibri" pitchFamily="34" charset="0"/>
                <a:ea typeface="Calibri" pitchFamily="34" charset="-122"/>
                <a:cs typeface="Calibri" pitchFamily="34" charset="-120"/>
              </a:rPr>
              <a:t>Dış kulağın plastik ameliyatı</a:t>
            </a:r>
            <a:endParaRPr lang="en-US" sz="18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Deriye İlişkin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321</a:t>
            </a:r>
            <a:endParaRPr lang="en-US" sz="1000" dirty="0"/>
          </a:p>
        </p:txBody>
      </p:sp>
      <p:sp>
        <p:nvSpPr>
          <p:cNvPr id="6" name="Shape 4"/>
          <p:cNvSpPr/>
          <p:nvPr/>
        </p:nvSpPr>
        <p:spPr>
          <a:xfrm>
            <a:off x="548640" y="2468880"/>
            <a:ext cx="11094415" cy="1378915"/>
          </a:xfrm>
          <a:prstGeom prst="roundRect">
            <a:avLst>
              <a:gd name="adj" fmla="val 4642"/>
            </a:avLst>
          </a:prstGeom>
          <a:solidFill>
            <a:srgbClr val="E6F5EF"/>
          </a:solidFill>
          <a:ln/>
        </p:spPr>
      </p:sp>
      <p:sp>
        <p:nvSpPr>
          <p:cNvPr id="7" name="Text 5"/>
          <p:cNvSpPr txBox="1"/>
          <p:nvPr/>
        </p:nvSpPr>
        <p:spPr>
          <a:xfrm>
            <a:off x="704088" y="2542032"/>
            <a:ext cx="10783519" cy="1232611"/>
          </a:xfrm>
          <a:prstGeom prst="rect">
            <a:avLst/>
          </a:prstGeom>
          <a:noFill/>
          <a:ln/>
        </p:spPr>
        <p:txBody>
          <a:bodyPr wrap="square" lIns="0" tIns="0" rIns="0" bIns="0" rtlCol="0" anchor="t"/>
          <a:lstStyle/>
          <a:p>
            <a:pPr marL="0" indent="0">
              <a:lnSpc>
                <a:spcPct val="105000"/>
              </a:lnSpc>
              <a:buNone/>
            </a:pPr>
            <a:r>
              <a:rPr lang="en-US" sz="1800" b="1" dirty="0">
                <a:solidFill>
                  <a:srgbClr val="1F2937"/>
                </a:solidFill>
                <a:latin typeface="Calibri" pitchFamily="34" charset="0"/>
                <a:ea typeface="Calibri" pitchFamily="34" charset="-122"/>
                <a:cs typeface="Calibri" pitchFamily="34" charset="-120"/>
              </a:rPr>
              <a:t>Deri</a:t>
            </a:r>
            <a:r>
              <a:rPr lang="en-US" sz="1800" dirty="0">
                <a:solidFill>
                  <a:srgbClr val="1F2937"/>
                </a:solidFill>
                <a:latin typeface="Calibri" pitchFamily="34" charset="0"/>
                <a:ea typeface="Calibri" pitchFamily="34" charset="-122"/>
                <a:cs typeface="Calibri" pitchFamily="34" charset="-120"/>
              </a:rPr>
              <a:t>, vücudu saran en ağır ve en büyük organdır. Toplam vücut ağırlığının %16’sını oluşturur. Erişkinlerde yüzey alanı ortalama 1,2-2,3 metrekare arasında değişir. Kalınlığı 1-4 mm arasındadır. En ince olduğu yer, göz kapakları; en kalın olduğu yer ise ayak tabanıdır. Deriyle ilgili hastalıkları inceleyen bilim dalına  </a:t>
            </a:r>
            <a:r>
              <a:rPr lang="en-US" sz="1800" b="1" dirty="0">
                <a:solidFill>
                  <a:srgbClr val="1F2937"/>
                </a:solidFill>
                <a:latin typeface="Calibri" pitchFamily="34" charset="0"/>
                <a:ea typeface="Calibri" pitchFamily="34" charset="-122"/>
                <a:cs typeface="Calibri" pitchFamily="34" charset="-120"/>
              </a:rPr>
              <a:t>dermatoloji </a:t>
            </a:r>
            <a:r>
              <a:rPr lang="en-US" sz="1800" dirty="0">
                <a:solidFill>
                  <a:srgbClr val="1F2937"/>
                </a:solidFill>
                <a:latin typeface="Calibri" pitchFamily="34" charset="0"/>
                <a:ea typeface="Calibri" pitchFamily="34" charset="-122"/>
                <a:cs typeface="Calibri" pitchFamily="34" charset="-120"/>
              </a:rPr>
              <a:t>denir.</a:t>
            </a:r>
            <a:endParaRPr lang="en-US" sz="1800" dirty="0"/>
          </a:p>
        </p:txBody>
      </p:sp>
      <p:sp>
        <p:nvSpPr>
          <p:cNvPr id="8" name="Shape 6"/>
          <p:cNvSpPr/>
          <p:nvPr/>
        </p:nvSpPr>
        <p:spPr>
          <a:xfrm>
            <a:off x="548640" y="3939235"/>
            <a:ext cx="11094415" cy="821131"/>
          </a:xfrm>
          <a:prstGeom prst="roundRect">
            <a:avLst>
              <a:gd name="adj" fmla="val 7795"/>
            </a:avLst>
          </a:prstGeom>
          <a:solidFill>
            <a:srgbClr val="E6F5EF"/>
          </a:solidFill>
          <a:ln/>
        </p:spPr>
      </p:sp>
      <p:sp>
        <p:nvSpPr>
          <p:cNvPr id="9" name="Text 7"/>
          <p:cNvSpPr txBox="1"/>
          <p:nvPr/>
        </p:nvSpPr>
        <p:spPr>
          <a:xfrm>
            <a:off x="704088" y="4012387"/>
            <a:ext cx="10783519" cy="674827"/>
          </a:xfrm>
          <a:prstGeom prst="rect">
            <a:avLst/>
          </a:prstGeom>
          <a:noFill/>
          <a:ln/>
        </p:spPr>
        <p:txBody>
          <a:bodyPr wrap="square" lIns="0" tIns="0" rIns="0" bIns="0" rtlCol="0" anchor="t"/>
          <a:lstStyle/>
          <a:p>
            <a:pPr marL="0" indent="0">
              <a:lnSpc>
                <a:spcPct val="105000"/>
              </a:lnSpc>
              <a:buNone/>
            </a:pPr>
            <a:r>
              <a:rPr lang="en-US" sz="1800" dirty="0">
                <a:solidFill>
                  <a:srgbClr val="1F2937"/>
                </a:solidFill>
                <a:latin typeface="Calibri" pitchFamily="34" charset="0"/>
                <a:ea typeface="Calibri" pitchFamily="34" charset="-122"/>
                <a:cs typeface="Calibri" pitchFamily="34" charset="-120"/>
              </a:rPr>
              <a:t>Deri insan için önemli bir organdır. Koruma, salgılama, ısıyı ayarlama ve duyu alma gibi dört ayrı işlevi vardır. Tırnaklar ve kıllar derideki ek yapılardır.</a:t>
            </a:r>
            <a:endParaRPr lang="en-US" sz="18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322</a:t>
            </a:r>
            <a:endParaRPr lang="en-US" sz="1000" dirty="0"/>
          </a:p>
        </p:txBody>
      </p:sp>
      <p:sp>
        <p:nvSpPr>
          <p:cNvPr id="6" name="Shape 4"/>
          <p:cNvSpPr/>
          <p:nvPr/>
        </p:nvSpPr>
        <p:spPr>
          <a:xfrm>
            <a:off x="548640" y="1644015"/>
            <a:ext cx="11094415" cy="1149096"/>
          </a:xfrm>
          <a:prstGeom prst="roundRect">
            <a:avLst>
              <a:gd name="adj" fmla="val 5570"/>
            </a:avLst>
          </a:prstGeom>
          <a:solidFill>
            <a:srgbClr val="E6F5EF"/>
          </a:solidFill>
          <a:ln/>
        </p:spPr>
      </p:sp>
      <p:sp>
        <p:nvSpPr>
          <p:cNvPr id="7" name="Text 5"/>
          <p:cNvSpPr txBox="1"/>
          <p:nvPr/>
        </p:nvSpPr>
        <p:spPr>
          <a:xfrm>
            <a:off x="704088" y="1717167"/>
            <a:ext cx="10783519" cy="100279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epidermis (G) (epidermis): </a:t>
            </a:r>
            <a:r>
              <a:rPr lang="en-US" sz="1500" dirty="0">
                <a:solidFill>
                  <a:srgbClr val="1F2937"/>
                </a:solidFill>
                <a:latin typeface="Calibri" pitchFamily="34" charset="0"/>
                <a:ea typeface="Calibri" pitchFamily="34" charset="-122"/>
                <a:cs typeface="Calibri" pitchFamily="34" charset="-120"/>
              </a:rPr>
              <a:t>Üst deri. Derinin en dış katmanıdır. Çok katlı yassı epitel hücrelerinden yapılmıştır. Yüzey hücreleri ölüdür. Buraya stratum korneum alt katı denir.</a:t>
            </a:r>
            <a:endParaRPr lang="en-US" sz="1500" dirty="0"/>
          </a:p>
        </p:txBody>
      </p:sp>
      <p:sp>
        <p:nvSpPr>
          <p:cNvPr id="8" name="Shape 6"/>
          <p:cNvSpPr/>
          <p:nvPr/>
        </p:nvSpPr>
        <p:spPr>
          <a:xfrm>
            <a:off x="548640" y="3065526"/>
            <a:ext cx="5410048" cy="684276"/>
          </a:xfrm>
          <a:prstGeom prst="roundRect">
            <a:avLst>
              <a:gd name="adj" fmla="val 9354"/>
            </a:avLst>
          </a:prstGeom>
          <a:solidFill>
            <a:srgbClr val="E6F5EF"/>
          </a:solidFill>
          <a:ln/>
        </p:spPr>
      </p:sp>
      <p:sp>
        <p:nvSpPr>
          <p:cNvPr id="9" name="Text 7"/>
          <p:cNvSpPr txBox="1"/>
          <p:nvPr/>
        </p:nvSpPr>
        <p:spPr>
          <a:xfrm>
            <a:off x="704088" y="3138678"/>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cutis (kutis), corium (koryum), tegument, pella (L): </a:t>
            </a:r>
            <a:r>
              <a:rPr lang="en-US" sz="1500" dirty="0">
                <a:solidFill>
                  <a:srgbClr val="1F2937"/>
                </a:solidFill>
                <a:latin typeface="Calibri" pitchFamily="34" charset="0"/>
                <a:ea typeface="Calibri" pitchFamily="34" charset="-122"/>
                <a:cs typeface="Calibri" pitchFamily="34" charset="-120"/>
              </a:rPr>
              <a:t>Deri</a:t>
            </a:r>
            <a:endParaRPr lang="en-US" sz="1500" dirty="0"/>
          </a:p>
        </p:txBody>
      </p:sp>
      <p:sp>
        <p:nvSpPr>
          <p:cNvPr id="10" name="Shape 8"/>
          <p:cNvSpPr/>
          <p:nvPr/>
        </p:nvSpPr>
        <p:spPr>
          <a:xfrm>
            <a:off x="548640" y="3841242"/>
            <a:ext cx="5410048" cy="451866"/>
          </a:xfrm>
          <a:prstGeom prst="roundRect">
            <a:avLst>
              <a:gd name="adj" fmla="val 14165"/>
            </a:avLst>
          </a:prstGeom>
          <a:solidFill>
            <a:srgbClr val="E6F5EF"/>
          </a:solidFill>
          <a:ln/>
        </p:spPr>
      </p:sp>
      <p:sp>
        <p:nvSpPr>
          <p:cNvPr id="11" name="Text 9"/>
          <p:cNvSpPr txBox="1"/>
          <p:nvPr/>
        </p:nvSpPr>
        <p:spPr>
          <a:xfrm>
            <a:off x="704088" y="391439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dermis (G) (dermis): </a:t>
            </a:r>
            <a:r>
              <a:rPr lang="en-US" sz="1500" dirty="0">
                <a:solidFill>
                  <a:srgbClr val="1F2937"/>
                </a:solidFill>
                <a:latin typeface="Calibri" pitchFamily="34" charset="0"/>
                <a:ea typeface="Calibri" pitchFamily="34" charset="-122"/>
                <a:cs typeface="Calibri" pitchFamily="34" charset="-120"/>
              </a:rPr>
              <a:t>Deri</a:t>
            </a:r>
            <a:endParaRPr lang="en-US" sz="1500" dirty="0"/>
          </a:p>
        </p:txBody>
      </p:sp>
      <p:sp>
        <p:nvSpPr>
          <p:cNvPr id="12" name="Shape 10"/>
          <p:cNvSpPr/>
          <p:nvPr/>
        </p:nvSpPr>
        <p:spPr>
          <a:xfrm>
            <a:off x="548640" y="4384548"/>
            <a:ext cx="5410048" cy="916686"/>
          </a:xfrm>
          <a:prstGeom prst="roundRect">
            <a:avLst>
              <a:gd name="adj" fmla="val 6983"/>
            </a:avLst>
          </a:prstGeom>
          <a:solidFill>
            <a:srgbClr val="E6F5EF"/>
          </a:solidFill>
          <a:ln/>
        </p:spPr>
      </p:sp>
      <p:sp>
        <p:nvSpPr>
          <p:cNvPr id="13" name="Text 11"/>
          <p:cNvSpPr txBox="1"/>
          <p:nvPr/>
        </p:nvSpPr>
        <p:spPr>
          <a:xfrm>
            <a:off x="704088" y="4457700"/>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dermis (G) (dermiş): </a:t>
            </a:r>
            <a:r>
              <a:rPr lang="en-US" sz="1500" dirty="0">
                <a:solidFill>
                  <a:srgbClr val="1F2937"/>
                </a:solidFill>
                <a:latin typeface="Calibri" pitchFamily="34" charset="0"/>
                <a:ea typeface="Calibri" pitchFamily="34" charset="-122"/>
                <a:cs typeface="Calibri" pitchFamily="34" charset="-120"/>
              </a:rPr>
              <a:t>Epidermisin altındaki sıkı bağ dokudan yapılmış katmandır. Alt deri. Bu terim bazen deri anlamında da kullanılmaktadır.</a:t>
            </a:r>
            <a:endParaRPr lang="en-US" sz="1500" dirty="0"/>
          </a:p>
        </p:txBody>
      </p:sp>
      <p:sp>
        <p:nvSpPr>
          <p:cNvPr id="14" name="Shape 12"/>
          <p:cNvSpPr/>
          <p:nvPr/>
        </p:nvSpPr>
        <p:spPr>
          <a:xfrm>
            <a:off x="548640" y="5392674"/>
            <a:ext cx="5410048" cy="916686"/>
          </a:xfrm>
          <a:prstGeom prst="roundRect">
            <a:avLst>
              <a:gd name="adj" fmla="val 6983"/>
            </a:avLst>
          </a:prstGeom>
          <a:solidFill>
            <a:srgbClr val="E6F5EF"/>
          </a:solidFill>
          <a:ln/>
        </p:spPr>
      </p:sp>
      <p:sp>
        <p:nvSpPr>
          <p:cNvPr id="15" name="Text 13"/>
          <p:cNvSpPr txBox="1"/>
          <p:nvPr/>
        </p:nvSpPr>
        <p:spPr>
          <a:xfrm>
            <a:off x="704088" y="546582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hypodermis (G) (hipodermis): </a:t>
            </a:r>
            <a:r>
              <a:rPr lang="en-US" sz="1500" dirty="0">
                <a:solidFill>
                  <a:srgbClr val="1F2937"/>
                </a:solidFill>
                <a:latin typeface="Calibri" pitchFamily="34" charset="0"/>
                <a:ea typeface="Calibri" pitchFamily="34" charset="-122"/>
                <a:cs typeface="Calibri" pitchFamily="34" charset="-120"/>
              </a:rPr>
              <a:t>Deri altı katı. Dermis katmanının altındaki yağ dokudan zengin gevşek bağ dokudan yapılmış kat</a:t>
            </a:r>
            <a:endParaRPr lang="en-US" sz="1500" dirty="0"/>
          </a:p>
        </p:txBody>
      </p:sp>
      <p:sp>
        <p:nvSpPr>
          <p:cNvPr id="16" name="Shape 14"/>
          <p:cNvSpPr/>
          <p:nvPr/>
        </p:nvSpPr>
        <p:spPr>
          <a:xfrm>
            <a:off x="6233008" y="3065526"/>
            <a:ext cx="5410048" cy="451866"/>
          </a:xfrm>
          <a:prstGeom prst="roundRect">
            <a:avLst>
              <a:gd name="adj" fmla="val 14165"/>
            </a:avLst>
          </a:prstGeom>
          <a:solidFill>
            <a:srgbClr val="E6F5EF"/>
          </a:solidFill>
          <a:ln/>
        </p:spPr>
      </p:sp>
      <p:sp>
        <p:nvSpPr>
          <p:cNvPr id="17" name="Text 15"/>
          <p:cNvSpPr txBox="1"/>
          <p:nvPr/>
        </p:nvSpPr>
        <p:spPr>
          <a:xfrm>
            <a:off x="6388456" y="3138678"/>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thrix (G) (triks), capillus (L) (kapillus): </a:t>
            </a:r>
            <a:r>
              <a:rPr lang="en-US" sz="1500" dirty="0">
                <a:solidFill>
                  <a:srgbClr val="1F2937"/>
                </a:solidFill>
                <a:latin typeface="Calibri" pitchFamily="34" charset="0"/>
                <a:ea typeface="Calibri" pitchFamily="34" charset="-122"/>
                <a:cs typeface="Calibri" pitchFamily="34" charset="-120"/>
              </a:rPr>
              <a:t>Saç, kıl.</a:t>
            </a:r>
            <a:endParaRPr lang="en-US" sz="1500" dirty="0"/>
          </a:p>
        </p:txBody>
      </p:sp>
      <p:sp>
        <p:nvSpPr>
          <p:cNvPr id="18" name="Shape 16"/>
          <p:cNvSpPr/>
          <p:nvPr/>
        </p:nvSpPr>
        <p:spPr>
          <a:xfrm>
            <a:off x="6233008" y="3608832"/>
            <a:ext cx="5410048" cy="451866"/>
          </a:xfrm>
          <a:prstGeom prst="roundRect">
            <a:avLst>
              <a:gd name="adj" fmla="val 14165"/>
            </a:avLst>
          </a:prstGeom>
          <a:solidFill>
            <a:srgbClr val="E6F5EF"/>
          </a:solidFill>
          <a:ln/>
        </p:spPr>
      </p:sp>
      <p:sp>
        <p:nvSpPr>
          <p:cNvPr id="19" name="Text 17"/>
          <p:cNvSpPr txBox="1"/>
          <p:nvPr/>
        </p:nvSpPr>
        <p:spPr>
          <a:xfrm>
            <a:off x="6388456" y="3681984"/>
            <a:ext cx="5099152"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pilus (L): </a:t>
            </a:r>
            <a:r>
              <a:rPr lang="en-US" sz="1500" dirty="0">
                <a:solidFill>
                  <a:srgbClr val="1F2937"/>
                </a:solidFill>
                <a:latin typeface="Calibri" pitchFamily="34" charset="0"/>
                <a:ea typeface="Calibri" pitchFamily="34" charset="-122"/>
                <a:cs typeface="Calibri" pitchFamily="34" charset="-120"/>
              </a:rPr>
              <a:t>Vücut yüzeyini örten kıl.</a:t>
            </a:r>
            <a:endParaRPr lang="en-US" sz="1500" dirty="0"/>
          </a:p>
        </p:txBody>
      </p:sp>
      <p:sp>
        <p:nvSpPr>
          <p:cNvPr id="20" name="Shape 18"/>
          <p:cNvSpPr/>
          <p:nvPr/>
        </p:nvSpPr>
        <p:spPr>
          <a:xfrm>
            <a:off x="6233008" y="4152138"/>
            <a:ext cx="5410048" cy="684276"/>
          </a:xfrm>
          <a:prstGeom prst="roundRect">
            <a:avLst>
              <a:gd name="adj" fmla="val 9354"/>
            </a:avLst>
          </a:prstGeom>
          <a:solidFill>
            <a:srgbClr val="E6F5EF"/>
          </a:solidFill>
          <a:ln/>
        </p:spPr>
      </p:sp>
      <p:sp>
        <p:nvSpPr>
          <p:cNvPr id="21" name="Text 19"/>
          <p:cNvSpPr txBox="1"/>
          <p:nvPr/>
        </p:nvSpPr>
        <p:spPr>
          <a:xfrm>
            <a:off x="6388456" y="4225290"/>
            <a:ext cx="5099152"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lanugo (L): </a:t>
            </a:r>
            <a:r>
              <a:rPr lang="en-US" sz="1500" dirty="0">
                <a:solidFill>
                  <a:srgbClr val="1F2937"/>
                </a:solidFill>
                <a:latin typeface="Calibri" pitchFamily="34" charset="0"/>
                <a:ea typeface="Calibri" pitchFamily="34" charset="-122"/>
                <a:cs typeface="Calibri" pitchFamily="34" charset="-120"/>
              </a:rPr>
              <a:t>Ayva tüyü, ince kıl. Fetüste ilk aylarda çıkan ve doğumdan sonra dökülen ince kıllar.</a:t>
            </a:r>
            <a:endParaRPr lang="en-US" sz="1500" dirty="0"/>
          </a:p>
        </p:txBody>
      </p:sp>
      <p:sp>
        <p:nvSpPr>
          <p:cNvPr id="22" name="Shape 20"/>
          <p:cNvSpPr/>
          <p:nvPr/>
        </p:nvSpPr>
        <p:spPr>
          <a:xfrm>
            <a:off x="6233008" y="4927854"/>
            <a:ext cx="5410048" cy="916686"/>
          </a:xfrm>
          <a:prstGeom prst="roundRect">
            <a:avLst>
              <a:gd name="adj" fmla="val 6983"/>
            </a:avLst>
          </a:prstGeom>
          <a:solidFill>
            <a:srgbClr val="E6F5EF"/>
          </a:solidFill>
          <a:ln/>
        </p:spPr>
      </p:sp>
      <p:sp>
        <p:nvSpPr>
          <p:cNvPr id="23" name="Text 21"/>
          <p:cNvSpPr txBox="1"/>
          <p:nvPr/>
        </p:nvSpPr>
        <p:spPr>
          <a:xfrm>
            <a:off x="6388456" y="5001006"/>
            <a:ext cx="5099152" cy="77038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melanocytus (G) (melanosit): </a:t>
            </a:r>
            <a:r>
              <a:rPr lang="en-US" sz="1500" dirty="0">
                <a:solidFill>
                  <a:srgbClr val="1F2937"/>
                </a:solidFill>
                <a:latin typeface="Calibri" pitchFamily="34" charset="0"/>
                <a:ea typeface="Calibri" pitchFamily="34" charset="-122"/>
                <a:cs typeface="Calibri" pitchFamily="34" charset="-120"/>
              </a:rPr>
              <a:t>Epidermis katmanı hücreleri arasında melanin pigmenti içeren ve derinin rengini veren hücreler</a:t>
            </a:r>
            <a:endParaRPr lang="en-US" sz="15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Anatomik Terimler</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323</a:t>
            </a:r>
            <a:endParaRPr lang="en-US" sz="1000" dirty="0"/>
          </a:p>
        </p:txBody>
      </p:sp>
      <p:sp>
        <p:nvSpPr>
          <p:cNvPr id="6" name="Shape 4"/>
          <p:cNvSpPr/>
          <p:nvPr/>
        </p:nvSpPr>
        <p:spPr>
          <a:xfrm>
            <a:off x="548640" y="1701952"/>
            <a:ext cx="11094415" cy="855574"/>
          </a:xfrm>
          <a:prstGeom prst="roundRect">
            <a:avLst>
              <a:gd name="adj" fmla="val 7481"/>
            </a:avLst>
          </a:prstGeom>
          <a:solidFill>
            <a:srgbClr val="E6F5EF"/>
          </a:solidFill>
          <a:ln/>
        </p:spPr>
      </p:sp>
      <p:sp>
        <p:nvSpPr>
          <p:cNvPr id="7" name="Text 5"/>
          <p:cNvSpPr txBox="1"/>
          <p:nvPr/>
        </p:nvSpPr>
        <p:spPr>
          <a:xfrm>
            <a:off x="704088" y="1775104"/>
            <a:ext cx="10783519" cy="709270"/>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m. artector pili (L) (m. artektor pili): </a:t>
            </a:r>
            <a:r>
              <a:rPr lang="en-US" sz="1400" dirty="0">
                <a:solidFill>
                  <a:srgbClr val="1F2937"/>
                </a:solidFill>
                <a:latin typeface="Calibri" pitchFamily="34" charset="0"/>
                <a:ea typeface="Calibri" pitchFamily="34" charset="-122"/>
                <a:cs typeface="Calibri" pitchFamily="34" charset="-120"/>
              </a:rPr>
              <a:t>Errektör kıl kası. Düz kas dokudur. Dermis katmanında bulunurlar. Bir uçları kıl kökünde sonlanır. Kılları dikleştirirler.</a:t>
            </a:r>
            <a:endParaRPr lang="en-US" sz="1400" dirty="0"/>
          </a:p>
        </p:txBody>
      </p:sp>
      <p:sp>
        <p:nvSpPr>
          <p:cNvPr id="8" name="Shape 6"/>
          <p:cNvSpPr/>
          <p:nvPr/>
        </p:nvSpPr>
        <p:spPr>
          <a:xfrm>
            <a:off x="548640" y="2887878"/>
            <a:ext cx="5410048" cy="638658"/>
          </a:xfrm>
          <a:prstGeom prst="roundRect">
            <a:avLst>
              <a:gd name="adj" fmla="val 10022"/>
            </a:avLst>
          </a:prstGeom>
          <a:solidFill>
            <a:srgbClr val="E6F5EF"/>
          </a:solidFill>
          <a:ln/>
        </p:spPr>
      </p:sp>
      <p:sp>
        <p:nvSpPr>
          <p:cNvPr id="9" name="Text 7"/>
          <p:cNvSpPr txBox="1"/>
          <p:nvPr/>
        </p:nvSpPr>
        <p:spPr>
          <a:xfrm>
            <a:off x="704088" y="2961030"/>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folliculus pili (L) (folikulus pili): </a:t>
            </a:r>
            <a:r>
              <a:rPr lang="en-US" sz="1400" dirty="0">
                <a:solidFill>
                  <a:srgbClr val="1F2937"/>
                </a:solidFill>
                <a:latin typeface="Calibri" pitchFamily="34" charset="0"/>
                <a:ea typeface="Calibri" pitchFamily="34" charset="-122"/>
                <a:cs typeface="Calibri" pitchFamily="34" charset="-120"/>
              </a:rPr>
              <a:t>Kıl kökü. Dermis katmanında bulunur.</a:t>
            </a:r>
            <a:endParaRPr lang="en-US" sz="1400" dirty="0"/>
          </a:p>
        </p:txBody>
      </p:sp>
      <p:sp>
        <p:nvSpPr>
          <p:cNvPr id="10" name="Shape 8"/>
          <p:cNvSpPr/>
          <p:nvPr/>
        </p:nvSpPr>
        <p:spPr>
          <a:xfrm>
            <a:off x="548640" y="3617976"/>
            <a:ext cx="5410048" cy="421742"/>
          </a:xfrm>
          <a:prstGeom prst="roundRect">
            <a:avLst>
              <a:gd name="adj" fmla="val 15177"/>
            </a:avLst>
          </a:prstGeom>
          <a:solidFill>
            <a:srgbClr val="E6F5EF"/>
          </a:solidFill>
          <a:ln/>
        </p:spPr>
      </p:sp>
      <p:sp>
        <p:nvSpPr>
          <p:cNvPr id="11" name="Text 9"/>
          <p:cNvSpPr txBox="1"/>
          <p:nvPr/>
        </p:nvSpPr>
        <p:spPr>
          <a:xfrm>
            <a:off x="704088" y="369112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vibrissae (L) (vibrisse): </a:t>
            </a:r>
            <a:r>
              <a:rPr lang="en-US" sz="1400" dirty="0">
                <a:solidFill>
                  <a:srgbClr val="1F2937"/>
                </a:solidFill>
                <a:latin typeface="Calibri" pitchFamily="34" charset="0"/>
                <a:ea typeface="Calibri" pitchFamily="34" charset="-122"/>
                <a:cs typeface="Calibri" pitchFamily="34" charset="-120"/>
              </a:rPr>
              <a:t>Burun kılları</a:t>
            </a:r>
            <a:endParaRPr lang="en-US" sz="1400" dirty="0"/>
          </a:p>
        </p:txBody>
      </p:sp>
      <p:sp>
        <p:nvSpPr>
          <p:cNvPr id="12" name="Shape 10"/>
          <p:cNvSpPr/>
          <p:nvPr/>
        </p:nvSpPr>
        <p:spPr>
          <a:xfrm>
            <a:off x="548640" y="4131158"/>
            <a:ext cx="5410048" cy="421742"/>
          </a:xfrm>
          <a:prstGeom prst="roundRect">
            <a:avLst>
              <a:gd name="adj" fmla="val 15177"/>
            </a:avLst>
          </a:prstGeom>
          <a:solidFill>
            <a:srgbClr val="E6F5EF"/>
          </a:solidFill>
          <a:ln/>
        </p:spPr>
      </p:sp>
      <p:sp>
        <p:nvSpPr>
          <p:cNvPr id="13" name="Text 11"/>
          <p:cNvSpPr txBox="1"/>
          <p:nvPr/>
        </p:nvSpPr>
        <p:spPr>
          <a:xfrm>
            <a:off x="704088" y="420431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hirci (L) (hirsi): </a:t>
            </a:r>
            <a:r>
              <a:rPr lang="en-US" sz="1400" dirty="0">
                <a:solidFill>
                  <a:srgbClr val="1F2937"/>
                </a:solidFill>
                <a:latin typeface="Calibri" pitchFamily="34" charset="0"/>
                <a:ea typeface="Calibri" pitchFamily="34" charset="-122"/>
                <a:cs typeface="Calibri" pitchFamily="34" charset="-120"/>
              </a:rPr>
              <a:t>Koltuk altı kılları</a:t>
            </a:r>
            <a:endParaRPr lang="en-US" sz="1400" dirty="0"/>
          </a:p>
        </p:txBody>
      </p:sp>
      <p:sp>
        <p:nvSpPr>
          <p:cNvPr id="14" name="Shape 12"/>
          <p:cNvSpPr/>
          <p:nvPr/>
        </p:nvSpPr>
        <p:spPr>
          <a:xfrm>
            <a:off x="548640" y="4644339"/>
            <a:ext cx="5410048" cy="421742"/>
          </a:xfrm>
          <a:prstGeom prst="roundRect">
            <a:avLst>
              <a:gd name="adj" fmla="val 15177"/>
            </a:avLst>
          </a:prstGeom>
          <a:solidFill>
            <a:srgbClr val="E6F5EF"/>
          </a:solidFill>
          <a:ln/>
        </p:spPr>
      </p:sp>
      <p:sp>
        <p:nvSpPr>
          <p:cNvPr id="15" name="Text 13"/>
          <p:cNvSpPr txBox="1"/>
          <p:nvPr/>
        </p:nvSpPr>
        <p:spPr>
          <a:xfrm>
            <a:off x="704088" y="4717491"/>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barba (L) (barba): </a:t>
            </a:r>
            <a:r>
              <a:rPr lang="en-US" sz="1400" dirty="0">
                <a:solidFill>
                  <a:srgbClr val="1F2937"/>
                </a:solidFill>
                <a:latin typeface="Calibri" pitchFamily="34" charset="0"/>
                <a:ea typeface="Calibri" pitchFamily="34" charset="-122"/>
                <a:cs typeface="Calibri" pitchFamily="34" charset="-120"/>
              </a:rPr>
              <a:t>Sakal</a:t>
            </a:r>
            <a:endParaRPr lang="en-US" sz="1400" dirty="0"/>
          </a:p>
        </p:txBody>
      </p:sp>
      <p:sp>
        <p:nvSpPr>
          <p:cNvPr id="16" name="Shape 14"/>
          <p:cNvSpPr/>
          <p:nvPr/>
        </p:nvSpPr>
        <p:spPr>
          <a:xfrm>
            <a:off x="548640" y="5157521"/>
            <a:ext cx="5410048" cy="421742"/>
          </a:xfrm>
          <a:prstGeom prst="roundRect">
            <a:avLst>
              <a:gd name="adj" fmla="val 15177"/>
            </a:avLst>
          </a:prstGeom>
          <a:solidFill>
            <a:srgbClr val="E6F5EF"/>
          </a:solidFill>
          <a:ln/>
        </p:spPr>
      </p:sp>
      <p:sp>
        <p:nvSpPr>
          <p:cNvPr id="17" name="Text 15"/>
          <p:cNvSpPr txBox="1"/>
          <p:nvPr/>
        </p:nvSpPr>
        <p:spPr>
          <a:xfrm>
            <a:off x="704088" y="5230673"/>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pubes (L) (pubes): </a:t>
            </a:r>
            <a:r>
              <a:rPr lang="en-US" sz="1400" dirty="0">
                <a:solidFill>
                  <a:srgbClr val="1F2937"/>
                </a:solidFill>
                <a:latin typeface="Calibri" pitchFamily="34" charset="0"/>
                <a:ea typeface="Calibri" pitchFamily="34" charset="-122"/>
                <a:cs typeface="Calibri" pitchFamily="34" charset="-120"/>
              </a:rPr>
              <a:t>Dış üreme organları çevresindeki kıllar</a:t>
            </a:r>
            <a:endParaRPr lang="en-US" sz="1400" dirty="0"/>
          </a:p>
        </p:txBody>
      </p:sp>
      <p:sp>
        <p:nvSpPr>
          <p:cNvPr id="18" name="Shape 16"/>
          <p:cNvSpPr/>
          <p:nvPr/>
        </p:nvSpPr>
        <p:spPr>
          <a:xfrm>
            <a:off x="548640" y="5670702"/>
            <a:ext cx="5410048" cy="638658"/>
          </a:xfrm>
          <a:prstGeom prst="roundRect">
            <a:avLst>
              <a:gd name="adj" fmla="val 10022"/>
            </a:avLst>
          </a:prstGeom>
          <a:solidFill>
            <a:srgbClr val="E6F5EF"/>
          </a:solidFill>
          <a:ln/>
        </p:spPr>
      </p:sp>
      <p:sp>
        <p:nvSpPr>
          <p:cNvPr id="19" name="Text 17"/>
          <p:cNvSpPr txBox="1"/>
          <p:nvPr/>
        </p:nvSpPr>
        <p:spPr>
          <a:xfrm>
            <a:off x="704088" y="5743854"/>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gl. sebacea (gl. sebasea): </a:t>
            </a:r>
            <a:r>
              <a:rPr lang="en-US" sz="1400" dirty="0">
                <a:solidFill>
                  <a:srgbClr val="1F2937"/>
                </a:solidFill>
                <a:latin typeface="Calibri" pitchFamily="34" charset="0"/>
                <a:ea typeface="Calibri" pitchFamily="34" charset="-122"/>
                <a:cs typeface="Calibri" pitchFamily="34" charset="-120"/>
              </a:rPr>
              <a:t>Deri yağ bezleri. Dermis katmanında bulunurlar</a:t>
            </a:r>
            <a:endParaRPr lang="en-US" sz="1400" dirty="0"/>
          </a:p>
        </p:txBody>
      </p:sp>
      <p:sp>
        <p:nvSpPr>
          <p:cNvPr id="20" name="Shape 18"/>
          <p:cNvSpPr/>
          <p:nvPr/>
        </p:nvSpPr>
        <p:spPr>
          <a:xfrm>
            <a:off x="6233008" y="2887878"/>
            <a:ext cx="5410048" cy="638658"/>
          </a:xfrm>
          <a:prstGeom prst="roundRect">
            <a:avLst>
              <a:gd name="adj" fmla="val 10022"/>
            </a:avLst>
          </a:prstGeom>
          <a:solidFill>
            <a:srgbClr val="E6F5EF"/>
          </a:solidFill>
          <a:ln/>
        </p:spPr>
      </p:sp>
      <p:sp>
        <p:nvSpPr>
          <p:cNvPr id="21" name="Text 19"/>
          <p:cNvSpPr txBox="1"/>
          <p:nvPr/>
        </p:nvSpPr>
        <p:spPr>
          <a:xfrm>
            <a:off x="6388456" y="2961030"/>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gl. sudorifer (L): </a:t>
            </a:r>
            <a:r>
              <a:rPr lang="en-US" sz="1400" dirty="0">
                <a:solidFill>
                  <a:srgbClr val="1F2937"/>
                </a:solidFill>
                <a:latin typeface="Calibri" pitchFamily="34" charset="0"/>
                <a:ea typeface="Calibri" pitchFamily="34" charset="-122"/>
                <a:cs typeface="Calibri" pitchFamily="34" charset="-120"/>
              </a:rPr>
              <a:t>Sudorifer bez. Deri ter bezleri. Dermis katmanında bulunurlar</a:t>
            </a:r>
            <a:endParaRPr lang="en-US" sz="1400" dirty="0"/>
          </a:p>
        </p:txBody>
      </p:sp>
      <p:sp>
        <p:nvSpPr>
          <p:cNvPr id="22" name="Shape 20"/>
          <p:cNvSpPr/>
          <p:nvPr/>
        </p:nvSpPr>
        <p:spPr>
          <a:xfrm>
            <a:off x="6233008" y="3617976"/>
            <a:ext cx="5410048" cy="421742"/>
          </a:xfrm>
          <a:prstGeom prst="roundRect">
            <a:avLst>
              <a:gd name="adj" fmla="val 15177"/>
            </a:avLst>
          </a:prstGeom>
          <a:solidFill>
            <a:srgbClr val="E6F5EF"/>
          </a:solidFill>
          <a:ln/>
        </p:spPr>
      </p:sp>
      <p:sp>
        <p:nvSpPr>
          <p:cNvPr id="23" name="Text 21"/>
          <p:cNvSpPr txBox="1"/>
          <p:nvPr/>
        </p:nvSpPr>
        <p:spPr>
          <a:xfrm>
            <a:off x="6388456" y="3691128"/>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unguis (L) (unguis): </a:t>
            </a:r>
            <a:r>
              <a:rPr lang="en-US" sz="1400" dirty="0">
                <a:solidFill>
                  <a:srgbClr val="1F2937"/>
                </a:solidFill>
                <a:latin typeface="Calibri" pitchFamily="34" charset="0"/>
                <a:ea typeface="Calibri" pitchFamily="34" charset="-122"/>
                <a:cs typeface="Calibri" pitchFamily="34" charset="-120"/>
              </a:rPr>
              <a:t>Tırnak</a:t>
            </a:r>
            <a:endParaRPr lang="en-US" sz="1400" dirty="0"/>
          </a:p>
        </p:txBody>
      </p:sp>
      <p:sp>
        <p:nvSpPr>
          <p:cNvPr id="24" name="Shape 22"/>
          <p:cNvSpPr/>
          <p:nvPr/>
        </p:nvSpPr>
        <p:spPr>
          <a:xfrm>
            <a:off x="6233008" y="4131158"/>
            <a:ext cx="5410048" cy="421742"/>
          </a:xfrm>
          <a:prstGeom prst="roundRect">
            <a:avLst>
              <a:gd name="adj" fmla="val 15177"/>
            </a:avLst>
          </a:prstGeom>
          <a:solidFill>
            <a:srgbClr val="E6F5EF"/>
          </a:solidFill>
          <a:ln/>
        </p:spPr>
      </p:sp>
      <p:sp>
        <p:nvSpPr>
          <p:cNvPr id="25" name="Text 23"/>
          <p:cNvSpPr txBox="1"/>
          <p:nvPr/>
        </p:nvSpPr>
        <p:spPr>
          <a:xfrm>
            <a:off x="6388456" y="4204310"/>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onyx (G) (oniks): </a:t>
            </a:r>
            <a:r>
              <a:rPr lang="en-US" sz="1400" dirty="0">
                <a:solidFill>
                  <a:srgbClr val="1F2937"/>
                </a:solidFill>
                <a:latin typeface="Calibri" pitchFamily="34" charset="0"/>
                <a:ea typeface="Calibri" pitchFamily="34" charset="-122"/>
                <a:cs typeface="Calibri" pitchFamily="34" charset="-120"/>
              </a:rPr>
              <a:t>Tırnak</a:t>
            </a:r>
            <a:endParaRPr lang="en-US" sz="1400" dirty="0"/>
          </a:p>
        </p:txBody>
      </p:sp>
      <p:sp>
        <p:nvSpPr>
          <p:cNvPr id="26" name="Shape 24"/>
          <p:cNvSpPr/>
          <p:nvPr/>
        </p:nvSpPr>
        <p:spPr>
          <a:xfrm>
            <a:off x="6233008" y="4644339"/>
            <a:ext cx="5410048" cy="638658"/>
          </a:xfrm>
          <a:prstGeom prst="roundRect">
            <a:avLst>
              <a:gd name="adj" fmla="val 10022"/>
            </a:avLst>
          </a:prstGeom>
          <a:solidFill>
            <a:srgbClr val="E6F5EF"/>
          </a:solidFill>
          <a:ln/>
        </p:spPr>
      </p:sp>
      <p:sp>
        <p:nvSpPr>
          <p:cNvPr id="27" name="Text 25"/>
          <p:cNvSpPr txBox="1"/>
          <p:nvPr/>
        </p:nvSpPr>
        <p:spPr>
          <a:xfrm>
            <a:off x="6388456" y="4717491"/>
            <a:ext cx="5099152"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Merkel Hücreleri: </a:t>
            </a:r>
            <a:r>
              <a:rPr lang="en-US" sz="1400" dirty="0">
                <a:solidFill>
                  <a:srgbClr val="1F2937"/>
                </a:solidFill>
                <a:latin typeface="Calibri" pitchFamily="34" charset="0"/>
                <a:ea typeface="Calibri" pitchFamily="34" charset="-122"/>
                <a:cs typeface="Calibri" pitchFamily="34" charset="-120"/>
              </a:rPr>
              <a:t>El ve ayaklardaki kalın deride epidermis hücreleri arasında bulunan dokunma duyusunu alan hücreler</a:t>
            </a:r>
            <a:endParaRPr lang="en-US" sz="1400" dirty="0"/>
          </a:p>
        </p:txBody>
      </p:sp>
      <p:sp>
        <p:nvSpPr>
          <p:cNvPr id="28" name="Shape 26"/>
          <p:cNvSpPr/>
          <p:nvPr/>
        </p:nvSpPr>
        <p:spPr>
          <a:xfrm>
            <a:off x="6233008" y="5374437"/>
            <a:ext cx="5410048" cy="421742"/>
          </a:xfrm>
          <a:prstGeom prst="roundRect">
            <a:avLst>
              <a:gd name="adj" fmla="val 15177"/>
            </a:avLst>
          </a:prstGeom>
          <a:solidFill>
            <a:srgbClr val="E6F5EF"/>
          </a:solidFill>
          <a:ln/>
        </p:spPr>
      </p:sp>
      <p:sp>
        <p:nvSpPr>
          <p:cNvPr id="29" name="Text 27"/>
          <p:cNvSpPr txBox="1"/>
          <p:nvPr/>
        </p:nvSpPr>
        <p:spPr>
          <a:xfrm>
            <a:off x="6388456" y="5447589"/>
            <a:ext cx="5099152"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sudor (L), hidros (G): </a:t>
            </a:r>
            <a:r>
              <a:rPr lang="en-US" sz="1400" dirty="0">
                <a:solidFill>
                  <a:srgbClr val="1F2937"/>
                </a:solidFill>
                <a:latin typeface="Calibri" pitchFamily="34" charset="0"/>
                <a:ea typeface="Calibri" pitchFamily="34" charset="-122"/>
                <a:cs typeface="Calibri" pitchFamily="34" charset="-120"/>
              </a:rPr>
              <a:t>Ter</a:t>
            </a:r>
            <a:endParaRPr lang="en-US" sz="14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324</a:t>
            </a:r>
            <a:endParaRPr lang="en-US" sz="1000" dirty="0"/>
          </a:p>
        </p:txBody>
      </p:sp>
      <p:sp>
        <p:nvSpPr>
          <p:cNvPr id="6" name="Shape 4"/>
          <p:cNvSpPr/>
          <p:nvPr/>
        </p:nvSpPr>
        <p:spPr>
          <a:xfrm>
            <a:off x="548640" y="1565250"/>
            <a:ext cx="11094415" cy="421742"/>
          </a:xfrm>
          <a:prstGeom prst="roundRect">
            <a:avLst>
              <a:gd name="adj" fmla="val 15177"/>
            </a:avLst>
          </a:prstGeom>
          <a:solidFill>
            <a:srgbClr val="E6F5EF"/>
          </a:solidFill>
          <a:ln/>
        </p:spPr>
      </p:sp>
      <p:sp>
        <p:nvSpPr>
          <p:cNvPr id="7" name="Text 5"/>
          <p:cNvSpPr txBox="1"/>
          <p:nvPr/>
        </p:nvSpPr>
        <p:spPr>
          <a:xfrm>
            <a:off x="704088" y="163840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pruritus (L) (pruritus): </a:t>
            </a:r>
            <a:r>
              <a:rPr lang="en-US" sz="1400" dirty="0">
                <a:solidFill>
                  <a:srgbClr val="1F2937"/>
                </a:solidFill>
                <a:latin typeface="Calibri" pitchFamily="34" charset="0"/>
                <a:ea typeface="Calibri" pitchFamily="34" charset="-122"/>
                <a:cs typeface="Calibri" pitchFamily="34" charset="-120"/>
              </a:rPr>
              <a:t>Kaşıntı</a:t>
            </a:r>
            <a:endParaRPr lang="en-US" sz="1400" dirty="0"/>
          </a:p>
        </p:txBody>
      </p:sp>
      <p:sp>
        <p:nvSpPr>
          <p:cNvPr id="8" name="Shape 6"/>
          <p:cNvSpPr/>
          <p:nvPr/>
        </p:nvSpPr>
        <p:spPr>
          <a:xfrm>
            <a:off x="548640" y="2078431"/>
            <a:ext cx="11094415" cy="421742"/>
          </a:xfrm>
          <a:prstGeom prst="roundRect">
            <a:avLst>
              <a:gd name="adj" fmla="val 15177"/>
            </a:avLst>
          </a:prstGeom>
          <a:solidFill>
            <a:srgbClr val="E6F5EF"/>
          </a:solidFill>
          <a:ln/>
        </p:spPr>
      </p:sp>
      <p:sp>
        <p:nvSpPr>
          <p:cNvPr id="9" name="Text 7"/>
          <p:cNvSpPr txBox="1"/>
          <p:nvPr/>
        </p:nvSpPr>
        <p:spPr>
          <a:xfrm>
            <a:off x="704088" y="2151583"/>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cicatrix (L) (sikatriks): </a:t>
            </a:r>
            <a:r>
              <a:rPr lang="en-US" sz="1400" dirty="0">
                <a:solidFill>
                  <a:srgbClr val="1F2937"/>
                </a:solidFill>
                <a:latin typeface="Calibri" pitchFamily="34" charset="0"/>
                <a:ea typeface="Calibri" pitchFamily="34" charset="-122"/>
                <a:cs typeface="Calibri" pitchFamily="34" charset="-120"/>
              </a:rPr>
              <a:t>Yara iyileştikten sonra deride kalan izi</a:t>
            </a:r>
            <a:endParaRPr lang="en-US" sz="1400" dirty="0"/>
          </a:p>
        </p:txBody>
      </p:sp>
      <p:sp>
        <p:nvSpPr>
          <p:cNvPr id="10" name="Shape 8"/>
          <p:cNvSpPr/>
          <p:nvPr/>
        </p:nvSpPr>
        <p:spPr>
          <a:xfrm>
            <a:off x="548640" y="2591613"/>
            <a:ext cx="11094415" cy="421742"/>
          </a:xfrm>
          <a:prstGeom prst="roundRect">
            <a:avLst>
              <a:gd name="adj" fmla="val 15177"/>
            </a:avLst>
          </a:prstGeom>
          <a:solidFill>
            <a:srgbClr val="E6F5EF"/>
          </a:solidFill>
          <a:ln/>
        </p:spPr>
      </p:sp>
      <p:sp>
        <p:nvSpPr>
          <p:cNvPr id="11" name="Text 9"/>
          <p:cNvSpPr txBox="1"/>
          <p:nvPr/>
        </p:nvSpPr>
        <p:spPr>
          <a:xfrm>
            <a:off x="704088" y="2664765"/>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petechie (L) (peteşi): </a:t>
            </a:r>
            <a:r>
              <a:rPr lang="en-US" sz="1400" dirty="0">
                <a:solidFill>
                  <a:srgbClr val="1F2937"/>
                </a:solidFill>
                <a:latin typeface="Calibri" pitchFamily="34" charset="0"/>
                <a:ea typeface="Calibri" pitchFamily="34" charset="-122"/>
                <a:cs typeface="Calibri" pitchFamily="34" charset="-120"/>
              </a:rPr>
              <a:t>Deri altında oluşan küçük kan lekeleri</a:t>
            </a:r>
            <a:endParaRPr lang="en-US" sz="1400" dirty="0"/>
          </a:p>
        </p:txBody>
      </p:sp>
      <p:sp>
        <p:nvSpPr>
          <p:cNvPr id="12" name="Shape 10"/>
          <p:cNvSpPr/>
          <p:nvPr/>
        </p:nvSpPr>
        <p:spPr>
          <a:xfrm>
            <a:off x="548640" y="3104794"/>
            <a:ext cx="11094415" cy="638658"/>
          </a:xfrm>
          <a:prstGeom prst="roundRect">
            <a:avLst>
              <a:gd name="adj" fmla="val 10022"/>
            </a:avLst>
          </a:prstGeom>
          <a:solidFill>
            <a:srgbClr val="E6F5EF"/>
          </a:solidFill>
          <a:ln/>
        </p:spPr>
      </p:sp>
      <p:sp>
        <p:nvSpPr>
          <p:cNvPr id="13" name="Text 11"/>
          <p:cNvSpPr txBox="1"/>
          <p:nvPr/>
        </p:nvSpPr>
        <p:spPr>
          <a:xfrm>
            <a:off x="704088" y="3177946"/>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macula (L) (makül): </a:t>
            </a:r>
            <a:r>
              <a:rPr lang="en-US" sz="1400" dirty="0">
                <a:solidFill>
                  <a:srgbClr val="1F2937"/>
                </a:solidFill>
                <a:latin typeface="Calibri" pitchFamily="34" charset="0"/>
                <a:ea typeface="Calibri" pitchFamily="34" charset="-122"/>
                <a:cs typeface="Calibri" pitchFamily="34" charset="-120"/>
              </a:rPr>
              <a:t>10 mm’nin altında olmak üzere büyüklüğü ve biçimi değişik olabilen, deride kabarıklık yapmayan renk değişikliği</a:t>
            </a:r>
            <a:endParaRPr lang="en-US" sz="1400" dirty="0"/>
          </a:p>
        </p:txBody>
      </p:sp>
      <p:sp>
        <p:nvSpPr>
          <p:cNvPr id="14" name="Shape 12"/>
          <p:cNvSpPr/>
          <p:nvPr/>
        </p:nvSpPr>
        <p:spPr>
          <a:xfrm>
            <a:off x="548640" y="3834892"/>
            <a:ext cx="11094415" cy="421742"/>
          </a:xfrm>
          <a:prstGeom prst="roundRect">
            <a:avLst>
              <a:gd name="adj" fmla="val 15177"/>
            </a:avLst>
          </a:prstGeom>
          <a:solidFill>
            <a:srgbClr val="E6F5EF"/>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papula (G) (papül): </a:t>
            </a:r>
            <a:r>
              <a:rPr lang="en-US" sz="1400" dirty="0">
                <a:solidFill>
                  <a:srgbClr val="1F2937"/>
                </a:solidFill>
                <a:latin typeface="Calibri" pitchFamily="34" charset="0"/>
                <a:ea typeface="Calibri" pitchFamily="34" charset="-122"/>
                <a:cs typeface="Calibri" pitchFamily="34" charset="-120"/>
              </a:rPr>
              <a:t>Çapı genellikle 10 mm’nin altında bulunan sert kabarık lezyon</a:t>
            </a:r>
            <a:endParaRPr lang="en-US" sz="1400" dirty="0"/>
          </a:p>
        </p:txBody>
      </p:sp>
      <p:sp>
        <p:nvSpPr>
          <p:cNvPr id="16" name="Shape 14"/>
          <p:cNvSpPr/>
          <p:nvPr/>
        </p:nvSpPr>
        <p:spPr>
          <a:xfrm>
            <a:off x="548640" y="4348074"/>
            <a:ext cx="11094415" cy="421742"/>
          </a:xfrm>
          <a:prstGeom prst="roundRect">
            <a:avLst>
              <a:gd name="adj" fmla="val 15177"/>
            </a:avLst>
          </a:prstGeom>
          <a:solidFill>
            <a:srgbClr val="E6F5EF"/>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plaque (F) (plak): </a:t>
            </a:r>
            <a:r>
              <a:rPr lang="en-US" sz="1400" dirty="0">
                <a:solidFill>
                  <a:srgbClr val="1F2937"/>
                </a:solidFill>
                <a:latin typeface="Calibri" pitchFamily="34" charset="0"/>
                <a:ea typeface="Calibri" pitchFamily="34" charset="-122"/>
                <a:cs typeface="Calibri" pitchFamily="34" charset="-120"/>
              </a:rPr>
              <a:t>Çapı 10 mm’den büyük çevresinden yüksek bir lezyon veya bir grup papül</a:t>
            </a:r>
            <a:endParaRPr lang="en-US" sz="1400" dirty="0"/>
          </a:p>
        </p:txBody>
      </p:sp>
      <p:sp>
        <p:nvSpPr>
          <p:cNvPr id="18" name="Shape 16"/>
          <p:cNvSpPr/>
          <p:nvPr/>
        </p:nvSpPr>
        <p:spPr>
          <a:xfrm>
            <a:off x="548640" y="4861255"/>
            <a:ext cx="11094415" cy="421742"/>
          </a:xfrm>
          <a:prstGeom prst="roundRect">
            <a:avLst>
              <a:gd name="adj" fmla="val 15177"/>
            </a:avLst>
          </a:prstGeom>
          <a:solidFill>
            <a:srgbClr val="E6F5EF"/>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nodule (nodül): </a:t>
            </a:r>
            <a:r>
              <a:rPr lang="en-US" sz="1400" dirty="0">
                <a:solidFill>
                  <a:srgbClr val="1F2937"/>
                </a:solidFill>
                <a:latin typeface="Calibri" pitchFamily="34" charset="0"/>
                <a:ea typeface="Calibri" pitchFamily="34" charset="-122"/>
                <a:cs typeface="Calibri" pitchFamily="34" charset="-120"/>
              </a:rPr>
              <a:t>Derideki ele gelen kabarıklık yapabilen ya da yapmayan yuvarlak sert kitle</a:t>
            </a:r>
            <a:endParaRPr lang="en-US" sz="1400" dirty="0"/>
          </a:p>
        </p:txBody>
      </p:sp>
      <p:sp>
        <p:nvSpPr>
          <p:cNvPr id="20" name="Shape 18"/>
          <p:cNvSpPr/>
          <p:nvPr/>
        </p:nvSpPr>
        <p:spPr>
          <a:xfrm>
            <a:off x="548640" y="5374437"/>
            <a:ext cx="11094415" cy="421742"/>
          </a:xfrm>
          <a:prstGeom prst="roundRect">
            <a:avLst>
              <a:gd name="adj" fmla="val 15177"/>
            </a:avLst>
          </a:prstGeom>
          <a:solidFill>
            <a:srgbClr val="E6F5EF"/>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vesicule (L) (vezikül): </a:t>
            </a:r>
            <a:r>
              <a:rPr lang="en-US" sz="1400" dirty="0">
                <a:solidFill>
                  <a:srgbClr val="1F2937"/>
                </a:solidFill>
                <a:latin typeface="Calibri" pitchFamily="34" charset="0"/>
                <a:ea typeface="Calibri" pitchFamily="34" charset="-122"/>
                <a:cs typeface="Calibri" pitchFamily="34" charset="-120"/>
              </a:rPr>
              <a:t>Çapı 5 mm’den küçük, çevresi kesin belirli, içerisinde seröz sıvı bulunan lezyon</a:t>
            </a:r>
            <a:endParaRPr lang="en-US" sz="1400" dirty="0"/>
          </a:p>
        </p:txBody>
      </p:sp>
      <p:sp>
        <p:nvSpPr>
          <p:cNvPr id="22" name="Shape 20"/>
          <p:cNvSpPr/>
          <p:nvPr/>
        </p:nvSpPr>
        <p:spPr>
          <a:xfrm>
            <a:off x="548640" y="5887618"/>
            <a:ext cx="11094415" cy="421742"/>
          </a:xfrm>
          <a:prstGeom prst="roundRect">
            <a:avLst>
              <a:gd name="adj" fmla="val 15177"/>
            </a:avLst>
          </a:prstGeom>
          <a:solidFill>
            <a:srgbClr val="E6F5EF"/>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bulla (L) (bül): </a:t>
            </a:r>
            <a:r>
              <a:rPr lang="en-US" sz="1400" dirty="0">
                <a:solidFill>
                  <a:srgbClr val="1F2937"/>
                </a:solidFill>
                <a:latin typeface="Calibri" pitchFamily="34" charset="0"/>
                <a:ea typeface="Calibri" pitchFamily="34" charset="-122"/>
                <a:cs typeface="Calibri" pitchFamily="34" charset="-120"/>
              </a:rPr>
              <a:t>Çapı 5 mm’den büyük vezikül</a:t>
            </a:r>
            <a:endParaRPr lang="en-US" sz="14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Semptom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325</a:t>
            </a:r>
            <a:endParaRPr lang="en-US" sz="1000" dirty="0"/>
          </a:p>
        </p:txBody>
      </p:sp>
      <p:sp>
        <p:nvSpPr>
          <p:cNvPr id="6" name="Shape 4"/>
          <p:cNvSpPr/>
          <p:nvPr/>
        </p:nvSpPr>
        <p:spPr>
          <a:xfrm>
            <a:off x="548640" y="1565250"/>
            <a:ext cx="11094415" cy="421742"/>
          </a:xfrm>
          <a:prstGeom prst="roundRect">
            <a:avLst>
              <a:gd name="adj" fmla="val 15177"/>
            </a:avLst>
          </a:prstGeom>
          <a:solidFill>
            <a:srgbClr val="E6F5EF"/>
          </a:solidFill>
          <a:ln/>
        </p:spPr>
      </p:sp>
      <p:sp>
        <p:nvSpPr>
          <p:cNvPr id="7" name="Text 5"/>
          <p:cNvSpPr txBox="1"/>
          <p:nvPr/>
        </p:nvSpPr>
        <p:spPr>
          <a:xfrm>
            <a:off x="704088" y="163840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pustula (L) (püstül): </a:t>
            </a:r>
            <a:r>
              <a:rPr lang="en-US" sz="1400" dirty="0">
                <a:solidFill>
                  <a:srgbClr val="1F2937"/>
                </a:solidFill>
                <a:latin typeface="Calibri" pitchFamily="34" charset="0"/>
                <a:ea typeface="Calibri" pitchFamily="34" charset="-122"/>
                <a:cs typeface="Calibri" pitchFamily="34" charset="-120"/>
              </a:rPr>
              <a:t>İçerisinde irin bulunan , kabarık bir lezyon</a:t>
            </a:r>
            <a:endParaRPr lang="en-US" sz="1400" dirty="0"/>
          </a:p>
        </p:txBody>
      </p:sp>
      <p:sp>
        <p:nvSpPr>
          <p:cNvPr id="8" name="Shape 6"/>
          <p:cNvSpPr/>
          <p:nvPr/>
        </p:nvSpPr>
        <p:spPr>
          <a:xfrm>
            <a:off x="548640" y="2078431"/>
            <a:ext cx="11094415" cy="421742"/>
          </a:xfrm>
          <a:prstGeom prst="roundRect">
            <a:avLst>
              <a:gd name="adj" fmla="val 15177"/>
            </a:avLst>
          </a:prstGeom>
          <a:solidFill>
            <a:srgbClr val="E6F5EF"/>
          </a:solidFill>
          <a:ln/>
        </p:spPr>
      </p:sp>
      <p:sp>
        <p:nvSpPr>
          <p:cNvPr id="9" name="Text 7"/>
          <p:cNvSpPr txBox="1"/>
          <p:nvPr/>
        </p:nvSpPr>
        <p:spPr>
          <a:xfrm>
            <a:off x="704088" y="2151583"/>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telangiectasia (G) (telanjiectazi): </a:t>
            </a:r>
            <a:r>
              <a:rPr lang="en-US" sz="1400" dirty="0">
                <a:solidFill>
                  <a:srgbClr val="1F2937"/>
                </a:solidFill>
                <a:latin typeface="Calibri" pitchFamily="34" charset="0"/>
                <a:ea typeface="Calibri" pitchFamily="34" charset="-122"/>
                <a:cs typeface="Calibri" pitchFamily="34" charset="-120"/>
              </a:rPr>
              <a:t>Yüzeysel kan damarlarının genişlemesi</a:t>
            </a:r>
            <a:endParaRPr lang="en-US" sz="1400" dirty="0"/>
          </a:p>
        </p:txBody>
      </p:sp>
      <p:sp>
        <p:nvSpPr>
          <p:cNvPr id="10" name="Shape 8"/>
          <p:cNvSpPr/>
          <p:nvPr/>
        </p:nvSpPr>
        <p:spPr>
          <a:xfrm>
            <a:off x="548640" y="2591613"/>
            <a:ext cx="11094415" cy="638658"/>
          </a:xfrm>
          <a:prstGeom prst="roundRect">
            <a:avLst>
              <a:gd name="adj" fmla="val 10022"/>
            </a:avLst>
          </a:prstGeom>
          <a:solidFill>
            <a:srgbClr val="E6F5EF"/>
          </a:solidFill>
          <a:ln/>
        </p:spPr>
      </p:sp>
      <p:sp>
        <p:nvSpPr>
          <p:cNvPr id="11" name="Text 9"/>
          <p:cNvSpPr txBox="1"/>
          <p:nvPr/>
        </p:nvSpPr>
        <p:spPr>
          <a:xfrm>
            <a:off x="704088" y="2664765"/>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ecchymosis (G) (ekimoz): </a:t>
            </a:r>
            <a:r>
              <a:rPr lang="en-US" sz="1400" dirty="0">
                <a:solidFill>
                  <a:srgbClr val="1F2937"/>
                </a:solidFill>
                <a:latin typeface="Calibri" pitchFamily="34" charset="0"/>
                <a:ea typeface="Calibri" pitchFamily="34" charset="-122"/>
                <a:cs typeface="Calibri" pitchFamily="34" charset="-120"/>
              </a:rPr>
              <a:t>kan damarlarının yırtılmasından dolayı deri altında kan toplanması ve bu yüzden o kısımdaki deri renginin morarması</a:t>
            </a:r>
            <a:endParaRPr lang="en-US" sz="1400" dirty="0"/>
          </a:p>
        </p:txBody>
      </p:sp>
      <p:sp>
        <p:nvSpPr>
          <p:cNvPr id="12" name="Shape 10"/>
          <p:cNvSpPr/>
          <p:nvPr/>
        </p:nvSpPr>
        <p:spPr>
          <a:xfrm>
            <a:off x="548640" y="3321710"/>
            <a:ext cx="11094415" cy="421742"/>
          </a:xfrm>
          <a:prstGeom prst="roundRect">
            <a:avLst>
              <a:gd name="adj" fmla="val 15177"/>
            </a:avLst>
          </a:prstGeom>
          <a:solidFill>
            <a:srgbClr val="E6F5EF"/>
          </a:solidFill>
          <a:ln/>
        </p:spPr>
      </p:sp>
      <p:sp>
        <p:nvSpPr>
          <p:cNvPr id="13" name="Text 11"/>
          <p:cNvSpPr txBox="1"/>
          <p:nvPr/>
        </p:nvSpPr>
        <p:spPr>
          <a:xfrm>
            <a:off x="704088" y="3394862"/>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erosion (L) (erozyon): </a:t>
            </a:r>
            <a:r>
              <a:rPr lang="en-US" sz="1400" dirty="0">
                <a:solidFill>
                  <a:srgbClr val="1F2937"/>
                </a:solidFill>
                <a:latin typeface="Calibri" pitchFamily="34" charset="0"/>
                <a:ea typeface="Calibri" pitchFamily="34" charset="-122"/>
                <a:cs typeface="Calibri" pitchFamily="34" charset="-120"/>
              </a:rPr>
              <a:t>Epidermisin kısmen veya tamamen kaybı.</a:t>
            </a:r>
            <a:endParaRPr lang="en-US" sz="1400" dirty="0"/>
          </a:p>
        </p:txBody>
      </p:sp>
      <p:sp>
        <p:nvSpPr>
          <p:cNvPr id="14" name="Shape 12"/>
          <p:cNvSpPr/>
          <p:nvPr/>
        </p:nvSpPr>
        <p:spPr>
          <a:xfrm>
            <a:off x="548640" y="3834892"/>
            <a:ext cx="11094415" cy="421742"/>
          </a:xfrm>
          <a:prstGeom prst="roundRect">
            <a:avLst>
              <a:gd name="adj" fmla="val 15177"/>
            </a:avLst>
          </a:prstGeom>
          <a:solidFill>
            <a:srgbClr val="E6F5EF"/>
          </a:solidFill>
          <a:ln/>
        </p:spPr>
      </p:sp>
      <p:sp>
        <p:nvSpPr>
          <p:cNvPr id="15" name="Text 13"/>
          <p:cNvSpPr txBox="1"/>
          <p:nvPr/>
        </p:nvSpPr>
        <p:spPr>
          <a:xfrm>
            <a:off x="704088" y="3908044"/>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ulcer (L) (ülser): </a:t>
            </a:r>
            <a:r>
              <a:rPr lang="en-US" sz="1400" dirty="0">
                <a:solidFill>
                  <a:srgbClr val="1F2937"/>
                </a:solidFill>
                <a:latin typeface="Calibri" pitchFamily="34" charset="0"/>
                <a:ea typeface="Calibri" pitchFamily="34" charset="-122"/>
                <a:cs typeface="Calibri" pitchFamily="34" charset="-120"/>
              </a:rPr>
              <a:t>Epidermisin ve en azından dermisin bir kısmının kaybı</a:t>
            </a:r>
            <a:endParaRPr lang="en-US" sz="1400" dirty="0"/>
          </a:p>
        </p:txBody>
      </p:sp>
      <p:sp>
        <p:nvSpPr>
          <p:cNvPr id="16" name="Shape 14"/>
          <p:cNvSpPr/>
          <p:nvPr/>
        </p:nvSpPr>
        <p:spPr>
          <a:xfrm>
            <a:off x="548640" y="4348074"/>
            <a:ext cx="11094415" cy="421742"/>
          </a:xfrm>
          <a:prstGeom prst="roundRect">
            <a:avLst>
              <a:gd name="adj" fmla="val 15177"/>
            </a:avLst>
          </a:prstGeom>
          <a:solidFill>
            <a:srgbClr val="E6F5EF"/>
          </a:solidFill>
          <a:ln/>
        </p:spPr>
      </p:sp>
      <p:sp>
        <p:nvSpPr>
          <p:cNvPr id="17" name="Text 15"/>
          <p:cNvSpPr txBox="1"/>
          <p:nvPr/>
        </p:nvSpPr>
        <p:spPr>
          <a:xfrm>
            <a:off x="704088" y="442122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lichenification (G) (likenifikasyon): </a:t>
            </a:r>
            <a:r>
              <a:rPr lang="en-US" sz="1400" dirty="0">
                <a:solidFill>
                  <a:srgbClr val="1F2937"/>
                </a:solidFill>
                <a:latin typeface="Calibri" pitchFamily="34" charset="0"/>
                <a:ea typeface="Calibri" pitchFamily="34" charset="-122"/>
                <a:cs typeface="Calibri" pitchFamily="34" charset="-120"/>
              </a:rPr>
              <a:t>Deri işaretlerinin belirginleşmesiyle birlikte görülen deri kalınlaşması</a:t>
            </a:r>
            <a:endParaRPr lang="en-US" sz="1400" dirty="0"/>
          </a:p>
        </p:txBody>
      </p:sp>
      <p:sp>
        <p:nvSpPr>
          <p:cNvPr id="18" name="Shape 16"/>
          <p:cNvSpPr/>
          <p:nvPr/>
        </p:nvSpPr>
        <p:spPr>
          <a:xfrm>
            <a:off x="548640" y="4861255"/>
            <a:ext cx="11094415" cy="421742"/>
          </a:xfrm>
          <a:prstGeom prst="roundRect">
            <a:avLst>
              <a:gd name="adj" fmla="val 15177"/>
            </a:avLst>
          </a:prstGeom>
          <a:solidFill>
            <a:srgbClr val="E6F5EF"/>
          </a:solidFill>
          <a:ln/>
        </p:spPr>
      </p:sp>
      <p:sp>
        <p:nvSpPr>
          <p:cNvPr id="19" name="Text 17"/>
          <p:cNvSpPr txBox="1"/>
          <p:nvPr/>
        </p:nvSpPr>
        <p:spPr>
          <a:xfrm>
            <a:off x="704088" y="4934407"/>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depigmentation (depigmentasyon): </a:t>
            </a:r>
            <a:r>
              <a:rPr lang="en-US" sz="1400" dirty="0">
                <a:solidFill>
                  <a:srgbClr val="1F2937"/>
                </a:solidFill>
                <a:latin typeface="Calibri" pitchFamily="34" charset="0"/>
                <a:ea typeface="Calibri" pitchFamily="34" charset="-122"/>
                <a:cs typeface="Calibri" pitchFamily="34" charset="-120"/>
              </a:rPr>
              <a:t>Deriye rengini veren maddenin kısmen veya tamamen kaybolması</a:t>
            </a:r>
            <a:endParaRPr lang="en-US" sz="1400" dirty="0"/>
          </a:p>
        </p:txBody>
      </p:sp>
      <p:sp>
        <p:nvSpPr>
          <p:cNvPr id="20" name="Shape 18"/>
          <p:cNvSpPr/>
          <p:nvPr/>
        </p:nvSpPr>
        <p:spPr>
          <a:xfrm>
            <a:off x="548640" y="5374437"/>
            <a:ext cx="11094415" cy="421742"/>
          </a:xfrm>
          <a:prstGeom prst="roundRect">
            <a:avLst>
              <a:gd name="adj" fmla="val 15177"/>
            </a:avLst>
          </a:prstGeom>
          <a:solidFill>
            <a:srgbClr val="E6F5EF"/>
          </a:solidFill>
          <a:ln/>
        </p:spPr>
      </p:sp>
      <p:sp>
        <p:nvSpPr>
          <p:cNvPr id="21" name="Text 19"/>
          <p:cNvSpPr txBox="1"/>
          <p:nvPr/>
        </p:nvSpPr>
        <p:spPr>
          <a:xfrm>
            <a:off x="704088" y="5447589"/>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hyperpigmentation (GL) (hiperpigmentasyon): </a:t>
            </a:r>
            <a:r>
              <a:rPr lang="en-US" sz="1400" dirty="0">
                <a:solidFill>
                  <a:srgbClr val="1F2937"/>
                </a:solidFill>
                <a:latin typeface="Calibri" pitchFamily="34" charset="0"/>
                <a:ea typeface="Calibri" pitchFamily="34" charset="-122"/>
                <a:cs typeface="Calibri" pitchFamily="34" charset="-120"/>
              </a:rPr>
              <a:t>Deriye rengini veren maddenin fazla bulunması</a:t>
            </a:r>
            <a:endParaRPr lang="en-US" sz="1400" dirty="0"/>
          </a:p>
        </p:txBody>
      </p:sp>
      <p:sp>
        <p:nvSpPr>
          <p:cNvPr id="22" name="Shape 20"/>
          <p:cNvSpPr/>
          <p:nvPr/>
        </p:nvSpPr>
        <p:spPr>
          <a:xfrm>
            <a:off x="548640" y="5887618"/>
            <a:ext cx="11094415" cy="421742"/>
          </a:xfrm>
          <a:prstGeom prst="roundRect">
            <a:avLst>
              <a:gd name="adj" fmla="val 15177"/>
            </a:avLst>
          </a:prstGeom>
          <a:solidFill>
            <a:srgbClr val="E6F5EF"/>
          </a:solidFill>
          <a:ln/>
        </p:spPr>
      </p:sp>
      <p:sp>
        <p:nvSpPr>
          <p:cNvPr id="23" name="Text 21"/>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hyperhydrosis (G) (hiperhidroz): </a:t>
            </a:r>
            <a:r>
              <a:rPr lang="en-US" sz="1400" dirty="0">
                <a:solidFill>
                  <a:srgbClr val="1F2937"/>
                </a:solidFill>
                <a:latin typeface="Calibri" pitchFamily="34" charset="0"/>
                <a:ea typeface="Calibri" pitchFamily="34" charset="-122"/>
                <a:cs typeface="Calibri" pitchFamily="34" charset="-120"/>
              </a:rPr>
              <a:t>Aşırı terleme</a:t>
            </a:r>
            <a:endParaRPr lang="en-US" sz="14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326</a:t>
            </a:r>
            <a:endParaRPr lang="en-US" sz="1000" dirty="0"/>
          </a:p>
        </p:txBody>
      </p:sp>
      <p:sp>
        <p:nvSpPr>
          <p:cNvPr id="6" name="Shape 4"/>
          <p:cNvSpPr/>
          <p:nvPr/>
        </p:nvSpPr>
        <p:spPr>
          <a:xfrm>
            <a:off x="548640" y="1553058"/>
            <a:ext cx="11094415" cy="729894"/>
          </a:xfrm>
          <a:prstGeom prst="roundRect">
            <a:avLst>
              <a:gd name="adj" fmla="val 8769"/>
            </a:avLst>
          </a:prstGeom>
          <a:solidFill>
            <a:srgbClr val="E6F5EF"/>
          </a:solidFill>
          <a:ln/>
        </p:spPr>
      </p:sp>
      <p:sp>
        <p:nvSpPr>
          <p:cNvPr id="7" name="Text 5"/>
          <p:cNvSpPr txBox="1"/>
          <p:nvPr/>
        </p:nvSpPr>
        <p:spPr>
          <a:xfrm>
            <a:off x="704088" y="1626210"/>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toxic epidermal necrolysis (G) (toksik epidermal nekroliz): </a:t>
            </a:r>
            <a:r>
              <a:rPr lang="en-US" sz="1600" dirty="0">
                <a:solidFill>
                  <a:srgbClr val="1F2937"/>
                </a:solidFill>
                <a:latin typeface="Calibri" pitchFamily="34" charset="0"/>
                <a:ea typeface="Calibri" pitchFamily="34" charset="-122"/>
                <a:cs typeface="Calibri" pitchFamily="34" charset="-120"/>
              </a:rPr>
              <a:t>Deri ve bazende mukoza epitelinin tabakalar halinde soyularak geride geniş, çıplak alanlar bıraktığı, hayatı tehdit edecek derecede ağır bir deri hastalığı</a:t>
            </a:r>
            <a:endParaRPr lang="en-US" sz="1600" dirty="0"/>
          </a:p>
        </p:txBody>
      </p:sp>
      <p:sp>
        <p:nvSpPr>
          <p:cNvPr id="8" name="Shape 6"/>
          <p:cNvSpPr/>
          <p:nvPr/>
        </p:nvSpPr>
        <p:spPr>
          <a:xfrm>
            <a:off x="548640" y="2464410"/>
            <a:ext cx="11094415" cy="481990"/>
          </a:xfrm>
          <a:prstGeom prst="roundRect">
            <a:avLst>
              <a:gd name="adj" fmla="val 13280"/>
            </a:avLst>
          </a:prstGeom>
          <a:solidFill>
            <a:srgbClr val="E6F5EF"/>
          </a:solidFill>
          <a:ln/>
        </p:spPr>
      </p:sp>
      <p:sp>
        <p:nvSpPr>
          <p:cNvPr id="9" name="Text 7"/>
          <p:cNvSpPr txBox="1"/>
          <p:nvPr/>
        </p:nvSpPr>
        <p:spPr>
          <a:xfrm>
            <a:off x="704088" y="253756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psoriasis (G) (psoryazis): </a:t>
            </a:r>
            <a:r>
              <a:rPr lang="en-US" sz="1600" dirty="0">
                <a:solidFill>
                  <a:srgbClr val="1F2937"/>
                </a:solidFill>
                <a:latin typeface="Calibri" pitchFamily="34" charset="0"/>
                <a:ea typeface="Calibri" pitchFamily="34" charset="-122"/>
                <a:cs typeface="Calibri" pitchFamily="34" charset="-120"/>
              </a:rPr>
              <a:t>Sedef hastalığı</a:t>
            </a:r>
            <a:endParaRPr lang="en-US" sz="1600" dirty="0"/>
          </a:p>
        </p:txBody>
      </p:sp>
      <p:sp>
        <p:nvSpPr>
          <p:cNvPr id="10" name="Shape 8"/>
          <p:cNvSpPr/>
          <p:nvPr/>
        </p:nvSpPr>
        <p:spPr>
          <a:xfrm>
            <a:off x="548640" y="3037840"/>
            <a:ext cx="11094415" cy="481990"/>
          </a:xfrm>
          <a:prstGeom prst="roundRect">
            <a:avLst>
              <a:gd name="adj" fmla="val 13280"/>
            </a:avLst>
          </a:prstGeom>
          <a:solidFill>
            <a:srgbClr val="E6F5EF"/>
          </a:solidFill>
          <a:ln/>
        </p:spPr>
      </p:sp>
      <p:sp>
        <p:nvSpPr>
          <p:cNvPr id="11" name="Text 9"/>
          <p:cNvSpPr txBox="1"/>
          <p:nvPr/>
        </p:nvSpPr>
        <p:spPr>
          <a:xfrm>
            <a:off x="704088" y="311099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impetigo (L): </a:t>
            </a:r>
            <a:r>
              <a:rPr lang="en-US" sz="1600" dirty="0">
                <a:solidFill>
                  <a:srgbClr val="1F2937"/>
                </a:solidFill>
                <a:latin typeface="Calibri" pitchFamily="34" charset="0"/>
                <a:ea typeface="Calibri" pitchFamily="34" charset="-122"/>
                <a:cs typeface="Calibri" pitchFamily="34" charset="-120"/>
              </a:rPr>
              <a:t>Öncelikle çocuklarda görülen yüzeysel ve vezikülopüstüler bir deri hastalığı</a:t>
            </a:r>
            <a:endParaRPr lang="en-US" sz="1600" dirty="0"/>
          </a:p>
        </p:txBody>
      </p:sp>
      <p:sp>
        <p:nvSpPr>
          <p:cNvPr id="12" name="Shape 10"/>
          <p:cNvSpPr/>
          <p:nvPr/>
        </p:nvSpPr>
        <p:spPr>
          <a:xfrm>
            <a:off x="548640" y="3611270"/>
            <a:ext cx="11094415" cy="729894"/>
          </a:xfrm>
          <a:prstGeom prst="roundRect">
            <a:avLst>
              <a:gd name="adj" fmla="val 8769"/>
            </a:avLst>
          </a:prstGeom>
          <a:solidFill>
            <a:srgbClr val="E6F5EF"/>
          </a:solidFill>
          <a:ln/>
        </p:spPr>
      </p:sp>
      <p:sp>
        <p:nvSpPr>
          <p:cNvPr id="13" name="Text 11"/>
          <p:cNvSpPr txBox="1"/>
          <p:nvPr/>
        </p:nvSpPr>
        <p:spPr>
          <a:xfrm>
            <a:off x="704088" y="3684422"/>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eczema (G) (ekzama): </a:t>
            </a:r>
            <a:r>
              <a:rPr lang="en-US" sz="1600" dirty="0">
                <a:solidFill>
                  <a:srgbClr val="1F2937"/>
                </a:solidFill>
                <a:latin typeface="Calibri" pitchFamily="34" charset="0"/>
                <a:ea typeface="Calibri" pitchFamily="34" charset="-122"/>
                <a:cs typeface="Calibri" pitchFamily="34" charset="-120"/>
              </a:rPr>
              <a:t>Çeşitli etkenler nedeniyle gelişen, yer yer kabuklanma gösteren veziküler oluşması ve akıntı ile belirgin kaşıntılı deri iltihabı</a:t>
            </a:r>
            <a:endParaRPr lang="en-US" sz="1600" dirty="0"/>
          </a:p>
        </p:txBody>
      </p:sp>
      <p:sp>
        <p:nvSpPr>
          <p:cNvPr id="14" name="Shape 12"/>
          <p:cNvSpPr/>
          <p:nvPr/>
        </p:nvSpPr>
        <p:spPr>
          <a:xfrm>
            <a:off x="548640" y="4432605"/>
            <a:ext cx="11094415" cy="729894"/>
          </a:xfrm>
          <a:prstGeom prst="roundRect">
            <a:avLst>
              <a:gd name="adj" fmla="val 8769"/>
            </a:avLst>
          </a:prstGeom>
          <a:solidFill>
            <a:srgbClr val="E6F5EF"/>
          </a:solidFill>
          <a:ln/>
        </p:spPr>
      </p:sp>
      <p:sp>
        <p:nvSpPr>
          <p:cNvPr id="15" name="Text 13"/>
          <p:cNvSpPr txBox="1"/>
          <p:nvPr/>
        </p:nvSpPr>
        <p:spPr>
          <a:xfrm>
            <a:off x="704088" y="4505757"/>
            <a:ext cx="10783519" cy="583590"/>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urticaria (L) (ürtiker): </a:t>
            </a:r>
            <a:r>
              <a:rPr lang="en-US" sz="1600" dirty="0">
                <a:solidFill>
                  <a:srgbClr val="1F2937"/>
                </a:solidFill>
                <a:latin typeface="Calibri" pitchFamily="34" charset="0"/>
                <a:ea typeface="Calibri" pitchFamily="34" charset="-122"/>
                <a:cs typeface="Calibri" pitchFamily="34" charset="-120"/>
              </a:rPr>
              <a:t>Deri üzerinde şiddetli kaşıntı ve yanma hissinin eşlik ettiği pembemsi kırmızı kabartılar oluşması ile belirgin alerjik durum</a:t>
            </a:r>
            <a:endParaRPr lang="en-US" sz="1600" dirty="0"/>
          </a:p>
        </p:txBody>
      </p:sp>
      <p:sp>
        <p:nvSpPr>
          <p:cNvPr id="16" name="Shape 14"/>
          <p:cNvSpPr/>
          <p:nvPr/>
        </p:nvSpPr>
        <p:spPr>
          <a:xfrm>
            <a:off x="548640" y="5253939"/>
            <a:ext cx="11094415" cy="481990"/>
          </a:xfrm>
          <a:prstGeom prst="roundRect">
            <a:avLst>
              <a:gd name="adj" fmla="val 13280"/>
            </a:avLst>
          </a:prstGeom>
          <a:solidFill>
            <a:srgbClr val="E6F5EF"/>
          </a:solidFill>
          <a:ln/>
        </p:spPr>
      </p:sp>
      <p:sp>
        <p:nvSpPr>
          <p:cNvPr id="17" name="Text 15"/>
          <p:cNvSpPr txBox="1"/>
          <p:nvPr/>
        </p:nvSpPr>
        <p:spPr>
          <a:xfrm>
            <a:off x="704088" y="5327091"/>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cellulitis (selülit): </a:t>
            </a:r>
            <a:r>
              <a:rPr lang="en-US" sz="1600" dirty="0">
                <a:solidFill>
                  <a:srgbClr val="1F2937"/>
                </a:solidFill>
                <a:latin typeface="Calibri" pitchFamily="34" charset="0"/>
                <a:ea typeface="Calibri" pitchFamily="34" charset="-122"/>
                <a:cs typeface="Calibri" pitchFamily="34" charset="-120"/>
              </a:rPr>
              <a:t>Bağ dokunun özellikle gevşek yapıdaki deri altı dokusunun yaygın iltihabi durumu</a:t>
            </a:r>
            <a:endParaRPr lang="en-US" sz="1600" dirty="0"/>
          </a:p>
        </p:txBody>
      </p:sp>
      <p:sp>
        <p:nvSpPr>
          <p:cNvPr id="18" name="Shape 16"/>
          <p:cNvSpPr/>
          <p:nvPr/>
        </p:nvSpPr>
        <p:spPr>
          <a:xfrm>
            <a:off x="548640" y="5827370"/>
            <a:ext cx="11094415" cy="481990"/>
          </a:xfrm>
          <a:prstGeom prst="roundRect">
            <a:avLst>
              <a:gd name="adj" fmla="val 13280"/>
            </a:avLst>
          </a:prstGeom>
          <a:solidFill>
            <a:srgbClr val="E6F5EF"/>
          </a:solidFill>
          <a:ln/>
        </p:spPr>
      </p:sp>
      <p:sp>
        <p:nvSpPr>
          <p:cNvPr id="19" name="Text 17"/>
          <p:cNvSpPr txBox="1"/>
          <p:nvPr/>
        </p:nvSpPr>
        <p:spPr>
          <a:xfrm>
            <a:off x="704088" y="5900522"/>
            <a:ext cx="10783519" cy="335686"/>
          </a:xfrm>
          <a:prstGeom prst="rect">
            <a:avLst/>
          </a:prstGeom>
          <a:noFill/>
          <a:ln/>
        </p:spPr>
        <p:txBody>
          <a:bodyPr wrap="square" lIns="0" tIns="0" rIns="0" bIns="0" rtlCol="0" anchor="t"/>
          <a:lstStyle/>
          <a:p>
            <a:pPr marL="0" indent="0">
              <a:lnSpc>
                <a:spcPct val="105000"/>
              </a:lnSpc>
              <a:buNone/>
            </a:pPr>
            <a:r>
              <a:rPr lang="en-US" sz="1600" b="1" dirty="0">
                <a:solidFill>
                  <a:srgbClr val="047857"/>
                </a:solidFill>
                <a:latin typeface="Calibri" pitchFamily="34" charset="0"/>
                <a:ea typeface="Calibri" pitchFamily="34" charset="-122"/>
                <a:cs typeface="Calibri" pitchFamily="34" charset="-120"/>
              </a:rPr>
              <a:t>dermatitis (G) (dermatit): </a:t>
            </a:r>
            <a:r>
              <a:rPr lang="en-US" sz="1600" dirty="0">
                <a:solidFill>
                  <a:srgbClr val="1F2937"/>
                </a:solidFill>
                <a:latin typeface="Calibri" pitchFamily="34" charset="0"/>
                <a:ea typeface="Calibri" pitchFamily="34" charset="-122"/>
                <a:cs typeface="Calibri" pitchFamily="34" charset="-120"/>
              </a:rPr>
              <a:t>Derinin yüzeysel yangısı</a:t>
            </a:r>
            <a:endParaRPr lang="en-US" sz="16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327</a:t>
            </a:r>
            <a:endParaRPr lang="en-US" sz="1000" dirty="0"/>
          </a:p>
        </p:txBody>
      </p:sp>
      <p:sp>
        <p:nvSpPr>
          <p:cNvPr id="6" name="Shape 4"/>
          <p:cNvSpPr/>
          <p:nvPr/>
        </p:nvSpPr>
        <p:spPr>
          <a:xfrm>
            <a:off x="548640" y="1644599"/>
            <a:ext cx="11094415" cy="638658"/>
          </a:xfrm>
          <a:prstGeom prst="roundRect">
            <a:avLst>
              <a:gd name="adj" fmla="val 10022"/>
            </a:avLst>
          </a:prstGeom>
          <a:solidFill>
            <a:srgbClr val="E6F5EF"/>
          </a:solidFill>
          <a:ln/>
        </p:spPr>
      </p:sp>
      <p:sp>
        <p:nvSpPr>
          <p:cNvPr id="7" name="Text 5"/>
          <p:cNvSpPr txBox="1"/>
          <p:nvPr/>
        </p:nvSpPr>
        <p:spPr>
          <a:xfrm>
            <a:off x="704088" y="1717751"/>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seborrheic dermatitis (G) (seboreik dermatit): </a:t>
            </a:r>
            <a:r>
              <a:rPr lang="en-US" sz="1400" dirty="0">
                <a:solidFill>
                  <a:srgbClr val="1F2937"/>
                </a:solidFill>
                <a:latin typeface="Calibri" pitchFamily="34" charset="0"/>
                <a:ea typeface="Calibri" pitchFamily="34" charset="-122"/>
                <a:cs typeface="Calibri" pitchFamily="34" charset="-120"/>
              </a:rPr>
              <a:t>Kafa derisinde, yüzde ve bazende vücudun diğer bölgelerinde görülen deri kalınlaşması</a:t>
            </a:r>
            <a:endParaRPr lang="en-US" sz="1400" dirty="0"/>
          </a:p>
        </p:txBody>
      </p:sp>
      <p:sp>
        <p:nvSpPr>
          <p:cNvPr id="8" name="Shape 6"/>
          <p:cNvSpPr/>
          <p:nvPr/>
        </p:nvSpPr>
        <p:spPr>
          <a:xfrm>
            <a:off x="548640" y="2374697"/>
            <a:ext cx="11094415" cy="638658"/>
          </a:xfrm>
          <a:prstGeom prst="roundRect">
            <a:avLst>
              <a:gd name="adj" fmla="val 10022"/>
            </a:avLst>
          </a:prstGeom>
          <a:solidFill>
            <a:srgbClr val="E6F5EF"/>
          </a:solidFill>
          <a:ln/>
        </p:spPr>
      </p:sp>
      <p:sp>
        <p:nvSpPr>
          <p:cNvPr id="9" name="Text 7"/>
          <p:cNvSpPr txBox="1"/>
          <p:nvPr/>
        </p:nvSpPr>
        <p:spPr>
          <a:xfrm>
            <a:off x="704088" y="2447849"/>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atopyc dermatitis (G) (atopik dermatit): </a:t>
            </a:r>
            <a:r>
              <a:rPr lang="en-US" sz="1400" dirty="0">
                <a:solidFill>
                  <a:srgbClr val="1F2937"/>
                </a:solidFill>
                <a:latin typeface="Calibri" pitchFamily="34" charset="0"/>
                <a:ea typeface="Calibri" pitchFamily="34" charset="-122"/>
                <a:cs typeface="Calibri" pitchFamily="34" charset="-120"/>
              </a:rPr>
              <a:t>Derinin kronik kaşıntılı, yüzeysel bir iltihabı. Genellikle aşerjik yapılı insanlarda görülür.</a:t>
            </a:r>
            <a:endParaRPr lang="en-US" sz="1400" dirty="0"/>
          </a:p>
        </p:txBody>
      </p:sp>
      <p:sp>
        <p:nvSpPr>
          <p:cNvPr id="10" name="Shape 8"/>
          <p:cNvSpPr/>
          <p:nvPr/>
        </p:nvSpPr>
        <p:spPr>
          <a:xfrm>
            <a:off x="548640" y="3104794"/>
            <a:ext cx="11094415" cy="421742"/>
          </a:xfrm>
          <a:prstGeom prst="roundRect">
            <a:avLst>
              <a:gd name="adj" fmla="val 15177"/>
            </a:avLst>
          </a:prstGeom>
          <a:solidFill>
            <a:srgbClr val="E6F5EF"/>
          </a:solidFill>
          <a:ln/>
        </p:spPr>
      </p:sp>
      <p:sp>
        <p:nvSpPr>
          <p:cNvPr id="11" name="Text 9"/>
          <p:cNvSpPr txBox="1"/>
          <p:nvPr/>
        </p:nvSpPr>
        <p:spPr>
          <a:xfrm>
            <a:off x="704088" y="3177946"/>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erysipelas (G) (erisipel): </a:t>
            </a:r>
            <a:r>
              <a:rPr lang="en-US" sz="1400" dirty="0">
                <a:solidFill>
                  <a:srgbClr val="1F2937"/>
                </a:solidFill>
                <a:latin typeface="Calibri" pitchFamily="34" charset="0"/>
                <a:ea typeface="Calibri" pitchFamily="34" charset="-122"/>
                <a:cs typeface="Calibri" pitchFamily="34" charset="-120"/>
              </a:rPr>
              <a:t>Yılancık. A grubu beta-hemolitik streptokoklar tarafından meydana getirilen yüzeysel bir selülit</a:t>
            </a:r>
            <a:endParaRPr lang="en-US" sz="1400" dirty="0"/>
          </a:p>
        </p:txBody>
      </p:sp>
      <p:sp>
        <p:nvSpPr>
          <p:cNvPr id="12" name="Shape 10"/>
          <p:cNvSpPr/>
          <p:nvPr/>
        </p:nvSpPr>
        <p:spPr>
          <a:xfrm>
            <a:off x="548640" y="3617976"/>
            <a:ext cx="11094415" cy="421742"/>
          </a:xfrm>
          <a:prstGeom prst="roundRect">
            <a:avLst>
              <a:gd name="adj" fmla="val 15177"/>
            </a:avLst>
          </a:prstGeom>
          <a:solidFill>
            <a:srgbClr val="E6F5EF"/>
          </a:solidFill>
          <a:ln/>
        </p:spPr>
      </p:sp>
      <p:sp>
        <p:nvSpPr>
          <p:cNvPr id="13" name="Text 11"/>
          <p:cNvSpPr txBox="1"/>
          <p:nvPr/>
        </p:nvSpPr>
        <p:spPr>
          <a:xfrm>
            <a:off x="704088" y="3691128"/>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folliculitis (folikülit): </a:t>
            </a:r>
            <a:r>
              <a:rPr lang="en-US" sz="1400" dirty="0">
                <a:solidFill>
                  <a:srgbClr val="1F2937"/>
                </a:solidFill>
                <a:latin typeface="Calibri" pitchFamily="34" charset="0"/>
                <a:ea typeface="Calibri" pitchFamily="34" charset="-122"/>
                <a:cs typeface="Calibri" pitchFamily="34" charset="-120"/>
              </a:rPr>
              <a:t>Kıl foliküllerinin yüzeysel veya derin bakteri enfeksiyonu</a:t>
            </a:r>
            <a:endParaRPr lang="en-US" sz="1400" dirty="0"/>
          </a:p>
        </p:txBody>
      </p:sp>
      <p:sp>
        <p:nvSpPr>
          <p:cNvPr id="14" name="Shape 12"/>
          <p:cNvSpPr/>
          <p:nvPr/>
        </p:nvSpPr>
        <p:spPr>
          <a:xfrm>
            <a:off x="548640" y="4131158"/>
            <a:ext cx="11094415" cy="421742"/>
          </a:xfrm>
          <a:prstGeom prst="roundRect">
            <a:avLst>
              <a:gd name="adj" fmla="val 15177"/>
            </a:avLst>
          </a:prstGeom>
          <a:solidFill>
            <a:srgbClr val="E6F5EF"/>
          </a:solidFill>
          <a:ln/>
        </p:spPr>
      </p:sp>
      <p:sp>
        <p:nvSpPr>
          <p:cNvPr id="15" name="Text 13"/>
          <p:cNvSpPr txBox="1"/>
          <p:nvPr/>
        </p:nvSpPr>
        <p:spPr>
          <a:xfrm>
            <a:off x="704088" y="420431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fronkül (çıban): </a:t>
            </a:r>
            <a:r>
              <a:rPr lang="en-US" sz="1400" dirty="0">
                <a:solidFill>
                  <a:srgbClr val="1F2937"/>
                </a:solidFill>
                <a:latin typeface="Calibri" pitchFamily="34" charset="0"/>
                <a:ea typeface="Calibri" pitchFamily="34" charset="-122"/>
                <a:cs typeface="Calibri" pitchFamily="34" charset="-120"/>
              </a:rPr>
              <a:t>Stafilokok enfeksiyonu nedeniyle akut olarak oluşan hassas perifoliküler iltihabi nodüller</a:t>
            </a:r>
            <a:endParaRPr lang="en-US" sz="1400" dirty="0"/>
          </a:p>
        </p:txBody>
      </p:sp>
      <p:sp>
        <p:nvSpPr>
          <p:cNvPr id="16" name="Shape 14"/>
          <p:cNvSpPr/>
          <p:nvPr/>
        </p:nvSpPr>
        <p:spPr>
          <a:xfrm>
            <a:off x="548640" y="4644339"/>
            <a:ext cx="11094415" cy="421742"/>
          </a:xfrm>
          <a:prstGeom prst="roundRect">
            <a:avLst>
              <a:gd name="adj" fmla="val 15177"/>
            </a:avLst>
          </a:prstGeom>
          <a:solidFill>
            <a:srgbClr val="E6F5EF"/>
          </a:solidFill>
          <a:ln/>
        </p:spPr>
      </p:sp>
      <p:sp>
        <p:nvSpPr>
          <p:cNvPr id="17" name="Text 15"/>
          <p:cNvSpPr txBox="1"/>
          <p:nvPr/>
        </p:nvSpPr>
        <p:spPr>
          <a:xfrm>
            <a:off x="704088" y="4717491"/>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carbunculus (L) (karbonkül): </a:t>
            </a:r>
            <a:r>
              <a:rPr lang="en-US" sz="1400" dirty="0">
                <a:solidFill>
                  <a:srgbClr val="1F2937"/>
                </a:solidFill>
                <a:latin typeface="Calibri" pitchFamily="34" charset="0"/>
                <a:ea typeface="Calibri" pitchFamily="34" charset="-122"/>
                <a:cs typeface="Calibri" pitchFamily="34" charset="-120"/>
              </a:rPr>
              <a:t>enfeksiyonun deri altına da yayıldığı bir grup çıban</a:t>
            </a:r>
            <a:endParaRPr lang="en-US" sz="1400" dirty="0"/>
          </a:p>
        </p:txBody>
      </p:sp>
      <p:sp>
        <p:nvSpPr>
          <p:cNvPr id="18" name="Shape 16"/>
          <p:cNvSpPr/>
          <p:nvPr/>
        </p:nvSpPr>
        <p:spPr>
          <a:xfrm>
            <a:off x="548640" y="5157521"/>
            <a:ext cx="11094415" cy="638658"/>
          </a:xfrm>
          <a:prstGeom prst="roundRect">
            <a:avLst>
              <a:gd name="adj" fmla="val 10022"/>
            </a:avLst>
          </a:prstGeom>
          <a:solidFill>
            <a:srgbClr val="E6F5EF"/>
          </a:solidFill>
          <a:ln/>
        </p:spPr>
      </p:sp>
      <p:sp>
        <p:nvSpPr>
          <p:cNvPr id="19" name="Text 17"/>
          <p:cNvSpPr txBox="1"/>
          <p:nvPr/>
        </p:nvSpPr>
        <p:spPr>
          <a:xfrm>
            <a:off x="704088" y="5230673"/>
            <a:ext cx="10783519" cy="492354"/>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erythrasma (G) (eritrazma): </a:t>
            </a:r>
            <a:r>
              <a:rPr lang="en-US" sz="1400" dirty="0">
                <a:solidFill>
                  <a:srgbClr val="1F2937"/>
                </a:solidFill>
                <a:latin typeface="Calibri" pitchFamily="34" charset="0"/>
                <a:ea typeface="Calibri" pitchFamily="34" charset="-122"/>
                <a:cs typeface="Calibri" pitchFamily="34" charset="-120"/>
              </a:rPr>
              <a:t>Corynebacterium minutissimum tarafından oluşturulan ve hemen her erişkinlerde görülen yüzeysel bir deri enfeksiyonu</a:t>
            </a:r>
            <a:endParaRPr lang="en-US" sz="1400" dirty="0"/>
          </a:p>
        </p:txBody>
      </p:sp>
      <p:sp>
        <p:nvSpPr>
          <p:cNvPr id="20" name="Shape 18"/>
          <p:cNvSpPr/>
          <p:nvPr/>
        </p:nvSpPr>
        <p:spPr>
          <a:xfrm>
            <a:off x="548640" y="5887618"/>
            <a:ext cx="11094415" cy="421742"/>
          </a:xfrm>
          <a:prstGeom prst="roundRect">
            <a:avLst>
              <a:gd name="adj" fmla="val 15177"/>
            </a:avLst>
          </a:prstGeom>
          <a:solidFill>
            <a:srgbClr val="E6F5EF"/>
          </a:solidFill>
          <a:ln/>
        </p:spPr>
      </p:sp>
      <p:sp>
        <p:nvSpPr>
          <p:cNvPr id="21" name="Text 19"/>
          <p:cNvSpPr txBox="1"/>
          <p:nvPr/>
        </p:nvSpPr>
        <p:spPr>
          <a:xfrm>
            <a:off x="704088" y="5960770"/>
            <a:ext cx="10783519" cy="275438"/>
          </a:xfrm>
          <a:prstGeom prst="rect">
            <a:avLst/>
          </a:prstGeom>
          <a:noFill/>
          <a:ln/>
        </p:spPr>
        <p:txBody>
          <a:bodyPr wrap="square" lIns="0" tIns="0" rIns="0" bIns="0" rtlCol="0" anchor="t"/>
          <a:lstStyle/>
          <a:p>
            <a:pPr marL="0" indent="0">
              <a:lnSpc>
                <a:spcPct val="105000"/>
              </a:lnSpc>
              <a:buNone/>
            </a:pPr>
            <a:r>
              <a:rPr lang="en-US" sz="1400" b="1" dirty="0">
                <a:solidFill>
                  <a:srgbClr val="047857"/>
                </a:solidFill>
                <a:latin typeface="Calibri" pitchFamily="34" charset="0"/>
                <a:ea typeface="Calibri" pitchFamily="34" charset="-122"/>
                <a:cs typeface="Calibri" pitchFamily="34" charset="-120"/>
              </a:rPr>
              <a:t>comedon (L) (komedon): </a:t>
            </a:r>
            <a:r>
              <a:rPr lang="en-US" sz="1400" dirty="0">
                <a:solidFill>
                  <a:srgbClr val="1F2937"/>
                </a:solidFill>
                <a:latin typeface="Calibri" pitchFamily="34" charset="0"/>
                <a:ea typeface="Calibri" pitchFamily="34" charset="-122"/>
                <a:cs typeface="Calibri" pitchFamily="34" charset="-120"/>
              </a:rPr>
              <a:t>Yağ bezi kanallarının tıkanmasıyla oluşan siyak noktalar</a:t>
            </a:r>
            <a:endParaRPr lang="en-US" sz="14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328</a:t>
            </a:r>
            <a:endParaRPr lang="en-US" sz="1000" dirty="0"/>
          </a:p>
        </p:txBody>
      </p:sp>
      <p:sp>
        <p:nvSpPr>
          <p:cNvPr id="6" name="Shape 4"/>
          <p:cNvSpPr/>
          <p:nvPr/>
        </p:nvSpPr>
        <p:spPr>
          <a:xfrm>
            <a:off x="548640" y="1565529"/>
            <a:ext cx="11094415" cy="916686"/>
          </a:xfrm>
          <a:prstGeom prst="roundRect">
            <a:avLst>
              <a:gd name="adj" fmla="val 6983"/>
            </a:avLst>
          </a:prstGeom>
          <a:solidFill>
            <a:srgbClr val="E6F5EF"/>
          </a:solidFill>
          <a:ln/>
        </p:spPr>
      </p:sp>
      <p:sp>
        <p:nvSpPr>
          <p:cNvPr id="7" name="Text 5"/>
          <p:cNvSpPr txBox="1"/>
          <p:nvPr/>
        </p:nvSpPr>
        <p:spPr>
          <a:xfrm>
            <a:off x="704088" y="1638681"/>
            <a:ext cx="10783519" cy="77038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acne (G) (akne): </a:t>
            </a:r>
            <a:r>
              <a:rPr lang="en-US" sz="1500" dirty="0">
                <a:solidFill>
                  <a:srgbClr val="1F2937"/>
                </a:solidFill>
                <a:latin typeface="Calibri" pitchFamily="34" charset="0"/>
                <a:ea typeface="Calibri" pitchFamily="34" charset="-122"/>
                <a:cs typeface="Calibri" pitchFamily="34" charset="-120"/>
              </a:rPr>
              <a:t>Sivilce. Kendisini komedonlar, papüller, püstüller, iltihaplanmış nodüller, irinle dolu yüzeysel kistler ve çok aşırı durumlarda da derinlerde bulunarak kendilerine kanallar açan, iltihaplı, bazen de irinli keselerle kendini gösteren pilosebasöz bir hastalık.</a:t>
            </a:r>
            <a:endParaRPr lang="en-US" sz="1500" dirty="0"/>
          </a:p>
        </p:txBody>
      </p:sp>
      <p:sp>
        <p:nvSpPr>
          <p:cNvPr id="8" name="Shape 6"/>
          <p:cNvSpPr/>
          <p:nvPr/>
        </p:nvSpPr>
        <p:spPr>
          <a:xfrm>
            <a:off x="548640" y="2573655"/>
            <a:ext cx="11094415" cy="684276"/>
          </a:xfrm>
          <a:prstGeom prst="roundRect">
            <a:avLst>
              <a:gd name="adj" fmla="val 9354"/>
            </a:avLst>
          </a:prstGeom>
          <a:solidFill>
            <a:srgbClr val="E6F5EF"/>
          </a:solidFill>
          <a:ln/>
        </p:spPr>
      </p:sp>
      <p:sp>
        <p:nvSpPr>
          <p:cNvPr id="9" name="Text 7"/>
          <p:cNvSpPr txBox="1"/>
          <p:nvPr/>
        </p:nvSpPr>
        <p:spPr>
          <a:xfrm>
            <a:off x="704088" y="2646807"/>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rosacea (L) (rozasea): </a:t>
            </a:r>
            <a:r>
              <a:rPr lang="en-US" sz="1500" dirty="0">
                <a:solidFill>
                  <a:srgbClr val="1F2937"/>
                </a:solidFill>
                <a:latin typeface="Calibri" pitchFamily="34" charset="0"/>
                <a:ea typeface="Calibri" pitchFamily="34" charset="-122"/>
                <a:cs typeface="Calibri" pitchFamily="34" charset="-120"/>
              </a:rPr>
              <a:t>Genellikle orta ve ileri yaşlarda başlayan, özellikler yüzün merkezi kısımlarındaki telanjiektazi, eritem papül, ve püstül gibi lezyonlarla belirlenen kronik iltihaplı bir hastalık</a:t>
            </a:r>
            <a:endParaRPr lang="en-US" sz="1500" dirty="0"/>
          </a:p>
        </p:txBody>
      </p:sp>
      <p:sp>
        <p:nvSpPr>
          <p:cNvPr id="10" name="Shape 8"/>
          <p:cNvSpPr/>
          <p:nvPr/>
        </p:nvSpPr>
        <p:spPr>
          <a:xfrm>
            <a:off x="548640" y="3349371"/>
            <a:ext cx="11094415" cy="684276"/>
          </a:xfrm>
          <a:prstGeom prst="roundRect">
            <a:avLst>
              <a:gd name="adj" fmla="val 9354"/>
            </a:avLst>
          </a:prstGeom>
          <a:solidFill>
            <a:srgbClr val="E6F5EF"/>
          </a:solidFill>
          <a:ln/>
        </p:spPr>
      </p:sp>
      <p:sp>
        <p:nvSpPr>
          <p:cNvPr id="11" name="Text 9"/>
          <p:cNvSpPr txBox="1"/>
          <p:nvPr/>
        </p:nvSpPr>
        <p:spPr>
          <a:xfrm>
            <a:off x="704088" y="3422523"/>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erythema nodosum (GL) (eritema nodozum): </a:t>
            </a:r>
            <a:r>
              <a:rPr lang="en-US" sz="1500" dirty="0">
                <a:solidFill>
                  <a:srgbClr val="1F2937"/>
                </a:solidFill>
                <a:latin typeface="Calibri" pitchFamily="34" charset="0"/>
                <a:ea typeface="Calibri" pitchFamily="34" charset="-122"/>
                <a:cs typeface="Calibri" pitchFamily="34" charset="-120"/>
              </a:rPr>
              <a:t>Daha çok pretibial bölgede, bazen de kollarda ve diğer bölgelerde hassas, kırmızı nodüllerin ortaya çıktığı iltihabi bir deri ve derialtı dokusu hastalığıdır.</a:t>
            </a:r>
            <a:endParaRPr lang="en-US" sz="1500" dirty="0"/>
          </a:p>
        </p:txBody>
      </p:sp>
      <p:sp>
        <p:nvSpPr>
          <p:cNvPr id="12" name="Shape 10"/>
          <p:cNvSpPr/>
          <p:nvPr/>
        </p:nvSpPr>
        <p:spPr>
          <a:xfrm>
            <a:off x="548640" y="4227576"/>
            <a:ext cx="11094415" cy="451866"/>
          </a:xfrm>
          <a:prstGeom prst="roundRect">
            <a:avLst>
              <a:gd name="adj" fmla="val 14165"/>
            </a:avLst>
          </a:prstGeom>
          <a:solidFill>
            <a:srgbClr val="E6F5EF"/>
          </a:solidFill>
          <a:ln/>
        </p:spPr>
      </p:sp>
      <p:sp>
        <p:nvSpPr>
          <p:cNvPr id="13" name="Text 11"/>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dermatophyte infection (GL) (dermatofit enfeksiyonları): </a:t>
            </a:r>
            <a:r>
              <a:rPr lang="en-US" sz="1500" dirty="0">
                <a:solidFill>
                  <a:srgbClr val="1F2937"/>
                </a:solidFill>
                <a:latin typeface="Calibri" pitchFamily="34" charset="0"/>
                <a:ea typeface="Calibri" pitchFamily="34" charset="-122"/>
                <a:cs typeface="Calibri" pitchFamily="34" charset="-120"/>
              </a:rPr>
              <a:t>Deri ve eklerinin mantar enfeksiyonları</a:t>
            </a:r>
            <a:endParaRPr lang="en-US" sz="1500" dirty="0"/>
          </a:p>
        </p:txBody>
      </p:sp>
      <p:sp>
        <p:nvSpPr>
          <p:cNvPr id="14" name="Shape 12"/>
          <p:cNvSpPr/>
          <p:nvPr/>
        </p:nvSpPr>
        <p:spPr>
          <a:xfrm>
            <a:off x="548640" y="4770882"/>
            <a:ext cx="11094415" cy="451866"/>
          </a:xfrm>
          <a:prstGeom prst="roundRect">
            <a:avLst>
              <a:gd name="adj" fmla="val 14165"/>
            </a:avLst>
          </a:prstGeom>
          <a:solidFill>
            <a:srgbClr val="E6F5EF"/>
          </a:solidFill>
          <a:ln/>
        </p:spPr>
      </p:sp>
      <p:sp>
        <p:nvSpPr>
          <p:cNvPr id="15" name="Text 13"/>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tinea corporis (L) (tinea korporis): </a:t>
            </a:r>
            <a:r>
              <a:rPr lang="en-US" sz="1500" dirty="0">
                <a:solidFill>
                  <a:srgbClr val="1F2937"/>
                </a:solidFill>
                <a:latin typeface="Calibri" pitchFamily="34" charset="0"/>
                <a:ea typeface="Calibri" pitchFamily="34" charset="-122"/>
                <a:cs typeface="Calibri" pitchFamily="34" charset="-120"/>
              </a:rPr>
              <a:t>Vücut mantarı</a:t>
            </a:r>
            <a:endParaRPr lang="en-US" sz="1500" dirty="0"/>
          </a:p>
        </p:txBody>
      </p:sp>
      <p:sp>
        <p:nvSpPr>
          <p:cNvPr id="16" name="Shape 14"/>
          <p:cNvSpPr/>
          <p:nvPr/>
        </p:nvSpPr>
        <p:spPr>
          <a:xfrm>
            <a:off x="548640" y="5314188"/>
            <a:ext cx="11094415" cy="451866"/>
          </a:xfrm>
          <a:prstGeom prst="roundRect">
            <a:avLst>
              <a:gd name="adj" fmla="val 14165"/>
            </a:avLst>
          </a:prstGeom>
          <a:solidFill>
            <a:srgbClr val="E6F5EF"/>
          </a:solidFill>
          <a:ln/>
        </p:spPr>
      </p:sp>
      <p:sp>
        <p:nvSpPr>
          <p:cNvPr id="17" name="Text 15"/>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tinea pedis (L): </a:t>
            </a:r>
            <a:r>
              <a:rPr lang="en-US" sz="1500" dirty="0">
                <a:solidFill>
                  <a:srgbClr val="1F2937"/>
                </a:solidFill>
                <a:latin typeface="Calibri" pitchFamily="34" charset="0"/>
                <a:ea typeface="Calibri" pitchFamily="34" charset="-122"/>
                <a:cs typeface="Calibri" pitchFamily="34" charset="-120"/>
              </a:rPr>
              <a:t>Ayak mantarı</a:t>
            </a:r>
            <a:endParaRPr lang="en-US" sz="1500" dirty="0"/>
          </a:p>
        </p:txBody>
      </p:sp>
      <p:sp>
        <p:nvSpPr>
          <p:cNvPr id="18" name="Shape 16"/>
          <p:cNvSpPr/>
          <p:nvPr/>
        </p:nvSpPr>
        <p:spPr>
          <a:xfrm>
            <a:off x="548640" y="5857494"/>
            <a:ext cx="11094415" cy="451866"/>
          </a:xfrm>
          <a:prstGeom prst="roundRect">
            <a:avLst>
              <a:gd name="adj" fmla="val 14165"/>
            </a:avLst>
          </a:prstGeom>
          <a:solidFill>
            <a:srgbClr val="E6F5EF"/>
          </a:solidFill>
          <a:ln/>
        </p:spPr>
      </p:sp>
      <p:sp>
        <p:nvSpPr>
          <p:cNvPr id="19" name="Text 17"/>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tinea ungium (L): </a:t>
            </a:r>
            <a:r>
              <a:rPr lang="en-US" sz="1500" dirty="0">
                <a:solidFill>
                  <a:srgbClr val="1F2937"/>
                </a:solidFill>
                <a:latin typeface="Calibri" pitchFamily="34" charset="0"/>
                <a:ea typeface="Calibri" pitchFamily="34" charset="-122"/>
                <a:cs typeface="Calibri" pitchFamily="34" charset="-120"/>
              </a:rPr>
              <a:t>Tırnak mantarı</a:t>
            </a:r>
            <a:endParaRPr lang="en-US" sz="15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329</a:t>
            </a:r>
            <a:endParaRPr lang="en-US" sz="1000" dirty="0"/>
          </a:p>
        </p:txBody>
      </p:sp>
      <p:sp>
        <p:nvSpPr>
          <p:cNvPr id="6" name="Shape 4"/>
          <p:cNvSpPr/>
          <p:nvPr/>
        </p:nvSpPr>
        <p:spPr>
          <a:xfrm>
            <a:off x="548640" y="1642491"/>
            <a:ext cx="11094415" cy="684276"/>
          </a:xfrm>
          <a:prstGeom prst="roundRect">
            <a:avLst>
              <a:gd name="adj" fmla="val 9354"/>
            </a:avLst>
          </a:prstGeom>
          <a:solidFill>
            <a:srgbClr val="E6F5EF"/>
          </a:solidFill>
          <a:ln/>
        </p:spPr>
      </p:sp>
      <p:sp>
        <p:nvSpPr>
          <p:cNvPr id="7" name="Text 5"/>
          <p:cNvSpPr txBox="1"/>
          <p:nvPr/>
        </p:nvSpPr>
        <p:spPr>
          <a:xfrm>
            <a:off x="704088" y="1715643"/>
            <a:ext cx="10783519" cy="53797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dermatitis herpetiformis (dermatit herpetiformis): </a:t>
            </a:r>
            <a:r>
              <a:rPr lang="en-US" sz="1500" dirty="0">
                <a:solidFill>
                  <a:srgbClr val="1F2937"/>
                </a:solidFill>
                <a:latin typeface="Calibri" pitchFamily="34" charset="0"/>
                <a:ea typeface="Calibri" pitchFamily="34" charset="-122"/>
                <a:cs typeface="Calibri" pitchFamily="34" charset="-120"/>
              </a:rPr>
              <a:t>Şiddetle kaşınan veziküllerin, papüllerin ve ürtiker bezleri lezyonların kümeler yaptığı kronik bir hastalık</a:t>
            </a:r>
            <a:endParaRPr lang="en-US" sz="1500" dirty="0"/>
          </a:p>
        </p:txBody>
      </p:sp>
      <p:sp>
        <p:nvSpPr>
          <p:cNvPr id="8" name="Shape 6"/>
          <p:cNvSpPr/>
          <p:nvPr/>
        </p:nvSpPr>
        <p:spPr>
          <a:xfrm>
            <a:off x="548640" y="2597658"/>
            <a:ext cx="11094415" cy="451866"/>
          </a:xfrm>
          <a:prstGeom prst="roundRect">
            <a:avLst>
              <a:gd name="adj" fmla="val 14165"/>
            </a:avLst>
          </a:prstGeom>
          <a:solidFill>
            <a:srgbClr val="E6F5EF"/>
          </a:solidFill>
          <a:ln/>
        </p:spPr>
      </p:sp>
      <p:sp>
        <p:nvSpPr>
          <p:cNvPr id="9" name="Text 7"/>
          <p:cNvSpPr txBox="1"/>
          <p:nvPr/>
        </p:nvSpPr>
        <p:spPr>
          <a:xfrm>
            <a:off x="704088" y="267081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tinea capitis (L): </a:t>
            </a:r>
            <a:r>
              <a:rPr lang="en-US" sz="1500" dirty="0">
                <a:solidFill>
                  <a:srgbClr val="1F2937"/>
                </a:solidFill>
                <a:latin typeface="Calibri" pitchFamily="34" charset="0"/>
                <a:ea typeface="Calibri" pitchFamily="34" charset="-122"/>
                <a:cs typeface="Calibri" pitchFamily="34" charset="-120"/>
              </a:rPr>
              <a:t>Baş mantarı</a:t>
            </a:r>
            <a:endParaRPr lang="en-US" sz="1500" dirty="0"/>
          </a:p>
        </p:txBody>
      </p:sp>
      <p:sp>
        <p:nvSpPr>
          <p:cNvPr id="10" name="Shape 8"/>
          <p:cNvSpPr/>
          <p:nvPr/>
        </p:nvSpPr>
        <p:spPr>
          <a:xfrm>
            <a:off x="548640" y="3140964"/>
            <a:ext cx="11094415" cy="451866"/>
          </a:xfrm>
          <a:prstGeom prst="roundRect">
            <a:avLst>
              <a:gd name="adj" fmla="val 14165"/>
            </a:avLst>
          </a:prstGeom>
          <a:solidFill>
            <a:srgbClr val="E6F5EF"/>
          </a:solidFill>
          <a:ln/>
        </p:spPr>
      </p:sp>
      <p:sp>
        <p:nvSpPr>
          <p:cNvPr id="11" name="Text 9"/>
          <p:cNvSpPr txBox="1"/>
          <p:nvPr/>
        </p:nvSpPr>
        <p:spPr>
          <a:xfrm>
            <a:off x="704088" y="321411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tinea barbae (L): </a:t>
            </a:r>
            <a:r>
              <a:rPr lang="en-US" sz="1500" dirty="0">
                <a:solidFill>
                  <a:srgbClr val="1F2937"/>
                </a:solidFill>
                <a:latin typeface="Calibri" pitchFamily="34" charset="0"/>
                <a:ea typeface="Calibri" pitchFamily="34" charset="-122"/>
                <a:cs typeface="Calibri" pitchFamily="34" charset="-120"/>
              </a:rPr>
              <a:t>Sakallı deri bölgesinin mantarı</a:t>
            </a:r>
            <a:endParaRPr lang="en-US" sz="1500" dirty="0"/>
          </a:p>
        </p:txBody>
      </p:sp>
      <p:sp>
        <p:nvSpPr>
          <p:cNvPr id="12" name="Shape 10"/>
          <p:cNvSpPr/>
          <p:nvPr/>
        </p:nvSpPr>
        <p:spPr>
          <a:xfrm>
            <a:off x="548640" y="3684270"/>
            <a:ext cx="11094415" cy="451866"/>
          </a:xfrm>
          <a:prstGeom prst="roundRect">
            <a:avLst>
              <a:gd name="adj" fmla="val 14165"/>
            </a:avLst>
          </a:prstGeom>
          <a:solidFill>
            <a:srgbClr val="E6F5EF"/>
          </a:solidFill>
          <a:ln/>
        </p:spPr>
      </p:sp>
      <p:sp>
        <p:nvSpPr>
          <p:cNvPr id="13" name="Text 11"/>
          <p:cNvSpPr txBox="1"/>
          <p:nvPr/>
        </p:nvSpPr>
        <p:spPr>
          <a:xfrm>
            <a:off x="704088" y="3757422"/>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pemphigus (G) (pemfigus): </a:t>
            </a:r>
            <a:r>
              <a:rPr lang="en-US" sz="1500" dirty="0">
                <a:solidFill>
                  <a:srgbClr val="1F2937"/>
                </a:solidFill>
                <a:latin typeface="Calibri" pitchFamily="34" charset="0"/>
                <a:ea typeface="Calibri" pitchFamily="34" charset="-122"/>
                <a:cs typeface="Calibri" pitchFamily="34" charset="-120"/>
              </a:rPr>
              <a:t>İntradermal büllerle seyreden etiyolojisi bilinmeyen bir deri hastalığıdır.</a:t>
            </a:r>
            <a:endParaRPr lang="en-US" sz="1500" dirty="0"/>
          </a:p>
        </p:txBody>
      </p:sp>
      <p:sp>
        <p:nvSpPr>
          <p:cNvPr id="14" name="Shape 12"/>
          <p:cNvSpPr/>
          <p:nvPr/>
        </p:nvSpPr>
        <p:spPr>
          <a:xfrm>
            <a:off x="548640" y="4227576"/>
            <a:ext cx="11094415" cy="451866"/>
          </a:xfrm>
          <a:prstGeom prst="roundRect">
            <a:avLst>
              <a:gd name="adj" fmla="val 14165"/>
            </a:avLst>
          </a:prstGeom>
          <a:solidFill>
            <a:srgbClr val="E6F5EF"/>
          </a:solidFill>
          <a:ln/>
        </p:spPr>
      </p:sp>
      <p:sp>
        <p:nvSpPr>
          <p:cNvPr id="15" name="Text 13"/>
          <p:cNvSpPr txBox="1"/>
          <p:nvPr/>
        </p:nvSpPr>
        <p:spPr>
          <a:xfrm>
            <a:off x="704088" y="4300728"/>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pseudofolliculitis barbae (GLG) (psödofolikülit barbe): </a:t>
            </a:r>
            <a:r>
              <a:rPr lang="en-US" sz="1500" dirty="0">
                <a:solidFill>
                  <a:srgbClr val="1F2937"/>
                </a:solidFill>
                <a:latin typeface="Calibri" pitchFamily="34" charset="0"/>
                <a:ea typeface="Calibri" pitchFamily="34" charset="-122"/>
                <a:cs typeface="Calibri" pitchFamily="34" charset="-120"/>
              </a:rPr>
              <a:t>Kıl dönmesi</a:t>
            </a:r>
            <a:endParaRPr lang="en-US" sz="1500" dirty="0"/>
          </a:p>
        </p:txBody>
      </p:sp>
      <p:sp>
        <p:nvSpPr>
          <p:cNvPr id="16" name="Shape 14"/>
          <p:cNvSpPr/>
          <p:nvPr/>
        </p:nvSpPr>
        <p:spPr>
          <a:xfrm>
            <a:off x="548640" y="4770882"/>
            <a:ext cx="11094415" cy="451866"/>
          </a:xfrm>
          <a:prstGeom prst="roundRect">
            <a:avLst>
              <a:gd name="adj" fmla="val 14165"/>
            </a:avLst>
          </a:prstGeom>
          <a:solidFill>
            <a:srgbClr val="E6F5EF"/>
          </a:solidFill>
          <a:ln/>
        </p:spPr>
      </p:sp>
      <p:sp>
        <p:nvSpPr>
          <p:cNvPr id="17" name="Text 15"/>
          <p:cNvSpPr txBox="1"/>
          <p:nvPr/>
        </p:nvSpPr>
        <p:spPr>
          <a:xfrm>
            <a:off x="704088" y="4844034"/>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decubitus ulcer (L) (dekubitus ülseri): </a:t>
            </a:r>
            <a:r>
              <a:rPr lang="en-US" sz="1500" dirty="0">
                <a:solidFill>
                  <a:srgbClr val="1F2937"/>
                </a:solidFill>
                <a:latin typeface="Calibri" pitchFamily="34" charset="0"/>
                <a:ea typeface="Calibri" pitchFamily="34" charset="-122"/>
                <a:cs typeface="Calibri" pitchFamily="34" charset="-120"/>
              </a:rPr>
              <a:t>Genellikle yatalak hastalarda basınç altında kalan yerlerinde oluşan yara</a:t>
            </a:r>
            <a:endParaRPr lang="en-US" sz="1500" dirty="0"/>
          </a:p>
        </p:txBody>
      </p:sp>
      <p:sp>
        <p:nvSpPr>
          <p:cNvPr id="18" name="Shape 16"/>
          <p:cNvSpPr/>
          <p:nvPr/>
        </p:nvSpPr>
        <p:spPr>
          <a:xfrm>
            <a:off x="548640" y="5314188"/>
            <a:ext cx="11094415" cy="451866"/>
          </a:xfrm>
          <a:prstGeom prst="roundRect">
            <a:avLst>
              <a:gd name="adj" fmla="val 14165"/>
            </a:avLst>
          </a:prstGeom>
          <a:solidFill>
            <a:srgbClr val="E6F5EF"/>
          </a:solidFill>
          <a:ln/>
        </p:spPr>
      </p:sp>
      <p:sp>
        <p:nvSpPr>
          <p:cNvPr id="19" name="Text 17"/>
          <p:cNvSpPr txBox="1"/>
          <p:nvPr/>
        </p:nvSpPr>
        <p:spPr>
          <a:xfrm>
            <a:off x="704088" y="5387340"/>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paronychia (G) (paronişi): </a:t>
            </a:r>
            <a:r>
              <a:rPr lang="en-US" sz="1500" dirty="0">
                <a:solidFill>
                  <a:srgbClr val="1F2937"/>
                </a:solidFill>
                <a:latin typeface="Calibri" pitchFamily="34" charset="0"/>
                <a:ea typeface="Calibri" pitchFamily="34" charset="-122"/>
                <a:cs typeface="Calibri" pitchFamily="34" charset="-120"/>
              </a:rPr>
              <a:t>Tırnak yatağı iltihabı. Parmak tabanından başlayıp, tırnak yatağına kayan iltihap. Dolama</a:t>
            </a:r>
            <a:endParaRPr lang="en-US" sz="1500" dirty="0"/>
          </a:p>
        </p:txBody>
      </p:sp>
      <p:sp>
        <p:nvSpPr>
          <p:cNvPr id="20" name="Shape 18"/>
          <p:cNvSpPr/>
          <p:nvPr/>
        </p:nvSpPr>
        <p:spPr>
          <a:xfrm>
            <a:off x="548640" y="5857494"/>
            <a:ext cx="11094415" cy="451866"/>
          </a:xfrm>
          <a:prstGeom prst="roundRect">
            <a:avLst>
              <a:gd name="adj" fmla="val 14165"/>
            </a:avLst>
          </a:prstGeom>
          <a:solidFill>
            <a:srgbClr val="E6F5EF"/>
          </a:solidFill>
          <a:ln/>
        </p:spPr>
      </p:sp>
      <p:sp>
        <p:nvSpPr>
          <p:cNvPr id="21" name="Text 19"/>
          <p:cNvSpPr txBox="1"/>
          <p:nvPr/>
        </p:nvSpPr>
        <p:spPr>
          <a:xfrm>
            <a:off x="704088" y="5930646"/>
            <a:ext cx="10783519" cy="305562"/>
          </a:xfrm>
          <a:prstGeom prst="rect">
            <a:avLst/>
          </a:prstGeom>
          <a:noFill/>
          <a:ln/>
        </p:spPr>
        <p:txBody>
          <a:bodyPr wrap="square" lIns="0" tIns="0" rIns="0" bIns="0" rtlCol="0" anchor="t"/>
          <a:lstStyle/>
          <a:p>
            <a:pPr marL="0" indent="0">
              <a:lnSpc>
                <a:spcPct val="105000"/>
              </a:lnSpc>
              <a:buNone/>
            </a:pPr>
            <a:r>
              <a:rPr lang="en-US" sz="1500" b="1" dirty="0">
                <a:solidFill>
                  <a:srgbClr val="047857"/>
                </a:solidFill>
                <a:latin typeface="Calibri" pitchFamily="34" charset="0"/>
                <a:ea typeface="Calibri" pitchFamily="34" charset="-122"/>
                <a:cs typeface="Calibri" pitchFamily="34" charset="-120"/>
              </a:rPr>
              <a:t>pityriasis rosea (GL): </a:t>
            </a:r>
            <a:r>
              <a:rPr lang="en-US" sz="1500" dirty="0">
                <a:solidFill>
                  <a:srgbClr val="1F2937"/>
                </a:solidFill>
                <a:latin typeface="Calibri" pitchFamily="34" charset="0"/>
                <a:ea typeface="Calibri" pitchFamily="34" charset="-122"/>
                <a:cs typeface="Calibri" pitchFamily="34" charset="-120"/>
              </a:rPr>
              <a:t>Deri üzerinde pullanma gösteren, pembemsi renkte oval papüllerle belirgin hastalık</a:t>
            </a:r>
            <a:endParaRPr lang="en-US" sz="150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spTree>
      <p:nvGrpSpPr>
        <p:cNvPr id="1" name=""/>
        <p:cNvGrpSpPr/>
        <p:nvPr/>
      </p:nvGrpSpPr>
      <p:grpSpPr>
        <a:xfrm>
          <a:off x="0" y="0"/>
          <a:ext cx="0" cy="0"/>
          <a:chOff x="0" y="0"/>
          <a:chExt cx="0" cy="0"/>
        </a:xfrm>
      </p:grpSpPr>
      <p:sp>
        <p:nvSpPr>
          <p:cNvPr id="2" name="Shape 0"/>
          <p:cNvSpPr/>
          <p:nvPr/>
        </p:nvSpPr>
        <p:spPr>
          <a:xfrm>
            <a:off x="548640" y="384048"/>
            <a:ext cx="6473952" cy="310896"/>
          </a:xfrm>
          <a:prstGeom prst="roundRect">
            <a:avLst>
              <a:gd name="adj" fmla="val 50000"/>
            </a:avLst>
          </a:prstGeom>
          <a:solidFill>
            <a:srgbClr val="E6F5EF"/>
          </a:solidFill>
          <a:ln/>
        </p:spPr>
      </p:sp>
      <p:sp>
        <p:nvSpPr>
          <p:cNvPr id="3" name="Text 1"/>
          <p:cNvSpPr txBox="1"/>
          <p:nvPr/>
        </p:nvSpPr>
        <p:spPr>
          <a:xfrm>
            <a:off x="694944" y="384048"/>
            <a:ext cx="619963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  ·  DEVAM</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Tanı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330</a:t>
            </a:r>
            <a:endParaRPr lang="en-US" sz="1000" dirty="0"/>
          </a:p>
        </p:txBody>
      </p:sp>
      <p:sp>
        <p:nvSpPr>
          <p:cNvPr id="6" name="Shape 4"/>
          <p:cNvSpPr/>
          <p:nvPr/>
        </p:nvSpPr>
        <p:spPr>
          <a:xfrm>
            <a:off x="548640" y="1536243"/>
            <a:ext cx="11094415" cy="995883"/>
          </a:xfrm>
          <a:prstGeom prst="roundRect">
            <a:avLst>
              <a:gd name="adj" fmla="val 6427"/>
            </a:avLst>
          </a:prstGeom>
          <a:solidFill>
            <a:srgbClr val="E6F5EF"/>
          </a:solidFill>
          <a:ln/>
        </p:spPr>
      </p:sp>
      <p:sp>
        <p:nvSpPr>
          <p:cNvPr id="7" name="Text 5"/>
          <p:cNvSpPr txBox="1"/>
          <p:nvPr/>
        </p:nvSpPr>
        <p:spPr>
          <a:xfrm>
            <a:off x="704088" y="1609395"/>
            <a:ext cx="10783519" cy="849579"/>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lichen planus (GL) (liken planus): </a:t>
            </a:r>
            <a:r>
              <a:rPr lang="en-US" sz="1300" dirty="0">
                <a:solidFill>
                  <a:srgbClr val="1F2937"/>
                </a:solidFill>
                <a:latin typeface="Calibri" pitchFamily="34" charset="0"/>
                <a:ea typeface="Calibri" pitchFamily="34" charset="-122"/>
                <a:cs typeface="Calibri" pitchFamily="34" charset="-120"/>
              </a:rPr>
              <a:t>Birbirleriyle birleşerek kaba, pullu plaklar halini alabilen, küçük ayrı ayrı duran, köşeli papüllerin görüldüğü tekrarlayan, kaşıntılı iltihabi bir hastalık</a:t>
            </a:r>
            <a:endParaRPr lang="en-US" sz="1300" dirty="0"/>
          </a:p>
        </p:txBody>
      </p:sp>
      <p:sp>
        <p:nvSpPr>
          <p:cNvPr id="8" name="Shape 6"/>
          <p:cNvSpPr/>
          <p:nvPr/>
        </p:nvSpPr>
        <p:spPr>
          <a:xfrm>
            <a:off x="548640" y="2623566"/>
            <a:ext cx="11094415" cy="794461"/>
          </a:xfrm>
          <a:prstGeom prst="roundRect">
            <a:avLst>
              <a:gd name="adj" fmla="val 8057"/>
            </a:avLst>
          </a:prstGeom>
          <a:solidFill>
            <a:srgbClr val="E6F5EF"/>
          </a:solidFill>
          <a:ln/>
        </p:spPr>
      </p:sp>
      <p:sp>
        <p:nvSpPr>
          <p:cNvPr id="9" name="Text 7"/>
          <p:cNvSpPr txBox="1"/>
          <p:nvPr/>
        </p:nvSpPr>
        <p:spPr>
          <a:xfrm>
            <a:off x="704088" y="2696718"/>
            <a:ext cx="10783519" cy="648157"/>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albinism (albinizm): </a:t>
            </a:r>
            <a:r>
              <a:rPr lang="en-US" sz="1300" dirty="0">
                <a:solidFill>
                  <a:srgbClr val="1F2937"/>
                </a:solidFill>
                <a:latin typeface="Calibri" pitchFamily="34" charset="0"/>
                <a:ea typeface="Calibri" pitchFamily="34" charset="-122"/>
                <a:cs typeface="Calibri" pitchFamily="34" charset="-120"/>
              </a:rPr>
              <a:t>Deri, saç ve gözlerin pigment eksikliğine bağlı olarak doğuştan beyaz renk göstermesi hali. Kalıtsal metabolik bir bozukluktur. Albino</a:t>
            </a:r>
            <a:endParaRPr lang="en-US" sz="1300" dirty="0"/>
          </a:p>
        </p:txBody>
      </p:sp>
      <p:sp>
        <p:nvSpPr>
          <p:cNvPr id="10" name="Shape 8"/>
          <p:cNvSpPr/>
          <p:nvPr/>
        </p:nvSpPr>
        <p:spPr>
          <a:xfrm>
            <a:off x="548640" y="3582670"/>
            <a:ext cx="5410048" cy="593039"/>
          </a:xfrm>
          <a:prstGeom prst="roundRect">
            <a:avLst>
              <a:gd name="adj" fmla="val 10793"/>
            </a:avLst>
          </a:prstGeom>
          <a:solidFill>
            <a:srgbClr val="E6F5EF"/>
          </a:solidFill>
          <a:ln/>
        </p:spPr>
      </p:sp>
      <p:sp>
        <p:nvSpPr>
          <p:cNvPr id="11" name="Text 9"/>
          <p:cNvSpPr txBox="1"/>
          <p:nvPr/>
        </p:nvSpPr>
        <p:spPr>
          <a:xfrm>
            <a:off x="704088" y="3655822"/>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icthyosis (GL) (iktiyoz): </a:t>
            </a:r>
            <a:r>
              <a:rPr lang="en-US" sz="1300" dirty="0">
                <a:solidFill>
                  <a:srgbClr val="1F2937"/>
                </a:solidFill>
                <a:latin typeface="Calibri" pitchFamily="34" charset="0"/>
                <a:ea typeface="Calibri" pitchFamily="34" charset="-122"/>
                <a:cs typeface="Calibri" pitchFamily="34" charset="-120"/>
              </a:rPr>
              <a:t>Deri yüzeyinde aşırı pullanma gösteren herediter bir grup hastalık</a:t>
            </a:r>
            <a:endParaRPr lang="en-US" sz="1300" dirty="0"/>
          </a:p>
        </p:txBody>
      </p:sp>
      <p:sp>
        <p:nvSpPr>
          <p:cNvPr id="12" name="Shape 10"/>
          <p:cNvSpPr/>
          <p:nvPr/>
        </p:nvSpPr>
        <p:spPr>
          <a:xfrm>
            <a:off x="548640" y="4267149"/>
            <a:ext cx="5410048" cy="593039"/>
          </a:xfrm>
          <a:prstGeom prst="roundRect">
            <a:avLst>
              <a:gd name="adj" fmla="val 10793"/>
            </a:avLst>
          </a:prstGeom>
          <a:solidFill>
            <a:srgbClr val="E6F5EF"/>
          </a:solidFill>
          <a:ln/>
        </p:spPr>
      </p:sp>
      <p:sp>
        <p:nvSpPr>
          <p:cNvPr id="13" name="Text 11"/>
          <p:cNvSpPr txBox="1"/>
          <p:nvPr/>
        </p:nvSpPr>
        <p:spPr>
          <a:xfrm>
            <a:off x="704088" y="4340301"/>
            <a:ext cx="5099152" cy="446735"/>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vitiligo (L): </a:t>
            </a:r>
            <a:r>
              <a:rPr lang="en-US" sz="1300" dirty="0">
                <a:solidFill>
                  <a:srgbClr val="1F2937"/>
                </a:solidFill>
                <a:latin typeface="Calibri" pitchFamily="34" charset="0"/>
                <a:ea typeface="Calibri" pitchFamily="34" charset="-122"/>
                <a:cs typeface="Calibri" pitchFamily="34" charset="-120"/>
              </a:rPr>
              <a:t>Deride pigment kaybına bağlı olarak beyaz lekelerin oluşması</a:t>
            </a:r>
            <a:endParaRPr lang="en-US" sz="1300" dirty="0"/>
          </a:p>
        </p:txBody>
      </p:sp>
      <p:sp>
        <p:nvSpPr>
          <p:cNvPr id="14" name="Shape 12"/>
          <p:cNvSpPr/>
          <p:nvPr/>
        </p:nvSpPr>
        <p:spPr>
          <a:xfrm>
            <a:off x="548640" y="4951628"/>
            <a:ext cx="5410048" cy="391617"/>
          </a:xfrm>
          <a:prstGeom prst="roundRect">
            <a:avLst>
              <a:gd name="adj" fmla="val 16345"/>
            </a:avLst>
          </a:prstGeom>
          <a:solidFill>
            <a:srgbClr val="E6F5EF"/>
          </a:solidFill>
          <a:ln/>
        </p:spPr>
      </p:sp>
      <p:sp>
        <p:nvSpPr>
          <p:cNvPr id="15" name="Text 13"/>
          <p:cNvSpPr txBox="1"/>
          <p:nvPr/>
        </p:nvSpPr>
        <p:spPr>
          <a:xfrm>
            <a:off x="704088" y="5024780"/>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miliaria (L) (miliarya): </a:t>
            </a:r>
            <a:r>
              <a:rPr lang="en-US" sz="1300" dirty="0">
                <a:solidFill>
                  <a:srgbClr val="1F2937"/>
                </a:solidFill>
                <a:latin typeface="Calibri" pitchFamily="34" charset="0"/>
                <a:ea typeface="Calibri" pitchFamily="34" charset="-122"/>
                <a:cs typeface="Calibri" pitchFamily="34" charset="-120"/>
              </a:rPr>
              <a:t>İsilik</a:t>
            </a:r>
            <a:endParaRPr lang="en-US" sz="1300" dirty="0"/>
          </a:p>
        </p:txBody>
      </p:sp>
      <p:sp>
        <p:nvSpPr>
          <p:cNvPr id="16" name="Shape 14"/>
          <p:cNvSpPr/>
          <p:nvPr/>
        </p:nvSpPr>
        <p:spPr>
          <a:xfrm>
            <a:off x="548640" y="5434686"/>
            <a:ext cx="5410048" cy="391617"/>
          </a:xfrm>
          <a:prstGeom prst="roundRect">
            <a:avLst>
              <a:gd name="adj" fmla="val 16345"/>
            </a:avLst>
          </a:prstGeom>
          <a:solidFill>
            <a:srgbClr val="E6F5EF"/>
          </a:solidFill>
          <a:ln/>
        </p:spPr>
      </p:sp>
      <p:sp>
        <p:nvSpPr>
          <p:cNvPr id="17" name="Text 15"/>
          <p:cNvSpPr txBox="1"/>
          <p:nvPr/>
        </p:nvSpPr>
        <p:spPr>
          <a:xfrm>
            <a:off x="704088" y="5507838"/>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nevus (L) (nevüs): </a:t>
            </a:r>
            <a:r>
              <a:rPr lang="en-US" sz="1300" dirty="0">
                <a:solidFill>
                  <a:srgbClr val="1F2937"/>
                </a:solidFill>
                <a:latin typeface="Calibri" pitchFamily="34" charset="0"/>
                <a:ea typeface="Calibri" pitchFamily="34" charset="-122"/>
                <a:cs typeface="Calibri" pitchFamily="34" charset="-120"/>
              </a:rPr>
              <a:t>Ben</a:t>
            </a:r>
            <a:endParaRPr lang="en-US" sz="1300" dirty="0"/>
          </a:p>
        </p:txBody>
      </p:sp>
      <p:sp>
        <p:nvSpPr>
          <p:cNvPr id="18" name="Shape 16"/>
          <p:cNvSpPr/>
          <p:nvPr/>
        </p:nvSpPr>
        <p:spPr>
          <a:xfrm>
            <a:off x="548640" y="5917743"/>
            <a:ext cx="5410048" cy="391617"/>
          </a:xfrm>
          <a:prstGeom prst="roundRect">
            <a:avLst>
              <a:gd name="adj" fmla="val 16345"/>
            </a:avLst>
          </a:prstGeom>
          <a:solidFill>
            <a:srgbClr val="E6F5EF"/>
          </a:solidFill>
          <a:ln/>
        </p:spPr>
      </p:sp>
      <p:sp>
        <p:nvSpPr>
          <p:cNvPr id="19" name="Text 17"/>
          <p:cNvSpPr txBox="1"/>
          <p:nvPr/>
        </p:nvSpPr>
        <p:spPr>
          <a:xfrm>
            <a:off x="704088" y="5990895"/>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ephelides (G) (efelid): </a:t>
            </a:r>
            <a:r>
              <a:rPr lang="en-US" sz="1300" dirty="0">
                <a:solidFill>
                  <a:srgbClr val="1F2937"/>
                </a:solidFill>
                <a:latin typeface="Calibri" pitchFamily="34" charset="0"/>
                <a:ea typeface="Calibri" pitchFamily="34" charset="-122"/>
                <a:cs typeface="Calibri" pitchFamily="34" charset="-120"/>
              </a:rPr>
              <a:t>Çil, benek</a:t>
            </a:r>
            <a:endParaRPr lang="en-US" sz="1300" dirty="0"/>
          </a:p>
        </p:txBody>
      </p:sp>
      <p:sp>
        <p:nvSpPr>
          <p:cNvPr id="20" name="Shape 18"/>
          <p:cNvSpPr/>
          <p:nvPr/>
        </p:nvSpPr>
        <p:spPr>
          <a:xfrm>
            <a:off x="6233008" y="3582670"/>
            <a:ext cx="5410048" cy="391617"/>
          </a:xfrm>
          <a:prstGeom prst="roundRect">
            <a:avLst>
              <a:gd name="adj" fmla="val 16345"/>
            </a:avLst>
          </a:prstGeom>
          <a:solidFill>
            <a:srgbClr val="E6F5EF"/>
          </a:solidFill>
          <a:ln/>
        </p:spPr>
      </p:sp>
      <p:sp>
        <p:nvSpPr>
          <p:cNvPr id="21" name="Text 19"/>
          <p:cNvSpPr txBox="1"/>
          <p:nvPr/>
        </p:nvSpPr>
        <p:spPr>
          <a:xfrm>
            <a:off x="6388456" y="3655822"/>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verrucae vulgaris (L) (verruka vulgaris): </a:t>
            </a:r>
            <a:r>
              <a:rPr lang="en-US" sz="1300" dirty="0">
                <a:solidFill>
                  <a:srgbClr val="1F2937"/>
                </a:solidFill>
                <a:latin typeface="Calibri" pitchFamily="34" charset="0"/>
                <a:ea typeface="Calibri" pitchFamily="34" charset="-122"/>
                <a:cs typeface="Calibri" pitchFamily="34" charset="-120"/>
              </a:rPr>
              <a:t>Siğil</a:t>
            </a:r>
            <a:endParaRPr lang="en-US" sz="1300" dirty="0"/>
          </a:p>
        </p:txBody>
      </p:sp>
      <p:sp>
        <p:nvSpPr>
          <p:cNvPr id="22" name="Shape 20"/>
          <p:cNvSpPr/>
          <p:nvPr/>
        </p:nvSpPr>
        <p:spPr>
          <a:xfrm>
            <a:off x="6233008" y="4065727"/>
            <a:ext cx="5410048" cy="391617"/>
          </a:xfrm>
          <a:prstGeom prst="roundRect">
            <a:avLst>
              <a:gd name="adj" fmla="val 16345"/>
            </a:avLst>
          </a:prstGeom>
          <a:solidFill>
            <a:srgbClr val="E6F5EF"/>
          </a:solidFill>
          <a:ln/>
        </p:spPr>
      </p:sp>
      <p:sp>
        <p:nvSpPr>
          <p:cNvPr id="23" name="Text 21"/>
          <p:cNvSpPr txBox="1"/>
          <p:nvPr/>
        </p:nvSpPr>
        <p:spPr>
          <a:xfrm>
            <a:off x="6388456" y="4138879"/>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alopesia (G) (alopesi): </a:t>
            </a:r>
            <a:r>
              <a:rPr lang="en-US" sz="1300" dirty="0">
                <a:solidFill>
                  <a:srgbClr val="1F2937"/>
                </a:solidFill>
                <a:latin typeface="Calibri" pitchFamily="34" charset="0"/>
                <a:ea typeface="Calibri" pitchFamily="34" charset="-122"/>
                <a:cs typeface="Calibri" pitchFamily="34" charset="-120"/>
              </a:rPr>
              <a:t>Kellik, saçların dökülmesi</a:t>
            </a:r>
            <a:endParaRPr lang="en-US" sz="1300" dirty="0"/>
          </a:p>
        </p:txBody>
      </p:sp>
      <p:sp>
        <p:nvSpPr>
          <p:cNvPr id="24" name="Shape 22"/>
          <p:cNvSpPr/>
          <p:nvPr/>
        </p:nvSpPr>
        <p:spPr>
          <a:xfrm>
            <a:off x="6233008" y="4548784"/>
            <a:ext cx="5410048" cy="391617"/>
          </a:xfrm>
          <a:prstGeom prst="roundRect">
            <a:avLst>
              <a:gd name="adj" fmla="val 16345"/>
            </a:avLst>
          </a:prstGeom>
          <a:solidFill>
            <a:srgbClr val="E6F5EF"/>
          </a:solidFill>
          <a:ln/>
        </p:spPr>
      </p:sp>
      <p:sp>
        <p:nvSpPr>
          <p:cNvPr id="25" name="Text 23"/>
          <p:cNvSpPr txBox="1"/>
          <p:nvPr/>
        </p:nvSpPr>
        <p:spPr>
          <a:xfrm>
            <a:off x="6388456" y="4621936"/>
            <a:ext cx="5099152" cy="245313"/>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scabiasis (L) (skabiyazis): </a:t>
            </a:r>
            <a:r>
              <a:rPr lang="en-US" sz="1300" dirty="0">
                <a:solidFill>
                  <a:srgbClr val="1F2937"/>
                </a:solidFill>
                <a:latin typeface="Calibri" pitchFamily="34" charset="0"/>
                <a:ea typeface="Calibri" pitchFamily="34" charset="-122"/>
                <a:cs typeface="Calibri" pitchFamily="34" charset="-120"/>
              </a:rPr>
              <a:t>Uyuz</a:t>
            </a:r>
            <a:endParaRPr lang="en-US" sz="1300" dirty="0"/>
          </a:p>
        </p:txBody>
      </p:sp>
      <p:sp>
        <p:nvSpPr>
          <p:cNvPr id="26" name="Shape 24"/>
          <p:cNvSpPr/>
          <p:nvPr/>
        </p:nvSpPr>
        <p:spPr>
          <a:xfrm>
            <a:off x="6233008" y="5031842"/>
            <a:ext cx="5410048" cy="794461"/>
          </a:xfrm>
          <a:prstGeom prst="roundRect">
            <a:avLst>
              <a:gd name="adj" fmla="val 8057"/>
            </a:avLst>
          </a:prstGeom>
          <a:solidFill>
            <a:srgbClr val="E6F5EF"/>
          </a:solidFill>
          <a:ln/>
        </p:spPr>
      </p:sp>
      <p:sp>
        <p:nvSpPr>
          <p:cNvPr id="27" name="Text 25"/>
          <p:cNvSpPr txBox="1"/>
          <p:nvPr/>
        </p:nvSpPr>
        <p:spPr>
          <a:xfrm>
            <a:off x="6388456" y="5104994"/>
            <a:ext cx="5099152" cy="648157"/>
          </a:xfrm>
          <a:prstGeom prst="rect">
            <a:avLst/>
          </a:prstGeom>
          <a:noFill/>
          <a:ln/>
        </p:spPr>
        <p:txBody>
          <a:bodyPr wrap="square" lIns="0" tIns="0" rIns="0" bIns="0" rtlCol="0" anchor="t"/>
          <a:lstStyle/>
          <a:p>
            <a:pPr marL="0" indent="0">
              <a:lnSpc>
                <a:spcPct val="105000"/>
              </a:lnSpc>
              <a:buNone/>
            </a:pPr>
            <a:r>
              <a:rPr lang="en-US" sz="1300" b="1" dirty="0">
                <a:solidFill>
                  <a:srgbClr val="047857"/>
                </a:solidFill>
                <a:latin typeface="Calibri" pitchFamily="34" charset="0"/>
                <a:ea typeface="Calibri" pitchFamily="34" charset="-122"/>
                <a:cs typeface="Calibri" pitchFamily="34" charset="-120"/>
              </a:rPr>
              <a:t>keratoacanthoma (G) (keratoakantoma): </a:t>
            </a:r>
            <a:r>
              <a:rPr lang="en-US" sz="1300" dirty="0">
                <a:solidFill>
                  <a:srgbClr val="1F2937"/>
                </a:solidFill>
                <a:latin typeface="Calibri" pitchFamily="34" charset="0"/>
                <a:ea typeface="Calibri" pitchFamily="34" charset="-122"/>
                <a:cs typeface="Calibri" pitchFamily="34" charset="-120"/>
              </a:rPr>
              <a:t>Merkezine keratinöz madde içeren bir krater bulunan, yuvarlak, sert ve genellikle et renginde bir lezyon</a:t>
            </a:r>
            <a:endParaRPr lang="en-US" sz="130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spTree>
      <p:nvGrpSpPr>
        <p:cNvPr id="1" name=""/>
        <p:cNvGrpSpPr/>
        <p:nvPr/>
      </p:nvGrpSpPr>
      <p:grpSpPr>
        <a:xfrm>
          <a:off x="0" y="0"/>
          <a:ext cx="0" cy="0"/>
          <a:chOff x="0" y="0"/>
          <a:chExt cx="0" cy="0"/>
        </a:xfrm>
      </p:grpSpPr>
      <p:sp>
        <p:nvSpPr>
          <p:cNvPr id="2" name="Shape 0"/>
          <p:cNvSpPr/>
          <p:nvPr/>
        </p:nvSpPr>
        <p:spPr>
          <a:xfrm>
            <a:off x="548640" y="384048"/>
            <a:ext cx="5193792" cy="310896"/>
          </a:xfrm>
          <a:prstGeom prst="roundRect">
            <a:avLst>
              <a:gd name="adj" fmla="val 50000"/>
            </a:avLst>
          </a:prstGeom>
          <a:solidFill>
            <a:srgbClr val="E6F5EF"/>
          </a:solidFill>
          <a:ln/>
        </p:spPr>
      </p:sp>
      <p:sp>
        <p:nvSpPr>
          <p:cNvPr id="3" name="Text 1"/>
          <p:cNvSpPr txBox="1"/>
          <p:nvPr/>
        </p:nvSpPr>
        <p:spPr>
          <a:xfrm>
            <a:off x="694944" y="384048"/>
            <a:ext cx="4919472" cy="310896"/>
          </a:xfrm>
          <a:prstGeom prst="rect">
            <a:avLst/>
          </a:prstGeom>
          <a:noFill/>
          <a:ln/>
        </p:spPr>
        <p:txBody>
          <a:bodyPr wrap="square" lIns="0" tIns="0" rIns="0" bIns="0" rtlCol="0" anchor="ctr"/>
          <a:lstStyle/>
          <a:p>
            <a:pPr marL="0" indent="0">
              <a:buNone/>
            </a:pPr>
            <a:r>
              <a:rPr lang="en-US" sz="1000" b="1" kern="0" spc="60" dirty="0">
                <a:solidFill>
                  <a:srgbClr val="047857"/>
                </a:solidFill>
                <a:latin typeface="Calibri" pitchFamily="34" charset="0"/>
                <a:ea typeface="Calibri" pitchFamily="34" charset="-122"/>
                <a:cs typeface="Calibri" pitchFamily="34" charset="-120"/>
              </a:rPr>
              <a:t>BÖLÜM 13  ·  DUYU ORGANLARI TERİMLERİ</a:t>
            </a:r>
            <a:endParaRPr lang="en-US" sz="1000" dirty="0"/>
          </a:p>
        </p:txBody>
      </p:sp>
      <p:sp>
        <p:nvSpPr>
          <p:cNvPr id="4" name="Text 2"/>
          <p:cNvSpPr txBox="1"/>
          <p:nvPr/>
        </p:nvSpPr>
        <p:spPr>
          <a:xfrm>
            <a:off x="548640" y="804672"/>
            <a:ext cx="11094415" cy="566928"/>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Ameliyat Terimleri</a:t>
            </a:r>
            <a:endParaRPr lang="en-US" sz="2900" dirty="0"/>
          </a:p>
        </p:txBody>
      </p:sp>
      <p:sp>
        <p:nvSpPr>
          <p:cNvPr id="5" name="Text 3"/>
          <p:cNvSpPr txBox="1"/>
          <p:nvPr/>
        </p:nvSpPr>
        <p:spPr>
          <a:xfrm>
            <a:off x="11048695" y="6291072"/>
            <a:ext cx="64008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331</a:t>
            </a:r>
            <a:endParaRPr lang="en-US" sz="1000" dirty="0"/>
          </a:p>
        </p:txBody>
      </p:sp>
      <p:sp>
        <p:nvSpPr>
          <p:cNvPr id="6" name="Shape 4"/>
          <p:cNvSpPr/>
          <p:nvPr/>
        </p:nvSpPr>
        <p:spPr>
          <a:xfrm>
            <a:off x="548640" y="3308299"/>
            <a:ext cx="11094415" cy="821131"/>
          </a:xfrm>
          <a:prstGeom prst="roundRect">
            <a:avLst>
              <a:gd name="adj" fmla="val 7795"/>
            </a:avLst>
          </a:prstGeom>
          <a:solidFill>
            <a:srgbClr val="E6F5EF"/>
          </a:solidFill>
          <a:ln/>
        </p:spPr>
      </p:sp>
      <p:sp>
        <p:nvSpPr>
          <p:cNvPr id="7" name="Text 5"/>
          <p:cNvSpPr txBox="1"/>
          <p:nvPr/>
        </p:nvSpPr>
        <p:spPr>
          <a:xfrm>
            <a:off x="704088" y="3381451"/>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dermatoplasty (G) (dermatoplasti): </a:t>
            </a:r>
            <a:r>
              <a:rPr lang="en-US" sz="1800" dirty="0">
                <a:solidFill>
                  <a:srgbClr val="1F2937"/>
                </a:solidFill>
                <a:latin typeface="Calibri" pitchFamily="34" charset="0"/>
                <a:ea typeface="Calibri" pitchFamily="34" charset="-122"/>
                <a:cs typeface="Calibri" pitchFamily="34" charset="-120"/>
              </a:rPr>
              <a:t>Cildin bir yerini tamir için vücudun başka bir yerinden bir cilt parçası kesip bu yere yapıştırma ameliyatı</a:t>
            </a:r>
            <a:endParaRPr lang="en-US" sz="1800" dirty="0"/>
          </a:p>
        </p:txBody>
      </p:sp>
      <p:sp>
        <p:nvSpPr>
          <p:cNvPr id="8" name="Shape 6"/>
          <p:cNvSpPr/>
          <p:nvPr/>
        </p:nvSpPr>
        <p:spPr>
          <a:xfrm>
            <a:off x="548640" y="4220870"/>
            <a:ext cx="11094415" cy="542239"/>
          </a:xfrm>
          <a:prstGeom prst="roundRect">
            <a:avLst>
              <a:gd name="adj" fmla="val 11804"/>
            </a:avLst>
          </a:prstGeom>
          <a:solidFill>
            <a:srgbClr val="E6F5EF"/>
          </a:solidFill>
          <a:ln/>
        </p:spPr>
      </p:sp>
      <p:sp>
        <p:nvSpPr>
          <p:cNvPr id="9" name="Text 7"/>
          <p:cNvSpPr txBox="1"/>
          <p:nvPr/>
        </p:nvSpPr>
        <p:spPr>
          <a:xfrm>
            <a:off x="704088" y="4294022"/>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excoriation (L) (ekskoryasyon): </a:t>
            </a:r>
            <a:r>
              <a:rPr lang="en-US" sz="1800" dirty="0">
                <a:solidFill>
                  <a:srgbClr val="1F2937"/>
                </a:solidFill>
                <a:latin typeface="Calibri" pitchFamily="34" charset="0"/>
                <a:ea typeface="Calibri" pitchFamily="34" charset="-122"/>
                <a:cs typeface="Calibri" pitchFamily="34" charset="-120"/>
              </a:rPr>
              <a:t>Cildin bir kısmının çıkarılması</a:t>
            </a:r>
            <a:endParaRPr lang="en-US" sz="1800" dirty="0"/>
          </a:p>
        </p:txBody>
      </p:sp>
      <p:sp>
        <p:nvSpPr>
          <p:cNvPr id="10" name="Shape 8"/>
          <p:cNvSpPr/>
          <p:nvPr/>
        </p:nvSpPr>
        <p:spPr>
          <a:xfrm>
            <a:off x="548640" y="4854550"/>
            <a:ext cx="11094415" cy="821131"/>
          </a:xfrm>
          <a:prstGeom prst="roundRect">
            <a:avLst>
              <a:gd name="adj" fmla="val 7795"/>
            </a:avLst>
          </a:prstGeom>
          <a:solidFill>
            <a:srgbClr val="E6F5EF"/>
          </a:solidFill>
          <a:ln/>
        </p:spPr>
      </p:sp>
      <p:sp>
        <p:nvSpPr>
          <p:cNvPr id="11" name="Text 9"/>
          <p:cNvSpPr txBox="1"/>
          <p:nvPr/>
        </p:nvSpPr>
        <p:spPr>
          <a:xfrm>
            <a:off x="704088" y="4927702"/>
            <a:ext cx="10783519" cy="674827"/>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dermatome (G) (dermatom): </a:t>
            </a:r>
            <a:r>
              <a:rPr lang="en-US" sz="1800" dirty="0">
                <a:solidFill>
                  <a:srgbClr val="1F2937"/>
                </a:solidFill>
                <a:latin typeface="Calibri" pitchFamily="34" charset="0"/>
                <a:ea typeface="Calibri" pitchFamily="34" charset="-122"/>
                <a:cs typeface="Calibri" pitchFamily="34" charset="-120"/>
              </a:rPr>
              <a:t>Greft olarak hazırlanmak üzere çeşitli kalınlıklarda deri plakları kesebilen araç</a:t>
            </a:r>
            <a:endParaRPr lang="en-US" sz="1800" dirty="0"/>
          </a:p>
        </p:txBody>
      </p:sp>
      <p:sp>
        <p:nvSpPr>
          <p:cNvPr id="12" name="Shape 10"/>
          <p:cNvSpPr/>
          <p:nvPr/>
        </p:nvSpPr>
        <p:spPr>
          <a:xfrm>
            <a:off x="548640" y="5767121"/>
            <a:ext cx="11094415" cy="542239"/>
          </a:xfrm>
          <a:prstGeom prst="roundRect">
            <a:avLst>
              <a:gd name="adj" fmla="val 11804"/>
            </a:avLst>
          </a:prstGeom>
          <a:solidFill>
            <a:srgbClr val="E6F5EF"/>
          </a:solidFill>
          <a:ln/>
        </p:spPr>
      </p:sp>
      <p:sp>
        <p:nvSpPr>
          <p:cNvPr id="13" name="Text 11"/>
          <p:cNvSpPr txBox="1"/>
          <p:nvPr/>
        </p:nvSpPr>
        <p:spPr>
          <a:xfrm>
            <a:off x="704088" y="5840273"/>
            <a:ext cx="10783519" cy="395935"/>
          </a:xfrm>
          <a:prstGeom prst="rect">
            <a:avLst/>
          </a:prstGeom>
          <a:noFill/>
          <a:ln/>
        </p:spPr>
        <p:txBody>
          <a:bodyPr wrap="square" lIns="0" tIns="0" rIns="0" bIns="0" rtlCol="0" anchor="t"/>
          <a:lstStyle/>
          <a:p>
            <a:pPr marL="0" indent="0">
              <a:lnSpc>
                <a:spcPct val="105000"/>
              </a:lnSpc>
              <a:buNone/>
            </a:pPr>
            <a:r>
              <a:rPr lang="en-US" sz="1800" b="1" dirty="0">
                <a:solidFill>
                  <a:srgbClr val="047857"/>
                </a:solidFill>
                <a:latin typeface="Calibri" pitchFamily="34" charset="0"/>
                <a:ea typeface="Calibri" pitchFamily="34" charset="-122"/>
                <a:cs typeface="Calibri" pitchFamily="34" charset="-120"/>
              </a:rPr>
              <a:t>curretage (F) (küretaj): </a:t>
            </a:r>
            <a:r>
              <a:rPr lang="en-US" sz="1800" dirty="0">
                <a:solidFill>
                  <a:srgbClr val="1F2937"/>
                </a:solidFill>
                <a:latin typeface="Calibri" pitchFamily="34" charset="0"/>
                <a:ea typeface="Calibri" pitchFamily="34" charset="-122"/>
                <a:cs typeface="Calibri" pitchFamily="34" charset="-120"/>
              </a:rPr>
              <a:t>Derideki yüzeysel lezyonların deri küretiyle (kazıcı alet) alınması</a:t>
            </a:r>
            <a:endParaRPr lang="en-US" sz="180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718000" cy="310896"/>
          </a:xfrm>
          <a:prstGeom prst="roundRect">
            <a:avLst>
              <a:gd name="adj" fmla="val 50000"/>
            </a:avLst>
          </a:prstGeom>
          <a:solidFill>
            <a:srgbClr val="EAF6F4"/>
          </a:solidFill>
          <a:ln/>
        </p:spPr>
      </p:sp>
      <p:sp>
        <p:nvSpPr>
          <p:cNvPr id="3" name="Label"/>
          <p:cNvSpPr txBox="1"/>
          <p:nvPr/>
        </p:nvSpPr>
        <p:spPr>
          <a:xfrm>
            <a:off x="694944" y="384048"/>
            <a:ext cx="2443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F766E"/>
                </a:solidFill>
                <a:latin typeface="Calibri" pitchFamily="34" charset="0"/>
                <a:ea typeface="Calibri" pitchFamily="34" charset="-122"/>
                <a:cs typeface="Calibri" pitchFamily="34" charset="-120"/>
              </a:rPr>
              <a:t>BÖLÜM 1  ·  TERMİNOLOJİYE GİRİŞ</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AF6F4"/>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F766E"/>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Terim, belirli bir alanda tek ve sabit anlamı olan sözcüktür; tıbbi terminoloji tıp alanındaki terimleri inceler. Bu bölümde tıp terimlerinin Latince ve Grekçe kökenleri, Türkiye'de tıp dilinin tarihsel gelişimi ve Latince sözcüklerin okunuş kuralları ele alındı. Terimlerin kök, önek, sonek ve kaynaştırma ünlüsünden oluşan yapısı, terim çözümleme kuralları ile sistemlere göre en sık kullanılan kökler, önekler, sonekler ve eş anlamlı terimler incelendi.</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F766E"/>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0F766E"/>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Terim ve terminoloji kavramları; terimlerin tek anlamlı olma özelliği</a:t>
            </a:r>
          </a:p>
          <a:p>
            <a:pPr marL="256032" indent="-201168">
              <a:lnSpc>
                <a:spcPct val="105000"/>
              </a:lnSpc>
              <a:spcBef>
                <a:spcPts val="900"/>
              </a:spcBef>
              <a:buClr>
                <a:srgbClr val="0F766E"/>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Tıp terimlerinin Latince ve Grekçe kökenleri ile Türkiye'de tıp dilinin gelişimi</a:t>
            </a:r>
          </a:p>
          <a:p>
            <a:pPr marL="256032" indent="-201168">
              <a:lnSpc>
                <a:spcPct val="105000"/>
              </a:lnSpc>
              <a:spcBef>
                <a:spcPts val="900"/>
              </a:spcBef>
              <a:buClr>
                <a:srgbClr val="0F766E"/>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Latince sözcüklerin okunuş kuralları (c, ae, y, rh, ch, sch, g, s vb.)</a:t>
            </a:r>
          </a:p>
          <a:p>
            <a:pPr marL="256032" indent="-201168">
              <a:lnSpc>
                <a:spcPct val="105000"/>
              </a:lnSpc>
              <a:spcBef>
                <a:spcPts val="900"/>
              </a:spcBef>
              <a:buClr>
                <a:srgbClr val="0F766E"/>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Kök, önek, sonek, kaynaştırma ünlüsü ve birleşik kök kavramları</a:t>
            </a:r>
          </a:p>
          <a:p>
            <a:pPr marL="256032" indent="-201168">
              <a:lnSpc>
                <a:spcPct val="105000"/>
              </a:lnSpc>
              <a:spcBef>
                <a:spcPts val="900"/>
              </a:spcBef>
              <a:buClr>
                <a:srgbClr val="0F766E"/>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Sistemlere ve vücut bölgelerine göre sık kullanılan kökler</a:t>
            </a:r>
          </a:p>
          <a:p>
            <a:pPr marL="256032" indent="-201168">
              <a:lnSpc>
                <a:spcPct val="105000"/>
              </a:lnSpc>
              <a:spcBef>
                <a:spcPts val="900"/>
              </a:spcBef>
              <a:buClr>
                <a:srgbClr val="0F766E"/>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Anlam gruplarına göre önekler ve sonekler; çok kullanılan eş anlamlı terimler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97</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718000" cy="310896"/>
          </a:xfrm>
          <a:prstGeom prst="roundRect">
            <a:avLst>
              <a:gd name="adj" fmla="val 50000"/>
            </a:avLst>
          </a:prstGeom>
          <a:solidFill>
            <a:srgbClr val="EAF6F4"/>
          </a:solidFill>
          <a:ln/>
        </p:spPr>
      </p:sp>
      <p:sp>
        <p:nvSpPr>
          <p:cNvPr id="3" name="Label"/>
          <p:cNvSpPr txBox="1"/>
          <p:nvPr/>
        </p:nvSpPr>
        <p:spPr>
          <a:xfrm>
            <a:off x="694944" y="384048"/>
            <a:ext cx="2443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F766E"/>
                </a:solidFill>
                <a:latin typeface="Calibri" pitchFamily="34" charset="0"/>
                <a:ea typeface="Calibri" pitchFamily="34" charset="-122"/>
                <a:cs typeface="Calibri" pitchFamily="34" charset="-120"/>
              </a:rPr>
              <a:t>BÖLÜM 1  ·  TERMİNOLOJİYE GİRİŞ</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F766E"/>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0F766E"/>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Terim ve tıbbi terminoloji kavramlarını tanımlar, tıp dilinin tarihsel gelişimini açıklar.</a:t>
            </a:r>
          </a:p>
          <a:p>
            <a:pPr marL="685800" indent="-685800">
              <a:lnSpc>
                <a:spcPct val="105000"/>
              </a:lnSpc>
              <a:spcBef>
                <a:spcPts val="1000"/>
              </a:spcBef>
              <a:buNone/>
              <a:tabLst>
                <a:tab pos="685800" algn="l"/>
              </a:tabLst>
            </a:pPr>
            <a:r>
              <a:rPr lang="tr-TR" sz="1500" b="1" i="0" dirty="0">
                <a:solidFill>
                  <a:srgbClr val="0F766E"/>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Latince okunuş kurallarını uygulayarak tıp terimlerini doğru okur ve söyler.</a:t>
            </a:r>
          </a:p>
          <a:p>
            <a:pPr marL="685800" indent="-685800">
              <a:lnSpc>
                <a:spcPct val="105000"/>
              </a:lnSpc>
              <a:spcBef>
                <a:spcPts val="1000"/>
              </a:spcBef>
              <a:buNone/>
              <a:tabLst>
                <a:tab pos="685800" algn="l"/>
              </a:tabLst>
            </a:pPr>
            <a:r>
              <a:rPr lang="tr-TR" sz="1500" b="1" i="0" dirty="0">
                <a:solidFill>
                  <a:srgbClr val="0F766E"/>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Bir tıp terimini kök, önek, sonek ve kaynaştırma ünlüsüne ayırarak anlamını çıkarır.</a:t>
            </a:r>
          </a:p>
          <a:p>
            <a:pPr marL="685800" indent="-685800">
              <a:lnSpc>
                <a:spcPct val="105000"/>
              </a:lnSpc>
              <a:spcBef>
                <a:spcPts val="1000"/>
              </a:spcBef>
              <a:buNone/>
              <a:tabLst>
                <a:tab pos="685800" algn="l"/>
              </a:tabLst>
            </a:pPr>
            <a:r>
              <a:rPr lang="tr-TR" sz="1500" b="1" i="0" dirty="0">
                <a:solidFill>
                  <a:srgbClr val="0F766E"/>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kullanılan kök, önek ve sonekleri kullanarak yeni terimlerin anlamını yorumlar.</a:t>
            </a:r>
          </a:p>
          <a:p>
            <a:pPr marL="685800" indent="-685800">
              <a:lnSpc>
                <a:spcPct val="105000"/>
              </a:lnSpc>
              <a:spcBef>
                <a:spcPts val="1000"/>
              </a:spcBef>
              <a:buNone/>
              <a:tabLst>
                <a:tab pos="685800" algn="l"/>
              </a:tabLst>
            </a:pPr>
            <a:r>
              <a:rPr lang="tr-TR" sz="1500" b="1" i="0" dirty="0">
                <a:solidFill>
                  <a:srgbClr val="0F766E"/>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Yazım ve söyleyiş hatalarının (ileum/ilium, ureter/urethra) doğurduğu anlam farklarını ayırt eder.</a:t>
            </a:r>
          </a:p>
        </p:txBody>
      </p:sp>
      <p:sp>
        <p:nvSpPr>
          <p:cNvPr id="6" name="Card"/>
          <p:cNvSpPr/>
          <p:nvPr/>
        </p:nvSpPr>
        <p:spPr>
          <a:xfrm>
            <a:off x="7589520" y="1554480"/>
            <a:ext cx="4053535" cy="4572000"/>
          </a:xfrm>
          <a:prstGeom prst="roundRect">
            <a:avLst>
              <a:gd name="adj" fmla="val 3500"/>
            </a:avLst>
          </a:prstGeom>
          <a:solidFill>
            <a:srgbClr val="EAF6F4"/>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F766E"/>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0F766E"/>
                </a:solidFill>
                <a:latin typeface="Cambria" pitchFamily="34" charset="0"/>
                <a:ea typeface="Cambria" pitchFamily="34" charset="-122"/>
                <a:cs typeface="Cambria" pitchFamily="34" charset="-120"/>
              </a:rPr>
              <a:t>02</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2</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Terim Çeşitleri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Genel, eponim ve akronim terimler; kısaltmalar, ölçü birimleri ve simgeler.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98</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500000" cy="310896"/>
          </a:xfrm>
          <a:prstGeom prst="roundRect">
            <a:avLst>
              <a:gd name="adj" fmla="val 50000"/>
            </a:avLst>
          </a:prstGeom>
          <a:solidFill>
            <a:srgbClr val="EEEDFB"/>
          </a:solidFill>
          <a:ln/>
        </p:spPr>
      </p:sp>
      <p:sp>
        <p:nvSpPr>
          <p:cNvPr id="3" name="Label"/>
          <p:cNvSpPr txBox="1"/>
          <p:nvPr/>
        </p:nvSpPr>
        <p:spPr>
          <a:xfrm>
            <a:off x="694944" y="384048"/>
            <a:ext cx="22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4338CA"/>
                </a:solidFill>
                <a:latin typeface="Calibri" pitchFamily="34" charset="0"/>
                <a:ea typeface="Calibri" pitchFamily="34" charset="-122"/>
                <a:cs typeface="Calibri" pitchFamily="34" charset="-120"/>
              </a:rPr>
              <a:t>BÖLÜM 2  ·  TERİM ÇEŞİTLERİ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EEDFB"/>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4338CA"/>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Tıbbi terimler genel, eponim ve akronim terimler olarak üç gruba ayrılır. Bu bölümde uluslararası kongrelerde belirlenen genel terimler, kişi adlarıyla anılan yapı, hastalık ve ameliyat adları (eponimler) ile birden çok sözcüğün baş harflerinden oluşan akronimler incelendi. Tıp yazımında sık kullanılan kısaltmalar, ölçü birimleri ve simgeler de örneklerle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4338CA"/>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4338CA"/>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Tıbbi terimlerin genel, eponim ve akronim olarak sınıflandırılması</a:t>
            </a:r>
          </a:p>
          <a:p>
            <a:pPr marL="256032" indent="-201168">
              <a:lnSpc>
                <a:spcPct val="105000"/>
              </a:lnSpc>
              <a:spcBef>
                <a:spcPts val="900"/>
              </a:spcBef>
              <a:buClr>
                <a:srgbClr val="4338CA"/>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Eponim terimler ve Latince karşılıkları (Adem elması, Bartholin bezi vb.)</a:t>
            </a:r>
          </a:p>
          <a:p>
            <a:pPr marL="256032" indent="-201168">
              <a:lnSpc>
                <a:spcPct val="105000"/>
              </a:lnSpc>
              <a:spcBef>
                <a:spcPts val="900"/>
              </a:spcBef>
              <a:buClr>
                <a:srgbClr val="4338CA"/>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Eponim hastalık ve ameliyat adları (Parkinson, Whipple, Billroth vb.)</a:t>
            </a:r>
          </a:p>
          <a:p>
            <a:pPr marL="256032" indent="-201168">
              <a:lnSpc>
                <a:spcPct val="105000"/>
              </a:lnSpc>
              <a:spcBef>
                <a:spcPts val="900"/>
              </a:spcBef>
              <a:buClr>
                <a:srgbClr val="4338CA"/>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Sık kullanılan akronimler (ACTH, BT, GFR, SGOT/AST vb.)</a:t>
            </a:r>
          </a:p>
          <a:p>
            <a:pPr marL="256032" indent="-201168">
              <a:lnSpc>
                <a:spcPct val="105000"/>
              </a:lnSpc>
              <a:spcBef>
                <a:spcPts val="900"/>
              </a:spcBef>
              <a:buClr>
                <a:srgbClr val="4338CA"/>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Anatomik ve klinik kısaltmalar (A., Gl., Lig., L, S vb.)</a:t>
            </a:r>
          </a:p>
          <a:p>
            <a:pPr marL="256032" indent="-201168">
              <a:lnSpc>
                <a:spcPct val="105000"/>
              </a:lnSpc>
              <a:spcBef>
                <a:spcPts val="900"/>
              </a:spcBef>
              <a:buClr>
                <a:srgbClr val="4338CA"/>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Ölçü birimleri ve tıbbi simgeler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115</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500000" cy="310896"/>
          </a:xfrm>
          <a:prstGeom prst="roundRect">
            <a:avLst>
              <a:gd name="adj" fmla="val 50000"/>
            </a:avLst>
          </a:prstGeom>
          <a:solidFill>
            <a:srgbClr val="EEEDFB"/>
          </a:solidFill>
          <a:ln/>
        </p:spPr>
      </p:sp>
      <p:sp>
        <p:nvSpPr>
          <p:cNvPr id="3" name="Label"/>
          <p:cNvSpPr txBox="1"/>
          <p:nvPr/>
        </p:nvSpPr>
        <p:spPr>
          <a:xfrm>
            <a:off x="694944" y="384048"/>
            <a:ext cx="22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4338CA"/>
                </a:solidFill>
                <a:latin typeface="Calibri" pitchFamily="34" charset="0"/>
                <a:ea typeface="Calibri" pitchFamily="34" charset="-122"/>
                <a:cs typeface="Calibri" pitchFamily="34" charset="-120"/>
              </a:rPr>
              <a:t>BÖLÜM 2  ·  TERİM ÇEŞİTLERİ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4338CA"/>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4338CA"/>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Tıbbi terimleri genel, eponim ve akronim olarak sınıflandırır.</a:t>
            </a:r>
          </a:p>
          <a:p>
            <a:pPr marL="685800" indent="-685800">
              <a:lnSpc>
                <a:spcPct val="105000"/>
              </a:lnSpc>
              <a:spcBef>
                <a:spcPts val="1000"/>
              </a:spcBef>
              <a:buNone/>
              <a:tabLst>
                <a:tab pos="685800" algn="l"/>
              </a:tabLst>
            </a:pPr>
            <a:r>
              <a:rPr lang="tr-TR" sz="1500" b="1" i="0" dirty="0">
                <a:solidFill>
                  <a:srgbClr val="4338CA"/>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Sık kullanılan eponim terimlerin Latince karşılıklarını belirtir.</a:t>
            </a:r>
          </a:p>
          <a:p>
            <a:pPr marL="685800" indent="-685800">
              <a:lnSpc>
                <a:spcPct val="105000"/>
              </a:lnSpc>
              <a:spcBef>
                <a:spcPts val="1000"/>
              </a:spcBef>
              <a:buNone/>
              <a:tabLst>
                <a:tab pos="685800" algn="l"/>
              </a:tabLst>
            </a:pPr>
            <a:r>
              <a:rPr lang="tr-TR" sz="1500" b="1" i="0" dirty="0">
                <a:solidFill>
                  <a:srgbClr val="4338CA"/>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Eponim hastalık ve ameliyat adlarını tanımlarıyla eşleştirir.</a:t>
            </a:r>
          </a:p>
          <a:p>
            <a:pPr marL="685800" indent="-685800">
              <a:lnSpc>
                <a:spcPct val="105000"/>
              </a:lnSpc>
              <a:spcBef>
                <a:spcPts val="1000"/>
              </a:spcBef>
              <a:buNone/>
              <a:tabLst>
                <a:tab pos="685800" algn="l"/>
              </a:tabLst>
            </a:pPr>
            <a:r>
              <a:rPr lang="tr-TR" sz="1500" b="1" i="0" dirty="0">
                <a:solidFill>
                  <a:srgbClr val="4338CA"/>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Yaygın akronim ve kısaltmaların açılımlarını ve anlamlarını açıklar.</a:t>
            </a:r>
          </a:p>
          <a:p>
            <a:pPr marL="685800" indent="-685800">
              <a:lnSpc>
                <a:spcPct val="105000"/>
              </a:lnSpc>
              <a:spcBef>
                <a:spcPts val="1000"/>
              </a:spcBef>
              <a:buNone/>
              <a:tabLst>
                <a:tab pos="685800" algn="l"/>
              </a:tabLst>
            </a:pPr>
            <a:r>
              <a:rPr lang="tr-TR" sz="1500" b="1" i="0" dirty="0">
                <a:solidFill>
                  <a:srgbClr val="4338CA"/>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Tıbbi metinlerde ölçü birimlerini ve simgeleri doğru okur ve kullanır.</a:t>
            </a:r>
          </a:p>
        </p:txBody>
      </p:sp>
      <p:sp>
        <p:nvSpPr>
          <p:cNvPr id="6" name="Card"/>
          <p:cNvSpPr/>
          <p:nvPr/>
        </p:nvSpPr>
        <p:spPr>
          <a:xfrm>
            <a:off x="7589520" y="1554480"/>
            <a:ext cx="4053535" cy="4572000"/>
          </a:xfrm>
          <a:prstGeom prst="roundRect">
            <a:avLst>
              <a:gd name="adj" fmla="val 3500"/>
            </a:avLst>
          </a:prstGeom>
          <a:solidFill>
            <a:srgbClr val="EEEDFB"/>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4338CA"/>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4338CA"/>
                </a:solidFill>
                <a:latin typeface="Cambria" pitchFamily="34" charset="0"/>
                <a:ea typeface="Cambria" pitchFamily="34" charset="-122"/>
                <a:cs typeface="Cambria" pitchFamily="34" charset="-120"/>
              </a:rPr>
              <a:t>03</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3</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Tanısal Terimler</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Radyoloji, nükleer tıp, klinik ve laboratuvar terimleri; vücut bölgeleri ve yön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116</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500000" cy="310896"/>
          </a:xfrm>
          <a:prstGeom prst="roundRect">
            <a:avLst>
              <a:gd name="adj" fmla="val 50000"/>
            </a:avLst>
          </a:prstGeom>
          <a:solidFill>
            <a:srgbClr val="E7F2F9"/>
          </a:solidFill>
          <a:ln/>
        </p:spPr>
      </p:sp>
      <p:sp>
        <p:nvSpPr>
          <p:cNvPr id="3" name="Label"/>
          <p:cNvSpPr txBox="1"/>
          <p:nvPr/>
        </p:nvSpPr>
        <p:spPr>
          <a:xfrm>
            <a:off x="694944" y="384048"/>
            <a:ext cx="22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369A1"/>
                </a:solidFill>
                <a:latin typeface="Calibri" pitchFamily="34" charset="0"/>
                <a:ea typeface="Calibri" pitchFamily="34" charset="-122"/>
                <a:cs typeface="Calibri" pitchFamily="34" charset="-120"/>
              </a:rPr>
              <a:t>BÖLÜM 3  ·  TANISAL TERİMLER</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7F2F9"/>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369A1"/>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Tanısal terimler, hastalıkların saptanmasında kullanılan görüntüleme, klinik inceleme ve laboratuvar yöntemlerini adlandırır. Bu bölümde radyoloji ve nükleer tıp yöntemleri, fizik muayene ve endoskopik incelemeler, elektrofizyolojik testler ile kan, idrar ve serumda yapılan laboratuvar testleri incelendi. İnsan vücudunun bölgelerine ilişkin terimler, yön belirten terimler ve klinikte sık kullanılan genel terimler de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369A1"/>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0369A1"/>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Radyoloji terimleri: radyografi, BT, MRG, anjiyografi, floroskopi, ultrasonografi</a:t>
            </a:r>
          </a:p>
          <a:p>
            <a:pPr marL="256032" indent="-201168">
              <a:lnSpc>
                <a:spcPct val="105000"/>
              </a:lnSpc>
              <a:spcBef>
                <a:spcPts val="900"/>
              </a:spcBef>
              <a:buClr>
                <a:srgbClr val="0369A1"/>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Nükleer tıp terimleri: sintigrafi türleri ve PET</a:t>
            </a:r>
          </a:p>
          <a:p>
            <a:pPr marL="256032" indent="-201168">
              <a:lnSpc>
                <a:spcPct val="105000"/>
              </a:lnSpc>
              <a:spcBef>
                <a:spcPts val="900"/>
              </a:spcBef>
              <a:buClr>
                <a:srgbClr val="0369A1"/>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Klinik terimler: palpasyon, perküsyon, oskültasyon, biyopsi, endoskopik incelemeler, EKG, EEG, EMG</a:t>
            </a:r>
          </a:p>
          <a:p>
            <a:pPr marL="256032" indent="-201168">
              <a:lnSpc>
                <a:spcPct val="105000"/>
              </a:lnSpc>
              <a:spcBef>
                <a:spcPts val="900"/>
              </a:spcBef>
              <a:buClr>
                <a:srgbClr val="0369A1"/>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Laboratuvar terimleri: tam kan sayımı, biyokimyasal ve hormonal testler, kültür</a:t>
            </a:r>
          </a:p>
          <a:p>
            <a:pPr marL="256032" indent="-201168">
              <a:lnSpc>
                <a:spcPct val="105000"/>
              </a:lnSpc>
              <a:spcBef>
                <a:spcPts val="900"/>
              </a:spcBef>
              <a:buClr>
                <a:srgbClr val="0369A1"/>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Vücut bölgelerine (regio) ilişkin terimler ve yön belirten terimler</a:t>
            </a:r>
          </a:p>
          <a:p>
            <a:pPr marL="256032" indent="-201168">
              <a:lnSpc>
                <a:spcPct val="105000"/>
              </a:lnSpc>
              <a:spcBef>
                <a:spcPts val="900"/>
              </a:spcBef>
              <a:buClr>
                <a:srgbClr val="0369A1"/>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Klinikte sık kullanılan genel terimler (anamnez, epikriz, etiyoloji, sendrom vb.)</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156</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500000" cy="310896"/>
          </a:xfrm>
          <a:prstGeom prst="roundRect">
            <a:avLst>
              <a:gd name="adj" fmla="val 50000"/>
            </a:avLst>
          </a:prstGeom>
          <a:solidFill>
            <a:srgbClr val="E7F2F9"/>
          </a:solidFill>
          <a:ln/>
        </p:spPr>
      </p:sp>
      <p:sp>
        <p:nvSpPr>
          <p:cNvPr id="3" name="Label"/>
          <p:cNvSpPr txBox="1"/>
          <p:nvPr/>
        </p:nvSpPr>
        <p:spPr>
          <a:xfrm>
            <a:off x="694944" y="384048"/>
            <a:ext cx="22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369A1"/>
                </a:solidFill>
                <a:latin typeface="Calibri" pitchFamily="34" charset="0"/>
                <a:ea typeface="Calibri" pitchFamily="34" charset="-122"/>
                <a:cs typeface="Calibri" pitchFamily="34" charset="-120"/>
              </a:rPr>
              <a:t>BÖLÜM 3  ·  TANISAL TERİMLER</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369A1"/>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0369A1"/>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Radyolojik ve nükleer tıp yöntemlerini adlarından yola çıkarak tanımlar.</a:t>
            </a:r>
          </a:p>
          <a:p>
            <a:pPr marL="685800" indent="-685800">
              <a:lnSpc>
                <a:spcPct val="105000"/>
              </a:lnSpc>
              <a:spcBef>
                <a:spcPts val="1000"/>
              </a:spcBef>
              <a:buNone/>
              <a:tabLst>
                <a:tab pos="685800" algn="l"/>
              </a:tabLst>
            </a:pPr>
            <a:r>
              <a:rPr lang="tr-TR" sz="1500" b="1" i="0" dirty="0">
                <a:solidFill>
                  <a:srgbClr val="0369A1"/>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Klinik muayene ve endoskopik inceleme terimlerini ilgili organ ve işlemle eşleştirir.</a:t>
            </a:r>
          </a:p>
          <a:p>
            <a:pPr marL="685800" indent="-685800">
              <a:lnSpc>
                <a:spcPct val="105000"/>
              </a:lnSpc>
              <a:spcBef>
                <a:spcPts val="1000"/>
              </a:spcBef>
              <a:buNone/>
              <a:tabLst>
                <a:tab pos="685800" algn="l"/>
              </a:tabLst>
            </a:pPr>
            <a:r>
              <a:rPr lang="tr-TR" sz="1500" b="1" i="0" dirty="0">
                <a:solidFill>
                  <a:srgbClr val="0369A1"/>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Sık istenen laboratuvar testlerinin neyi ölçtüğünü ve temel klinik anlamını açıklar.</a:t>
            </a:r>
          </a:p>
          <a:p>
            <a:pPr marL="685800" indent="-685800">
              <a:lnSpc>
                <a:spcPct val="105000"/>
              </a:lnSpc>
              <a:spcBef>
                <a:spcPts val="1000"/>
              </a:spcBef>
              <a:buNone/>
              <a:tabLst>
                <a:tab pos="685800" algn="l"/>
              </a:tabLst>
            </a:pPr>
            <a:r>
              <a:rPr lang="tr-TR" sz="1500" b="1" i="0" dirty="0">
                <a:solidFill>
                  <a:srgbClr val="0369A1"/>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Vücut bölgelerini ve yön belirten terimleri kullanarak bir konumu doğru tarif eder.</a:t>
            </a:r>
          </a:p>
          <a:p>
            <a:pPr marL="685800" indent="-685800">
              <a:lnSpc>
                <a:spcPct val="105000"/>
              </a:lnSpc>
              <a:spcBef>
                <a:spcPts val="1000"/>
              </a:spcBef>
              <a:buNone/>
              <a:tabLst>
                <a:tab pos="685800" algn="l"/>
              </a:tabLst>
            </a:pPr>
            <a:r>
              <a:rPr lang="tr-TR" sz="1500" b="1" i="0" dirty="0">
                <a:solidFill>
                  <a:srgbClr val="0369A1"/>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Anamnez, epikriz, etiyoloji ve sendrom gibi genel klinik terimleri doğru bağlamda kullanır.</a:t>
            </a:r>
          </a:p>
        </p:txBody>
      </p:sp>
      <p:sp>
        <p:nvSpPr>
          <p:cNvPr id="6" name="Card"/>
          <p:cNvSpPr/>
          <p:nvPr/>
        </p:nvSpPr>
        <p:spPr>
          <a:xfrm>
            <a:off x="7589520" y="1554480"/>
            <a:ext cx="4053535" cy="4572000"/>
          </a:xfrm>
          <a:prstGeom prst="roundRect">
            <a:avLst>
              <a:gd name="adj" fmla="val 3500"/>
            </a:avLst>
          </a:prstGeom>
          <a:solidFill>
            <a:srgbClr val="E7F2F9"/>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369A1"/>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0369A1"/>
                </a:solidFill>
                <a:latin typeface="Cambria" pitchFamily="34" charset="0"/>
                <a:ea typeface="Cambria" pitchFamily="34" charset="-122"/>
                <a:cs typeface="Cambria" pitchFamily="34" charset="-120"/>
              </a:rPr>
              <a:t>04</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4</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Hareket Sistemi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Kemik, eklem ve kaslara ait anatomik, semptom, tanı ve ameliyat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157</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FBF1E3"/>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B45309"/>
                </a:solidFill>
                <a:latin typeface="Calibri" pitchFamily="34" charset="0"/>
                <a:ea typeface="Calibri" pitchFamily="34" charset="-122"/>
                <a:cs typeface="Calibri" pitchFamily="34" charset="-120"/>
              </a:rPr>
              <a:t>BÖLÜM 4  ·  HAREKET SİSTEMİ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FBF1E3"/>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B45309"/>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Hareket sistemi kemikler, eklemler ve kaslardan oluşur. Bu bölümde kemik dokusu ve vücuttaki önemli kemiklere, eklem yapılarına ve kas dokusuna ilişkin anatomik terimler incelendi. Hareket sistemine ait semptom terimleri (artralji, miyalji, ankiloz, dislokasyon), tanı terimleri (osteoartrit, skolyoz, gut, ayak deformiteleri) ve ameliyat terimleri (artrotomi, ampütasyon, kemik grefti)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B45309"/>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B4530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Kemik terimleri: periosteum, osteoblast, osteosit, substantia compacta ve spongiosa</a:t>
            </a:r>
          </a:p>
          <a:p>
            <a:pPr marL="256032" indent="-201168">
              <a:lnSpc>
                <a:spcPct val="105000"/>
              </a:lnSpc>
              <a:spcBef>
                <a:spcPts val="900"/>
              </a:spcBef>
              <a:buClr>
                <a:srgbClr val="B4530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Vücuttaki önemli kemiklerin Latince ve Grekçe adları</a:t>
            </a:r>
          </a:p>
          <a:p>
            <a:pPr marL="256032" indent="-201168">
              <a:lnSpc>
                <a:spcPct val="105000"/>
              </a:lnSpc>
              <a:spcBef>
                <a:spcPts val="900"/>
              </a:spcBef>
              <a:buClr>
                <a:srgbClr val="B4530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Eklem terimleri: articulatio, capsula articularis, ligamentum, synovia</a:t>
            </a:r>
          </a:p>
          <a:p>
            <a:pPr marL="256032" indent="-201168">
              <a:lnSpc>
                <a:spcPct val="105000"/>
              </a:lnSpc>
              <a:spcBef>
                <a:spcPts val="900"/>
              </a:spcBef>
              <a:buClr>
                <a:srgbClr val="B4530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Kas terimleri: musculus, myofibrilla, tendon</a:t>
            </a:r>
          </a:p>
          <a:p>
            <a:pPr marL="256032" indent="-201168">
              <a:lnSpc>
                <a:spcPct val="105000"/>
              </a:lnSpc>
              <a:spcBef>
                <a:spcPts val="900"/>
              </a:spcBef>
              <a:buClr>
                <a:srgbClr val="B4530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ve tanı terimleri: artralji, ankiloz, osteoartrit, spondiloz, skolyoz, pes planus</a:t>
            </a:r>
          </a:p>
          <a:p>
            <a:pPr marL="256032" indent="-201168">
              <a:lnSpc>
                <a:spcPct val="105000"/>
              </a:lnSpc>
              <a:spcBef>
                <a:spcPts val="900"/>
              </a:spcBef>
              <a:buClr>
                <a:srgbClr val="B4530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artrotomi, artroliz, ampütasyon, kemik grefti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175</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FBF1E3"/>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B45309"/>
                </a:solidFill>
                <a:latin typeface="Calibri" pitchFamily="34" charset="0"/>
                <a:ea typeface="Calibri" pitchFamily="34" charset="-122"/>
                <a:cs typeface="Calibri" pitchFamily="34" charset="-120"/>
              </a:rPr>
              <a:t>BÖLÜM 4  ·  HAREKET SİSTEMİ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B45309"/>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B45309"/>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Kemik, eklem ve kas yapılarına ait anatomik terimleri tanımlar.</a:t>
            </a:r>
          </a:p>
          <a:p>
            <a:pPr marL="685800" indent="-685800">
              <a:lnSpc>
                <a:spcPct val="105000"/>
              </a:lnSpc>
              <a:spcBef>
                <a:spcPts val="1000"/>
              </a:spcBef>
              <a:buNone/>
              <a:tabLst>
                <a:tab pos="685800" algn="l"/>
              </a:tabLst>
            </a:pPr>
            <a:r>
              <a:rPr lang="tr-TR" sz="1500" b="1" i="0" dirty="0">
                <a:solidFill>
                  <a:srgbClr val="B45309"/>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Önemli kemiklerin Latince adlarını vücuttaki konumlarıyla eşleştirir.</a:t>
            </a:r>
          </a:p>
          <a:p>
            <a:pPr marL="685800" indent="-685800">
              <a:lnSpc>
                <a:spcPct val="105000"/>
              </a:lnSpc>
              <a:spcBef>
                <a:spcPts val="1000"/>
              </a:spcBef>
              <a:buNone/>
              <a:tabLst>
                <a:tab pos="685800" algn="l"/>
              </a:tabLst>
            </a:pPr>
            <a:r>
              <a:rPr lang="tr-TR" sz="1500" b="1" i="0" dirty="0">
                <a:solidFill>
                  <a:srgbClr val="B45309"/>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Hareket sistemine ait semptom terimlerini kök ve eklerine ayırarak açıklar.</a:t>
            </a:r>
          </a:p>
          <a:p>
            <a:pPr marL="685800" indent="-685800">
              <a:lnSpc>
                <a:spcPct val="105000"/>
              </a:lnSpc>
              <a:spcBef>
                <a:spcPts val="1000"/>
              </a:spcBef>
              <a:buNone/>
              <a:tabLst>
                <a:tab pos="685800" algn="l"/>
              </a:tabLst>
            </a:pPr>
            <a:r>
              <a:rPr lang="tr-TR" sz="1500" b="1" i="0" dirty="0">
                <a:solidFill>
                  <a:srgbClr val="B45309"/>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görülen kas-iskelet hastalıklarının terimlerini ve anlamlarını belirtir.</a:t>
            </a:r>
          </a:p>
          <a:p>
            <a:pPr marL="685800" indent="-685800">
              <a:lnSpc>
                <a:spcPct val="105000"/>
              </a:lnSpc>
              <a:spcBef>
                <a:spcPts val="1000"/>
              </a:spcBef>
              <a:buNone/>
              <a:tabLst>
                <a:tab pos="685800" algn="l"/>
              </a:tabLst>
            </a:pPr>
            <a:r>
              <a:rPr lang="tr-TR" sz="1500" b="1" i="0" dirty="0">
                <a:solidFill>
                  <a:srgbClr val="B45309"/>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Hareket sistemi ameliyat terimlerinin sonekinden işlemin türünü çıkarır.</a:t>
            </a:r>
          </a:p>
        </p:txBody>
      </p:sp>
      <p:sp>
        <p:nvSpPr>
          <p:cNvPr id="6" name="Card"/>
          <p:cNvSpPr/>
          <p:nvPr/>
        </p:nvSpPr>
        <p:spPr>
          <a:xfrm>
            <a:off x="7589520" y="1554480"/>
            <a:ext cx="4053535" cy="4572000"/>
          </a:xfrm>
          <a:prstGeom prst="roundRect">
            <a:avLst>
              <a:gd name="adj" fmla="val 3500"/>
            </a:avLst>
          </a:prstGeom>
          <a:solidFill>
            <a:srgbClr val="FBF1E3"/>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B45309"/>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B45309"/>
                </a:solidFill>
                <a:latin typeface="Cambria" pitchFamily="34" charset="0"/>
                <a:ea typeface="Cambria" pitchFamily="34" charset="-122"/>
                <a:cs typeface="Cambria" pitchFamily="34" charset="-120"/>
              </a:rPr>
              <a:t>05</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5</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Kan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Kan hücreleri ve lenfatik organlar; kan hastalıklarına ait terimler.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176</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500000" cy="310896"/>
          </a:xfrm>
          <a:prstGeom prst="roundRect">
            <a:avLst>
              <a:gd name="adj" fmla="val 50000"/>
            </a:avLst>
          </a:prstGeom>
          <a:solidFill>
            <a:srgbClr val="FBECEC"/>
          </a:solidFill>
          <a:ln/>
        </p:spPr>
      </p:sp>
      <p:sp>
        <p:nvSpPr>
          <p:cNvPr id="3" name="Label"/>
          <p:cNvSpPr txBox="1"/>
          <p:nvPr/>
        </p:nvSpPr>
        <p:spPr>
          <a:xfrm>
            <a:off x="694944" y="384048"/>
            <a:ext cx="22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B91C1C"/>
                </a:solidFill>
                <a:latin typeface="Calibri" pitchFamily="34" charset="0"/>
                <a:ea typeface="Calibri" pitchFamily="34" charset="-122"/>
                <a:cs typeface="Calibri" pitchFamily="34" charset="-120"/>
              </a:rPr>
              <a:t>BÖLÜM 5  ·  KAN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FBECEC"/>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B91C1C"/>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Kan, dolaşım sistemi içinde bulunan sıvı bir dokudur ve kırmızı kemik iliğinde yapılan hücrelerden oluşur. Bu bölümde kan hücreleri (eritrosit, lökosit tipleri, trombosit), plazma ve lenfatik organlara ilişkin anatomik terimler incelendi. Kanla ilgili semptom terimleri (hemoliz, ikter, eritropeni, lökopeni), tanı terimleri (lösemi, hemofili, anemi türleri) ve dalak ile lenf dokusuna yönelik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B91C1C"/>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B91C1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Kan hücreleri: eritrosit, agranülosit ve granülosit tipleri, trombosit</a:t>
            </a:r>
          </a:p>
          <a:p>
            <a:pPr marL="256032" indent="-201168">
              <a:lnSpc>
                <a:spcPct val="105000"/>
              </a:lnSpc>
              <a:spcBef>
                <a:spcPts val="900"/>
              </a:spcBef>
              <a:buClr>
                <a:srgbClr val="B91C1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Kan ve plazmaya ilişkin kök terimler (haema, sanguis, plasma)</a:t>
            </a:r>
          </a:p>
          <a:p>
            <a:pPr marL="256032" indent="-201168">
              <a:lnSpc>
                <a:spcPct val="105000"/>
              </a:lnSpc>
              <a:spcBef>
                <a:spcPts val="900"/>
              </a:spcBef>
              <a:buClr>
                <a:srgbClr val="B91C1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Lenfatik sistem terimleri: lenf kapilleri, dalak, kemik iliği</a:t>
            </a:r>
          </a:p>
          <a:p>
            <a:pPr marL="256032" indent="-201168">
              <a:lnSpc>
                <a:spcPct val="105000"/>
              </a:lnSpc>
              <a:spcBef>
                <a:spcPts val="900"/>
              </a:spcBef>
              <a:buClr>
                <a:srgbClr val="B91C1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hemoliz, ikter, eritropeni, eritrositoz, lökopeni</a:t>
            </a:r>
          </a:p>
          <a:p>
            <a:pPr marL="256032" indent="-201168">
              <a:lnSpc>
                <a:spcPct val="105000"/>
              </a:lnSpc>
              <a:spcBef>
                <a:spcPts val="900"/>
              </a:spcBef>
              <a:buClr>
                <a:srgbClr val="B91C1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septisemi, lösemi, hemofili, anemi türleri</a:t>
            </a:r>
          </a:p>
          <a:p>
            <a:pPr marL="256032" indent="-201168">
              <a:lnSpc>
                <a:spcPct val="105000"/>
              </a:lnSpc>
              <a:spcBef>
                <a:spcPts val="900"/>
              </a:spcBef>
              <a:buClr>
                <a:srgbClr val="B91C1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splenektomi, timektomi, lenfadenektomi, tonsilektomi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186</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2500000" cy="310896"/>
          </a:xfrm>
          <a:prstGeom prst="roundRect">
            <a:avLst>
              <a:gd name="adj" fmla="val 50000"/>
            </a:avLst>
          </a:prstGeom>
          <a:solidFill>
            <a:srgbClr val="FBECEC"/>
          </a:solidFill>
          <a:ln/>
        </p:spPr>
      </p:sp>
      <p:sp>
        <p:nvSpPr>
          <p:cNvPr id="3" name="Label"/>
          <p:cNvSpPr txBox="1"/>
          <p:nvPr/>
        </p:nvSpPr>
        <p:spPr>
          <a:xfrm>
            <a:off x="694944" y="384048"/>
            <a:ext cx="22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B91C1C"/>
                </a:solidFill>
                <a:latin typeface="Calibri" pitchFamily="34" charset="0"/>
                <a:ea typeface="Calibri" pitchFamily="34" charset="-122"/>
                <a:cs typeface="Calibri" pitchFamily="34" charset="-120"/>
              </a:rPr>
              <a:t>BÖLÜM 5  ·  KAN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B91C1C"/>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B91C1C"/>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Kan hücrelerini ve özelliklerini Latince ve Grekçe adlarıyla tanımlar.</a:t>
            </a:r>
          </a:p>
          <a:p>
            <a:pPr marL="685800" indent="-685800">
              <a:lnSpc>
                <a:spcPct val="105000"/>
              </a:lnSpc>
              <a:spcBef>
                <a:spcPts val="1000"/>
              </a:spcBef>
              <a:buNone/>
              <a:tabLst>
                <a:tab pos="685800" algn="l"/>
              </a:tabLst>
            </a:pPr>
            <a:r>
              <a:rPr lang="tr-TR" sz="1500" b="1" i="0" dirty="0">
                <a:solidFill>
                  <a:srgbClr val="B91C1C"/>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Kan ve lenfatik sisteme ait anatomik terimleri açıklar.</a:t>
            </a:r>
          </a:p>
          <a:p>
            <a:pPr marL="685800" indent="-685800">
              <a:lnSpc>
                <a:spcPct val="105000"/>
              </a:lnSpc>
              <a:spcBef>
                <a:spcPts val="1000"/>
              </a:spcBef>
              <a:buNone/>
              <a:tabLst>
                <a:tab pos="685800" algn="l"/>
              </a:tabLst>
            </a:pPr>
            <a:r>
              <a:rPr lang="tr-TR" sz="1500" b="1" i="0" dirty="0">
                <a:solidFill>
                  <a:srgbClr val="B91C1C"/>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-penia, -cytosis ve -emia soneklerini kullanarak kan tablosu terimlerini yorumlar.</a:t>
            </a:r>
          </a:p>
          <a:p>
            <a:pPr marL="685800" indent="-685800">
              <a:lnSpc>
                <a:spcPct val="105000"/>
              </a:lnSpc>
              <a:spcBef>
                <a:spcPts val="1000"/>
              </a:spcBef>
              <a:buNone/>
              <a:tabLst>
                <a:tab pos="685800" algn="l"/>
              </a:tabLst>
            </a:pPr>
            <a:r>
              <a:rPr lang="tr-TR" sz="1500" b="1" i="0" dirty="0">
                <a:solidFill>
                  <a:srgbClr val="B91C1C"/>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görülen kan hastalıklarının terimlerini ve anlamlarını belirtir.</a:t>
            </a:r>
          </a:p>
          <a:p>
            <a:pPr marL="685800" indent="-685800">
              <a:lnSpc>
                <a:spcPct val="105000"/>
              </a:lnSpc>
              <a:spcBef>
                <a:spcPts val="1000"/>
              </a:spcBef>
              <a:buNone/>
              <a:tabLst>
                <a:tab pos="685800" algn="l"/>
              </a:tabLst>
            </a:pPr>
            <a:r>
              <a:rPr lang="tr-TR" sz="1500" b="1" i="0" dirty="0">
                <a:solidFill>
                  <a:srgbClr val="B91C1C"/>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Dalak ve lenf dokusuna ilişkin ameliyat terimlerini açıklar.</a:t>
            </a:r>
          </a:p>
        </p:txBody>
      </p:sp>
      <p:sp>
        <p:nvSpPr>
          <p:cNvPr id="6" name="Card"/>
          <p:cNvSpPr/>
          <p:nvPr/>
        </p:nvSpPr>
        <p:spPr>
          <a:xfrm>
            <a:off x="7589520" y="1554480"/>
            <a:ext cx="4053535" cy="4572000"/>
          </a:xfrm>
          <a:prstGeom prst="roundRect">
            <a:avLst>
              <a:gd name="adj" fmla="val 3500"/>
            </a:avLst>
          </a:prstGeom>
          <a:solidFill>
            <a:srgbClr val="FBECEC"/>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B91C1C"/>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B91C1C"/>
                </a:solidFill>
                <a:latin typeface="Cambria" pitchFamily="34" charset="0"/>
                <a:ea typeface="Cambria" pitchFamily="34" charset="-122"/>
                <a:cs typeface="Cambria" pitchFamily="34" charset="-120"/>
              </a:rPr>
              <a:t>06</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6</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Kardiyovasküler Sistem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Kalp ve damarlara ait anatomik, semptom, tanı ve ameliyat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187</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732000" cy="310896"/>
          </a:xfrm>
          <a:prstGeom prst="roundRect">
            <a:avLst>
              <a:gd name="adj" fmla="val 50000"/>
            </a:avLst>
          </a:prstGeom>
          <a:solidFill>
            <a:srgbClr val="FCEAEF"/>
          </a:solidFill>
          <a:ln/>
        </p:spPr>
      </p:sp>
      <p:sp>
        <p:nvSpPr>
          <p:cNvPr id="3" name="Label"/>
          <p:cNvSpPr txBox="1"/>
          <p:nvPr/>
        </p:nvSpPr>
        <p:spPr>
          <a:xfrm>
            <a:off x="694944" y="384048"/>
            <a:ext cx="3457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BE123C"/>
                </a:solidFill>
                <a:latin typeface="Calibri" pitchFamily="34" charset="0"/>
                <a:ea typeface="Calibri" pitchFamily="34" charset="-122"/>
                <a:cs typeface="Calibri" pitchFamily="34" charset="-120"/>
              </a:rPr>
              <a:t>BÖLÜM 6  ·  KARDİYOVASKÜLER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FCEAEF"/>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BE123C"/>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Kardiyovasküler sistem, kanı vücutta dolaştıran kalp ve damarlardan oluşur. Bu bölümde kalbin tabakaları, boşlukları ve kapakları ile arter, ven ve kapillere ilişkin anatomik terimler incelendi. Kalp ritmi ve dolaşımla ilgili semptom terimleri, ateroskleroz, anjina pektoris, miyokard enfarktüsü, hipertansiyon, kapak hastalıkları ve doğumsal kalp hastalıkları gibi tanı terimleri ile bypass, anjiyoplasti ve kapak replasmanı gibi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BE123C"/>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BE123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Kalp tabakaları: perikard, epikard, miyokard, endokard</a:t>
            </a:r>
          </a:p>
          <a:p>
            <a:pPr marL="256032" indent="-201168">
              <a:lnSpc>
                <a:spcPct val="105000"/>
              </a:lnSpc>
              <a:spcBef>
                <a:spcPts val="900"/>
              </a:spcBef>
              <a:buClr>
                <a:srgbClr val="BE123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Kalp kapakları ve damar terimleri (vas, angion, arteriyol, ven)</a:t>
            </a:r>
          </a:p>
          <a:p>
            <a:pPr marL="256032" indent="-201168">
              <a:lnSpc>
                <a:spcPct val="105000"/>
              </a:lnSpc>
              <a:spcBef>
                <a:spcPts val="900"/>
              </a:spcBef>
              <a:buClr>
                <a:srgbClr val="BE123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taşikardi, bradikardi, akrosiyanoz, klavdikasyon</a:t>
            </a:r>
          </a:p>
          <a:p>
            <a:pPr marL="256032" indent="-201168">
              <a:lnSpc>
                <a:spcPct val="105000"/>
              </a:lnSpc>
              <a:spcBef>
                <a:spcPts val="900"/>
              </a:spcBef>
              <a:buClr>
                <a:srgbClr val="BE123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ateroskleroz, anjina pektoris, miyokard enfarktüsü, hipertansiyon</a:t>
            </a:r>
          </a:p>
          <a:p>
            <a:pPr marL="256032" indent="-201168">
              <a:lnSpc>
                <a:spcPct val="105000"/>
              </a:lnSpc>
              <a:spcBef>
                <a:spcPts val="900"/>
              </a:spcBef>
              <a:buClr>
                <a:srgbClr val="BE123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Kapak ve doğumsal hastalıklar: mitral darlık, PDA, Fallot tetralojisi, VSD</a:t>
            </a:r>
          </a:p>
          <a:p>
            <a:pPr marL="256032" indent="-201168">
              <a:lnSpc>
                <a:spcPct val="105000"/>
              </a:lnSpc>
              <a:spcBef>
                <a:spcPts val="900"/>
              </a:spcBef>
              <a:buClr>
                <a:srgbClr val="BE123C"/>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anastomoz, bypass, kapak replasmanı, anjiyoplasti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200</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732000" cy="310896"/>
          </a:xfrm>
          <a:prstGeom prst="roundRect">
            <a:avLst>
              <a:gd name="adj" fmla="val 50000"/>
            </a:avLst>
          </a:prstGeom>
          <a:solidFill>
            <a:srgbClr val="FCEAEF"/>
          </a:solidFill>
          <a:ln/>
        </p:spPr>
      </p:sp>
      <p:sp>
        <p:nvSpPr>
          <p:cNvPr id="3" name="Label"/>
          <p:cNvSpPr txBox="1"/>
          <p:nvPr/>
        </p:nvSpPr>
        <p:spPr>
          <a:xfrm>
            <a:off x="694944" y="384048"/>
            <a:ext cx="3457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BE123C"/>
                </a:solidFill>
                <a:latin typeface="Calibri" pitchFamily="34" charset="0"/>
                <a:ea typeface="Calibri" pitchFamily="34" charset="-122"/>
                <a:cs typeface="Calibri" pitchFamily="34" charset="-120"/>
              </a:rPr>
              <a:t>BÖLÜM 6  ·  KARDİYOVASKÜLER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BE123C"/>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BE123C"/>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Kalbin tabakalarını, boşluklarını ve kapaklarını terimleriyle tanımlar.</a:t>
            </a:r>
          </a:p>
          <a:p>
            <a:pPr marL="685800" indent="-685800">
              <a:lnSpc>
                <a:spcPct val="105000"/>
              </a:lnSpc>
              <a:spcBef>
                <a:spcPts val="1000"/>
              </a:spcBef>
              <a:buNone/>
              <a:tabLst>
                <a:tab pos="685800" algn="l"/>
              </a:tabLst>
            </a:pPr>
            <a:r>
              <a:rPr lang="tr-TR" sz="1500" b="1" i="0" dirty="0">
                <a:solidFill>
                  <a:srgbClr val="BE123C"/>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Damar sistemine ait Latince ve Grekçe terimleri ayırt eder.</a:t>
            </a:r>
          </a:p>
          <a:p>
            <a:pPr marL="685800" indent="-685800">
              <a:lnSpc>
                <a:spcPct val="105000"/>
              </a:lnSpc>
              <a:spcBef>
                <a:spcPts val="1000"/>
              </a:spcBef>
              <a:buNone/>
              <a:tabLst>
                <a:tab pos="685800" algn="l"/>
              </a:tabLst>
            </a:pPr>
            <a:r>
              <a:rPr lang="tr-TR" sz="1500" b="1" i="0" dirty="0">
                <a:solidFill>
                  <a:srgbClr val="BE123C"/>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Kalp ritmi ve dolaşım bozukluklarını anlatan semptom terimlerini açıklar.</a:t>
            </a:r>
          </a:p>
          <a:p>
            <a:pPr marL="685800" indent="-685800">
              <a:lnSpc>
                <a:spcPct val="105000"/>
              </a:lnSpc>
              <a:spcBef>
                <a:spcPts val="1000"/>
              </a:spcBef>
              <a:buNone/>
              <a:tabLst>
                <a:tab pos="685800" algn="l"/>
              </a:tabLst>
            </a:pPr>
            <a:r>
              <a:rPr lang="tr-TR" sz="1500" b="1" i="0" dirty="0">
                <a:solidFill>
                  <a:srgbClr val="BE123C"/>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görülen kardiyovasküler hastalıkların terimlerini ve anlamlarını belirtir.</a:t>
            </a:r>
          </a:p>
          <a:p>
            <a:pPr marL="685800" indent="-685800">
              <a:lnSpc>
                <a:spcPct val="105000"/>
              </a:lnSpc>
              <a:spcBef>
                <a:spcPts val="1000"/>
              </a:spcBef>
              <a:buNone/>
              <a:tabLst>
                <a:tab pos="685800" algn="l"/>
              </a:tabLst>
            </a:pPr>
            <a:r>
              <a:rPr lang="tr-TR" sz="1500" b="1" i="0" dirty="0">
                <a:solidFill>
                  <a:srgbClr val="BE123C"/>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Kardiyovasküler ameliyat terimlerini yapılan işlemle ilişkilendirir.</a:t>
            </a:r>
          </a:p>
        </p:txBody>
      </p:sp>
      <p:sp>
        <p:nvSpPr>
          <p:cNvPr id="6" name="Card"/>
          <p:cNvSpPr/>
          <p:nvPr/>
        </p:nvSpPr>
        <p:spPr>
          <a:xfrm>
            <a:off x="7589520" y="1554480"/>
            <a:ext cx="4053535" cy="4572000"/>
          </a:xfrm>
          <a:prstGeom prst="roundRect">
            <a:avLst>
              <a:gd name="adj" fmla="val 3500"/>
            </a:avLst>
          </a:prstGeom>
          <a:solidFill>
            <a:srgbClr val="FCEAEF"/>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BE123C"/>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BE123C"/>
                </a:solidFill>
                <a:latin typeface="Cambria" pitchFamily="34" charset="0"/>
                <a:ea typeface="Cambria" pitchFamily="34" charset="-122"/>
                <a:cs typeface="Cambria" pitchFamily="34" charset="-120"/>
              </a:rPr>
              <a:t>07</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7</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Solunum Sistemi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Solunum yolları ve akciğerlere ait anatomik, semptom, tanı ve ameliyat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201</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E6F3F7"/>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E7490"/>
                </a:solidFill>
                <a:latin typeface="Calibri" pitchFamily="34" charset="0"/>
                <a:ea typeface="Calibri" pitchFamily="34" charset="-122"/>
                <a:cs typeface="Calibri" pitchFamily="34" charset="-120"/>
              </a:rPr>
              <a:t>BÖLÜM 7  ·  SOLUNUM SİSTEMİ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6F3F7"/>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E7490"/>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Solunum sistemi burun boşluğu, gırtlak, soluk borusu, bronşlar ve akciğerlerden oluşur. Bu bölümde burun, paranazal sinüsler, larinks, bronş ağacı, alveoller ve mediastinuma ilişkin anatomik terimler incelendi. Solunumun hızı ve niteliğini anlatan semptom terimleri, üst ve alt solunum yolu hastalıklarına ait tanı terimleri ile entübasyon, torakosentez ve akciğer rezeksiyonu gibi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E7490"/>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0E7490"/>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Burun, sinüsler ve larinkse ilişkin anatomik terimler</a:t>
            </a:r>
          </a:p>
          <a:p>
            <a:pPr marL="256032" indent="-201168">
              <a:lnSpc>
                <a:spcPct val="105000"/>
              </a:lnSpc>
              <a:spcBef>
                <a:spcPts val="900"/>
              </a:spcBef>
              <a:buClr>
                <a:srgbClr val="0E7490"/>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Bronş ağacı, bronşiyol, alveol ve mediastinum</a:t>
            </a:r>
          </a:p>
          <a:p>
            <a:pPr marL="256032" indent="-201168">
              <a:lnSpc>
                <a:spcPct val="105000"/>
              </a:lnSpc>
              <a:spcBef>
                <a:spcPts val="900"/>
              </a:spcBef>
              <a:buClr>
                <a:srgbClr val="0E7490"/>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Solunum semptomları: öpne, dispne, apne, takipne, bradipne</a:t>
            </a:r>
          </a:p>
          <a:p>
            <a:pPr marL="256032" indent="-201168">
              <a:lnSpc>
                <a:spcPct val="105000"/>
              </a:lnSpc>
              <a:spcBef>
                <a:spcPts val="900"/>
              </a:spcBef>
              <a:buClr>
                <a:srgbClr val="0E7490"/>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Kanama ve ses terimleri: epistaksis, hemoptizi, afoni, stridor</a:t>
            </a:r>
          </a:p>
          <a:p>
            <a:pPr marL="256032" indent="-201168">
              <a:lnSpc>
                <a:spcPct val="105000"/>
              </a:lnSpc>
              <a:spcBef>
                <a:spcPts val="900"/>
              </a:spcBef>
              <a:buClr>
                <a:srgbClr val="0E7490"/>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rinit, farenjit, astım, amfizem, atelektazi, pnömoni</a:t>
            </a:r>
          </a:p>
          <a:p>
            <a:pPr marL="256032" indent="-201168">
              <a:lnSpc>
                <a:spcPct val="105000"/>
              </a:lnSpc>
              <a:spcBef>
                <a:spcPts val="900"/>
              </a:spcBef>
              <a:buClr>
                <a:srgbClr val="0E7490"/>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entübasyon, torakosentez, lobektomi, pnömonektomi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215</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E6F3F7"/>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E7490"/>
                </a:solidFill>
                <a:latin typeface="Calibri" pitchFamily="34" charset="0"/>
                <a:ea typeface="Calibri" pitchFamily="34" charset="-122"/>
                <a:cs typeface="Calibri" pitchFamily="34" charset="-120"/>
              </a:rPr>
              <a:t>BÖLÜM 7  ·  SOLUNUM SİSTEMİ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E7490"/>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0E7490"/>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Solunum yollarını oluşturan yapıları anatomik terimleriyle tanımlar.</a:t>
            </a:r>
          </a:p>
          <a:p>
            <a:pPr marL="685800" indent="-685800">
              <a:lnSpc>
                <a:spcPct val="105000"/>
              </a:lnSpc>
              <a:spcBef>
                <a:spcPts val="1000"/>
              </a:spcBef>
              <a:buNone/>
              <a:tabLst>
                <a:tab pos="685800" algn="l"/>
              </a:tabLst>
            </a:pPr>
            <a:r>
              <a:rPr lang="tr-TR" sz="1500" b="1" i="0" dirty="0">
                <a:solidFill>
                  <a:srgbClr val="0E7490"/>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-pnea sonekiyle kurulan solunum terimlerini ayırt eder.</a:t>
            </a:r>
          </a:p>
          <a:p>
            <a:pPr marL="685800" indent="-685800">
              <a:lnSpc>
                <a:spcPct val="105000"/>
              </a:lnSpc>
              <a:spcBef>
                <a:spcPts val="1000"/>
              </a:spcBef>
              <a:buNone/>
              <a:tabLst>
                <a:tab pos="685800" algn="l"/>
              </a:tabLst>
            </a:pPr>
            <a:r>
              <a:rPr lang="tr-TR" sz="1500" b="1" i="0" dirty="0">
                <a:solidFill>
                  <a:srgbClr val="0E7490"/>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Solunum sistemine ait semptom terimlerini kök ve eklerine ayırarak açıklar.</a:t>
            </a:r>
          </a:p>
          <a:p>
            <a:pPr marL="685800" indent="-685800">
              <a:lnSpc>
                <a:spcPct val="105000"/>
              </a:lnSpc>
              <a:spcBef>
                <a:spcPts val="1000"/>
              </a:spcBef>
              <a:buNone/>
              <a:tabLst>
                <a:tab pos="685800" algn="l"/>
              </a:tabLst>
            </a:pPr>
            <a:r>
              <a:rPr lang="tr-TR" sz="1500" b="1" i="0" dirty="0">
                <a:solidFill>
                  <a:srgbClr val="0E7490"/>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görülen solunum sistemi hastalıklarının terimlerini ve anlamlarını belirtir.</a:t>
            </a:r>
          </a:p>
          <a:p>
            <a:pPr marL="685800" indent="-685800">
              <a:lnSpc>
                <a:spcPct val="105000"/>
              </a:lnSpc>
              <a:spcBef>
                <a:spcPts val="1000"/>
              </a:spcBef>
              <a:buNone/>
              <a:tabLst>
                <a:tab pos="685800" algn="l"/>
              </a:tabLst>
            </a:pPr>
            <a:r>
              <a:rPr lang="tr-TR" sz="1500" b="1" i="0" dirty="0">
                <a:solidFill>
                  <a:srgbClr val="0E7490"/>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Solunum sistemi ameliyat terimlerinden işlemin türünü ve yerini çıkarır.</a:t>
            </a:r>
          </a:p>
        </p:txBody>
      </p:sp>
      <p:sp>
        <p:nvSpPr>
          <p:cNvPr id="6" name="Card"/>
          <p:cNvSpPr/>
          <p:nvPr/>
        </p:nvSpPr>
        <p:spPr>
          <a:xfrm>
            <a:off x="7589520" y="1554480"/>
            <a:ext cx="4053535" cy="4572000"/>
          </a:xfrm>
          <a:prstGeom prst="roundRect">
            <a:avLst>
              <a:gd name="adj" fmla="val 3500"/>
            </a:avLst>
          </a:prstGeom>
          <a:solidFill>
            <a:srgbClr val="E6F3F7"/>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E7490"/>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0E7490"/>
                </a:solidFill>
                <a:latin typeface="Cambria" pitchFamily="34" charset="0"/>
                <a:ea typeface="Cambria" pitchFamily="34" charset="-122"/>
                <a:cs typeface="Cambria" pitchFamily="34" charset="-120"/>
              </a:rPr>
              <a:t>08</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8</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Sindirim Sistemi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Sindirim kanalı ve sindirim bezlerine ait terimler.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216</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264000" cy="310896"/>
          </a:xfrm>
          <a:prstGeom prst="roundRect">
            <a:avLst>
              <a:gd name="adj" fmla="val 50000"/>
            </a:avLst>
          </a:prstGeom>
          <a:solidFill>
            <a:srgbClr val="EAF5EE"/>
          </a:solidFill>
          <a:ln/>
        </p:spPr>
      </p:sp>
      <p:sp>
        <p:nvSpPr>
          <p:cNvPr id="3" name="Label"/>
          <p:cNvSpPr txBox="1"/>
          <p:nvPr/>
        </p:nvSpPr>
        <p:spPr>
          <a:xfrm>
            <a:off x="694944" y="384048"/>
            <a:ext cx="2989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15803D"/>
                </a:solidFill>
                <a:latin typeface="Calibri" pitchFamily="34" charset="0"/>
                <a:ea typeface="Calibri" pitchFamily="34" charset="-122"/>
                <a:cs typeface="Calibri" pitchFamily="34" charset="-120"/>
              </a:rPr>
              <a:t>BÖLÜM 8  ·  SİNDİRİM SİSTEMİ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AF5EE"/>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15803D"/>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Sindirim sistemi ağız boşluğu ile başlayıp anüsle biten sindirim kanalı ve büyük sindirim bezlerinden oluşur. Bu bölümde ağız, diş, yutak, mide, ince ve kalın bağırsak ile karaciğer, safra yolları ve pankreasa ilişkin anatomik terimler incelendi. İştah, yutma ve bağırsak işlevleriyle ilgili semptom terimleri, ağızdan rektuma kadar sindirim organlarının hastalıklarına ait tanı terimleri ile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15803D"/>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15803D"/>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Ağız boşluğu, diş, dil ve tükürük bezlerine ilişkin terimler</a:t>
            </a:r>
          </a:p>
          <a:p>
            <a:pPr marL="256032" indent="-201168">
              <a:lnSpc>
                <a:spcPct val="105000"/>
              </a:lnSpc>
              <a:spcBef>
                <a:spcPts val="900"/>
              </a:spcBef>
              <a:buClr>
                <a:srgbClr val="15803D"/>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Mide, ince bağırsak ve kalın bağırsağın bölümleri</a:t>
            </a:r>
          </a:p>
          <a:p>
            <a:pPr marL="256032" indent="-201168">
              <a:lnSpc>
                <a:spcPct val="105000"/>
              </a:lnSpc>
              <a:spcBef>
                <a:spcPts val="900"/>
              </a:spcBef>
              <a:buClr>
                <a:srgbClr val="15803D"/>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Büyük sindirim bezleri: karaciğer, safra yolları, pankreas</a:t>
            </a:r>
          </a:p>
          <a:p>
            <a:pPr marL="256032" indent="-201168">
              <a:lnSpc>
                <a:spcPct val="105000"/>
              </a:lnSpc>
              <a:spcBef>
                <a:spcPts val="900"/>
              </a:spcBef>
              <a:buClr>
                <a:srgbClr val="15803D"/>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anoreksi, afaji, emezis, reflü, dehidrasyon</a:t>
            </a:r>
          </a:p>
          <a:p>
            <a:pPr marL="256032" indent="-201168">
              <a:lnSpc>
                <a:spcPct val="105000"/>
              </a:lnSpc>
              <a:spcBef>
                <a:spcPts val="900"/>
              </a:spcBef>
              <a:buClr>
                <a:srgbClr val="15803D"/>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gingivit, kolesistit, pankreatit, apandisit, ileus, Crohn hastalığı</a:t>
            </a:r>
          </a:p>
          <a:p>
            <a:pPr marL="256032" indent="-201168">
              <a:lnSpc>
                <a:spcPct val="105000"/>
              </a:lnSpc>
              <a:spcBef>
                <a:spcPts val="900"/>
              </a:spcBef>
              <a:buClr>
                <a:srgbClr val="15803D"/>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keiloplasti, kolektomi, hemoroidektomi, herniorafi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235</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264000" cy="310896"/>
          </a:xfrm>
          <a:prstGeom prst="roundRect">
            <a:avLst>
              <a:gd name="adj" fmla="val 50000"/>
            </a:avLst>
          </a:prstGeom>
          <a:solidFill>
            <a:srgbClr val="EAF5EE"/>
          </a:solidFill>
          <a:ln/>
        </p:spPr>
      </p:sp>
      <p:sp>
        <p:nvSpPr>
          <p:cNvPr id="3" name="Label"/>
          <p:cNvSpPr txBox="1"/>
          <p:nvPr/>
        </p:nvSpPr>
        <p:spPr>
          <a:xfrm>
            <a:off x="694944" y="384048"/>
            <a:ext cx="2989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15803D"/>
                </a:solidFill>
                <a:latin typeface="Calibri" pitchFamily="34" charset="0"/>
                <a:ea typeface="Calibri" pitchFamily="34" charset="-122"/>
                <a:cs typeface="Calibri" pitchFamily="34" charset="-120"/>
              </a:rPr>
              <a:t>BÖLÜM 8  ·  SİNDİRİM SİSTEMİ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15803D"/>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15803D"/>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Sindirim kanalının bölümlerini ve sindirim bezlerini anatomik terimleriyle tanımlar.</a:t>
            </a:r>
          </a:p>
          <a:p>
            <a:pPr marL="685800" indent="-685800">
              <a:lnSpc>
                <a:spcPct val="105000"/>
              </a:lnSpc>
              <a:spcBef>
                <a:spcPts val="1000"/>
              </a:spcBef>
              <a:buNone/>
              <a:tabLst>
                <a:tab pos="685800" algn="l"/>
              </a:tabLst>
            </a:pPr>
            <a:r>
              <a:rPr lang="tr-TR" sz="1500" b="1" i="0" dirty="0">
                <a:solidFill>
                  <a:srgbClr val="15803D"/>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Sindirim sistemine ait kökleri (gastr, enter, hepat, chol, proct vb.) tanır.</a:t>
            </a:r>
          </a:p>
          <a:p>
            <a:pPr marL="685800" indent="-685800">
              <a:lnSpc>
                <a:spcPct val="105000"/>
              </a:lnSpc>
              <a:spcBef>
                <a:spcPts val="1000"/>
              </a:spcBef>
              <a:buNone/>
              <a:tabLst>
                <a:tab pos="685800" algn="l"/>
              </a:tabLst>
            </a:pPr>
            <a:r>
              <a:rPr lang="tr-TR" sz="1500" b="1" i="0" dirty="0">
                <a:solidFill>
                  <a:srgbClr val="15803D"/>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Sindirim sistemi semptom terimlerini kök ve eklerine ayırarak açıklar.</a:t>
            </a:r>
          </a:p>
          <a:p>
            <a:pPr marL="685800" indent="-685800">
              <a:lnSpc>
                <a:spcPct val="105000"/>
              </a:lnSpc>
              <a:spcBef>
                <a:spcPts val="1000"/>
              </a:spcBef>
              <a:buNone/>
              <a:tabLst>
                <a:tab pos="685800" algn="l"/>
              </a:tabLst>
            </a:pPr>
            <a:r>
              <a:rPr lang="tr-TR" sz="1500" b="1" i="0" dirty="0">
                <a:solidFill>
                  <a:srgbClr val="15803D"/>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görülen sindirim sistemi hastalıklarının terimlerini ve anlamlarını belirtir.</a:t>
            </a:r>
          </a:p>
          <a:p>
            <a:pPr marL="685800" indent="-685800">
              <a:lnSpc>
                <a:spcPct val="105000"/>
              </a:lnSpc>
              <a:spcBef>
                <a:spcPts val="1000"/>
              </a:spcBef>
              <a:buNone/>
              <a:tabLst>
                <a:tab pos="685800" algn="l"/>
              </a:tabLst>
            </a:pPr>
            <a:r>
              <a:rPr lang="tr-TR" sz="1500" b="1" i="0" dirty="0">
                <a:solidFill>
                  <a:srgbClr val="15803D"/>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-ectomy, -tomy, -plasty ve -rrhaphy soneklerini kullanarak ameliyat terimlerini yorumlar.</a:t>
            </a:r>
          </a:p>
        </p:txBody>
      </p:sp>
      <p:sp>
        <p:nvSpPr>
          <p:cNvPr id="6" name="Card"/>
          <p:cNvSpPr/>
          <p:nvPr/>
        </p:nvSpPr>
        <p:spPr>
          <a:xfrm>
            <a:off x="7589520" y="1554480"/>
            <a:ext cx="4053535" cy="4572000"/>
          </a:xfrm>
          <a:prstGeom prst="roundRect">
            <a:avLst>
              <a:gd name="adj" fmla="val 3500"/>
            </a:avLst>
          </a:prstGeom>
          <a:solidFill>
            <a:srgbClr val="EAF5EE"/>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15803D"/>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15803D"/>
                </a:solidFill>
                <a:latin typeface="Cambria" pitchFamily="34" charset="0"/>
                <a:ea typeface="Cambria" pitchFamily="34" charset="-122"/>
                <a:cs typeface="Cambria" pitchFamily="34" charset="-120"/>
              </a:rPr>
              <a:t>09</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9</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Üriner Sistem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Böbrek ve idrar yollarına ait anatomik, semptom, tanı ve ameliyat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236</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030000" cy="310896"/>
          </a:xfrm>
          <a:prstGeom prst="roundRect">
            <a:avLst>
              <a:gd name="adj" fmla="val 50000"/>
            </a:avLst>
          </a:prstGeom>
          <a:solidFill>
            <a:srgbClr val="F0F5E4"/>
          </a:solidFill>
          <a:ln/>
        </p:spPr>
      </p:sp>
      <p:sp>
        <p:nvSpPr>
          <p:cNvPr id="3" name="Label"/>
          <p:cNvSpPr txBox="1"/>
          <p:nvPr/>
        </p:nvSpPr>
        <p:spPr>
          <a:xfrm>
            <a:off x="694944" y="384048"/>
            <a:ext cx="275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4D7C0F"/>
                </a:solidFill>
                <a:latin typeface="Calibri" pitchFamily="34" charset="0"/>
                <a:ea typeface="Calibri" pitchFamily="34" charset="-122"/>
                <a:cs typeface="Calibri" pitchFamily="34" charset="-120"/>
              </a:rPr>
              <a:t>BÖLÜM 9  ·  ÜRİNER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F0F5E4"/>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4D7C0F"/>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Üriner sistem, idrarın oluşması, taşınması, depolanması ve dışarı atılmasında görev alan organlardan oluşur. Bu bölümde böbrek, pelvis renalis, üreter, mesane ve üretraya ilişkin anatomik terimler incelendi. İdrar miktarı ve içeriğini anlatan semptom terimleri, böbrek yetmezliği, nefrit, sistit, hidronefroz gibi tanı terimleri ile diyaliz, böbrek nakli ve taş tedavisine ilişkin işlem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4D7C0F"/>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4D7C0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Üriner organlar: ren/nephros, hilum renale, pelvis renalis, üreter, mesane, üretra</a:t>
            </a:r>
          </a:p>
          <a:p>
            <a:pPr marL="256032" indent="-201168">
              <a:lnSpc>
                <a:spcPct val="105000"/>
              </a:lnSpc>
              <a:spcBef>
                <a:spcPts val="900"/>
              </a:spcBef>
              <a:buClr>
                <a:srgbClr val="4D7C0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İdrar ve işemeye ilişkin kök terimler (urina, uron, mictio)</a:t>
            </a:r>
          </a:p>
          <a:p>
            <a:pPr marL="256032" indent="-201168">
              <a:lnSpc>
                <a:spcPct val="105000"/>
              </a:lnSpc>
              <a:spcBef>
                <a:spcPts val="900"/>
              </a:spcBef>
              <a:buClr>
                <a:srgbClr val="4D7C0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poliüri, oligüri, proteinüri, glikozüri, idrar retansiyonu</a:t>
            </a:r>
          </a:p>
          <a:p>
            <a:pPr marL="256032" indent="-201168">
              <a:lnSpc>
                <a:spcPct val="105000"/>
              </a:lnSpc>
              <a:spcBef>
                <a:spcPts val="900"/>
              </a:spcBef>
              <a:buClr>
                <a:srgbClr val="4D7C0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kronik böbrek yetmezliği, nefrit, sistit, hidronefroz, vezikoüreteral reflü</a:t>
            </a:r>
          </a:p>
          <a:p>
            <a:pPr marL="256032" indent="-201168">
              <a:lnSpc>
                <a:spcPct val="105000"/>
              </a:lnSpc>
              <a:spcBef>
                <a:spcPts val="900"/>
              </a:spcBef>
              <a:buClr>
                <a:srgbClr val="4D7C0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Tedavi terimleri: periton diyalizi, suprapubik kateterizasyon, böbrek nakli</a:t>
            </a:r>
          </a:p>
          <a:p>
            <a:pPr marL="256032" indent="-201168">
              <a:lnSpc>
                <a:spcPct val="105000"/>
              </a:lnSpc>
              <a:spcBef>
                <a:spcPts val="900"/>
              </a:spcBef>
              <a:buClr>
                <a:srgbClr val="4D7C0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sistolitotomi, sistolitotripsi, sistektomi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249</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030000" cy="310896"/>
          </a:xfrm>
          <a:prstGeom prst="roundRect">
            <a:avLst>
              <a:gd name="adj" fmla="val 50000"/>
            </a:avLst>
          </a:prstGeom>
          <a:solidFill>
            <a:srgbClr val="F0F5E4"/>
          </a:solidFill>
          <a:ln/>
        </p:spPr>
      </p:sp>
      <p:sp>
        <p:nvSpPr>
          <p:cNvPr id="3" name="Label"/>
          <p:cNvSpPr txBox="1"/>
          <p:nvPr/>
        </p:nvSpPr>
        <p:spPr>
          <a:xfrm>
            <a:off x="694944" y="384048"/>
            <a:ext cx="275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4D7C0F"/>
                </a:solidFill>
                <a:latin typeface="Calibri" pitchFamily="34" charset="0"/>
                <a:ea typeface="Calibri" pitchFamily="34" charset="-122"/>
                <a:cs typeface="Calibri" pitchFamily="34" charset="-120"/>
              </a:rPr>
              <a:t>BÖLÜM 9  ·  ÜRİNER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4D7C0F"/>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4D7C0F"/>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Üriner sistem organlarını Latince ve Grekçe terimleriyle tanımlar.</a:t>
            </a:r>
          </a:p>
          <a:p>
            <a:pPr marL="685800" indent="-685800">
              <a:lnSpc>
                <a:spcPct val="105000"/>
              </a:lnSpc>
              <a:spcBef>
                <a:spcPts val="1000"/>
              </a:spcBef>
              <a:buNone/>
              <a:tabLst>
                <a:tab pos="685800" algn="l"/>
              </a:tabLst>
            </a:pPr>
            <a:r>
              <a:rPr lang="tr-TR" sz="1500" b="1" i="0" dirty="0">
                <a:solidFill>
                  <a:srgbClr val="4D7C0F"/>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-uria sonekiyle kurulan idrar terimlerini ayırt eder ve açıklar.</a:t>
            </a:r>
          </a:p>
          <a:p>
            <a:pPr marL="685800" indent="-685800">
              <a:lnSpc>
                <a:spcPct val="105000"/>
              </a:lnSpc>
              <a:spcBef>
                <a:spcPts val="1000"/>
              </a:spcBef>
              <a:buNone/>
              <a:tabLst>
                <a:tab pos="685800" algn="l"/>
              </a:tabLst>
            </a:pPr>
            <a:r>
              <a:rPr lang="tr-TR" sz="1500" b="1" i="0" dirty="0">
                <a:solidFill>
                  <a:srgbClr val="4D7C0F"/>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Sık görülen böbrek ve idrar yolu hastalıklarının terimlerini belirtir.</a:t>
            </a:r>
          </a:p>
          <a:p>
            <a:pPr marL="685800" indent="-685800">
              <a:lnSpc>
                <a:spcPct val="105000"/>
              </a:lnSpc>
              <a:spcBef>
                <a:spcPts val="1000"/>
              </a:spcBef>
              <a:buNone/>
              <a:tabLst>
                <a:tab pos="685800" algn="l"/>
              </a:tabLst>
            </a:pPr>
            <a:r>
              <a:rPr lang="tr-TR" sz="1500" b="1" i="0" dirty="0">
                <a:solidFill>
                  <a:srgbClr val="4D7C0F"/>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Diyaliz, kateterizasyon ve nakil gibi tedavi terimlerini açıklar.</a:t>
            </a:r>
          </a:p>
          <a:p>
            <a:pPr marL="685800" indent="-685800">
              <a:lnSpc>
                <a:spcPct val="105000"/>
              </a:lnSpc>
              <a:spcBef>
                <a:spcPts val="1000"/>
              </a:spcBef>
              <a:buNone/>
              <a:tabLst>
                <a:tab pos="685800" algn="l"/>
              </a:tabLst>
            </a:pPr>
            <a:r>
              <a:rPr lang="tr-TR" sz="1500" b="1" i="0" dirty="0">
                <a:solidFill>
                  <a:srgbClr val="4D7C0F"/>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Üriner sistem ameliyat terimlerinden işlemin türünü ve yerini çıkarır.</a:t>
            </a:r>
          </a:p>
        </p:txBody>
      </p:sp>
      <p:sp>
        <p:nvSpPr>
          <p:cNvPr id="6" name="Card"/>
          <p:cNvSpPr/>
          <p:nvPr/>
        </p:nvSpPr>
        <p:spPr>
          <a:xfrm>
            <a:off x="7589520" y="1554480"/>
            <a:ext cx="4053535" cy="4572000"/>
          </a:xfrm>
          <a:prstGeom prst="roundRect">
            <a:avLst>
              <a:gd name="adj" fmla="val 3500"/>
            </a:avLst>
          </a:prstGeom>
          <a:solidFill>
            <a:srgbClr val="F0F5E4"/>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4D7C0F"/>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4D7C0F"/>
                </a:solidFill>
                <a:latin typeface="Cambria" pitchFamily="34" charset="0"/>
                <a:ea typeface="Cambria" pitchFamily="34" charset="-122"/>
                <a:cs typeface="Cambria" pitchFamily="34" charset="-120"/>
              </a:rPr>
              <a:t>10</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10</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Genital Sistem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Erkek ve kadın genital organları; gebelik ve doğum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250</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F8EAFA"/>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A21CAF"/>
                </a:solidFill>
                <a:latin typeface="Calibri" pitchFamily="34" charset="0"/>
                <a:ea typeface="Calibri" pitchFamily="34" charset="-122"/>
                <a:cs typeface="Calibri" pitchFamily="34" charset="-120"/>
              </a:rPr>
              <a:t>BÖLÜM 10  ·  GENİTAL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F8EAFA"/>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A21CAF"/>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Genital sistem, üremeyle ilgili organlardan oluşur ve cinsiyete göre farklılık gösterir. Bu bölümde erkek ve kadın genital organlarına ilişkin anatomik terimler incelendi. Sperm ve adet döngüsüne ilişkin semptom terimleri, prostat, testis, uterus ve over hastalıklarına ait tanı terimleri, erkek ve kadın genital sistemine yönelik ameliyat terimleri ile gebelik ve doğum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A21CAF"/>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A21CA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Erkek genital organları: testis, epididim, vesikula seminalis</a:t>
            </a:r>
          </a:p>
          <a:p>
            <a:pPr marL="256032" indent="-201168">
              <a:lnSpc>
                <a:spcPct val="105000"/>
              </a:lnSpc>
              <a:spcBef>
                <a:spcPts val="900"/>
              </a:spcBef>
              <a:buClr>
                <a:srgbClr val="A21CA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Kadın genital organları: ovaryum, tuba uterina, uterus ve tabakaları</a:t>
            </a:r>
          </a:p>
          <a:p>
            <a:pPr marL="256032" indent="-201168">
              <a:lnSpc>
                <a:spcPct val="105000"/>
              </a:lnSpc>
              <a:spcBef>
                <a:spcPts val="900"/>
              </a:spcBef>
              <a:buClr>
                <a:srgbClr val="A21CA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aspermi, oligospermi, amenore, dismenore, menoraji</a:t>
            </a:r>
          </a:p>
          <a:p>
            <a:pPr marL="256032" indent="-201168">
              <a:lnSpc>
                <a:spcPct val="105000"/>
              </a:lnSpc>
              <a:spcBef>
                <a:spcPts val="900"/>
              </a:spcBef>
              <a:buClr>
                <a:srgbClr val="A21CA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benign prostat hipertrofisi, kriptorşizm, miyoma uteri, polikistik over</a:t>
            </a:r>
          </a:p>
          <a:p>
            <a:pPr marL="256032" indent="-201168">
              <a:lnSpc>
                <a:spcPct val="105000"/>
              </a:lnSpc>
              <a:spcBef>
                <a:spcPts val="900"/>
              </a:spcBef>
              <a:buClr>
                <a:srgbClr val="A21CA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vazektomi, histerektomi, mastektomi</a:t>
            </a:r>
          </a:p>
          <a:p>
            <a:pPr marL="256032" indent="-201168">
              <a:lnSpc>
                <a:spcPct val="105000"/>
              </a:lnSpc>
              <a:spcBef>
                <a:spcPts val="900"/>
              </a:spcBef>
              <a:buClr>
                <a:srgbClr val="A21CAF"/>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Gebelik ve doğum terimleri: gravida, preeklampsi, ektopik gebelik, prematüre</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267</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F8EAFA"/>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A21CAF"/>
                </a:solidFill>
                <a:latin typeface="Calibri" pitchFamily="34" charset="0"/>
                <a:ea typeface="Calibri" pitchFamily="34" charset="-122"/>
                <a:cs typeface="Calibri" pitchFamily="34" charset="-120"/>
              </a:rPr>
              <a:t>BÖLÜM 10  ·  GENİTAL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A21CAF"/>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A21CAF"/>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Erkek ve kadın genital organlarını anatomik terimleriyle tanımlar.</a:t>
            </a:r>
          </a:p>
          <a:p>
            <a:pPr marL="685800" indent="-685800">
              <a:lnSpc>
                <a:spcPct val="105000"/>
              </a:lnSpc>
              <a:spcBef>
                <a:spcPts val="1000"/>
              </a:spcBef>
              <a:buNone/>
              <a:tabLst>
                <a:tab pos="685800" algn="l"/>
              </a:tabLst>
            </a:pPr>
            <a:r>
              <a:rPr lang="tr-TR" sz="1500" b="1" i="0" dirty="0">
                <a:solidFill>
                  <a:srgbClr val="A21CAF"/>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Sperm ve adet döngüsüne ilişkin semptom terimlerini kök ve eklerine ayırarak açıklar.</a:t>
            </a:r>
          </a:p>
          <a:p>
            <a:pPr marL="685800" indent="-685800">
              <a:lnSpc>
                <a:spcPct val="105000"/>
              </a:lnSpc>
              <a:spcBef>
                <a:spcPts val="1000"/>
              </a:spcBef>
              <a:buNone/>
              <a:tabLst>
                <a:tab pos="685800" algn="l"/>
              </a:tabLst>
            </a:pPr>
            <a:r>
              <a:rPr lang="tr-TR" sz="1500" b="1" i="0" dirty="0">
                <a:solidFill>
                  <a:srgbClr val="A21CAF"/>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Sık görülen genital sistem hastalıklarının terimlerini ve anlamlarını belirtir.</a:t>
            </a:r>
          </a:p>
          <a:p>
            <a:pPr marL="685800" indent="-685800">
              <a:lnSpc>
                <a:spcPct val="105000"/>
              </a:lnSpc>
              <a:spcBef>
                <a:spcPts val="1000"/>
              </a:spcBef>
              <a:buNone/>
              <a:tabLst>
                <a:tab pos="685800" algn="l"/>
              </a:tabLst>
            </a:pPr>
            <a:r>
              <a:rPr lang="tr-TR" sz="1500" b="1" i="0" dirty="0">
                <a:solidFill>
                  <a:srgbClr val="A21CAF"/>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Genital sistem ameliyat terimlerini yapılan işlemle ilişkilendirir.</a:t>
            </a:r>
          </a:p>
          <a:p>
            <a:pPr marL="685800" indent="-685800">
              <a:lnSpc>
                <a:spcPct val="105000"/>
              </a:lnSpc>
              <a:spcBef>
                <a:spcPts val="1000"/>
              </a:spcBef>
              <a:buNone/>
              <a:tabLst>
                <a:tab pos="685800" algn="l"/>
              </a:tabLst>
            </a:pPr>
            <a:r>
              <a:rPr lang="tr-TR" sz="1500" b="1" i="0" dirty="0">
                <a:solidFill>
                  <a:srgbClr val="A21CAF"/>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Gebelik ve doğuma ilişkin temel terimleri doğru bağlamda kullanır.</a:t>
            </a:r>
          </a:p>
        </p:txBody>
      </p:sp>
      <p:sp>
        <p:nvSpPr>
          <p:cNvPr id="6" name="Card"/>
          <p:cNvSpPr/>
          <p:nvPr/>
        </p:nvSpPr>
        <p:spPr>
          <a:xfrm>
            <a:off x="7589520" y="1554480"/>
            <a:ext cx="4053535" cy="4572000"/>
          </a:xfrm>
          <a:prstGeom prst="roundRect">
            <a:avLst>
              <a:gd name="adj" fmla="val 3500"/>
            </a:avLst>
          </a:prstGeom>
          <a:solidFill>
            <a:srgbClr val="F8EAFA"/>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A21CAF"/>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A21CAF"/>
                </a:solidFill>
                <a:latin typeface="Cambria" pitchFamily="34" charset="0"/>
                <a:ea typeface="Cambria" pitchFamily="34" charset="-122"/>
                <a:cs typeface="Cambria" pitchFamily="34" charset="-120"/>
              </a:rPr>
              <a:t>11</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11</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Endokrin Sistem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İç salgı bezleri, hormonlar ve endokrin hastalıklara ait terimler.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268</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264000" cy="310896"/>
          </a:xfrm>
          <a:prstGeom prst="roundRect">
            <a:avLst>
              <a:gd name="adj" fmla="val 50000"/>
            </a:avLst>
          </a:prstGeom>
          <a:solidFill>
            <a:srgbClr val="F1ECFD"/>
          </a:solidFill>
          <a:ln/>
        </p:spPr>
      </p:sp>
      <p:sp>
        <p:nvSpPr>
          <p:cNvPr id="3" name="Label"/>
          <p:cNvSpPr txBox="1"/>
          <p:nvPr/>
        </p:nvSpPr>
        <p:spPr>
          <a:xfrm>
            <a:off x="694944" y="384048"/>
            <a:ext cx="2989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6D28D9"/>
                </a:solidFill>
                <a:latin typeface="Calibri" pitchFamily="34" charset="0"/>
                <a:ea typeface="Calibri" pitchFamily="34" charset="-122"/>
                <a:cs typeface="Calibri" pitchFamily="34" charset="-120"/>
              </a:rPr>
              <a:t>BÖLÜM 11  ·  ENDOKRİN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F1ECFD"/>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6D28D9"/>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Endokrin sistem, salgılarını (hormonları) doğrudan kana veren iç salgı bezlerinden oluşur. Bu bölümde hipofiz, tiroid, paratiroid, böbreküstü bezleri, over ve testise ilişkin anatomik terimler ile bu bezlerden salgılanan hormonlar incelendi. Hormon bozukluklarına bağlı semptom terimleri, Addison hastalığı, Cushing sendromu, hipotiroidizm, guatr gibi tanı terimleri ile endokrin bezlere yönelik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6D28D9"/>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6D28D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Salgı bezine ilişkin terimler: glandula, aden, parenkima</a:t>
            </a:r>
          </a:p>
          <a:p>
            <a:pPr marL="256032" indent="-201168">
              <a:lnSpc>
                <a:spcPct val="105000"/>
              </a:lnSpc>
              <a:spcBef>
                <a:spcPts val="900"/>
              </a:spcBef>
              <a:buClr>
                <a:srgbClr val="6D28D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Hipofiz hormonları: FSH, LH ve diğerleri</a:t>
            </a:r>
          </a:p>
          <a:p>
            <a:pPr marL="256032" indent="-201168">
              <a:lnSpc>
                <a:spcPct val="105000"/>
              </a:lnSpc>
              <a:spcBef>
                <a:spcPts val="900"/>
              </a:spcBef>
              <a:buClr>
                <a:srgbClr val="6D28D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Tiroid, paratiroid, böbreküstü bezleri, over ve testis</a:t>
            </a:r>
          </a:p>
          <a:p>
            <a:pPr marL="256032" indent="-201168">
              <a:lnSpc>
                <a:spcPct val="105000"/>
              </a:lnSpc>
              <a:spcBef>
                <a:spcPts val="900"/>
              </a:spcBef>
              <a:buClr>
                <a:srgbClr val="6D28D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galaktore, ekzoftalmi, hirsutizm, jinekomasti, virilizm</a:t>
            </a:r>
          </a:p>
          <a:p>
            <a:pPr marL="256032" indent="-201168">
              <a:lnSpc>
                <a:spcPct val="105000"/>
              </a:lnSpc>
              <a:spcBef>
                <a:spcPts val="900"/>
              </a:spcBef>
              <a:buClr>
                <a:srgbClr val="6D28D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terimleri: Addison, Cushing, feokromositoma, hipotiroidizm, guatr, kretinizm</a:t>
            </a:r>
          </a:p>
          <a:p>
            <a:pPr marL="256032" indent="-201168">
              <a:lnSpc>
                <a:spcPct val="105000"/>
              </a:lnSpc>
              <a:spcBef>
                <a:spcPts val="900"/>
              </a:spcBef>
              <a:buClr>
                <a:srgbClr val="6D28D9"/>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Ameliyat terimleri: hipofizektomi, tiroidektomi, subtotal tiroidektomi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281</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264000" cy="310896"/>
          </a:xfrm>
          <a:prstGeom prst="roundRect">
            <a:avLst>
              <a:gd name="adj" fmla="val 50000"/>
            </a:avLst>
          </a:prstGeom>
          <a:solidFill>
            <a:srgbClr val="F1ECFD"/>
          </a:solidFill>
          <a:ln/>
        </p:spPr>
      </p:sp>
      <p:sp>
        <p:nvSpPr>
          <p:cNvPr id="3" name="Label"/>
          <p:cNvSpPr txBox="1"/>
          <p:nvPr/>
        </p:nvSpPr>
        <p:spPr>
          <a:xfrm>
            <a:off x="694944" y="384048"/>
            <a:ext cx="2989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6D28D9"/>
                </a:solidFill>
                <a:latin typeface="Calibri" pitchFamily="34" charset="0"/>
                <a:ea typeface="Calibri" pitchFamily="34" charset="-122"/>
                <a:cs typeface="Calibri" pitchFamily="34" charset="-120"/>
              </a:rPr>
              <a:t>BÖLÜM 11  ·  ENDOKRİN SİSTEM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6D28D9"/>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6D28D9"/>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Endokrin bezleri ve salgıladıkları hormonları terimleriyle tanımlar.</a:t>
            </a:r>
          </a:p>
          <a:p>
            <a:pPr marL="685800" indent="-685800">
              <a:lnSpc>
                <a:spcPct val="105000"/>
              </a:lnSpc>
              <a:spcBef>
                <a:spcPts val="1000"/>
              </a:spcBef>
              <a:buNone/>
              <a:tabLst>
                <a:tab pos="685800" algn="l"/>
              </a:tabLst>
            </a:pPr>
            <a:r>
              <a:rPr lang="tr-TR" sz="1500" b="1" i="0" dirty="0">
                <a:solidFill>
                  <a:srgbClr val="6D28D9"/>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Hormon kısaltmalarının (FSH, LH vb.) açılımlarını ve işlevlerini açıklar.</a:t>
            </a:r>
          </a:p>
          <a:p>
            <a:pPr marL="685800" indent="-685800">
              <a:lnSpc>
                <a:spcPct val="105000"/>
              </a:lnSpc>
              <a:spcBef>
                <a:spcPts val="1000"/>
              </a:spcBef>
              <a:buNone/>
              <a:tabLst>
                <a:tab pos="685800" algn="l"/>
              </a:tabLst>
            </a:pPr>
            <a:r>
              <a:rPr lang="tr-TR" sz="1500" b="1" i="0" dirty="0">
                <a:solidFill>
                  <a:srgbClr val="6D28D9"/>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Hormon bozukluklarına bağlı semptom terimlerini açıklar.</a:t>
            </a:r>
          </a:p>
          <a:p>
            <a:pPr marL="685800" indent="-685800">
              <a:lnSpc>
                <a:spcPct val="105000"/>
              </a:lnSpc>
              <a:spcBef>
                <a:spcPts val="1000"/>
              </a:spcBef>
              <a:buNone/>
              <a:tabLst>
                <a:tab pos="685800" algn="l"/>
              </a:tabLst>
            </a:pPr>
            <a:r>
              <a:rPr lang="tr-TR" sz="1500" b="1" i="0" dirty="0">
                <a:solidFill>
                  <a:srgbClr val="6D28D9"/>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Sık görülen endokrin hastalıkların terimlerini ilgili bezle ilişkilendirir.</a:t>
            </a:r>
          </a:p>
          <a:p>
            <a:pPr marL="685800" indent="-685800">
              <a:lnSpc>
                <a:spcPct val="105000"/>
              </a:lnSpc>
              <a:spcBef>
                <a:spcPts val="1000"/>
              </a:spcBef>
              <a:buNone/>
              <a:tabLst>
                <a:tab pos="685800" algn="l"/>
              </a:tabLst>
            </a:pPr>
            <a:r>
              <a:rPr lang="tr-TR" sz="1500" b="1" i="0" dirty="0">
                <a:solidFill>
                  <a:srgbClr val="6D28D9"/>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Endokrin bezlere yönelik ameliyat terimlerini açıklar.</a:t>
            </a:r>
          </a:p>
        </p:txBody>
      </p:sp>
      <p:sp>
        <p:nvSpPr>
          <p:cNvPr id="6" name="Card"/>
          <p:cNvSpPr/>
          <p:nvPr/>
        </p:nvSpPr>
        <p:spPr>
          <a:xfrm>
            <a:off x="7589520" y="1554480"/>
            <a:ext cx="4053535" cy="4572000"/>
          </a:xfrm>
          <a:prstGeom prst="roundRect">
            <a:avLst>
              <a:gd name="adj" fmla="val 3500"/>
            </a:avLst>
          </a:prstGeom>
          <a:solidFill>
            <a:srgbClr val="F1ECFD"/>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6D28D9"/>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6D28D9"/>
                </a:solidFill>
                <a:latin typeface="Cambria" pitchFamily="34" charset="0"/>
                <a:ea typeface="Cambria" pitchFamily="34" charset="-122"/>
                <a:cs typeface="Cambria" pitchFamily="34" charset="-120"/>
              </a:rPr>
              <a:t>12</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12</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Sinir Sistemi ve Psikiyatri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Merkezi ve periferik sinir sistemi; nörolojik ve psikiyatrik terimler.</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282</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4200000" cy="310896"/>
          </a:xfrm>
          <a:prstGeom prst="roundRect">
            <a:avLst>
              <a:gd name="adj" fmla="val 50000"/>
            </a:avLst>
          </a:prstGeom>
          <a:solidFill>
            <a:srgbClr val="EAF0FD"/>
          </a:solidFill>
          <a:ln/>
        </p:spPr>
      </p:sp>
      <p:sp>
        <p:nvSpPr>
          <p:cNvPr id="3" name="Label"/>
          <p:cNvSpPr txBox="1"/>
          <p:nvPr/>
        </p:nvSpPr>
        <p:spPr>
          <a:xfrm>
            <a:off x="694944" y="384048"/>
            <a:ext cx="39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1D4ED8"/>
                </a:solidFill>
                <a:latin typeface="Calibri" pitchFamily="34" charset="0"/>
                <a:ea typeface="Calibri" pitchFamily="34" charset="-122"/>
                <a:cs typeface="Calibri" pitchFamily="34" charset="-120"/>
              </a:rPr>
              <a:t>BÖLÜM 12  ·  SİNİR SİSTEMİ VE PSİKİYATRİ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AF0FD"/>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1D4ED8"/>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Sinir sistemi merkezi ve periferik olmak üzere iki bölümden oluşur ve vücudun tüm sistemleriyle ilişkilidir. Bu bölümde sinaps, gri ve ak madde, meninksler, beyin bölümleri, ventriküller, sinir teli ve gangliyon gibi anatomik terimler incelendi. Ağrı ve algı bozukluklarını anlatan semptom terimleri, nörolojik ve psikiyatrik hastalıklara ait tanı terimleri, lomber ponksiyon ve EEG gibi tanı yöntemleri ile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1D4ED8"/>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1D4ED8"/>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Merkezi sinir sistemi: meninksler, serebrum, serebellum, ventriküller</a:t>
            </a:r>
          </a:p>
          <a:p>
            <a:pPr marL="256032" indent="-201168">
              <a:lnSpc>
                <a:spcPct val="105000"/>
              </a:lnSpc>
              <a:spcBef>
                <a:spcPts val="900"/>
              </a:spcBef>
              <a:buClr>
                <a:srgbClr val="1D4ED8"/>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Periferik sinir sistemi: sinir teli, gangliyon, sinaps</a:t>
            </a:r>
          </a:p>
          <a:p>
            <a:pPr marL="256032" indent="-201168">
              <a:lnSpc>
                <a:spcPct val="105000"/>
              </a:lnSpc>
              <a:spcBef>
                <a:spcPts val="900"/>
              </a:spcBef>
              <a:buClr>
                <a:srgbClr val="1D4ED8"/>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Semptom terimleri: analjezi, nöralji, sefalalji, halüsinasyon, deliryum</a:t>
            </a:r>
          </a:p>
          <a:p>
            <a:pPr marL="256032" indent="-201168">
              <a:lnSpc>
                <a:spcPct val="105000"/>
              </a:lnSpc>
              <a:spcBef>
                <a:spcPts val="900"/>
              </a:spcBef>
              <a:buClr>
                <a:srgbClr val="1D4ED8"/>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Nörolojik tanı terimleri: demans, Parkinson, MS, poliomiyelit, fasiyal palsi</a:t>
            </a:r>
          </a:p>
          <a:p>
            <a:pPr marL="256032" indent="-201168">
              <a:lnSpc>
                <a:spcPct val="105000"/>
              </a:lnSpc>
              <a:spcBef>
                <a:spcPts val="900"/>
              </a:spcBef>
              <a:buClr>
                <a:srgbClr val="1D4ED8"/>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Psikiyatrik tanı terimleri: obsesif kompulsif bozukluk, mani, şizofreni</a:t>
            </a:r>
          </a:p>
          <a:p>
            <a:pPr marL="256032" indent="-201168">
              <a:lnSpc>
                <a:spcPct val="105000"/>
              </a:lnSpc>
              <a:spcBef>
                <a:spcPts val="900"/>
              </a:spcBef>
              <a:buClr>
                <a:srgbClr val="1D4ED8"/>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Tanı yöntemleri ve ameliyatlar: LP, EEG, EKT, kraniyotomi, nörorafi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300</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4200000" cy="310896"/>
          </a:xfrm>
          <a:prstGeom prst="roundRect">
            <a:avLst>
              <a:gd name="adj" fmla="val 50000"/>
            </a:avLst>
          </a:prstGeom>
          <a:solidFill>
            <a:srgbClr val="EAF0FD"/>
          </a:solidFill>
          <a:ln/>
        </p:spPr>
      </p:sp>
      <p:sp>
        <p:nvSpPr>
          <p:cNvPr id="3" name="Label"/>
          <p:cNvSpPr txBox="1"/>
          <p:nvPr/>
        </p:nvSpPr>
        <p:spPr>
          <a:xfrm>
            <a:off x="694944" y="384048"/>
            <a:ext cx="3925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1D4ED8"/>
                </a:solidFill>
                <a:latin typeface="Calibri" pitchFamily="34" charset="0"/>
                <a:ea typeface="Calibri" pitchFamily="34" charset="-122"/>
                <a:cs typeface="Calibri" pitchFamily="34" charset="-120"/>
              </a:rPr>
              <a:t>BÖLÜM 12  ·  SİNİR SİSTEMİ VE PSİKİYATRİ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1D4ED8"/>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1D4ED8"/>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Merkezi ve periferik sinir sistemi yapılarını anatomik terimleriyle tanımlar.</a:t>
            </a:r>
          </a:p>
          <a:p>
            <a:pPr marL="685800" indent="-685800">
              <a:lnSpc>
                <a:spcPct val="105000"/>
              </a:lnSpc>
              <a:spcBef>
                <a:spcPts val="1000"/>
              </a:spcBef>
              <a:buNone/>
              <a:tabLst>
                <a:tab pos="685800" algn="l"/>
              </a:tabLst>
            </a:pPr>
            <a:r>
              <a:rPr lang="tr-TR" sz="1500" b="1" i="0" dirty="0">
                <a:solidFill>
                  <a:srgbClr val="1D4ED8"/>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Ağrı ve algı bozukluklarını anlatan semptom terimlerini açıklar.</a:t>
            </a:r>
          </a:p>
          <a:p>
            <a:pPr marL="685800" indent="-685800">
              <a:lnSpc>
                <a:spcPct val="105000"/>
              </a:lnSpc>
              <a:spcBef>
                <a:spcPts val="1000"/>
              </a:spcBef>
              <a:buNone/>
              <a:tabLst>
                <a:tab pos="685800" algn="l"/>
              </a:tabLst>
            </a:pPr>
            <a:r>
              <a:rPr lang="tr-TR" sz="1500" b="1" i="0" dirty="0">
                <a:solidFill>
                  <a:srgbClr val="1D4ED8"/>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Sık görülen nörolojik hastalıkların terimlerini ve anlamlarını belirtir.</a:t>
            </a:r>
          </a:p>
          <a:p>
            <a:pPr marL="685800" indent="-685800">
              <a:lnSpc>
                <a:spcPct val="105000"/>
              </a:lnSpc>
              <a:spcBef>
                <a:spcPts val="1000"/>
              </a:spcBef>
              <a:buNone/>
              <a:tabLst>
                <a:tab pos="685800" algn="l"/>
              </a:tabLst>
            </a:pPr>
            <a:r>
              <a:rPr lang="tr-TR" sz="1500" b="1" i="0" dirty="0">
                <a:solidFill>
                  <a:srgbClr val="1D4ED8"/>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Temel psikiyatrik tanı terimlerini ayırt eder.</a:t>
            </a:r>
          </a:p>
          <a:p>
            <a:pPr marL="685800" indent="-685800">
              <a:lnSpc>
                <a:spcPct val="105000"/>
              </a:lnSpc>
              <a:spcBef>
                <a:spcPts val="1000"/>
              </a:spcBef>
              <a:buNone/>
              <a:tabLst>
                <a:tab pos="685800" algn="l"/>
              </a:tabLst>
            </a:pPr>
            <a:r>
              <a:rPr lang="tr-TR" sz="1500" b="1" i="0" dirty="0">
                <a:solidFill>
                  <a:srgbClr val="1D4ED8"/>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Sinir sistemine ilişkin tanı yöntemlerini ve ameliyat terimlerini açıklar.</a:t>
            </a:r>
          </a:p>
        </p:txBody>
      </p:sp>
      <p:sp>
        <p:nvSpPr>
          <p:cNvPr id="6" name="Card"/>
          <p:cNvSpPr/>
          <p:nvPr/>
        </p:nvSpPr>
        <p:spPr>
          <a:xfrm>
            <a:off x="7589520" y="1554480"/>
            <a:ext cx="4053535" cy="4572000"/>
          </a:xfrm>
          <a:prstGeom prst="roundRect">
            <a:avLst>
              <a:gd name="adj" fmla="val 3500"/>
            </a:avLst>
          </a:prstGeom>
          <a:solidFill>
            <a:srgbClr val="EAF0FD"/>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1D4ED8"/>
                </a:solidFill>
                <a:latin typeface="Calibri" pitchFamily="34" charset="0"/>
                <a:ea typeface="Calibri" pitchFamily="34" charset="-122"/>
                <a:cs typeface="Calibri" pitchFamily="34" charset="-120"/>
              </a:rPr>
              <a:t>GELECEK HAFTA</a:t>
            </a:r>
          </a:p>
          <a:p>
            <a:pPr marL="0" indent="0" algn="l">
              <a:lnSpc>
                <a:spcPct val="90000"/>
              </a:lnSpc>
              <a:spcBef>
                <a:spcPts val="1100"/>
              </a:spcBef>
              <a:buNone/>
            </a:pPr>
            <a:r>
              <a:rPr lang="tr-TR" sz="6000" b="1" i="0" dirty="0">
                <a:solidFill>
                  <a:srgbClr val="1D4ED8"/>
                </a:solidFill>
                <a:latin typeface="Cambria" pitchFamily="34" charset="0"/>
                <a:ea typeface="Cambria" pitchFamily="34" charset="-122"/>
                <a:cs typeface="Cambria" pitchFamily="34" charset="-120"/>
              </a:rPr>
              <a:t>13</a:t>
            </a:r>
          </a:p>
          <a:p>
            <a:pPr marL="0" indent="0" algn="l">
              <a:spcBef>
                <a:spcPts val="1100"/>
              </a:spcBef>
              <a:buNone/>
            </a:pPr>
            <a:r>
              <a:rPr lang="tr-TR" sz="1100" b="1" i="0" spc="200" dirty="0">
                <a:solidFill>
                  <a:srgbClr val="6B7280"/>
                </a:solidFill>
                <a:latin typeface="Calibri" pitchFamily="34" charset="0"/>
                <a:ea typeface="Calibri" pitchFamily="34" charset="-122"/>
                <a:cs typeface="Calibri" pitchFamily="34" charset="-120"/>
              </a:rPr>
              <a:t>BÖLÜM 13</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Duyu Organları Terimleri</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Göz, kulak ve deriye ait anatomik, semptom, tanı ve ameliyat terimleri.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301</a:t>
            </a: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E6F5EF"/>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47857"/>
                </a:solidFill>
                <a:latin typeface="Calibri" pitchFamily="34" charset="0"/>
                <a:ea typeface="Calibri" pitchFamily="34" charset="-122"/>
                <a:cs typeface="Calibri" pitchFamily="34" charset="-120"/>
              </a:rPr>
              <a:t>BÖLÜM 13  ·  DUYU ORGANLARI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Bölüm Özeti</a:t>
            </a:r>
          </a:p>
        </p:txBody>
      </p:sp>
      <p:sp>
        <p:nvSpPr>
          <p:cNvPr id="5" name="Card"/>
          <p:cNvSpPr/>
          <p:nvPr/>
        </p:nvSpPr>
        <p:spPr>
          <a:xfrm>
            <a:off x="548640" y="1554480"/>
            <a:ext cx="5212080" cy="4572000"/>
          </a:xfrm>
          <a:prstGeom prst="roundRect">
            <a:avLst>
              <a:gd name="adj" fmla="val 3500"/>
            </a:avLst>
          </a:prstGeom>
          <a:solidFill>
            <a:srgbClr val="E6F5EF"/>
          </a:solidFill>
          <a:ln/>
        </p:spPr>
      </p:sp>
      <p:sp>
        <p:nvSpPr>
          <p:cNvPr id="6" name="Kısa Özet"/>
          <p:cNvSpPr txBox="1"/>
          <p:nvPr/>
        </p:nvSpPr>
        <p:spPr>
          <a:xfrm>
            <a:off x="548640" y="1554480"/>
            <a:ext cx="5212080"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47857"/>
                </a:solidFill>
                <a:latin typeface="Calibri" pitchFamily="34" charset="0"/>
                <a:ea typeface="Calibri" pitchFamily="34" charset="-122"/>
                <a:cs typeface="Calibri" pitchFamily="34" charset="-120"/>
              </a:rPr>
              <a:t>KISA ÖZET</a:t>
            </a:r>
          </a:p>
          <a:p>
            <a:pPr marL="0" indent="0" algn="l">
              <a:lnSpc>
                <a:spcPct val="112000"/>
              </a:lnSpc>
              <a:spcBef>
                <a:spcPts val="900"/>
              </a:spcBef>
              <a:buNone/>
            </a:pPr>
            <a:r>
              <a:rPr lang="tr-TR" sz="1500" b="0" i="0" dirty="0">
                <a:solidFill>
                  <a:srgbClr val="1F2937"/>
                </a:solidFill>
                <a:latin typeface="Calibri" pitchFamily="34" charset="0"/>
                <a:ea typeface="Calibri" pitchFamily="34" charset="-122"/>
                <a:cs typeface="Calibri" pitchFamily="34" charset="-120"/>
              </a:rPr>
              <a:t>Duyu organları göz, kulak ve deriyi kapsar. Bu bölümde göz küresi, orbita, kornea, iris, konjonktiva ve göz kapaklarına; dış, orta ve iç kulak ile kulak kemikçiklerine; epidermis, dermis ve deri eklerine ilişkin anatomik terimler incelendi. Her organ için semptom terimleri, tanı terimleri (kırma kusurları, otit, Meniere hastalığı, dermatitler, psoriazis vb.) ve ameliyat terimleri ele alındı.</a:t>
            </a:r>
          </a:p>
        </p:txBody>
      </p:sp>
      <p:sp>
        <p:nvSpPr>
          <p:cNvPr id="7" name="Ne Öğrendik"/>
          <p:cNvSpPr txBox="1"/>
          <p:nvPr/>
        </p:nvSpPr>
        <p:spPr>
          <a:xfrm>
            <a:off x="6126480" y="1600200"/>
            <a:ext cx="5516575"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47857"/>
                </a:solidFill>
                <a:latin typeface="Calibri" pitchFamily="34" charset="0"/>
                <a:ea typeface="Calibri" pitchFamily="34" charset="-122"/>
                <a:cs typeface="Calibri" pitchFamily="34" charset="-120"/>
              </a:rPr>
              <a:t>BU KONUDA NE ÖĞRENDİK?</a:t>
            </a:r>
          </a:p>
          <a:p>
            <a:pPr marL="256032" indent="-201168">
              <a:lnSpc>
                <a:spcPct val="105000"/>
              </a:lnSpc>
              <a:spcBef>
                <a:spcPts val="1000"/>
              </a:spcBef>
              <a:buClr>
                <a:srgbClr val="047857"/>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Göz terimleri: bulbus oculi, orbita, kornea, iris, konjonktiva, palpebra</a:t>
            </a:r>
          </a:p>
          <a:p>
            <a:pPr marL="256032" indent="-201168">
              <a:lnSpc>
                <a:spcPct val="105000"/>
              </a:lnSpc>
              <a:spcBef>
                <a:spcPts val="900"/>
              </a:spcBef>
              <a:buClr>
                <a:srgbClr val="047857"/>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Göz semptom ve tanıları: skotom, fotofobi, hipermetropi, entropiyon, retinoblastom</a:t>
            </a:r>
          </a:p>
          <a:p>
            <a:pPr marL="256032" indent="-201168">
              <a:lnSpc>
                <a:spcPct val="105000"/>
              </a:lnSpc>
              <a:spcBef>
                <a:spcPts val="900"/>
              </a:spcBef>
              <a:buClr>
                <a:srgbClr val="047857"/>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Kulak terimleri: dış, orta ve iç kulak; stapes, inkus, malleus</a:t>
            </a:r>
          </a:p>
          <a:p>
            <a:pPr marL="256032" indent="-201168">
              <a:lnSpc>
                <a:spcPct val="105000"/>
              </a:lnSpc>
              <a:spcBef>
                <a:spcPts val="900"/>
              </a:spcBef>
              <a:buClr>
                <a:srgbClr val="047857"/>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Kulak semptom ve tanıları: tinnitus, otalji, otit, Meniere hastalığı, akustik nörom</a:t>
            </a:r>
          </a:p>
          <a:p>
            <a:pPr marL="256032" indent="-201168">
              <a:lnSpc>
                <a:spcPct val="105000"/>
              </a:lnSpc>
              <a:spcBef>
                <a:spcPts val="900"/>
              </a:spcBef>
              <a:buClr>
                <a:srgbClr val="047857"/>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Deri terimleri: epidermis, dermis, kıl kökü; makül, püstül, peteşi, ekimoz</a:t>
            </a:r>
          </a:p>
          <a:p>
            <a:pPr marL="256032" indent="-201168">
              <a:lnSpc>
                <a:spcPct val="105000"/>
              </a:lnSpc>
              <a:spcBef>
                <a:spcPts val="900"/>
              </a:spcBef>
              <a:buClr>
                <a:srgbClr val="047857"/>
              </a:buClr>
              <a:buSzPct val="100000"/>
              <a:buFont typeface="Arial"/>
              <a:buChar char="▪"/>
            </a:pPr>
            <a:r>
              <a:rPr lang="tr-TR" sz="1500" b="0" i="0" dirty="0">
                <a:solidFill>
                  <a:srgbClr val="1F2937"/>
                </a:solidFill>
                <a:latin typeface="Calibri" pitchFamily="34" charset="0"/>
                <a:ea typeface="Calibri" pitchFamily="34" charset="-122"/>
                <a:cs typeface="Calibri" pitchFamily="34" charset="-120"/>
              </a:rPr>
              <a:t>Deri tanıları ve ameliyatları: psoriazis, impetigo, dermatit, akne, dermatoplasti</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332</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ill"/>
          <p:cNvSpPr/>
          <p:nvPr/>
        </p:nvSpPr>
        <p:spPr>
          <a:xfrm>
            <a:off x="548640" y="384048"/>
            <a:ext cx="3186000" cy="310896"/>
          </a:xfrm>
          <a:prstGeom prst="roundRect">
            <a:avLst>
              <a:gd name="adj" fmla="val 50000"/>
            </a:avLst>
          </a:prstGeom>
          <a:solidFill>
            <a:srgbClr val="E6F5EF"/>
          </a:solidFill>
          <a:ln/>
        </p:spPr>
      </p:sp>
      <p:sp>
        <p:nvSpPr>
          <p:cNvPr id="3" name="Label"/>
          <p:cNvSpPr txBox="1"/>
          <p:nvPr/>
        </p:nvSpPr>
        <p:spPr>
          <a:xfrm>
            <a:off x="694944" y="384048"/>
            <a:ext cx="2911680" cy="310896"/>
          </a:xfrm>
          <a:prstGeom prst="rect">
            <a:avLst/>
          </a:prstGeom>
          <a:noFill/>
          <a:ln/>
        </p:spPr>
        <p:txBody>
          <a:bodyPr wrap="square" lIns="0" tIns="0" rIns="0" bIns="0" rtlCol="0" anchor="ctr">
            <a:normAutofit/>
          </a:bodyPr>
          <a:lstStyle/>
          <a:p>
            <a:pPr marL="0" indent="0" algn="l">
              <a:spcBef>
                <a:spcPts val="0"/>
              </a:spcBef>
              <a:buNone/>
            </a:pPr>
            <a:r>
              <a:rPr lang="tr-TR" sz="1000" b="1" i="0" spc="60" dirty="0">
                <a:solidFill>
                  <a:srgbClr val="047857"/>
                </a:solidFill>
                <a:latin typeface="Calibri" pitchFamily="34" charset="0"/>
                <a:ea typeface="Calibri" pitchFamily="34" charset="-122"/>
                <a:cs typeface="Calibri" pitchFamily="34" charset="-120"/>
              </a:rPr>
              <a:t>BÖLÜM 13  ·  DUYU ORGANLARI TERİMLERİ</a:t>
            </a:r>
          </a:p>
        </p:txBody>
      </p:sp>
      <p:sp>
        <p:nvSpPr>
          <p:cNvPr id="4" name="Title"/>
          <p:cNvSpPr txBox="1"/>
          <p:nvPr/>
        </p:nvSpPr>
        <p:spPr>
          <a:xfrm>
            <a:off x="548640" y="804672"/>
            <a:ext cx="11094415" cy="566928"/>
          </a:xfrm>
          <a:prstGeom prst="rect">
            <a:avLst/>
          </a:prstGeom>
          <a:noFill/>
          <a:ln/>
        </p:spPr>
        <p:txBody>
          <a:bodyPr wrap="square" lIns="0" tIns="0" rIns="0" bIns="0" rtlCol="0" anchor="ctr">
            <a:normAutofit/>
          </a:bodyPr>
          <a:lstStyle/>
          <a:p>
            <a:pPr marL="0" indent="0" algn="l">
              <a:spcBef>
                <a:spcPts val="0"/>
              </a:spcBef>
              <a:buNone/>
            </a:pPr>
            <a:r>
              <a:rPr lang="tr-TR" sz="2900" b="1" i="0" dirty="0">
                <a:solidFill>
                  <a:srgbClr val="1F2937"/>
                </a:solidFill>
                <a:latin typeface="Cambria" pitchFamily="34" charset="0"/>
                <a:ea typeface="Cambria" pitchFamily="34" charset="-122"/>
                <a:cs typeface="Cambria" pitchFamily="34" charset="-120"/>
              </a:rPr>
              <a:t>Konu Çıktıları ve Gelecek Hafta</a:t>
            </a:r>
          </a:p>
        </p:txBody>
      </p:sp>
      <p:sp>
        <p:nvSpPr>
          <p:cNvPr id="5" name="Konu Çıktıları"/>
          <p:cNvSpPr txBox="1"/>
          <p:nvPr/>
        </p:nvSpPr>
        <p:spPr>
          <a:xfrm>
            <a:off x="548640" y="1600200"/>
            <a:ext cx="6675120" cy="4526280"/>
          </a:xfrm>
          <a:prstGeom prst="rect">
            <a:avLst/>
          </a:prstGeom>
          <a:noFill/>
          <a:ln/>
        </p:spPr>
        <p:txBody>
          <a:bodyPr wrap="square" lIns="0" tIns="0" rIns="0" bIns="0" rtlCol="0" anchor="t">
            <a:normAutofit/>
          </a:bodyPr>
          <a:lstStyle/>
          <a:p>
            <a:pPr marL="0" indent="0" algn="l">
              <a:spcBef>
                <a:spcPts val="0"/>
              </a:spcBef>
              <a:buNone/>
            </a:pPr>
            <a:r>
              <a:rPr lang="tr-TR" sz="1100" b="1" i="0" spc="150" dirty="0">
                <a:solidFill>
                  <a:srgbClr val="047857"/>
                </a:solidFill>
                <a:latin typeface="Calibri" pitchFamily="34" charset="0"/>
                <a:ea typeface="Calibri" pitchFamily="34" charset="-122"/>
                <a:cs typeface="Calibri" pitchFamily="34" charset="-120"/>
              </a:rPr>
              <a:t>KONU ÇIKTILARI</a:t>
            </a:r>
          </a:p>
          <a:p>
            <a:pPr marL="0" indent="0" algn="l">
              <a:spcBef>
                <a:spcPts val="800"/>
              </a:spcBef>
              <a:buNone/>
            </a:pPr>
            <a:r>
              <a:rPr lang="tr-TR" sz="1400" b="0" i="1" dirty="0">
                <a:solidFill>
                  <a:srgbClr val="6B7280"/>
                </a:solidFill>
                <a:latin typeface="Calibri" pitchFamily="34" charset="0"/>
                <a:ea typeface="Calibri" pitchFamily="34" charset="-122"/>
                <a:cs typeface="Calibri" pitchFamily="34" charset="-120"/>
              </a:rPr>
              <a:t>Bu bölümü başarıyla tamamlayan öğrenci:</a:t>
            </a:r>
          </a:p>
          <a:p>
            <a:pPr marL="685800" indent="-685800">
              <a:lnSpc>
                <a:spcPct val="105000"/>
              </a:lnSpc>
              <a:spcBef>
                <a:spcPts val="1000"/>
              </a:spcBef>
              <a:buNone/>
              <a:tabLst>
                <a:tab pos="685800" algn="l"/>
              </a:tabLst>
            </a:pPr>
            <a:r>
              <a:rPr lang="tr-TR" sz="1500" b="1" i="0" dirty="0">
                <a:solidFill>
                  <a:srgbClr val="047857"/>
                </a:solidFill>
                <a:latin typeface="Calibri" pitchFamily="34" charset="0"/>
                <a:ea typeface="Calibri" pitchFamily="34" charset="-122"/>
                <a:cs typeface="Calibri" pitchFamily="34" charset="-120"/>
              </a:rPr>
              <a:t>ÇK1</a:t>
            </a:r>
            <a:r>
              <a:rPr lang="tr-TR" sz="1500" b="0" i="0" dirty="0">
                <a:solidFill>
                  <a:srgbClr val="1F2937"/>
                </a:solidFill>
                <a:latin typeface="Calibri" pitchFamily="34" charset="0"/>
                <a:ea typeface="Calibri" pitchFamily="34" charset="-122"/>
                <a:cs typeface="Calibri" pitchFamily="34" charset="-120"/>
              </a:rPr>
              <a:t>	Göz, kulak ve deriye ait anatomik yapıları Latince ve Grekçe terimleriyle tanımlar.</a:t>
            </a:r>
          </a:p>
          <a:p>
            <a:pPr marL="685800" indent="-685800">
              <a:lnSpc>
                <a:spcPct val="105000"/>
              </a:lnSpc>
              <a:spcBef>
                <a:spcPts val="1000"/>
              </a:spcBef>
              <a:buNone/>
              <a:tabLst>
                <a:tab pos="685800" algn="l"/>
              </a:tabLst>
            </a:pPr>
            <a:r>
              <a:rPr lang="tr-TR" sz="1500" b="1" i="0" dirty="0">
                <a:solidFill>
                  <a:srgbClr val="047857"/>
                </a:solidFill>
                <a:latin typeface="Calibri" pitchFamily="34" charset="0"/>
                <a:ea typeface="Calibri" pitchFamily="34" charset="-122"/>
                <a:cs typeface="Calibri" pitchFamily="34" charset="-120"/>
              </a:rPr>
              <a:t>ÇK2</a:t>
            </a:r>
            <a:r>
              <a:rPr lang="tr-TR" sz="1500" b="0" i="0" dirty="0">
                <a:solidFill>
                  <a:srgbClr val="1F2937"/>
                </a:solidFill>
                <a:latin typeface="Calibri" pitchFamily="34" charset="0"/>
                <a:ea typeface="Calibri" pitchFamily="34" charset="-122"/>
                <a:cs typeface="Calibri" pitchFamily="34" charset="-120"/>
              </a:rPr>
              <a:t>	Görme ve işitme bozukluklarını anlatan semptom terimlerini açıklar.</a:t>
            </a:r>
          </a:p>
          <a:p>
            <a:pPr marL="685800" indent="-685800">
              <a:lnSpc>
                <a:spcPct val="105000"/>
              </a:lnSpc>
              <a:spcBef>
                <a:spcPts val="1000"/>
              </a:spcBef>
              <a:buNone/>
              <a:tabLst>
                <a:tab pos="685800" algn="l"/>
              </a:tabLst>
            </a:pPr>
            <a:r>
              <a:rPr lang="tr-TR" sz="1500" b="1" i="0" dirty="0">
                <a:solidFill>
                  <a:srgbClr val="047857"/>
                </a:solidFill>
                <a:latin typeface="Calibri" pitchFamily="34" charset="0"/>
                <a:ea typeface="Calibri" pitchFamily="34" charset="-122"/>
                <a:cs typeface="Calibri" pitchFamily="34" charset="-120"/>
              </a:rPr>
              <a:t>ÇK3</a:t>
            </a:r>
            <a:r>
              <a:rPr lang="tr-TR" sz="1500" b="0" i="0" dirty="0">
                <a:solidFill>
                  <a:srgbClr val="1F2937"/>
                </a:solidFill>
                <a:latin typeface="Calibri" pitchFamily="34" charset="0"/>
                <a:ea typeface="Calibri" pitchFamily="34" charset="-122"/>
                <a:cs typeface="Calibri" pitchFamily="34" charset="-120"/>
              </a:rPr>
              <a:t>	Deri lezyonlarını (makül, papül, püstül, peteşi) terimleriyle ayırt eder.</a:t>
            </a:r>
          </a:p>
          <a:p>
            <a:pPr marL="685800" indent="-685800">
              <a:lnSpc>
                <a:spcPct val="105000"/>
              </a:lnSpc>
              <a:spcBef>
                <a:spcPts val="1000"/>
              </a:spcBef>
              <a:buNone/>
              <a:tabLst>
                <a:tab pos="685800" algn="l"/>
              </a:tabLst>
            </a:pPr>
            <a:r>
              <a:rPr lang="tr-TR" sz="1500" b="1" i="0" dirty="0">
                <a:solidFill>
                  <a:srgbClr val="047857"/>
                </a:solidFill>
                <a:latin typeface="Calibri" pitchFamily="34" charset="0"/>
                <a:ea typeface="Calibri" pitchFamily="34" charset="-122"/>
                <a:cs typeface="Calibri" pitchFamily="34" charset="-120"/>
              </a:rPr>
              <a:t>ÇK4</a:t>
            </a:r>
            <a:r>
              <a:rPr lang="tr-TR" sz="1500" b="0" i="0" dirty="0">
                <a:solidFill>
                  <a:srgbClr val="1F2937"/>
                </a:solidFill>
                <a:latin typeface="Calibri" pitchFamily="34" charset="0"/>
                <a:ea typeface="Calibri" pitchFamily="34" charset="-122"/>
                <a:cs typeface="Calibri" pitchFamily="34" charset="-120"/>
              </a:rPr>
              <a:t>	Göz, kulak ve deri hastalıklarına ait tanı terimlerini belirtir.</a:t>
            </a:r>
          </a:p>
          <a:p>
            <a:pPr marL="685800" indent="-685800">
              <a:lnSpc>
                <a:spcPct val="105000"/>
              </a:lnSpc>
              <a:spcBef>
                <a:spcPts val="1000"/>
              </a:spcBef>
              <a:buNone/>
              <a:tabLst>
                <a:tab pos="685800" algn="l"/>
              </a:tabLst>
            </a:pPr>
            <a:r>
              <a:rPr lang="tr-TR" sz="1500" b="1" i="0" dirty="0">
                <a:solidFill>
                  <a:srgbClr val="047857"/>
                </a:solidFill>
                <a:latin typeface="Calibri" pitchFamily="34" charset="0"/>
                <a:ea typeface="Calibri" pitchFamily="34" charset="-122"/>
                <a:cs typeface="Calibri" pitchFamily="34" charset="-120"/>
              </a:rPr>
              <a:t>ÇK5</a:t>
            </a:r>
            <a:r>
              <a:rPr lang="tr-TR" sz="1500" b="0" i="0" dirty="0">
                <a:solidFill>
                  <a:srgbClr val="1F2937"/>
                </a:solidFill>
                <a:latin typeface="Calibri" pitchFamily="34" charset="0"/>
                <a:ea typeface="Calibri" pitchFamily="34" charset="-122"/>
                <a:cs typeface="Calibri" pitchFamily="34" charset="-120"/>
              </a:rPr>
              <a:t>	Duyu organlarına yönelik ameliyat terimlerini yapılan işlemle ilişkilendirir.</a:t>
            </a:r>
          </a:p>
        </p:txBody>
      </p:sp>
      <p:sp>
        <p:nvSpPr>
          <p:cNvPr id="6" name="Card"/>
          <p:cNvSpPr/>
          <p:nvPr/>
        </p:nvSpPr>
        <p:spPr>
          <a:xfrm>
            <a:off x="7589520" y="1554480"/>
            <a:ext cx="4053535" cy="4572000"/>
          </a:xfrm>
          <a:prstGeom prst="roundRect">
            <a:avLst>
              <a:gd name="adj" fmla="val 3500"/>
            </a:avLst>
          </a:prstGeom>
          <a:solidFill>
            <a:srgbClr val="E6F5EF"/>
          </a:solidFill>
          <a:ln/>
        </p:spPr>
      </p:sp>
      <p:sp>
        <p:nvSpPr>
          <p:cNvPr id="7" name="Gelecek Hafta"/>
          <p:cNvSpPr txBox="1"/>
          <p:nvPr/>
        </p:nvSpPr>
        <p:spPr>
          <a:xfrm>
            <a:off x="7589520" y="1554480"/>
            <a:ext cx="4053535" cy="4572000"/>
          </a:xfrm>
          <a:prstGeom prst="rect">
            <a:avLst/>
          </a:prstGeom>
          <a:noFill/>
          <a:ln/>
        </p:spPr>
        <p:txBody>
          <a:bodyPr wrap="square" lIns="320040" tIns="320040" rIns="320040" bIns="320040" rtlCol="0" anchor="t">
            <a:normAutofit/>
          </a:bodyPr>
          <a:lstStyle/>
          <a:p>
            <a:pPr marL="0" indent="0" algn="l">
              <a:spcBef>
                <a:spcPts val="0"/>
              </a:spcBef>
              <a:buNone/>
            </a:pPr>
            <a:r>
              <a:rPr lang="tr-TR" sz="1100" b="1" i="0" spc="150" dirty="0">
                <a:solidFill>
                  <a:srgbClr val="047857"/>
                </a:solidFill>
                <a:latin typeface="Calibri" pitchFamily="34" charset="0"/>
                <a:ea typeface="Calibri" pitchFamily="34" charset="-122"/>
                <a:cs typeface="Calibri" pitchFamily="34" charset="-120"/>
              </a:rPr>
              <a:t>GELECEK HAFTA</a:t>
            </a:r>
          </a:p>
          <a:p>
            <a:pPr marL="0" indent="0" algn="l">
              <a:spcBef>
                <a:spcPts val="2200"/>
              </a:spcBef>
              <a:buNone/>
            </a:pPr>
            <a:r>
              <a:rPr lang="tr-TR" sz="1100" b="1" i="0" spc="200" dirty="0">
                <a:solidFill>
                  <a:srgbClr val="6B7280"/>
                </a:solidFill>
                <a:latin typeface="Calibri" pitchFamily="34" charset="0"/>
                <a:ea typeface="Calibri" pitchFamily="34" charset="-122"/>
                <a:cs typeface="Calibri" pitchFamily="34" charset="-120"/>
              </a:rPr>
              <a:t>DÖNEM SONU</a:t>
            </a:r>
          </a:p>
          <a:p>
            <a:pPr marL="0" indent="0" algn="l">
              <a:lnSpc>
                <a:spcPct val="95000"/>
              </a:lnSpc>
              <a:spcBef>
                <a:spcPts val="500"/>
              </a:spcBef>
              <a:buNone/>
            </a:pPr>
            <a:r>
              <a:rPr lang="tr-TR" sz="2200" b="1" i="0" dirty="0">
                <a:solidFill>
                  <a:srgbClr val="1F2937"/>
                </a:solidFill>
                <a:latin typeface="Cambria" pitchFamily="34" charset="0"/>
                <a:ea typeface="Cambria" pitchFamily="34" charset="-122"/>
                <a:cs typeface="Cambria" pitchFamily="34" charset="-120"/>
              </a:rPr>
              <a:t>Genel Tekrar ve Değerlendirme</a:t>
            </a:r>
          </a:p>
          <a:p>
            <a:pPr marL="0" indent="0" algn="l">
              <a:lnSpc>
                <a:spcPct val="110000"/>
              </a:lnSpc>
              <a:spcBef>
                <a:spcPts val="1200"/>
              </a:spcBef>
              <a:buNone/>
            </a:pPr>
            <a:r>
              <a:rPr lang="tr-TR" sz="1300" b="0" i="0" dirty="0">
                <a:solidFill>
                  <a:srgbClr val="4B5563"/>
                </a:solidFill>
                <a:latin typeface="Calibri" pitchFamily="34" charset="0"/>
                <a:ea typeface="Calibri" pitchFamily="34" charset="-122"/>
                <a:cs typeface="Calibri" pitchFamily="34" charset="-120"/>
              </a:rPr>
              <a:t>On üç bölümün genel tekrarı, terim çözümleme alıştırmaları ve dönem sonu sınavına hazırlık.</a:t>
            </a:r>
          </a:p>
        </p:txBody>
      </p:sp>
      <p:sp>
        <p:nvSpPr>
          <p:cNvPr id="8" name="Page Number"/>
          <p:cNvSpPr txBox="1"/>
          <p:nvPr/>
        </p:nvSpPr>
        <p:spPr>
          <a:xfrm>
            <a:off x="11048695" y="6291072"/>
            <a:ext cx="640080" cy="274320"/>
          </a:xfrm>
          <a:prstGeom prst="rect">
            <a:avLst/>
          </a:prstGeom>
          <a:noFill/>
          <a:ln/>
        </p:spPr>
        <p:txBody>
          <a:bodyPr wrap="square" lIns="0" tIns="0" rIns="0" bIns="0" rtlCol="0" anchor="ctr">
            <a:normAutofit/>
          </a:bodyPr>
          <a:lstStyle/>
          <a:p>
            <a:pPr marL="0" indent="0" algn="r">
              <a:spcBef>
                <a:spcPts val="0"/>
              </a:spcBef>
              <a:buNone/>
            </a:pPr>
            <a:r>
              <a:rPr lang="tr-TR" sz="1000" b="0" i="0" dirty="0">
                <a:solidFill>
                  <a:srgbClr val="9CA3AF"/>
                </a:solidFill>
                <a:latin typeface="Calibri" pitchFamily="34" charset="0"/>
                <a:ea typeface="Calibri" pitchFamily="34" charset="-122"/>
                <a:cs typeface="Calibri" pitchFamily="34" charset="-120"/>
              </a:rPr>
              <a:t>333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41836</Words>
  <Application>Microsoft Office PowerPoint</Application>
  <PresentationFormat>Geniş ekran</PresentationFormat>
  <Paragraphs>4147</Paragraphs>
  <Slides>307</Slides>
  <Notes>307</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307</vt:i4>
      </vt:variant>
    </vt:vector>
  </HeadingPairs>
  <TitlesOfParts>
    <vt:vector size="311"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Tıbbi Terminoloji</dc:title>
  <dc:subject>PptxGenJS Presentation</dc:subject>
  <dc:creator>Doç. Dr. Muammer Kurnaz</dc:creator>
  <cp:lastModifiedBy>Muammer Kurnaz</cp:lastModifiedBy>
  <cp:revision>2</cp:revision>
  <dcterms:created xsi:type="dcterms:W3CDTF">2026-09-23T06:31:57Z</dcterms:created>
  <dcterms:modified xsi:type="dcterms:W3CDTF">2026-09-23T06:37:43Z</dcterms:modified>
</cp:coreProperties>
</file>